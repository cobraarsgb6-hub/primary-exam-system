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Fables</c:v>
                </c:pt>
              </c:strCache>
            </c:strRef>
          </c:tx>
          <c:spPr>
            <a:solidFill>
              <a:srgbClr val="2A9D8F"/>
            </a:solidFill>
            <a:effectLst/>
          </c:spPr>
          <c:invertIfNegative val="0"/>
          <c:dLbls>
            <c:numFmt formatCode="#,##0" sourceLinked="0"/>
            <c:spPr>
              <a:noFill/>
              <a:ln>
                <a:noFill/>
              </a:ln>
              <a:effectLst/>
            </c:spPr>
            <c:txPr>
              <a:bodyPr/>
              <a:lstStyle/>
              <a:p>
                <a:pPr>
                  <a:defRPr sz="1400" b="0" i="0" u="none" strike="noStrike">
                    <a:solidFill>
                      <a:srgbClr val="0B3C4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Spelling and capital letters</c:v>
                </c:pt>
                <c:pt idx="1">
                  <c:v>Morals missing or not general</c:v>
                </c:pt>
                <c:pt idx="2">
                  <c:v>Verbs do not agree</c:v>
                </c:pt>
                <c:pt idx="3">
                  <c:v>Not one connected fable</c:v>
                </c:pt>
                <c:pt idx="4">
                  <c:v>Result needs because + comma</c:v>
                </c:pt>
                <c:pt idx="5">
                  <c:v>Speech punctuation</c:v>
                </c:pt>
              </c:strCache>
            </c:strRef>
          </c:cat>
          <c:val>
            <c:numRef>
              <c:f>Sheet1!$B$2:$B$7</c:f>
              <c:numCache>
                <c:formatCode>General</c:formatCode>
                <c:ptCount val="6"/>
                <c:pt idx="0">
                  <c:v>10</c:v>
                </c:pt>
                <c:pt idx="1">
                  <c:v>8</c:v>
                </c:pt>
                <c:pt idx="2">
                  <c:v>8</c:v>
                </c:pt>
                <c:pt idx="3">
                  <c:v>5</c:v>
                </c:pt>
                <c:pt idx="4">
                  <c:v>5</c:v>
                </c:pt>
                <c:pt idx="5">
                  <c:v>4</c:v>
                </c:pt>
              </c:numCache>
            </c:numRef>
          </c:val>
          <c:extLst>
            <c:ext xmlns:c16="http://schemas.microsoft.com/office/drawing/2014/chart" uri="{C3380CC4-5D6E-409C-BE32-E72D297353CC}">
              <c16:uniqueId val="{00000000-0503-4212-8A28-18DC526657BE}"/>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3C49"/>
                </a:solidFill>
                <a:latin typeface="+mn-lt"/>
              </a:defRPr>
            </a:pPr>
            <a:endParaRPr lang="en-US"/>
          </a:p>
        </c:txPr>
        <c:crossAx val="2094734552"/>
        <c:crosses val="autoZero"/>
        <c:auto val="1"/>
        <c:lblAlgn val="ctr"/>
        <c:lblOffset val="100"/>
        <c:noMultiLvlLbl val="1"/>
      </c:catAx>
      <c:valAx>
        <c:axId val="2094734552"/>
        <c:scaling>
          <c:orientation val="minMax"/>
          <c:max val="12"/>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137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pupils check their fable against the homework checklist, give partner feedback (one strength, one improvement) and fix the problems that were most common in the Lesson 4 homework. All examples are your pupils' real sentences from the Lesson 4 homework. Skip any example that could embarrass a pupil. Timing guide: Strengths 9, Class problems 30, Self-check 12, Partner feedback 10, Improve 12, Plenary 3, Exit ticket 4. Before the lesson: pupils need their homework fable, a pencil or highlighter and a purple 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Link: you wrote Paragraphs 1 to 4 in Lesson 4 and for homework wrote the whole fable. Today we find what still needs fixing, and fix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Read each quote aloud and name the writer: they will be proud. Say which skill it shows (result linked by because/so/as a result, a choice that shows the trait, a change). Check the writer names against your marking before presenting; two pupils named Noor and two named Joud appear in this lesson, so the story is shown in brackets.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Same routine: read, name the writer, say the skill. Point out that two of these morals use the frames from Lesson 4 and that none of them contain a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Make sure every pupil has been named for something good. Adjust or replace any card where you want to praise something different, using the homework itself.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Counts are approximate (taken from reading the 15 homework fables), so adjust them from your own marking. Say: the more fables needed a fix, the more likely YOUR fable needs it too. Walk through the list on the right: that is today's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Read each left box, ask what is missing, then reveal the right box. Ali's and Mahmoud's fables were three separate mini-stories (Mahmoud's matches Ali's, so ask them to talk to you). Dana's piece described the lion but did not tell a story: show the trait through a choice, not 'bad, bad, bad'. Remind pupils the trait box on the sheet holds ONE word.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Seif explained the trait instead of showing it with a choice. Abdallah joined everything with 'then': teach because/so/as a result. Ask pupils to say which words show the result.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Rule: when a sentence starts with Because, put a comma after the because part. Check the verb tense (did not prepare, was shivering). Kinan, Noor and Joud had the right idea: the result happens because of the choice. Ask pupils to underline their link word.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 moral is a general lesson for everyone, in present tense, with no character names, and it must fit the story. Mai's named the owl; Abdallah's mixed 'he' and 'you'; Ali's was repeated after every paragraph. Pupils choose a frame and say their moral aloud to a partner.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Three fables stopped before the moral. Pupils compare: each right-hand moral uses a frame and fits the story. Ask which frame each one uses (Patience catches more than speed: a general truth; Prepare ahead, or…: Do ___, or ___; A bully who…may: A ___ who ___ may ___).</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Teach the speech rule: comma before the speech marks, capital letter to begin the speech, end punctuation inside the speech marks, new sentences get full stops. Noor's long speech needs full stops. Ask pupils to check every piece of speech in their own fable.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Two rules: keep the same tense (a fable is told in the past tense) and match was/were, has/have. After did/didn't use the base verb (didn't find). Ask pupils to say the rule aloud and find one verb in their own fable.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Real misspellings from the fables (names show the writer). Pupils copy topic words from their plan or the class word bank before writing. Remind pupils: Because has a capital letter only at the start of a sentence.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mini-whiteboards. Real sentences from the fables. Read each, pupils write the corrected sentence, show boards.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and name each rule. Accept any correct version.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Each pupil finds their own name and reads their target. Say: your target is the first thing to check when you self-check your fable. Pupils who wrote well still have a target. Targets come straight from the homework; edit any to match your own marking.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each pupil finds their own name and reads their target. Two pupils named Noor and two named Joud appear, so each shows the story title.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this checklist to self-check. Read each aloud. Left: the checklist from the homework sheet. Right: today's class targets. Remind pupils to find evidence for every tick.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Independent. Pupils read the whole fable quietly, mark it, tick the checklist and choose ONE target (start with the target on the targets slide). Circulate: conference with pupils who find it hard to give evidence. Pencil or highlighter for marking; keep the purple pen for improvements.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Timing: swap and read 3, find and talk 3, write slip 3, thank you 1. Circulate and listen for quoted words and checklist language.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copy this layout on a slip or at the end of their fable. The improvement must link to a checklist item or class target. Stems are optional help.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Pupils read the feedback they received, compare it with their own target, then rewrite. Purple pen for every improvement so progress is visible. Support group first: conference on one paragraph. Move pupils up if they finish early.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improving time. It collects the formulas from the six problems.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Take 2 or 3 pupils to read an improved sentence aloud. Ask the class: which fix was it? Then traffic lights: pupils show a colour or put a dot on their fable. Use the results to plan the editing session.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because, so, as a result. 2 Mia said, “I will help you.” 3 No, it names the character; any general moral with no names that fits, for example Always be kind to others, or you may be left alone.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fable using the feedback. Pupils need their feedback slip, their target and the purple pen. Fables are edited next lesson.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chemeClr val="tx1"/>
          </a:solidFill>
          <a:ln/>
        </p:spPr>
      </p:sp>
      <p:sp>
        <p:nvSpPr>
          <p:cNvPr id="3" name="Text 1"/>
          <p:cNvSpPr>
            <a:spLocks noGrp="1"/>
          </p:cNvSpPr>
          <p:nvPr>
            <p:ph type="title" idx="101" hasCustomPrompt="1"/>
          </p:nvPr>
        </p:nvSpPr>
        <p:spPr>
          <a:xfrm>
            <a:off x="457200" y="0"/>
            <a:ext cx="9326880" cy="822960"/>
          </a:xfrm>
          <a:prstGeom prst="rect">
            <a:avLst/>
          </a:prstGeom>
          <a:noFill/>
          <a:ln/>
        </p:spPr>
        <p:txBody>
          <a:bodyPr wrap="square" rtlCol="0"/>
          <a:lstStyle>
            <a:lvl1pPr marL="0" indent="0" algn="l">
              <a:buNone/>
              <a:defRPr lang="en-US" sz="2600" b="1" dirty="0">
                <a:solidFill>
                  <a:schemeClr val="bg1"/>
                </a:solidFill>
                <a:latin typeface="+mj-lt" pitchFamily="34" charset="0"/>
                <a:ea typeface="+mj-lt" pitchFamily="34" charset="-122"/>
                <a:cs typeface="+mj-lt" pitchFamily="34" charset="-120"/>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9144000" cy="914400"/>
          </a:xfrm>
          <a:prstGeom prst="rect">
            <a:avLst/>
          </a:prstGeom>
          <a:noFill/>
          <a:ln/>
        </p:spPr>
        <p:txBody>
          <a:bodyPr wrap="square" rtlCol="0"/>
          <a:lstStyle>
            <a:lvl1pPr marL="0" indent="0">
              <a:buNone/>
              <a:defRPr lang="en-US" sz="4000" b="1" dirty="0">
                <a:solidFill>
                  <a:schemeClr val="bg1"/>
                </a:solidFill>
                <a:latin typeface="+mj-lt" pitchFamily="34" charset="0"/>
                <a:ea typeface="+mj-lt" pitchFamily="34" charset="-122"/>
                <a:cs typeface="+mj-lt" pitchFamily="34" charset="-120"/>
              </a:defRPr>
            </a:lvl1pPr>
          </a:lstStyle>
          <a:p>
            <a:pPr marL="0" indent="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L">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418320" y="-822960"/>
            <a:ext cx="3566160" cy="3566160"/>
          </a:xfrm>
          <a:prstGeom prst="ellipse">
            <a:avLst/>
          </a:prstGeom>
          <a:solidFill>
            <a:schemeClr val="accent1"/>
          </a:solidFill>
          <a:ln/>
        </p:spPr>
      </p:sp>
      <p:sp>
        <p:nvSpPr>
          <p:cNvPr id="3" name="Shape 1"/>
          <p:cNvSpPr/>
          <p:nvPr/>
        </p:nvSpPr>
        <p:spPr>
          <a:xfrm>
            <a:off x="9966960" y="4846320"/>
            <a:ext cx="2743200" cy="2743200"/>
          </a:xfrm>
          <a:prstGeom prst="ellipse">
            <a:avLst/>
          </a:prstGeom>
          <a:solidFill>
            <a:schemeClr val="accent3"/>
          </a:solidFill>
          <a:ln/>
        </p:spPr>
      </p:sp>
      <p:sp>
        <p:nvSpPr>
          <p:cNvPr id="4" name="Text 2"/>
          <p:cNvSpPr txBox="1"/>
          <p:nvPr/>
        </p:nvSpPr>
        <p:spPr>
          <a:xfrm>
            <a:off x="731520" y="822960"/>
            <a:ext cx="7315200" cy="365760"/>
          </a:xfrm>
          <a:prstGeom prst="rect">
            <a:avLst/>
          </a:prstGeom>
          <a:noFill/>
          <a:ln/>
        </p:spPr>
        <p:txBody>
          <a:bodyPr wrap="square" lIns="0" tIns="0" rIns="0" bIns="0" rtlCol="0" anchor="ctr"/>
          <a:lstStyle/>
          <a:p>
            <a:pPr marL="0" indent="0">
              <a:buNone/>
            </a:pPr>
            <a:r>
              <a:rPr lang="en-US" sz="1400" b="1" kern="0" spc="200" dirty="0">
                <a:solidFill>
                  <a:schemeClr val="accent2"/>
                </a:solidFill>
              </a:rPr>
              <a:t>YEAR 5 · WRITING · LESSON 5 · FEEDBACK</a:t>
            </a:r>
            <a:endParaRPr lang="en-US" sz="1400" dirty="0"/>
          </a:p>
        </p:txBody>
      </p:sp>
      <p:sp>
        <p:nvSpPr>
          <p:cNvPr id="5" name="Text 3"/>
          <p:cNvSpPr txBox="1"/>
          <p:nvPr/>
        </p:nvSpPr>
        <p:spPr>
          <a:xfrm>
            <a:off x="731520" y="1371600"/>
            <a:ext cx="8229600" cy="1005840"/>
          </a:xfrm>
          <a:prstGeom prst="rect">
            <a:avLst/>
          </a:prstGeom>
          <a:noFill/>
          <a:ln/>
        </p:spPr>
        <p:txBody>
          <a:bodyPr wrap="square" lIns="0" tIns="0" rIns="0" bIns="0" rtlCol="0" anchor="ctr"/>
          <a:lstStyle/>
          <a:p>
            <a:pPr marL="0" indent="0">
              <a:buNone/>
            </a:pPr>
            <a:r>
              <a:rPr lang="en-US" sz="4400" b="1" dirty="0">
                <a:solidFill>
                  <a:schemeClr val="bg1"/>
                </a:solidFill>
                <a:latin typeface="+mj-lt" pitchFamily="34" charset="0"/>
                <a:ea typeface="+mj-lt" pitchFamily="34" charset="-122"/>
                <a:cs typeface="+mj-lt" pitchFamily="34" charset="-120"/>
              </a:rPr>
              <a:t>Fable Doctors</a:t>
            </a:r>
            <a:endParaRPr lang="en-US" sz="4400" dirty="0"/>
          </a:p>
        </p:txBody>
      </p:sp>
      <p:sp>
        <p:nvSpPr>
          <p:cNvPr id="6" name="Text 4"/>
          <p:cNvSpPr txBox="1"/>
          <p:nvPr/>
        </p:nvSpPr>
        <p:spPr>
          <a:xfrm>
            <a:off x="731520" y="2560320"/>
            <a:ext cx="8229600" cy="548640"/>
          </a:xfrm>
          <a:prstGeom prst="rect">
            <a:avLst/>
          </a:prstGeom>
          <a:noFill/>
          <a:ln/>
        </p:spPr>
        <p:txBody>
          <a:bodyPr wrap="square" lIns="0" tIns="0" rIns="0" bIns="0" rtlCol="0" anchor="ctr"/>
          <a:lstStyle/>
          <a:p>
            <a:pPr marL="0" indent="0">
              <a:buNone/>
            </a:pPr>
            <a:r>
              <a:rPr lang="en-US" sz="2400" i="1" dirty="0">
                <a:solidFill>
                  <a:schemeClr val="bg2"/>
                </a:solidFill>
                <a:latin typeface="+mj-lt" pitchFamily="34" charset="0"/>
                <a:ea typeface="+mj-lt" pitchFamily="34" charset="-122"/>
                <a:cs typeface="+mj-lt" pitchFamily="34" charset="-120"/>
              </a:rPr>
              <a:t>Feedback: Check, Share, Improve &amp; Second draft </a:t>
            </a:r>
            <a:endParaRPr lang="en-US" sz="2400" dirty="0"/>
          </a:p>
        </p:txBody>
      </p:sp>
      <p:sp>
        <p:nvSpPr>
          <p:cNvPr id="7" name="Shape 5"/>
          <p:cNvSpPr/>
          <p:nvPr/>
        </p:nvSpPr>
        <p:spPr>
          <a:xfrm>
            <a:off x="731520" y="3840480"/>
            <a:ext cx="7863840" cy="1325880"/>
          </a:xfrm>
          <a:prstGeom prst="rect">
            <a:avLst/>
          </a:prstGeom>
          <a:solidFill>
            <a:schemeClr val="accent1"/>
          </a:solidFill>
          <a:ln/>
        </p:spPr>
      </p:sp>
      <p:sp>
        <p:nvSpPr>
          <p:cNvPr id="8" name="Text 6"/>
          <p:cNvSpPr txBox="1"/>
          <p:nvPr/>
        </p:nvSpPr>
        <p:spPr>
          <a:xfrm>
            <a:off x="960120" y="3886200"/>
            <a:ext cx="7406640" cy="1234440"/>
          </a:xfrm>
          <a:prstGeom prst="rect">
            <a:avLst/>
          </a:prstGeom>
          <a:noFill/>
          <a:ln/>
        </p:spPr>
        <p:txBody>
          <a:bodyPr wrap="square" lIns="0" tIns="0" rIns="0" bIns="0" rtlCol="0" anchor="ctr"/>
          <a:lstStyle/>
          <a:p>
            <a:pPr marL="0" indent="0">
              <a:buNone/>
            </a:pPr>
            <a:r>
              <a:rPr lang="en-US" sz="1400" b="1" dirty="0">
                <a:solidFill>
                  <a:schemeClr val="accent2"/>
                </a:solidFill>
              </a:rPr>
              <a:t>BIG QUESTION</a:t>
            </a:r>
            <a:endParaRPr lang="en-US" sz="1400" dirty="0"/>
          </a:p>
          <a:p>
            <a:pPr marL="0" indent="0">
              <a:buNone/>
            </a:pPr>
            <a:r>
              <a:rPr lang="en-US" sz="1900" dirty="0">
                <a:solidFill>
                  <a:schemeClr val="bg1"/>
                </a:solidFill>
              </a:rPr>
              <a:t>What do we need to fix in our fables, and how can we fix it?</a:t>
            </a:r>
            <a:endParaRPr lang="en-US" sz="1400" dirty="0"/>
          </a:p>
        </p:txBody>
      </p:sp>
      <p:sp>
        <p:nvSpPr>
          <p:cNvPr id="9" name="Text 7"/>
          <p:cNvSpPr txBox="1"/>
          <p:nvPr/>
        </p:nvSpPr>
        <p:spPr>
          <a:xfrm>
            <a:off x="731520" y="5943600"/>
            <a:ext cx="6400800" cy="365760"/>
          </a:xfrm>
          <a:prstGeom prst="rect">
            <a:avLst/>
          </a:prstGeom>
          <a:noFill/>
          <a:ln/>
        </p:spPr>
        <p:txBody>
          <a:bodyPr wrap="square" lIns="0" tIns="0" rIns="0" bIns="0" rtlCol="0" anchor="ctr"/>
          <a:lstStyle/>
          <a:p>
            <a:pPr marL="0" indent="0">
              <a:buNone/>
            </a:pPr>
            <a:r>
              <a:rPr lang="en-US" sz="1400" dirty="0">
                <a:solidFill>
                  <a:schemeClr val="bg1"/>
                </a:solidFill>
              </a:rPr>
              <a:t>80 minutes · Write a Fable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Today we will learn to…</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GOALS</a:t>
            </a:r>
            <a:endParaRPr lang="en-US" sz="1100" dirty="0"/>
          </a:p>
        </p:txBody>
      </p:sp>
      <p:sp>
        <p:nvSpPr>
          <p:cNvPr id="5" name="Shape 2"/>
          <p:cNvSpPr/>
          <p:nvPr/>
        </p:nvSpPr>
        <p:spPr>
          <a:xfrm>
            <a:off x="548640" y="1188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548640" y="1371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7" name="Text 4"/>
          <p:cNvSpPr txBox="1"/>
          <p:nvPr/>
        </p:nvSpPr>
        <p:spPr>
          <a:xfrm>
            <a:off x="777240" y="2148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See what we already do well</a:t>
            </a:r>
            <a:endParaRPr lang="en-US" sz="1800" dirty="0"/>
          </a:p>
        </p:txBody>
      </p:sp>
      <p:sp>
        <p:nvSpPr>
          <p:cNvPr id="8" name="Shape 5"/>
          <p:cNvSpPr/>
          <p:nvPr/>
        </p:nvSpPr>
        <p:spPr>
          <a:xfrm>
            <a:off x="4361688" y="1188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9" name="Text 6"/>
          <p:cNvSpPr txBox="1"/>
          <p:nvPr/>
        </p:nvSpPr>
        <p:spPr>
          <a:xfrm>
            <a:off x="4361688" y="1371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0" name="Text 7"/>
          <p:cNvSpPr txBox="1"/>
          <p:nvPr/>
        </p:nvSpPr>
        <p:spPr>
          <a:xfrm>
            <a:off x="4590288" y="2148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Give feedback: one strength, one improvement</a:t>
            </a:r>
            <a:endParaRPr lang="en-US" sz="1800" dirty="0"/>
          </a:p>
        </p:txBody>
      </p:sp>
      <p:sp>
        <p:nvSpPr>
          <p:cNvPr id="11" name="Shape 8"/>
          <p:cNvSpPr/>
          <p:nvPr/>
        </p:nvSpPr>
        <p:spPr>
          <a:xfrm>
            <a:off x="8174736" y="1188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8174736" y="1371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3" name="Text 10"/>
          <p:cNvSpPr txBox="1"/>
          <p:nvPr/>
        </p:nvSpPr>
        <p:spPr>
          <a:xfrm>
            <a:off x="8403336" y="2148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Fix the most common problems in our fables</a:t>
            </a:r>
            <a:endParaRPr lang="en-US" sz="1800" dirty="0"/>
          </a:p>
        </p:txBody>
      </p:sp>
      <p:sp>
        <p:nvSpPr>
          <p:cNvPr id="14" name="Shape 11"/>
          <p:cNvSpPr/>
          <p:nvPr/>
        </p:nvSpPr>
        <p:spPr>
          <a:xfrm>
            <a:off x="548640" y="3474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548640" y="3657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6" name="Text 13"/>
          <p:cNvSpPr txBox="1"/>
          <p:nvPr/>
        </p:nvSpPr>
        <p:spPr>
          <a:xfrm>
            <a:off x="777240" y="4434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Improve my fable using feedback</a:t>
            </a:r>
            <a:endParaRPr lang="en-US" sz="1800" dirty="0"/>
          </a:p>
        </p:txBody>
      </p:sp>
      <p:sp>
        <p:nvSpPr>
          <p:cNvPr id="17" name="Shape 14"/>
          <p:cNvSpPr/>
          <p:nvPr/>
        </p:nvSpPr>
        <p:spPr>
          <a:xfrm>
            <a:off x="4361688" y="3474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4361688" y="3657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9" name="Text 16"/>
          <p:cNvSpPr txBox="1"/>
          <p:nvPr/>
        </p:nvSpPr>
        <p:spPr>
          <a:xfrm>
            <a:off x="4590288" y="4434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Check my fable against the checklist</a:t>
            </a:r>
            <a:endParaRPr lang="en-US" sz="1800" dirty="0"/>
          </a:p>
        </p:txBody>
      </p:sp>
      <p:sp>
        <p:nvSpPr>
          <p:cNvPr id="20" name="Shape 17"/>
          <p:cNvSpPr/>
          <p:nvPr/>
        </p:nvSpPr>
        <p:spPr>
          <a:xfrm>
            <a:off x="8174736" y="3474720"/>
            <a:ext cx="3566160" cy="2057400"/>
          </a:xfrm>
          <a:prstGeom prst="rect">
            <a:avLst/>
          </a:prstGeom>
          <a:solidFill>
            <a:schemeClr val="bg1"/>
          </a:solidFill>
          <a:ln/>
          <a:effectLst>
            <a:outerShdw blurRad="76200" dist="25400" dir="5400000" algn="bl" rotWithShape="0">
              <a:srgbClr val="000000">
                <a:alpha val="12000"/>
              </a:srgbClr>
            </a:outerShdw>
          </a:effectLst>
        </p:spPr>
      </p:sp>
      <p:sp>
        <p:nvSpPr>
          <p:cNvPr id="21" name="Text 18"/>
          <p:cNvSpPr txBox="1"/>
          <p:nvPr/>
        </p:nvSpPr>
        <p:spPr>
          <a:xfrm>
            <a:off x="8174736" y="36576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22" name="Text 19"/>
          <p:cNvSpPr txBox="1"/>
          <p:nvPr/>
        </p:nvSpPr>
        <p:spPr>
          <a:xfrm>
            <a:off x="8403336" y="44348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Set myself a target for editing</a:t>
            </a:r>
            <a:endParaRPr lang="en-US" sz="1800" dirty="0"/>
          </a:p>
        </p:txBody>
      </p:sp>
      <p:sp>
        <p:nvSpPr>
          <p:cNvPr id="23" name="Text 20"/>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Last lesson you wrote your whole fable. Today we find what still needs fixing, and fix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(1)</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METAWALLI · RESULT LINKED TO CHOICE"/>
          <p:cNvSpPr/>
          <p:nvPr/>
        </p:nvSpPr>
        <p:spPr>
          <a:xfrm>
            <a:off x="54864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440680" cy="384048"/>
          </a:xfrm>
          <a:prstGeom prst="rect">
            <a:avLst/>
          </a:prstGeom>
          <a:solidFill>
            <a:schemeClr val="accent1"/>
          </a:solidFill>
          <a:ln/>
        </p:spPr>
      </p:sp>
      <p:sp>
        <p:nvSpPr>
          <p:cNvPr id="7" name="Text 4"/>
          <p:cNvSpPr txBox="1"/>
          <p:nvPr/>
        </p:nvSpPr>
        <p:spPr>
          <a:xfrm>
            <a:off x="676656" y="10972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METAWALLI · RESULT LINKED TO CHOICE</a:t>
            </a:r>
            <a:endParaRPr lang="en-US" sz="1200" dirty="0"/>
          </a:p>
        </p:txBody>
      </p:sp>
      <p:sp>
        <p:nvSpPr>
          <p:cNvPr id="8" name="Text 5"/>
          <p:cNvSpPr txBox="1"/>
          <p:nvPr/>
        </p:nvSpPr>
        <p:spPr>
          <a:xfrm>
            <a:off x="658368" y="1554480"/>
            <a:ext cx="5221224" cy="932688"/>
          </a:xfrm>
          <a:prstGeom prst="rect">
            <a:avLst/>
          </a:prstGeom>
          <a:noFill/>
          <a:ln/>
        </p:spPr>
        <p:txBody>
          <a:bodyPr wrap="square" lIns="508" tIns="508" rIns="508" bIns="508" rtlCol="0" anchor="t"/>
          <a:lstStyle/>
          <a:p>
            <a:pPr marL="0" indent="0" algn="l">
              <a:buNone/>
            </a:pPr>
            <a:r>
              <a:rPr lang="en-US" sz="2000" i="1" dirty="0">
                <a:solidFill>
                  <a:schemeClr val="tx1"/>
                </a:solidFill>
              </a:rPr>
              <a:t>“Because Leo had spared Pip, the tiny mouse heard his roars and quickly ran to the net.”</a:t>
            </a:r>
            <a:endParaRPr lang="en-US" sz="2000" dirty="0"/>
          </a:p>
        </p:txBody>
      </p:sp>
      <p:sp>
        <p:nvSpPr>
          <p:cNvPr id="9" name="Card FARIDA · BECAUSE … SO … AS A RESULT"/>
          <p:cNvSpPr/>
          <p:nvPr/>
        </p:nvSpPr>
        <p:spPr>
          <a:xfrm>
            <a:off x="621792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217920" y="1097280"/>
            <a:ext cx="5440680" cy="384048"/>
          </a:xfrm>
          <a:prstGeom prst="rect">
            <a:avLst/>
          </a:prstGeom>
          <a:solidFill>
            <a:schemeClr val="accent2"/>
          </a:solidFill>
          <a:ln/>
        </p:spPr>
      </p:sp>
      <p:sp>
        <p:nvSpPr>
          <p:cNvPr id="11" name="Text 8"/>
          <p:cNvSpPr txBox="1"/>
          <p:nvPr/>
        </p:nvSpPr>
        <p:spPr>
          <a:xfrm>
            <a:off x="6345936" y="10972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FARIDA · BECAUSE … SO … AS A RESULT</a:t>
            </a:r>
            <a:endParaRPr lang="en-US" sz="1200" dirty="0"/>
          </a:p>
        </p:txBody>
      </p:sp>
      <p:sp>
        <p:nvSpPr>
          <p:cNvPr id="12" name="Text 9"/>
          <p:cNvSpPr txBox="1"/>
          <p:nvPr/>
        </p:nvSpPr>
        <p:spPr>
          <a:xfrm>
            <a:off x="6327648" y="15544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“Because Leo was humble and said sorry, Mia felt kind, so she chewed the net. As a result, Leo was free.”</a:t>
            </a:r>
            <a:endParaRPr lang="en-US" dirty="0"/>
          </a:p>
        </p:txBody>
      </p:sp>
      <p:sp>
        <p:nvSpPr>
          <p:cNvPr id="13" name="Card JOUD AL-FATIH · RESULT FROM A CHOICE"/>
          <p:cNvSpPr/>
          <p:nvPr/>
        </p:nvSpPr>
        <p:spPr>
          <a:xfrm>
            <a:off x="54864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548640" y="2697480"/>
            <a:ext cx="5440680" cy="384048"/>
          </a:xfrm>
          <a:prstGeom prst="rect">
            <a:avLst/>
          </a:prstGeom>
          <a:solidFill>
            <a:schemeClr val="accent3"/>
          </a:solidFill>
          <a:ln/>
        </p:spPr>
      </p:sp>
      <p:sp>
        <p:nvSpPr>
          <p:cNvPr id="15" name="Text 12"/>
          <p:cNvSpPr txBox="1"/>
          <p:nvPr/>
        </p:nvSpPr>
        <p:spPr>
          <a:xfrm>
            <a:off x="67665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JOUD AL-FATIH · RESULT FROM A CHOICE</a:t>
            </a:r>
            <a:endParaRPr lang="en-US" sz="1200" dirty="0"/>
          </a:p>
        </p:txBody>
      </p:sp>
      <p:sp>
        <p:nvSpPr>
          <p:cNvPr id="16" name="Text 13"/>
          <p:cNvSpPr txBox="1"/>
          <p:nvPr/>
        </p:nvSpPr>
        <p:spPr>
          <a:xfrm>
            <a:off x="65836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“Because my brother called for help, my mum heard him, so he was safe.”</a:t>
            </a:r>
            <a:endParaRPr lang="en-US" dirty="0"/>
          </a:p>
        </p:txBody>
      </p:sp>
      <p:sp>
        <p:nvSpPr>
          <p:cNvPr id="17" name="Card NADA · A CHOICE THAT SHOWS A TRAIT"/>
          <p:cNvSpPr/>
          <p:nvPr/>
        </p:nvSpPr>
        <p:spPr>
          <a:xfrm>
            <a:off x="621792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6217920" y="2697480"/>
            <a:ext cx="5440680" cy="384048"/>
          </a:xfrm>
          <a:prstGeom prst="rect">
            <a:avLst/>
          </a:prstGeom>
          <a:solidFill>
            <a:schemeClr val="tx1"/>
          </a:solidFill>
          <a:ln/>
        </p:spPr>
      </p:sp>
      <p:sp>
        <p:nvSpPr>
          <p:cNvPr id="19" name="Text 16"/>
          <p:cNvSpPr txBox="1"/>
          <p:nvPr/>
        </p:nvSpPr>
        <p:spPr>
          <a:xfrm>
            <a:off x="634593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NADA · A CHOICE THAT SHOWS A TRAIT</a:t>
            </a:r>
            <a:endParaRPr lang="en-US" sz="1200" dirty="0"/>
          </a:p>
        </p:txBody>
      </p:sp>
      <p:sp>
        <p:nvSpPr>
          <p:cNvPr id="20" name="Text 17"/>
          <p:cNvSpPr txBox="1"/>
          <p:nvPr/>
        </p:nvSpPr>
        <p:spPr>
          <a:xfrm>
            <a:off x="632764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“Instead of flying away in fear, Pip took a deep breath on her branch and decided to sing.”</a:t>
            </a:r>
            <a:endParaRPr lang="en-US" dirty="0"/>
          </a:p>
        </p:txBody>
      </p:sp>
      <p:sp>
        <p:nvSpPr>
          <p:cNvPr id="21" name="Card MAI · INSTEAD OF… A CHOICE"/>
          <p:cNvSpPr/>
          <p:nvPr/>
        </p:nvSpPr>
        <p:spPr>
          <a:xfrm>
            <a:off x="54864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548640" y="4297680"/>
            <a:ext cx="5440680" cy="384048"/>
          </a:xfrm>
          <a:prstGeom prst="rect">
            <a:avLst/>
          </a:prstGeom>
          <a:solidFill>
            <a:schemeClr val="accent1"/>
          </a:solidFill>
          <a:ln/>
        </p:spPr>
      </p:sp>
      <p:sp>
        <p:nvSpPr>
          <p:cNvPr id="23" name="Text 20"/>
          <p:cNvSpPr txBox="1"/>
          <p:nvPr/>
        </p:nvSpPr>
        <p:spPr>
          <a:xfrm>
            <a:off x="676656" y="42976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MAI · INSTEAD OF… A CHOICE</a:t>
            </a:r>
            <a:endParaRPr lang="en-US" sz="1200" dirty="0"/>
          </a:p>
        </p:txBody>
      </p:sp>
      <p:sp>
        <p:nvSpPr>
          <p:cNvPr id="24" name="Text 21"/>
          <p:cNvSpPr txBox="1"/>
          <p:nvPr/>
        </p:nvSpPr>
        <p:spPr>
          <a:xfrm>
            <a:off x="658368" y="4754880"/>
            <a:ext cx="5221224" cy="932688"/>
          </a:xfrm>
          <a:prstGeom prst="rect">
            <a:avLst/>
          </a:prstGeom>
          <a:noFill/>
          <a:ln/>
        </p:spPr>
        <p:txBody>
          <a:bodyPr wrap="square" lIns="508" tIns="508" rIns="508" bIns="508" rtlCol="0" anchor="t"/>
          <a:lstStyle/>
          <a:p>
            <a:pPr marL="0" indent="0" algn="l">
              <a:buNone/>
            </a:pPr>
            <a:r>
              <a:rPr lang="en-US" sz="2000" i="1" dirty="0">
                <a:solidFill>
                  <a:schemeClr val="tx1"/>
                </a:solidFill>
              </a:rPr>
              <a:t>“Instead of bullying her, she helped.”</a:t>
            </a:r>
            <a:endParaRPr lang="en-US" sz="2000" dirty="0"/>
          </a:p>
        </p:txBody>
      </p:sp>
      <p:sp>
        <p:nvSpPr>
          <p:cNvPr id="25" name="Card NOOR (LION AND MOUSE) · A CHANGE"/>
          <p:cNvSpPr/>
          <p:nvPr/>
        </p:nvSpPr>
        <p:spPr>
          <a:xfrm>
            <a:off x="621792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6217920" y="4297680"/>
            <a:ext cx="5440680" cy="384048"/>
          </a:xfrm>
          <a:prstGeom prst="rect">
            <a:avLst/>
          </a:prstGeom>
          <a:solidFill>
            <a:schemeClr val="accent2"/>
          </a:solidFill>
          <a:ln/>
        </p:spPr>
      </p:sp>
      <p:sp>
        <p:nvSpPr>
          <p:cNvPr id="27" name="Text 24"/>
          <p:cNvSpPr txBox="1"/>
          <p:nvPr/>
        </p:nvSpPr>
        <p:spPr>
          <a:xfrm>
            <a:off x="6345936" y="42976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NOOR (LION AND MOUSE) · A CHANGE</a:t>
            </a:r>
            <a:endParaRPr lang="en-US" sz="1200" dirty="0"/>
          </a:p>
        </p:txBody>
      </p:sp>
      <p:sp>
        <p:nvSpPr>
          <p:cNvPr id="28" name="Text 25"/>
          <p:cNvSpPr txBox="1"/>
          <p:nvPr/>
        </p:nvSpPr>
        <p:spPr>
          <a:xfrm>
            <a:off x="6327648" y="47548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“As a result, the lion realized that even a small animal could do something important.”</a:t>
            </a:r>
            <a:endParaRPr lang="en-US"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Strong ideas. Now let’s make every fable even stronger.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(2)</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KINAN · A CLEAR CHANGE"/>
          <p:cNvSpPr/>
          <p:nvPr/>
        </p:nvSpPr>
        <p:spPr>
          <a:xfrm>
            <a:off x="54864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440680" cy="384048"/>
          </a:xfrm>
          <a:prstGeom prst="rect">
            <a:avLst/>
          </a:prstGeom>
          <a:solidFill>
            <a:schemeClr val="accent1"/>
          </a:solidFill>
          <a:ln/>
        </p:spPr>
      </p:sp>
      <p:sp>
        <p:nvSpPr>
          <p:cNvPr id="7" name="Text 4"/>
          <p:cNvSpPr txBox="1"/>
          <p:nvPr/>
        </p:nvSpPr>
        <p:spPr>
          <a:xfrm>
            <a:off x="676656" y="10972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KINAN · A CLEAR CHANGE</a:t>
            </a:r>
            <a:endParaRPr lang="en-US" sz="1200" dirty="0"/>
          </a:p>
        </p:txBody>
      </p:sp>
      <p:sp>
        <p:nvSpPr>
          <p:cNvPr id="8" name="Text 5"/>
          <p:cNvSpPr txBox="1"/>
          <p:nvPr/>
        </p:nvSpPr>
        <p:spPr>
          <a:xfrm>
            <a:off x="658368" y="1554480"/>
            <a:ext cx="5221224" cy="932688"/>
          </a:xfrm>
          <a:prstGeom prst="rect">
            <a:avLst/>
          </a:prstGeom>
          <a:noFill/>
          <a:ln/>
        </p:spPr>
        <p:txBody>
          <a:bodyPr wrap="square" lIns="508" tIns="508" rIns="508" bIns="508" rtlCol="0" anchor="t"/>
          <a:lstStyle/>
          <a:p>
            <a:pPr marL="0" indent="0" algn="l">
              <a:buNone/>
            </a:pPr>
            <a:r>
              <a:rPr lang="en-US" sz="2000" i="1" dirty="0">
                <a:solidFill>
                  <a:schemeClr val="tx1"/>
                </a:solidFill>
              </a:rPr>
              <a:t>“Then he understood that he should prepare for winter and think ahead instead of playing.” (spelling corrected)</a:t>
            </a:r>
            <a:endParaRPr lang="en-US" sz="2000" dirty="0"/>
          </a:p>
        </p:txBody>
      </p:sp>
      <p:sp>
        <p:nvSpPr>
          <p:cNvPr id="9" name="Card DOAA · A REALISATION"/>
          <p:cNvSpPr/>
          <p:nvPr/>
        </p:nvSpPr>
        <p:spPr>
          <a:xfrm>
            <a:off x="621792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217920" y="1097280"/>
            <a:ext cx="5440680" cy="384048"/>
          </a:xfrm>
          <a:prstGeom prst="rect">
            <a:avLst/>
          </a:prstGeom>
          <a:solidFill>
            <a:schemeClr val="accent2"/>
          </a:solidFill>
          <a:ln/>
        </p:spPr>
      </p:sp>
      <p:sp>
        <p:nvSpPr>
          <p:cNvPr id="11" name="Text 8"/>
          <p:cNvSpPr txBox="1"/>
          <p:nvPr/>
        </p:nvSpPr>
        <p:spPr>
          <a:xfrm>
            <a:off x="6345936" y="10972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DOAA · A REALISATION</a:t>
            </a:r>
            <a:endParaRPr lang="en-US" sz="1200" dirty="0"/>
          </a:p>
        </p:txBody>
      </p:sp>
      <p:sp>
        <p:nvSpPr>
          <p:cNvPr id="12" name="Text 9"/>
          <p:cNvSpPr txBox="1"/>
          <p:nvPr/>
        </p:nvSpPr>
        <p:spPr>
          <a:xfrm>
            <a:off x="6327648" y="1554480"/>
            <a:ext cx="5221224" cy="932688"/>
          </a:xfrm>
          <a:prstGeom prst="rect">
            <a:avLst/>
          </a:prstGeom>
          <a:noFill/>
          <a:ln/>
        </p:spPr>
        <p:txBody>
          <a:bodyPr wrap="square" lIns="508" tIns="508" rIns="508" bIns="508" rtlCol="0" anchor="t"/>
          <a:lstStyle/>
          <a:p>
            <a:pPr marL="0" indent="0" algn="l">
              <a:buNone/>
            </a:pPr>
            <a:r>
              <a:rPr lang="en-US" sz="2000" i="1" dirty="0">
                <a:solidFill>
                  <a:schemeClr val="tx1"/>
                </a:solidFill>
              </a:rPr>
              <a:t>“Sunny realized that taking more than he needed caused him to lose everything in the end.”</a:t>
            </a:r>
            <a:endParaRPr lang="en-US" sz="2000" dirty="0"/>
          </a:p>
        </p:txBody>
      </p:sp>
      <p:sp>
        <p:nvSpPr>
          <p:cNvPr id="13" name="Card JOUD (KOALA) · MORAL: ___, BUT ___"/>
          <p:cNvSpPr/>
          <p:nvPr/>
        </p:nvSpPr>
        <p:spPr>
          <a:xfrm>
            <a:off x="54864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548640" y="2697480"/>
            <a:ext cx="5440680" cy="384048"/>
          </a:xfrm>
          <a:prstGeom prst="rect">
            <a:avLst/>
          </a:prstGeom>
          <a:solidFill>
            <a:schemeClr val="accent3"/>
          </a:solidFill>
          <a:ln/>
        </p:spPr>
      </p:sp>
      <p:sp>
        <p:nvSpPr>
          <p:cNvPr id="15" name="Text 12"/>
          <p:cNvSpPr txBox="1"/>
          <p:nvPr/>
        </p:nvSpPr>
        <p:spPr>
          <a:xfrm>
            <a:off x="67665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JOUD (KOALA) · MORAL: ___, BUT ___</a:t>
            </a:r>
            <a:endParaRPr lang="en-US" sz="1200" dirty="0"/>
          </a:p>
        </p:txBody>
      </p:sp>
      <p:sp>
        <p:nvSpPr>
          <p:cNvPr id="16" name="Text 13"/>
          <p:cNvSpPr txBox="1"/>
          <p:nvPr/>
        </p:nvSpPr>
        <p:spPr>
          <a:xfrm>
            <a:off x="65836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“Relaxing today is important, but preparing for tomorrow matters too.”</a:t>
            </a:r>
            <a:endParaRPr lang="en-US" dirty="0"/>
          </a:p>
        </p:txBody>
      </p:sp>
      <p:sp>
        <p:nvSpPr>
          <p:cNvPr id="17" name="Card FARIDA · MORAL: A ___ WHO ___ MAY ___"/>
          <p:cNvSpPr/>
          <p:nvPr/>
        </p:nvSpPr>
        <p:spPr>
          <a:xfrm>
            <a:off x="621792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6217920" y="2697480"/>
            <a:ext cx="5440680" cy="384048"/>
          </a:xfrm>
          <a:prstGeom prst="rect">
            <a:avLst/>
          </a:prstGeom>
          <a:solidFill>
            <a:schemeClr val="tx1"/>
          </a:solidFill>
          <a:ln/>
        </p:spPr>
      </p:sp>
      <p:sp>
        <p:nvSpPr>
          <p:cNvPr id="19" name="Text 16"/>
          <p:cNvSpPr txBox="1"/>
          <p:nvPr/>
        </p:nvSpPr>
        <p:spPr>
          <a:xfrm>
            <a:off x="634593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FARIDA · MORAL: A ___ WHO ___ MAY ___</a:t>
            </a:r>
            <a:endParaRPr lang="en-US" sz="1200" dirty="0"/>
          </a:p>
        </p:txBody>
      </p:sp>
      <p:sp>
        <p:nvSpPr>
          <p:cNvPr id="20" name="Text 17"/>
          <p:cNvSpPr txBox="1"/>
          <p:nvPr/>
        </p:nvSpPr>
        <p:spPr>
          <a:xfrm>
            <a:off x="632764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“A proud one who laughs at others may be left alone.”</a:t>
            </a:r>
            <a:endParaRPr lang="en-US" dirty="0"/>
          </a:p>
        </p:txBody>
      </p:sp>
      <p:sp>
        <p:nvSpPr>
          <p:cNvPr id="21" name="Card DOAA · A GENERAL MORAL"/>
          <p:cNvSpPr/>
          <p:nvPr/>
        </p:nvSpPr>
        <p:spPr>
          <a:xfrm>
            <a:off x="54864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548640" y="4297680"/>
            <a:ext cx="5440680" cy="384048"/>
          </a:xfrm>
          <a:prstGeom prst="rect">
            <a:avLst/>
          </a:prstGeom>
          <a:solidFill>
            <a:schemeClr val="accent1"/>
          </a:solidFill>
          <a:ln/>
        </p:spPr>
      </p:sp>
      <p:sp>
        <p:nvSpPr>
          <p:cNvPr id="23" name="Text 20"/>
          <p:cNvSpPr txBox="1"/>
          <p:nvPr/>
        </p:nvSpPr>
        <p:spPr>
          <a:xfrm>
            <a:off x="676656" y="42976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DOAA · A GENERAL MORAL</a:t>
            </a:r>
            <a:endParaRPr lang="en-US" sz="1200" dirty="0"/>
          </a:p>
        </p:txBody>
      </p:sp>
      <p:sp>
        <p:nvSpPr>
          <p:cNvPr id="24" name="Text 21"/>
          <p:cNvSpPr txBox="1"/>
          <p:nvPr/>
        </p:nvSpPr>
        <p:spPr>
          <a:xfrm>
            <a:off x="658368" y="47548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“Greed brings grief, and sharing brings peace.”</a:t>
            </a:r>
            <a:endParaRPr lang="en-US" dirty="0"/>
          </a:p>
        </p:txBody>
      </p:sp>
      <p:sp>
        <p:nvSpPr>
          <p:cNvPr id="25" name="Card JOUD AL-FATIH · A MORAL THAT FITS"/>
          <p:cNvSpPr/>
          <p:nvPr/>
        </p:nvSpPr>
        <p:spPr>
          <a:xfrm>
            <a:off x="621792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6217920" y="4297680"/>
            <a:ext cx="5440680" cy="384048"/>
          </a:xfrm>
          <a:prstGeom prst="rect">
            <a:avLst/>
          </a:prstGeom>
          <a:solidFill>
            <a:schemeClr val="accent2"/>
          </a:solidFill>
          <a:ln/>
        </p:spPr>
      </p:sp>
      <p:sp>
        <p:nvSpPr>
          <p:cNvPr id="27" name="Text 24"/>
          <p:cNvSpPr txBox="1"/>
          <p:nvPr/>
        </p:nvSpPr>
        <p:spPr>
          <a:xfrm>
            <a:off x="6345936" y="42976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JOUD AL-FATIH · A MORAL THAT FITS</a:t>
            </a:r>
            <a:endParaRPr lang="en-US" sz="1200" dirty="0"/>
          </a:p>
        </p:txBody>
      </p:sp>
      <p:sp>
        <p:nvSpPr>
          <p:cNvPr id="28" name="Text 25"/>
          <p:cNvSpPr txBox="1"/>
          <p:nvPr/>
        </p:nvSpPr>
        <p:spPr>
          <a:xfrm>
            <a:off x="6327648" y="47548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“It is brave to ask for help when you are scared.”</a:t>
            </a:r>
            <a:endParaRPr lang="en-US"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Strong ideas. Now let’s make every fable even stronger.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(3)</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ABDALLAH · AN ORIGINAL IDEA"/>
          <p:cNvSpPr/>
          <p:nvPr/>
        </p:nvSpPr>
        <p:spPr>
          <a:xfrm>
            <a:off x="54864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440680" cy="384048"/>
          </a:xfrm>
          <a:prstGeom prst="rect">
            <a:avLst/>
          </a:prstGeom>
          <a:solidFill>
            <a:schemeClr val="accent1"/>
          </a:solidFill>
          <a:ln/>
        </p:spPr>
      </p:sp>
      <p:sp>
        <p:nvSpPr>
          <p:cNvPr id="7" name="Text 4"/>
          <p:cNvSpPr txBox="1"/>
          <p:nvPr/>
        </p:nvSpPr>
        <p:spPr>
          <a:xfrm>
            <a:off x="676656" y="10972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ABDALLAH · AN ORIGINAL IDEA</a:t>
            </a:r>
            <a:endParaRPr lang="en-US" sz="1200" dirty="0"/>
          </a:p>
        </p:txBody>
      </p:sp>
      <p:sp>
        <p:nvSpPr>
          <p:cNvPr id="8" name="Text 5"/>
          <p:cNvSpPr txBox="1"/>
          <p:nvPr/>
        </p:nvSpPr>
        <p:spPr>
          <a:xfrm>
            <a:off x="658368" y="15544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A golden key that is so old no one can find it: a mystery to start the story.</a:t>
            </a:r>
            <a:endParaRPr lang="en-US" dirty="0"/>
          </a:p>
        </p:txBody>
      </p:sp>
      <p:sp>
        <p:nvSpPr>
          <p:cNvPr id="9" name="Card NOOR (TIGER) · CORRECT SPEECH"/>
          <p:cNvSpPr/>
          <p:nvPr/>
        </p:nvSpPr>
        <p:spPr>
          <a:xfrm>
            <a:off x="6217920" y="10972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217920" y="1097280"/>
            <a:ext cx="5440680" cy="384048"/>
          </a:xfrm>
          <a:prstGeom prst="rect">
            <a:avLst/>
          </a:prstGeom>
          <a:solidFill>
            <a:schemeClr val="accent2"/>
          </a:solidFill>
          <a:ln/>
        </p:spPr>
      </p:sp>
      <p:sp>
        <p:nvSpPr>
          <p:cNvPr id="11" name="Text 8"/>
          <p:cNvSpPr txBox="1"/>
          <p:nvPr/>
        </p:nvSpPr>
        <p:spPr>
          <a:xfrm>
            <a:off x="6345936" y="10972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NOOR (TIGER) · CORRECT SPEECH</a:t>
            </a:r>
            <a:endParaRPr lang="en-US" sz="1200" dirty="0"/>
          </a:p>
        </p:txBody>
      </p:sp>
      <p:sp>
        <p:nvSpPr>
          <p:cNvPr id="12" name="Text 9"/>
          <p:cNvSpPr txBox="1"/>
          <p:nvPr/>
        </p:nvSpPr>
        <p:spPr>
          <a:xfrm>
            <a:off x="6327648" y="15544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“You need to be more patient,” said the tiger. (comma inside the speech marks)</a:t>
            </a:r>
            <a:endParaRPr lang="en-US" dirty="0"/>
          </a:p>
        </p:txBody>
      </p:sp>
      <p:sp>
        <p:nvSpPr>
          <p:cNvPr id="13" name="Card DANA · STRONG WORDS"/>
          <p:cNvSpPr/>
          <p:nvPr/>
        </p:nvSpPr>
        <p:spPr>
          <a:xfrm>
            <a:off x="54864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548640" y="2697480"/>
            <a:ext cx="5440680" cy="384048"/>
          </a:xfrm>
          <a:prstGeom prst="rect">
            <a:avLst/>
          </a:prstGeom>
          <a:solidFill>
            <a:schemeClr val="accent3"/>
          </a:solidFill>
          <a:ln/>
        </p:spPr>
      </p:sp>
      <p:sp>
        <p:nvSpPr>
          <p:cNvPr id="15" name="Text 12"/>
          <p:cNvSpPr txBox="1"/>
          <p:nvPr/>
        </p:nvSpPr>
        <p:spPr>
          <a:xfrm>
            <a:off x="67665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DANA · STRONG WORDS</a:t>
            </a:r>
            <a:endParaRPr lang="en-US" sz="1200" dirty="0"/>
          </a:p>
        </p:txBody>
      </p:sp>
      <p:sp>
        <p:nvSpPr>
          <p:cNvPr id="16" name="Text 13"/>
          <p:cNvSpPr txBox="1"/>
          <p:nvPr/>
        </p:nvSpPr>
        <p:spPr>
          <a:xfrm>
            <a:off x="65836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“scary”, “crazy” and “biggest”: strong describing words about the lion.</a:t>
            </a:r>
            <a:endParaRPr lang="en-US" dirty="0"/>
          </a:p>
        </p:txBody>
      </p:sp>
      <p:sp>
        <p:nvSpPr>
          <p:cNvPr id="17" name="Card SEIF · A CLEAR TRAIT"/>
          <p:cNvSpPr/>
          <p:nvPr/>
        </p:nvSpPr>
        <p:spPr>
          <a:xfrm>
            <a:off x="6217920" y="26974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6217920" y="2697480"/>
            <a:ext cx="5440680" cy="384048"/>
          </a:xfrm>
          <a:prstGeom prst="rect">
            <a:avLst/>
          </a:prstGeom>
          <a:solidFill>
            <a:schemeClr val="tx1"/>
          </a:solidFill>
          <a:ln/>
        </p:spPr>
      </p:sp>
      <p:sp>
        <p:nvSpPr>
          <p:cNvPr id="19" name="Text 16"/>
          <p:cNvSpPr txBox="1"/>
          <p:nvPr/>
        </p:nvSpPr>
        <p:spPr>
          <a:xfrm>
            <a:off x="6345936" y="26974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SEIF · A CLEAR TRAIT</a:t>
            </a:r>
            <a:endParaRPr lang="en-US" sz="1200" dirty="0"/>
          </a:p>
        </p:txBody>
      </p:sp>
      <p:sp>
        <p:nvSpPr>
          <p:cNvPr id="20" name="Text 17"/>
          <p:cNvSpPr txBox="1"/>
          <p:nvPr/>
        </p:nvSpPr>
        <p:spPr>
          <a:xfrm>
            <a:off x="6327648" y="31546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The fox is selfish: he wants all the deer for himself. A trait you can build a story on.</a:t>
            </a:r>
            <a:endParaRPr lang="en-US" dirty="0"/>
          </a:p>
        </p:txBody>
      </p:sp>
      <p:sp>
        <p:nvSpPr>
          <p:cNvPr id="21" name="Card ALI AND MAHMOUD · A KIND LESSON"/>
          <p:cNvSpPr/>
          <p:nvPr/>
        </p:nvSpPr>
        <p:spPr>
          <a:xfrm>
            <a:off x="54864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548640" y="4297680"/>
            <a:ext cx="5440680" cy="384048"/>
          </a:xfrm>
          <a:prstGeom prst="rect">
            <a:avLst/>
          </a:prstGeom>
          <a:solidFill>
            <a:schemeClr val="accent1"/>
          </a:solidFill>
          <a:ln/>
        </p:spPr>
      </p:sp>
      <p:sp>
        <p:nvSpPr>
          <p:cNvPr id="23" name="Text 20"/>
          <p:cNvSpPr txBox="1"/>
          <p:nvPr/>
        </p:nvSpPr>
        <p:spPr>
          <a:xfrm>
            <a:off x="676656" y="4297680"/>
            <a:ext cx="5257800" cy="384048"/>
          </a:xfrm>
          <a:prstGeom prst="rect">
            <a:avLst/>
          </a:prstGeom>
          <a:noFill/>
          <a:ln/>
        </p:spPr>
        <p:txBody>
          <a:bodyPr wrap="square" lIns="0" tIns="0" rIns="0" bIns="0" rtlCol="0" anchor="ctr"/>
          <a:lstStyle/>
          <a:p>
            <a:pPr marL="0" indent="0">
              <a:buNone/>
            </a:pPr>
            <a:r>
              <a:rPr lang="en-US" sz="1200" b="1" dirty="0">
                <a:solidFill>
                  <a:schemeClr val="bg1"/>
                </a:solidFill>
              </a:rPr>
              <a:t>ALI AND MAHMOUD · A KIND LESSON</a:t>
            </a:r>
            <a:endParaRPr lang="en-US" sz="1200" dirty="0"/>
          </a:p>
        </p:txBody>
      </p:sp>
      <p:sp>
        <p:nvSpPr>
          <p:cNvPr id="24" name="Text 21"/>
          <p:cNvSpPr txBox="1"/>
          <p:nvPr/>
        </p:nvSpPr>
        <p:spPr>
          <a:xfrm>
            <a:off x="658368" y="4754880"/>
            <a:ext cx="5221224" cy="932688"/>
          </a:xfrm>
          <a:prstGeom prst="rect">
            <a:avLst/>
          </a:prstGeom>
          <a:noFill/>
          <a:ln/>
        </p:spPr>
        <p:txBody>
          <a:bodyPr wrap="square" lIns="508" tIns="508" rIns="508" bIns="508" rtlCol="0" anchor="t"/>
          <a:lstStyle/>
          <a:p>
            <a:pPr marL="0" indent="0" algn="l">
              <a:buNone/>
            </a:pPr>
            <a:r>
              <a:rPr lang="en-US" i="1" dirty="0">
                <a:solidFill>
                  <a:schemeClr val="tx1"/>
                </a:solidFill>
              </a:rPr>
              <a:t>Both fables end by telling the reader to be kind. A good lesson to build a moral on.</a:t>
            </a:r>
            <a:endParaRPr lang="en-US" dirty="0"/>
          </a:p>
        </p:txBody>
      </p:sp>
      <p:sp>
        <p:nvSpPr>
          <p:cNvPr id="25" name="Card METAWALLI · A MORAL"/>
          <p:cNvSpPr/>
          <p:nvPr/>
        </p:nvSpPr>
        <p:spPr>
          <a:xfrm>
            <a:off x="6217920" y="4297680"/>
            <a:ext cx="5440680" cy="146304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6217920" y="4297680"/>
            <a:ext cx="5440680" cy="384048"/>
          </a:xfrm>
          <a:prstGeom prst="rect">
            <a:avLst/>
          </a:prstGeom>
          <a:solidFill>
            <a:schemeClr val="accent2"/>
          </a:solidFill>
          <a:ln/>
        </p:spPr>
      </p:sp>
      <p:sp>
        <p:nvSpPr>
          <p:cNvPr id="27" name="Text 24"/>
          <p:cNvSpPr txBox="1"/>
          <p:nvPr/>
        </p:nvSpPr>
        <p:spPr>
          <a:xfrm>
            <a:off x="6345936" y="4297680"/>
            <a:ext cx="5257800" cy="384048"/>
          </a:xfrm>
          <a:prstGeom prst="rect">
            <a:avLst/>
          </a:prstGeom>
          <a:noFill/>
          <a:ln/>
        </p:spPr>
        <p:txBody>
          <a:bodyPr wrap="square" lIns="0" tIns="0" rIns="0" bIns="0" rtlCol="0" anchor="ctr"/>
          <a:lstStyle/>
          <a:p>
            <a:pPr marL="0" indent="0">
              <a:buNone/>
            </a:pPr>
            <a:r>
              <a:rPr lang="en-US" sz="1200" b="1" dirty="0">
                <a:solidFill>
                  <a:schemeClr val="tx1"/>
                </a:solidFill>
              </a:rPr>
              <a:t>METAWALLI · A MORAL</a:t>
            </a:r>
            <a:endParaRPr lang="en-US" sz="1200" dirty="0"/>
          </a:p>
        </p:txBody>
      </p:sp>
      <p:sp>
        <p:nvSpPr>
          <p:cNvPr id="28" name="Text 25"/>
          <p:cNvSpPr txBox="1"/>
          <p:nvPr/>
        </p:nvSpPr>
        <p:spPr>
          <a:xfrm>
            <a:off x="6327648" y="4754880"/>
            <a:ext cx="5221224" cy="932688"/>
          </a:xfrm>
          <a:prstGeom prst="rect">
            <a:avLst/>
          </a:prstGeom>
          <a:noFill/>
          <a:ln/>
        </p:spPr>
        <p:txBody>
          <a:bodyPr wrap="square" lIns="508" tIns="508" rIns="508" bIns="508" rtlCol="0" anchor="t"/>
          <a:lstStyle/>
          <a:p>
            <a:pPr marL="0" indent="0" algn="l">
              <a:buNone/>
            </a:pPr>
            <a:r>
              <a:rPr lang="en-US" sz="2000" i="1" dirty="0">
                <a:solidFill>
                  <a:schemeClr val="tx1"/>
                </a:solidFill>
              </a:rPr>
              <a:t>“Kindness is never wasted.” Short, general and it fits the story.</a:t>
            </a:r>
            <a:endParaRPr lang="en-US" sz="2000" dirty="0"/>
          </a:p>
        </p:txBody>
      </p:sp>
      <p:sp>
        <p:nvSpPr>
          <p:cNvPr id="29" name="Text 2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Every one of you has something to be proud of. Now we make it even better.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we need to fix</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FEEDBACK</a:t>
            </a:r>
            <a:endParaRPr lang="en-US" sz="1100" dirty="0"/>
          </a:p>
        </p:txBody>
      </p:sp>
      <p:sp>
        <p:nvSpPr>
          <p:cNvPr id="5" name="Shape 2"/>
          <p:cNvSpPr/>
          <p:nvPr/>
        </p:nvSpPr>
        <p:spPr>
          <a:xfrm>
            <a:off x="548640" y="1097280"/>
            <a:ext cx="7223760" cy="49377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170432"/>
            <a:ext cx="6766560" cy="457200"/>
          </a:xfrm>
          <a:prstGeom prst="rect">
            <a:avLst/>
          </a:prstGeom>
          <a:noFill/>
          <a:ln/>
        </p:spPr>
        <p:txBody>
          <a:bodyPr wrap="square" lIns="0" tIns="0" rIns="0" bIns="0" rtlCol="0" anchor="ctr"/>
          <a:lstStyle/>
          <a:p>
            <a:pPr marL="0" indent="0">
              <a:buNone/>
            </a:pPr>
            <a:r>
              <a:rPr lang="en-US" sz="1600" b="1" dirty="0">
                <a:solidFill>
                  <a:schemeClr val="tx1"/>
                </a:solidFill>
              </a:rPr>
              <a:t>How many of the 15 fables needed this fix?</a:t>
            </a:r>
            <a:endParaRPr lang="en-US" sz="1600" dirty="0"/>
          </a:p>
        </p:txBody>
      </p:sp>
      <p:graphicFrame>
        <p:nvGraphicFramePr>
          <p:cNvPr id="7" name="Chart 0"/>
          <p:cNvGraphicFramePr/>
          <p:nvPr/>
        </p:nvGraphicFramePr>
        <p:xfrm>
          <a:off x="685800" y="164592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Card TODAY’S ORDER"/>
          <p:cNvSpPr/>
          <p:nvPr/>
        </p:nvSpPr>
        <p:spPr>
          <a:xfrm>
            <a:off x="8046720" y="1097280"/>
            <a:ext cx="3611880" cy="4937760"/>
          </a:xfrm>
          <a:prstGeom prst="rect">
            <a:avLst/>
          </a:prstGeom>
          <a:solidFill>
            <a:schemeClr val="bg1"/>
          </a:solidFill>
          <a:ln/>
          <a:effectLst>
            <a:outerShdw blurRad="76200" dist="25400" dir="5400000" algn="bl" rotWithShape="0">
              <a:srgbClr val="000000">
                <a:alpha val="12000"/>
              </a:srgbClr>
            </a:outerShdw>
          </a:effectLst>
        </p:spPr>
      </p:sp>
      <p:sp>
        <p:nvSpPr>
          <p:cNvPr id="9" name="Shape 5"/>
          <p:cNvSpPr/>
          <p:nvPr/>
        </p:nvSpPr>
        <p:spPr>
          <a:xfrm>
            <a:off x="8046720" y="1097280"/>
            <a:ext cx="3611880" cy="502920"/>
          </a:xfrm>
          <a:prstGeom prst="rect">
            <a:avLst/>
          </a:prstGeom>
          <a:solidFill>
            <a:schemeClr val="tx1"/>
          </a:solidFill>
          <a:ln/>
        </p:spPr>
      </p:sp>
      <p:sp>
        <p:nvSpPr>
          <p:cNvPr id="10" name="Text 6"/>
          <p:cNvSpPr txBox="1"/>
          <p:nvPr/>
        </p:nvSpPr>
        <p:spPr>
          <a:xfrm>
            <a:off x="8174736" y="1097280"/>
            <a:ext cx="3429000" cy="502920"/>
          </a:xfrm>
          <a:prstGeom prst="rect">
            <a:avLst/>
          </a:prstGeom>
          <a:noFill/>
          <a:ln/>
        </p:spPr>
        <p:txBody>
          <a:bodyPr wrap="square" lIns="0" tIns="0" rIns="0" bIns="0" rtlCol="0" anchor="ctr"/>
          <a:lstStyle/>
          <a:p>
            <a:pPr marL="0" indent="0">
              <a:buNone/>
            </a:pPr>
            <a:r>
              <a:rPr lang="en-US" sz="1500" b="1" dirty="0">
                <a:solidFill>
                  <a:schemeClr val="bg1"/>
                </a:solidFill>
              </a:rPr>
              <a:t>TODAY’S ORDER</a:t>
            </a:r>
            <a:endParaRPr lang="en-US" sz="1500" dirty="0"/>
          </a:p>
        </p:txBody>
      </p:sp>
      <p:sp>
        <p:nvSpPr>
          <p:cNvPr id="11" name="Text 7"/>
          <p:cNvSpPr txBox="1"/>
          <p:nvPr/>
        </p:nvSpPr>
        <p:spPr>
          <a:xfrm>
            <a:off x="8156448" y="1673352"/>
            <a:ext cx="3392424" cy="4288536"/>
          </a:xfrm>
          <a:prstGeom prst="rect">
            <a:avLst/>
          </a:prstGeom>
          <a:noFill/>
          <a:ln/>
        </p:spPr>
        <p:txBody>
          <a:bodyPr wrap="square" lIns="508" tIns="508" rIns="508" bIns="508" rtlCol="0" anchor="t"/>
          <a:lstStyle/>
          <a:p>
            <a:pPr marL="0" indent="0" algn="l">
              <a:spcAft>
                <a:spcPts val="1000"/>
              </a:spcAft>
              <a:buNone/>
            </a:pPr>
            <a:r>
              <a:rPr lang="en-US" sz="1700" dirty="0">
                <a:solidFill>
                  <a:schemeClr val="tx1"/>
                </a:solidFill>
              </a:rPr>
              <a:t>1  One fable, one story</a:t>
            </a:r>
            <a:endParaRPr lang="en-US" sz="1700" dirty="0"/>
          </a:p>
          <a:p>
            <a:pPr marL="0" indent="0" algn="l">
              <a:spcAft>
                <a:spcPts val="1000"/>
              </a:spcAft>
              <a:buNone/>
            </a:pPr>
            <a:r>
              <a:rPr lang="en-US" sz="1700" dirty="0">
                <a:solidFill>
                  <a:schemeClr val="tx1"/>
                </a:solidFill>
              </a:rPr>
              <a:t>2  Result: because + comma</a:t>
            </a:r>
            <a:endParaRPr lang="en-US" sz="1700" dirty="0"/>
          </a:p>
          <a:p>
            <a:pPr marL="0" indent="0" algn="l">
              <a:spcAft>
                <a:spcPts val="1000"/>
              </a:spcAft>
              <a:buNone/>
            </a:pPr>
            <a:r>
              <a:rPr lang="en-US" sz="1700" dirty="0">
                <a:solidFill>
                  <a:schemeClr val="tx1"/>
                </a:solidFill>
              </a:rPr>
              <a:t>3  A general moral</a:t>
            </a:r>
            <a:endParaRPr lang="en-US" sz="1700" dirty="0"/>
          </a:p>
          <a:p>
            <a:pPr marL="0" indent="0" algn="l">
              <a:spcAft>
                <a:spcPts val="1000"/>
              </a:spcAft>
              <a:buNone/>
            </a:pPr>
            <a:r>
              <a:rPr lang="en-US" sz="1700" dirty="0">
                <a:solidFill>
                  <a:schemeClr val="tx1"/>
                </a:solidFill>
              </a:rPr>
              <a:t>4  Add the missing moral</a:t>
            </a:r>
            <a:endParaRPr lang="en-US" sz="1700" dirty="0"/>
          </a:p>
          <a:p>
            <a:pPr marL="0" indent="0" algn="l">
              <a:spcAft>
                <a:spcPts val="1000"/>
              </a:spcAft>
              <a:buNone/>
            </a:pPr>
            <a:r>
              <a:rPr lang="en-US" sz="1700" dirty="0">
                <a:solidFill>
                  <a:schemeClr val="tx1"/>
                </a:solidFill>
              </a:rPr>
              <a:t>5  Speech marks and commas</a:t>
            </a:r>
            <a:endParaRPr lang="en-US" sz="1700" dirty="0"/>
          </a:p>
          <a:p>
            <a:pPr marL="0" indent="0" algn="l">
              <a:spcAft>
                <a:spcPts val="1000"/>
              </a:spcAft>
              <a:buNone/>
            </a:pPr>
            <a:r>
              <a:rPr lang="en-US" sz="1700" dirty="0">
                <a:solidFill>
                  <a:schemeClr val="tx1"/>
                </a:solidFill>
              </a:rPr>
              <a:t>6  Verbs agree</a:t>
            </a:r>
            <a:endParaRPr lang="en-US" sz="1700" dirty="0"/>
          </a:p>
          <a:p>
            <a:pPr marL="0" indent="0" algn="l">
              <a:spcAft>
                <a:spcPts val="1000"/>
              </a:spcAft>
              <a:buNone/>
            </a:pPr>
            <a:r>
              <a:rPr lang="en-US" sz="1700" dirty="0">
                <a:solidFill>
                  <a:schemeClr val="tx1"/>
                </a:solidFill>
              </a:rPr>
              <a:t>7  Spelling and capitals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1: one fable, one story</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7373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737360"/>
          </a:xfrm>
          <a:prstGeom prst="rect">
            <a:avLst/>
          </a:prstGeom>
          <a:noFill/>
          <a:ln/>
        </p:spPr>
        <p:txBody>
          <a:bodyPr wrap="square" lIns="0" tIns="0" rIns="0" bIns="0" rtlCol="0" anchor="ctr"/>
          <a:lstStyle/>
          <a:p>
            <a:pPr marL="0" indent="0">
              <a:buNone/>
            </a:pPr>
            <a:r>
              <a:rPr lang="en-US" sz="1200" b="1" dirty="0">
                <a:solidFill>
                  <a:schemeClr val="accent3"/>
                </a:solidFill>
              </a:rPr>
              <a:t>ALI   </a:t>
            </a:r>
            <a:endParaRPr lang="en-US" sz="1200" dirty="0"/>
          </a:p>
          <a:p>
            <a:pPr marL="0" indent="0">
              <a:buNone/>
            </a:pPr>
            <a:r>
              <a:rPr lang="en-US" sz="1700" i="1" dirty="0">
                <a:solidFill>
                  <a:schemeClr val="tx1"/>
                </a:solidFill>
              </a:rPr>
              <a:t>❌  Paragraph 1: a lion and a cat.                                     Paragraph 2: a squirrel.                                                            Paragraph 3: a rabbit and a parrot.                                                  Each ends “You should be kind.”</a:t>
            </a:r>
            <a:endParaRPr lang="en-US" sz="1200" dirty="0"/>
          </a:p>
        </p:txBody>
      </p:sp>
      <p:sp>
        <p:nvSpPr>
          <p:cNvPr id="11" name="Text 8"/>
          <p:cNvSpPr txBox="1"/>
          <p:nvPr/>
        </p:nvSpPr>
        <p:spPr>
          <a:xfrm>
            <a:off x="5806440" y="1600200"/>
            <a:ext cx="548640" cy="17373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7373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737360"/>
          </a:xfrm>
          <a:prstGeom prst="rect">
            <a:avLst/>
          </a:prstGeom>
          <a:noFill/>
          <a:ln/>
        </p:spPr>
        <p:txBody>
          <a:bodyPr wrap="square" lIns="0" tIns="0" rIns="0" bIns="0" rtlCol="0" anchor="ctr"/>
          <a:lstStyle/>
          <a:p>
            <a:pPr marL="0" indent="0">
              <a:buNone/>
            </a:pPr>
            <a:r>
              <a:rPr lang="en-US" sz="1700" b="1" dirty="0">
                <a:solidFill>
                  <a:schemeClr val="tx1"/>
                </a:solidFill>
              </a:rPr>
              <a:t>✅  One lion all the way: he is left out, he says sorry, the cat and bird let him play.                                                           Moral at the end: Be kind, or you may be left alone.</a:t>
            </a:r>
            <a:endParaRPr lang="en-US" sz="1700" dirty="0"/>
          </a:p>
        </p:txBody>
      </p:sp>
      <p:sp>
        <p:nvSpPr>
          <p:cNvPr id="14" name="Shape 11"/>
          <p:cNvSpPr/>
          <p:nvPr/>
        </p:nvSpPr>
        <p:spPr>
          <a:xfrm>
            <a:off x="548640" y="3566160"/>
            <a:ext cx="5212080" cy="17373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566160"/>
            <a:ext cx="4846320" cy="1737360"/>
          </a:xfrm>
          <a:prstGeom prst="rect">
            <a:avLst/>
          </a:prstGeom>
          <a:noFill/>
          <a:ln/>
        </p:spPr>
        <p:txBody>
          <a:bodyPr wrap="square" lIns="0" tIns="0" rIns="0" bIns="0" rtlCol="0" anchor="ctr"/>
          <a:lstStyle/>
          <a:p>
            <a:pPr marL="0" indent="0">
              <a:buNone/>
            </a:pPr>
            <a:r>
              <a:rPr lang="en-US" sz="1200" b="1" dirty="0">
                <a:solidFill>
                  <a:schemeClr val="accent3"/>
                </a:solidFill>
              </a:rPr>
              <a:t>DANA   </a:t>
            </a:r>
            <a:endParaRPr lang="en-US" sz="1200" dirty="0"/>
          </a:p>
          <a:p>
            <a:pPr marL="0" indent="0">
              <a:buNone/>
            </a:pPr>
            <a:r>
              <a:rPr lang="en-US" sz="1700" i="1" dirty="0">
                <a:solidFill>
                  <a:schemeClr val="tx1"/>
                </a:solidFill>
              </a:rPr>
              <a:t>❌  My character is lion. He lives in forest. He is scary and crazy and he is bad and bad and bad.</a:t>
            </a:r>
            <a:endParaRPr lang="en-US" sz="1200" dirty="0"/>
          </a:p>
        </p:txBody>
      </p:sp>
      <p:sp>
        <p:nvSpPr>
          <p:cNvPr id="16" name="Text 13"/>
          <p:cNvSpPr txBox="1"/>
          <p:nvPr/>
        </p:nvSpPr>
        <p:spPr>
          <a:xfrm>
            <a:off x="5806440" y="3566160"/>
            <a:ext cx="548640" cy="17373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566160"/>
            <a:ext cx="5257800" cy="17373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566160"/>
            <a:ext cx="4892040" cy="1737360"/>
          </a:xfrm>
          <a:prstGeom prst="rect">
            <a:avLst/>
          </a:prstGeom>
          <a:noFill/>
          <a:ln/>
        </p:spPr>
        <p:txBody>
          <a:bodyPr wrap="square" lIns="0" tIns="0" rIns="0" bIns="0" rtlCol="0" anchor="ctr"/>
          <a:lstStyle/>
          <a:p>
            <a:pPr marL="0" indent="0">
              <a:buNone/>
            </a:pPr>
            <a:r>
              <a:rPr lang="en-US" sz="1700" b="1" dirty="0">
                <a:solidFill>
                  <a:schemeClr val="tx1"/>
                </a:solidFill>
              </a:rPr>
              <a:t>✅  Leo was a scary lion who roared at every animal that came near, so nobody dared to visit him.</a:t>
            </a:r>
            <a:endParaRPr lang="en-US" sz="1700" dirty="0"/>
          </a:p>
        </p:txBody>
      </p:sp>
      <p:sp>
        <p:nvSpPr>
          <p:cNvPr id="19" name="Text 16"/>
          <p:cNvSpPr txBox="1"/>
          <p:nvPr/>
        </p:nvSpPr>
        <p:spPr>
          <a:xfrm>
            <a:off x="548640" y="5623560"/>
            <a:ext cx="11094415" cy="68580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REMEMBER:  one character · one trait · one problem · one choice · result · change · moral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1 (continued): show, don’t only tell</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7373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737360"/>
          </a:xfrm>
          <a:prstGeom prst="rect">
            <a:avLst/>
          </a:prstGeom>
          <a:noFill/>
          <a:ln/>
        </p:spPr>
        <p:txBody>
          <a:bodyPr wrap="square" lIns="0" tIns="0" rIns="0" bIns="0" rtlCol="0" anchor="ctr"/>
          <a:lstStyle/>
          <a:p>
            <a:pPr marL="0" indent="0">
              <a:buNone/>
            </a:pPr>
            <a:r>
              <a:rPr lang="en-US" sz="1200" b="1" dirty="0">
                <a:solidFill>
                  <a:schemeClr val="accent3"/>
                </a:solidFill>
              </a:rPr>
              <a:t>SEIF   </a:t>
            </a:r>
            <a:endParaRPr lang="en-US" sz="1200" dirty="0"/>
          </a:p>
          <a:p>
            <a:pPr marL="0" indent="0">
              <a:buNone/>
            </a:pPr>
            <a:r>
              <a:rPr lang="en-US" sz="1700" i="1" dirty="0">
                <a:solidFill>
                  <a:schemeClr val="tx1"/>
                </a:solidFill>
              </a:rPr>
              <a:t>❌  The trait of the fox is selfish because he wants to eat all of the deer.</a:t>
            </a:r>
            <a:endParaRPr lang="en-US" sz="1200" dirty="0"/>
          </a:p>
        </p:txBody>
      </p:sp>
      <p:sp>
        <p:nvSpPr>
          <p:cNvPr id="11" name="Text 8"/>
          <p:cNvSpPr txBox="1"/>
          <p:nvPr/>
        </p:nvSpPr>
        <p:spPr>
          <a:xfrm>
            <a:off x="5806440" y="1600200"/>
            <a:ext cx="548640" cy="17373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7373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737360"/>
          </a:xfrm>
          <a:prstGeom prst="rect">
            <a:avLst/>
          </a:prstGeom>
          <a:noFill/>
          <a:ln/>
        </p:spPr>
        <p:txBody>
          <a:bodyPr wrap="square" lIns="0" tIns="0" rIns="0" bIns="0" rtlCol="0" anchor="ctr"/>
          <a:lstStyle/>
          <a:p>
            <a:pPr marL="0" indent="0">
              <a:buNone/>
            </a:pPr>
            <a:r>
              <a:rPr lang="en-US" sz="1700" b="1" dirty="0">
                <a:solidFill>
                  <a:schemeClr val="tx1"/>
                </a:solidFill>
              </a:rPr>
              <a:t>✅  The fox wanted all the deer for himself, so he beat the lion up and sent him away.                                                (The choice shows he is selfish.)</a:t>
            </a:r>
            <a:endParaRPr lang="en-US" sz="1700" dirty="0"/>
          </a:p>
        </p:txBody>
      </p:sp>
      <p:sp>
        <p:nvSpPr>
          <p:cNvPr id="14" name="Shape 11"/>
          <p:cNvSpPr/>
          <p:nvPr/>
        </p:nvSpPr>
        <p:spPr>
          <a:xfrm>
            <a:off x="548640" y="3566160"/>
            <a:ext cx="5212080" cy="17373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566160"/>
            <a:ext cx="4846320" cy="1737360"/>
          </a:xfrm>
          <a:prstGeom prst="rect">
            <a:avLst/>
          </a:prstGeom>
          <a:noFill/>
          <a:ln/>
        </p:spPr>
        <p:txBody>
          <a:bodyPr wrap="square" lIns="0" tIns="0" rIns="0" bIns="0" rtlCol="0" anchor="ctr"/>
          <a:lstStyle/>
          <a:p>
            <a:pPr marL="0" indent="0">
              <a:buNone/>
            </a:pPr>
            <a:r>
              <a:rPr lang="en-US" sz="1200" b="1" dirty="0">
                <a:solidFill>
                  <a:schemeClr val="accent3"/>
                </a:solidFill>
              </a:rPr>
              <a:t>ABDALLAH   </a:t>
            </a:r>
            <a:endParaRPr lang="en-US" sz="1200" dirty="0"/>
          </a:p>
          <a:p>
            <a:pPr marL="0" indent="0">
              <a:buNone/>
            </a:pPr>
            <a:r>
              <a:rPr lang="en-US" sz="1700" i="1" dirty="0">
                <a:solidFill>
                  <a:schemeClr val="tx1"/>
                </a:solidFill>
              </a:rPr>
              <a:t>❌  Then he turned a box and it have lock then he try to open it then it open…</a:t>
            </a:r>
            <a:endParaRPr lang="en-US" sz="1200" dirty="0"/>
          </a:p>
        </p:txBody>
      </p:sp>
      <p:sp>
        <p:nvSpPr>
          <p:cNvPr id="16" name="Text 13"/>
          <p:cNvSpPr txBox="1"/>
          <p:nvPr/>
        </p:nvSpPr>
        <p:spPr>
          <a:xfrm>
            <a:off x="5806440" y="3566160"/>
            <a:ext cx="548640" cy="17373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566160"/>
            <a:ext cx="5257800" cy="17373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566160"/>
            <a:ext cx="4892040" cy="1737360"/>
          </a:xfrm>
          <a:prstGeom prst="rect">
            <a:avLst/>
          </a:prstGeom>
          <a:noFill/>
          <a:ln/>
        </p:spPr>
        <p:txBody>
          <a:bodyPr wrap="square" lIns="0" tIns="0" rIns="0" bIns="0" rtlCol="0" anchor="ctr"/>
          <a:lstStyle/>
          <a:p>
            <a:pPr marL="0" indent="0">
              <a:buNone/>
            </a:pPr>
            <a:r>
              <a:rPr lang="en-US" sz="1700" b="1" dirty="0">
                <a:solidFill>
                  <a:schemeClr val="tx1"/>
                </a:solidFill>
              </a:rPr>
              <a:t>✅  Because he tried the golden key, the lock opened. Inside the box he found a toy car.</a:t>
            </a:r>
            <a:endParaRPr lang="en-US" sz="1700" dirty="0"/>
          </a:p>
        </p:txBody>
      </p:sp>
      <p:sp>
        <p:nvSpPr>
          <p:cNvPr id="19" name="Text 16"/>
          <p:cNvSpPr txBox="1"/>
          <p:nvPr/>
        </p:nvSpPr>
        <p:spPr>
          <a:xfrm>
            <a:off x="548640" y="5486400"/>
            <a:ext cx="11094415" cy="86868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LINK WORDS:  because · so · as a result  (use them instead of “then … then … then”)</a:t>
            </a:r>
            <a:endParaRPr lang="en-US" sz="1600" dirty="0"/>
          </a:p>
          <a:p>
            <a:pPr marL="0" indent="0" algn="ctr">
              <a:buNone/>
            </a:pPr>
            <a:r>
              <a:rPr lang="en-US" sz="1600" b="1" dirty="0">
                <a:solidFill>
                  <a:schemeClr val="bg1"/>
                </a:solidFill>
              </a:rPr>
              <a:t>Show the trait with what your character DOES.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2: because needs a comma and a verb</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KINAN   </a:t>
            </a:r>
            <a:endParaRPr lang="en-US" sz="1200" dirty="0"/>
          </a:p>
          <a:p>
            <a:pPr marL="0" indent="0">
              <a:buNone/>
            </a:pPr>
            <a:r>
              <a:rPr lang="en-US" sz="2000" i="1" dirty="0">
                <a:solidFill>
                  <a:schemeClr val="tx1"/>
                </a:solidFill>
              </a:rPr>
              <a:t>❌  Because the Grasshopper don’t prepar he so shivering and weak.</a:t>
            </a:r>
            <a:endParaRPr lang="en-US" sz="1600"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b="1" dirty="0">
                <a:solidFill>
                  <a:schemeClr val="tx1"/>
                </a:solidFill>
              </a:rPr>
              <a:t>✅  Because the grasshopper did not prepare, he was shivering and weak.</a:t>
            </a:r>
            <a:endParaRPr lang="en-US" dirty="0"/>
          </a:p>
        </p:txBody>
      </p:sp>
      <p:sp>
        <p:nvSpPr>
          <p:cNvPr id="14" name="Shape 11"/>
          <p:cNvSpPr/>
          <p:nvPr/>
        </p:nvSpPr>
        <p:spPr>
          <a:xfrm>
            <a:off x="548640" y="301752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1752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NOOR (TIGER)   </a:t>
            </a:r>
            <a:endParaRPr lang="en-US" sz="1200" dirty="0"/>
          </a:p>
          <a:p>
            <a:pPr marL="0" indent="0">
              <a:buNone/>
            </a:pPr>
            <a:r>
              <a:rPr lang="en-US" i="1" dirty="0">
                <a:solidFill>
                  <a:schemeClr val="tx1"/>
                </a:solidFill>
              </a:rPr>
              <a:t>❌  Because Jeffey wanted to catch his prey immediately he rushed after every animal…</a:t>
            </a:r>
            <a:endParaRPr lang="en-US" sz="1400" dirty="0"/>
          </a:p>
        </p:txBody>
      </p:sp>
      <p:sp>
        <p:nvSpPr>
          <p:cNvPr id="16" name="Text 13"/>
          <p:cNvSpPr txBox="1"/>
          <p:nvPr/>
        </p:nvSpPr>
        <p:spPr>
          <a:xfrm>
            <a:off x="5806440" y="301752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1752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17520"/>
            <a:ext cx="4892040" cy="1280160"/>
          </a:xfrm>
          <a:prstGeom prst="rect">
            <a:avLst/>
          </a:prstGeom>
          <a:noFill/>
          <a:ln/>
        </p:spPr>
        <p:txBody>
          <a:bodyPr wrap="square" lIns="0" tIns="0" rIns="0" bIns="0" rtlCol="0" anchor="ctr"/>
          <a:lstStyle/>
          <a:p>
            <a:pPr marL="0" indent="0">
              <a:buNone/>
            </a:pPr>
            <a:r>
              <a:rPr lang="en-US" b="1" dirty="0">
                <a:solidFill>
                  <a:schemeClr val="tx1"/>
                </a:solidFill>
              </a:rPr>
              <a:t>✅  Because Jeffrey wanted to catch his prey immediately, he rushed after every animal…</a:t>
            </a:r>
            <a:endParaRPr lang="en-US" dirty="0"/>
          </a:p>
        </p:txBody>
      </p:sp>
      <p:sp>
        <p:nvSpPr>
          <p:cNvPr id="19" name="Shape 16"/>
          <p:cNvSpPr/>
          <p:nvPr/>
        </p:nvSpPr>
        <p:spPr>
          <a:xfrm>
            <a:off x="548640" y="44348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4348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JOUD (KOALA)   </a:t>
            </a:r>
            <a:endParaRPr lang="en-US" sz="1200" dirty="0"/>
          </a:p>
          <a:p>
            <a:pPr marL="0" indent="0">
              <a:buNone/>
            </a:pPr>
            <a:r>
              <a:rPr lang="en-US" i="1" dirty="0">
                <a:solidFill>
                  <a:schemeClr val="tx1"/>
                </a:solidFill>
              </a:rPr>
              <a:t>❌  So she decided to change and prepar well and sleeping well.</a:t>
            </a:r>
            <a:endParaRPr lang="en-US" sz="1400" dirty="0"/>
          </a:p>
        </p:txBody>
      </p:sp>
      <p:sp>
        <p:nvSpPr>
          <p:cNvPr id="21" name="Text 18"/>
          <p:cNvSpPr txBox="1"/>
          <p:nvPr/>
        </p:nvSpPr>
        <p:spPr>
          <a:xfrm>
            <a:off x="5806440" y="44348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4348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434840"/>
            <a:ext cx="4892040" cy="1280160"/>
          </a:xfrm>
          <a:prstGeom prst="rect">
            <a:avLst/>
          </a:prstGeom>
          <a:noFill/>
          <a:ln/>
        </p:spPr>
        <p:txBody>
          <a:bodyPr wrap="square" lIns="0" tIns="0" rIns="0" bIns="0" rtlCol="0" anchor="ctr"/>
          <a:lstStyle/>
          <a:p>
            <a:pPr marL="0" indent="0">
              <a:buNone/>
            </a:pPr>
            <a:r>
              <a:rPr lang="en-US" b="1" dirty="0">
                <a:solidFill>
                  <a:schemeClr val="tx1"/>
                </a:solidFill>
              </a:rPr>
              <a:t>✅  She realised her mistake, so she decided to change and prepare well.</a:t>
            </a:r>
            <a:endParaRPr lang="en-US"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Because ___, ___.  The comma comes after the because part.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3: a moral is a general lesson</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18872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188720"/>
          </a:xfrm>
          <a:prstGeom prst="rect">
            <a:avLst/>
          </a:prstGeom>
          <a:noFill/>
          <a:ln/>
        </p:spPr>
        <p:txBody>
          <a:bodyPr wrap="square" lIns="0" tIns="0" rIns="0" bIns="0" rtlCol="0" anchor="ctr"/>
          <a:lstStyle/>
          <a:p>
            <a:pPr marL="0" indent="0">
              <a:buNone/>
            </a:pPr>
            <a:r>
              <a:rPr lang="en-US" sz="1200" b="1" dirty="0">
                <a:solidFill>
                  <a:schemeClr val="accent3"/>
                </a:solidFill>
              </a:rPr>
              <a:t>MAI   </a:t>
            </a:r>
            <a:endParaRPr lang="en-US" sz="1200" dirty="0"/>
          </a:p>
          <a:p>
            <a:pPr marL="0" indent="0">
              <a:buNone/>
            </a:pPr>
            <a:r>
              <a:rPr lang="en-US" sz="2000" i="1" dirty="0">
                <a:solidFill>
                  <a:schemeClr val="tx1"/>
                </a:solidFill>
              </a:rPr>
              <a:t>❌  …the owl learned that she should always be kind to other.</a:t>
            </a:r>
            <a:endParaRPr lang="en-US" dirty="0"/>
          </a:p>
        </p:txBody>
      </p:sp>
      <p:sp>
        <p:nvSpPr>
          <p:cNvPr id="11" name="Text 8"/>
          <p:cNvSpPr txBox="1"/>
          <p:nvPr/>
        </p:nvSpPr>
        <p:spPr>
          <a:xfrm>
            <a:off x="5806440" y="1600200"/>
            <a:ext cx="548640" cy="11887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18872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188720"/>
          </a:xfrm>
          <a:prstGeom prst="rect">
            <a:avLst/>
          </a:prstGeom>
          <a:noFill/>
          <a:ln/>
        </p:spPr>
        <p:txBody>
          <a:bodyPr wrap="square" lIns="0" tIns="0" rIns="0" bIns="0" rtlCol="0" anchor="ctr"/>
          <a:lstStyle/>
          <a:p>
            <a:pPr marL="0" indent="0">
              <a:buNone/>
            </a:pPr>
            <a:r>
              <a:rPr lang="en-US" b="1" dirty="0">
                <a:solidFill>
                  <a:schemeClr val="tx1"/>
                </a:solidFill>
              </a:rPr>
              <a:t>✅  Always be kind to others, because kindness comes back. (No “the owl”, no “she”.)</a:t>
            </a:r>
            <a:endParaRPr lang="en-US" dirty="0"/>
          </a:p>
        </p:txBody>
      </p:sp>
      <p:sp>
        <p:nvSpPr>
          <p:cNvPr id="14" name="Shape 11"/>
          <p:cNvSpPr/>
          <p:nvPr/>
        </p:nvSpPr>
        <p:spPr>
          <a:xfrm>
            <a:off x="548640" y="2898648"/>
            <a:ext cx="5212080" cy="118872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898648"/>
            <a:ext cx="4846320" cy="1188720"/>
          </a:xfrm>
          <a:prstGeom prst="rect">
            <a:avLst/>
          </a:prstGeom>
          <a:noFill/>
          <a:ln/>
        </p:spPr>
        <p:txBody>
          <a:bodyPr wrap="square" lIns="0" tIns="0" rIns="0" bIns="0" rtlCol="0" anchor="ctr"/>
          <a:lstStyle/>
          <a:p>
            <a:pPr marL="0" indent="0">
              <a:buNone/>
            </a:pPr>
            <a:r>
              <a:rPr lang="en-US" sz="1200" b="1" dirty="0">
                <a:solidFill>
                  <a:schemeClr val="accent3"/>
                </a:solidFill>
              </a:rPr>
              <a:t>ABDALLAH   </a:t>
            </a:r>
            <a:endParaRPr lang="en-US" sz="1200" dirty="0"/>
          </a:p>
          <a:p>
            <a:pPr marL="0" indent="0">
              <a:buNone/>
            </a:pPr>
            <a:r>
              <a:rPr lang="en-US" sz="2000" i="1" dirty="0">
                <a:solidFill>
                  <a:schemeClr val="tx1"/>
                </a:solidFill>
              </a:rPr>
              <a:t>❌  Now he have to think befor you lere.</a:t>
            </a:r>
            <a:endParaRPr lang="en-US" dirty="0"/>
          </a:p>
        </p:txBody>
      </p:sp>
      <p:sp>
        <p:nvSpPr>
          <p:cNvPr id="16" name="Text 13"/>
          <p:cNvSpPr txBox="1"/>
          <p:nvPr/>
        </p:nvSpPr>
        <p:spPr>
          <a:xfrm>
            <a:off x="5806440" y="2898648"/>
            <a:ext cx="548640" cy="11887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898648"/>
            <a:ext cx="5257800" cy="118872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898648"/>
            <a:ext cx="4892040" cy="1188720"/>
          </a:xfrm>
          <a:prstGeom prst="rect">
            <a:avLst/>
          </a:prstGeom>
          <a:noFill/>
          <a:ln/>
        </p:spPr>
        <p:txBody>
          <a:bodyPr wrap="square" lIns="0" tIns="0" rIns="0" bIns="0" rtlCol="0" anchor="ctr"/>
          <a:lstStyle/>
          <a:p>
            <a:pPr marL="0" indent="0">
              <a:buNone/>
            </a:pPr>
            <a:r>
              <a:rPr lang="en-US" sz="2000" b="1" dirty="0">
                <a:solidFill>
                  <a:schemeClr val="tx1"/>
                </a:solidFill>
              </a:rPr>
              <a:t>✅  Think before you act, or you may regret it.</a:t>
            </a:r>
            <a:endParaRPr lang="en-US" sz="2000" dirty="0"/>
          </a:p>
        </p:txBody>
      </p:sp>
      <p:sp>
        <p:nvSpPr>
          <p:cNvPr id="19" name="Shape 16"/>
          <p:cNvSpPr/>
          <p:nvPr/>
        </p:nvSpPr>
        <p:spPr>
          <a:xfrm>
            <a:off x="548640" y="4197096"/>
            <a:ext cx="5212080" cy="118872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197096"/>
            <a:ext cx="4846320" cy="1188720"/>
          </a:xfrm>
          <a:prstGeom prst="rect">
            <a:avLst/>
          </a:prstGeom>
          <a:noFill/>
          <a:ln/>
        </p:spPr>
        <p:txBody>
          <a:bodyPr wrap="square" lIns="0" tIns="0" rIns="0" bIns="0" rtlCol="0" anchor="ctr"/>
          <a:lstStyle/>
          <a:p>
            <a:pPr marL="0" indent="0">
              <a:buNone/>
            </a:pPr>
            <a:r>
              <a:rPr lang="en-US" sz="1200" b="1" dirty="0">
                <a:solidFill>
                  <a:schemeClr val="accent3"/>
                </a:solidFill>
              </a:rPr>
              <a:t>ALI   </a:t>
            </a:r>
            <a:endParaRPr lang="en-US" sz="1200" dirty="0"/>
          </a:p>
          <a:p>
            <a:pPr marL="0" indent="0">
              <a:buNone/>
            </a:pPr>
            <a:r>
              <a:rPr lang="en-US" sz="2000" i="1" dirty="0">
                <a:solidFill>
                  <a:schemeClr val="tx1"/>
                </a:solidFill>
              </a:rPr>
              <a:t>❌  You should be kindly. (the same sentence after each paragraph)</a:t>
            </a:r>
            <a:endParaRPr lang="en-US" dirty="0"/>
          </a:p>
        </p:txBody>
      </p:sp>
      <p:sp>
        <p:nvSpPr>
          <p:cNvPr id="21" name="Text 18"/>
          <p:cNvSpPr txBox="1"/>
          <p:nvPr/>
        </p:nvSpPr>
        <p:spPr>
          <a:xfrm>
            <a:off x="5806440" y="4197096"/>
            <a:ext cx="548640" cy="11887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197096"/>
            <a:ext cx="5257800" cy="118872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197096"/>
            <a:ext cx="4892040" cy="1188720"/>
          </a:xfrm>
          <a:prstGeom prst="rect">
            <a:avLst/>
          </a:prstGeom>
          <a:noFill/>
          <a:ln/>
        </p:spPr>
        <p:txBody>
          <a:bodyPr wrap="square" lIns="0" tIns="0" rIns="0" bIns="0" rtlCol="0" anchor="ctr"/>
          <a:lstStyle/>
          <a:p>
            <a:pPr marL="0" indent="0">
              <a:buNone/>
            </a:pPr>
            <a:r>
              <a:rPr lang="en-US" sz="2000" b="1" dirty="0">
                <a:solidFill>
                  <a:schemeClr val="tx1"/>
                </a:solidFill>
              </a:rPr>
              <a:t>✅  Be kind to others, or you may be left alone. (once, at the very end)</a:t>
            </a:r>
            <a:endParaRPr lang="en-US" sz="2000" dirty="0"/>
          </a:p>
        </p:txBody>
      </p:sp>
      <p:sp>
        <p:nvSpPr>
          <p:cNvPr id="24" name="Text 21"/>
          <p:cNvSpPr txBox="1"/>
          <p:nvPr/>
        </p:nvSpPr>
        <p:spPr>
          <a:xfrm>
            <a:off x="548640" y="5532120"/>
            <a:ext cx="11094415" cy="82296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MORAL FRAMES:  Do ___, or ___.   A ___ who ___ may ___.   ___, but ___.</a:t>
            </a:r>
            <a:endParaRPr lang="en-US" sz="2400" dirty="0"/>
          </a:p>
          <a:p>
            <a:pPr marL="0" indent="0" algn="ctr">
              <a:buNone/>
            </a:pPr>
            <a:r>
              <a:rPr lang="en-US" sz="2800" b="1" dirty="0">
                <a:solidFill>
                  <a:schemeClr val="bg1"/>
                </a:solidFill>
              </a:rPr>
              <a:t>Circle any names in your moral. If you see a name, rewrite it.</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3 (continued): add the missing moral</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NOOR (TIGER)   </a:t>
            </a:r>
            <a:endParaRPr lang="en-US" sz="1200" dirty="0"/>
          </a:p>
          <a:p>
            <a:pPr marL="0" indent="0">
              <a:buNone/>
            </a:pPr>
            <a:r>
              <a:rPr lang="en-US" sz="2000" i="1" dirty="0">
                <a:solidFill>
                  <a:schemeClr val="tx1"/>
                </a:solidFill>
              </a:rPr>
              <a:t>❌  Paragraph 4 ends with a long thank-you speech. There is no moral.</a:t>
            </a:r>
            <a:endParaRPr lang="en-US" sz="1600"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sz="2000" b="1" dirty="0">
                <a:solidFill>
                  <a:schemeClr val="tx1"/>
                </a:solidFill>
              </a:rPr>
              <a:t>✅  Moral: Patience catches more than speed.</a:t>
            </a:r>
            <a:endParaRPr lang="en-US" sz="2000" dirty="0"/>
          </a:p>
        </p:txBody>
      </p:sp>
      <p:sp>
        <p:nvSpPr>
          <p:cNvPr id="14" name="Shape 11"/>
          <p:cNvSpPr/>
          <p:nvPr/>
        </p:nvSpPr>
        <p:spPr>
          <a:xfrm>
            <a:off x="548640" y="301752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1752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KINAN   </a:t>
            </a:r>
            <a:endParaRPr lang="en-US" sz="1200" dirty="0"/>
          </a:p>
          <a:p>
            <a:pPr marL="0" indent="0">
              <a:buNone/>
            </a:pPr>
            <a:r>
              <a:rPr lang="en-US" sz="2000" i="1" dirty="0">
                <a:solidFill>
                  <a:schemeClr val="tx1"/>
                </a:solidFill>
              </a:rPr>
              <a:t>❌  …he should prepare for winter and think ahead instead of playing. (no moral)</a:t>
            </a:r>
            <a:endParaRPr lang="en-US" sz="1600" dirty="0"/>
          </a:p>
        </p:txBody>
      </p:sp>
      <p:sp>
        <p:nvSpPr>
          <p:cNvPr id="16" name="Text 13"/>
          <p:cNvSpPr txBox="1"/>
          <p:nvPr/>
        </p:nvSpPr>
        <p:spPr>
          <a:xfrm>
            <a:off x="5806440" y="301752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1752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17520"/>
            <a:ext cx="4892040" cy="1280160"/>
          </a:xfrm>
          <a:prstGeom prst="rect">
            <a:avLst/>
          </a:prstGeom>
          <a:noFill/>
          <a:ln/>
        </p:spPr>
        <p:txBody>
          <a:bodyPr wrap="square" lIns="0" tIns="0" rIns="0" bIns="0" rtlCol="0" anchor="ctr"/>
          <a:lstStyle/>
          <a:p>
            <a:pPr marL="0" indent="0">
              <a:buNone/>
            </a:pPr>
            <a:r>
              <a:rPr lang="en-US" sz="2000" b="1" dirty="0">
                <a:solidFill>
                  <a:schemeClr val="tx1"/>
                </a:solidFill>
              </a:rPr>
              <a:t>✅  Moral: Prepare ahead, or you may go cold and hungry.</a:t>
            </a:r>
            <a:endParaRPr lang="en-US" sz="2000" dirty="0"/>
          </a:p>
        </p:txBody>
      </p:sp>
      <p:sp>
        <p:nvSpPr>
          <p:cNvPr id="19" name="Shape 16"/>
          <p:cNvSpPr/>
          <p:nvPr/>
        </p:nvSpPr>
        <p:spPr>
          <a:xfrm>
            <a:off x="548640" y="44348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4348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DANA   </a:t>
            </a:r>
            <a:endParaRPr lang="en-US" sz="1200" dirty="0"/>
          </a:p>
          <a:p>
            <a:pPr marL="0" indent="0">
              <a:buNone/>
            </a:pPr>
            <a:r>
              <a:rPr lang="en-US" sz="2000" i="1" dirty="0">
                <a:solidFill>
                  <a:schemeClr val="tx1"/>
                </a:solidFill>
              </a:rPr>
              <a:t>❌  The lion is bad… (no moral)</a:t>
            </a:r>
            <a:endParaRPr lang="en-US" sz="1600" dirty="0"/>
          </a:p>
        </p:txBody>
      </p:sp>
      <p:sp>
        <p:nvSpPr>
          <p:cNvPr id="21" name="Text 18"/>
          <p:cNvSpPr txBox="1"/>
          <p:nvPr/>
        </p:nvSpPr>
        <p:spPr>
          <a:xfrm>
            <a:off x="5806440" y="44348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4348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434840"/>
            <a:ext cx="4892040" cy="1280160"/>
          </a:xfrm>
          <a:prstGeom prst="rect">
            <a:avLst/>
          </a:prstGeom>
          <a:noFill/>
          <a:ln/>
        </p:spPr>
        <p:txBody>
          <a:bodyPr wrap="square" lIns="0" tIns="0" rIns="0" bIns="0" rtlCol="0" anchor="ctr"/>
          <a:lstStyle/>
          <a:p>
            <a:pPr marL="0" indent="0">
              <a:buNone/>
            </a:pPr>
            <a:r>
              <a:rPr lang="en-US" sz="2000" b="1" dirty="0">
                <a:solidFill>
                  <a:schemeClr val="tx1"/>
                </a:solidFill>
              </a:rPr>
              <a:t>✅  Moral: A bully who scares everyone may end up alone.</a:t>
            </a:r>
            <a:endParaRPr lang="en-US" sz="2000"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Moral last: result, change, then moral.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4: punctuating speech</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NOOR (TIGER)   </a:t>
            </a:r>
            <a:endParaRPr lang="en-US" sz="1200" dirty="0"/>
          </a:p>
          <a:p>
            <a:pPr marL="0" indent="0">
              <a:buNone/>
            </a:pPr>
            <a:r>
              <a:rPr lang="en-US" sz="2000" i="1" dirty="0">
                <a:solidFill>
                  <a:schemeClr val="tx1"/>
                </a:solidFill>
              </a:rPr>
              <a:t>❌  Jeffey screamed"Come on, just catch it already!"</a:t>
            </a:r>
            <a:endParaRPr lang="en-US"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b="1" dirty="0">
                <a:solidFill>
                  <a:schemeClr val="tx1"/>
                </a:solidFill>
              </a:rPr>
              <a:t>✅  Jeffrey screamed, “Come on, just catch it already!” (comma, then a space; spell the name the same way)</a:t>
            </a:r>
            <a:endParaRPr lang="en-US" dirty="0"/>
          </a:p>
        </p:txBody>
      </p:sp>
      <p:sp>
        <p:nvSpPr>
          <p:cNvPr id="14" name="Shape 11"/>
          <p:cNvSpPr/>
          <p:nvPr/>
        </p:nvSpPr>
        <p:spPr>
          <a:xfrm>
            <a:off x="548640" y="301752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1752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KINAN   </a:t>
            </a:r>
            <a:endParaRPr lang="en-US" sz="1200" dirty="0"/>
          </a:p>
          <a:p>
            <a:pPr marL="0" indent="0">
              <a:buNone/>
            </a:pPr>
            <a:r>
              <a:rPr lang="en-US" sz="2000" i="1" dirty="0">
                <a:solidFill>
                  <a:schemeClr val="tx1"/>
                </a:solidFill>
              </a:rPr>
              <a:t>❌  Then he ask the ant “would you help me”</a:t>
            </a:r>
            <a:endParaRPr lang="en-US" dirty="0"/>
          </a:p>
        </p:txBody>
      </p:sp>
      <p:sp>
        <p:nvSpPr>
          <p:cNvPr id="16" name="Text 13"/>
          <p:cNvSpPr txBox="1"/>
          <p:nvPr/>
        </p:nvSpPr>
        <p:spPr>
          <a:xfrm>
            <a:off x="5806440" y="301752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1752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17520"/>
            <a:ext cx="4892040" cy="1280160"/>
          </a:xfrm>
          <a:prstGeom prst="rect">
            <a:avLst/>
          </a:prstGeom>
          <a:noFill/>
          <a:ln/>
        </p:spPr>
        <p:txBody>
          <a:bodyPr wrap="square" lIns="0" tIns="0" rIns="0" bIns="0" rtlCol="0" anchor="ctr"/>
          <a:lstStyle/>
          <a:p>
            <a:pPr marL="0" indent="0">
              <a:buNone/>
            </a:pPr>
            <a:r>
              <a:rPr lang="en-US" b="1" dirty="0">
                <a:solidFill>
                  <a:schemeClr val="tx1"/>
                </a:solidFill>
              </a:rPr>
              <a:t>✅  Then he asked the ant, “Would you help me?” (comma, capital letter, question mark inside)</a:t>
            </a:r>
            <a:endParaRPr lang="en-US" dirty="0"/>
          </a:p>
        </p:txBody>
      </p:sp>
      <p:sp>
        <p:nvSpPr>
          <p:cNvPr id="19" name="Shape 16"/>
          <p:cNvSpPr/>
          <p:nvPr/>
        </p:nvSpPr>
        <p:spPr>
          <a:xfrm>
            <a:off x="548640" y="44348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4348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NOOR (TIGER)   </a:t>
            </a:r>
            <a:endParaRPr lang="en-US" sz="1200" dirty="0"/>
          </a:p>
          <a:p>
            <a:pPr marL="0" indent="0">
              <a:buNone/>
            </a:pPr>
            <a:r>
              <a:rPr lang="en-US" i="1" dirty="0">
                <a:solidFill>
                  <a:schemeClr val="tx1"/>
                </a:solidFill>
              </a:rPr>
              <a:t>❌  Thank you so much I don’t know how to repay your kindness I promise I’ll listen…</a:t>
            </a:r>
            <a:endParaRPr lang="en-US" sz="1600" dirty="0"/>
          </a:p>
        </p:txBody>
      </p:sp>
      <p:sp>
        <p:nvSpPr>
          <p:cNvPr id="21" name="Text 18"/>
          <p:cNvSpPr txBox="1"/>
          <p:nvPr/>
        </p:nvSpPr>
        <p:spPr>
          <a:xfrm>
            <a:off x="5806440" y="44348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4348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434840"/>
            <a:ext cx="4892040" cy="1280160"/>
          </a:xfrm>
          <a:prstGeom prst="rect">
            <a:avLst/>
          </a:prstGeom>
          <a:noFill/>
          <a:ln/>
        </p:spPr>
        <p:txBody>
          <a:bodyPr wrap="square" lIns="0" tIns="0" rIns="0" bIns="0" rtlCol="0" anchor="ctr"/>
          <a:lstStyle/>
          <a:p>
            <a:pPr marL="0" indent="0">
              <a:buNone/>
            </a:pPr>
            <a:r>
              <a:rPr lang="en-US" b="1" dirty="0">
                <a:solidFill>
                  <a:schemeClr val="tx1"/>
                </a:solidFill>
              </a:rPr>
              <a:t>✅  “Thank you so much. I don’t know how to repay your kindness. I promise I will listen.” (short sentences, full stops)</a:t>
            </a:r>
            <a:endParaRPr lang="en-US"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2400" b="1" dirty="0">
                <a:solidFill>
                  <a:schemeClr val="bg1"/>
                </a:solidFill>
              </a:rPr>
              <a:t>Speech:  , then “ speech ”  with the end mark inside.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5: make the verbs agree</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ABDALLAH   </a:t>
            </a:r>
            <a:endParaRPr lang="en-US" sz="1200" dirty="0"/>
          </a:p>
          <a:p>
            <a:pPr marL="0" indent="0">
              <a:buNone/>
            </a:pPr>
            <a:r>
              <a:rPr lang="en-US" sz="2000" i="1" dirty="0">
                <a:solidFill>
                  <a:schemeClr val="tx1"/>
                </a:solidFill>
              </a:rPr>
              <a:t>❌  …it have lock</a:t>
            </a:r>
            <a:endParaRPr lang="en-US" dirty="0"/>
          </a:p>
        </p:txBody>
      </p:sp>
      <p:sp>
        <p:nvSpPr>
          <p:cNvPr id="11" name="Text 8"/>
          <p:cNvSpPr txBox="1"/>
          <p:nvPr/>
        </p:nvSpPr>
        <p:spPr>
          <a:xfrm>
            <a:off x="5806440" y="160020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13232"/>
          </a:xfrm>
          <a:prstGeom prst="rect">
            <a:avLst/>
          </a:prstGeom>
          <a:noFill/>
          <a:ln/>
        </p:spPr>
        <p:txBody>
          <a:bodyPr wrap="square" lIns="0" tIns="0" rIns="0" bIns="0" rtlCol="0" anchor="ctr"/>
          <a:lstStyle/>
          <a:p>
            <a:pPr marL="0" indent="0">
              <a:buNone/>
            </a:pPr>
            <a:r>
              <a:rPr lang="en-US" sz="2000" b="1" dirty="0">
                <a:solidFill>
                  <a:schemeClr val="tx1"/>
                </a:solidFill>
              </a:rPr>
              <a:t>✅  …it had a lock</a:t>
            </a:r>
            <a:endParaRPr lang="en-US" sz="2000" dirty="0"/>
          </a:p>
        </p:txBody>
      </p:sp>
      <p:sp>
        <p:nvSpPr>
          <p:cNvPr id="14" name="Shape 11"/>
          <p:cNvSpPr/>
          <p:nvPr/>
        </p:nvSpPr>
        <p:spPr>
          <a:xfrm>
            <a:off x="548640" y="242316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2316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SEIF   </a:t>
            </a:r>
            <a:endParaRPr lang="en-US" sz="1200" dirty="0"/>
          </a:p>
          <a:p>
            <a:pPr marL="0" indent="0">
              <a:buNone/>
            </a:pPr>
            <a:r>
              <a:rPr lang="en-US" sz="2000" i="1" dirty="0">
                <a:solidFill>
                  <a:schemeClr val="tx1"/>
                </a:solidFill>
              </a:rPr>
              <a:t>❌  he went to the fox and say…</a:t>
            </a:r>
            <a:endParaRPr lang="en-US" dirty="0"/>
          </a:p>
        </p:txBody>
      </p:sp>
      <p:sp>
        <p:nvSpPr>
          <p:cNvPr id="16" name="Text 13"/>
          <p:cNvSpPr txBox="1"/>
          <p:nvPr/>
        </p:nvSpPr>
        <p:spPr>
          <a:xfrm>
            <a:off x="5806440" y="242316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2316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23160"/>
            <a:ext cx="4892040" cy="713232"/>
          </a:xfrm>
          <a:prstGeom prst="rect">
            <a:avLst/>
          </a:prstGeom>
          <a:noFill/>
          <a:ln/>
        </p:spPr>
        <p:txBody>
          <a:bodyPr wrap="square" lIns="0" tIns="0" rIns="0" bIns="0" rtlCol="0" anchor="ctr"/>
          <a:lstStyle/>
          <a:p>
            <a:pPr marL="0" indent="0">
              <a:buNone/>
            </a:pPr>
            <a:r>
              <a:rPr lang="en-US" sz="2000" b="1" dirty="0">
                <a:solidFill>
                  <a:schemeClr val="tx1"/>
                </a:solidFill>
              </a:rPr>
              <a:t>✅  he went to the fox and said…</a:t>
            </a:r>
            <a:endParaRPr lang="en-US" sz="2000" dirty="0"/>
          </a:p>
        </p:txBody>
      </p:sp>
      <p:sp>
        <p:nvSpPr>
          <p:cNvPr id="19" name="Shape 16"/>
          <p:cNvSpPr/>
          <p:nvPr/>
        </p:nvSpPr>
        <p:spPr>
          <a:xfrm>
            <a:off x="548640" y="324612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4612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MAI   </a:t>
            </a:r>
            <a:endParaRPr lang="en-US" sz="1200" dirty="0"/>
          </a:p>
          <a:p>
            <a:pPr marL="0" indent="0">
              <a:buNone/>
            </a:pPr>
            <a:r>
              <a:rPr lang="en-US" sz="2000" i="1" dirty="0">
                <a:solidFill>
                  <a:schemeClr val="tx1"/>
                </a:solidFill>
              </a:rPr>
              <a:t>❌  the animals that was bulling the owl</a:t>
            </a:r>
            <a:endParaRPr lang="en-US" dirty="0"/>
          </a:p>
        </p:txBody>
      </p:sp>
      <p:sp>
        <p:nvSpPr>
          <p:cNvPr id="21" name="Text 18"/>
          <p:cNvSpPr txBox="1"/>
          <p:nvPr/>
        </p:nvSpPr>
        <p:spPr>
          <a:xfrm>
            <a:off x="5806440" y="324612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4612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46120"/>
            <a:ext cx="4892040" cy="713232"/>
          </a:xfrm>
          <a:prstGeom prst="rect">
            <a:avLst/>
          </a:prstGeom>
          <a:noFill/>
          <a:ln/>
        </p:spPr>
        <p:txBody>
          <a:bodyPr wrap="square" lIns="0" tIns="0" rIns="0" bIns="0" rtlCol="0" anchor="ctr"/>
          <a:lstStyle/>
          <a:p>
            <a:pPr marL="0" indent="0">
              <a:buNone/>
            </a:pPr>
            <a:r>
              <a:rPr lang="en-US" b="1" dirty="0">
                <a:solidFill>
                  <a:schemeClr val="tx1"/>
                </a:solidFill>
              </a:rPr>
              <a:t>✅  the animals that were bullying the owl</a:t>
            </a:r>
            <a:endParaRPr lang="en-US" dirty="0"/>
          </a:p>
        </p:txBody>
      </p:sp>
      <p:sp>
        <p:nvSpPr>
          <p:cNvPr id="24" name="Shape 21"/>
          <p:cNvSpPr/>
          <p:nvPr/>
        </p:nvSpPr>
        <p:spPr>
          <a:xfrm>
            <a:off x="548640" y="406908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6908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JOUD (KOALA)   </a:t>
            </a:r>
            <a:endParaRPr lang="en-US" sz="1200" dirty="0"/>
          </a:p>
          <a:p>
            <a:pPr marL="0" indent="0">
              <a:buNone/>
            </a:pPr>
            <a:r>
              <a:rPr lang="en-US" sz="2000" i="1" dirty="0">
                <a:solidFill>
                  <a:schemeClr val="tx1"/>
                </a:solidFill>
              </a:rPr>
              <a:t>❌  she didn’t found any food</a:t>
            </a:r>
            <a:endParaRPr lang="en-US" dirty="0"/>
          </a:p>
        </p:txBody>
      </p:sp>
      <p:sp>
        <p:nvSpPr>
          <p:cNvPr id="26" name="Text 23"/>
          <p:cNvSpPr txBox="1"/>
          <p:nvPr/>
        </p:nvSpPr>
        <p:spPr>
          <a:xfrm>
            <a:off x="5806440" y="406908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6908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69080"/>
            <a:ext cx="4892040" cy="713232"/>
          </a:xfrm>
          <a:prstGeom prst="rect">
            <a:avLst/>
          </a:prstGeom>
          <a:noFill/>
          <a:ln/>
        </p:spPr>
        <p:txBody>
          <a:bodyPr wrap="square" lIns="0" tIns="0" rIns="0" bIns="0" rtlCol="0" anchor="ctr"/>
          <a:lstStyle/>
          <a:p>
            <a:pPr marL="0" indent="0">
              <a:buNone/>
            </a:pPr>
            <a:r>
              <a:rPr lang="en-US" sz="2000" b="1" dirty="0">
                <a:solidFill>
                  <a:schemeClr val="tx1"/>
                </a:solidFill>
              </a:rPr>
              <a:t>✅  she didn’t find any food</a:t>
            </a:r>
            <a:endParaRPr lang="en-US" sz="2000" dirty="0"/>
          </a:p>
        </p:txBody>
      </p:sp>
      <p:sp>
        <p:nvSpPr>
          <p:cNvPr id="29" name="Shape 26"/>
          <p:cNvSpPr/>
          <p:nvPr/>
        </p:nvSpPr>
        <p:spPr>
          <a:xfrm>
            <a:off x="548640" y="489204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9204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KINAN   </a:t>
            </a:r>
            <a:endParaRPr lang="en-US" sz="1200" dirty="0"/>
          </a:p>
          <a:p>
            <a:pPr marL="0" indent="0">
              <a:buNone/>
            </a:pPr>
            <a:r>
              <a:rPr lang="en-US" sz="2000" i="1" dirty="0">
                <a:solidFill>
                  <a:schemeClr val="tx1"/>
                </a:solidFill>
              </a:rPr>
              <a:t>❌  Then he ask the ant…</a:t>
            </a:r>
            <a:endParaRPr lang="en-US" dirty="0"/>
          </a:p>
        </p:txBody>
      </p:sp>
      <p:sp>
        <p:nvSpPr>
          <p:cNvPr id="31" name="Text 28"/>
          <p:cNvSpPr txBox="1"/>
          <p:nvPr/>
        </p:nvSpPr>
        <p:spPr>
          <a:xfrm>
            <a:off x="5806440" y="489204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9204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92040"/>
            <a:ext cx="4892040" cy="713232"/>
          </a:xfrm>
          <a:prstGeom prst="rect">
            <a:avLst/>
          </a:prstGeom>
          <a:noFill/>
          <a:ln/>
        </p:spPr>
        <p:txBody>
          <a:bodyPr wrap="square" lIns="0" tIns="0" rIns="0" bIns="0" rtlCol="0" anchor="ctr"/>
          <a:lstStyle/>
          <a:p>
            <a:pPr marL="0" indent="0">
              <a:buNone/>
            </a:pPr>
            <a:r>
              <a:rPr lang="en-US" sz="2000" b="1" dirty="0">
                <a:solidFill>
                  <a:schemeClr val="tx1"/>
                </a:solidFill>
              </a:rPr>
              <a:t>✅  Then he asked the ant…</a:t>
            </a:r>
            <a:endParaRPr lang="en-US" sz="2000" dirty="0"/>
          </a:p>
        </p:txBody>
      </p:sp>
      <p:sp>
        <p:nvSpPr>
          <p:cNvPr id="34" name="Text 31"/>
          <p:cNvSpPr txBox="1"/>
          <p:nvPr/>
        </p:nvSpPr>
        <p:spPr>
          <a:xfrm>
            <a:off x="548640" y="5760720"/>
            <a:ext cx="11094415" cy="548640"/>
          </a:xfrm>
          <a:prstGeom prst="rect">
            <a:avLst/>
          </a:prstGeom>
          <a:solidFill>
            <a:schemeClr val="tx1"/>
          </a:solidFill>
          <a:ln/>
        </p:spPr>
        <p:txBody>
          <a:bodyPr wrap="square" lIns="1270" tIns="1270" rIns="1270" bIns="1270" rtlCol="0" anchor="ctr"/>
          <a:lstStyle/>
          <a:p>
            <a:pPr marL="0" indent="0" algn="ctr">
              <a:buNone/>
            </a:pPr>
            <a:r>
              <a:rPr lang="en-US" sz="2800" b="1" dirty="0">
                <a:solidFill>
                  <a:schemeClr val="bg1"/>
                </a:solidFill>
              </a:rPr>
              <a:t>One animal: it lives.  Many animals: they live.  Stay in the past tense.</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6: spelling, capitals and spaces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58368" y="109728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relized</a:t>
            </a:r>
            <a:endParaRPr lang="en-US" sz="1500" dirty="0"/>
          </a:p>
          <a:p>
            <a:pPr marL="0" indent="0">
              <a:buNone/>
            </a:pPr>
            <a:r>
              <a:rPr lang="en-US" sz="1800" b="1" dirty="0">
                <a:solidFill>
                  <a:schemeClr val="accent1"/>
                </a:solidFill>
              </a:rPr>
              <a:t>✅ realised</a:t>
            </a:r>
            <a:endParaRPr lang="en-US" sz="1500" dirty="0"/>
          </a:p>
          <a:p>
            <a:pPr marL="0" indent="0">
              <a:buNone/>
            </a:pPr>
            <a:r>
              <a:rPr lang="en-US" sz="1000" b="1" dirty="0">
                <a:solidFill>
                  <a:schemeClr val="tx1"/>
                </a:solidFill>
              </a:rPr>
              <a:t>ABDALLAH</a:t>
            </a:r>
            <a:endParaRPr lang="en-US" sz="1500" dirty="0"/>
          </a:p>
        </p:txBody>
      </p:sp>
      <p:sp>
        <p:nvSpPr>
          <p:cNvPr id="7" name="Shape 4"/>
          <p:cNvSpPr/>
          <p:nvPr/>
        </p:nvSpPr>
        <p:spPr>
          <a:xfrm>
            <a:off x="3063240" y="109728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3172968" y="109728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prepar</a:t>
            </a:r>
            <a:endParaRPr lang="en-US" sz="1500" dirty="0"/>
          </a:p>
          <a:p>
            <a:pPr marL="0" indent="0">
              <a:buNone/>
            </a:pPr>
            <a:r>
              <a:rPr lang="en-US" sz="1800" b="1" dirty="0">
                <a:solidFill>
                  <a:schemeClr val="accent1"/>
                </a:solidFill>
              </a:rPr>
              <a:t>✅ prepare</a:t>
            </a:r>
            <a:endParaRPr lang="en-US" sz="1500" dirty="0"/>
          </a:p>
          <a:p>
            <a:pPr marL="0" indent="0">
              <a:buNone/>
            </a:pPr>
            <a:r>
              <a:rPr lang="en-US" sz="1000" b="1" dirty="0">
                <a:solidFill>
                  <a:schemeClr val="tx1"/>
                </a:solidFill>
              </a:rPr>
              <a:t>KINAN, JOUD</a:t>
            </a:r>
            <a:endParaRPr lang="en-US" sz="1500" dirty="0"/>
          </a:p>
        </p:txBody>
      </p:sp>
      <p:sp>
        <p:nvSpPr>
          <p:cNvPr id="9" name="Shape 6"/>
          <p:cNvSpPr/>
          <p:nvPr/>
        </p:nvSpPr>
        <p:spPr>
          <a:xfrm>
            <a:off x="5577840" y="109728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5687568" y="109728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instel</a:t>
            </a:r>
            <a:endParaRPr lang="en-US" sz="1500" dirty="0"/>
          </a:p>
          <a:p>
            <a:pPr marL="0" indent="0">
              <a:buNone/>
            </a:pPr>
            <a:r>
              <a:rPr lang="en-US" sz="1800" b="1" dirty="0">
                <a:solidFill>
                  <a:schemeClr val="accent1"/>
                </a:solidFill>
              </a:rPr>
              <a:t>✅ instead</a:t>
            </a:r>
            <a:endParaRPr lang="en-US" sz="1500" dirty="0"/>
          </a:p>
          <a:p>
            <a:pPr marL="0" indent="0">
              <a:buNone/>
            </a:pPr>
            <a:r>
              <a:rPr lang="en-US" sz="1000" b="1" dirty="0">
                <a:solidFill>
                  <a:schemeClr val="tx1"/>
                </a:solidFill>
              </a:rPr>
              <a:t>KINAN</a:t>
            </a:r>
            <a:endParaRPr lang="en-US" sz="1500" dirty="0"/>
          </a:p>
        </p:txBody>
      </p:sp>
      <p:sp>
        <p:nvSpPr>
          <p:cNvPr id="11" name="Shape 8"/>
          <p:cNvSpPr/>
          <p:nvPr/>
        </p:nvSpPr>
        <p:spPr>
          <a:xfrm>
            <a:off x="548640" y="251460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58368" y="251460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decieded</a:t>
            </a:r>
            <a:endParaRPr lang="en-US" sz="1500" dirty="0"/>
          </a:p>
          <a:p>
            <a:pPr marL="0" indent="0">
              <a:buNone/>
            </a:pPr>
            <a:r>
              <a:rPr lang="en-US" sz="1800" b="1" dirty="0">
                <a:solidFill>
                  <a:schemeClr val="accent1"/>
                </a:solidFill>
              </a:rPr>
              <a:t>✅ decided</a:t>
            </a:r>
            <a:endParaRPr lang="en-US" sz="1500" dirty="0"/>
          </a:p>
          <a:p>
            <a:pPr marL="0" indent="0">
              <a:buNone/>
            </a:pPr>
            <a:r>
              <a:rPr lang="en-US" sz="1000" b="1" dirty="0">
                <a:solidFill>
                  <a:schemeClr val="tx1"/>
                </a:solidFill>
              </a:rPr>
              <a:t>JOUD (KOALA)</a:t>
            </a:r>
            <a:endParaRPr lang="en-US" sz="1500" dirty="0"/>
          </a:p>
        </p:txBody>
      </p:sp>
      <p:sp>
        <p:nvSpPr>
          <p:cNvPr id="13" name="Shape 10"/>
          <p:cNvSpPr/>
          <p:nvPr/>
        </p:nvSpPr>
        <p:spPr>
          <a:xfrm>
            <a:off x="3063240" y="251460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3172968" y="251460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Becuas</a:t>
            </a:r>
            <a:endParaRPr lang="en-US" sz="1500" dirty="0"/>
          </a:p>
          <a:p>
            <a:pPr marL="0" indent="0">
              <a:buNone/>
            </a:pPr>
            <a:r>
              <a:rPr lang="en-US" sz="1800" b="1" dirty="0">
                <a:solidFill>
                  <a:schemeClr val="accent1"/>
                </a:solidFill>
              </a:rPr>
              <a:t>✅ Because</a:t>
            </a:r>
            <a:endParaRPr lang="en-US" sz="1500" dirty="0"/>
          </a:p>
          <a:p>
            <a:pPr marL="0" indent="0">
              <a:buNone/>
            </a:pPr>
            <a:r>
              <a:rPr lang="en-US" sz="1000" b="1" dirty="0">
                <a:solidFill>
                  <a:schemeClr val="tx1"/>
                </a:solidFill>
              </a:rPr>
              <a:t>FARIDA</a:t>
            </a:r>
            <a:endParaRPr lang="en-US" sz="1500" dirty="0"/>
          </a:p>
        </p:txBody>
      </p:sp>
      <p:sp>
        <p:nvSpPr>
          <p:cNvPr id="15" name="Shape 12"/>
          <p:cNvSpPr/>
          <p:nvPr/>
        </p:nvSpPr>
        <p:spPr>
          <a:xfrm>
            <a:off x="5577840" y="251460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5687568" y="251460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stength</a:t>
            </a:r>
            <a:endParaRPr lang="en-US" sz="1500" dirty="0"/>
          </a:p>
          <a:p>
            <a:pPr marL="0" indent="0">
              <a:buNone/>
            </a:pPr>
            <a:r>
              <a:rPr lang="en-US" sz="1800" b="1" dirty="0">
                <a:solidFill>
                  <a:schemeClr val="accent1"/>
                </a:solidFill>
              </a:rPr>
              <a:t>✅ strength</a:t>
            </a:r>
            <a:endParaRPr lang="en-US" sz="1500" dirty="0"/>
          </a:p>
          <a:p>
            <a:pPr marL="0" indent="0">
              <a:buNone/>
            </a:pPr>
            <a:r>
              <a:rPr lang="en-US" sz="1000" b="1" dirty="0">
                <a:solidFill>
                  <a:schemeClr val="tx1"/>
                </a:solidFill>
              </a:rPr>
              <a:t>METAWALLI</a:t>
            </a:r>
            <a:endParaRPr lang="en-US" sz="1500" dirty="0"/>
          </a:p>
        </p:txBody>
      </p:sp>
      <p:sp>
        <p:nvSpPr>
          <p:cNvPr id="17" name="Shape 14"/>
          <p:cNvSpPr/>
          <p:nvPr/>
        </p:nvSpPr>
        <p:spPr>
          <a:xfrm>
            <a:off x="548640" y="393192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 y="393192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Throught</a:t>
            </a:r>
            <a:endParaRPr lang="en-US" sz="1500" dirty="0"/>
          </a:p>
          <a:p>
            <a:pPr marL="0" indent="0">
              <a:buNone/>
            </a:pPr>
            <a:r>
              <a:rPr lang="en-US" sz="1800" b="1" dirty="0">
                <a:solidFill>
                  <a:schemeClr val="accent1"/>
                </a:solidFill>
              </a:rPr>
              <a:t>✅ through</a:t>
            </a:r>
            <a:endParaRPr lang="en-US" sz="1500" dirty="0"/>
          </a:p>
          <a:p>
            <a:pPr marL="0" indent="0">
              <a:buNone/>
            </a:pPr>
            <a:r>
              <a:rPr lang="en-US" sz="1000" b="1" dirty="0">
                <a:solidFill>
                  <a:schemeClr val="tx1"/>
                </a:solidFill>
              </a:rPr>
              <a:t>METAWALLI</a:t>
            </a:r>
            <a:endParaRPr lang="en-US" sz="1500" dirty="0"/>
          </a:p>
        </p:txBody>
      </p:sp>
      <p:sp>
        <p:nvSpPr>
          <p:cNvPr id="19" name="Shape 16"/>
          <p:cNvSpPr/>
          <p:nvPr/>
        </p:nvSpPr>
        <p:spPr>
          <a:xfrm>
            <a:off x="3063240" y="3931920"/>
            <a:ext cx="233172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3172968" y="3931920"/>
            <a:ext cx="2103120" cy="1280160"/>
          </a:xfrm>
          <a:prstGeom prst="rect">
            <a:avLst/>
          </a:prstGeom>
          <a:noFill/>
          <a:ln/>
        </p:spPr>
        <p:txBody>
          <a:bodyPr wrap="square" lIns="0" tIns="0" rIns="0" bIns="0" rtlCol="0" anchor="ctr"/>
          <a:lstStyle/>
          <a:p>
            <a:pPr marL="0" indent="0">
              <a:buNone/>
            </a:pPr>
            <a:r>
              <a:rPr lang="en-US" sz="1500" dirty="0">
                <a:solidFill>
                  <a:schemeClr val="accent3"/>
                </a:solidFill>
              </a:rPr>
              <a:t>❌ it’s head</a:t>
            </a:r>
            <a:endParaRPr lang="en-US" sz="1500" dirty="0"/>
          </a:p>
          <a:p>
            <a:pPr marL="0" indent="0">
              <a:buNone/>
            </a:pPr>
            <a:r>
              <a:rPr lang="en-US" sz="1800" b="1" dirty="0">
                <a:solidFill>
                  <a:schemeClr val="accent1"/>
                </a:solidFill>
              </a:rPr>
              <a:t>✅ its head</a:t>
            </a:r>
            <a:endParaRPr lang="en-US" sz="1500" dirty="0"/>
          </a:p>
          <a:p>
            <a:pPr marL="0" indent="0">
              <a:buNone/>
            </a:pPr>
            <a:r>
              <a:rPr lang="en-US" sz="1000" b="1" dirty="0">
                <a:solidFill>
                  <a:schemeClr val="tx1"/>
                </a:solidFill>
              </a:rPr>
              <a:t>MAI</a:t>
            </a:r>
            <a:endParaRPr lang="en-US" sz="1500" dirty="0"/>
          </a:p>
        </p:txBody>
      </p:sp>
      <p:sp>
        <p:nvSpPr>
          <p:cNvPr id="21" name="Card CAPITALS AND SPACES"/>
          <p:cNvSpPr/>
          <p:nvPr/>
        </p:nvSpPr>
        <p:spPr>
          <a:xfrm>
            <a:off x="8183880" y="1097280"/>
            <a:ext cx="3474720" cy="416052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8183880" y="1097280"/>
            <a:ext cx="3474720" cy="502920"/>
          </a:xfrm>
          <a:prstGeom prst="rect">
            <a:avLst/>
          </a:prstGeom>
          <a:solidFill>
            <a:schemeClr val="tx1"/>
          </a:solidFill>
          <a:ln/>
        </p:spPr>
      </p:sp>
      <p:sp>
        <p:nvSpPr>
          <p:cNvPr id="23" name="Text 20"/>
          <p:cNvSpPr txBox="1"/>
          <p:nvPr/>
        </p:nvSpPr>
        <p:spPr>
          <a:xfrm>
            <a:off x="8311896" y="1097280"/>
            <a:ext cx="3291840" cy="502920"/>
          </a:xfrm>
          <a:prstGeom prst="rect">
            <a:avLst/>
          </a:prstGeom>
          <a:noFill/>
          <a:ln/>
        </p:spPr>
        <p:txBody>
          <a:bodyPr wrap="square" lIns="0" tIns="0" rIns="0" bIns="0" rtlCol="0" anchor="ctr"/>
          <a:lstStyle/>
          <a:p>
            <a:pPr marL="0" indent="0">
              <a:buNone/>
            </a:pPr>
            <a:r>
              <a:rPr lang="en-US" sz="1500" b="1" dirty="0">
                <a:solidFill>
                  <a:schemeClr val="bg1"/>
                </a:solidFill>
              </a:rPr>
              <a:t>CAPITALS AND SPACES</a:t>
            </a:r>
            <a:endParaRPr lang="en-US" sz="1500" dirty="0"/>
          </a:p>
        </p:txBody>
      </p:sp>
      <p:sp>
        <p:nvSpPr>
          <p:cNvPr id="24" name="Text 21"/>
          <p:cNvSpPr txBox="1"/>
          <p:nvPr/>
        </p:nvSpPr>
        <p:spPr>
          <a:xfrm>
            <a:off x="8293608" y="1673352"/>
            <a:ext cx="3255264" cy="3511296"/>
          </a:xfrm>
          <a:prstGeom prst="rect">
            <a:avLst/>
          </a:prstGeom>
          <a:noFill/>
          <a:ln/>
        </p:spPr>
        <p:txBody>
          <a:bodyPr wrap="square" lIns="508" tIns="508" rIns="508" bIns="508" rtlCol="0" anchor="t"/>
          <a:lstStyle/>
          <a:p>
            <a:pPr marL="342900" indent="-342900" algn="l">
              <a:spcAft>
                <a:spcPts val="900"/>
              </a:spcAft>
              <a:buSzPct val="100000"/>
              <a:buChar char="•"/>
            </a:pPr>
            <a:r>
              <a:rPr lang="en-US" sz="1600" dirty="0">
                <a:solidFill>
                  <a:schemeClr val="tx1"/>
                </a:solidFill>
              </a:rPr>
              <a:t>A capital to start every sentence (Ali, </a:t>
            </a:r>
            <a:r>
              <a:rPr lang="en-US" sz="1600" dirty="0" err="1">
                <a:solidFill>
                  <a:schemeClr val="tx1"/>
                </a:solidFill>
              </a:rPr>
              <a:t>Merghani</a:t>
            </a:r>
            <a:r>
              <a:rPr lang="en-US" sz="1600" dirty="0">
                <a:solidFill>
                  <a:schemeClr val="tx1"/>
                </a:solidFill>
              </a:rPr>
              <a:t>)</a:t>
            </a:r>
            <a:endParaRPr lang="en-US" sz="1600" dirty="0"/>
          </a:p>
          <a:p>
            <a:pPr marL="342900" indent="-342900" algn="l">
              <a:spcAft>
                <a:spcPts val="900"/>
              </a:spcAft>
              <a:buSzPct val="100000"/>
              <a:buChar char="•"/>
            </a:pPr>
            <a:r>
              <a:rPr lang="en-US" sz="1600" dirty="0">
                <a:solidFill>
                  <a:schemeClr val="tx1"/>
                </a:solidFill>
              </a:rPr>
              <a:t>A finger space between words (Mahmoud)</a:t>
            </a:r>
            <a:endParaRPr lang="en-US" sz="1600" dirty="0"/>
          </a:p>
          <a:p>
            <a:pPr marL="342900" indent="-342900" algn="l">
              <a:spcAft>
                <a:spcPts val="900"/>
              </a:spcAft>
              <a:buSzPct val="100000"/>
              <a:buChar char="•"/>
            </a:pPr>
            <a:r>
              <a:rPr lang="en-US" sz="1600" dirty="0">
                <a:solidFill>
                  <a:schemeClr val="tx1"/>
                </a:solidFill>
              </a:rPr>
              <a:t>Because has a capital only at the start of a sentence</a:t>
            </a:r>
            <a:endParaRPr lang="en-US" sz="1600" dirty="0"/>
          </a:p>
          <a:p>
            <a:pPr marL="342900" indent="-342900" algn="l">
              <a:spcAft>
                <a:spcPts val="900"/>
              </a:spcAft>
              <a:buSzPct val="100000"/>
              <a:buChar char="•"/>
            </a:pPr>
            <a:r>
              <a:rPr lang="en-US" sz="1600" dirty="0">
                <a:solidFill>
                  <a:schemeClr val="tx1"/>
                </a:solidFill>
              </a:rPr>
              <a:t>Copy topic words from your plan or the word bank</a:t>
            </a:r>
            <a:endParaRPr lang="en-US" sz="1600" dirty="0"/>
          </a:p>
        </p:txBody>
      </p:sp>
      <p:sp>
        <p:nvSpPr>
          <p:cNvPr id="25" name="Text 22"/>
          <p:cNvSpPr txBox="1"/>
          <p:nvPr/>
        </p:nvSpPr>
        <p:spPr>
          <a:xfrm>
            <a:off x="548640" y="589788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Copy topic words carefully from your plan or the class word bank</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PRACTISE</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138160" cy="1005840"/>
          </a:xfrm>
          <a:prstGeom prst="rect">
            <a:avLst/>
          </a:prstGeom>
          <a:noFill/>
          <a:ln/>
        </p:spPr>
        <p:txBody>
          <a:bodyPr wrap="square" lIns="0" tIns="0" rIns="0" bIns="0" rtlCol="0" anchor="ctr"/>
          <a:lstStyle/>
          <a:p>
            <a:pPr marL="0" indent="0">
              <a:buNone/>
            </a:pPr>
            <a:r>
              <a:rPr lang="en-US" sz="2800" dirty="0">
                <a:solidFill>
                  <a:schemeClr val="tx1"/>
                </a:solidFill>
              </a:rPr>
              <a:t>Jeffey screamed"Come on, just catch it already!"</a:t>
            </a:r>
            <a:endParaRPr lang="en-US" sz="2800" dirty="0"/>
          </a:p>
        </p:txBody>
      </p:sp>
      <p:sp>
        <p:nvSpPr>
          <p:cNvPr id="8" name="Text 5"/>
          <p:cNvSpPr txBox="1"/>
          <p:nvPr/>
        </p:nvSpPr>
        <p:spPr>
          <a:xfrm>
            <a:off x="9784080" y="114300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Noor ()</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138160" cy="1005840"/>
          </a:xfrm>
          <a:prstGeom prst="rect">
            <a:avLst/>
          </a:prstGeom>
          <a:noFill/>
          <a:ln/>
        </p:spPr>
        <p:txBody>
          <a:bodyPr wrap="square" lIns="0" tIns="0" rIns="0" bIns="0" rtlCol="0" anchor="ctr"/>
          <a:lstStyle/>
          <a:p>
            <a:pPr marL="0" indent="0">
              <a:buNone/>
            </a:pPr>
            <a:r>
              <a:rPr lang="en-US" sz="3200" dirty="0">
                <a:solidFill>
                  <a:schemeClr val="tx1"/>
                </a:solidFill>
              </a:rPr>
              <a:t>The small lowered it’s head and began to cry.</a:t>
            </a:r>
            <a:endParaRPr lang="en-US" sz="3200" dirty="0"/>
          </a:p>
        </p:txBody>
      </p:sp>
      <p:sp>
        <p:nvSpPr>
          <p:cNvPr id="12" name="Text 9"/>
          <p:cNvSpPr txBox="1"/>
          <p:nvPr/>
        </p:nvSpPr>
        <p:spPr>
          <a:xfrm>
            <a:off x="9784080" y="233172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Mai</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138160" cy="1005840"/>
          </a:xfrm>
          <a:prstGeom prst="rect">
            <a:avLst/>
          </a:prstGeom>
          <a:noFill/>
          <a:ln/>
        </p:spPr>
        <p:txBody>
          <a:bodyPr wrap="square" lIns="0" tIns="0" rIns="0" bIns="0" rtlCol="0" anchor="ctr"/>
          <a:lstStyle/>
          <a:p>
            <a:pPr marL="0" indent="0">
              <a:buNone/>
            </a:pPr>
            <a:r>
              <a:rPr lang="en-US" sz="2400" dirty="0">
                <a:solidFill>
                  <a:schemeClr val="tx1"/>
                </a:solidFill>
              </a:rPr>
              <a:t>Because the Grasshopper don’t prepar he so shivering and weak.</a:t>
            </a:r>
            <a:endParaRPr lang="en-US" sz="2400" dirty="0"/>
          </a:p>
        </p:txBody>
      </p:sp>
      <p:sp>
        <p:nvSpPr>
          <p:cNvPr id="16" name="Text 13"/>
          <p:cNvSpPr txBox="1"/>
          <p:nvPr/>
        </p:nvSpPr>
        <p:spPr>
          <a:xfrm>
            <a:off x="9784080" y="352044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Kinan</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138160" cy="1005840"/>
          </a:xfrm>
          <a:prstGeom prst="rect">
            <a:avLst/>
          </a:prstGeom>
          <a:noFill/>
          <a:ln/>
        </p:spPr>
        <p:txBody>
          <a:bodyPr wrap="square" lIns="0" tIns="0" rIns="0" bIns="0" rtlCol="0" anchor="ctr"/>
          <a:lstStyle/>
          <a:p>
            <a:pPr marL="0" indent="0">
              <a:buNone/>
            </a:pPr>
            <a:r>
              <a:rPr lang="en-US" sz="2800" dirty="0">
                <a:solidFill>
                  <a:schemeClr val="tx1"/>
                </a:solidFill>
              </a:rPr>
              <a:t>…at last he understood that even small are important.</a:t>
            </a:r>
            <a:endParaRPr lang="en-US" sz="2800" dirty="0"/>
          </a:p>
        </p:txBody>
      </p:sp>
      <p:sp>
        <p:nvSpPr>
          <p:cNvPr id="20" name="Text 17"/>
          <p:cNvSpPr txBox="1"/>
          <p:nvPr/>
        </p:nvSpPr>
        <p:spPr>
          <a:xfrm>
            <a:off x="9784080" y="470916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Farida</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2400" dirty="0">
                <a:solidFill>
                  <a:schemeClr val="bg1"/>
                </a:solidFill>
              </a:rPr>
              <a:t>Write the corrected sentence on your whiteboard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 answers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ANSWER</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138160" cy="1005840"/>
          </a:xfrm>
          <a:prstGeom prst="rect">
            <a:avLst/>
          </a:prstGeom>
          <a:noFill/>
          <a:ln/>
        </p:spPr>
        <p:txBody>
          <a:bodyPr wrap="square" lIns="0" tIns="0" rIns="0" bIns="0" rtlCol="0" anchor="ctr"/>
          <a:lstStyle/>
          <a:p>
            <a:pPr marL="0" indent="0">
              <a:buNone/>
            </a:pPr>
            <a:r>
              <a:rPr lang="en-US" sz="2800" b="1" dirty="0">
                <a:solidFill>
                  <a:schemeClr val="tx1"/>
                </a:solidFill>
              </a:rPr>
              <a:t>Jeffrey screamed, “Come on, just catch it already!”</a:t>
            </a:r>
            <a:endParaRPr lang="en-US" sz="2800" dirty="0"/>
          </a:p>
          <a:p>
            <a:pPr marL="0" indent="0">
              <a:buNone/>
            </a:pPr>
            <a:r>
              <a:rPr lang="en-US" sz="1400" i="1" dirty="0">
                <a:solidFill>
                  <a:schemeClr val="accent1"/>
                </a:solidFill>
              </a:rPr>
              <a:t>comma and a space before the speech marks</a:t>
            </a:r>
            <a:endParaRPr lang="en-US" sz="1600" dirty="0"/>
          </a:p>
        </p:txBody>
      </p:sp>
      <p:sp>
        <p:nvSpPr>
          <p:cNvPr id="8" name="Text 5"/>
          <p:cNvSpPr txBox="1"/>
          <p:nvPr/>
        </p:nvSpPr>
        <p:spPr>
          <a:xfrm>
            <a:off x="9784080" y="114300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Noor (tiger)</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138160" cy="1005840"/>
          </a:xfrm>
          <a:prstGeom prst="rect">
            <a:avLst/>
          </a:prstGeom>
          <a:noFill/>
          <a:ln/>
        </p:spPr>
        <p:txBody>
          <a:bodyPr wrap="square" lIns="0" tIns="0" rIns="0" bIns="0" rtlCol="0" anchor="ctr"/>
          <a:lstStyle/>
          <a:p>
            <a:pPr marL="0" indent="0">
              <a:buNone/>
            </a:pPr>
            <a:r>
              <a:rPr lang="en-US" sz="2800" b="1" dirty="0">
                <a:solidFill>
                  <a:schemeClr val="tx1"/>
                </a:solidFill>
              </a:rPr>
              <a:t>The small bird lowered its head and began to cry.</a:t>
            </a:r>
            <a:endParaRPr lang="en-US" sz="2800" dirty="0"/>
          </a:p>
          <a:p>
            <a:pPr marL="0" indent="0">
              <a:buNone/>
            </a:pPr>
            <a:r>
              <a:rPr lang="en-US" sz="1400" i="1" dirty="0">
                <a:solidFill>
                  <a:schemeClr val="accent1"/>
                </a:solidFill>
              </a:rPr>
              <a:t>its = belonging to it; name the animal</a:t>
            </a:r>
            <a:endParaRPr lang="en-US" sz="1600" dirty="0"/>
          </a:p>
        </p:txBody>
      </p:sp>
      <p:sp>
        <p:nvSpPr>
          <p:cNvPr id="12" name="Text 9"/>
          <p:cNvSpPr txBox="1"/>
          <p:nvPr/>
        </p:nvSpPr>
        <p:spPr>
          <a:xfrm>
            <a:off x="9784080" y="233172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Mai</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138160" cy="1005840"/>
          </a:xfrm>
          <a:prstGeom prst="rect">
            <a:avLst/>
          </a:prstGeom>
          <a:noFill/>
          <a:ln/>
        </p:spPr>
        <p:txBody>
          <a:bodyPr wrap="square" lIns="0" tIns="0" rIns="0" bIns="0" rtlCol="0" anchor="ctr"/>
          <a:lstStyle/>
          <a:p>
            <a:pPr marL="0" indent="0">
              <a:buNone/>
            </a:pPr>
            <a:r>
              <a:rPr lang="en-US" sz="2000" b="1" dirty="0">
                <a:solidFill>
                  <a:schemeClr val="tx1"/>
                </a:solidFill>
              </a:rPr>
              <a:t>Because the grasshopper did not prepare, he was shivering and weak.</a:t>
            </a:r>
            <a:endParaRPr lang="en-US" sz="2000" dirty="0"/>
          </a:p>
          <a:p>
            <a:pPr marL="0" indent="0">
              <a:buNone/>
            </a:pPr>
            <a:r>
              <a:rPr lang="en-US" sz="1400" i="1" dirty="0">
                <a:solidFill>
                  <a:schemeClr val="accent1"/>
                </a:solidFill>
              </a:rPr>
              <a:t>comma after the because part; did not + verb; spelling</a:t>
            </a:r>
            <a:endParaRPr lang="en-US" sz="1600" dirty="0"/>
          </a:p>
        </p:txBody>
      </p:sp>
      <p:sp>
        <p:nvSpPr>
          <p:cNvPr id="16" name="Text 13"/>
          <p:cNvSpPr txBox="1"/>
          <p:nvPr/>
        </p:nvSpPr>
        <p:spPr>
          <a:xfrm>
            <a:off x="9784080" y="352044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Kinan</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138160" cy="1005840"/>
          </a:xfrm>
          <a:prstGeom prst="rect">
            <a:avLst/>
          </a:prstGeom>
          <a:noFill/>
          <a:ln/>
        </p:spPr>
        <p:txBody>
          <a:bodyPr wrap="square" lIns="0" tIns="0" rIns="0" bIns="0" rtlCol="0" anchor="ctr"/>
          <a:lstStyle/>
          <a:p>
            <a:pPr marL="0" indent="0">
              <a:buNone/>
            </a:pPr>
            <a:r>
              <a:rPr lang="en-US" sz="2400" b="1" dirty="0">
                <a:solidFill>
                  <a:schemeClr val="tx1"/>
                </a:solidFill>
              </a:rPr>
              <a:t>…at last he understood that even small animals are important.</a:t>
            </a:r>
            <a:endParaRPr lang="en-US" sz="2400" dirty="0"/>
          </a:p>
          <a:p>
            <a:pPr marL="0" indent="0">
              <a:buNone/>
            </a:pPr>
            <a:r>
              <a:rPr lang="en-US" sz="1400" i="1" dirty="0">
                <a:solidFill>
                  <a:schemeClr val="accent1"/>
                </a:solidFill>
              </a:rPr>
              <a:t>small what? Add the noun</a:t>
            </a:r>
            <a:endParaRPr lang="en-US" sz="1600" dirty="0"/>
          </a:p>
        </p:txBody>
      </p:sp>
      <p:sp>
        <p:nvSpPr>
          <p:cNvPr id="20" name="Text 17"/>
          <p:cNvSpPr txBox="1"/>
          <p:nvPr/>
        </p:nvSpPr>
        <p:spPr>
          <a:xfrm>
            <a:off x="9784080" y="4709160"/>
            <a:ext cx="1737360" cy="1005840"/>
          </a:xfrm>
          <a:prstGeom prst="rect">
            <a:avLst/>
          </a:prstGeom>
          <a:noFill/>
          <a:ln/>
        </p:spPr>
        <p:txBody>
          <a:bodyPr wrap="square" lIns="0" tIns="0" rIns="0" bIns="0" rtlCol="0" anchor="ctr"/>
          <a:lstStyle/>
          <a:p>
            <a:pPr marL="0" indent="0" algn="r">
              <a:buNone/>
            </a:pPr>
            <a:r>
              <a:rPr lang="en-US" sz="1400" b="1" dirty="0">
                <a:solidFill>
                  <a:schemeClr val="accent3"/>
                </a:solidFill>
              </a:rPr>
              <a:t>Farida</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2800" dirty="0">
                <a:solidFill>
                  <a:schemeClr val="bg1"/>
                </a:solidFill>
              </a:rPr>
              <a:t>Now find the same problems in your own fable</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Your next targets (1)</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TARGETS</a:t>
            </a:r>
            <a:endParaRPr lang="en-US" sz="1100" dirty="0"/>
          </a:p>
        </p:txBody>
      </p:sp>
      <p:sp>
        <p:nvSpPr>
          <p:cNvPr id="5" name="Shape 2"/>
          <p:cNvSpPr/>
          <p:nvPr/>
        </p:nvSpPr>
        <p:spPr>
          <a:xfrm>
            <a:off x="548640" y="109728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85800" y="109728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ABDALLAH</a:t>
            </a:r>
            <a:r>
              <a:rPr lang="en-US" sz="1200" i="1" dirty="0">
                <a:solidFill>
                  <a:schemeClr val="tx1"/>
                </a:solidFill>
              </a:rPr>
              <a:t>  ·  The golden key</a:t>
            </a:r>
            <a:endParaRPr lang="en-US" sz="1400" dirty="0"/>
          </a:p>
          <a:p>
            <a:pPr marL="0" indent="0">
              <a:buNone/>
            </a:pPr>
            <a:r>
              <a:rPr lang="en-US" sz="2000" dirty="0">
                <a:solidFill>
                  <a:schemeClr val="tx1"/>
                </a:solidFill>
              </a:rPr>
              <a:t>Start each sentence with a capital letter and use because / so instead of “then … then”. Finish with a moral.</a:t>
            </a:r>
            <a:endParaRPr lang="en-US" sz="2400" dirty="0"/>
          </a:p>
        </p:txBody>
      </p:sp>
      <p:sp>
        <p:nvSpPr>
          <p:cNvPr id="7" name="Shape 4"/>
          <p:cNvSpPr/>
          <p:nvPr/>
        </p:nvSpPr>
        <p:spPr>
          <a:xfrm>
            <a:off x="6217920" y="109728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6355080" y="109728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METAWALLI</a:t>
            </a:r>
            <a:r>
              <a:rPr lang="en-US" sz="1200" i="1" dirty="0">
                <a:solidFill>
                  <a:schemeClr val="tx1"/>
                </a:solidFill>
              </a:rPr>
              <a:t>  ·  Lion and mouse</a:t>
            </a:r>
            <a:endParaRPr lang="en-US" sz="1400" dirty="0"/>
          </a:p>
          <a:p>
            <a:pPr marL="0" indent="0">
              <a:buNone/>
            </a:pPr>
            <a:r>
              <a:rPr lang="en-US" sz="2000" dirty="0">
                <a:solidFill>
                  <a:schemeClr val="tx1"/>
                </a:solidFill>
              </a:rPr>
              <a:t>Check spelling: strength, through, stepped. Add one line of dialogue in your result.</a:t>
            </a:r>
            <a:endParaRPr lang="en-US" sz="2400" dirty="0"/>
          </a:p>
        </p:txBody>
      </p:sp>
      <p:sp>
        <p:nvSpPr>
          <p:cNvPr id="9" name="Shape 6"/>
          <p:cNvSpPr/>
          <p:nvPr/>
        </p:nvSpPr>
        <p:spPr>
          <a:xfrm>
            <a:off x="548640" y="228600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685800" y="2286000"/>
            <a:ext cx="5166360" cy="1097280"/>
          </a:xfrm>
          <a:prstGeom prst="rect">
            <a:avLst/>
          </a:prstGeom>
          <a:noFill/>
          <a:ln/>
        </p:spPr>
        <p:txBody>
          <a:bodyPr wrap="square" lIns="0" tIns="0" rIns="0" bIns="0" rtlCol="0" anchor="ctr"/>
          <a:lstStyle/>
          <a:p>
            <a:pPr marL="0" indent="0">
              <a:buNone/>
            </a:pPr>
            <a:r>
              <a:rPr lang="en-US" sz="1400" b="1" dirty="0">
                <a:solidFill>
                  <a:schemeClr val="accent3"/>
                </a:solidFill>
              </a:rPr>
              <a:t>NOOR</a:t>
            </a:r>
            <a:r>
              <a:rPr lang="en-US" sz="1200" i="1" dirty="0">
                <a:solidFill>
                  <a:schemeClr val="tx1"/>
                </a:solidFill>
              </a:rPr>
              <a:t>  ·  Lion and mouse</a:t>
            </a:r>
            <a:endParaRPr lang="en-US" sz="1400" dirty="0"/>
          </a:p>
          <a:p>
            <a:pPr marL="0" indent="0">
              <a:buNone/>
            </a:pPr>
            <a:r>
              <a:rPr lang="en-US" sz="2000" dirty="0">
                <a:solidFill>
                  <a:schemeClr val="tx1"/>
                </a:solidFill>
              </a:rPr>
              <a:t>Check that your moral is general and has no names. Fill in the Title, Character and Trait boxes.</a:t>
            </a:r>
            <a:endParaRPr lang="en-US" sz="2400" dirty="0"/>
          </a:p>
        </p:txBody>
      </p:sp>
      <p:sp>
        <p:nvSpPr>
          <p:cNvPr id="11" name="Shape 8"/>
          <p:cNvSpPr/>
          <p:nvPr/>
        </p:nvSpPr>
        <p:spPr>
          <a:xfrm>
            <a:off x="6217920" y="228600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355080" y="2286000"/>
            <a:ext cx="5166360" cy="1097280"/>
          </a:xfrm>
          <a:prstGeom prst="rect">
            <a:avLst/>
          </a:prstGeom>
          <a:noFill/>
          <a:ln/>
        </p:spPr>
        <p:txBody>
          <a:bodyPr wrap="square" lIns="0" tIns="0" rIns="0" bIns="0" rtlCol="0" anchor="ctr"/>
          <a:lstStyle/>
          <a:p>
            <a:pPr marL="0" indent="0">
              <a:buNone/>
            </a:pPr>
            <a:r>
              <a:rPr lang="en-US" sz="1400" b="1" dirty="0">
                <a:solidFill>
                  <a:schemeClr val="accent3"/>
                </a:solidFill>
              </a:rPr>
              <a:t>SEIF</a:t>
            </a:r>
            <a:r>
              <a:rPr lang="en-US" sz="1200" i="1" dirty="0">
                <a:solidFill>
                  <a:schemeClr val="tx1"/>
                </a:solidFill>
              </a:rPr>
              <a:t>  ·  Lion and fox</a:t>
            </a:r>
            <a:endParaRPr lang="en-US" sz="1400" dirty="0"/>
          </a:p>
          <a:p>
            <a:pPr marL="0" indent="0">
              <a:buNone/>
            </a:pPr>
            <a:r>
              <a:rPr lang="en-US" sz="2000" dirty="0">
                <a:solidFill>
                  <a:schemeClr val="tx1"/>
                </a:solidFill>
              </a:rPr>
              <a:t>Write four connected paragraphs. Show the trait with a choice and end with a moral that has no names.</a:t>
            </a:r>
            <a:endParaRPr lang="en-US" sz="2400" dirty="0"/>
          </a:p>
        </p:txBody>
      </p:sp>
      <p:sp>
        <p:nvSpPr>
          <p:cNvPr id="13" name="Shape 10"/>
          <p:cNvSpPr/>
          <p:nvPr/>
        </p:nvSpPr>
        <p:spPr>
          <a:xfrm>
            <a:off x="548640" y="347472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685800" y="3474720"/>
            <a:ext cx="5166360" cy="1097280"/>
          </a:xfrm>
          <a:prstGeom prst="rect">
            <a:avLst/>
          </a:prstGeom>
          <a:noFill/>
          <a:ln/>
        </p:spPr>
        <p:txBody>
          <a:bodyPr wrap="square" lIns="0" tIns="0" rIns="0" bIns="0" rtlCol="0" anchor="ctr"/>
          <a:lstStyle/>
          <a:p>
            <a:pPr marL="0" indent="0">
              <a:buNone/>
            </a:pPr>
            <a:r>
              <a:rPr lang="en-US" sz="1400" b="1" dirty="0">
                <a:solidFill>
                  <a:schemeClr val="tx1"/>
                </a:solidFill>
              </a:rPr>
              <a:t>KINAN</a:t>
            </a:r>
            <a:r>
              <a:rPr lang="en-US" sz="1200" i="1" dirty="0">
                <a:solidFill>
                  <a:schemeClr val="tx1"/>
                </a:solidFill>
              </a:rPr>
              <a:t>  ·  Grasshopper</a:t>
            </a:r>
            <a:endParaRPr lang="en-US" sz="1400" dirty="0"/>
          </a:p>
          <a:p>
            <a:pPr marL="0" indent="0">
              <a:buNone/>
            </a:pPr>
            <a:r>
              <a:rPr lang="en-US" sz="2000" dirty="0">
                <a:solidFill>
                  <a:schemeClr val="tx1"/>
                </a:solidFill>
              </a:rPr>
              <a:t>Write all four paragraphs. Add a moral. Check verbs: did not prepare, he asked.</a:t>
            </a:r>
            <a:endParaRPr lang="en-US" sz="2400" dirty="0"/>
          </a:p>
        </p:txBody>
      </p:sp>
      <p:sp>
        <p:nvSpPr>
          <p:cNvPr id="15" name="Shape 12"/>
          <p:cNvSpPr/>
          <p:nvPr/>
        </p:nvSpPr>
        <p:spPr>
          <a:xfrm>
            <a:off x="6217920" y="347472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6355080" y="3474720"/>
            <a:ext cx="5166360" cy="1097280"/>
          </a:xfrm>
          <a:prstGeom prst="rect">
            <a:avLst/>
          </a:prstGeom>
          <a:noFill/>
          <a:ln/>
        </p:spPr>
        <p:txBody>
          <a:bodyPr wrap="square" lIns="0" tIns="0" rIns="0" bIns="0" rtlCol="0" anchor="ctr"/>
          <a:lstStyle/>
          <a:p>
            <a:pPr marL="0" indent="0">
              <a:buNone/>
            </a:pPr>
            <a:r>
              <a:rPr lang="en-US" sz="1400" b="1" dirty="0">
                <a:solidFill>
                  <a:schemeClr val="tx1"/>
                </a:solidFill>
              </a:rPr>
              <a:t>NADA</a:t>
            </a:r>
            <a:r>
              <a:rPr lang="en-US" sz="1200" i="1" dirty="0">
                <a:solidFill>
                  <a:schemeClr val="tx1"/>
                </a:solidFill>
              </a:rPr>
              <a:t>  ·  Pip and Sky</a:t>
            </a:r>
            <a:endParaRPr lang="en-US" sz="1400" dirty="0"/>
          </a:p>
          <a:p>
            <a:pPr marL="0" indent="0">
              <a:buNone/>
            </a:pPr>
            <a:r>
              <a:rPr lang="en-US" sz="2000" dirty="0">
                <a:solidFill>
                  <a:schemeClr val="tx1"/>
                </a:solidFill>
              </a:rPr>
              <a:t>Finish your moral sentence. Check that every sentence you wrote ends with a full stop.</a:t>
            </a:r>
            <a:endParaRPr lang="en-US" sz="2400" dirty="0"/>
          </a:p>
        </p:txBody>
      </p:sp>
      <p:sp>
        <p:nvSpPr>
          <p:cNvPr id="17" name="Shape 14"/>
          <p:cNvSpPr/>
          <p:nvPr/>
        </p:nvSpPr>
        <p:spPr>
          <a:xfrm>
            <a:off x="548640" y="466344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466344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FARIDA</a:t>
            </a:r>
            <a:r>
              <a:rPr lang="en-US" sz="1200" i="1" dirty="0">
                <a:solidFill>
                  <a:schemeClr val="tx1"/>
                </a:solidFill>
              </a:rPr>
              <a:t>  ·  Leo and Mia</a:t>
            </a:r>
            <a:endParaRPr lang="en-US" sz="1400" dirty="0"/>
          </a:p>
          <a:p>
            <a:pPr marL="0" indent="0">
              <a:buNone/>
            </a:pPr>
            <a:r>
              <a:rPr lang="en-US" sz="2000" dirty="0">
                <a:solidFill>
                  <a:schemeClr val="tx1"/>
                </a:solidFill>
              </a:rPr>
              <a:t>Check spelling of Because. Say who is important: even small animals are important.</a:t>
            </a:r>
            <a:endParaRPr lang="en-US" sz="2400" dirty="0"/>
          </a:p>
        </p:txBody>
      </p:sp>
      <p:sp>
        <p:nvSpPr>
          <p:cNvPr id="19" name="Shape 16"/>
          <p:cNvSpPr/>
          <p:nvPr/>
        </p:nvSpPr>
        <p:spPr>
          <a:xfrm>
            <a:off x="6217920" y="466344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6355080" y="466344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ALI</a:t>
            </a:r>
            <a:r>
              <a:rPr lang="en-US" sz="1200" i="1" dirty="0">
                <a:solidFill>
                  <a:schemeClr val="tx1"/>
                </a:solidFill>
              </a:rPr>
              <a:t>  ·  Lion, squirrel, rabbit</a:t>
            </a:r>
            <a:endParaRPr lang="en-US" sz="1400" dirty="0"/>
          </a:p>
          <a:p>
            <a:pPr marL="0" indent="0">
              <a:buNone/>
            </a:pPr>
            <a:r>
              <a:rPr lang="en-US" dirty="0">
                <a:solidFill>
                  <a:schemeClr val="tx1"/>
                </a:solidFill>
              </a:rPr>
              <a:t>Write ONE fable about one character through all four paragraphs, with one moral at the end.</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Your next targets (2)</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TARGETS</a:t>
            </a:r>
            <a:endParaRPr lang="en-US" sz="1100" dirty="0"/>
          </a:p>
        </p:txBody>
      </p:sp>
      <p:sp>
        <p:nvSpPr>
          <p:cNvPr id="5" name="Shape 2"/>
          <p:cNvSpPr/>
          <p:nvPr/>
        </p:nvSpPr>
        <p:spPr>
          <a:xfrm>
            <a:off x="548640" y="109728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85800" y="1097280"/>
            <a:ext cx="5166360" cy="1097280"/>
          </a:xfrm>
          <a:prstGeom prst="rect">
            <a:avLst/>
          </a:prstGeom>
          <a:noFill/>
          <a:ln/>
        </p:spPr>
        <p:txBody>
          <a:bodyPr wrap="square" lIns="0" tIns="0" rIns="0" bIns="0" rtlCol="0" anchor="ctr"/>
          <a:lstStyle/>
          <a:p>
            <a:pPr marL="0" indent="0">
              <a:buNone/>
            </a:pPr>
            <a:r>
              <a:rPr lang="en-US" sz="1400" b="1" dirty="0" err="1">
                <a:solidFill>
                  <a:schemeClr val="accent1"/>
                </a:solidFill>
              </a:rPr>
              <a:t>Merghani</a:t>
            </a:r>
            <a:r>
              <a:rPr lang="en-US" sz="1200" i="1" dirty="0">
                <a:solidFill>
                  <a:schemeClr val="tx1"/>
                </a:solidFill>
              </a:rPr>
              <a:t>  ·  Lion and cat</a:t>
            </a:r>
            <a:endParaRPr lang="en-US" sz="1400" dirty="0"/>
          </a:p>
          <a:p>
            <a:pPr marL="0" indent="0">
              <a:buNone/>
            </a:pPr>
            <a:r>
              <a:rPr lang="en-US" sz="2000" dirty="0">
                <a:solidFill>
                  <a:schemeClr val="tx1"/>
                </a:solidFill>
              </a:rPr>
              <a:t>Write one connected fable. Use capital letters and finger spaces. End with one moral.</a:t>
            </a:r>
            <a:endParaRPr lang="en-US" sz="2400" dirty="0"/>
          </a:p>
        </p:txBody>
      </p:sp>
      <p:sp>
        <p:nvSpPr>
          <p:cNvPr id="7" name="Shape 4"/>
          <p:cNvSpPr/>
          <p:nvPr/>
        </p:nvSpPr>
        <p:spPr>
          <a:xfrm>
            <a:off x="6217920" y="109728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6355080" y="109728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NOOR</a:t>
            </a:r>
            <a:r>
              <a:rPr lang="en-US" sz="1200" i="1" dirty="0">
                <a:solidFill>
                  <a:schemeClr val="tx1"/>
                </a:solidFill>
              </a:rPr>
              <a:t>  ·  The Impatient Tiger</a:t>
            </a:r>
            <a:endParaRPr lang="en-US" sz="1400" dirty="0"/>
          </a:p>
          <a:p>
            <a:pPr marL="0" indent="0">
              <a:buNone/>
            </a:pPr>
            <a:r>
              <a:rPr lang="en-US" dirty="0">
                <a:solidFill>
                  <a:schemeClr val="tx1"/>
                </a:solidFill>
              </a:rPr>
              <a:t>Add a short moral. Punctuate speech: comma, capital letter, end mark inside. Spell Jeffrey the same way.</a:t>
            </a:r>
            <a:endParaRPr lang="en-US" sz="2000" dirty="0"/>
          </a:p>
        </p:txBody>
      </p:sp>
      <p:sp>
        <p:nvSpPr>
          <p:cNvPr id="9" name="Shape 6"/>
          <p:cNvSpPr/>
          <p:nvPr/>
        </p:nvSpPr>
        <p:spPr>
          <a:xfrm>
            <a:off x="548640" y="228600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685800" y="2286000"/>
            <a:ext cx="5166360" cy="1097280"/>
          </a:xfrm>
          <a:prstGeom prst="rect">
            <a:avLst/>
          </a:prstGeom>
          <a:noFill/>
          <a:ln/>
        </p:spPr>
        <p:txBody>
          <a:bodyPr wrap="square" lIns="0" tIns="0" rIns="0" bIns="0" rtlCol="0" anchor="ctr"/>
          <a:lstStyle/>
          <a:p>
            <a:pPr marL="0" indent="0">
              <a:buNone/>
            </a:pPr>
            <a:r>
              <a:rPr lang="en-US" sz="1400" b="1" dirty="0">
                <a:solidFill>
                  <a:schemeClr val="accent3"/>
                </a:solidFill>
              </a:rPr>
              <a:t>DANA</a:t>
            </a:r>
            <a:r>
              <a:rPr lang="en-US" sz="1200" i="1" dirty="0">
                <a:solidFill>
                  <a:schemeClr val="tx1"/>
                </a:solidFill>
              </a:rPr>
              <a:t>  ·  The lion</a:t>
            </a:r>
            <a:endParaRPr lang="en-US" sz="1400" dirty="0"/>
          </a:p>
          <a:p>
            <a:pPr marL="0" indent="0">
              <a:buNone/>
            </a:pPr>
            <a:r>
              <a:rPr lang="en-US" sz="2000" dirty="0">
                <a:solidFill>
                  <a:schemeClr val="tx1"/>
                </a:solidFill>
              </a:rPr>
              <a:t>Tell a story: what goes wrong, what the lion chooses, the result and the moral. Show the trait.</a:t>
            </a:r>
            <a:endParaRPr lang="en-US" sz="2400" dirty="0"/>
          </a:p>
        </p:txBody>
      </p:sp>
      <p:sp>
        <p:nvSpPr>
          <p:cNvPr id="11" name="Shape 8"/>
          <p:cNvSpPr/>
          <p:nvPr/>
        </p:nvSpPr>
        <p:spPr>
          <a:xfrm>
            <a:off x="6217920" y="228600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355080" y="2286000"/>
            <a:ext cx="5166360" cy="1097280"/>
          </a:xfrm>
          <a:prstGeom prst="rect">
            <a:avLst/>
          </a:prstGeom>
          <a:noFill/>
          <a:ln/>
        </p:spPr>
        <p:txBody>
          <a:bodyPr wrap="square" lIns="0" tIns="0" rIns="0" bIns="0" rtlCol="0" anchor="ctr"/>
          <a:lstStyle/>
          <a:p>
            <a:pPr marL="0" indent="0">
              <a:buNone/>
            </a:pPr>
            <a:r>
              <a:rPr lang="en-US" sz="1400" b="1" dirty="0">
                <a:solidFill>
                  <a:schemeClr val="accent3"/>
                </a:solidFill>
              </a:rPr>
              <a:t>MAI</a:t>
            </a:r>
            <a:r>
              <a:rPr lang="en-US" sz="1200" i="1" dirty="0">
                <a:solidFill>
                  <a:schemeClr val="tx1"/>
                </a:solidFill>
              </a:rPr>
              <a:t>  ·  The mean owl</a:t>
            </a:r>
            <a:endParaRPr lang="en-US" sz="1400" dirty="0"/>
          </a:p>
          <a:p>
            <a:pPr marL="0" indent="0">
              <a:buNone/>
            </a:pPr>
            <a:r>
              <a:rPr lang="en-US" dirty="0">
                <a:solidFill>
                  <a:schemeClr val="tx1"/>
                </a:solidFill>
              </a:rPr>
              <a:t>Write a moral with no “the owl”: Always be kind to others. Check its / it’s and “that were”.</a:t>
            </a:r>
            <a:endParaRPr lang="en-US" sz="2000" dirty="0"/>
          </a:p>
        </p:txBody>
      </p:sp>
      <p:sp>
        <p:nvSpPr>
          <p:cNvPr id="13" name="Shape 10"/>
          <p:cNvSpPr/>
          <p:nvPr/>
        </p:nvSpPr>
        <p:spPr>
          <a:xfrm>
            <a:off x="548640" y="347472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685800" y="3474720"/>
            <a:ext cx="5166360" cy="1097280"/>
          </a:xfrm>
          <a:prstGeom prst="rect">
            <a:avLst/>
          </a:prstGeom>
          <a:noFill/>
          <a:ln/>
        </p:spPr>
        <p:txBody>
          <a:bodyPr wrap="square" lIns="0" tIns="0" rIns="0" bIns="0" rtlCol="0" anchor="ctr"/>
          <a:lstStyle/>
          <a:p>
            <a:pPr marL="0" indent="0">
              <a:buNone/>
            </a:pPr>
            <a:r>
              <a:rPr lang="en-US" sz="1400" b="1" dirty="0">
                <a:solidFill>
                  <a:schemeClr val="tx1"/>
                </a:solidFill>
              </a:rPr>
              <a:t>DOAA</a:t>
            </a:r>
            <a:r>
              <a:rPr lang="en-US" sz="1200" i="1" dirty="0">
                <a:solidFill>
                  <a:schemeClr val="tx1"/>
                </a:solidFill>
              </a:rPr>
              <a:t>  ·  Sunny the squirrel</a:t>
            </a:r>
            <a:endParaRPr lang="en-US" sz="1400" dirty="0"/>
          </a:p>
          <a:p>
            <a:pPr marL="0" indent="0">
              <a:buNone/>
            </a:pPr>
            <a:r>
              <a:rPr lang="en-US" sz="2000" dirty="0">
                <a:solidFill>
                  <a:schemeClr val="tx1"/>
                </a:solidFill>
              </a:rPr>
              <a:t>Fill in the Title, Character and Trait boxes. Keep your strong ideas and read your fable aloud.</a:t>
            </a:r>
            <a:endParaRPr lang="en-US" sz="2400" dirty="0"/>
          </a:p>
        </p:txBody>
      </p:sp>
      <p:sp>
        <p:nvSpPr>
          <p:cNvPr id="15" name="Shape 12"/>
          <p:cNvSpPr/>
          <p:nvPr/>
        </p:nvSpPr>
        <p:spPr>
          <a:xfrm>
            <a:off x="6217920" y="347472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6355080" y="3474720"/>
            <a:ext cx="5166360" cy="1097280"/>
          </a:xfrm>
          <a:prstGeom prst="rect">
            <a:avLst/>
          </a:prstGeom>
          <a:noFill/>
          <a:ln/>
        </p:spPr>
        <p:txBody>
          <a:bodyPr wrap="square" lIns="0" tIns="0" rIns="0" bIns="0" rtlCol="0" anchor="ctr"/>
          <a:lstStyle/>
          <a:p>
            <a:pPr marL="0" indent="0">
              <a:buNone/>
            </a:pPr>
            <a:r>
              <a:rPr lang="en-US" sz="1400" b="1" dirty="0">
                <a:solidFill>
                  <a:schemeClr val="tx1"/>
                </a:solidFill>
              </a:rPr>
              <a:t>JOUD</a:t>
            </a:r>
            <a:r>
              <a:rPr lang="en-US" sz="1200" i="1" dirty="0">
                <a:solidFill>
                  <a:schemeClr val="tx1"/>
                </a:solidFill>
              </a:rPr>
              <a:t>  ·  The lazy koala</a:t>
            </a:r>
            <a:endParaRPr lang="en-US" sz="1400" dirty="0"/>
          </a:p>
          <a:p>
            <a:pPr marL="0" indent="0">
              <a:buNone/>
            </a:pPr>
            <a:r>
              <a:rPr lang="en-US" sz="1300" dirty="0">
                <a:solidFill>
                  <a:schemeClr val="tx1"/>
                </a:solidFill>
              </a:rPr>
              <a:t>Check spelling: prepare, decided. Add one clear sentence: She realised… Check verbs: didn’t find.</a:t>
            </a:r>
            <a:endParaRPr lang="en-US" sz="1400" dirty="0"/>
          </a:p>
        </p:txBody>
      </p:sp>
      <p:sp>
        <p:nvSpPr>
          <p:cNvPr id="17" name="Shape 14"/>
          <p:cNvSpPr/>
          <p:nvPr/>
        </p:nvSpPr>
        <p:spPr>
          <a:xfrm>
            <a:off x="548640" y="4663440"/>
            <a:ext cx="5440680" cy="109728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4663440"/>
            <a:ext cx="5166360" cy="1097280"/>
          </a:xfrm>
          <a:prstGeom prst="rect">
            <a:avLst/>
          </a:prstGeom>
          <a:noFill/>
          <a:ln/>
        </p:spPr>
        <p:txBody>
          <a:bodyPr wrap="square" lIns="0" tIns="0" rIns="0" bIns="0" rtlCol="0" anchor="ctr"/>
          <a:lstStyle/>
          <a:p>
            <a:pPr marL="0" indent="0">
              <a:buNone/>
            </a:pPr>
            <a:r>
              <a:rPr lang="en-US" sz="1400" b="1" dirty="0">
                <a:solidFill>
                  <a:schemeClr val="accent1"/>
                </a:solidFill>
              </a:rPr>
              <a:t>JOUD AL-FATIH</a:t>
            </a:r>
            <a:r>
              <a:rPr lang="en-US" sz="1200" i="1" dirty="0">
                <a:solidFill>
                  <a:schemeClr val="tx1"/>
                </a:solidFill>
              </a:rPr>
              <a:t>  ·  The mean dog</a:t>
            </a:r>
            <a:endParaRPr lang="en-US" sz="1400" dirty="0"/>
          </a:p>
          <a:p>
            <a:pPr marL="0" indent="0">
              <a:buNone/>
            </a:pPr>
            <a:r>
              <a:rPr lang="en-US" dirty="0">
                <a:solidFill>
                  <a:schemeClr val="tx1"/>
                </a:solidFill>
              </a:rPr>
              <a:t>Write the word Moral with a colon, then your moral. Check commas around your speech.</a:t>
            </a:r>
            <a:endParaRPr lang="en-US" sz="2000" dirty="0"/>
          </a:p>
        </p:txBody>
      </p:sp>
      <p:sp>
        <p:nvSpPr>
          <p:cNvPr id="19" name="Shape 16"/>
          <p:cNvSpPr/>
          <p:nvPr/>
        </p:nvSpPr>
        <p:spPr>
          <a:xfrm>
            <a:off x="6217920" y="3749040"/>
            <a:ext cx="5440680" cy="1097280"/>
          </a:xfrm>
          <a:prstGeom prst="rect">
            <a:avLst/>
          </a:prstGeom>
          <a:solidFill>
            <a:schemeClr val="tx1"/>
          </a:solidFill>
          <a:ln/>
        </p:spPr>
      </p:sp>
      <p:sp>
        <p:nvSpPr>
          <p:cNvPr id="20" name="Text 17"/>
          <p:cNvSpPr txBox="1"/>
          <p:nvPr/>
        </p:nvSpPr>
        <p:spPr>
          <a:xfrm>
            <a:off x="6355080" y="3749040"/>
            <a:ext cx="5166360" cy="1097280"/>
          </a:xfrm>
          <a:prstGeom prst="rect">
            <a:avLst/>
          </a:prstGeom>
          <a:noFill/>
          <a:ln/>
        </p:spPr>
        <p:txBody>
          <a:bodyPr wrap="square" lIns="0" tIns="0" rIns="0" bIns="0" rtlCol="0" anchor="ctr"/>
          <a:lstStyle/>
          <a:p>
            <a:pPr marL="0" indent="0">
              <a:buNone/>
            </a:pPr>
            <a:r>
              <a:rPr lang="en-US" sz="2400" dirty="0">
                <a:solidFill>
                  <a:schemeClr val="bg1"/>
                </a:solidFill>
              </a:rPr>
              <a:t>Your target is a goal, not a mistake.                    Even strong writers have one.</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Check your fable: checklist and class targets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SELF-CHECK</a:t>
            </a:r>
            <a:endParaRPr lang="en-US" sz="1100" dirty="0"/>
          </a:p>
        </p:txBody>
      </p:sp>
      <p:sp>
        <p:nvSpPr>
          <p:cNvPr id="5" name="Card HOMEWORK CHECKLIST: MY FABLE…"/>
          <p:cNvSpPr/>
          <p:nvPr/>
        </p:nvSpPr>
        <p:spPr>
          <a:xfrm>
            <a:off x="548640" y="1097280"/>
            <a:ext cx="5577840" cy="44805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577840" cy="502920"/>
          </a:xfrm>
          <a:prstGeom prst="rect">
            <a:avLst/>
          </a:prstGeom>
          <a:solidFill>
            <a:schemeClr val="accent1"/>
          </a:solidFill>
          <a:ln/>
        </p:spPr>
      </p:sp>
      <p:sp>
        <p:nvSpPr>
          <p:cNvPr id="7" name="Text 4"/>
          <p:cNvSpPr txBox="1"/>
          <p:nvPr/>
        </p:nvSpPr>
        <p:spPr>
          <a:xfrm>
            <a:off x="676656" y="1097280"/>
            <a:ext cx="5394960" cy="502920"/>
          </a:xfrm>
          <a:prstGeom prst="rect">
            <a:avLst/>
          </a:prstGeom>
          <a:noFill/>
          <a:ln/>
        </p:spPr>
        <p:txBody>
          <a:bodyPr wrap="square" lIns="0" tIns="0" rIns="0" bIns="0" rtlCol="0" anchor="ctr"/>
          <a:lstStyle/>
          <a:p>
            <a:pPr marL="0" indent="0">
              <a:buNone/>
            </a:pPr>
            <a:r>
              <a:rPr lang="en-US" sz="1400" b="1" dirty="0">
                <a:solidFill>
                  <a:schemeClr val="bg1"/>
                </a:solidFill>
              </a:rPr>
              <a:t>HOMEWORK CHECKLIST: MY FABLE…</a:t>
            </a:r>
            <a:endParaRPr lang="en-US" sz="1400" dirty="0"/>
          </a:p>
        </p:txBody>
      </p:sp>
      <p:sp>
        <p:nvSpPr>
          <p:cNvPr id="8" name="Text 5"/>
          <p:cNvSpPr txBox="1"/>
          <p:nvPr/>
        </p:nvSpPr>
        <p:spPr>
          <a:xfrm>
            <a:off x="658368" y="1673352"/>
            <a:ext cx="5358384" cy="3831336"/>
          </a:xfrm>
          <a:prstGeom prst="rect">
            <a:avLst/>
          </a:prstGeom>
          <a:noFill/>
          <a:ln/>
        </p:spPr>
        <p:txBody>
          <a:bodyPr wrap="square" lIns="508" tIns="508" rIns="508" bIns="508" rtlCol="0" anchor="t"/>
          <a:lstStyle/>
          <a:p>
            <a:pPr marL="0" indent="0" algn="l">
              <a:spcAft>
                <a:spcPts val="1000"/>
              </a:spcAft>
              <a:buNone/>
            </a:pPr>
            <a:r>
              <a:rPr lang="en-US" sz="1600" dirty="0">
                <a:solidFill>
                  <a:schemeClr val="tx1"/>
                </a:solidFill>
              </a:rPr>
              <a:t>☐  has Paragraphs 1 to 4 in order, in one fable</a:t>
            </a:r>
            <a:endParaRPr lang="en-US" sz="1600" dirty="0"/>
          </a:p>
          <a:p>
            <a:pPr marL="0" indent="0" algn="l">
              <a:spcAft>
                <a:spcPts val="1000"/>
              </a:spcAft>
              <a:buNone/>
            </a:pPr>
            <a:r>
              <a:rPr lang="en-US" sz="1600" dirty="0">
                <a:solidFill>
                  <a:schemeClr val="tx1"/>
                </a:solidFill>
              </a:rPr>
              <a:t>☐  has a change and I improved my weakest paragraph</a:t>
            </a:r>
            <a:endParaRPr lang="en-US" sz="1600" dirty="0"/>
          </a:p>
          <a:p>
            <a:pPr marL="0" indent="0" algn="l">
              <a:spcAft>
                <a:spcPts val="1000"/>
              </a:spcAft>
              <a:buNone/>
            </a:pPr>
            <a:r>
              <a:rPr lang="en-US" sz="1600" dirty="0">
                <a:solidFill>
                  <a:schemeClr val="tx1"/>
                </a:solidFill>
              </a:rPr>
              <a:t>☐  has a result that happens because of my choice</a:t>
            </a:r>
            <a:endParaRPr lang="en-US" sz="1600" dirty="0"/>
          </a:p>
          <a:p>
            <a:pPr marL="0" indent="0" algn="l">
              <a:spcAft>
                <a:spcPts val="1000"/>
              </a:spcAft>
              <a:buNone/>
            </a:pPr>
            <a:r>
              <a:rPr lang="en-US" sz="1600" dirty="0">
                <a:solidFill>
                  <a:schemeClr val="tx1"/>
                </a:solidFill>
              </a:rPr>
              <a:t>☐  has a moral that fits my story and has no names</a:t>
            </a:r>
            <a:endParaRPr lang="en-US" sz="1600" dirty="0"/>
          </a:p>
          <a:p>
            <a:pPr marL="0" indent="0" algn="l">
              <a:spcAft>
                <a:spcPts val="1000"/>
              </a:spcAft>
              <a:buNone/>
            </a:pPr>
            <a:r>
              <a:rPr lang="en-US" sz="1600" dirty="0">
                <a:solidFill>
                  <a:schemeClr val="tx1"/>
                </a:solidFill>
              </a:rPr>
              <a:t>☐  has speech that is punctuated correctly</a:t>
            </a:r>
            <a:endParaRPr lang="en-US" sz="1600" dirty="0"/>
          </a:p>
        </p:txBody>
      </p:sp>
      <p:sp>
        <p:nvSpPr>
          <p:cNvPr id="9" name="Card CLASS TARGETS: MY FABLE…"/>
          <p:cNvSpPr/>
          <p:nvPr/>
        </p:nvSpPr>
        <p:spPr>
          <a:xfrm>
            <a:off x="6355080" y="1097280"/>
            <a:ext cx="5303520" cy="44805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355080" y="1097280"/>
            <a:ext cx="5303520" cy="502920"/>
          </a:xfrm>
          <a:prstGeom prst="rect">
            <a:avLst/>
          </a:prstGeom>
          <a:solidFill>
            <a:schemeClr val="accent3"/>
          </a:solidFill>
          <a:ln/>
        </p:spPr>
      </p:sp>
      <p:sp>
        <p:nvSpPr>
          <p:cNvPr id="11" name="Text 8"/>
          <p:cNvSpPr txBox="1"/>
          <p:nvPr/>
        </p:nvSpPr>
        <p:spPr>
          <a:xfrm>
            <a:off x="6483096" y="1097280"/>
            <a:ext cx="5120640" cy="502920"/>
          </a:xfrm>
          <a:prstGeom prst="rect">
            <a:avLst/>
          </a:prstGeom>
          <a:noFill/>
          <a:ln/>
        </p:spPr>
        <p:txBody>
          <a:bodyPr wrap="square" lIns="0" tIns="0" rIns="0" bIns="0" rtlCol="0" anchor="ctr"/>
          <a:lstStyle/>
          <a:p>
            <a:pPr marL="0" indent="0">
              <a:buNone/>
            </a:pPr>
            <a:r>
              <a:rPr lang="en-US" sz="1400" b="1" dirty="0">
                <a:solidFill>
                  <a:schemeClr val="bg1"/>
                </a:solidFill>
              </a:rPr>
              <a:t>CLASS TARGETS: MY FABLE…</a:t>
            </a:r>
            <a:endParaRPr lang="en-US" sz="1400" dirty="0"/>
          </a:p>
        </p:txBody>
      </p:sp>
      <p:sp>
        <p:nvSpPr>
          <p:cNvPr id="12" name="Text 9"/>
          <p:cNvSpPr txBox="1"/>
          <p:nvPr/>
        </p:nvSpPr>
        <p:spPr>
          <a:xfrm>
            <a:off x="6464808" y="1673352"/>
            <a:ext cx="5084064" cy="3831336"/>
          </a:xfrm>
          <a:prstGeom prst="rect">
            <a:avLst/>
          </a:prstGeom>
          <a:noFill/>
          <a:ln/>
        </p:spPr>
        <p:txBody>
          <a:bodyPr wrap="square" lIns="508" tIns="508" rIns="508" bIns="508" rtlCol="0" anchor="t"/>
          <a:lstStyle/>
          <a:p>
            <a:pPr marL="0" indent="0" algn="l">
              <a:spcAft>
                <a:spcPts val="1000"/>
              </a:spcAft>
              <a:buNone/>
            </a:pPr>
            <a:r>
              <a:rPr lang="en-US" sz="1600" dirty="0">
                <a:solidFill>
                  <a:schemeClr val="tx1"/>
                </a:solidFill>
              </a:rPr>
              <a:t>☐  is one story, with one trait</a:t>
            </a:r>
            <a:endParaRPr lang="en-US" sz="1600" dirty="0"/>
          </a:p>
          <a:p>
            <a:pPr marL="0" indent="0" algn="l">
              <a:spcAft>
                <a:spcPts val="1000"/>
              </a:spcAft>
              <a:buNone/>
            </a:pPr>
            <a:r>
              <a:rPr lang="en-US" sz="1600" dirty="0">
                <a:solidFill>
                  <a:schemeClr val="tx1"/>
                </a:solidFill>
              </a:rPr>
              <a:t>☐  uses because + a comma for the result</a:t>
            </a:r>
            <a:endParaRPr lang="en-US" sz="1600" dirty="0"/>
          </a:p>
          <a:p>
            <a:pPr marL="0" indent="0" algn="l">
              <a:spcAft>
                <a:spcPts val="1000"/>
              </a:spcAft>
              <a:buNone/>
            </a:pPr>
            <a:r>
              <a:rPr lang="en-US" sz="1600" dirty="0">
                <a:solidFill>
                  <a:schemeClr val="tx1"/>
                </a:solidFill>
              </a:rPr>
              <a:t>☐  has a general moral at the end</a:t>
            </a:r>
            <a:endParaRPr lang="en-US" sz="1600" dirty="0"/>
          </a:p>
          <a:p>
            <a:pPr marL="0" indent="0" algn="l">
              <a:spcAft>
                <a:spcPts val="1000"/>
              </a:spcAft>
              <a:buNone/>
            </a:pPr>
            <a:r>
              <a:rPr lang="en-US" sz="1600" dirty="0">
                <a:solidFill>
                  <a:schemeClr val="tx1"/>
                </a:solidFill>
              </a:rPr>
              <a:t>☐  has verbs that agree and match the tense</a:t>
            </a:r>
            <a:endParaRPr lang="en-US" sz="1600" dirty="0"/>
          </a:p>
          <a:p>
            <a:pPr marL="0" indent="0" algn="l">
              <a:spcAft>
                <a:spcPts val="1000"/>
              </a:spcAft>
              <a:buNone/>
            </a:pPr>
            <a:r>
              <a:rPr lang="en-US" sz="1600" dirty="0">
                <a:solidFill>
                  <a:schemeClr val="tx1"/>
                </a:solidFill>
              </a:rPr>
              <a:t>☐  has checked spelling, capitals and spaces</a:t>
            </a:r>
            <a:endParaRPr lang="en-US" sz="1600" dirty="0"/>
          </a:p>
        </p:txBody>
      </p:sp>
      <p:sp>
        <p:nvSpPr>
          <p:cNvPr id="13" name="Text 10"/>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700" dirty="0">
                <a:solidFill>
                  <a:schemeClr val="bg1"/>
                </a:solidFill>
              </a:rPr>
              <a:t>✅ I have done it     ⚠️ I am not sure     ❌ Not yet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1: check your own fable</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SELF-CHECK</a:t>
            </a:r>
            <a:endParaRPr lang="en-US" sz="1100" dirty="0"/>
          </a:p>
        </p:txBody>
      </p:sp>
      <p:sp>
        <p:nvSpPr>
          <p:cNvPr id="5" name="Shape 2"/>
          <p:cNvSpPr/>
          <p:nvPr/>
        </p:nvSpPr>
        <p:spPr>
          <a:xfrm>
            <a:off x="548640" y="109728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243584"/>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45920" y="1097280"/>
            <a:ext cx="1737360" cy="868680"/>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READ</a:t>
            </a:r>
            <a:endParaRPr lang="en-US" sz="1800" dirty="0"/>
          </a:p>
        </p:txBody>
      </p:sp>
      <p:sp>
        <p:nvSpPr>
          <p:cNvPr id="8" name="Text 5"/>
          <p:cNvSpPr txBox="1"/>
          <p:nvPr/>
        </p:nvSpPr>
        <p:spPr>
          <a:xfrm>
            <a:off x="2521009" y="1097280"/>
            <a:ext cx="9000431" cy="868680"/>
          </a:xfrm>
          <a:prstGeom prst="rect">
            <a:avLst/>
          </a:prstGeom>
          <a:noFill/>
          <a:ln/>
        </p:spPr>
        <p:txBody>
          <a:bodyPr wrap="square" lIns="0" tIns="0" rIns="0" bIns="0" rtlCol="0" anchor="ctr"/>
          <a:lstStyle/>
          <a:p>
            <a:pPr marL="0" indent="0">
              <a:buNone/>
            </a:pPr>
            <a:r>
              <a:rPr lang="en-US" sz="2400" dirty="0">
                <a:solidFill>
                  <a:schemeClr val="tx1"/>
                </a:solidFill>
              </a:rPr>
              <a:t>Read your whole fable quietly. Does it make sense? Touch each word.</a:t>
            </a:r>
            <a:endParaRPr lang="en-US" sz="2400" dirty="0"/>
          </a:p>
        </p:txBody>
      </p:sp>
      <p:sp>
        <p:nvSpPr>
          <p:cNvPr id="9" name="Shape 6"/>
          <p:cNvSpPr/>
          <p:nvPr/>
        </p:nvSpPr>
        <p:spPr>
          <a:xfrm>
            <a:off x="548640" y="210312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249424"/>
            <a:ext cx="566928" cy="56692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45920" y="2103120"/>
            <a:ext cx="1737360" cy="86868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MARK</a:t>
            </a:r>
            <a:endParaRPr lang="en-US" sz="1800" dirty="0"/>
          </a:p>
        </p:txBody>
      </p:sp>
      <p:sp>
        <p:nvSpPr>
          <p:cNvPr id="12" name="Text 9"/>
          <p:cNvSpPr txBox="1"/>
          <p:nvPr/>
        </p:nvSpPr>
        <p:spPr>
          <a:xfrm>
            <a:off x="2862841" y="2103120"/>
            <a:ext cx="8658599" cy="868680"/>
          </a:xfrm>
          <a:prstGeom prst="rect">
            <a:avLst/>
          </a:prstGeom>
          <a:noFill/>
          <a:ln/>
        </p:spPr>
        <p:txBody>
          <a:bodyPr wrap="square" lIns="0" tIns="0" rIns="0" bIns="0" rtlCol="0" anchor="ctr"/>
          <a:lstStyle/>
          <a:p>
            <a:pPr marL="0" indent="0">
              <a:buNone/>
            </a:pPr>
            <a:r>
              <a:rPr lang="en-US" sz="2000" dirty="0">
                <a:solidFill>
                  <a:schemeClr val="tx1"/>
                </a:solidFill>
              </a:rPr>
              <a:t>Underline your link word. Circle any names in your moral. Highlight your speech.</a:t>
            </a:r>
            <a:endParaRPr lang="en-US" sz="2000" dirty="0"/>
          </a:p>
        </p:txBody>
      </p:sp>
      <p:sp>
        <p:nvSpPr>
          <p:cNvPr id="13" name="Shape 10"/>
          <p:cNvSpPr/>
          <p:nvPr/>
        </p:nvSpPr>
        <p:spPr>
          <a:xfrm>
            <a:off x="548640" y="310896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255264"/>
            <a:ext cx="566928" cy="566928"/>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45920" y="3108960"/>
            <a:ext cx="1737360" cy="86868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TICK</a:t>
            </a:r>
            <a:endParaRPr lang="en-US" sz="1800" dirty="0"/>
          </a:p>
        </p:txBody>
      </p:sp>
      <p:sp>
        <p:nvSpPr>
          <p:cNvPr id="16" name="Text 13"/>
          <p:cNvSpPr txBox="1"/>
          <p:nvPr/>
        </p:nvSpPr>
        <p:spPr>
          <a:xfrm>
            <a:off x="3474720" y="3108960"/>
            <a:ext cx="8046720" cy="868680"/>
          </a:xfrm>
          <a:prstGeom prst="rect">
            <a:avLst/>
          </a:prstGeom>
          <a:noFill/>
          <a:ln/>
        </p:spPr>
        <p:txBody>
          <a:bodyPr wrap="square" lIns="0" tIns="0" rIns="0" bIns="0" rtlCol="0" anchor="ctr"/>
          <a:lstStyle/>
          <a:p>
            <a:pPr marL="0" indent="0">
              <a:buNone/>
            </a:pPr>
            <a:r>
              <a:rPr lang="en-US" sz="1800" dirty="0">
                <a:solidFill>
                  <a:schemeClr val="tx1"/>
                </a:solidFill>
              </a:rPr>
              <a:t>Check each box: ✅ ⚠️ ❌. Find evidence for every tick.</a:t>
            </a:r>
            <a:endParaRPr lang="en-US" sz="1800" dirty="0"/>
          </a:p>
        </p:txBody>
      </p:sp>
      <p:sp>
        <p:nvSpPr>
          <p:cNvPr id="17" name="Shape 14"/>
          <p:cNvSpPr/>
          <p:nvPr/>
        </p:nvSpPr>
        <p:spPr>
          <a:xfrm>
            <a:off x="548640" y="411480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261104"/>
            <a:ext cx="566928" cy="566928"/>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45920" y="4114800"/>
            <a:ext cx="1737360" cy="8686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TARGET</a:t>
            </a:r>
            <a:endParaRPr lang="en-US" sz="1800" dirty="0"/>
          </a:p>
        </p:txBody>
      </p:sp>
      <p:sp>
        <p:nvSpPr>
          <p:cNvPr id="20" name="Text 17"/>
          <p:cNvSpPr txBox="1"/>
          <p:nvPr/>
        </p:nvSpPr>
        <p:spPr>
          <a:xfrm>
            <a:off x="3474720" y="4114800"/>
            <a:ext cx="8046720" cy="868680"/>
          </a:xfrm>
          <a:prstGeom prst="rect">
            <a:avLst/>
          </a:prstGeom>
          <a:noFill/>
          <a:ln/>
        </p:spPr>
        <p:txBody>
          <a:bodyPr wrap="square" lIns="0" tIns="0" rIns="0" bIns="0" rtlCol="0" anchor="ctr"/>
          <a:lstStyle/>
          <a:p>
            <a:pPr marL="0" indent="0">
              <a:buNone/>
            </a:pPr>
            <a:r>
              <a:rPr lang="en-US" sz="1800" dirty="0">
                <a:solidFill>
                  <a:schemeClr val="tx1"/>
                </a:solidFill>
              </a:rPr>
              <a:t>Choose ONE ⚠️ or ❌ (start with your own target). Write at the top: “My target is…”</a:t>
            </a:r>
            <a:endParaRPr lang="en-US" sz="1800" dirty="0"/>
          </a:p>
        </p:txBody>
      </p:sp>
      <p:sp>
        <p:nvSpPr>
          <p:cNvPr id="21" name="Text 18"/>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Be honest: your target helps you improve.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2: partner feedback</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PARTNER</a:t>
            </a:r>
            <a:endParaRPr lang="en-US" sz="1100" dirty="0"/>
          </a:p>
        </p:txBody>
      </p:sp>
      <p:sp>
        <p:nvSpPr>
          <p:cNvPr id="5" name="Shape 2"/>
          <p:cNvSpPr/>
          <p:nvPr/>
        </p:nvSpPr>
        <p:spPr>
          <a:xfrm>
            <a:off x="548640" y="109728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243584"/>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45920" y="1097280"/>
            <a:ext cx="1737360" cy="868680"/>
          </a:xfrm>
          <a:prstGeom prst="rect">
            <a:avLst/>
          </a:prstGeom>
          <a:noFill/>
          <a:ln/>
        </p:spPr>
        <p:txBody>
          <a:bodyPr wrap="square" lIns="0" tIns="0" rIns="0" bIns="0" rtlCol="0" anchor="ctr"/>
          <a:lstStyle/>
          <a:p>
            <a:pPr marL="0" indent="0">
              <a:buNone/>
            </a:pPr>
            <a:r>
              <a:rPr lang="en-US" sz="1800" b="1" dirty="0">
                <a:solidFill>
                  <a:schemeClr val="accent1"/>
                </a:solidFill>
                <a:latin typeface="+mj-lt" pitchFamily="34" charset="0"/>
                <a:ea typeface="+mj-lt" pitchFamily="34" charset="-122"/>
                <a:cs typeface="+mj-lt" pitchFamily="34" charset="-120"/>
              </a:rPr>
              <a:t>SWAP</a:t>
            </a:r>
            <a:endParaRPr lang="en-US" sz="1800" dirty="0"/>
          </a:p>
        </p:txBody>
      </p:sp>
      <p:sp>
        <p:nvSpPr>
          <p:cNvPr id="8" name="Text 5"/>
          <p:cNvSpPr txBox="1"/>
          <p:nvPr/>
        </p:nvSpPr>
        <p:spPr>
          <a:xfrm>
            <a:off x="3474720" y="1097280"/>
            <a:ext cx="8046720" cy="868680"/>
          </a:xfrm>
          <a:prstGeom prst="rect">
            <a:avLst/>
          </a:prstGeom>
          <a:noFill/>
          <a:ln/>
        </p:spPr>
        <p:txBody>
          <a:bodyPr wrap="square" lIns="0" tIns="0" rIns="0" bIns="0" rtlCol="0" anchor="ctr"/>
          <a:lstStyle/>
          <a:p>
            <a:pPr marL="0" indent="0">
              <a:buNone/>
            </a:pPr>
            <a:r>
              <a:rPr lang="en-US" sz="2400" dirty="0">
                <a:solidFill>
                  <a:schemeClr val="tx1"/>
                </a:solidFill>
              </a:rPr>
              <a:t>Swap fables. Read your partner’s fable all the way through.</a:t>
            </a:r>
            <a:endParaRPr lang="en-US" sz="2400" dirty="0"/>
          </a:p>
        </p:txBody>
      </p:sp>
      <p:sp>
        <p:nvSpPr>
          <p:cNvPr id="9" name="Shape 6"/>
          <p:cNvSpPr/>
          <p:nvPr/>
        </p:nvSpPr>
        <p:spPr>
          <a:xfrm>
            <a:off x="548640" y="210312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249424"/>
            <a:ext cx="566928" cy="56692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45920" y="2103120"/>
            <a:ext cx="1737360" cy="86868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FIND</a:t>
            </a:r>
            <a:endParaRPr lang="en-US" sz="1800" dirty="0"/>
          </a:p>
        </p:txBody>
      </p:sp>
      <p:sp>
        <p:nvSpPr>
          <p:cNvPr id="12" name="Text 9"/>
          <p:cNvSpPr txBox="1"/>
          <p:nvPr/>
        </p:nvSpPr>
        <p:spPr>
          <a:xfrm>
            <a:off x="3474720" y="2103120"/>
            <a:ext cx="8046720" cy="868680"/>
          </a:xfrm>
          <a:prstGeom prst="rect">
            <a:avLst/>
          </a:prstGeom>
          <a:noFill/>
          <a:ln/>
        </p:spPr>
        <p:txBody>
          <a:bodyPr wrap="square" lIns="0" tIns="0" rIns="0" bIns="0" rtlCol="0" anchor="ctr"/>
          <a:lstStyle/>
          <a:p>
            <a:pPr marL="0" indent="0">
              <a:buNone/>
            </a:pPr>
            <a:r>
              <a:rPr lang="en-US" sz="2400" dirty="0">
                <a:solidFill>
                  <a:schemeClr val="tx1"/>
                </a:solidFill>
              </a:rPr>
              <a:t>Find ONE strength. Find the ONE fix that would help most                  (use the checklist).</a:t>
            </a:r>
            <a:endParaRPr lang="en-US" sz="2400" dirty="0"/>
          </a:p>
        </p:txBody>
      </p:sp>
      <p:sp>
        <p:nvSpPr>
          <p:cNvPr id="13" name="Shape 10"/>
          <p:cNvSpPr/>
          <p:nvPr/>
        </p:nvSpPr>
        <p:spPr>
          <a:xfrm>
            <a:off x="548640" y="310896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255264"/>
            <a:ext cx="566928" cy="566928"/>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45920" y="3108960"/>
            <a:ext cx="1737360" cy="868680"/>
          </a:xfrm>
          <a:prstGeom prst="rect">
            <a:avLst/>
          </a:prstGeom>
          <a:noFill/>
          <a:ln/>
        </p:spPr>
        <p:txBody>
          <a:bodyPr wrap="square" lIns="0" tIns="0" rIns="0" bIns="0" rtlCol="0" anchor="ctr"/>
          <a:lstStyle/>
          <a:p>
            <a:pPr marL="0" indent="0">
              <a:buNone/>
            </a:pPr>
            <a:r>
              <a:rPr lang="en-US" sz="1800" b="1" dirty="0">
                <a:solidFill>
                  <a:schemeClr val="accent3"/>
                </a:solidFill>
                <a:latin typeface="+mj-lt" pitchFamily="34" charset="0"/>
                <a:ea typeface="+mj-lt" pitchFamily="34" charset="-122"/>
                <a:cs typeface="+mj-lt" pitchFamily="34" charset="-120"/>
              </a:rPr>
              <a:t>TALK</a:t>
            </a:r>
            <a:endParaRPr lang="en-US" sz="1800" dirty="0"/>
          </a:p>
        </p:txBody>
      </p:sp>
      <p:sp>
        <p:nvSpPr>
          <p:cNvPr id="16" name="Text 13"/>
          <p:cNvSpPr txBox="1"/>
          <p:nvPr/>
        </p:nvSpPr>
        <p:spPr>
          <a:xfrm>
            <a:off x="3474720" y="3108960"/>
            <a:ext cx="8046720" cy="868680"/>
          </a:xfrm>
          <a:prstGeom prst="rect">
            <a:avLst/>
          </a:prstGeom>
          <a:noFill/>
          <a:ln/>
        </p:spPr>
        <p:txBody>
          <a:bodyPr wrap="square" lIns="0" tIns="0" rIns="0" bIns="0" rtlCol="0" anchor="ctr"/>
          <a:lstStyle/>
          <a:p>
            <a:pPr marL="0" indent="0">
              <a:buNone/>
            </a:pPr>
            <a:r>
              <a:rPr lang="en-US" sz="2400" dirty="0">
                <a:solidFill>
                  <a:schemeClr val="tx1"/>
                </a:solidFill>
              </a:rPr>
              <a:t>Say both out loud. Quote their words. Be kind and specific.</a:t>
            </a:r>
            <a:endParaRPr lang="en-US" sz="2400" dirty="0"/>
          </a:p>
        </p:txBody>
      </p:sp>
      <p:sp>
        <p:nvSpPr>
          <p:cNvPr id="17" name="Shape 14"/>
          <p:cNvSpPr/>
          <p:nvPr/>
        </p:nvSpPr>
        <p:spPr>
          <a:xfrm>
            <a:off x="548640" y="4114800"/>
            <a:ext cx="11094415" cy="86868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261104"/>
            <a:ext cx="566928" cy="566928"/>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45920" y="4114800"/>
            <a:ext cx="1737360" cy="868680"/>
          </a:xfrm>
          <a:prstGeom prst="rect">
            <a:avLst/>
          </a:prstGeom>
          <a:noFill/>
          <a:ln/>
        </p:spPr>
        <p:txBody>
          <a:bodyPr wrap="square" lIns="0" tIns="0" rIns="0" bIns="0" rtlCol="0" anchor="ctr"/>
          <a:lstStyle/>
          <a:p>
            <a:pPr marL="0" indent="0">
              <a:buNone/>
            </a:pPr>
            <a:r>
              <a:rPr lang="en-US" sz="1800" b="1" dirty="0">
                <a:solidFill>
                  <a:schemeClr val="tx1"/>
                </a:solidFill>
                <a:latin typeface="+mj-lt" pitchFamily="34" charset="0"/>
                <a:ea typeface="+mj-lt" pitchFamily="34" charset="-122"/>
                <a:cs typeface="+mj-lt" pitchFamily="34" charset="-120"/>
              </a:rPr>
              <a:t>WRITE</a:t>
            </a:r>
            <a:endParaRPr lang="en-US" sz="1800" dirty="0"/>
          </a:p>
        </p:txBody>
      </p:sp>
      <p:sp>
        <p:nvSpPr>
          <p:cNvPr id="20" name="Text 17"/>
          <p:cNvSpPr txBox="1"/>
          <p:nvPr/>
        </p:nvSpPr>
        <p:spPr>
          <a:xfrm>
            <a:off x="3474720" y="4114800"/>
            <a:ext cx="8046720" cy="868680"/>
          </a:xfrm>
          <a:prstGeom prst="rect">
            <a:avLst/>
          </a:prstGeom>
          <a:noFill/>
          <a:ln/>
        </p:spPr>
        <p:txBody>
          <a:bodyPr wrap="square" lIns="0" tIns="0" rIns="0" bIns="0" rtlCol="0" anchor="ctr"/>
          <a:lstStyle/>
          <a:p>
            <a:pPr marL="0" indent="0">
              <a:buNone/>
            </a:pPr>
            <a:r>
              <a:rPr lang="en-US" sz="2800" dirty="0">
                <a:solidFill>
                  <a:schemeClr val="tx1"/>
                </a:solidFill>
              </a:rPr>
              <a:t>Write them on the feedback slip. Say thank you.</a:t>
            </a:r>
            <a:endParaRPr lang="en-US" sz="2800" dirty="0"/>
          </a:p>
        </p:txBody>
      </p:sp>
      <p:sp>
        <p:nvSpPr>
          <p:cNvPr id="21" name="Text 18"/>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KIND · SPECIFIC · HELPFUL:  one strength + one improvement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Our feedback slip</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PARTNER</a:t>
            </a:r>
            <a:endParaRPr lang="en-US" sz="1100" dirty="0"/>
          </a:p>
        </p:txBody>
      </p:sp>
      <p:sp>
        <p:nvSpPr>
          <p:cNvPr id="5" name="Shape 2"/>
          <p:cNvSpPr/>
          <p:nvPr/>
        </p:nvSpPr>
        <p:spPr>
          <a:xfrm>
            <a:off x="548640" y="1097280"/>
            <a:ext cx="11094415" cy="64008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097280"/>
            <a:ext cx="10637215" cy="640080"/>
          </a:xfrm>
          <a:prstGeom prst="rect">
            <a:avLst/>
          </a:prstGeom>
          <a:noFill/>
          <a:ln/>
        </p:spPr>
        <p:txBody>
          <a:bodyPr wrap="square" lIns="0" tIns="0" rIns="0" bIns="0" rtlCol="0" anchor="ctr"/>
          <a:lstStyle/>
          <a:p>
            <a:pPr marL="0" indent="0">
              <a:buNone/>
            </a:pPr>
            <a:r>
              <a:rPr lang="en-US" sz="1800" b="1" dirty="0">
                <a:solidFill>
                  <a:schemeClr val="tx1"/>
                </a:solidFill>
              </a:rPr>
              <a:t>Writer: ____________________          Reviewer: ____________________</a:t>
            </a:r>
            <a:endParaRPr lang="en-US" sz="1800" dirty="0"/>
          </a:p>
        </p:txBody>
      </p:sp>
      <p:sp>
        <p:nvSpPr>
          <p:cNvPr id="7" name="Card ⭐  ONE STRENGTH"/>
          <p:cNvSpPr/>
          <p:nvPr/>
        </p:nvSpPr>
        <p:spPr>
          <a:xfrm>
            <a:off x="548640" y="2011680"/>
            <a:ext cx="5486400" cy="2011680"/>
          </a:xfrm>
          <a:prstGeom prst="rect">
            <a:avLst/>
          </a:prstGeom>
          <a:solidFill>
            <a:schemeClr val="bg1"/>
          </a:solidFill>
          <a:ln/>
          <a:effectLst>
            <a:outerShdw blurRad="76200" dist="25400" dir="5400000" algn="bl" rotWithShape="0">
              <a:srgbClr val="000000">
                <a:alpha val="12000"/>
              </a:srgbClr>
            </a:outerShdw>
          </a:effectLst>
        </p:spPr>
      </p:sp>
      <p:sp>
        <p:nvSpPr>
          <p:cNvPr id="8" name="Shape 5"/>
          <p:cNvSpPr/>
          <p:nvPr/>
        </p:nvSpPr>
        <p:spPr>
          <a:xfrm>
            <a:off x="548640" y="2011680"/>
            <a:ext cx="5486400" cy="502920"/>
          </a:xfrm>
          <a:prstGeom prst="rect">
            <a:avLst/>
          </a:prstGeom>
          <a:solidFill>
            <a:schemeClr val="accent1"/>
          </a:solidFill>
          <a:ln/>
        </p:spPr>
      </p:sp>
      <p:sp>
        <p:nvSpPr>
          <p:cNvPr id="9" name="Text 6"/>
          <p:cNvSpPr txBox="1"/>
          <p:nvPr/>
        </p:nvSpPr>
        <p:spPr>
          <a:xfrm>
            <a:off x="676656" y="2011680"/>
            <a:ext cx="5303520" cy="502920"/>
          </a:xfrm>
          <a:prstGeom prst="rect">
            <a:avLst/>
          </a:prstGeom>
          <a:noFill/>
          <a:ln/>
        </p:spPr>
        <p:txBody>
          <a:bodyPr wrap="square" lIns="0" tIns="0" rIns="0" bIns="0" rtlCol="0" anchor="ctr"/>
          <a:lstStyle/>
          <a:p>
            <a:pPr marL="0" indent="0">
              <a:buNone/>
            </a:pPr>
            <a:r>
              <a:rPr lang="en-US" sz="1600" b="1" dirty="0">
                <a:solidFill>
                  <a:schemeClr val="bg1"/>
                </a:solidFill>
              </a:rPr>
              <a:t>⭐  ONE STRENGTH</a:t>
            </a:r>
            <a:endParaRPr lang="en-US" sz="1600" dirty="0"/>
          </a:p>
        </p:txBody>
      </p:sp>
      <p:sp>
        <p:nvSpPr>
          <p:cNvPr id="10" name="Text 7"/>
          <p:cNvSpPr txBox="1"/>
          <p:nvPr/>
        </p:nvSpPr>
        <p:spPr>
          <a:xfrm>
            <a:off x="658368" y="2587752"/>
            <a:ext cx="5266944" cy="1362456"/>
          </a:xfrm>
          <a:prstGeom prst="rect">
            <a:avLst/>
          </a:prstGeom>
          <a:noFill/>
          <a:ln/>
        </p:spPr>
        <p:txBody>
          <a:bodyPr wrap="square" lIns="508" tIns="508" rIns="508" bIns="508" rtlCol="0" anchor="t"/>
          <a:lstStyle/>
          <a:p>
            <a:pPr marL="0" indent="0" algn="l">
              <a:buNone/>
            </a:pPr>
            <a:r>
              <a:rPr lang="en-US" sz="2400" dirty="0">
                <a:solidFill>
                  <a:schemeClr val="tx1"/>
                </a:solidFill>
              </a:rPr>
              <a:t>I like how you … because …</a:t>
            </a:r>
            <a:endParaRPr lang="en-US" sz="2400" dirty="0"/>
          </a:p>
        </p:txBody>
      </p:sp>
      <p:sp>
        <p:nvSpPr>
          <p:cNvPr id="11" name="Card 💡  ONE IMPROVEMENT"/>
          <p:cNvSpPr/>
          <p:nvPr/>
        </p:nvSpPr>
        <p:spPr>
          <a:xfrm>
            <a:off x="6172200" y="2011680"/>
            <a:ext cx="5486400" cy="2011680"/>
          </a:xfrm>
          <a:prstGeom prst="rect">
            <a:avLst/>
          </a:prstGeom>
          <a:solidFill>
            <a:schemeClr val="bg1"/>
          </a:solidFill>
          <a:ln/>
          <a:effectLst>
            <a:outerShdw blurRad="76200" dist="25400" dir="5400000" algn="bl" rotWithShape="0">
              <a:srgbClr val="000000">
                <a:alpha val="12000"/>
              </a:srgbClr>
            </a:outerShdw>
          </a:effectLst>
        </p:spPr>
      </p:sp>
      <p:sp>
        <p:nvSpPr>
          <p:cNvPr id="12" name="Shape 9"/>
          <p:cNvSpPr/>
          <p:nvPr/>
        </p:nvSpPr>
        <p:spPr>
          <a:xfrm>
            <a:off x="6172200" y="2011680"/>
            <a:ext cx="5486400" cy="502920"/>
          </a:xfrm>
          <a:prstGeom prst="rect">
            <a:avLst/>
          </a:prstGeom>
          <a:solidFill>
            <a:schemeClr val="accent2"/>
          </a:solidFill>
          <a:ln/>
        </p:spPr>
      </p:sp>
      <p:sp>
        <p:nvSpPr>
          <p:cNvPr id="13" name="Text 10"/>
          <p:cNvSpPr txBox="1"/>
          <p:nvPr/>
        </p:nvSpPr>
        <p:spPr>
          <a:xfrm>
            <a:off x="6300216" y="2011680"/>
            <a:ext cx="5303520" cy="502920"/>
          </a:xfrm>
          <a:prstGeom prst="rect">
            <a:avLst/>
          </a:prstGeom>
          <a:noFill/>
          <a:ln/>
        </p:spPr>
        <p:txBody>
          <a:bodyPr wrap="square" lIns="0" tIns="0" rIns="0" bIns="0" rtlCol="0" anchor="ctr"/>
          <a:lstStyle/>
          <a:p>
            <a:pPr marL="0" indent="0">
              <a:buNone/>
            </a:pPr>
            <a:r>
              <a:rPr lang="en-US" sz="1600" b="1" dirty="0">
                <a:solidFill>
                  <a:schemeClr val="tx1"/>
                </a:solidFill>
              </a:rPr>
              <a:t>💡  ONE IMPROVEMENT</a:t>
            </a:r>
            <a:endParaRPr lang="en-US" sz="1600" dirty="0"/>
          </a:p>
        </p:txBody>
      </p:sp>
      <p:sp>
        <p:nvSpPr>
          <p:cNvPr id="14" name="Text 11"/>
          <p:cNvSpPr txBox="1"/>
          <p:nvPr/>
        </p:nvSpPr>
        <p:spPr>
          <a:xfrm>
            <a:off x="6281928" y="2587752"/>
            <a:ext cx="5266944" cy="1362456"/>
          </a:xfrm>
          <a:prstGeom prst="rect">
            <a:avLst/>
          </a:prstGeom>
          <a:noFill/>
          <a:ln/>
        </p:spPr>
        <p:txBody>
          <a:bodyPr wrap="square" lIns="508" tIns="508" rIns="508" bIns="508" rtlCol="0" anchor="t"/>
          <a:lstStyle/>
          <a:p>
            <a:pPr marL="0" indent="0" algn="l">
              <a:buNone/>
            </a:pPr>
            <a:r>
              <a:rPr lang="en-US" sz="2400" dirty="0">
                <a:solidFill>
                  <a:schemeClr val="tx1"/>
                </a:solidFill>
              </a:rPr>
              <a:t>To make it even better, you could … (target: ___)</a:t>
            </a:r>
            <a:endParaRPr lang="en-US" sz="2400" dirty="0"/>
          </a:p>
        </p:txBody>
      </p:sp>
      <p:sp>
        <p:nvSpPr>
          <p:cNvPr id="15" name="Card SENTENCE STEMS"/>
          <p:cNvSpPr/>
          <p:nvPr/>
        </p:nvSpPr>
        <p:spPr>
          <a:xfrm>
            <a:off x="548640" y="4251960"/>
            <a:ext cx="11094415" cy="1371600"/>
          </a:xfrm>
          <a:prstGeom prst="rect">
            <a:avLst/>
          </a:prstGeom>
          <a:solidFill>
            <a:schemeClr val="bg1"/>
          </a:solidFill>
          <a:ln/>
          <a:effectLst>
            <a:outerShdw blurRad="76200" dist="25400" dir="5400000" algn="bl" rotWithShape="0">
              <a:srgbClr val="000000">
                <a:alpha val="12000"/>
              </a:srgbClr>
            </a:outerShdw>
          </a:effectLst>
        </p:spPr>
      </p:sp>
      <p:sp>
        <p:nvSpPr>
          <p:cNvPr id="16" name="Shape 13"/>
          <p:cNvSpPr/>
          <p:nvPr/>
        </p:nvSpPr>
        <p:spPr>
          <a:xfrm>
            <a:off x="548640" y="4251960"/>
            <a:ext cx="11094415" cy="411480"/>
          </a:xfrm>
          <a:prstGeom prst="rect">
            <a:avLst/>
          </a:prstGeom>
          <a:solidFill>
            <a:schemeClr val="tx1"/>
          </a:solidFill>
          <a:ln/>
        </p:spPr>
      </p:sp>
      <p:sp>
        <p:nvSpPr>
          <p:cNvPr id="17" name="Text 14"/>
          <p:cNvSpPr txBox="1"/>
          <p:nvPr/>
        </p:nvSpPr>
        <p:spPr>
          <a:xfrm>
            <a:off x="676656" y="4251960"/>
            <a:ext cx="10911535" cy="411480"/>
          </a:xfrm>
          <a:prstGeom prst="rect">
            <a:avLst/>
          </a:prstGeom>
          <a:noFill/>
          <a:ln/>
        </p:spPr>
        <p:txBody>
          <a:bodyPr wrap="square" lIns="0" tIns="0" rIns="0" bIns="0" rtlCol="0" anchor="ctr"/>
          <a:lstStyle/>
          <a:p>
            <a:pPr marL="0" indent="0">
              <a:buNone/>
            </a:pPr>
            <a:r>
              <a:rPr lang="en-US" sz="1300" b="1" dirty="0">
                <a:solidFill>
                  <a:schemeClr val="bg1"/>
                </a:solidFill>
              </a:rPr>
              <a:t>SENTENCE STEMS</a:t>
            </a:r>
            <a:endParaRPr lang="en-US" sz="1300" dirty="0"/>
          </a:p>
        </p:txBody>
      </p:sp>
      <p:sp>
        <p:nvSpPr>
          <p:cNvPr id="18" name="Text 15"/>
          <p:cNvSpPr txBox="1"/>
          <p:nvPr/>
        </p:nvSpPr>
        <p:spPr>
          <a:xfrm>
            <a:off x="658368" y="4736592"/>
            <a:ext cx="10874959" cy="813816"/>
          </a:xfrm>
          <a:prstGeom prst="rect">
            <a:avLst/>
          </a:prstGeom>
          <a:noFill/>
          <a:ln/>
        </p:spPr>
        <p:txBody>
          <a:bodyPr wrap="square" lIns="508" tIns="508" rIns="508" bIns="508" rtlCol="0" anchor="t"/>
          <a:lstStyle/>
          <a:p>
            <a:pPr marL="0" indent="0" algn="l">
              <a:buNone/>
            </a:pPr>
            <a:r>
              <a:rPr lang="en-US" sz="2000" dirty="0">
                <a:solidFill>
                  <a:schemeClr val="tx1"/>
                </a:solidFill>
              </a:rPr>
              <a:t>Your result happens because …                                                                                                                                                      · Your moral fits because …                                                                                                                                                                    · Check … It should be …                                                                   · Add … to match your choice</a:t>
            </a:r>
            <a:endParaRPr lang="en-US" sz="2000" dirty="0"/>
          </a:p>
        </p:txBody>
      </p:sp>
      <p:sp>
        <p:nvSpPr>
          <p:cNvPr id="19" name="Text 16"/>
          <p:cNvSpPr txBox="1"/>
          <p:nvPr/>
        </p:nvSpPr>
        <p:spPr>
          <a:xfrm>
            <a:off x="548640" y="5897880"/>
            <a:ext cx="11094415" cy="548640"/>
          </a:xfrm>
          <a:prstGeom prst="rect">
            <a:avLst/>
          </a:prstGeom>
          <a:solidFill>
            <a:schemeClr val="tx1"/>
          </a:solidFill>
          <a:ln/>
        </p:spPr>
        <p:txBody>
          <a:bodyPr wrap="square" lIns="1270" tIns="1270" rIns="1270" bIns="1270" rtlCol="0" anchor="ctr"/>
          <a:lstStyle/>
          <a:p>
            <a:pPr marL="0" indent="0" algn="ctr">
              <a:buNone/>
            </a:pPr>
            <a:r>
              <a:rPr lang="en-US" sz="2800" dirty="0">
                <a:solidFill>
                  <a:schemeClr val="bg1"/>
                </a:solidFill>
              </a:rPr>
              <a:t>The improvement must link to the checklist or a class target.</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3: improve your fable</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TASK</a:t>
            </a:r>
            <a:endParaRPr lang="en-US" sz="1100" dirty="0"/>
          </a:p>
        </p:txBody>
      </p:sp>
      <p:sp>
        <p:nvSpPr>
          <p:cNvPr id="5" name="Card 🟢 SUPPORT"/>
          <p:cNvSpPr/>
          <p:nvPr/>
        </p:nvSpPr>
        <p:spPr>
          <a:xfrm>
            <a:off x="548640"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502920"/>
          </a:xfrm>
          <a:prstGeom prst="rect">
            <a:avLst/>
          </a:prstGeom>
          <a:solidFill>
            <a:schemeClr val="accent1"/>
          </a:solidFill>
          <a:ln/>
        </p:spPr>
      </p:sp>
      <p:sp>
        <p:nvSpPr>
          <p:cNvPr id="7" name="Text 4"/>
          <p:cNvSpPr txBox="1"/>
          <p:nvPr/>
        </p:nvSpPr>
        <p:spPr>
          <a:xfrm>
            <a:off x="676656"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SUPPORT</a:t>
            </a:r>
            <a:endParaRPr lang="en-US" sz="1600" dirty="0"/>
          </a:p>
        </p:txBody>
      </p:sp>
      <p:sp>
        <p:nvSpPr>
          <p:cNvPr id="8" name="Text 5"/>
          <p:cNvSpPr txBox="1"/>
          <p:nvPr/>
        </p:nvSpPr>
        <p:spPr>
          <a:xfrm>
            <a:off x="658368" y="1719072"/>
            <a:ext cx="3346704" cy="3557016"/>
          </a:xfrm>
          <a:prstGeom prst="rect">
            <a:avLst/>
          </a:prstGeom>
          <a:noFill/>
          <a:ln/>
        </p:spPr>
        <p:txBody>
          <a:bodyPr wrap="square" lIns="508" tIns="508" rIns="508" bIns="508" rtlCol="0" anchor="t"/>
          <a:lstStyle/>
          <a:p>
            <a:pPr marL="342900" indent="-342900" algn="l">
              <a:spcAft>
                <a:spcPts val="1200"/>
              </a:spcAft>
              <a:buSzPct val="100000"/>
              <a:buChar char="•"/>
            </a:pPr>
            <a:r>
              <a:rPr lang="en-US" sz="1600" dirty="0">
                <a:solidFill>
                  <a:schemeClr val="tx1"/>
                </a:solidFill>
              </a:rPr>
              <a:t>Fix your target using the problem slides</a:t>
            </a:r>
            <a:endParaRPr lang="en-US" sz="1600" dirty="0"/>
          </a:p>
          <a:p>
            <a:pPr marL="342900" indent="-342900" algn="l">
              <a:spcAft>
                <a:spcPts val="1200"/>
              </a:spcAft>
              <a:buSzPct val="100000"/>
              <a:buChar char="•"/>
            </a:pPr>
            <a:r>
              <a:rPr lang="en-US" sz="1600" dirty="0">
                <a:solidFill>
                  <a:schemeClr val="tx1"/>
                </a:solidFill>
              </a:rPr>
              <a:t>Add the missing moral from the frames</a:t>
            </a:r>
            <a:endParaRPr lang="en-US" sz="1600" dirty="0"/>
          </a:p>
          <a:p>
            <a:pPr marL="342900" indent="-342900" algn="l">
              <a:spcAft>
                <a:spcPts val="1200"/>
              </a:spcAft>
              <a:buSzPct val="100000"/>
              <a:buChar char="•"/>
            </a:pPr>
            <a:r>
              <a:rPr lang="en-US" sz="1600" dirty="0">
                <a:solidFill>
                  <a:schemeClr val="tx1"/>
                </a:solidFill>
              </a:rPr>
              <a:t>Check verbs and spelling of key words</a:t>
            </a:r>
            <a:endParaRPr lang="en-US" sz="1600" dirty="0"/>
          </a:p>
        </p:txBody>
      </p:sp>
      <p:sp>
        <p:nvSpPr>
          <p:cNvPr id="9" name="Card 🔵 CORE"/>
          <p:cNvSpPr/>
          <p:nvPr/>
        </p:nvSpPr>
        <p:spPr>
          <a:xfrm>
            <a:off x="4361688"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502920"/>
          </a:xfrm>
          <a:prstGeom prst="rect">
            <a:avLst/>
          </a:prstGeom>
          <a:solidFill>
            <a:schemeClr val="tx1"/>
          </a:solidFill>
          <a:ln/>
        </p:spPr>
      </p:sp>
      <p:sp>
        <p:nvSpPr>
          <p:cNvPr id="11" name="Text 8"/>
          <p:cNvSpPr txBox="1"/>
          <p:nvPr/>
        </p:nvSpPr>
        <p:spPr>
          <a:xfrm>
            <a:off x="4489704"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CORE</a:t>
            </a:r>
            <a:endParaRPr lang="en-US" sz="1600" dirty="0"/>
          </a:p>
        </p:txBody>
      </p:sp>
      <p:sp>
        <p:nvSpPr>
          <p:cNvPr id="12" name="Text 9"/>
          <p:cNvSpPr txBox="1"/>
          <p:nvPr/>
        </p:nvSpPr>
        <p:spPr>
          <a:xfrm>
            <a:off x="4471416" y="1719072"/>
            <a:ext cx="3346704" cy="3557016"/>
          </a:xfrm>
          <a:prstGeom prst="rect">
            <a:avLst/>
          </a:prstGeom>
          <a:noFill/>
          <a:ln/>
        </p:spPr>
        <p:txBody>
          <a:bodyPr wrap="square" lIns="508" tIns="508" rIns="508" bIns="508" rtlCol="0" anchor="t"/>
          <a:lstStyle/>
          <a:p>
            <a:pPr marL="342900" indent="-342900" algn="l">
              <a:spcAft>
                <a:spcPts val="1200"/>
              </a:spcAft>
              <a:buSzPct val="100000"/>
              <a:buChar char="•"/>
            </a:pPr>
            <a:r>
              <a:rPr lang="en-US" sz="1600" dirty="0">
                <a:solidFill>
                  <a:schemeClr val="tx1"/>
                </a:solidFill>
              </a:rPr>
              <a:t>Rewrite your weakest paragraph</a:t>
            </a:r>
            <a:endParaRPr lang="en-US" sz="1600" dirty="0"/>
          </a:p>
          <a:p>
            <a:pPr marL="342900" indent="-342900" algn="l">
              <a:spcAft>
                <a:spcPts val="1200"/>
              </a:spcAft>
              <a:buSzPct val="100000"/>
              <a:buChar char="•"/>
            </a:pPr>
            <a:r>
              <a:rPr lang="en-US" sz="1600" dirty="0">
                <a:solidFill>
                  <a:schemeClr val="tx1"/>
                </a:solidFill>
              </a:rPr>
              <a:t>Use your partner’s improvement and your target</a:t>
            </a:r>
            <a:endParaRPr lang="en-US" sz="1600" dirty="0"/>
          </a:p>
          <a:p>
            <a:pPr marL="342900" indent="-342900" algn="l">
              <a:spcAft>
                <a:spcPts val="1200"/>
              </a:spcAft>
              <a:buSzPct val="100000"/>
              <a:buChar char="•"/>
            </a:pPr>
            <a:r>
              <a:rPr lang="en-US" sz="1600" dirty="0">
                <a:solidFill>
                  <a:schemeClr val="tx1"/>
                </a:solidFill>
              </a:rPr>
              <a:t>Link the result with because, then a comma</a:t>
            </a:r>
            <a:endParaRPr lang="en-US" sz="1600" dirty="0"/>
          </a:p>
        </p:txBody>
      </p:sp>
      <p:sp>
        <p:nvSpPr>
          <p:cNvPr id="13" name="Card 🟣 EXTEND"/>
          <p:cNvSpPr/>
          <p:nvPr/>
        </p:nvSpPr>
        <p:spPr>
          <a:xfrm>
            <a:off x="8174736"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502920"/>
          </a:xfrm>
          <a:prstGeom prst="rect">
            <a:avLst/>
          </a:prstGeom>
          <a:solidFill>
            <a:schemeClr val="accent6"/>
          </a:solidFill>
          <a:ln/>
        </p:spPr>
      </p:sp>
      <p:sp>
        <p:nvSpPr>
          <p:cNvPr id="15" name="Text 12"/>
          <p:cNvSpPr txBox="1"/>
          <p:nvPr/>
        </p:nvSpPr>
        <p:spPr>
          <a:xfrm>
            <a:off x="8302752"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EXTEND</a:t>
            </a:r>
            <a:endParaRPr lang="en-US" sz="1600" dirty="0"/>
          </a:p>
        </p:txBody>
      </p:sp>
      <p:sp>
        <p:nvSpPr>
          <p:cNvPr id="16" name="Text 13"/>
          <p:cNvSpPr txBox="1"/>
          <p:nvPr/>
        </p:nvSpPr>
        <p:spPr>
          <a:xfrm>
            <a:off x="8284464" y="1719072"/>
            <a:ext cx="3346704" cy="3557016"/>
          </a:xfrm>
          <a:prstGeom prst="rect">
            <a:avLst/>
          </a:prstGeom>
          <a:noFill/>
          <a:ln/>
        </p:spPr>
        <p:txBody>
          <a:bodyPr wrap="square" lIns="508" tIns="508" rIns="508" bIns="508" rtlCol="0" anchor="t"/>
          <a:lstStyle/>
          <a:p>
            <a:pPr marL="342900" indent="-342900" algn="l">
              <a:spcAft>
                <a:spcPts val="1200"/>
              </a:spcAft>
              <a:buSzPct val="100000"/>
              <a:buChar char="•"/>
            </a:pPr>
            <a:r>
              <a:rPr lang="en-US" sz="1600" dirty="0">
                <a:solidFill>
                  <a:schemeClr val="tx1"/>
                </a:solidFill>
              </a:rPr>
              <a:t>Improve two paragraphs</a:t>
            </a:r>
            <a:endParaRPr lang="en-US" sz="1600" dirty="0"/>
          </a:p>
          <a:p>
            <a:pPr marL="342900" indent="-342900" algn="l">
              <a:spcAft>
                <a:spcPts val="1200"/>
              </a:spcAft>
              <a:buSzPct val="100000"/>
              <a:buChar char="•"/>
            </a:pPr>
            <a:r>
              <a:rPr lang="en-US" sz="1600" dirty="0">
                <a:solidFill>
                  <a:schemeClr val="tx1"/>
                </a:solidFill>
              </a:rPr>
              <a:t>Add a line of speech with correct punctuation</a:t>
            </a:r>
            <a:endParaRPr lang="en-US" sz="1600" dirty="0"/>
          </a:p>
          <a:p>
            <a:pPr marL="342900" indent="-342900" algn="l">
              <a:spcAft>
                <a:spcPts val="1200"/>
              </a:spcAft>
              <a:buSzPct val="100000"/>
              <a:buChar char="•"/>
            </a:pPr>
            <a:r>
              <a:rPr lang="en-US" sz="1600" dirty="0">
                <a:solidFill>
                  <a:schemeClr val="tx1"/>
                </a:solidFill>
              </a:rPr>
              <a:t>Make the change and the moral match</a:t>
            </a:r>
            <a:endParaRPr lang="en-US" sz="1600" dirty="0"/>
          </a:p>
        </p:txBody>
      </p:sp>
      <p:sp>
        <p:nvSpPr>
          <p:cNvPr id="17" name="Text 14"/>
          <p:cNvSpPr txBox="1"/>
          <p:nvPr/>
        </p:nvSpPr>
        <p:spPr>
          <a:xfrm>
            <a:off x="548640" y="566928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Use a purple pen for every improvement · Write on every other line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Fix-it toolkit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TOOLKIT</a:t>
            </a:r>
            <a:endParaRPr lang="en-US" sz="1100" dirty="0"/>
          </a:p>
        </p:txBody>
      </p:sp>
      <p:sp>
        <p:nvSpPr>
          <p:cNvPr id="5" name="Card ONE FABLE"/>
          <p:cNvSpPr/>
          <p:nvPr/>
        </p:nvSpPr>
        <p:spPr>
          <a:xfrm>
            <a:off x="548640"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457200"/>
          </a:xfrm>
          <a:prstGeom prst="rect">
            <a:avLst/>
          </a:prstGeom>
          <a:solidFill>
            <a:schemeClr val="accent1"/>
          </a:solidFill>
          <a:ln/>
        </p:spPr>
      </p:sp>
      <p:sp>
        <p:nvSpPr>
          <p:cNvPr id="7" name="Text 4"/>
          <p:cNvSpPr txBox="1"/>
          <p:nvPr/>
        </p:nvSpPr>
        <p:spPr>
          <a:xfrm>
            <a:off x="676656" y="114300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ONE FABLE</a:t>
            </a:r>
            <a:endParaRPr lang="en-US" sz="1400" dirty="0"/>
          </a:p>
        </p:txBody>
      </p:sp>
      <p:sp>
        <p:nvSpPr>
          <p:cNvPr id="8" name="Text 5"/>
          <p:cNvSpPr txBox="1"/>
          <p:nvPr/>
        </p:nvSpPr>
        <p:spPr>
          <a:xfrm>
            <a:off x="658368" y="1673352"/>
            <a:ext cx="3346704" cy="1499616"/>
          </a:xfrm>
          <a:prstGeom prst="rect">
            <a:avLst/>
          </a:prstGeom>
          <a:noFill/>
          <a:ln/>
        </p:spPr>
        <p:txBody>
          <a:bodyPr wrap="square" lIns="508" tIns="508" rIns="508" bIns="508" rtlCol="0" anchor="t"/>
          <a:lstStyle/>
          <a:p>
            <a:pPr marL="0" indent="0" algn="l">
              <a:buNone/>
            </a:pPr>
            <a:r>
              <a:rPr lang="en-US" sz="2400" dirty="0">
                <a:solidFill>
                  <a:schemeClr val="tx1"/>
                </a:solidFill>
              </a:rPr>
              <a:t>One character · one trait · one problem · one choice</a:t>
            </a:r>
            <a:endParaRPr lang="en-US" sz="2400" dirty="0"/>
          </a:p>
        </p:txBody>
      </p:sp>
      <p:sp>
        <p:nvSpPr>
          <p:cNvPr id="9" name="Card RESULT"/>
          <p:cNvSpPr/>
          <p:nvPr/>
        </p:nvSpPr>
        <p:spPr>
          <a:xfrm>
            <a:off x="4361688"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457200"/>
          </a:xfrm>
          <a:prstGeom prst="rect">
            <a:avLst/>
          </a:prstGeom>
          <a:solidFill>
            <a:schemeClr val="accent3"/>
          </a:solidFill>
          <a:ln/>
        </p:spPr>
      </p:sp>
      <p:sp>
        <p:nvSpPr>
          <p:cNvPr id="11" name="Text 8"/>
          <p:cNvSpPr txBox="1"/>
          <p:nvPr/>
        </p:nvSpPr>
        <p:spPr>
          <a:xfrm>
            <a:off x="4489704" y="114300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RESULT</a:t>
            </a:r>
            <a:endParaRPr lang="en-US" sz="1400" dirty="0"/>
          </a:p>
        </p:txBody>
      </p:sp>
      <p:sp>
        <p:nvSpPr>
          <p:cNvPr id="12" name="Text 9"/>
          <p:cNvSpPr txBox="1"/>
          <p:nvPr/>
        </p:nvSpPr>
        <p:spPr>
          <a:xfrm>
            <a:off x="4471416" y="1673352"/>
            <a:ext cx="3346704" cy="1499616"/>
          </a:xfrm>
          <a:prstGeom prst="rect">
            <a:avLst/>
          </a:prstGeom>
          <a:noFill/>
          <a:ln/>
        </p:spPr>
        <p:txBody>
          <a:bodyPr wrap="square" lIns="508" tIns="508" rIns="508" bIns="508" rtlCol="0" anchor="t"/>
          <a:lstStyle/>
          <a:p>
            <a:pPr marL="0" indent="0" algn="l">
              <a:buNone/>
            </a:pPr>
            <a:r>
              <a:rPr lang="en-US" sz="2400" dirty="0">
                <a:solidFill>
                  <a:schemeClr val="tx1"/>
                </a:solidFill>
              </a:rPr>
              <a:t>Because ___, ___. ___, so ___. ___. As a result, ___.</a:t>
            </a:r>
            <a:endParaRPr lang="en-US" sz="2400" dirty="0"/>
          </a:p>
        </p:txBody>
      </p:sp>
      <p:sp>
        <p:nvSpPr>
          <p:cNvPr id="13" name="Card MORAL"/>
          <p:cNvSpPr/>
          <p:nvPr/>
        </p:nvSpPr>
        <p:spPr>
          <a:xfrm>
            <a:off x="8174736"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457200"/>
          </a:xfrm>
          <a:prstGeom prst="rect">
            <a:avLst/>
          </a:prstGeom>
          <a:solidFill>
            <a:schemeClr val="accent2"/>
          </a:solidFill>
          <a:ln/>
        </p:spPr>
      </p:sp>
      <p:sp>
        <p:nvSpPr>
          <p:cNvPr id="15" name="Text 12"/>
          <p:cNvSpPr txBox="1"/>
          <p:nvPr/>
        </p:nvSpPr>
        <p:spPr>
          <a:xfrm>
            <a:off x="8302752" y="1143000"/>
            <a:ext cx="3383280" cy="457200"/>
          </a:xfrm>
          <a:prstGeom prst="rect">
            <a:avLst/>
          </a:prstGeom>
          <a:noFill/>
          <a:ln/>
        </p:spPr>
        <p:txBody>
          <a:bodyPr wrap="square" lIns="0" tIns="0" rIns="0" bIns="0" rtlCol="0" anchor="ctr"/>
          <a:lstStyle/>
          <a:p>
            <a:pPr marL="0" indent="0">
              <a:buNone/>
            </a:pPr>
            <a:r>
              <a:rPr lang="en-US" sz="1400" b="1" dirty="0">
                <a:solidFill>
                  <a:schemeClr val="tx1"/>
                </a:solidFill>
              </a:rPr>
              <a:t>MORAL</a:t>
            </a:r>
            <a:endParaRPr lang="en-US" sz="1400" dirty="0"/>
          </a:p>
        </p:txBody>
      </p:sp>
      <p:sp>
        <p:nvSpPr>
          <p:cNvPr id="16" name="Text 13"/>
          <p:cNvSpPr txBox="1"/>
          <p:nvPr/>
        </p:nvSpPr>
        <p:spPr>
          <a:xfrm>
            <a:off x="8284464" y="167335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Do ___, or ___. A ___ who ___ may ___. ___, but ___.</a:t>
            </a:r>
            <a:endParaRPr lang="en-US" sz="2000" dirty="0"/>
          </a:p>
        </p:txBody>
      </p:sp>
      <p:sp>
        <p:nvSpPr>
          <p:cNvPr id="17" name="Card SPEECH"/>
          <p:cNvSpPr/>
          <p:nvPr/>
        </p:nvSpPr>
        <p:spPr>
          <a:xfrm>
            <a:off x="548640"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3474720"/>
            <a:ext cx="3566160" cy="457200"/>
          </a:xfrm>
          <a:prstGeom prst="rect">
            <a:avLst/>
          </a:prstGeom>
          <a:solidFill>
            <a:schemeClr val="tx1"/>
          </a:solidFill>
          <a:ln/>
        </p:spPr>
      </p:sp>
      <p:sp>
        <p:nvSpPr>
          <p:cNvPr id="19" name="Text 16"/>
          <p:cNvSpPr txBox="1"/>
          <p:nvPr/>
        </p:nvSpPr>
        <p:spPr>
          <a:xfrm>
            <a:off x="676656"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SPEECH</a:t>
            </a:r>
            <a:endParaRPr lang="en-US" sz="1400" dirty="0"/>
          </a:p>
        </p:txBody>
      </p:sp>
      <p:sp>
        <p:nvSpPr>
          <p:cNvPr id="20" name="Text 17"/>
          <p:cNvSpPr txBox="1"/>
          <p:nvPr/>
        </p:nvSpPr>
        <p:spPr>
          <a:xfrm>
            <a:off x="658368" y="400507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He said, “___.” “___,” said the lion. End mark inside.</a:t>
            </a:r>
            <a:endParaRPr lang="en-US" sz="2000" dirty="0"/>
          </a:p>
        </p:txBody>
      </p:sp>
      <p:sp>
        <p:nvSpPr>
          <p:cNvPr id="21" name="Card VERBS"/>
          <p:cNvSpPr/>
          <p:nvPr/>
        </p:nvSpPr>
        <p:spPr>
          <a:xfrm>
            <a:off x="4361688"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3474720"/>
            <a:ext cx="3566160" cy="457200"/>
          </a:xfrm>
          <a:prstGeom prst="rect">
            <a:avLst/>
          </a:prstGeom>
          <a:solidFill>
            <a:schemeClr val="accent1"/>
          </a:solidFill>
          <a:ln/>
        </p:spPr>
      </p:sp>
      <p:sp>
        <p:nvSpPr>
          <p:cNvPr id="23" name="Text 20"/>
          <p:cNvSpPr txBox="1"/>
          <p:nvPr/>
        </p:nvSpPr>
        <p:spPr>
          <a:xfrm>
            <a:off x="4489704"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VERBS</a:t>
            </a:r>
            <a:endParaRPr lang="en-US" sz="1400" dirty="0"/>
          </a:p>
        </p:txBody>
      </p:sp>
      <p:sp>
        <p:nvSpPr>
          <p:cNvPr id="24" name="Text 21"/>
          <p:cNvSpPr txBox="1"/>
          <p:nvPr/>
        </p:nvSpPr>
        <p:spPr>
          <a:xfrm>
            <a:off x="4471416" y="400507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One: it was, it has. Many: they were, they have. Keep the past tense.</a:t>
            </a:r>
            <a:endParaRPr lang="en-US" sz="2000" dirty="0"/>
          </a:p>
        </p:txBody>
      </p:sp>
      <p:sp>
        <p:nvSpPr>
          <p:cNvPr id="25" name="Card CHECK"/>
          <p:cNvSpPr/>
          <p:nvPr/>
        </p:nvSpPr>
        <p:spPr>
          <a:xfrm>
            <a:off x="8174736"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3474720"/>
            <a:ext cx="3566160" cy="457200"/>
          </a:xfrm>
          <a:prstGeom prst="rect">
            <a:avLst/>
          </a:prstGeom>
          <a:solidFill>
            <a:schemeClr val="accent3"/>
          </a:solidFill>
          <a:ln/>
        </p:spPr>
      </p:sp>
      <p:sp>
        <p:nvSpPr>
          <p:cNvPr id="27" name="Text 24"/>
          <p:cNvSpPr txBox="1"/>
          <p:nvPr/>
        </p:nvSpPr>
        <p:spPr>
          <a:xfrm>
            <a:off x="8302752"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CHECK</a:t>
            </a:r>
            <a:endParaRPr lang="en-US" sz="1400" dirty="0"/>
          </a:p>
        </p:txBody>
      </p:sp>
      <p:sp>
        <p:nvSpPr>
          <p:cNvPr id="28" name="Text 25"/>
          <p:cNvSpPr txBox="1"/>
          <p:nvPr/>
        </p:nvSpPr>
        <p:spPr>
          <a:xfrm>
            <a:off x="8284464" y="4005072"/>
            <a:ext cx="3346704" cy="1499616"/>
          </a:xfrm>
          <a:prstGeom prst="rect">
            <a:avLst/>
          </a:prstGeom>
          <a:noFill/>
          <a:ln/>
        </p:spPr>
        <p:txBody>
          <a:bodyPr wrap="square" lIns="508" tIns="508" rIns="508" bIns="508" rtlCol="0" anchor="t"/>
          <a:lstStyle/>
          <a:p>
            <a:pPr marL="0" indent="0" algn="l">
              <a:buNone/>
            </a:pPr>
            <a:r>
              <a:rPr lang="en-US" sz="2000" dirty="0">
                <a:solidFill>
                  <a:schemeClr val="tx1"/>
                </a:solidFill>
              </a:rPr>
              <a:t>Spelling · capitals · finger spaces · no names in the moral</a:t>
            </a:r>
            <a:endParaRPr lang="en-US" sz="2000" dirty="0"/>
          </a:p>
        </p:txBody>
      </p:sp>
      <p:sp>
        <p:nvSpPr>
          <p:cNvPr id="29" name="Text 26"/>
          <p:cNvSpPr txBox="1"/>
          <p:nvPr/>
        </p:nvSpPr>
        <p:spPr>
          <a:xfrm>
            <a:off x="548640" y="589788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Use the toolkit to fix your target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Plenary: share and reflect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PLENARY</a:t>
            </a:r>
            <a:endParaRPr lang="en-US" sz="1100" dirty="0"/>
          </a:p>
        </p:txBody>
      </p:sp>
      <p:sp>
        <p:nvSpPr>
          <p:cNvPr id="5" name="Card 📣  SHARE"/>
          <p:cNvSpPr/>
          <p:nvPr/>
        </p:nvSpPr>
        <p:spPr>
          <a:xfrm>
            <a:off x="5486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3566160" cy="502920"/>
          </a:xfrm>
          <a:prstGeom prst="rect">
            <a:avLst/>
          </a:prstGeom>
          <a:solidFill>
            <a:schemeClr val="accent1"/>
          </a:solidFill>
          <a:ln/>
        </p:spPr>
      </p:sp>
      <p:sp>
        <p:nvSpPr>
          <p:cNvPr id="7" name="Text 4"/>
          <p:cNvSpPr txBox="1"/>
          <p:nvPr/>
        </p:nvSpPr>
        <p:spPr>
          <a:xfrm>
            <a:off x="6766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SHARE</a:t>
            </a:r>
            <a:endParaRPr lang="en-US" sz="1500" dirty="0"/>
          </a:p>
        </p:txBody>
      </p:sp>
      <p:sp>
        <p:nvSpPr>
          <p:cNvPr id="8" name="Text 5"/>
          <p:cNvSpPr txBox="1"/>
          <p:nvPr/>
        </p:nvSpPr>
        <p:spPr>
          <a:xfrm>
            <a:off x="658368"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Read your improved sentence aloud</a:t>
            </a:r>
            <a:endParaRPr lang="en-US" sz="1600" dirty="0"/>
          </a:p>
          <a:p>
            <a:pPr marL="342900" indent="-342900" algn="l">
              <a:spcAft>
                <a:spcPts val="1000"/>
              </a:spcAft>
              <a:buSzPct val="100000"/>
              <a:buChar char="•"/>
            </a:pPr>
            <a:r>
              <a:rPr lang="en-US" sz="1600" dirty="0">
                <a:solidFill>
                  <a:schemeClr val="tx1"/>
                </a:solidFill>
              </a:rPr>
              <a:t>Class: which fix is it?</a:t>
            </a:r>
            <a:endParaRPr lang="en-US" sz="1600" dirty="0"/>
          </a:p>
          <a:p>
            <a:pPr marL="342900" indent="-342900" algn="l">
              <a:spcAft>
                <a:spcPts val="1000"/>
              </a:spcAft>
              <a:buSzPct val="100000"/>
              <a:buChar char="•"/>
            </a:pPr>
            <a:r>
              <a:rPr lang="en-US" sz="1600" dirty="0">
                <a:solidFill>
                  <a:schemeClr val="tx1"/>
                </a:solidFill>
              </a:rPr>
              <a:t>What changed from your first version?</a:t>
            </a:r>
            <a:endParaRPr lang="en-US" sz="1600" dirty="0"/>
          </a:p>
        </p:txBody>
      </p:sp>
      <p:sp>
        <p:nvSpPr>
          <p:cNvPr id="9" name="Card 🚦  TRAFFIC LIGHTS"/>
          <p:cNvSpPr/>
          <p:nvPr/>
        </p:nvSpPr>
        <p:spPr>
          <a:xfrm>
            <a:off x="4315968"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15968" y="1188720"/>
            <a:ext cx="3566160" cy="502920"/>
          </a:xfrm>
          <a:prstGeom prst="rect">
            <a:avLst/>
          </a:prstGeom>
          <a:solidFill>
            <a:schemeClr val="accent2"/>
          </a:solidFill>
          <a:ln/>
        </p:spPr>
      </p:sp>
      <p:sp>
        <p:nvSpPr>
          <p:cNvPr id="11" name="Text 8"/>
          <p:cNvSpPr txBox="1"/>
          <p:nvPr/>
        </p:nvSpPr>
        <p:spPr>
          <a:xfrm>
            <a:off x="4443984" y="1188720"/>
            <a:ext cx="3383280" cy="502920"/>
          </a:xfrm>
          <a:prstGeom prst="rect">
            <a:avLst/>
          </a:prstGeom>
          <a:noFill/>
          <a:ln/>
        </p:spPr>
        <p:txBody>
          <a:bodyPr wrap="square" lIns="0" tIns="0" rIns="0" bIns="0" rtlCol="0" anchor="ctr"/>
          <a:lstStyle/>
          <a:p>
            <a:pPr marL="0" indent="0">
              <a:buNone/>
            </a:pPr>
            <a:r>
              <a:rPr lang="en-US" sz="1500" b="1" dirty="0">
                <a:solidFill>
                  <a:schemeClr val="tx1"/>
                </a:solidFill>
              </a:rPr>
              <a:t>🚦  TRAFFIC LIGHTS</a:t>
            </a:r>
            <a:endParaRPr lang="en-US" sz="1500" dirty="0"/>
          </a:p>
        </p:txBody>
      </p:sp>
      <p:sp>
        <p:nvSpPr>
          <p:cNvPr id="12" name="Text 9"/>
          <p:cNvSpPr txBox="1"/>
          <p:nvPr/>
        </p:nvSpPr>
        <p:spPr>
          <a:xfrm>
            <a:off x="4425696"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I can check my fable against the checklist</a:t>
            </a:r>
            <a:endParaRPr lang="en-US" sz="1600" dirty="0"/>
          </a:p>
          <a:p>
            <a:pPr marL="342900" indent="-342900" algn="l">
              <a:spcAft>
                <a:spcPts val="1000"/>
              </a:spcAft>
              <a:buSzPct val="100000"/>
              <a:buChar char="•"/>
            </a:pPr>
            <a:r>
              <a:rPr lang="en-US" sz="1600" dirty="0">
                <a:solidFill>
                  <a:schemeClr val="tx1"/>
                </a:solidFill>
              </a:rPr>
              <a:t>I can give one strength and one improvement</a:t>
            </a:r>
            <a:endParaRPr lang="en-US" sz="1600" dirty="0"/>
          </a:p>
          <a:p>
            <a:pPr marL="342900" indent="-342900" algn="l">
              <a:spcAft>
                <a:spcPts val="1000"/>
              </a:spcAft>
              <a:buSzPct val="100000"/>
              <a:buChar char="•"/>
            </a:pPr>
            <a:r>
              <a:rPr lang="en-US" sz="1600" dirty="0">
                <a:solidFill>
                  <a:schemeClr val="tx1"/>
                </a:solidFill>
              </a:rPr>
              <a:t>I can use feedback to improve my writing</a:t>
            </a:r>
            <a:endParaRPr lang="en-US" sz="1600" dirty="0"/>
          </a:p>
        </p:txBody>
      </p:sp>
      <p:sp>
        <p:nvSpPr>
          <p:cNvPr id="13" name="Card 💡  LOOK AHEAD"/>
          <p:cNvSpPr/>
          <p:nvPr/>
        </p:nvSpPr>
        <p:spPr>
          <a:xfrm>
            <a:off x="80924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092440" y="1188720"/>
            <a:ext cx="3566160" cy="502920"/>
          </a:xfrm>
          <a:prstGeom prst="rect">
            <a:avLst/>
          </a:prstGeom>
          <a:solidFill>
            <a:schemeClr val="accent3"/>
          </a:solidFill>
          <a:ln/>
        </p:spPr>
      </p:sp>
      <p:sp>
        <p:nvSpPr>
          <p:cNvPr id="15" name="Text 12"/>
          <p:cNvSpPr txBox="1"/>
          <p:nvPr/>
        </p:nvSpPr>
        <p:spPr>
          <a:xfrm>
            <a:off x="82204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LOOK AHEAD</a:t>
            </a:r>
            <a:endParaRPr lang="en-US" sz="1500" dirty="0"/>
          </a:p>
        </p:txBody>
      </p:sp>
      <p:sp>
        <p:nvSpPr>
          <p:cNvPr id="16" name="Text 13"/>
          <p:cNvSpPr txBox="1"/>
          <p:nvPr/>
        </p:nvSpPr>
        <p:spPr>
          <a:xfrm>
            <a:off x="8202168"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Which problem is still hardest for you?</a:t>
            </a:r>
            <a:endParaRPr lang="en-US" sz="1600" dirty="0"/>
          </a:p>
          <a:p>
            <a:pPr marL="342900" indent="-342900" algn="l">
              <a:spcAft>
                <a:spcPts val="1000"/>
              </a:spcAft>
              <a:buSzPct val="100000"/>
              <a:buChar char="•"/>
            </a:pPr>
            <a:r>
              <a:rPr lang="en-US" sz="1600" dirty="0">
                <a:solidFill>
                  <a:schemeClr val="tx1"/>
                </a:solidFill>
              </a:rPr>
              <a:t>What was your partner’s most useful feedback?</a:t>
            </a:r>
            <a:endParaRPr lang="en-US" sz="1600" dirty="0"/>
          </a:p>
        </p:txBody>
      </p:sp>
      <p:sp>
        <p:nvSpPr>
          <p:cNvPr id="17" name="Text 14"/>
          <p:cNvSpPr txBox="1"/>
          <p:nvPr/>
        </p:nvSpPr>
        <p:spPr>
          <a:xfrm>
            <a:off x="548640" y="5120640"/>
            <a:ext cx="11094415" cy="64008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 I can do it     🟡 I need a little more practice     🔴 I need help</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Name three words that link a choice to a result.</a:t>
            </a:r>
            <a:endParaRPr lang="en-US" sz="21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Fix the speech: Mia said“I will help you”</a:t>
            </a:r>
            <a:endParaRPr lang="en-US" sz="21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Is this a moral? “The owl learned that she should be kind.” Rewrite it.</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Name three words that link a choice to a result.</a:t>
            </a:r>
            <a:endParaRPr lang="en-US" sz="2100" dirty="0"/>
          </a:p>
          <a:p>
            <a:pPr marL="0" indent="0">
              <a:buNone/>
            </a:pPr>
            <a:r>
              <a:rPr lang="en-US" sz="1900" i="1" dirty="0">
                <a:solidFill>
                  <a:schemeClr val="accent1"/>
                </a:solidFill>
              </a:rPr>
              <a:t>✅ because, so, as a result</a:t>
            </a:r>
            <a:endParaRPr lang="en-US" sz="21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Fix the speech: Mia said“I will help you”</a:t>
            </a:r>
            <a:endParaRPr lang="en-US" sz="2100" dirty="0"/>
          </a:p>
          <a:p>
            <a:pPr marL="0" indent="0">
              <a:buNone/>
            </a:pPr>
            <a:r>
              <a:rPr lang="en-US" sz="1900" i="1" dirty="0">
                <a:solidFill>
                  <a:schemeClr val="accent1"/>
                </a:solidFill>
              </a:rPr>
              <a:t>✅ Mia said, “I will help you.”  (comma, then a space; end mark inside)</a:t>
            </a:r>
            <a:endParaRPr lang="en-US" sz="21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100" b="1" dirty="0">
                <a:solidFill>
                  <a:schemeClr val="tx1"/>
                </a:solidFill>
              </a:rPr>
              <a:t>Is this a moral? “The owl learned that she should be kind.” Rewrite it.</a:t>
            </a:r>
            <a:endParaRPr lang="en-US" sz="2100" dirty="0"/>
          </a:p>
          <a:p>
            <a:pPr marL="0" indent="0">
              <a:buNone/>
            </a:pPr>
            <a:r>
              <a:rPr lang="en-US" sz="1900" i="1" dirty="0">
                <a:solidFill>
                  <a:schemeClr val="accent1"/>
                </a:solidFill>
              </a:rPr>
              <a:t>✅ No: it names the owl and says she. Example: Always be kind to others, or you may be left alone.</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731520" y="822960"/>
            <a:ext cx="731520" cy="73152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4" name="Text 1"/>
          <p:cNvSpPr txBox="1"/>
          <p:nvPr/>
        </p:nvSpPr>
        <p:spPr>
          <a:xfrm>
            <a:off x="1645920" y="822960"/>
            <a:ext cx="9601200" cy="731520"/>
          </a:xfrm>
          <a:prstGeom prst="rect">
            <a:avLst/>
          </a:prstGeom>
          <a:noFill/>
          <a:ln/>
        </p:spPr>
        <p:txBody>
          <a:bodyPr wrap="square" lIns="0" tIns="0" rIns="0" bIns="0" rtlCol="0" anchor="ctr"/>
          <a:lstStyle/>
          <a:p>
            <a:pPr marL="0" indent="0">
              <a:buNone/>
            </a:pPr>
            <a:r>
              <a:rPr lang="en-US" sz="3400" b="1" dirty="0">
                <a:solidFill>
                  <a:schemeClr val="bg1"/>
                </a:solidFill>
                <a:latin typeface="+mj-lt" pitchFamily="34" charset="0"/>
                <a:ea typeface="+mj-lt" pitchFamily="34" charset="-122"/>
                <a:cs typeface="+mj-lt" pitchFamily="34" charset="-120"/>
              </a:rPr>
              <a:t>Homework: finish your fable</a:t>
            </a:r>
            <a:endParaRPr lang="en-US" sz="3400" dirty="0"/>
          </a:p>
        </p:txBody>
      </p:sp>
      <p:sp>
        <p:nvSpPr>
          <p:cNvPr id="5" name="Text 2"/>
          <p:cNvSpPr txBox="1"/>
          <p:nvPr/>
        </p:nvSpPr>
        <p:spPr>
          <a:xfrm>
            <a:off x="822960" y="2011680"/>
            <a:ext cx="10058400" cy="182880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chemeClr val="bg1"/>
                </a:solidFill>
              </a:rPr>
              <a:t>Fix your target and your partner’s improvement.</a:t>
            </a:r>
            <a:endParaRPr lang="en-US" sz="2400" dirty="0"/>
          </a:p>
          <a:p>
            <a:pPr marL="342900" indent="-342900">
              <a:spcAft>
                <a:spcPts val="800"/>
              </a:spcAft>
              <a:buSzPct val="100000"/>
              <a:buChar char="•"/>
            </a:pPr>
            <a:r>
              <a:rPr lang="en-US" sz="2400" dirty="0">
                <a:solidFill>
                  <a:schemeClr val="bg1"/>
                </a:solidFill>
              </a:rPr>
              <a:t>Check your speech marks and your moral: no names.</a:t>
            </a:r>
            <a:endParaRPr lang="en-US" sz="2400" dirty="0"/>
          </a:p>
          <a:p>
            <a:pPr marL="342900" indent="-342900">
              <a:spcAft>
                <a:spcPts val="800"/>
              </a:spcAft>
              <a:buSzPct val="100000"/>
              <a:buChar char="•"/>
            </a:pPr>
            <a:r>
              <a:rPr lang="en-US" sz="2400" dirty="0">
                <a:solidFill>
                  <a:schemeClr val="bg1"/>
                </a:solidFill>
              </a:rPr>
              <a:t>Read it aloud to someone at home. Does it sound clear and well organised?</a:t>
            </a:r>
            <a:endParaRPr lang="en-US" sz="2400" dirty="0"/>
          </a:p>
        </p:txBody>
      </p:sp>
      <p:sp>
        <p:nvSpPr>
          <p:cNvPr id="6" name="Shape 3"/>
          <p:cNvSpPr/>
          <p:nvPr/>
        </p:nvSpPr>
        <p:spPr>
          <a:xfrm>
            <a:off x="731520" y="4480560"/>
            <a:ext cx="10698480" cy="1371600"/>
          </a:xfrm>
          <a:prstGeom prst="rect">
            <a:avLst/>
          </a:prstGeom>
          <a:solidFill>
            <a:schemeClr val="accent1"/>
          </a:solidFill>
          <a:ln/>
        </p:spPr>
      </p:sp>
      <p:sp>
        <p:nvSpPr>
          <p:cNvPr id="7" name="Text 4"/>
          <p:cNvSpPr txBox="1"/>
          <p:nvPr/>
        </p:nvSpPr>
        <p:spPr>
          <a:xfrm>
            <a:off x="1005840" y="4480560"/>
            <a:ext cx="10149840" cy="1371600"/>
          </a:xfrm>
          <a:prstGeom prst="rect">
            <a:avLst/>
          </a:prstGeom>
          <a:noFill/>
          <a:ln/>
        </p:spPr>
        <p:txBody>
          <a:bodyPr wrap="square" lIns="0" tIns="0" rIns="0" bIns="0" rtlCol="0" anchor="ctr"/>
          <a:lstStyle/>
          <a:p>
            <a:pPr marL="0" indent="0">
              <a:buNone/>
            </a:pPr>
            <a:r>
              <a:rPr lang="en-US" sz="1600" b="1" dirty="0">
                <a:solidFill>
                  <a:schemeClr val="accent2"/>
                </a:solidFill>
              </a:rPr>
              <a:t>NEXT LESSON  </a:t>
            </a:r>
            <a:r>
              <a:rPr lang="en-US" sz="1800" dirty="0">
                <a:solidFill>
                  <a:schemeClr val="bg1"/>
                </a:solidFill>
              </a:rPr>
              <a:t>Editing and improving your fable, then publishing.</a:t>
            </a:r>
            <a:endParaRPr lang="en-US" sz="1600" dirty="0"/>
          </a:p>
        </p:txBody>
      </p:sp>
    </p:spTree>
  </p:cSld>
  <p:clrMapOvr>
    <a:masterClrMapping/>
  </p:clrMapOvr>
</p:sld>
</file>

<file path=ppt/theme/theme1.xml><?xml version="1.0" encoding="utf-8"?>
<a:theme xmlns:a="http://schemas.openxmlformats.org/drawingml/2006/main" name="Report Architects">
  <a:themeElements>
    <a:clrScheme name="Report Architects">
      <a:dk1>
        <a:srgbClr val="0B3C49"/>
      </a:dk1>
      <a:lt1>
        <a:srgbClr val="FFFFFF"/>
      </a:lt1>
      <a:dk2>
        <a:srgbClr val="0B3C49"/>
      </a:dk2>
      <a:lt2>
        <a:srgbClr val="F8F0E0"/>
      </a:lt2>
      <a:accent1>
        <a:srgbClr val="2A9D8F"/>
      </a:accent1>
      <a:accent2>
        <a:srgbClr val="F4A261"/>
      </a:accent2>
      <a:accent3>
        <a:srgbClr val="E76F51"/>
      </a:accent3>
      <a:accent4>
        <a:srgbClr val="0B3C49"/>
      </a:accent4>
      <a:accent5>
        <a:srgbClr val="E9C46A"/>
      </a:accent5>
      <a:accent6>
        <a:srgbClr val="7A6BA8"/>
      </a:accent6>
      <a:hlink>
        <a:srgbClr val="2A9D8F"/>
      </a:hlink>
      <a:folHlink>
        <a:srgbClr val="7A6BA8"/>
      </a:folHlink>
    </a:clrScheme>
    <a:fontScheme name="Report Architect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4474</Words>
  <Application>Microsoft Office PowerPoint</Application>
  <PresentationFormat>Widescreen</PresentationFormat>
  <Paragraphs>479</Paragraphs>
  <Slides>28</Slides>
  <Notes>28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28</vt:i4>
      </vt:variant>
    </vt:vector>
  </HeadingPairs>
  <TitlesOfParts>
    <vt:vector size="30" baseType="lpstr">
      <vt:lpstr>Arial</vt:lpstr>
      <vt:lpstr>Report Architects</vt:lpstr>
      <vt:lpstr>PowerPoint Presentation</vt:lpstr>
      <vt:lpstr>Today we will learn to…</vt:lpstr>
      <vt:lpstr>What you did well (1)</vt:lpstr>
      <vt:lpstr>What you did well (2)</vt:lpstr>
      <vt:lpstr>What you did well (3)</vt:lpstr>
      <vt:lpstr>What we need to fix</vt:lpstr>
      <vt:lpstr>Problem 1: one fable, one story</vt:lpstr>
      <vt:lpstr>Problem 1 (continued): show, don’t only tell</vt:lpstr>
      <vt:lpstr>Problem 2: because needs a comma and a verb</vt:lpstr>
      <vt:lpstr>Problem 3: a moral is a general lesson</vt:lpstr>
      <vt:lpstr>Problem 3 (continued): add the missing moral</vt:lpstr>
      <vt:lpstr>Problem 4: punctuating speech</vt:lpstr>
      <vt:lpstr>Problem 5: make the verbs agree</vt:lpstr>
      <vt:lpstr>Problem 6: spelling, capitals and spaces</vt:lpstr>
      <vt:lpstr>Fix it fast</vt:lpstr>
      <vt:lpstr>Fix it fast: answers</vt:lpstr>
      <vt:lpstr>Your next targets (1)</vt:lpstr>
      <vt:lpstr>Your next targets (2)</vt:lpstr>
      <vt:lpstr>Check your fable: checklist and class targets</vt:lpstr>
      <vt:lpstr>Step 1: check your own fable</vt:lpstr>
      <vt:lpstr>Step 2: partner feedback</vt:lpstr>
      <vt:lpstr>Our feedback slip</vt:lpstr>
      <vt:lpstr>Step 3: improve your fable</vt:lpstr>
      <vt:lpstr>Fix-it toolkit</vt:lpstr>
      <vt:lpstr>Plenary: share and reflect</vt:lpstr>
      <vt:lpstr>Exit ticket 🎫</vt:lpstr>
      <vt:lpstr>Exit ticket 🎫</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Fable Doctors – Lesson 5: Feedback</dc:title>
  <dc:subject>PptxGenJS Presentation</dc:subject>
  <dc:creator>Year 5 English</dc:creator>
  <cp:lastModifiedBy>Rozan Zakaria@meis-eg.com</cp:lastModifiedBy>
  <cp:revision>3</cp:revision>
  <dcterms:created xsi:type="dcterms:W3CDTF">2026-10-13T21:35:18Z</dcterms:created>
  <dcterms:modified xsi:type="dcterms:W3CDTF">2026-10-14T06:36:53Z</dcterms:modified>
</cp:coreProperties>
</file>