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6" r:id="rId30"/>
    <p:sldId id="287" r:id="rId31"/>
    <p:sldId id="288" r:id="rId32"/>
    <p:sldId id="284" r:id="rId33"/>
    <p:sldId id="285"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unch" id="{0F345F55-05E8-725A-F178-55754B95666C}">
          <p14:sldIdLst>
            <p14:sldId id="256"/>
            <p14:sldId id="257"/>
            <p14:sldId id="258"/>
            <p14:sldId id="259"/>
          </p14:sldIdLst>
        </p14:section>
        <p14:section name="Learn" id="{1C3300E5-F3B9-37A4-FA36-245D1780FCDD}">
          <p14:sldIdLst>
            <p14:sldId id="260"/>
            <p14:sldId id="261"/>
            <p14:sldId id="262"/>
            <p14:sldId id="263"/>
            <p14:sldId id="264"/>
            <p14:sldId id="265"/>
            <p14:sldId id="266"/>
            <p14:sldId id="267"/>
            <p14:sldId id="268"/>
            <p14:sldId id="269"/>
            <p14:sldId id="270"/>
            <p14:sldId id="271"/>
            <p14:sldId id="272"/>
            <p14:sldId id="273"/>
          </p14:sldIdLst>
        </p14:section>
        <p14:section name="Write Paragraph 1" id="{36E73697-2596-E3E3-D238-627956C0E03C}">
          <p14:sldIdLst>
            <p14:sldId id="274"/>
            <p14:sldId id="275"/>
          </p14:sldIdLst>
        </p14:section>
        <p14:section name="Write Paragraph 2" id="{4B013D21-DC36-3C8C-20C0-99473A730F12}">
          <p14:sldIdLst>
            <p14:sldId id="276"/>
            <p14:sldId id="277"/>
            <p14:sldId id="278"/>
            <p14:sldId id="279"/>
          </p14:sldIdLst>
        </p14:section>
        <p14:section name="Improve and Reflect" id="{EEB457F7-0DFA-3E3D-0E3F-97E3731D58F0}">
          <p14:sldIdLst>
            <p14:sldId id="280"/>
            <p14:sldId id="281"/>
            <p14:sldId id="282"/>
            <p14:sldId id="283"/>
            <p14:sldId id="286"/>
            <p14:sldId id="287"/>
            <p14:sldId id="288"/>
            <p14:sldId id="284"/>
            <p14:sldId id="285"/>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657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every pupil writes 2 paragraphs (80-120 words) from their own story map: Paragraph 1 = Beginning (character, trait shown, place). Paragraph 2 = Problem that comes from the trait + Event 1 (it gets worse). Stop before the big choice.
TIMING: 0-8 map check | 8-26 learn (teacher talk about 15 min) | 26-42 write Paragraph 1 | 42-48 bridge sentence | 48-68 write Paragraph 2 | 68-76 edit | 76-80 exit ticket. Pupils need their story maps from Lesson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outcome together. Keep it short: pupils will spend most of the lesson writing.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Pupils say the six parts back. Today we write the first half of the story map.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min. PUPILS TALK, not the teacher. Circulate and spot maps where the problem is a storm or a bad-luck event. Ask: 'What does your character do that causes this?'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min. Use Geoffrey from the pupils' book. Show how one map box becomes sentences. Keep this to 2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 min. Whiteboard task is 1 minute. Look for actions: 'The lion lifted his head and would not speak to the mice.'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pupils show whiteboards. Praise actions, not adjectives.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min. Read aloud. Pupils colour-code in pairs on their copy or whiteboards.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15-17 min. Link to Lesson 1: the storm is bad luck, the rabbit did nothing wrong.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partner talk.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17-18 min. This is the key idea that closes the gap between the beginning and the problem.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 min. Read aloud and colour-code. Point out: it stops before Geoffrey meets Anthea and makes his big choice. That is next lesson.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min. Pupils actively repair a weak problem. Share 2 answers, e.g. 'Because Gilly was greedy, she ate all her carrots at once. So she had none for winter.'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pupils finish the sentences on whiteboards.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23-26 min. SHARED WRITING. Use a pupil's class idea. Cross out and improve one word on the board. Keep it under 3 minutes of talking.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the teacher's sentences and the class's sentences.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choose their own path and can change. Pick 3-4 pupils to conference with.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same opening at three levels.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26-42 min. Quiet writing. Conference with 3-4 pupils. Prompt for telling: 'What does he DO?' At minute 34, show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minute 34, 3 min. Pupils swap, give one tick and one idea, then go back to writing.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42-48 min. Check every pupil has a bridge sentence where the problem comes from the trait. Pupils without one get a sentence starter.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pupils write their own sentence.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48-68 min. Stop at minute 58 for the link check. Pupils who solved the problem delete the last sentence.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minute 58. Pupils whisper-read and fix one thing.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68-72 min. Pupils underline evidence with a pencil and give one tick and one idea.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72-76 min. Pupils try first; the next slide shows models. Then they improve one sentence of their own.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whiteboards.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76-78 min.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1 minute of the lesson. Pupils read the fable at home (about 100 words) and answer three questions in their book. Support: highlight the trait, problem and result in three colours. Challenge: explain why the lesson matches the story. Answers are on the next slide for the start of Lesson 3.</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highlight the trait, problem and result in three colours instead of writing. Challenge: explain why the lesson matches the story.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Lesson 3. Pupils mark their own answers.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77-80 min. Use as a quick check. Sentence 2 shows who understands the trait to problem link; sentence 3 shows who can show a trait through actions. Pupils who cannot complete 2 or 3 need that modelled again in Lesson 3. Sentence 4 tells you what to re-teach.</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pupils finish. Examples only: pupils answer about their own writing.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1 minute of the lesson. About 150 words. The trait is never named and the lesson is not given, so pupils must infer the trait and write the lesson themselves. Support: highlight the trait evidence, the problem and the result in three colours, and use the because / so frame. Challenge: question 5. Answers are on the next slide for the start of Lesson 3.</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highlight evidence in colours and use the because / so frame. Challenge (question 5): opening of a fable about a greedy character, showing the trait without using the word greedy.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640080" y="1143000"/>
            <a:ext cx="5120640" cy="128016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
        <p:nvSpPr>
          <p:cNvPr id="4" name="Text 1"/>
          <p:cNvSpPr>
            <a:spLocks noGrp="1"/>
          </p:cNvSpPr>
          <p:nvPr>
            <p:ph type="body" idx="102" hasCustomPrompt="1"/>
          </p:nvPr>
        </p:nvSpPr>
        <p:spPr>
          <a:xfrm>
            <a:off x="640080" y="2560320"/>
            <a:ext cx="4846320" cy="82296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822960" y="1737360"/>
            <a:ext cx="5303520" cy="11887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4" name="Text 1"/>
          <p:cNvSpPr>
            <a:spLocks noGrp="1"/>
          </p:cNvSpPr>
          <p:nvPr>
            <p:ph type="body" idx="102" hasCustomPrompt="1"/>
          </p:nvPr>
        </p:nvSpPr>
        <p:spPr>
          <a:xfrm>
            <a:off x="822960" y="3063240"/>
            <a:ext cx="4937760" cy="54864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txBox="1"/>
          <p:nvPr/>
        </p:nvSpPr>
        <p:spPr>
          <a:xfrm>
            <a:off x="457200" y="4754880"/>
            <a:ext cx="731520" cy="219456"/>
          </a:xfrm>
          <a:prstGeom prst="rect">
            <a:avLst/>
          </a:prstGeom>
          <a:noFill/>
          <a:ln/>
        </p:spPr>
        <p:txBody>
          <a:bodyPr wrap="square" lIns="0" tIns="0" rIns="0" bIns="0" rtlCol="0" anchor="ctr"/>
          <a:lstStyle/>
          <a:p>
            <a:pPr marL="0" indent="0">
              <a:buNone/>
            </a:pPr>
            <a:r>
              <a:rPr lang="en-US" sz="1000" b="1" dirty="0">
                <a:solidFill>
                  <a:schemeClr val="accent3"/>
                </a:solidFill>
              </a:rPr>
              <a:t>Story path</a:t>
            </a:r>
            <a:endParaRPr lang="en-US" sz="1000" dirty="0"/>
          </a:p>
        </p:txBody>
      </p:sp>
      <p:sp>
        <p:nvSpPr>
          <p:cNvPr id="4" name="Shape 1"/>
          <p:cNvSpPr/>
          <p:nvPr/>
        </p:nvSpPr>
        <p:spPr>
          <a:xfrm>
            <a:off x="1234440" y="4754880"/>
            <a:ext cx="822960" cy="219456"/>
          </a:xfrm>
          <a:prstGeom prst="rect">
            <a:avLst/>
          </a:prstGeom>
          <a:solidFill>
            <a:schemeClr val="accent1"/>
          </a:solidFill>
          <a:ln w="9525">
            <a:solidFill>
              <a:schemeClr val="accent1"/>
            </a:solidFill>
            <a:prstDash val="solid"/>
          </a:ln>
        </p:spPr>
      </p:sp>
      <p:sp>
        <p:nvSpPr>
          <p:cNvPr id="5" name="Text 2"/>
          <p:cNvSpPr txBox="1"/>
          <p:nvPr/>
        </p:nvSpPr>
        <p:spPr>
          <a:xfrm>
            <a:off x="1234440" y="4754880"/>
            <a:ext cx="822960" cy="219456"/>
          </a:xfrm>
          <a:prstGeom prst="rect">
            <a:avLst/>
          </a:prstGeom>
          <a:noFill/>
          <a:ln/>
        </p:spPr>
        <p:txBody>
          <a:bodyPr wrap="square" lIns="0" tIns="0" rIns="0" bIns="0" rtlCol="0" anchor="ctr"/>
          <a:lstStyle/>
          <a:p>
            <a:pPr marL="0" indent="0" algn="ctr">
              <a:buNone/>
            </a:pPr>
            <a:r>
              <a:rPr lang="en-US" sz="1000" b="1" dirty="0">
                <a:solidFill>
                  <a:schemeClr val="bg1"/>
                </a:solidFill>
              </a:rPr>
              <a:t>Beginning</a:t>
            </a:r>
            <a:endParaRPr lang="en-US" sz="1000" dirty="0"/>
          </a:p>
        </p:txBody>
      </p:sp>
      <p:sp>
        <p:nvSpPr>
          <p:cNvPr id="6" name="Shape 3"/>
          <p:cNvSpPr/>
          <p:nvPr/>
        </p:nvSpPr>
        <p:spPr>
          <a:xfrm>
            <a:off x="2121408" y="4754880"/>
            <a:ext cx="731520" cy="219456"/>
          </a:xfrm>
          <a:prstGeom prst="rect">
            <a:avLst/>
          </a:prstGeom>
          <a:solidFill>
            <a:schemeClr val="accent1"/>
          </a:solidFill>
          <a:ln w="9525">
            <a:solidFill>
              <a:schemeClr val="accent1"/>
            </a:solidFill>
            <a:prstDash val="solid"/>
          </a:ln>
        </p:spPr>
      </p:sp>
      <p:sp>
        <p:nvSpPr>
          <p:cNvPr id="7" name="Text 4"/>
          <p:cNvSpPr txBox="1"/>
          <p:nvPr/>
        </p:nvSpPr>
        <p:spPr>
          <a:xfrm>
            <a:off x="2121408" y="4754880"/>
            <a:ext cx="731520" cy="219456"/>
          </a:xfrm>
          <a:prstGeom prst="rect">
            <a:avLst/>
          </a:prstGeom>
          <a:noFill/>
          <a:ln/>
        </p:spPr>
        <p:txBody>
          <a:bodyPr wrap="square" lIns="0" tIns="0" rIns="0" bIns="0" rtlCol="0" anchor="ctr"/>
          <a:lstStyle/>
          <a:p>
            <a:pPr marL="0" indent="0" algn="ctr">
              <a:buNone/>
            </a:pPr>
            <a:r>
              <a:rPr lang="en-US" sz="1000" b="1" dirty="0">
                <a:solidFill>
                  <a:schemeClr val="bg1"/>
                </a:solidFill>
              </a:rPr>
              <a:t>Problem</a:t>
            </a:r>
            <a:endParaRPr lang="en-US" sz="1000" dirty="0"/>
          </a:p>
        </p:txBody>
      </p:sp>
      <p:sp>
        <p:nvSpPr>
          <p:cNvPr id="8" name="Shape 5"/>
          <p:cNvSpPr/>
          <p:nvPr/>
        </p:nvSpPr>
        <p:spPr>
          <a:xfrm>
            <a:off x="2916936" y="4754880"/>
            <a:ext cx="640080" cy="219456"/>
          </a:xfrm>
          <a:prstGeom prst="rect">
            <a:avLst/>
          </a:prstGeom>
          <a:solidFill>
            <a:schemeClr val="bg2"/>
          </a:solidFill>
          <a:ln w="9525">
            <a:solidFill>
              <a:schemeClr val="accent3"/>
            </a:solidFill>
            <a:prstDash val="solid"/>
          </a:ln>
        </p:spPr>
      </p:sp>
      <p:sp>
        <p:nvSpPr>
          <p:cNvPr id="9" name="Text 6"/>
          <p:cNvSpPr txBox="1"/>
          <p:nvPr/>
        </p:nvSpPr>
        <p:spPr>
          <a:xfrm>
            <a:off x="2916936" y="4754880"/>
            <a:ext cx="640080" cy="219456"/>
          </a:xfrm>
          <a:prstGeom prst="rect">
            <a:avLst/>
          </a:prstGeom>
          <a:noFill/>
          <a:ln/>
        </p:spPr>
        <p:txBody>
          <a:bodyPr wrap="square" lIns="0" tIns="0" rIns="0" bIns="0" rtlCol="0" anchor="ctr"/>
          <a:lstStyle/>
          <a:p>
            <a:pPr marL="0" indent="0" algn="ctr">
              <a:buNone/>
            </a:pPr>
            <a:r>
              <a:rPr lang="en-US" sz="1000" b="1" dirty="0">
                <a:solidFill>
                  <a:schemeClr val="accent3"/>
                </a:solidFill>
              </a:rPr>
              <a:t>Choice</a:t>
            </a:r>
            <a:endParaRPr lang="en-US" sz="1000" dirty="0"/>
          </a:p>
        </p:txBody>
      </p:sp>
      <p:sp>
        <p:nvSpPr>
          <p:cNvPr id="10" name="Shape 7"/>
          <p:cNvSpPr/>
          <p:nvPr/>
        </p:nvSpPr>
        <p:spPr>
          <a:xfrm>
            <a:off x="3621024" y="4754880"/>
            <a:ext cx="960120" cy="219456"/>
          </a:xfrm>
          <a:prstGeom prst="rect">
            <a:avLst/>
          </a:prstGeom>
          <a:solidFill>
            <a:schemeClr val="bg2"/>
          </a:solidFill>
          <a:ln w="9525">
            <a:solidFill>
              <a:schemeClr val="accent3"/>
            </a:solidFill>
            <a:prstDash val="solid"/>
          </a:ln>
        </p:spPr>
      </p:sp>
      <p:sp>
        <p:nvSpPr>
          <p:cNvPr id="11" name="Text 8"/>
          <p:cNvSpPr txBox="1"/>
          <p:nvPr/>
        </p:nvSpPr>
        <p:spPr>
          <a:xfrm>
            <a:off x="3621024" y="4754880"/>
            <a:ext cx="960120" cy="219456"/>
          </a:xfrm>
          <a:prstGeom prst="rect">
            <a:avLst/>
          </a:prstGeom>
          <a:noFill/>
          <a:ln/>
        </p:spPr>
        <p:txBody>
          <a:bodyPr wrap="square" lIns="0" tIns="0" rIns="0" bIns="0" rtlCol="0" anchor="ctr"/>
          <a:lstStyle/>
          <a:p>
            <a:pPr marL="0" indent="0" algn="ctr">
              <a:buNone/>
            </a:pPr>
            <a:r>
              <a:rPr lang="en-US" sz="1000" b="1" dirty="0">
                <a:solidFill>
                  <a:schemeClr val="accent3"/>
                </a:solidFill>
              </a:rPr>
              <a:t>Consequence</a:t>
            </a:r>
            <a:endParaRPr lang="en-US" sz="1000" dirty="0"/>
          </a:p>
        </p:txBody>
      </p:sp>
      <p:sp>
        <p:nvSpPr>
          <p:cNvPr id="12" name="Shape 9"/>
          <p:cNvSpPr/>
          <p:nvPr/>
        </p:nvSpPr>
        <p:spPr>
          <a:xfrm>
            <a:off x="4645152" y="4754880"/>
            <a:ext cx="640080" cy="219456"/>
          </a:xfrm>
          <a:prstGeom prst="rect">
            <a:avLst/>
          </a:prstGeom>
          <a:solidFill>
            <a:schemeClr val="bg2"/>
          </a:solidFill>
          <a:ln w="9525">
            <a:solidFill>
              <a:schemeClr val="accent3"/>
            </a:solidFill>
            <a:prstDash val="solid"/>
          </a:ln>
        </p:spPr>
      </p:sp>
      <p:sp>
        <p:nvSpPr>
          <p:cNvPr id="13" name="Text 10"/>
          <p:cNvSpPr txBox="1"/>
          <p:nvPr/>
        </p:nvSpPr>
        <p:spPr>
          <a:xfrm>
            <a:off x="4645152" y="4754880"/>
            <a:ext cx="640080" cy="219456"/>
          </a:xfrm>
          <a:prstGeom prst="rect">
            <a:avLst/>
          </a:prstGeom>
          <a:noFill/>
          <a:ln/>
        </p:spPr>
        <p:txBody>
          <a:bodyPr wrap="square" lIns="0" tIns="0" rIns="0" bIns="0" rtlCol="0" anchor="ctr"/>
          <a:lstStyle/>
          <a:p>
            <a:pPr marL="0" indent="0" algn="ctr">
              <a:buNone/>
            </a:pPr>
            <a:r>
              <a:rPr lang="en-US" sz="1000" b="1" dirty="0">
                <a:solidFill>
                  <a:schemeClr val="accent3"/>
                </a:solidFill>
              </a:rPr>
              <a:t>Moral</a:t>
            </a:r>
            <a:endParaRPr lang="en-US" sz="10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TI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a:spLocks noGrp="1"/>
          </p:cNvSpPr>
          <p:nvPr>
            <p:ph type="title" idx="101"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1"/>
          <p:cNvSpPr txBox="1"/>
          <p:nvPr/>
        </p:nvSpPr>
        <p:spPr>
          <a:xfrm>
            <a:off x="457200" y="4754880"/>
            <a:ext cx="731520" cy="219456"/>
          </a:xfrm>
          <a:prstGeom prst="rect">
            <a:avLst/>
          </a:prstGeom>
          <a:noFill/>
          <a:ln/>
        </p:spPr>
        <p:txBody>
          <a:bodyPr wrap="square" lIns="0" tIns="0" rIns="0" bIns="0" rtlCol="0" anchor="ctr"/>
          <a:lstStyle/>
          <a:p>
            <a:pPr marL="0" indent="0">
              <a:buNone/>
            </a:pPr>
            <a:r>
              <a:rPr lang="en-US" sz="1000" b="1" dirty="0">
                <a:solidFill>
                  <a:schemeClr val="accent3"/>
                </a:solidFill>
              </a:rPr>
              <a:t>Story path</a:t>
            </a:r>
            <a:endParaRPr lang="en-US" sz="1000" dirty="0"/>
          </a:p>
        </p:txBody>
      </p:sp>
      <p:sp>
        <p:nvSpPr>
          <p:cNvPr id="5" name="Shape 2"/>
          <p:cNvSpPr/>
          <p:nvPr/>
        </p:nvSpPr>
        <p:spPr>
          <a:xfrm>
            <a:off x="1234440" y="4754880"/>
            <a:ext cx="822960" cy="219456"/>
          </a:xfrm>
          <a:prstGeom prst="rect">
            <a:avLst/>
          </a:prstGeom>
          <a:solidFill>
            <a:schemeClr val="accent1"/>
          </a:solidFill>
          <a:ln w="9525">
            <a:solidFill>
              <a:schemeClr val="accent1"/>
            </a:solidFill>
            <a:prstDash val="solid"/>
          </a:ln>
        </p:spPr>
      </p:sp>
      <p:sp>
        <p:nvSpPr>
          <p:cNvPr id="6" name="Text 3"/>
          <p:cNvSpPr txBox="1"/>
          <p:nvPr/>
        </p:nvSpPr>
        <p:spPr>
          <a:xfrm>
            <a:off x="1234440" y="4754880"/>
            <a:ext cx="822960" cy="219456"/>
          </a:xfrm>
          <a:prstGeom prst="rect">
            <a:avLst/>
          </a:prstGeom>
          <a:noFill/>
          <a:ln/>
        </p:spPr>
        <p:txBody>
          <a:bodyPr wrap="square" lIns="0" tIns="0" rIns="0" bIns="0" rtlCol="0" anchor="ctr"/>
          <a:lstStyle/>
          <a:p>
            <a:pPr marL="0" indent="0" algn="ctr">
              <a:buNone/>
            </a:pPr>
            <a:r>
              <a:rPr lang="en-US" sz="1000" b="1" dirty="0">
                <a:solidFill>
                  <a:schemeClr val="bg1"/>
                </a:solidFill>
              </a:rPr>
              <a:t>Beginning</a:t>
            </a:r>
            <a:endParaRPr lang="en-US" sz="1000" dirty="0"/>
          </a:p>
        </p:txBody>
      </p:sp>
      <p:sp>
        <p:nvSpPr>
          <p:cNvPr id="7" name="Shape 4"/>
          <p:cNvSpPr/>
          <p:nvPr/>
        </p:nvSpPr>
        <p:spPr>
          <a:xfrm>
            <a:off x="2121408" y="4754880"/>
            <a:ext cx="731520" cy="219456"/>
          </a:xfrm>
          <a:prstGeom prst="rect">
            <a:avLst/>
          </a:prstGeom>
          <a:solidFill>
            <a:schemeClr val="accent1"/>
          </a:solidFill>
          <a:ln w="9525">
            <a:solidFill>
              <a:schemeClr val="accent1"/>
            </a:solidFill>
            <a:prstDash val="solid"/>
          </a:ln>
        </p:spPr>
      </p:sp>
      <p:sp>
        <p:nvSpPr>
          <p:cNvPr id="8" name="Text 5"/>
          <p:cNvSpPr txBox="1"/>
          <p:nvPr/>
        </p:nvSpPr>
        <p:spPr>
          <a:xfrm>
            <a:off x="2121408" y="4754880"/>
            <a:ext cx="731520" cy="219456"/>
          </a:xfrm>
          <a:prstGeom prst="rect">
            <a:avLst/>
          </a:prstGeom>
          <a:noFill/>
          <a:ln/>
        </p:spPr>
        <p:txBody>
          <a:bodyPr wrap="square" lIns="0" tIns="0" rIns="0" bIns="0" rtlCol="0" anchor="ctr"/>
          <a:lstStyle/>
          <a:p>
            <a:pPr marL="0" indent="0" algn="ctr">
              <a:buNone/>
            </a:pPr>
            <a:r>
              <a:rPr lang="en-US" sz="1000" b="1" dirty="0">
                <a:solidFill>
                  <a:schemeClr val="bg1"/>
                </a:solidFill>
              </a:rPr>
              <a:t>Problem</a:t>
            </a:r>
            <a:endParaRPr lang="en-US" sz="1000" dirty="0"/>
          </a:p>
        </p:txBody>
      </p:sp>
      <p:sp>
        <p:nvSpPr>
          <p:cNvPr id="9" name="Shape 6"/>
          <p:cNvSpPr/>
          <p:nvPr/>
        </p:nvSpPr>
        <p:spPr>
          <a:xfrm>
            <a:off x="2916936" y="4754880"/>
            <a:ext cx="640080" cy="219456"/>
          </a:xfrm>
          <a:prstGeom prst="rect">
            <a:avLst/>
          </a:prstGeom>
          <a:solidFill>
            <a:schemeClr val="bg2"/>
          </a:solidFill>
          <a:ln w="9525">
            <a:solidFill>
              <a:schemeClr val="accent3"/>
            </a:solidFill>
            <a:prstDash val="solid"/>
          </a:ln>
        </p:spPr>
      </p:sp>
      <p:sp>
        <p:nvSpPr>
          <p:cNvPr id="10" name="Text 7"/>
          <p:cNvSpPr txBox="1"/>
          <p:nvPr/>
        </p:nvSpPr>
        <p:spPr>
          <a:xfrm>
            <a:off x="2916936" y="4754880"/>
            <a:ext cx="640080" cy="219456"/>
          </a:xfrm>
          <a:prstGeom prst="rect">
            <a:avLst/>
          </a:prstGeom>
          <a:noFill/>
          <a:ln/>
        </p:spPr>
        <p:txBody>
          <a:bodyPr wrap="square" lIns="0" tIns="0" rIns="0" bIns="0" rtlCol="0" anchor="ctr"/>
          <a:lstStyle/>
          <a:p>
            <a:pPr marL="0" indent="0" algn="ctr">
              <a:buNone/>
            </a:pPr>
            <a:r>
              <a:rPr lang="en-US" sz="1000" b="1" dirty="0">
                <a:solidFill>
                  <a:schemeClr val="accent3"/>
                </a:solidFill>
              </a:rPr>
              <a:t>Choice</a:t>
            </a:r>
            <a:endParaRPr lang="en-US" sz="1000" dirty="0"/>
          </a:p>
        </p:txBody>
      </p:sp>
      <p:sp>
        <p:nvSpPr>
          <p:cNvPr id="11" name="Shape 8"/>
          <p:cNvSpPr/>
          <p:nvPr/>
        </p:nvSpPr>
        <p:spPr>
          <a:xfrm>
            <a:off x="3621024" y="4754880"/>
            <a:ext cx="960120" cy="219456"/>
          </a:xfrm>
          <a:prstGeom prst="rect">
            <a:avLst/>
          </a:prstGeom>
          <a:solidFill>
            <a:schemeClr val="bg2"/>
          </a:solidFill>
          <a:ln w="9525">
            <a:solidFill>
              <a:schemeClr val="accent3"/>
            </a:solidFill>
            <a:prstDash val="solid"/>
          </a:ln>
        </p:spPr>
      </p:sp>
      <p:sp>
        <p:nvSpPr>
          <p:cNvPr id="12" name="Text 9"/>
          <p:cNvSpPr txBox="1"/>
          <p:nvPr/>
        </p:nvSpPr>
        <p:spPr>
          <a:xfrm>
            <a:off x="3621024" y="4754880"/>
            <a:ext cx="960120" cy="219456"/>
          </a:xfrm>
          <a:prstGeom prst="rect">
            <a:avLst/>
          </a:prstGeom>
          <a:noFill/>
          <a:ln/>
        </p:spPr>
        <p:txBody>
          <a:bodyPr wrap="square" lIns="0" tIns="0" rIns="0" bIns="0" rtlCol="0" anchor="ctr"/>
          <a:lstStyle/>
          <a:p>
            <a:pPr marL="0" indent="0" algn="ctr">
              <a:buNone/>
            </a:pPr>
            <a:r>
              <a:rPr lang="en-US" sz="1000" b="1" dirty="0">
                <a:solidFill>
                  <a:schemeClr val="accent3"/>
                </a:solidFill>
              </a:rPr>
              <a:t>Consequence</a:t>
            </a:r>
            <a:endParaRPr lang="en-US" sz="1000" dirty="0"/>
          </a:p>
        </p:txBody>
      </p:sp>
      <p:sp>
        <p:nvSpPr>
          <p:cNvPr id="13" name="Shape 10"/>
          <p:cNvSpPr/>
          <p:nvPr/>
        </p:nvSpPr>
        <p:spPr>
          <a:xfrm>
            <a:off x="4645152" y="4754880"/>
            <a:ext cx="640080" cy="219456"/>
          </a:xfrm>
          <a:prstGeom prst="rect">
            <a:avLst/>
          </a:prstGeom>
          <a:solidFill>
            <a:schemeClr val="bg2"/>
          </a:solidFill>
          <a:ln w="9525">
            <a:solidFill>
              <a:schemeClr val="accent3"/>
            </a:solidFill>
            <a:prstDash val="solid"/>
          </a:ln>
        </p:spPr>
      </p:sp>
      <p:sp>
        <p:nvSpPr>
          <p:cNvPr id="14" name="Text 11"/>
          <p:cNvSpPr txBox="1"/>
          <p:nvPr/>
        </p:nvSpPr>
        <p:spPr>
          <a:xfrm>
            <a:off x="4645152" y="4754880"/>
            <a:ext cx="640080" cy="219456"/>
          </a:xfrm>
          <a:prstGeom prst="rect">
            <a:avLst/>
          </a:prstGeom>
          <a:noFill/>
          <a:ln/>
        </p:spPr>
        <p:txBody>
          <a:bodyPr wrap="square" lIns="0" tIns="0" rIns="0" bIns="0" rtlCol="0" anchor="ctr"/>
          <a:lstStyle/>
          <a:p>
            <a:pPr marL="0" indent="0" algn="ctr">
              <a:buNone/>
            </a:pPr>
            <a:r>
              <a:rPr lang="en-US" sz="1000" b="1" dirty="0">
                <a:solidFill>
                  <a:schemeClr val="accent3"/>
                </a:solidFill>
              </a:rPr>
              <a:t>Moral</a:t>
            </a:r>
            <a:endParaRPr lang="en-US" sz="10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ck hill"/>
          <p:cNvSpPr/>
          <p:nvPr/>
        </p:nvSpPr>
        <p:spPr>
          <a:xfrm>
            <a:off x="-1828800" y="3611880"/>
            <a:ext cx="7863840" cy="3291840"/>
          </a:xfrm>
          <a:prstGeom prst="ellipse">
            <a:avLst/>
          </a:prstGeom>
          <a:solidFill>
            <a:schemeClr val="accent3"/>
          </a:solidFill>
          <a:ln/>
        </p:spPr>
      </p:sp>
      <p:sp>
        <p:nvSpPr>
          <p:cNvPr id="3" name="Front hill"/>
          <p:cNvSpPr/>
          <p:nvPr/>
        </p:nvSpPr>
        <p:spPr>
          <a:xfrm>
            <a:off x="3108960" y="3977640"/>
            <a:ext cx="7680960" cy="2926080"/>
          </a:xfrm>
          <a:prstGeom prst="ellipse">
            <a:avLst/>
          </a:prstGeom>
          <a:solidFill>
            <a:schemeClr val="tx1"/>
          </a:solidFill>
          <a:ln/>
        </p:spPr>
      </p:sp>
      <p:sp>
        <p:nvSpPr>
          <p:cNvPr id="4" name="Gold ring"/>
          <p:cNvSpPr/>
          <p:nvPr/>
        </p:nvSpPr>
        <p:spPr>
          <a:xfrm>
            <a:off x="5806440" y="868680"/>
            <a:ext cx="2743200" cy="2743200"/>
          </a:xfrm>
          <a:prstGeom prst="ellipse">
            <a:avLst/>
          </a:prstGeom>
          <a:solidFill>
            <a:schemeClr val="accent2"/>
          </a:solidFill>
          <a:ln/>
        </p:spPr>
      </p:sp>
      <p:sp>
        <p:nvSpPr>
          <p:cNvPr id="5" name="Fox circle"/>
          <p:cNvSpPr/>
          <p:nvPr/>
        </p:nvSpPr>
        <p:spPr>
          <a:xfrm>
            <a:off x="5961888" y="1024128"/>
            <a:ext cx="2432304" cy="2432304"/>
          </a:xfrm>
          <a:prstGeom prst="ellipse">
            <a:avLst/>
          </a:prstGeom>
          <a:solidFill>
            <a:schemeClr val="accent1"/>
          </a:solidFill>
          <a:ln/>
        </p:spPr>
      </p:sp>
      <p:pic>
        <p:nvPicPr>
          <p:cNvPr id="6" name="Image 0" descr="Fox"/>
          <p:cNvPicPr>
            <a:picLocks noChangeAspect="1"/>
          </p:cNvPicPr>
          <p:nvPr/>
        </p:nvPicPr>
        <p:blipFill>
          <a:blip r:embed="rId3"/>
          <a:stretch>
            <a:fillRect/>
          </a:stretch>
        </p:blipFill>
        <p:spPr>
          <a:xfrm>
            <a:off x="6355080" y="1417320"/>
            <a:ext cx="1645920" cy="1645920"/>
          </a:xfrm>
          <a:prstGeom prst="rect">
            <a:avLst/>
          </a:prstGeom>
        </p:spPr>
      </p:pic>
      <p:sp>
        <p:nvSpPr>
          <p:cNvPr id="7" name="Chip 1"/>
          <p:cNvSpPr/>
          <p:nvPr/>
        </p:nvSpPr>
        <p:spPr>
          <a:xfrm>
            <a:off x="640080" y="502920"/>
            <a:ext cx="3566160" cy="329184"/>
          </a:xfrm>
          <a:prstGeom prst="roundRect">
            <a:avLst>
              <a:gd name="adj" fmla="val 50000"/>
            </a:avLst>
          </a:prstGeom>
          <a:solidFill>
            <a:schemeClr val="accent2"/>
          </a:solidFill>
          <a:ln/>
        </p:spPr>
      </p:sp>
      <p:sp>
        <p:nvSpPr>
          <p:cNvPr id="8" name="Text 5"/>
          <p:cNvSpPr txBox="1"/>
          <p:nvPr/>
        </p:nvSpPr>
        <p:spPr>
          <a:xfrm>
            <a:off x="640080" y="502920"/>
            <a:ext cx="3566160" cy="329184"/>
          </a:xfrm>
          <a:prstGeom prst="rect">
            <a:avLst/>
          </a:prstGeom>
          <a:noFill/>
          <a:ln/>
        </p:spPr>
        <p:txBody>
          <a:bodyPr wrap="square" lIns="0" tIns="0" rIns="0" bIns="0" rtlCol="0" anchor="ctr"/>
          <a:lstStyle/>
          <a:p>
            <a:pPr marL="0" indent="0" algn="ctr">
              <a:buNone/>
            </a:pPr>
            <a:r>
              <a:rPr lang="en-US" sz="1100" b="1" dirty="0">
                <a:solidFill>
                  <a:schemeClr val="tx2"/>
                </a:solidFill>
              </a:rPr>
              <a:t>YEAR 5  ·  WRITING  ·  LESSON 2  ·  80 MIN</a:t>
            </a:r>
            <a:endParaRPr lang="en-US" sz="1100" dirty="0"/>
          </a:p>
        </p:txBody>
      </p:sp>
      <p:sp>
        <p:nvSpPr>
          <p:cNvPr id="9" name="Text 1"/>
          <p:cNvSpPr>
            <a:spLocks noGrp="1"/>
          </p:cNvSpPr>
          <p:nvPr>
            <p:ph type="title" idx="101" hasCustomPrompt="1"/>
          </p:nvPr>
        </p:nvSpPr>
        <p:spPr>
          <a:xfrm>
            <a:off x="640080" y="1143000"/>
            <a:ext cx="5120640" cy="1280160"/>
          </a:xfrm>
          <a:prstGeom prst="rect">
            <a:avLst/>
          </a:prstGeom>
          <a:noFill/>
          <a:ln/>
        </p:spPr>
        <p:txBody>
          <a:bodyPr wrap="square" lIns="0" tIns="0" rIns="0" bIns="0" rtlCol="0" anchor="b"/>
          <a:lstStyle/>
          <a:p>
            <a:pPr marL="0" indent="0" algn="l">
              <a:buNone/>
            </a:pPr>
            <a:r>
              <a:rPr lang="en-US" sz="5000" b="1" dirty="0">
                <a:solidFill>
                  <a:schemeClr val="bg1"/>
                </a:solidFill>
              </a:rPr>
              <a:t>Write a Fable</a:t>
            </a:r>
            <a:endParaRPr lang="en-US" sz="5000" dirty="0"/>
          </a:p>
        </p:txBody>
      </p:sp>
      <p:sp>
        <p:nvSpPr>
          <p:cNvPr id="10" name="Text 1"/>
          <p:cNvSpPr>
            <a:spLocks noGrp="1"/>
          </p:cNvSpPr>
          <p:nvPr>
            <p:ph type="body" idx="102" hasCustomPrompt="1"/>
          </p:nvPr>
        </p:nvSpPr>
        <p:spPr>
          <a:xfrm>
            <a:off x="640080" y="2560320"/>
            <a:ext cx="4846320" cy="822960"/>
          </a:xfrm>
          <a:prstGeom prst="rect">
            <a:avLst/>
          </a:prstGeom>
          <a:noFill/>
          <a:ln/>
        </p:spPr>
        <p:txBody>
          <a:bodyPr wrap="square" lIns="0" tIns="0" rIns="0" bIns="0" rtlCol="0" anchor="t"/>
          <a:lstStyle/>
          <a:p>
            <a:pPr marL="0" indent="0" algn="l">
              <a:buNone/>
            </a:pPr>
            <a:r>
              <a:rPr lang="en-US" sz="2000" dirty="0">
                <a:solidFill>
                  <a:schemeClr val="accent2"/>
                </a:solidFill>
              </a:rPr>
              <a:t>Turn your story map into writing</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Today's outcome</a:t>
            </a:r>
            <a:endParaRPr lang="en-US" sz="3400" dirty="0"/>
          </a:p>
        </p:txBody>
      </p:sp>
      <p:sp>
        <p:nvSpPr>
          <p:cNvPr id="3" name="Badge 2"/>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3"/>
          <p:cNvSpPr/>
          <p:nvPr/>
        </p:nvSpPr>
        <p:spPr>
          <a:xfrm>
            <a:off x="457200" y="1188720"/>
            <a:ext cx="8229600" cy="1005840"/>
          </a:xfrm>
          <a:prstGeom prst="roundRect">
            <a:avLst>
              <a:gd name="adj" fmla="val 10909"/>
            </a:avLst>
          </a:prstGeom>
          <a:solidFill>
            <a:schemeClr val="tx2"/>
          </a:solidFill>
          <a:ln/>
          <a:effectLst>
            <a:outerShdw blurRad="101600" dist="25400" dir="5400000" algn="bl" rotWithShape="0">
              <a:srgbClr val="000000">
                <a:alpha val="16000"/>
              </a:srgbClr>
            </a:outerShdw>
          </a:effectLst>
        </p:spPr>
      </p:sp>
      <p:sp>
        <p:nvSpPr>
          <p:cNvPr id="6" name="Text 3"/>
          <p:cNvSpPr txBox="1"/>
          <p:nvPr/>
        </p:nvSpPr>
        <p:spPr>
          <a:xfrm>
            <a:off x="685800" y="1188720"/>
            <a:ext cx="7772400" cy="1005840"/>
          </a:xfrm>
          <a:prstGeom prst="rect">
            <a:avLst/>
          </a:prstGeom>
          <a:noFill/>
          <a:ln/>
        </p:spPr>
        <p:txBody>
          <a:bodyPr wrap="square" lIns="0" tIns="0" rIns="0" bIns="0" rtlCol="0" anchor="ctr"/>
          <a:lstStyle/>
          <a:p>
            <a:pPr marL="0" indent="0">
              <a:buNone/>
            </a:pPr>
            <a:r>
              <a:rPr lang="en-US" sz="2100" b="1" dirty="0">
                <a:solidFill>
                  <a:schemeClr val="accent2"/>
                </a:solidFill>
                <a:latin typeface="Cambria" pitchFamily="34" charset="0"/>
                <a:ea typeface="Cambria" pitchFamily="34" charset="-122"/>
                <a:cs typeface="Cambria" pitchFamily="34" charset="-120"/>
              </a:rPr>
              <a:t>By the end of the lesson, </a:t>
            </a:r>
            <a:r>
              <a:rPr lang="en-US" sz="2100" dirty="0">
                <a:solidFill>
                  <a:schemeClr val="bg1"/>
                </a:solidFill>
                <a:latin typeface="Cambria" pitchFamily="34" charset="0"/>
                <a:ea typeface="Cambria" pitchFamily="34" charset="-122"/>
                <a:cs typeface="Cambria" pitchFamily="34" charset="-120"/>
              </a:rPr>
              <a:t>I will have written 2 paragraphs from my story map.</a:t>
            </a:r>
            <a:endParaRPr lang="en-US" sz="2100" dirty="0"/>
          </a:p>
        </p:txBody>
      </p:sp>
      <p:sp>
        <p:nvSpPr>
          <p:cNvPr id="7" name="Card 4"/>
          <p:cNvSpPr/>
          <p:nvPr/>
        </p:nvSpPr>
        <p:spPr>
          <a:xfrm>
            <a:off x="457200" y="2377440"/>
            <a:ext cx="2606040" cy="2148840"/>
          </a:xfrm>
          <a:prstGeom prst="roundRect">
            <a:avLst>
              <a:gd name="adj" fmla="val 5106"/>
            </a:avLst>
          </a:prstGeom>
          <a:solidFill>
            <a:schemeClr val="bg1"/>
          </a:solidFill>
          <a:ln/>
          <a:effectLst>
            <a:outerShdw blurRad="101600" dist="25400" dir="5400000" algn="bl" rotWithShape="0">
              <a:srgbClr val="000000">
                <a:alpha val="16000"/>
              </a:srgbClr>
            </a:outerShdw>
          </a:effectLst>
        </p:spPr>
      </p:sp>
      <p:sp>
        <p:nvSpPr>
          <p:cNvPr id="8" name="Badge 5"/>
          <p:cNvSpPr/>
          <p:nvPr/>
        </p:nvSpPr>
        <p:spPr>
          <a:xfrm>
            <a:off x="640080" y="2514600"/>
            <a:ext cx="594360" cy="594360"/>
          </a:xfrm>
          <a:prstGeom prst="ellipse">
            <a:avLst/>
          </a:prstGeom>
          <a:solidFill>
            <a:schemeClr val="accent3"/>
          </a:solidFill>
          <a:ln/>
        </p:spPr>
      </p:sp>
      <p:pic>
        <p:nvPicPr>
          <p:cNvPr id="9" name="Image 1" descr="Show the trait"/>
          <p:cNvPicPr>
            <a:picLocks noChangeAspect="1"/>
          </p:cNvPicPr>
          <p:nvPr/>
        </p:nvPicPr>
        <p:blipFill>
          <a:blip r:embed="rId4"/>
          <a:stretch>
            <a:fillRect/>
          </a:stretch>
        </p:blipFill>
        <p:spPr>
          <a:xfrm>
            <a:off x="770839" y="2645359"/>
            <a:ext cx="332842" cy="332842"/>
          </a:xfrm>
          <a:prstGeom prst="rect">
            <a:avLst/>
          </a:prstGeom>
        </p:spPr>
      </p:pic>
      <p:sp>
        <p:nvSpPr>
          <p:cNvPr id="10" name="Text 6"/>
          <p:cNvSpPr txBox="1"/>
          <p:nvPr/>
        </p:nvSpPr>
        <p:spPr>
          <a:xfrm>
            <a:off x="1371600" y="2514600"/>
            <a:ext cx="1600200" cy="594360"/>
          </a:xfrm>
          <a:prstGeom prst="rect">
            <a:avLst/>
          </a:prstGeom>
          <a:noFill/>
          <a:ln/>
        </p:spPr>
        <p:txBody>
          <a:bodyPr wrap="square" lIns="0" tIns="0" rIns="0" bIns="0" rtlCol="0" anchor="ctr"/>
          <a:lstStyle/>
          <a:p>
            <a:pPr marL="0" indent="0">
              <a:buNone/>
            </a:pPr>
            <a:r>
              <a:rPr lang="en-US" sz="1700" b="1" dirty="0">
                <a:solidFill>
                  <a:schemeClr val="tx2"/>
                </a:solidFill>
                <a:latin typeface="Cambria" pitchFamily="34" charset="0"/>
                <a:ea typeface="Cambria" pitchFamily="34" charset="-122"/>
                <a:cs typeface="Cambria" pitchFamily="34" charset="-120"/>
              </a:rPr>
              <a:t>Show the trait</a:t>
            </a:r>
            <a:endParaRPr lang="en-US" sz="1700" dirty="0"/>
          </a:p>
        </p:txBody>
      </p:sp>
      <p:sp>
        <p:nvSpPr>
          <p:cNvPr id="11" name="Text 7"/>
          <p:cNvSpPr txBox="1"/>
          <p:nvPr/>
        </p:nvSpPr>
        <p:spPr>
          <a:xfrm>
            <a:off x="640080" y="3291840"/>
            <a:ext cx="2240280" cy="1143000"/>
          </a:xfrm>
          <a:prstGeom prst="rect">
            <a:avLst/>
          </a:prstGeom>
          <a:noFill/>
          <a:ln/>
        </p:spPr>
        <p:txBody>
          <a:bodyPr wrap="square" lIns="0" tIns="0" rIns="0" bIns="0" rtlCol="0" anchor="t"/>
          <a:lstStyle/>
          <a:p>
            <a:pPr marL="0" indent="0">
              <a:buNone/>
            </a:pPr>
            <a:r>
              <a:rPr lang="en-US" sz="1600" dirty="0">
                <a:solidFill>
                  <a:schemeClr val="tx1"/>
                </a:solidFill>
              </a:rPr>
              <a:t>I can show what my character is like by what they DO.</a:t>
            </a:r>
            <a:endParaRPr lang="en-US" sz="1600" dirty="0"/>
          </a:p>
        </p:txBody>
      </p:sp>
      <p:sp>
        <p:nvSpPr>
          <p:cNvPr id="12" name="Card 6"/>
          <p:cNvSpPr/>
          <p:nvPr/>
        </p:nvSpPr>
        <p:spPr>
          <a:xfrm>
            <a:off x="3268980" y="2377440"/>
            <a:ext cx="2606040" cy="2148840"/>
          </a:xfrm>
          <a:prstGeom prst="roundRect">
            <a:avLst>
              <a:gd name="adj" fmla="val 5106"/>
            </a:avLst>
          </a:prstGeom>
          <a:solidFill>
            <a:schemeClr val="bg1"/>
          </a:solidFill>
          <a:ln/>
          <a:effectLst>
            <a:outerShdw blurRad="101600" dist="25400" dir="5400000" algn="bl" rotWithShape="0">
              <a:srgbClr val="000000">
                <a:alpha val="16000"/>
              </a:srgbClr>
            </a:outerShdw>
          </a:effectLst>
        </p:spPr>
      </p:sp>
      <p:sp>
        <p:nvSpPr>
          <p:cNvPr id="13" name="Badge 7"/>
          <p:cNvSpPr/>
          <p:nvPr/>
        </p:nvSpPr>
        <p:spPr>
          <a:xfrm>
            <a:off x="3451860" y="2514600"/>
            <a:ext cx="594360" cy="594360"/>
          </a:xfrm>
          <a:prstGeom prst="ellipse">
            <a:avLst/>
          </a:prstGeom>
          <a:solidFill>
            <a:schemeClr val="accent6"/>
          </a:solidFill>
          <a:ln/>
        </p:spPr>
      </p:sp>
      <p:pic>
        <p:nvPicPr>
          <p:cNvPr id="14" name="Image 2" descr="Link trait to problem"/>
          <p:cNvPicPr>
            <a:picLocks noChangeAspect="1"/>
          </p:cNvPicPr>
          <p:nvPr/>
        </p:nvPicPr>
        <p:blipFill>
          <a:blip r:embed="rId5"/>
          <a:stretch>
            <a:fillRect/>
          </a:stretch>
        </p:blipFill>
        <p:spPr>
          <a:xfrm>
            <a:off x="3582619" y="2645359"/>
            <a:ext cx="332842" cy="332842"/>
          </a:xfrm>
          <a:prstGeom prst="rect">
            <a:avLst/>
          </a:prstGeom>
        </p:spPr>
      </p:pic>
      <p:sp>
        <p:nvSpPr>
          <p:cNvPr id="15" name="Text 10"/>
          <p:cNvSpPr txBox="1"/>
          <p:nvPr/>
        </p:nvSpPr>
        <p:spPr>
          <a:xfrm>
            <a:off x="4183380" y="2514600"/>
            <a:ext cx="1600200" cy="594360"/>
          </a:xfrm>
          <a:prstGeom prst="rect">
            <a:avLst/>
          </a:prstGeom>
          <a:noFill/>
          <a:ln/>
        </p:spPr>
        <p:txBody>
          <a:bodyPr wrap="square" lIns="0" tIns="0" rIns="0" bIns="0" rtlCol="0" anchor="ctr"/>
          <a:lstStyle/>
          <a:p>
            <a:pPr marL="0" indent="0">
              <a:buNone/>
            </a:pPr>
            <a:r>
              <a:rPr lang="en-US" sz="1700" b="1" dirty="0">
                <a:solidFill>
                  <a:schemeClr val="tx2"/>
                </a:solidFill>
                <a:latin typeface="Cambria" pitchFamily="34" charset="0"/>
                <a:ea typeface="Cambria" pitchFamily="34" charset="-122"/>
                <a:cs typeface="Cambria" pitchFamily="34" charset="-120"/>
              </a:rPr>
              <a:t>Link trait to problem</a:t>
            </a:r>
            <a:endParaRPr lang="en-US" sz="1700" dirty="0"/>
          </a:p>
        </p:txBody>
      </p:sp>
      <p:sp>
        <p:nvSpPr>
          <p:cNvPr id="16" name="Text 11"/>
          <p:cNvSpPr txBox="1"/>
          <p:nvPr/>
        </p:nvSpPr>
        <p:spPr>
          <a:xfrm>
            <a:off x="3451860" y="3291840"/>
            <a:ext cx="2240280" cy="1143000"/>
          </a:xfrm>
          <a:prstGeom prst="rect">
            <a:avLst/>
          </a:prstGeom>
          <a:noFill/>
          <a:ln/>
        </p:spPr>
        <p:txBody>
          <a:bodyPr wrap="square" lIns="0" tIns="0" rIns="0" bIns="0" rtlCol="0" anchor="t"/>
          <a:lstStyle/>
          <a:p>
            <a:pPr marL="0" indent="0">
              <a:buNone/>
            </a:pPr>
            <a:r>
              <a:rPr lang="en-US" sz="1600" dirty="0">
                <a:solidFill>
                  <a:schemeClr val="tx1"/>
                </a:solidFill>
              </a:rPr>
              <a:t>I can use because and so to link the trait to the problem.</a:t>
            </a:r>
            <a:endParaRPr lang="en-US" sz="1600" dirty="0"/>
          </a:p>
        </p:txBody>
      </p:sp>
      <p:sp>
        <p:nvSpPr>
          <p:cNvPr id="17" name="Card 8"/>
          <p:cNvSpPr/>
          <p:nvPr/>
        </p:nvSpPr>
        <p:spPr>
          <a:xfrm>
            <a:off x="6080760" y="2377440"/>
            <a:ext cx="2606040" cy="2148840"/>
          </a:xfrm>
          <a:prstGeom prst="roundRect">
            <a:avLst>
              <a:gd name="adj" fmla="val 5106"/>
            </a:avLst>
          </a:prstGeom>
          <a:solidFill>
            <a:schemeClr val="bg1"/>
          </a:solidFill>
          <a:ln/>
          <a:effectLst>
            <a:outerShdw blurRad="101600" dist="25400" dir="5400000" algn="bl" rotWithShape="0">
              <a:srgbClr val="000000">
                <a:alpha val="16000"/>
              </a:srgbClr>
            </a:outerShdw>
          </a:effectLst>
        </p:spPr>
      </p:sp>
      <p:sp>
        <p:nvSpPr>
          <p:cNvPr id="18" name="Badge 9"/>
          <p:cNvSpPr/>
          <p:nvPr/>
        </p:nvSpPr>
        <p:spPr>
          <a:xfrm>
            <a:off x="6263640" y="2514600"/>
            <a:ext cx="594360" cy="594360"/>
          </a:xfrm>
          <a:prstGeom prst="ellipse">
            <a:avLst/>
          </a:prstGeom>
          <a:solidFill>
            <a:schemeClr val="accent4"/>
          </a:solidFill>
          <a:ln/>
        </p:spPr>
      </p:sp>
      <p:pic>
        <p:nvPicPr>
          <p:cNvPr id="19" name="Image 3" descr="Map to writing"/>
          <p:cNvPicPr>
            <a:picLocks noChangeAspect="1"/>
          </p:cNvPicPr>
          <p:nvPr/>
        </p:nvPicPr>
        <p:blipFill>
          <a:blip r:embed="rId6"/>
          <a:stretch>
            <a:fillRect/>
          </a:stretch>
        </p:blipFill>
        <p:spPr>
          <a:xfrm>
            <a:off x="6394399" y="2645359"/>
            <a:ext cx="332842" cy="332842"/>
          </a:xfrm>
          <a:prstGeom prst="rect">
            <a:avLst/>
          </a:prstGeom>
        </p:spPr>
      </p:pic>
      <p:sp>
        <p:nvSpPr>
          <p:cNvPr id="20" name="Text 14"/>
          <p:cNvSpPr txBox="1"/>
          <p:nvPr/>
        </p:nvSpPr>
        <p:spPr>
          <a:xfrm>
            <a:off x="6995160" y="2514600"/>
            <a:ext cx="1600200" cy="594360"/>
          </a:xfrm>
          <a:prstGeom prst="rect">
            <a:avLst/>
          </a:prstGeom>
          <a:noFill/>
          <a:ln/>
        </p:spPr>
        <p:txBody>
          <a:bodyPr wrap="square" lIns="0" tIns="0" rIns="0" bIns="0" rtlCol="0" anchor="ctr"/>
          <a:lstStyle/>
          <a:p>
            <a:pPr marL="0" indent="0">
              <a:buNone/>
            </a:pPr>
            <a:r>
              <a:rPr lang="en-US" sz="1700" b="1" dirty="0">
                <a:solidFill>
                  <a:schemeClr val="tx2"/>
                </a:solidFill>
                <a:latin typeface="Cambria" pitchFamily="34" charset="0"/>
                <a:ea typeface="Cambria" pitchFamily="34" charset="-122"/>
                <a:cs typeface="Cambria" pitchFamily="34" charset="-120"/>
              </a:rPr>
              <a:t>Map to writing</a:t>
            </a:r>
            <a:endParaRPr lang="en-US" sz="1700" dirty="0"/>
          </a:p>
        </p:txBody>
      </p:sp>
      <p:sp>
        <p:nvSpPr>
          <p:cNvPr id="21" name="Text 15"/>
          <p:cNvSpPr txBox="1"/>
          <p:nvPr/>
        </p:nvSpPr>
        <p:spPr>
          <a:xfrm>
            <a:off x="6263640" y="3291840"/>
            <a:ext cx="2240280" cy="1143000"/>
          </a:xfrm>
          <a:prstGeom prst="rect">
            <a:avLst/>
          </a:prstGeom>
          <a:noFill/>
          <a:ln/>
        </p:spPr>
        <p:txBody>
          <a:bodyPr wrap="square" lIns="0" tIns="0" rIns="0" bIns="0" rtlCol="0" anchor="t"/>
          <a:lstStyle/>
          <a:p>
            <a:pPr marL="0" indent="0">
              <a:buNone/>
            </a:pPr>
            <a:r>
              <a:rPr lang="en-US" sz="1600" dirty="0">
                <a:solidFill>
                  <a:schemeClr val="tx1"/>
                </a:solidFill>
              </a:rPr>
              <a:t>I can turn the boxes of my map into sentences.</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Our fable chain</a:t>
            </a:r>
            <a:endParaRPr lang="en-US" sz="3400" dirty="0"/>
          </a:p>
        </p:txBody>
      </p:sp>
      <p:sp>
        <p:nvSpPr>
          <p:cNvPr id="3" name="Badge 10"/>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1"/>
          <p:cNvSpPr/>
          <p:nvPr/>
        </p:nvSpPr>
        <p:spPr>
          <a:xfrm>
            <a:off x="457200" y="1188720"/>
            <a:ext cx="1219200" cy="2834640"/>
          </a:xfrm>
          <a:prstGeom prst="roundRect">
            <a:avLst>
              <a:gd name="adj" fmla="val 9000"/>
            </a:avLst>
          </a:prstGeom>
          <a:solidFill>
            <a:schemeClr val="bg2"/>
          </a:solidFill>
          <a:ln/>
        </p:spPr>
      </p:sp>
      <p:sp>
        <p:nvSpPr>
          <p:cNvPr id="6" name="Badge 12"/>
          <p:cNvSpPr/>
          <p:nvPr/>
        </p:nvSpPr>
        <p:spPr>
          <a:xfrm>
            <a:off x="737616" y="1325880"/>
            <a:ext cx="658368" cy="658368"/>
          </a:xfrm>
          <a:prstGeom prst="ellipse">
            <a:avLst/>
          </a:prstGeom>
          <a:solidFill>
            <a:schemeClr val="accent1"/>
          </a:solidFill>
          <a:ln/>
        </p:spPr>
      </p:sp>
      <p:pic>
        <p:nvPicPr>
          <p:cNvPr id="7" name="Image 1" descr="Character"/>
          <p:cNvPicPr>
            <a:picLocks noChangeAspect="1"/>
          </p:cNvPicPr>
          <p:nvPr/>
        </p:nvPicPr>
        <p:blipFill>
          <a:blip r:embed="rId4"/>
          <a:stretch>
            <a:fillRect/>
          </a:stretch>
        </p:blipFill>
        <p:spPr>
          <a:xfrm>
            <a:off x="882457" y="1470721"/>
            <a:ext cx="368686" cy="368686"/>
          </a:xfrm>
          <a:prstGeom prst="rect">
            <a:avLst/>
          </a:prstGeom>
        </p:spPr>
      </p:pic>
      <p:sp>
        <p:nvSpPr>
          <p:cNvPr id="8" name="Text 4"/>
          <p:cNvSpPr txBox="1"/>
          <p:nvPr/>
        </p:nvSpPr>
        <p:spPr>
          <a:xfrm>
            <a:off x="530352" y="2103120"/>
            <a:ext cx="1072896" cy="59436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Character</a:t>
            </a:r>
            <a:endParaRPr lang="en-US" sz="1600" dirty="0"/>
          </a:p>
        </p:txBody>
      </p:sp>
      <p:sp>
        <p:nvSpPr>
          <p:cNvPr id="9" name="Text 5"/>
          <p:cNvSpPr txBox="1"/>
          <p:nvPr/>
        </p:nvSpPr>
        <p:spPr>
          <a:xfrm>
            <a:off x="566928" y="2743200"/>
            <a:ext cx="999744" cy="1188720"/>
          </a:xfrm>
          <a:prstGeom prst="rect">
            <a:avLst/>
          </a:prstGeom>
          <a:noFill/>
          <a:ln/>
        </p:spPr>
        <p:txBody>
          <a:bodyPr wrap="square" lIns="0" tIns="0" rIns="0" bIns="0" rtlCol="0" anchor="t"/>
          <a:lstStyle/>
          <a:p>
            <a:pPr marL="0" indent="0" algn="ctr">
              <a:buNone/>
            </a:pPr>
            <a:r>
              <a:rPr lang="en-US" sz="1500" dirty="0">
                <a:solidFill>
                  <a:schemeClr val="tx1"/>
                </a:solidFill>
              </a:rPr>
              <a:t>Who is it?</a:t>
            </a:r>
            <a:endParaRPr lang="en-US" sz="1500" dirty="0"/>
          </a:p>
        </p:txBody>
      </p:sp>
      <p:sp>
        <p:nvSpPr>
          <p:cNvPr id="10" name="Card 13"/>
          <p:cNvSpPr/>
          <p:nvPr/>
        </p:nvSpPr>
        <p:spPr>
          <a:xfrm>
            <a:off x="1859280" y="1188720"/>
            <a:ext cx="1219200" cy="2834640"/>
          </a:xfrm>
          <a:prstGeom prst="roundRect">
            <a:avLst>
              <a:gd name="adj" fmla="val 9000"/>
            </a:avLst>
          </a:prstGeom>
          <a:solidFill>
            <a:schemeClr val="bg2"/>
          </a:solidFill>
          <a:ln/>
        </p:spPr>
      </p:sp>
      <p:sp>
        <p:nvSpPr>
          <p:cNvPr id="11" name="Badge 14"/>
          <p:cNvSpPr/>
          <p:nvPr/>
        </p:nvSpPr>
        <p:spPr>
          <a:xfrm>
            <a:off x="2139696" y="1325880"/>
            <a:ext cx="658368" cy="658368"/>
          </a:xfrm>
          <a:prstGeom prst="ellipse">
            <a:avLst/>
          </a:prstGeom>
          <a:solidFill>
            <a:schemeClr val="accent5"/>
          </a:solidFill>
          <a:ln/>
        </p:spPr>
      </p:sp>
      <p:pic>
        <p:nvPicPr>
          <p:cNvPr id="12" name="Image 2" descr="Trait"/>
          <p:cNvPicPr>
            <a:picLocks noChangeAspect="1"/>
          </p:cNvPicPr>
          <p:nvPr/>
        </p:nvPicPr>
        <p:blipFill>
          <a:blip r:embed="rId5"/>
          <a:stretch>
            <a:fillRect/>
          </a:stretch>
        </p:blipFill>
        <p:spPr>
          <a:xfrm>
            <a:off x="2284537" y="1470721"/>
            <a:ext cx="368686" cy="368686"/>
          </a:xfrm>
          <a:prstGeom prst="rect">
            <a:avLst/>
          </a:prstGeom>
        </p:spPr>
      </p:pic>
      <p:sp>
        <p:nvSpPr>
          <p:cNvPr id="13" name="Text 8"/>
          <p:cNvSpPr txBox="1"/>
          <p:nvPr/>
        </p:nvSpPr>
        <p:spPr>
          <a:xfrm>
            <a:off x="1932432" y="2103120"/>
            <a:ext cx="1072896" cy="59436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Trait</a:t>
            </a:r>
            <a:endParaRPr lang="en-US" sz="1600" dirty="0"/>
          </a:p>
        </p:txBody>
      </p:sp>
      <p:sp>
        <p:nvSpPr>
          <p:cNvPr id="14" name="Text 9"/>
          <p:cNvSpPr txBox="1"/>
          <p:nvPr/>
        </p:nvSpPr>
        <p:spPr>
          <a:xfrm>
            <a:off x="1969008" y="2743200"/>
            <a:ext cx="999744" cy="1188720"/>
          </a:xfrm>
          <a:prstGeom prst="rect">
            <a:avLst/>
          </a:prstGeom>
          <a:noFill/>
          <a:ln/>
        </p:spPr>
        <p:txBody>
          <a:bodyPr wrap="square" lIns="0" tIns="0" rIns="0" bIns="0" rtlCol="0" anchor="t"/>
          <a:lstStyle/>
          <a:p>
            <a:pPr marL="0" indent="0" algn="ctr">
              <a:buNone/>
            </a:pPr>
            <a:r>
              <a:rPr lang="en-US" sz="1500" dirty="0">
                <a:solidFill>
                  <a:schemeClr val="tx1"/>
                </a:solidFill>
              </a:rPr>
              <a:t>What are they like?</a:t>
            </a:r>
            <a:endParaRPr lang="en-US" sz="1500" dirty="0"/>
          </a:p>
        </p:txBody>
      </p:sp>
      <p:sp>
        <p:nvSpPr>
          <p:cNvPr id="15" name="Card 15"/>
          <p:cNvSpPr/>
          <p:nvPr/>
        </p:nvSpPr>
        <p:spPr>
          <a:xfrm>
            <a:off x="3261360" y="1188720"/>
            <a:ext cx="1219200" cy="2834640"/>
          </a:xfrm>
          <a:prstGeom prst="roundRect">
            <a:avLst>
              <a:gd name="adj" fmla="val 9000"/>
            </a:avLst>
          </a:prstGeom>
          <a:solidFill>
            <a:schemeClr val="bg2"/>
          </a:solidFill>
          <a:ln/>
        </p:spPr>
      </p:sp>
      <p:sp>
        <p:nvSpPr>
          <p:cNvPr id="16" name="Badge 16"/>
          <p:cNvSpPr/>
          <p:nvPr/>
        </p:nvSpPr>
        <p:spPr>
          <a:xfrm>
            <a:off x="3541776" y="1325880"/>
            <a:ext cx="658368" cy="658368"/>
          </a:xfrm>
          <a:prstGeom prst="ellipse">
            <a:avLst/>
          </a:prstGeom>
          <a:solidFill>
            <a:schemeClr val="accent6"/>
          </a:solidFill>
          <a:ln/>
        </p:spPr>
      </p:sp>
      <p:pic>
        <p:nvPicPr>
          <p:cNvPr id="17" name="Image 3" descr="Problem"/>
          <p:cNvPicPr>
            <a:picLocks noChangeAspect="1"/>
          </p:cNvPicPr>
          <p:nvPr/>
        </p:nvPicPr>
        <p:blipFill>
          <a:blip r:embed="rId6"/>
          <a:stretch>
            <a:fillRect/>
          </a:stretch>
        </p:blipFill>
        <p:spPr>
          <a:xfrm>
            <a:off x="3686617" y="1470721"/>
            <a:ext cx="368686" cy="368686"/>
          </a:xfrm>
          <a:prstGeom prst="rect">
            <a:avLst/>
          </a:prstGeom>
        </p:spPr>
      </p:pic>
      <p:sp>
        <p:nvSpPr>
          <p:cNvPr id="18" name="Text 12"/>
          <p:cNvSpPr txBox="1"/>
          <p:nvPr/>
        </p:nvSpPr>
        <p:spPr>
          <a:xfrm>
            <a:off x="3334512" y="2103120"/>
            <a:ext cx="1072896" cy="59436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Problem</a:t>
            </a:r>
            <a:endParaRPr lang="en-US" sz="1600" dirty="0"/>
          </a:p>
        </p:txBody>
      </p:sp>
      <p:sp>
        <p:nvSpPr>
          <p:cNvPr id="19" name="Text 13"/>
          <p:cNvSpPr txBox="1"/>
          <p:nvPr/>
        </p:nvSpPr>
        <p:spPr>
          <a:xfrm>
            <a:off x="3371088" y="2743200"/>
            <a:ext cx="999744" cy="1188720"/>
          </a:xfrm>
          <a:prstGeom prst="rect">
            <a:avLst/>
          </a:prstGeom>
          <a:noFill/>
          <a:ln/>
        </p:spPr>
        <p:txBody>
          <a:bodyPr wrap="square" lIns="0" tIns="0" rIns="0" bIns="0" rtlCol="0" anchor="t"/>
          <a:lstStyle/>
          <a:p>
            <a:pPr marL="0" indent="0" algn="ctr">
              <a:buNone/>
            </a:pPr>
            <a:r>
              <a:rPr lang="en-US" sz="1500" dirty="0">
                <a:solidFill>
                  <a:schemeClr val="tx1"/>
                </a:solidFill>
              </a:rPr>
              <a:t>What goes wrong?</a:t>
            </a:r>
            <a:endParaRPr lang="en-US" sz="1500" dirty="0"/>
          </a:p>
        </p:txBody>
      </p:sp>
      <p:sp>
        <p:nvSpPr>
          <p:cNvPr id="20" name="Card 17"/>
          <p:cNvSpPr/>
          <p:nvPr/>
        </p:nvSpPr>
        <p:spPr>
          <a:xfrm>
            <a:off x="4663440" y="1188720"/>
            <a:ext cx="1219200" cy="2834640"/>
          </a:xfrm>
          <a:prstGeom prst="roundRect">
            <a:avLst>
              <a:gd name="adj" fmla="val 9000"/>
            </a:avLst>
          </a:prstGeom>
          <a:solidFill>
            <a:schemeClr val="bg2"/>
          </a:solidFill>
          <a:ln/>
        </p:spPr>
      </p:sp>
      <p:sp>
        <p:nvSpPr>
          <p:cNvPr id="21" name="Badge 18"/>
          <p:cNvSpPr/>
          <p:nvPr/>
        </p:nvSpPr>
        <p:spPr>
          <a:xfrm>
            <a:off x="4943856" y="1325880"/>
            <a:ext cx="658368" cy="658368"/>
          </a:xfrm>
          <a:prstGeom prst="ellipse">
            <a:avLst/>
          </a:prstGeom>
          <a:solidFill>
            <a:schemeClr val="accent4"/>
          </a:solidFill>
          <a:ln/>
        </p:spPr>
      </p:sp>
      <p:pic>
        <p:nvPicPr>
          <p:cNvPr id="22" name="Image 4" descr="Choice"/>
          <p:cNvPicPr>
            <a:picLocks noChangeAspect="1"/>
          </p:cNvPicPr>
          <p:nvPr/>
        </p:nvPicPr>
        <p:blipFill>
          <a:blip r:embed="rId7"/>
          <a:stretch>
            <a:fillRect/>
          </a:stretch>
        </p:blipFill>
        <p:spPr>
          <a:xfrm>
            <a:off x="5088697" y="1470721"/>
            <a:ext cx="368686" cy="368686"/>
          </a:xfrm>
          <a:prstGeom prst="rect">
            <a:avLst/>
          </a:prstGeom>
        </p:spPr>
      </p:pic>
      <p:sp>
        <p:nvSpPr>
          <p:cNvPr id="23" name="Text 16"/>
          <p:cNvSpPr txBox="1"/>
          <p:nvPr/>
        </p:nvSpPr>
        <p:spPr>
          <a:xfrm>
            <a:off x="4736592" y="2103120"/>
            <a:ext cx="1072896" cy="59436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Choice</a:t>
            </a:r>
            <a:endParaRPr lang="en-US" sz="1600" dirty="0"/>
          </a:p>
        </p:txBody>
      </p:sp>
      <p:sp>
        <p:nvSpPr>
          <p:cNvPr id="24" name="Text 17"/>
          <p:cNvSpPr txBox="1"/>
          <p:nvPr/>
        </p:nvSpPr>
        <p:spPr>
          <a:xfrm>
            <a:off x="4773168" y="2743200"/>
            <a:ext cx="999744" cy="1188720"/>
          </a:xfrm>
          <a:prstGeom prst="rect">
            <a:avLst/>
          </a:prstGeom>
          <a:noFill/>
          <a:ln/>
        </p:spPr>
        <p:txBody>
          <a:bodyPr wrap="square" lIns="0" tIns="0" rIns="0" bIns="0" rtlCol="0" anchor="t"/>
          <a:lstStyle/>
          <a:p>
            <a:pPr marL="0" indent="0" algn="ctr">
              <a:buNone/>
            </a:pPr>
            <a:r>
              <a:rPr lang="en-US" sz="1500" dirty="0">
                <a:solidFill>
                  <a:schemeClr val="tx1"/>
                </a:solidFill>
              </a:rPr>
              <a:t>What do they do?</a:t>
            </a:r>
            <a:endParaRPr lang="en-US" sz="1500" dirty="0"/>
          </a:p>
        </p:txBody>
      </p:sp>
      <p:sp>
        <p:nvSpPr>
          <p:cNvPr id="25" name="Card 19"/>
          <p:cNvSpPr/>
          <p:nvPr/>
        </p:nvSpPr>
        <p:spPr>
          <a:xfrm>
            <a:off x="6065520" y="1188720"/>
            <a:ext cx="1219200" cy="2834640"/>
          </a:xfrm>
          <a:prstGeom prst="roundRect">
            <a:avLst>
              <a:gd name="adj" fmla="val 9000"/>
            </a:avLst>
          </a:prstGeom>
          <a:solidFill>
            <a:schemeClr val="bg2"/>
          </a:solidFill>
          <a:ln/>
        </p:spPr>
      </p:sp>
      <p:sp>
        <p:nvSpPr>
          <p:cNvPr id="26" name="Badge 20"/>
          <p:cNvSpPr/>
          <p:nvPr/>
        </p:nvSpPr>
        <p:spPr>
          <a:xfrm>
            <a:off x="6345936" y="1325880"/>
            <a:ext cx="658368" cy="658368"/>
          </a:xfrm>
          <a:prstGeom prst="ellipse">
            <a:avLst/>
          </a:prstGeom>
          <a:solidFill>
            <a:schemeClr val="accent2"/>
          </a:solidFill>
          <a:ln/>
        </p:spPr>
      </p:sp>
      <p:pic>
        <p:nvPicPr>
          <p:cNvPr id="27" name="Image 5" descr="Result"/>
          <p:cNvPicPr>
            <a:picLocks noChangeAspect="1"/>
          </p:cNvPicPr>
          <p:nvPr/>
        </p:nvPicPr>
        <p:blipFill>
          <a:blip r:embed="rId8"/>
          <a:stretch>
            <a:fillRect/>
          </a:stretch>
        </p:blipFill>
        <p:spPr>
          <a:xfrm>
            <a:off x="6490777" y="1470721"/>
            <a:ext cx="368686" cy="368686"/>
          </a:xfrm>
          <a:prstGeom prst="rect">
            <a:avLst/>
          </a:prstGeom>
        </p:spPr>
      </p:pic>
      <p:sp>
        <p:nvSpPr>
          <p:cNvPr id="28" name="Text 20"/>
          <p:cNvSpPr txBox="1"/>
          <p:nvPr/>
        </p:nvSpPr>
        <p:spPr>
          <a:xfrm>
            <a:off x="6138672" y="2103120"/>
            <a:ext cx="1072896" cy="59436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Result</a:t>
            </a:r>
            <a:endParaRPr lang="en-US" sz="1600" dirty="0"/>
          </a:p>
        </p:txBody>
      </p:sp>
      <p:sp>
        <p:nvSpPr>
          <p:cNvPr id="29" name="Text 21"/>
          <p:cNvSpPr txBox="1"/>
          <p:nvPr/>
        </p:nvSpPr>
        <p:spPr>
          <a:xfrm>
            <a:off x="6175248" y="2743200"/>
            <a:ext cx="999744" cy="1188720"/>
          </a:xfrm>
          <a:prstGeom prst="rect">
            <a:avLst/>
          </a:prstGeom>
          <a:noFill/>
          <a:ln/>
        </p:spPr>
        <p:txBody>
          <a:bodyPr wrap="square" lIns="0" tIns="0" rIns="0" bIns="0" rtlCol="0" anchor="t"/>
          <a:lstStyle/>
          <a:p>
            <a:pPr marL="0" indent="0" algn="ctr">
              <a:buNone/>
            </a:pPr>
            <a:r>
              <a:rPr lang="en-US" sz="1500" dirty="0">
                <a:solidFill>
                  <a:schemeClr val="tx1"/>
                </a:solidFill>
              </a:rPr>
              <a:t>What happens because of it?</a:t>
            </a:r>
            <a:endParaRPr lang="en-US" sz="1500" dirty="0"/>
          </a:p>
        </p:txBody>
      </p:sp>
      <p:sp>
        <p:nvSpPr>
          <p:cNvPr id="30" name="Card 21"/>
          <p:cNvSpPr/>
          <p:nvPr/>
        </p:nvSpPr>
        <p:spPr>
          <a:xfrm>
            <a:off x="7467600" y="1188720"/>
            <a:ext cx="1219200" cy="2834640"/>
          </a:xfrm>
          <a:prstGeom prst="roundRect">
            <a:avLst>
              <a:gd name="adj" fmla="val 9000"/>
            </a:avLst>
          </a:prstGeom>
          <a:solidFill>
            <a:schemeClr val="bg2"/>
          </a:solidFill>
          <a:ln/>
        </p:spPr>
      </p:sp>
      <p:sp>
        <p:nvSpPr>
          <p:cNvPr id="31" name="Badge 22"/>
          <p:cNvSpPr/>
          <p:nvPr/>
        </p:nvSpPr>
        <p:spPr>
          <a:xfrm>
            <a:off x="7748016" y="1325880"/>
            <a:ext cx="658368" cy="658368"/>
          </a:xfrm>
          <a:prstGeom prst="ellipse">
            <a:avLst/>
          </a:prstGeom>
          <a:solidFill>
            <a:schemeClr val="accent3"/>
          </a:solidFill>
          <a:ln/>
        </p:spPr>
      </p:sp>
      <p:pic>
        <p:nvPicPr>
          <p:cNvPr id="32" name="Image 6" descr="Lesson"/>
          <p:cNvPicPr>
            <a:picLocks noChangeAspect="1"/>
          </p:cNvPicPr>
          <p:nvPr/>
        </p:nvPicPr>
        <p:blipFill>
          <a:blip r:embed="rId9"/>
          <a:stretch>
            <a:fillRect/>
          </a:stretch>
        </p:blipFill>
        <p:spPr>
          <a:xfrm>
            <a:off x="7892857" y="1470721"/>
            <a:ext cx="368686" cy="368686"/>
          </a:xfrm>
          <a:prstGeom prst="rect">
            <a:avLst/>
          </a:prstGeom>
        </p:spPr>
      </p:pic>
      <p:sp>
        <p:nvSpPr>
          <p:cNvPr id="33" name="Text 24"/>
          <p:cNvSpPr txBox="1"/>
          <p:nvPr/>
        </p:nvSpPr>
        <p:spPr>
          <a:xfrm>
            <a:off x="7540752" y="2103120"/>
            <a:ext cx="1072896" cy="59436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Lesson</a:t>
            </a:r>
            <a:endParaRPr lang="en-US" sz="1600" dirty="0"/>
          </a:p>
        </p:txBody>
      </p:sp>
      <p:sp>
        <p:nvSpPr>
          <p:cNvPr id="34" name="Text 25"/>
          <p:cNvSpPr txBox="1"/>
          <p:nvPr/>
        </p:nvSpPr>
        <p:spPr>
          <a:xfrm>
            <a:off x="7577328" y="2743200"/>
            <a:ext cx="999744" cy="1188720"/>
          </a:xfrm>
          <a:prstGeom prst="rect">
            <a:avLst/>
          </a:prstGeom>
          <a:noFill/>
          <a:ln/>
        </p:spPr>
        <p:txBody>
          <a:bodyPr wrap="square" lIns="0" tIns="0" rIns="0" bIns="0" rtlCol="0" anchor="t"/>
          <a:lstStyle/>
          <a:p>
            <a:pPr marL="0" indent="0" algn="ctr">
              <a:buNone/>
            </a:pPr>
            <a:r>
              <a:rPr lang="en-US" sz="1500" dirty="0">
                <a:solidFill>
                  <a:schemeClr val="tx1"/>
                </a:solidFill>
              </a:rPr>
              <a:t>What do we learn?</a:t>
            </a:r>
            <a:endParaRPr lang="en-US" sz="1500" dirty="0"/>
          </a:p>
        </p:txBody>
      </p:sp>
      <p:sp>
        <p:nvSpPr>
          <p:cNvPr id="35" name="Card 23"/>
          <p:cNvSpPr/>
          <p:nvPr/>
        </p:nvSpPr>
        <p:spPr>
          <a:xfrm>
            <a:off x="457200" y="4160520"/>
            <a:ext cx="8229600" cy="502920"/>
          </a:xfrm>
          <a:prstGeom prst="roundRect">
            <a:avLst>
              <a:gd name="adj" fmla="val 21818"/>
            </a:avLst>
          </a:prstGeom>
          <a:solidFill>
            <a:schemeClr val="accent2"/>
          </a:solidFill>
          <a:ln/>
        </p:spPr>
      </p:sp>
      <p:sp>
        <p:nvSpPr>
          <p:cNvPr id="36" name="Text 27"/>
          <p:cNvSpPr txBox="1"/>
          <p:nvPr/>
        </p:nvSpPr>
        <p:spPr>
          <a:xfrm>
            <a:off x="640080" y="416052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Today: </a:t>
            </a:r>
            <a:r>
              <a:rPr lang="en-US" sz="1700" dirty="0">
                <a:solidFill>
                  <a:schemeClr val="tx2"/>
                </a:solidFill>
              </a:rPr>
              <a:t>Character, Trait, Problem and Event 1. Each part leads to the next!</a:t>
            </a:r>
            <a:endParaRPr lang="en-US" sz="1700" dirty="0"/>
          </a:p>
        </p:txBody>
      </p:sp>
      <p:sp>
        <p:nvSpPr>
          <p:cNvPr id="37"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Check your map</a:t>
            </a:r>
            <a:endParaRPr lang="en-US" sz="3400" dirty="0"/>
          </a:p>
        </p:txBody>
      </p:sp>
      <p:sp>
        <p:nvSpPr>
          <p:cNvPr id="3" name="Badge 24"/>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5"/>
          <p:cNvSpPr/>
          <p:nvPr/>
        </p:nvSpPr>
        <p:spPr>
          <a:xfrm>
            <a:off x="457200" y="1188720"/>
            <a:ext cx="493776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98448"/>
            <a:ext cx="44805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Read your story map to your partner</a:t>
            </a:r>
            <a:endParaRPr lang="en-US" sz="1900" dirty="0"/>
          </a:p>
        </p:txBody>
      </p:sp>
      <p:sp>
        <p:nvSpPr>
          <p:cNvPr id="7" name="Checkbox 26"/>
          <p:cNvSpPr/>
          <p:nvPr/>
        </p:nvSpPr>
        <p:spPr>
          <a:xfrm>
            <a:off x="685800" y="1819656"/>
            <a:ext cx="274320" cy="274320"/>
          </a:xfrm>
          <a:prstGeom prst="roundRect">
            <a:avLst>
              <a:gd name="adj" fmla="val 20000"/>
            </a:avLst>
          </a:prstGeom>
          <a:solidFill>
            <a:schemeClr val="bg1"/>
          </a:solidFill>
          <a:ln w="25400">
            <a:solidFill>
              <a:schemeClr val="accent3"/>
            </a:solidFill>
            <a:prstDash val="solid"/>
          </a:ln>
        </p:spPr>
      </p:sp>
      <p:sp>
        <p:nvSpPr>
          <p:cNvPr id="8" name="Text 5"/>
          <p:cNvSpPr txBox="1"/>
          <p:nvPr/>
        </p:nvSpPr>
        <p:spPr>
          <a:xfrm>
            <a:off x="1143000" y="1783080"/>
            <a:ext cx="4114800" cy="365760"/>
          </a:xfrm>
          <a:prstGeom prst="rect">
            <a:avLst/>
          </a:prstGeom>
          <a:noFill/>
          <a:ln/>
        </p:spPr>
        <p:txBody>
          <a:bodyPr wrap="square" lIns="0" tIns="0" rIns="0" bIns="0" rtlCol="0" anchor="ctr"/>
          <a:lstStyle/>
          <a:p>
            <a:pPr marL="0" indent="0">
              <a:buNone/>
            </a:pPr>
            <a:r>
              <a:rPr lang="en-US" sz="1600" dirty="0">
                <a:solidFill>
                  <a:schemeClr val="tx1"/>
                </a:solidFill>
              </a:rPr>
              <a:t>I know my character and where they live</a:t>
            </a:r>
            <a:endParaRPr lang="en-US" sz="1600" dirty="0"/>
          </a:p>
        </p:txBody>
      </p:sp>
      <p:sp>
        <p:nvSpPr>
          <p:cNvPr id="9" name="Checkbox 27"/>
          <p:cNvSpPr/>
          <p:nvPr/>
        </p:nvSpPr>
        <p:spPr>
          <a:xfrm>
            <a:off x="685800" y="2276856"/>
            <a:ext cx="274320" cy="274320"/>
          </a:xfrm>
          <a:prstGeom prst="roundRect">
            <a:avLst>
              <a:gd name="adj" fmla="val 20000"/>
            </a:avLst>
          </a:prstGeom>
          <a:solidFill>
            <a:schemeClr val="bg1"/>
          </a:solidFill>
          <a:ln w="25400">
            <a:solidFill>
              <a:schemeClr val="accent3"/>
            </a:solidFill>
            <a:prstDash val="solid"/>
          </a:ln>
        </p:spPr>
      </p:sp>
      <p:sp>
        <p:nvSpPr>
          <p:cNvPr id="10" name="Text 7"/>
          <p:cNvSpPr txBox="1"/>
          <p:nvPr/>
        </p:nvSpPr>
        <p:spPr>
          <a:xfrm>
            <a:off x="1143000" y="2240280"/>
            <a:ext cx="4114800" cy="365760"/>
          </a:xfrm>
          <a:prstGeom prst="rect">
            <a:avLst/>
          </a:prstGeom>
          <a:noFill/>
          <a:ln/>
        </p:spPr>
        <p:txBody>
          <a:bodyPr wrap="square" lIns="0" tIns="0" rIns="0" bIns="0" rtlCol="0" anchor="ctr"/>
          <a:lstStyle/>
          <a:p>
            <a:pPr marL="0" indent="0">
              <a:buNone/>
            </a:pPr>
            <a:r>
              <a:rPr lang="en-US" sz="1600" dirty="0">
                <a:solidFill>
                  <a:schemeClr val="tx1"/>
                </a:solidFill>
              </a:rPr>
              <a:t>I know what my character is like</a:t>
            </a:r>
            <a:endParaRPr lang="en-US" sz="1600" dirty="0"/>
          </a:p>
        </p:txBody>
      </p:sp>
      <p:sp>
        <p:nvSpPr>
          <p:cNvPr id="11" name="Checkbox 28"/>
          <p:cNvSpPr/>
          <p:nvPr/>
        </p:nvSpPr>
        <p:spPr>
          <a:xfrm>
            <a:off x="685800" y="2734056"/>
            <a:ext cx="274320" cy="274320"/>
          </a:xfrm>
          <a:prstGeom prst="roundRect">
            <a:avLst>
              <a:gd name="adj" fmla="val 20000"/>
            </a:avLst>
          </a:prstGeom>
          <a:solidFill>
            <a:schemeClr val="bg1"/>
          </a:solidFill>
          <a:ln w="25400">
            <a:solidFill>
              <a:schemeClr val="accent6"/>
            </a:solidFill>
            <a:prstDash val="solid"/>
          </a:ln>
        </p:spPr>
      </p:sp>
      <p:sp>
        <p:nvSpPr>
          <p:cNvPr id="12" name="Text 9"/>
          <p:cNvSpPr txBox="1"/>
          <p:nvPr/>
        </p:nvSpPr>
        <p:spPr>
          <a:xfrm>
            <a:off x="1143000" y="2697480"/>
            <a:ext cx="4114800" cy="365760"/>
          </a:xfrm>
          <a:prstGeom prst="rect">
            <a:avLst/>
          </a:prstGeom>
          <a:noFill/>
          <a:ln/>
        </p:spPr>
        <p:txBody>
          <a:bodyPr wrap="square" lIns="0" tIns="0" rIns="0" bIns="0" rtlCol="0" anchor="ctr"/>
          <a:lstStyle/>
          <a:p>
            <a:pPr marL="0" indent="0">
              <a:buNone/>
            </a:pPr>
            <a:r>
              <a:rPr lang="en-US" sz="1600" b="1" dirty="0">
                <a:solidFill>
                  <a:schemeClr val="accent6"/>
                </a:solidFill>
              </a:rPr>
              <a:t>My problem comes from my trait</a:t>
            </a:r>
            <a:endParaRPr lang="en-US" sz="1600" dirty="0"/>
          </a:p>
        </p:txBody>
      </p:sp>
      <p:sp>
        <p:nvSpPr>
          <p:cNvPr id="13" name="Checkbox 29"/>
          <p:cNvSpPr/>
          <p:nvPr/>
        </p:nvSpPr>
        <p:spPr>
          <a:xfrm>
            <a:off x="685800" y="3191256"/>
            <a:ext cx="274320" cy="274320"/>
          </a:xfrm>
          <a:prstGeom prst="roundRect">
            <a:avLst>
              <a:gd name="adj" fmla="val 20000"/>
            </a:avLst>
          </a:prstGeom>
          <a:solidFill>
            <a:schemeClr val="bg1"/>
          </a:solidFill>
          <a:ln w="25400">
            <a:solidFill>
              <a:schemeClr val="accent3"/>
            </a:solidFill>
            <a:prstDash val="solid"/>
          </a:ln>
        </p:spPr>
      </p:sp>
      <p:sp>
        <p:nvSpPr>
          <p:cNvPr id="14" name="Text 11"/>
          <p:cNvSpPr txBox="1"/>
          <p:nvPr/>
        </p:nvSpPr>
        <p:spPr>
          <a:xfrm>
            <a:off x="1143000" y="3154680"/>
            <a:ext cx="4114800" cy="365760"/>
          </a:xfrm>
          <a:prstGeom prst="rect">
            <a:avLst/>
          </a:prstGeom>
          <a:noFill/>
          <a:ln/>
        </p:spPr>
        <p:txBody>
          <a:bodyPr wrap="square" lIns="0" tIns="0" rIns="0" bIns="0" rtlCol="0" anchor="ctr"/>
          <a:lstStyle/>
          <a:p>
            <a:pPr marL="0" indent="0">
              <a:buNone/>
            </a:pPr>
            <a:r>
              <a:rPr lang="en-US" sz="1600" dirty="0">
                <a:solidFill>
                  <a:schemeClr val="tx1"/>
                </a:solidFill>
              </a:rPr>
              <a:t>My problem is not just bad luck</a:t>
            </a:r>
            <a:endParaRPr lang="en-US" sz="1600" dirty="0"/>
          </a:p>
        </p:txBody>
      </p:sp>
      <p:sp>
        <p:nvSpPr>
          <p:cNvPr id="15" name="Checkbox 30"/>
          <p:cNvSpPr/>
          <p:nvPr/>
        </p:nvSpPr>
        <p:spPr>
          <a:xfrm>
            <a:off x="685800" y="3648456"/>
            <a:ext cx="274320" cy="274320"/>
          </a:xfrm>
          <a:prstGeom prst="roundRect">
            <a:avLst>
              <a:gd name="adj" fmla="val 20000"/>
            </a:avLst>
          </a:prstGeom>
          <a:solidFill>
            <a:schemeClr val="bg1"/>
          </a:solidFill>
          <a:ln w="25400">
            <a:solidFill>
              <a:schemeClr val="accent3"/>
            </a:solidFill>
            <a:prstDash val="solid"/>
          </a:ln>
        </p:spPr>
      </p:sp>
      <p:sp>
        <p:nvSpPr>
          <p:cNvPr id="16" name="Text 13"/>
          <p:cNvSpPr txBox="1"/>
          <p:nvPr/>
        </p:nvSpPr>
        <p:spPr>
          <a:xfrm>
            <a:off x="1143000" y="3611880"/>
            <a:ext cx="4114800" cy="365760"/>
          </a:xfrm>
          <a:prstGeom prst="rect">
            <a:avLst/>
          </a:prstGeom>
          <a:noFill/>
          <a:ln/>
        </p:spPr>
        <p:txBody>
          <a:bodyPr wrap="square" lIns="0" tIns="0" rIns="0" bIns="0" rtlCol="0" anchor="ctr"/>
          <a:lstStyle/>
          <a:p>
            <a:pPr marL="0" indent="0">
              <a:buNone/>
            </a:pPr>
            <a:r>
              <a:rPr lang="en-US" sz="1600" dirty="0">
                <a:solidFill>
                  <a:schemeClr val="tx1"/>
                </a:solidFill>
              </a:rPr>
              <a:t>My Event 1 makes it worse</a:t>
            </a:r>
            <a:endParaRPr lang="en-US" sz="1600" dirty="0"/>
          </a:p>
        </p:txBody>
      </p:sp>
      <p:sp>
        <p:nvSpPr>
          <p:cNvPr id="17" name="Card 31"/>
          <p:cNvSpPr/>
          <p:nvPr/>
        </p:nvSpPr>
        <p:spPr>
          <a:xfrm>
            <a:off x="5669280" y="1188720"/>
            <a:ext cx="3017520" cy="3337560"/>
          </a:xfrm>
          <a:prstGeom prst="roundRect">
            <a:avLst>
              <a:gd name="adj" fmla="val 3636"/>
            </a:avLst>
          </a:prstGeom>
          <a:solidFill>
            <a:schemeClr val="accent1"/>
          </a:solidFill>
          <a:ln/>
          <a:effectLst>
            <a:outerShdw blurRad="101600" dist="25400" dir="5400000" algn="bl" rotWithShape="0">
              <a:srgbClr val="000000">
                <a:alpha val="16000"/>
              </a:srgbClr>
            </a:outerShdw>
          </a:effectLst>
        </p:spPr>
      </p:sp>
      <p:sp>
        <p:nvSpPr>
          <p:cNvPr id="18" name="Text 15"/>
          <p:cNvSpPr txBox="1"/>
          <p:nvPr/>
        </p:nvSpPr>
        <p:spPr>
          <a:xfrm>
            <a:off x="5669280" y="1325880"/>
            <a:ext cx="3017520" cy="1280160"/>
          </a:xfrm>
          <a:prstGeom prst="rect">
            <a:avLst/>
          </a:prstGeom>
          <a:noFill/>
          <a:ln/>
        </p:spPr>
        <p:txBody>
          <a:bodyPr wrap="square" lIns="0" tIns="0" rIns="0" bIns="0" rtlCol="0" anchor="ctr"/>
          <a:lstStyle/>
          <a:p>
            <a:pPr marL="0" indent="0" algn="ctr">
              <a:buNone/>
            </a:pPr>
            <a:r>
              <a:rPr lang="en-US" sz="7200" b="1" dirty="0">
                <a:solidFill>
                  <a:schemeClr val="bg1"/>
                </a:solidFill>
                <a:latin typeface="Cambria" pitchFamily="34" charset="0"/>
                <a:ea typeface="Cambria" pitchFamily="34" charset="-122"/>
                <a:cs typeface="Cambria" pitchFamily="34" charset="-120"/>
              </a:rPr>
              <a:t>8</a:t>
            </a:r>
            <a:endParaRPr lang="en-US" sz="7200" dirty="0"/>
          </a:p>
        </p:txBody>
      </p:sp>
      <p:sp>
        <p:nvSpPr>
          <p:cNvPr id="19" name="Text 16"/>
          <p:cNvSpPr txBox="1"/>
          <p:nvPr/>
        </p:nvSpPr>
        <p:spPr>
          <a:xfrm>
            <a:off x="5852160" y="2697480"/>
            <a:ext cx="2651760" cy="1737360"/>
          </a:xfrm>
          <a:prstGeom prst="rect">
            <a:avLst/>
          </a:prstGeom>
          <a:noFill/>
          <a:ln/>
        </p:spPr>
        <p:txBody>
          <a:bodyPr wrap="square" lIns="0" tIns="0" rIns="0" bIns="0" rtlCol="0" anchor="t"/>
          <a:lstStyle/>
          <a:p>
            <a:pPr marL="0" indent="0" algn="ctr">
              <a:buNone/>
            </a:pPr>
            <a:r>
              <a:rPr lang="en-US" sz="1600" dirty="0">
                <a:solidFill>
                  <a:schemeClr val="bg1"/>
                </a:solidFill>
              </a:rPr>
              <a:t>minutes</a:t>
            </a:r>
            <a:endParaRPr lang="en-US" sz="1600" dirty="0"/>
          </a:p>
          <a:p>
            <a:pPr marL="0" indent="0" algn="ctr">
              <a:buNone/>
            </a:pPr>
            <a:r>
              <a:rPr lang="en-US" sz="1600" dirty="0">
                <a:solidFill>
                  <a:schemeClr val="bg1"/>
                </a:solidFill>
              </a:rPr>
              <a:t>Fix your map if the problem does not come from the trait.</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One box, two sentences</a:t>
            </a:r>
            <a:endParaRPr lang="en-US" sz="3400" dirty="0"/>
          </a:p>
        </p:txBody>
      </p:sp>
      <p:sp>
        <p:nvSpPr>
          <p:cNvPr id="3" name="Badge 32"/>
          <p:cNvSpPr/>
          <p:nvPr/>
        </p:nvSpPr>
        <p:spPr>
          <a:xfrm>
            <a:off x="7955280" y="274320"/>
            <a:ext cx="731520" cy="731520"/>
          </a:xfrm>
          <a:prstGeom prst="ellipse">
            <a:avLst/>
          </a:prstGeom>
          <a:solidFill>
            <a:schemeClr val="accent4"/>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33"/>
          <p:cNvSpPr/>
          <p:nvPr/>
        </p:nvSpPr>
        <p:spPr>
          <a:xfrm>
            <a:off x="457200" y="1188720"/>
            <a:ext cx="3657600" cy="2011680"/>
          </a:xfrm>
          <a:prstGeom prst="roundRect">
            <a:avLst>
              <a:gd name="adj" fmla="val 5455"/>
            </a:avLst>
          </a:prstGeom>
          <a:solidFill>
            <a:schemeClr val="accent4">
              <a:alpha val="12000"/>
            </a:schemeClr>
          </a:solidFill>
          <a:ln w="15875">
            <a:solidFill>
              <a:schemeClr val="accent4"/>
            </a:solidFill>
            <a:prstDash val="solid"/>
          </a:ln>
        </p:spPr>
      </p:sp>
      <p:sp>
        <p:nvSpPr>
          <p:cNvPr id="6" name="Chip 34"/>
          <p:cNvSpPr/>
          <p:nvPr/>
        </p:nvSpPr>
        <p:spPr>
          <a:xfrm>
            <a:off x="640080" y="1325880"/>
            <a:ext cx="1280160" cy="292608"/>
          </a:xfrm>
          <a:prstGeom prst="roundRect">
            <a:avLst>
              <a:gd name="adj" fmla="val 50000"/>
            </a:avLst>
          </a:prstGeom>
          <a:solidFill>
            <a:schemeClr val="accent4"/>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MAP BOX</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Beginning: Geoffrey, a grasshopper, in summer</a:t>
            </a:r>
            <a:endParaRPr lang="en-US" sz="1800" dirty="0"/>
          </a:p>
        </p:txBody>
      </p:sp>
      <p:sp>
        <p:nvSpPr>
          <p:cNvPr id="9" name="Card 35"/>
          <p:cNvSpPr/>
          <p:nvPr/>
        </p:nvSpPr>
        <p:spPr>
          <a:xfrm>
            <a:off x="5029200" y="1188720"/>
            <a:ext cx="3657600" cy="2011680"/>
          </a:xfrm>
          <a:prstGeom prst="roundRect">
            <a:avLst>
              <a:gd name="adj" fmla="val 5455"/>
            </a:avLst>
          </a:prstGeom>
          <a:solidFill>
            <a:schemeClr val="accent3">
              <a:alpha val="12000"/>
            </a:schemeClr>
          </a:solidFill>
          <a:ln w="15875">
            <a:solidFill>
              <a:schemeClr val="accent3"/>
            </a:solidFill>
            <a:prstDash val="solid"/>
          </a:ln>
        </p:spPr>
      </p:sp>
      <p:sp>
        <p:nvSpPr>
          <p:cNvPr id="10" name="Chip 36"/>
          <p:cNvSpPr/>
          <p:nvPr/>
        </p:nvSpPr>
        <p:spPr>
          <a:xfrm>
            <a:off x="5212080" y="1325880"/>
            <a:ext cx="1280160" cy="292608"/>
          </a:xfrm>
          <a:prstGeom prst="roundRect">
            <a:avLst>
              <a:gd name="adj" fmla="val 50000"/>
            </a:avLst>
          </a:prstGeom>
          <a:solidFill>
            <a:schemeClr val="accent3"/>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SENTENCES</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Geoffrey was a grasshopper who lived in a sunny field. He loved music more than anything.</a:t>
            </a:r>
            <a:endParaRPr lang="en-US" sz="1600" dirty="0"/>
          </a:p>
        </p:txBody>
      </p:sp>
      <p:sp>
        <p:nvSpPr>
          <p:cNvPr id="13" name="Arrow"/>
          <p:cNvSpPr/>
          <p:nvPr/>
        </p:nvSpPr>
        <p:spPr>
          <a:xfrm>
            <a:off x="4224528" y="1920240"/>
            <a:ext cx="694944" cy="457200"/>
          </a:xfrm>
          <a:prstGeom prst="rightArrow">
            <a:avLst/>
          </a:prstGeom>
          <a:solidFill>
            <a:schemeClr val="accent2"/>
          </a:solidFill>
          <a:ln/>
        </p:spPr>
      </p:sp>
      <p:sp>
        <p:nvSpPr>
          <p:cNvPr id="14" name="Card 37"/>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One box = one or two sentences.</a:t>
            </a:r>
            <a:endParaRPr lang="en-US" sz="1700" dirty="0"/>
          </a:p>
        </p:txBody>
      </p:sp>
      <p:sp>
        <p:nvSpPr>
          <p:cNvPr id="16" name="Card 38"/>
          <p:cNvSpPr/>
          <p:nvPr/>
        </p:nvSpPr>
        <p:spPr>
          <a:xfrm>
            <a:off x="457200" y="4023360"/>
            <a:ext cx="8229600" cy="502920"/>
          </a:xfrm>
          <a:prstGeom prst="roundRect">
            <a:avLst>
              <a:gd name="adj" fmla="val 21818"/>
            </a:avLst>
          </a:prstGeom>
          <a:solidFill>
            <a:schemeClr val="tx2"/>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700" dirty="0">
                <a:solidFill>
                  <a:schemeClr val="bg1"/>
                </a:solidFill>
              </a:rPr>
              <a:t>Your map is your plan. Now we write it.</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Show the trait</a:t>
            </a:r>
            <a:endParaRPr lang="en-US" sz="3400" dirty="0"/>
          </a:p>
        </p:txBody>
      </p:sp>
      <p:sp>
        <p:nvSpPr>
          <p:cNvPr id="3" name="Badge 39"/>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40"/>
          <p:cNvSpPr/>
          <p:nvPr/>
        </p:nvSpPr>
        <p:spPr>
          <a:xfrm>
            <a:off x="457200" y="1188720"/>
            <a:ext cx="3657600" cy="2011680"/>
          </a:xfrm>
          <a:prstGeom prst="roundRect">
            <a:avLst>
              <a:gd name="adj" fmla="val 5455"/>
            </a:avLst>
          </a:prstGeom>
          <a:solidFill>
            <a:schemeClr val="accent6">
              <a:alpha val="12000"/>
            </a:schemeClr>
          </a:solidFill>
          <a:ln w="15875">
            <a:solidFill>
              <a:schemeClr val="accent6"/>
            </a:solidFill>
            <a:prstDash val="solid"/>
          </a:ln>
        </p:spPr>
      </p:sp>
      <p:sp>
        <p:nvSpPr>
          <p:cNvPr id="6" name="Chip 41"/>
          <p:cNvSpPr/>
          <p:nvPr/>
        </p:nvSpPr>
        <p:spPr>
          <a:xfrm>
            <a:off x="640080" y="1325880"/>
            <a:ext cx="1280160" cy="292608"/>
          </a:xfrm>
          <a:prstGeom prst="roundRect">
            <a:avLst>
              <a:gd name="adj" fmla="val 50000"/>
            </a:avLst>
          </a:prstGeom>
          <a:solidFill>
            <a:schemeClr val="accent6"/>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TELL</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Geoffrey was dreamy.</a:t>
            </a:r>
            <a:endParaRPr lang="en-US" sz="2400" dirty="0"/>
          </a:p>
        </p:txBody>
      </p:sp>
      <p:sp>
        <p:nvSpPr>
          <p:cNvPr id="9" name="Card 42"/>
          <p:cNvSpPr/>
          <p:nvPr/>
        </p:nvSpPr>
        <p:spPr>
          <a:xfrm>
            <a:off x="5029200" y="1188720"/>
            <a:ext cx="3657600" cy="2011680"/>
          </a:xfrm>
          <a:prstGeom prst="roundRect">
            <a:avLst>
              <a:gd name="adj" fmla="val 5455"/>
            </a:avLst>
          </a:prstGeom>
          <a:solidFill>
            <a:schemeClr val="accent3">
              <a:alpha val="12000"/>
            </a:schemeClr>
          </a:solidFill>
          <a:ln w="15875">
            <a:solidFill>
              <a:schemeClr val="accent3"/>
            </a:solidFill>
            <a:prstDash val="solid"/>
          </a:ln>
        </p:spPr>
      </p:sp>
      <p:sp>
        <p:nvSpPr>
          <p:cNvPr id="10" name="Chip 43"/>
          <p:cNvSpPr/>
          <p:nvPr/>
        </p:nvSpPr>
        <p:spPr>
          <a:xfrm>
            <a:off x="5212080" y="1325880"/>
            <a:ext cx="1280160" cy="292608"/>
          </a:xfrm>
          <a:prstGeom prst="roundRect">
            <a:avLst>
              <a:gd name="adj" fmla="val 50000"/>
            </a:avLst>
          </a:prstGeom>
          <a:solidFill>
            <a:schemeClr val="accent3"/>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SHOW</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1700" b="1" dirty="0">
                <a:solidFill>
                  <a:schemeClr val="tx1"/>
                </a:solidFill>
                <a:latin typeface="Cambria" pitchFamily="34" charset="0"/>
                <a:ea typeface="Cambria" pitchFamily="34" charset="-122"/>
                <a:cs typeface="Cambria" pitchFamily="34" charset="-120"/>
              </a:rPr>
              <a:t>All day he sat on a leaf, humming songs and watching the clouds.</a:t>
            </a:r>
            <a:endParaRPr lang="en-US" sz="1700" dirty="0"/>
          </a:p>
        </p:txBody>
      </p:sp>
      <p:sp>
        <p:nvSpPr>
          <p:cNvPr id="13" name="Arrow"/>
          <p:cNvSpPr/>
          <p:nvPr/>
        </p:nvSpPr>
        <p:spPr>
          <a:xfrm>
            <a:off x="4224528" y="1920240"/>
            <a:ext cx="694944" cy="457200"/>
          </a:xfrm>
          <a:prstGeom prst="rightArrow">
            <a:avLst/>
          </a:prstGeom>
          <a:solidFill>
            <a:schemeClr val="accent2"/>
          </a:solidFill>
          <a:ln/>
        </p:spPr>
      </p:sp>
      <p:sp>
        <p:nvSpPr>
          <p:cNvPr id="14" name="Card 44"/>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Show the trait with what the character DOES.</a:t>
            </a:r>
            <a:endParaRPr lang="en-US" sz="1700" dirty="0"/>
          </a:p>
        </p:txBody>
      </p:sp>
      <p:sp>
        <p:nvSpPr>
          <p:cNvPr id="16" name="Card 45"/>
          <p:cNvSpPr/>
          <p:nvPr/>
        </p:nvSpPr>
        <p:spPr>
          <a:xfrm>
            <a:off x="457200" y="4023360"/>
            <a:ext cx="8229600" cy="502920"/>
          </a:xfrm>
          <a:prstGeom prst="roundRect">
            <a:avLst>
              <a:gd name="adj" fmla="val 21818"/>
            </a:avLst>
          </a:prstGeom>
          <a:solidFill>
            <a:schemeClr val="tx2"/>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700" b="1" dirty="0">
                <a:solidFill>
                  <a:schemeClr val="accent2"/>
                </a:solidFill>
              </a:rPr>
              <a:t>Whiteboard: </a:t>
            </a:r>
            <a:r>
              <a:rPr lang="en-US" sz="1700" dirty="0">
                <a:solidFill>
                  <a:schemeClr val="bg1"/>
                </a:solidFill>
              </a:rPr>
              <a:t>show that a lion is proud.</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Answers: show the trait</a:t>
            </a:r>
            <a:endParaRPr lang="en-US" sz="3400" dirty="0"/>
          </a:p>
        </p:txBody>
      </p:sp>
      <p:sp>
        <p:nvSpPr>
          <p:cNvPr id="3" name="Badge 46"/>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47"/>
          <p:cNvSpPr/>
          <p:nvPr/>
        </p:nvSpPr>
        <p:spPr>
          <a:xfrm>
            <a:off x="457200" y="1188720"/>
            <a:ext cx="8229600" cy="804672"/>
          </a:xfrm>
          <a:prstGeom prst="roundRect">
            <a:avLst>
              <a:gd name="adj" fmla="val 13636"/>
            </a:avLst>
          </a:prstGeom>
          <a:solidFill>
            <a:schemeClr val="bg2"/>
          </a:solidFill>
          <a:ln/>
        </p:spPr>
      </p:sp>
      <p:sp>
        <p:nvSpPr>
          <p:cNvPr id="6" name="Tick 48"/>
          <p:cNvSpPr/>
          <p:nvPr/>
        </p:nvSpPr>
        <p:spPr>
          <a:xfrm>
            <a:off x="640080" y="1362456"/>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472184"/>
            <a:ext cx="237744" cy="237744"/>
          </a:xfrm>
          <a:prstGeom prst="rect">
            <a:avLst/>
          </a:prstGeom>
        </p:spPr>
      </p:pic>
      <p:sp>
        <p:nvSpPr>
          <p:cNvPr id="8" name="Text 4"/>
          <p:cNvSpPr txBox="1"/>
          <p:nvPr/>
        </p:nvSpPr>
        <p:spPr>
          <a:xfrm>
            <a:off x="1325880" y="1188720"/>
            <a:ext cx="7178040" cy="804672"/>
          </a:xfrm>
          <a:prstGeom prst="rect">
            <a:avLst/>
          </a:prstGeom>
          <a:noFill/>
          <a:ln/>
        </p:spPr>
        <p:txBody>
          <a:bodyPr wrap="square" lIns="0" tIns="0" rIns="0" bIns="0" rtlCol="0" anchor="ctr"/>
          <a:lstStyle/>
          <a:p>
            <a:pPr marL="0" indent="0">
              <a:buNone/>
            </a:pPr>
            <a:r>
              <a:rPr lang="en-US" sz="1700" dirty="0">
                <a:solidFill>
                  <a:schemeClr val="tx1"/>
                </a:solidFill>
              </a:rPr>
              <a:t>The lion lifted his head and walked past the mice without a word.</a:t>
            </a:r>
            <a:endParaRPr lang="en-US" sz="1700" dirty="0"/>
          </a:p>
        </p:txBody>
      </p:sp>
      <p:sp>
        <p:nvSpPr>
          <p:cNvPr id="9" name="Card 49"/>
          <p:cNvSpPr/>
          <p:nvPr/>
        </p:nvSpPr>
        <p:spPr>
          <a:xfrm>
            <a:off x="457200" y="2103120"/>
            <a:ext cx="8229600" cy="804672"/>
          </a:xfrm>
          <a:prstGeom prst="roundRect">
            <a:avLst>
              <a:gd name="adj" fmla="val 13636"/>
            </a:avLst>
          </a:prstGeom>
          <a:solidFill>
            <a:schemeClr val="bg2"/>
          </a:solidFill>
          <a:ln/>
        </p:spPr>
      </p:sp>
      <p:sp>
        <p:nvSpPr>
          <p:cNvPr id="10" name="Tick 50"/>
          <p:cNvSpPr/>
          <p:nvPr/>
        </p:nvSpPr>
        <p:spPr>
          <a:xfrm>
            <a:off x="640080" y="2276856"/>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386584"/>
            <a:ext cx="237744" cy="237744"/>
          </a:xfrm>
          <a:prstGeom prst="rect">
            <a:avLst/>
          </a:prstGeom>
        </p:spPr>
      </p:pic>
      <p:sp>
        <p:nvSpPr>
          <p:cNvPr id="12" name="Text 7"/>
          <p:cNvSpPr txBox="1"/>
          <p:nvPr/>
        </p:nvSpPr>
        <p:spPr>
          <a:xfrm>
            <a:off x="1325880" y="2103120"/>
            <a:ext cx="7178040" cy="804672"/>
          </a:xfrm>
          <a:prstGeom prst="rect">
            <a:avLst/>
          </a:prstGeom>
          <a:noFill/>
          <a:ln/>
        </p:spPr>
        <p:txBody>
          <a:bodyPr wrap="square" lIns="0" tIns="0" rIns="0" bIns="0" rtlCol="0" anchor="ctr"/>
          <a:lstStyle/>
          <a:p>
            <a:pPr marL="0" indent="0">
              <a:buNone/>
            </a:pPr>
            <a:r>
              <a:rPr lang="en-US" sz="1700" dirty="0">
                <a:solidFill>
                  <a:schemeClr val="tx1"/>
                </a:solidFill>
              </a:rPr>
              <a:t>The lion puffed out his chest and looked down at everyone.</a:t>
            </a:r>
            <a:endParaRPr lang="en-US" sz="1700" dirty="0"/>
          </a:p>
        </p:txBody>
      </p:sp>
      <p:sp>
        <p:nvSpPr>
          <p:cNvPr id="13" name="Card 51"/>
          <p:cNvSpPr/>
          <p:nvPr/>
        </p:nvSpPr>
        <p:spPr>
          <a:xfrm>
            <a:off x="457200" y="3017520"/>
            <a:ext cx="8229600" cy="804672"/>
          </a:xfrm>
          <a:prstGeom prst="roundRect">
            <a:avLst>
              <a:gd name="adj" fmla="val 13636"/>
            </a:avLst>
          </a:prstGeom>
          <a:solidFill>
            <a:schemeClr val="bg2"/>
          </a:solidFill>
          <a:ln/>
        </p:spPr>
      </p:sp>
      <p:sp>
        <p:nvSpPr>
          <p:cNvPr id="14" name="Tick 52"/>
          <p:cNvSpPr/>
          <p:nvPr/>
        </p:nvSpPr>
        <p:spPr>
          <a:xfrm>
            <a:off x="640080" y="3191256"/>
            <a:ext cx="457200" cy="457200"/>
          </a:xfrm>
          <a:prstGeom prst="ellipse">
            <a:avLst/>
          </a:prstGeom>
          <a:solidFill>
            <a:schemeClr val="accent3"/>
          </a:solidFill>
          <a:ln/>
        </p:spPr>
      </p:sp>
      <p:pic>
        <p:nvPicPr>
          <p:cNvPr id="15" name="Image 3" descr="Tick"/>
          <p:cNvPicPr>
            <a:picLocks noChangeAspect="1"/>
          </p:cNvPicPr>
          <p:nvPr/>
        </p:nvPicPr>
        <p:blipFill>
          <a:blip r:embed="rId3"/>
          <a:stretch>
            <a:fillRect/>
          </a:stretch>
        </p:blipFill>
        <p:spPr>
          <a:xfrm>
            <a:off x="749808" y="3300984"/>
            <a:ext cx="237744" cy="237744"/>
          </a:xfrm>
          <a:prstGeom prst="rect">
            <a:avLst/>
          </a:prstGeom>
        </p:spPr>
      </p:pic>
      <p:sp>
        <p:nvSpPr>
          <p:cNvPr id="16" name="Text 10"/>
          <p:cNvSpPr txBox="1"/>
          <p:nvPr/>
        </p:nvSpPr>
        <p:spPr>
          <a:xfrm>
            <a:off x="1325880" y="3017520"/>
            <a:ext cx="7178040" cy="804672"/>
          </a:xfrm>
          <a:prstGeom prst="rect">
            <a:avLst/>
          </a:prstGeom>
          <a:noFill/>
          <a:ln/>
        </p:spPr>
        <p:txBody>
          <a:bodyPr wrap="square" lIns="0" tIns="0" rIns="0" bIns="0" rtlCol="0" anchor="ctr"/>
          <a:lstStyle/>
          <a:p>
            <a:pPr marL="0" indent="0">
              <a:buNone/>
            </a:pPr>
            <a:r>
              <a:rPr lang="en-US" sz="1700" dirty="0">
                <a:solidFill>
                  <a:schemeClr val="tx1"/>
                </a:solidFill>
              </a:rPr>
              <a:t>The lion would not share his rock with anybody.</a:t>
            </a:r>
            <a:endParaRPr lang="en-US" sz="1700" dirty="0"/>
          </a:p>
        </p:txBody>
      </p:sp>
      <p:sp>
        <p:nvSpPr>
          <p:cNvPr id="17" name="Card 53"/>
          <p:cNvSpPr/>
          <p:nvPr/>
        </p:nvSpPr>
        <p:spPr>
          <a:xfrm>
            <a:off x="457200" y="4114800"/>
            <a:ext cx="8229600" cy="457200"/>
          </a:xfrm>
          <a:prstGeom prst="roundRect">
            <a:avLst>
              <a:gd name="adj" fmla="val 24000"/>
            </a:avLst>
          </a:prstGeom>
          <a:solidFill>
            <a:schemeClr val="tx2"/>
          </a:solidFill>
          <a:ln/>
        </p:spPr>
      </p:sp>
      <p:sp>
        <p:nvSpPr>
          <p:cNvPr id="18" name="Text 12"/>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600" b="1" dirty="0">
                <a:solidFill>
                  <a:schemeClr val="bg1"/>
                </a:solidFill>
              </a:rPr>
              <a:t>These show what the lion DOES. We do not need the word proud.</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Paragraph 1</a:t>
            </a:r>
            <a:endParaRPr lang="en-US" sz="3400" dirty="0"/>
          </a:p>
        </p:txBody>
      </p:sp>
      <p:sp>
        <p:nvSpPr>
          <p:cNvPr id="3" name="Badge 54"/>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55"/>
          <p:cNvSpPr/>
          <p:nvPr/>
        </p:nvSpPr>
        <p:spPr>
          <a:xfrm>
            <a:off x="457200" y="1188720"/>
            <a:ext cx="557784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325880"/>
            <a:ext cx="5120640" cy="3108960"/>
          </a:xfrm>
          <a:prstGeom prst="rect">
            <a:avLst/>
          </a:prstGeom>
          <a:noFill/>
          <a:ln/>
        </p:spPr>
        <p:txBody>
          <a:bodyPr wrap="square" lIns="0" tIns="0" rIns="0" bIns="0" rtlCol="0" anchor="ctr"/>
          <a:lstStyle/>
          <a:p>
            <a:pPr marL="0" indent="0">
              <a:lnSpc>
                <a:spcPct val="110000"/>
              </a:lnSpc>
              <a:buNone/>
            </a:pPr>
            <a:r>
              <a:rPr lang="en-US" sz="1700" b="1" dirty="0">
                <a:solidFill>
                  <a:schemeClr val="accent1"/>
                </a:solidFill>
              </a:rPr>
              <a:t>Geoffrey</a:t>
            </a:r>
            <a:r>
              <a:rPr lang="en-US" sz="1700" dirty="0">
                <a:solidFill>
                  <a:schemeClr val="tx1"/>
                </a:solidFill>
              </a:rPr>
              <a:t> was a grasshopper who lived in </a:t>
            </a:r>
            <a:r>
              <a:rPr lang="en-US" sz="1700" b="1" dirty="0">
                <a:solidFill>
                  <a:schemeClr val="accent4"/>
                </a:solidFill>
              </a:rPr>
              <a:t>a sunny field. </a:t>
            </a:r>
            <a:r>
              <a:rPr lang="en-US" sz="1700" b="1" dirty="0">
                <a:solidFill>
                  <a:schemeClr val="accent3"/>
                </a:solidFill>
              </a:rPr>
              <a:t>He loved music more than anything. All day he sat on a leaf, humming songs and watching the clouds. He never thought about tomorrow.</a:t>
            </a:r>
            <a:endParaRPr lang="en-US" sz="1700" dirty="0"/>
          </a:p>
        </p:txBody>
      </p:sp>
      <p:sp>
        <p:nvSpPr>
          <p:cNvPr id="7" name="Dot 56"/>
          <p:cNvSpPr/>
          <p:nvPr/>
        </p:nvSpPr>
        <p:spPr>
          <a:xfrm>
            <a:off x="6309360" y="1261872"/>
            <a:ext cx="256032" cy="256032"/>
          </a:xfrm>
          <a:prstGeom prst="ellipse">
            <a:avLst/>
          </a:prstGeom>
          <a:solidFill>
            <a:schemeClr val="accent1"/>
          </a:solidFill>
          <a:ln/>
        </p:spPr>
      </p:sp>
      <p:sp>
        <p:nvSpPr>
          <p:cNvPr id="8" name="Text 5"/>
          <p:cNvSpPr txBox="1"/>
          <p:nvPr/>
        </p:nvSpPr>
        <p:spPr>
          <a:xfrm>
            <a:off x="6675120" y="1188720"/>
            <a:ext cx="2011680" cy="1039368"/>
          </a:xfrm>
          <a:prstGeom prst="rect">
            <a:avLst/>
          </a:prstGeom>
          <a:noFill/>
          <a:ln/>
        </p:spPr>
        <p:txBody>
          <a:bodyPr wrap="square" lIns="0" tIns="0" rIns="0" bIns="0" rtlCol="0" anchor="t"/>
          <a:lstStyle/>
          <a:p>
            <a:pPr marL="0" indent="0">
              <a:buNone/>
            </a:pPr>
            <a:r>
              <a:rPr lang="en-US" sz="1400" b="1" dirty="0">
                <a:solidFill>
                  <a:schemeClr val="accent1"/>
                </a:solidFill>
              </a:rPr>
              <a:t>Character</a:t>
            </a:r>
            <a:endParaRPr lang="en-US" sz="1400" dirty="0"/>
          </a:p>
          <a:p>
            <a:pPr marL="0" indent="0">
              <a:buNone/>
            </a:pPr>
            <a:r>
              <a:rPr lang="en-US" sz="1400" dirty="0">
                <a:solidFill>
                  <a:schemeClr val="tx1"/>
                </a:solidFill>
              </a:rPr>
              <a:t>Geoffrey the grasshopper</a:t>
            </a:r>
            <a:endParaRPr lang="en-US" sz="1400" dirty="0"/>
          </a:p>
        </p:txBody>
      </p:sp>
      <p:sp>
        <p:nvSpPr>
          <p:cNvPr id="9" name="Dot 57"/>
          <p:cNvSpPr/>
          <p:nvPr/>
        </p:nvSpPr>
        <p:spPr>
          <a:xfrm>
            <a:off x="6309360" y="2374392"/>
            <a:ext cx="256032" cy="256032"/>
          </a:xfrm>
          <a:prstGeom prst="ellipse">
            <a:avLst/>
          </a:prstGeom>
          <a:solidFill>
            <a:schemeClr val="accent4"/>
          </a:solidFill>
          <a:ln/>
        </p:spPr>
      </p:sp>
      <p:sp>
        <p:nvSpPr>
          <p:cNvPr id="10" name="Text 7"/>
          <p:cNvSpPr txBox="1"/>
          <p:nvPr/>
        </p:nvSpPr>
        <p:spPr>
          <a:xfrm>
            <a:off x="6675120" y="2301240"/>
            <a:ext cx="2011680" cy="1039368"/>
          </a:xfrm>
          <a:prstGeom prst="rect">
            <a:avLst/>
          </a:prstGeom>
          <a:noFill/>
          <a:ln/>
        </p:spPr>
        <p:txBody>
          <a:bodyPr wrap="square" lIns="0" tIns="0" rIns="0" bIns="0" rtlCol="0" anchor="t"/>
          <a:lstStyle/>
          <a:p>
            <a:pPr marL="0" indent="0">
              <a:buNone/>
            </a:pPr>
            <a:r>
              <a:rPr lang="en-US" sz="1400" b="1" dirty="0">
                <a:solidFill>
                  <a:schemeClr val="accent4"/>
                </a:solidFill>
              </a:rPr>
              <a:t>Place</a:t>
            </a:r>
            <a:endParaRPr lang="en-US" sz="1400" dirty="0"/>
          </a:p>
          <a:p>
            <a:pPr marL="0" indent="0">
              <a:buNone/>
            </a:pPr>
            <a:r>
              <a:rPr lang="en-US" sz="1400" dirty="0">
                <a:solidFill>
                  <a:schemeClr val="tx1"/>
                </a:solidFill>
              </a:rPr>
              <a:t>A sunny field</a:t>
            </a:r>
            <a:endParaRPr lang="en-US" sz="1400" dirty="0"/>
          </a:p>
        </p:txBody>
      </p:sp>
      <p:sp>
        <p:nvSpPr>
          <p:cNvPr id="11" name="Dot 58"/>
          <p:cNvSpPr/>
          <p:nvPr/>
        </p:nvSpPr>
        <p:spPr>
          <a:xfrm>
            <a:off x="6309360" y="3486912"/>
            <a:ext cx="256032" cy="256032"/>
          </a:xfrm>
          <a:prstGeom prst="ellipse">
            <a:avLst/>
          </a:prstGeom>
          <a:solidFill>
            <a:schemeClr val="accent3"/>
          </a:solidFill>
          <a:ln/>
        </p:spPr>
      </p:sp>
      <p:sp>
        <p:nvSpPr>
          <p:cNvPr id="12" name="Text 9"/>
          <p:cNvSpPr txBox="1"/>
          <p:nvPr/>
        </p:nvSpPr>
        <p:spPr>
          <a:xfrm>
            <a:off x="6675120" y="3413760"/>
            <a:ext cx="2011680" cy="1039368"/>
          </a:xfrm>
          <a:prstGeom prst="rect">
            <a:avLst/>
          </a:prstGeom>
          <a:noFill/>
          <a:ln/>
        </p:spPr>
        <p:txBody>
          <a:bodyPr wrap="square" lIns="0" tIns="0" rIns="0" bIns="0" rtlCol="0" anchor="t"/>
          <a:lstStyle/>
          <a:p>
            <a:pPr marL="0" indent="0">
              <a:buNone/>
            </a:pPr>
            <a:r>
              <a:rPr lang="en-US" sz="1400" b="1" dirty="0">
                <a:solidFill>
                  <a:schemeClr val="accent3"/>
                </a:solidFill>
              </a:rPr>
              <a:t>Trait: dreamy</a:t>
            </a:r>
            <a:endParaRPr lang="en-US" sz="1400" dirty="0"/>
          </a:p>
          <a:p>
            <a:pPr marL="0" indent="0">
              <a:buNone/>
            </a:pPr>
            <a:r>
              <a:rPr lang="en-US" sz="1400" dirty="0">
                <a:solidFill>
                  <a:schemeClr val="tx1"/>
                </a:solidFill>
              </a:rPr>
              <a:t>Shown by what he does</a:t>
            </a:r>
            <a:endParaRPr lang="en-US" sz="14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Bad luck or the trait?</a:t>
            </a:r>
            <a:endParaRPr lang="en-US" sz="3400" dirty="0"/>
          </a:p>
        </p:txBody>
      </p:sp>
      <p:sp>
        <p:nvSpPr>
          <p:cNvPr id="3" name="Badge 59"/>
          <p:cNvSpPr/>
          <p:nvPr/>
        </p:nvSpPr>
        <p:spPr>
          <a:xfrm>
            <a:off x="7955280" y="274320"/>
            <a:ext cx="731520" cy="731520"/>
          </a:xfrm>
          <a:prstGeom prst="ellipse">
            <a:avLst/>
          </a:prstGeom>
          <a:solidFill>
            <a:schemeClr val="accent6"/>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60"/>
          <p:cNvSpPr/>
          <p:nvPr/>
        </p:nvSpPr>
        <p:spPr>
          <a:xfrm>
            <a:off x="457200" y="1188720"/>
            <a:ext cx="3657600" cy="2011680"/>
          </a:xfrm>
          <a:prstGeom prst="roundRect">
            <a:avLst>
              <a:gd name="adj" fmla="val 5455"/>
            </a:avLst>
          </a:prstGeom>
          <a:solidFill>
            <a:schemeClr val="accent6">
              <a:alpha val="12000"/>
            </a:schemeClr>
          </a:solidFill>
          <a:ln w="15875">
            <a:solidFill>
              <a:schemeClr val="accent6"/>
            </a:solidFill>
            <a:prstDash val="solid"/>
          </a:ln>
        </p:spPr>
      </p:sp>
      <p:sp>
        <p:nvSpPr>
          <p:cNvPr id="6" name="Chip 61"/>
          <p:cNvSpPr/>
          <p:nvPr/>
        </p:nvSpPr>
        <p:spPr>
          <a:xfrm>
            <a:off x="640080" y="1325880"/>
            <a:ext cx="1280160" cy="292608"/>
          </a:xfrm>
          <a:prstGeom prst="roundRect">
            <a:avLst>
              <a:gd name="adj" fmla="val 50000"/>
            </a:avLst>
          </a:prstGeom>
          <a:solidFill>
            <a:schemeClr val="accent6"/>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BAD LUCK</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A storm washed away the food.</a:t>
            </a:r>
            <a:endParaRPr lang="en-US" sz="2200" dirty="0"/>
          </a:p>
        </p:txBody>
      </p:sp>
      <p:sp>
        <p:nvSpPr>
          <p:cNvPr id="9" name="Card 62"/>
          <p:cNvSpPr/>
          <p:nvPr/>
        </p:nvSpPr>
        <p:spPr>
          <a:xfrm>
            <a:off x="5029200" y="1188720"/>
            <a:ext cx="3657600" cy="2011680"/>
          </a:xfrm>
          <a:prstGeom prst="roundRect">
            <a:avLst>
              <a:gd name="adj" fmla="val 5455"/>
            </a:avLst>
          </a:prstGeom>
          <a:solidFill>
            <a:schemeClr val="accent3">
              <a:alpha val="12000"/>
            </a:schemeClr>
          </a:solidFill>
          <a:ln w="15875">
            <a:solidFill>
              <a:schemeClr val="accent3"/>
            </a:solidFill>
            <a:prstDash val="solid"/>
          </a:ln>
        </p:spPr>
      </p:sp>
      <p:sp>
        <p:nvSpPr>
          <p:cNvPr id="10" name="Chip 63"/>
          <p:cNvSpPr/>
          <p:nvPr/>
        </p:nvSpPr>
        <p:spPr>
          <a:xfrm>
            <a:off x="5212080" y="1325880"/>
            <a:ext cx="1280160" cy="292608"/>
          </a:xfrm>
          <a:prstGeom prst="roundRect">
            <a:avLst>
              <a:gd name="adj" fmla="val 50000"/>
            </a:avLst>
          </a:prstGeom>
          <a:solidFill>
            <a:schemeClr val="accent3"/>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FROM THE TRAIT</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Because Geoffrey was dreamy, he stored no food.</a:t>
            </a:r>
            <a:endParaRPr lang="en-US" sz="1800" dirty="0"/>
          </a:p>
        </p:txBody>
      </p:sp>
      <p:sp>
        <p:nvSpPr>
          <p:cNvPr id="13" name="Arrow"/>
          <p:cNvSpPr/>
          <p:nvPr/>
        </p:nvSpPr>
        <p:spPr>
          <a:xfrm>
            <a:off x="4224528" y="1920240"/>
            <a:ext cx="694944" cy="457200"/>
          </a:xfrm>
          <a:prstGeom prst="rightArrow">
            <a:avLst/>
          </a:prstGeom>
          <a:solidFill>
            <a:schemeClr val="accent2"/>
          </a:solidFill>
          <a:ln/>
        </p:spPr>
      </p:sp>
      <p:sp>
        <p:nvSpPr>
          <p:cNvPr id="14" name="Card 64"/>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A good problem is caused by the character.</a:t>
            </a:r>
            <a:endParaRPr lang="en-US" sz="1700" dirty="0"/>
          </a:p>
        </p:txBody>
      </p:sp>
      <p:sp>
        <p:nvSpPr>
          <p:cNvPr id="16" name="Card 65"/>
          <p:cNvSpPr/>
          <p:nvPr/>
        </p:nvSpPr>
        <p:spPr>
          <a:xfrm>
            <a:off x="457200" y="4023360"/>
            <a:ext cx="8229600" cy="502920"/>
          </a:xfrm>
          <a:prstGeom prst="roundRect">
            <a:avLst>
              <a:gd name="adj" fmla="val 21818"/>
            </a:avLst>
          </a:prstGeom>
          <a:solidFill>
            <a:schemeClr val="tx2"/>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700" b="1" dirty="0">
                <a:solidFill>
                  <a:schemeClr val="accent2"/>
                </a:solidFill>
              </a:rPr>
              <a:t>Partner talk: </a:t>
            </a:r>
            <a:r>
              <a:rPr lang="en-US" sz="1700" dirty="0">
                <a:solidFill>
                  <a:schemeClr val="bg1"/>
                </a:solidFill>
              </a:rPr>
              <a:t>which problem is stronger? Why?</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Answer: from the trait</a:t>
            </a:r>
            <a:endParaRPr lang="en-US" sz="3400" dirty="0"/>
          </a:p>
        </p:txBody>
      </p:sp>
      <p:sp>
        <p:nvSpPr>
          <p:cNvPr id="3" name="Badge 66"/>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67"/>
          <p:cNvSpPr/>
          <p:nvPr/>
        </p:nvSpPr>
        <p:spPr>
          <a:xfrm>
            <a:off x="457200" y="1188720"/>
            <a:ext cx="8229600" cy="914400"/>
          </a:xfrm>
          <a:prstGeom prst="roundRect">
            <a:avLst>
              <a:gd name="adj" fmla="val 12000"/>
            </a:avLst>
          </a:prstGeom>
          <a:solidFill>
            <a:schemeClr val="bg2"/>
          </a:solidFill>
          <a:ln/>
        </p:spPr>
      </p:sp>
      <p:sp>
        <p:nvSpPr>
          <p:cNvPr id="6" name="Tick 68"/>
          <p:cNvSpPr/>
          <p:nvPr/>
        </p:nvSpPr>
        <p:spPr>
          <a:xfrm>
            <a:off x="640080" y="1417320"/>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527048"/>
            <a:ext cx="237744" cy="237744"/>
          </a:xfrm>
          <a:prstGeom prst="rect">
            <a:avLst/>
          </a:prstGeom>
        </p:spPr>
      </p:pic>
      <p:sp>
        <p:nvSpPr>
          <p:cNvPr id="8" name="Text 4"/>
          <p:cNvSpPr txBox="1"/>
          <p:nvPr/>
        </p:nvSpPr>
        <p:spPr>
          <a:xfrm>
            <a:off x="1325880" y="1188720"/>
            <a:ext cx="7178040" cy="914400"/>
          </a:xfrm>
          <a:prstGeom prst="rect">
            <a:avLst/>
          </a:prstGeom>
          <a:noFill/>
          <a:ln/>
        </p:spPr>
        <p:txBody>
          <a:bodyPr wrap="square" lIns="0" tIns="0" rIns="0" bIns="0" rtlCol="0" anchor="ctr"/>
          <a:lstStyle/>
          <a:p>
            <a:pPr marL="0" indent="0">
              <a:buNone/>
            </a:pPr>
            <a:r>
              <a:rPr lang="en-US" sz="1700" b="1" dirty="0">
                <a:solidFill>
                  <a:schemeClr val="accent3"/>
                </a:solidFill>
              </a:rPr>
              <a:t>Stronger:  </a:t>
            </a:r>
            <a:r>
              <a:rPr lang="en-US" sz="1700" dirty="0">
                <a:solidFill>
                  <a:schemeClr val="tx1"/>
                </a:solidFill>
              </a:rPr>
              <a:t>The problem that comes from the trait. Geoffrey caused it by not planning.</a:t>
            </a:r>
            <a:endParaRPr lang="en-US" sz="1700" dirty="0"/>
          </a:p>
        </p:txBody>
      </p:sp>
      <p:sp>
        <p:nvSpPr>
          <p:cNvPr id="9" name="Card 69"/>
          <p:cNvSpPr/>
          <p:nvPr/>
        </p:nvSpPr>
        <p:spPr>
          <a:xfrm>
            <a:off x="457200" y="2212848"/>
            <a:ext cx="8229600" cy="914400"/>
          </a:xfrm>
          <a:prstGeom prst="roundRect">
            <a:avLst>
              <a:gd name="adj" fmla="val 12000"/>
            </a:avLst>
          </a:prstGeom>
          <a:solidFill>
            <a:schemeClr val="bg2"/>
          </a:solidFill>
          <a:ln/>
        </p:spPr>
      </p:sp>
      <p:sp>
        <p:nvSpPr>
          <p:cNvPr id="10" name="Tick 70"/>
          <p:cNvSpPr/>
          <p:nvPr/>
        </p:nvSpPr>
        <p:spPr>
          <a:xfrm>
            <a:off x="640080" y="2441448"/>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551176"/>
            <a:ext cx="237744" cy="237744"/>
          </a:xfrm>
          <a:prstGeom prst="rect">
            <a:avLst/>
          </a:prstGeom>
        </p:spPr>
      </p:pic>
      <p:sp>
        <p:nvSpPr>
          <p:cNvPr id="12" name="Text 7"/>
          <p:cNvSpPr txBox="1"/>
          <p:nvPr/>
        </p:nvSpPr>
        <p:spPr>
          <a:xfrm>
            <a:off x="1325880" y="2212848"/>
            <a:ext cx="7178040" cy="914400"/>
          </a:xfrm>
          <a:prstGeom prst="rect">
            <a:avLst/>
          </a:prstGeom>
          <a:noFill/>
          <a:ln/>
        </p:spPr>
        <p:txBody>
          <a:bodyPr wrap="square" lIns="0" tIns="0" rIns="0" bIns="0" rtlCol="0" anchor="ctr"/>
          <a:lstStyle/>
          <a:p>
            <a:pPr marL="0" indent="0">
              <a:buNone/>
            </a:pPr>
            <a:r>
              <a:rPr lang="en-US" sz="1700" b="1" dirty="0">
                <a:solidFill>
                  <a:schemeClr val="accent3"/>
                </a:solidFill>
              </a:rPr>
              <a:t>Bad luck:  </a:t>
            </a:r>
            <a:r>
              <a:rPr lang="en-US" sz="1700" dirty="0">
                <a:solidFill>
                  <a:schemeClr val="tx1"/>
                </a:solidFill>
              </a:rPr>
              <a:t>The storm is not Geoffrey's fault. He did nothing wrong.</a:t>
            </a:r>
            <a:endParaRPr lang="en-US" sz="1700" dirty="0"/>
          </a:p>
        </p:txBody>
      </p:sp>
      <p:sp>
        <p:nvSpPr>
          <p:cNvPr id="13" name="Card 71"/>
          <p:cNvSpPr/>
          <p:nvPr/>
        </p:nvSpPr>
        <p:spPr>
          <a:xfrm>
            <a:off x="457200" y="4114800"/>
            <a:ext cx="8229600" cy="457200"/>
          </a:xfrm>
          <a:prstGeom prst="roundRect">
            <a:avLst>
              <a:gd name="adj" fmla="val 24000"/>
            </a:avLst>
          </a:prstGeom>
          <a:solidFill>
            <a:schemeClr val="tx2"/>
          </a:solidFill>
          <a:ln/>
        </p:spPr>
      </p:sp>
      <p:sp>
        <p:nvSpPr>
          <p:cNvPr id="14" name="Text 9"/>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600" b="1" dirty="0">
                <a:solidFill>
                  <a:schemeClr val="bg1"/>
                </a:solidFill>
              </a:rPr>
              <a:t>A fable's problem should come from what the character is like.</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The because / so bridge</a:t>
            </a:r>
            <a:endParaRPr lang="en-US" sz="3400" dirty="0"/>
          </a:p>
        </p:txBody>
      </p:sp>
      <p:sp>
        <p:nvSpPr>
          <p:cNvPr id="3" name="Badge 72"/>
          <p:cNvSpPr/>
          <p:nvPr/>
        </p:nvSpPr>
        <p:spPr>
          <a:xfrm>
            <a:off x="7955280" y="274320"/>
            <a:ext cx="731520" cy="731520"/>
          </a:xfrm>
          <a:prstGeom prst="ellipse">
            <a:avLst/>
          </a:prstGeom>
          <a:solidFill>
            <a:schemeClr val="accent5"/>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73"/>
          <p:cNvSpPr/>
          <p:nvPr/>
        </p:nvSpPr>
        <p:spPr>
          <a:xfrm>
            <a:off x="457200" y="1188720"/>
            <a:ext cx="2621280" cy="2606040"/>
          </a:xfrm>
          <a:prstGeom prst="roundRect">
            <a:avLst>
              <a:gd name="adj" fmla="val 4211"/>
            </a:avLst>
          </a:prstGeom>
          <a:solidFill>
            <a:schemeClr val="bg2"/>
          </a:solidFill>
          <a:ln/>
        </p:spPr>
      </p:sp>
      <p:sp>
        <p:nvSpPr>
          <p:cNvPr id="6" name="Badge 74"/>
          <p:cNvSpPr/>
          <p:nvPr/>
        </p:nvSpPr>
        <p:spPr>
          <a:xfrm>
            <a:off x="1438656" y="1325880"/>
            <a:ext cx="658368" cy="658368"/>
          </a:xfrm>
          <a:prstGeom prst="ellipse">
            <a:avLst/>
          </a:prstGeom>
          <a:solidFill>
            <a:schemeClr val="accent5"/>
          </a:solidFill>
          <a:ln/>
        </p:spPr>
      </p:sp>
      <p:pic>
        <p:nvPicPr>
          <p:cNvPr id="7" name="Image 1" descr="Trait"/>
          <p:cNvPicPr>
            <a:picLocks noChangeAspect="1"/>
          </p:cNvPicPr>
          <p:nvPr/>
        </p:nvPicPr>
        <p:blipFill>
          <a:blip r:embed="rId4"/>
          <a:stretch>
            <a:fillRect/>
          </a:stretch>
        </p:blipFill>
        <p:spPr>
          <a:xfrm>
            <a:off x="1583497" y="1470721"/>
            <a:ext cx="368686" cy="368686"/>
          </a:xfrm>
          <a:prstGeom prst="rect">
            <a:avLst/>
          </a:prstGeom>
        </p:spPr>
      </p:pic>
      <p:sp>
        <p:nvSpPr>
          <p:cNvPr id="8" name="Text 4"/>
          <p:cNvSpPr txBox="1"/>
          <p:nvPr/>
        </p:nvSpPr>
        <p:spPr>
          <a:xfrm>
            <a:off x="53035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Trait</a:t>
            </a:r>
            <a:endParaRPr lang="en-US" sz="1800" dirty="0"/>
          </a:p>
        </p:txBody>
      </p:sp>
      <p:sp>
        <p:nvSpPr>
          <p:cNvPr id="9" name="Text 5"/>
          <p:cNvSpPr txBox="1"/>
          <p:nvPr/>
        </p:nvSpPr>
        <p:spPr>
          <a:xfrm>
            <a:off x="566928" y="2560320"/>
            <a:ext cx="2401824" cy="1143000"/>
          </a:xfrm>
          <a:prstGeom prst="rect">
            <a:avLst/>
          </a:prstGeom>
          <a:noFill/>
          <a:ln/>
        </p:spPr>
        <p:txBody>
          <a:bodyPr wrap="square" lIns="0" tIns="0" rIns="0" bIns="0" rtlCol="0" anchor="t"/>
          <a:lstStyle/>
          <a:p>
            <a:pPr marL="0" indent="0" algn="ctr">
              <a:buNone/>
            </a:pPr>
            <a:r>
              <a:rPr lang="en-US" sz="1500" dirty="0">
                <a:solidFill>
                  <a:schemeClr val="tx1"/>
                </a:solidFill>
              </a:rPr>
              <a:t>Geoffrey is dreamy.</a:t>
            </a:r>
            <a:endParaRPr lang="en-US" sz="1500" dirty="0"/>
          </a:p>
        </p:txBody>
      </p:sp>
      <p:sp>
        <p:nvSpPr>
          <p:cNvPr id="10" name="Card 75"/>
          <p:cNvSpPr/>
          <p:nvPr/>
        </p:nvSpPr>
        <p:spPr>
          <a:xfrm>
            <a:off x="3261360" y="1188720"/>
            <a:ext cx="2621280" cy="2606040"/>
          </a:xfrm>
          <a:prstGeom prst="roundRect">
            <a:avLst>
              <a:gd name="adj" fmla="val 4211"/>
            </a:avLst>
          </a:prstGeom>
          <a:solidFill>
            <a:schemeClr val="bg2"/>
          </a:solidFill>
          <a:ln/>
        </p:spPr>
      </p:sp>
      <p:sp>
        <p:nvSpPr>
          <p:cNvPr id="11" name="Badge 76"/>
          <p:cNvSpPr/>
          <p:nvPr/>
        </p:nvSpPr>
        <p:spPr>
          <a:xfrm>
            <a:off x="4242816" y="1325880"/>
            <a:ext cx="658368" cy="658368"/>
          </a:xfrm>
          <a:prstGeom prst="ellipse">
            <a:avLst/>
          </a:prstGeom>
          <a:solidFill>
            <a:schemeClr val="accent3"/>
          </a:solidFill>
          <a:ln/>
        </p:spPr>
      </p:sp>
      <p:pic>
        <p:nvPicPr>
          <p:cNvPr id="12" name="Image 2" descr="Action"/>
          <p:cNvPicPr>
            <a:picLocks noChangeAspect="1"/>
          </p:cNvPicPr>
          <p:nvPr/>
        </p:nvPicPr>
        <p:blipFill>
          <a:blip r:embed="rId5"/>
          <a:stretch>
            <a:fillRect/>
          </a:stretch>
        </p:blipFill>
        <p:spPr>
          <a:xfrm>
            <a:off x="4387657" y="1470721"/>
            <a:ext cx="368686" cy="368686"/>
          </a:xfrm>
          <a:prstGeom prst="rect">
            <a:avLst/>
          </a:prstGeom>
        </p:spPr>
      </p:pic>
      <p:sp>
        <p:nvSpPr>
          <p:cNvPr id="13" name="Text 8"/>
          <p:cNvSpPr txBox="1"/>
          <p:nvPr/>
        </p:nvSpPr>
        <p:spPr>
          <a:xfrm>
            <a:off x="333451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Action</a:t>
            </a:r>
            <a:endParaRPr lang="en-US" sz="1800" dirty="0"/>
          </a:p>
        </p:txBody>
      </p:sp>
      <p:sp>
        <p:nvSpPr>
          <p:cNvPr id="14" name="Text 9"/>
          <p:cNvSpPr txBox="1"/>
          <p:nvPr/>
        </p:nvSpPr>
        <p:spPr>
          <a:xfrm>
            <a:off x="3371088" y="2560320"/>
            <a:ext cx="2401824" cy="1143000"/>
          </a:xfrm>
          <a:prstGeom prst="rect">
            <a:avLst/>
          </a:prstGeom>
          <a:noFill/>
          <a:ln/>
        </p:spPr>
        <p:txBody>
          <a:bodyPr wrap="square" lIns="0" tIns="0" rIns="0" bIns="0" rtlCol="0" anchor="t"/>
          <a:lstStyle/>
          <a:p>
            <a:pPr marL="0" indent="0" algn="ctr">
              <a:buNone/>
            </a:pPr>
            <a:r>
              <a:rPr lang="en-US" sz="1500" dirty="0">
                <a:solidFill>
                  <a:schemeClr val="tx1"/>
                </a:solidFill>
              </a:rPr>
              <a:t>He sings and stores no food.</a:t>
            </a:r>
            <a:endParaRPr lang="en-US" sz="1500" dirty="0"/>
          </a:p>
        </p:txBody>
      </p:sp>
      <p:sp>
        <p:nvSpPr>
          <p:cNvPr id="15" name="Card 77"/>
          <p:cNvSpPr/>
          <p:nvPr/>
        </p:nvSpPr>
        <p:spPr>
          <a:xfrm>
            <a:off x="6065520" y="1188720"/>
            <a:ext cx="2621280" cy="2606040"/>
          </a:xfrm>
          <a:prstGeom prst="roundRect">
            <a:avLst>
              <a:gd name="adj" fmla="val 4211"/>
            </a:avLst>
          </a:prstGeom>
          <a:solidFill>
            <a:schemeClr val="bg2"/>
          </a:solidFill>
          <a:ln/>
        </p:spPr>
      </p:sp>
      <p:sp>
        <p:nvSpPr>
          <p:cNvPr id="16" name="Badge 78"/>
          <p:cNvSpPr/>
          <p:nvPr/>
        </p:nvSpPr>
        <p:spPr>
          <a:xfrm>
            <a:off x="7046976" y="1325880"/>
            <a:ext cx="658368" cy="658368"/>
          </a:xfrm>
          <a:prstGeom prst="ellipse">
            <a:avLst/>
          </a:prstGeom>
          <a:solidFill>
            <a:schemeClr val="accent6"/>
          </a:solidFill>
          <a:ln/>
        </p:spPr>
      </p:sp>
      <p:pic>
        <p:nvPicPr>
          <p:cNvPr id="17" name="Image 3" descr="Trouble"/>
          <p:cNvPicPr>
            <a:picLocks noChangeAspect="1"/>
          </p:cNvPicPr>
          <p:nvPr/>
        </p:nvPicPr>
        <p:blipFill>
          <a:blip r:embed="rId6"/>
          <a:stretch>
            <a:fillRect/>
          </a:stretch>
        </p:blipFill>
        <p:spPr>
          <a:xfrm>
            <a:off x="7191817" y="1470721"/>
            <a:ext cx="368686" cy="368686"/>
          </a:xfrm>
          <a:prstGeom prst="rect">
            <a:avLst/>
          </a:prstGeom>
        </p:spPr>
      </p:pic>
      <p:sp>
        <p:nvSpPr>
          <p:cNvPr id="18" name="Text 12"/>
          <p:cNvSpPr txBox="1"/>
          <p:nvPr/>
        </p:nvSpPr>
        <p:spPr>
          <a:xfrm>
            <a:off x="613867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Trouble</a:t>
            </a:r>
            <a:endParaRPr lang="en-US" sz="1800" dirty="0"/>
          </a:p>
        </p:txBody>
      </p:sp>
      <p:sp>
        <p:nvSpPr>
          <p:cNvPr id="19" name="Text 13"/>
          <p:cNvSpPr txBox="1"/>
          <p:nvPr/>
        </p:nvSpPr>
        <p:spPr>
          <a:xfrm>
            <a:off x="6175248" y="2560320"/>
            <a:ext cx="2401824" cy="1143000"/>
          </a:xfrm>
          <a:prstGeom prst="rect">
            <a:avLst/>
          </a:prstGeom>
          <a:noFill/>
          <a:ln/>
        </p:spPr>
        <p:txBody>
          <a:bodyPr wrap="square" lIns="0" tIns="0" rIns="0" bIns="0" rtlCol="0" anchor="t"/>
          <a:lstStyle/>
          <a:p>
            <a:pPr marL="0" indent="0" algn="ctr">
              <a:buNone/>
            </a:pPr>
            <a:r>
              <a:rPr lang="en-US" sz="1500" dirty="0">
                <a:solidFill>
                  <a:schemeClr val="tx1"/>
                </a:solidFill>
              </a:rPr>
              <a:t>Winter comes and he is hungry.</a:t>
            </a:r>
            <a:endParaRPr lang="en-US" sz="1500" dirty="0"/>
          </a:p>
        </p:txBody>
      </p:sp>
      <p:sp>
        <p:nvSpPr>
          <p:cNvPr id="20" name="Card 79"/>
          <p:cNvSpPr/>
          <p:nvPr/>
        </p:nvSpPr>
        <p:spPr>
          <a:xfrm>
            <a:off x="457200" y="3931920"/>
            <a:ext cx="8229600" cy="502920"/>
          </a:xfrm>
          <a:prstGeom prst="roundRect">
            <a:avLst>
              <a:gd name="adj" fmla="val 21818"/>
            </a:avLst>
          </a:prstGeom>
          <a:solidFill>
            <a:schemeClr val="accent2"/>
          </a:solidFill>
          <a:ln/>
        </p:spPr>
      </p:sp>
      <p:sp>
        <p:nvSpPr>
          <p:cNvPr id="21" name="Text 15"/>
          <p:cNvSpPr txBox="1"/>
          <p:nvPr/>
        </p:nvSpPr>
        <p:spPr>
          <a:xfrm>
            <a:off x="640080" y="393192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Because Geoffrey was dreamy, he stored no food. So winter was hard.</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Paragraph 2</a:t>
            </a:r>
            <a:endParaRPr lang="en-US" sz="3400" dirty="0"/>
          </a:p>
        </p:txBody>
      </p:sp>
      <p:sp>
        <p:nvSpPr>
          <p:cNvPr id="3" name="Badge 80"/>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81"/>
          <p:cNvSpPr/>
          <p:nvPr/>
        </p:nvSpPr>
        <p:spPr>
          <a:xfrm>
            <a:off x="457200" y="1188720"/>
            <a:ext cx="557784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325880"/>
            <a:ext cx="5120640" cy="3108960"/>
          </a:xfrm>
          <a:prstGeom prst="rect">
            <a:avLst/>
          </a:prstGeom>
          <a:noFill/>
          <a:ln/>
        </p:spPr>
        <p:txBody>
          <a:bodyPr wrap="square" lIns="0" tIns="0" rIns="0" bIns="0" rtlCol="0" anchor="ctr"/>
          <a:lstStyle/>
          <a:p>
            <a:pPr marL="0" indent="0">
              <a:lnSpc>
                <a:spcPct val="110000"/>
              </a:lnSpc>
              <a:buNone/>
            </a:pPr>
            <a:r>
              <a:rPr lang="en-US" sz="1700" b="1" dirty="0">
                <a:solidFill>
                  <a:schemeClr val="accent5"/>
                </a:solidFill>
              </a:rPr>
              <a:t>Because Geoffrey was so dreamy, </a:t>
            </a:r>
            <a:r>
              <a:rPr lang="en-US" sz="1700" b="1" dirty="0">
                <a:solidFill>
                  <a:schemeClr val="accent1"/>
                </a:solidFill>
              </a:rPr>
              <a:t>he did not collect any food. </a:t>
            </a:r>
            <a:r>
              <a:rPr lang="en-US" sz="1700" b="1" dirty="0">
                <a:solidFill>
                  <a:schemeClr val="accent4"/>
                </a:solidFill>
              </a:rPr>
              <a:t>While the other insects worked, he sang. Summer slipped by, and his cupboard stayed empty. </a:t>
            </a:r>
            <a:r>
              <a:rPr lang="en-US" sz="1700" b="1" dirty="0">
                <a:solidFill>
                  <a:schemeClr val="accent6"/>
                </a:solidFill>
              </a:rPr>
              <a:t>Then the first cold wind blew across the field, and Geoffrey's tummy began to rumble.</a:t>
            </a:r>
            <a:endParaRPr lang="en-US" sz="1700" dirty="0"/>
          </a:p>
        </p:txBody>
      </p:sp>
      <p:sp>
        <p:nvSpPr>
          <p:cNvPr id="7" name="Dot 82"/>
          <p:cNvSpPr/>
          <p:nvPr/>
        </p:nvSpPr>
        <p:spPr>
          <a:xfrm>
            <a:off x="6309360" y="1261872"/>
            <a:ext cx="256032" cy="256032"/>
          </a:xfrm>
          <a:prstGeom prst="ellipse">
            <a:avLst/>
          </a:prstGeom>
          <a:solidFill>
            <a:schemeClr val="accent5"/>
          </a:solidFill>
          <a:ln/>
        </p:spPr>
      </p:sp>
      <p:sp>
        <p:nvSpPr>
          <p:cNvPr id="8" name="Text 5"/>
          <p:cNvSpPr txBox="1"/>
          <p:nvPr/>
        </p:nvSpPr>
        <p:spPr>
          <a:xfrm>
            <a:off x="6675120" y="1188720"/>
            <a:ext cx="2011680" cy="761238"/>
          </a:xfrm>
          <a:prstGeom prst="rect">
            <a:avLst/>
          </a:prstGeom>
          <a:noFill/>
          <a:ln/>
        </p:spPr>
        <p:txBody>
          <a:bodyPr wrap="square" lIns="0" tIns="0" rIns="0" bIns="0" rtlCol="0" anchor="t"/>
          <a:lstStyle/>
          <a:p>
            <a:pPr marL="0" indent="0">
              <a:buNone/>
            </a:pPr>
            <a:r>
              <a:rPr lang="en-US" sz="1400" b="1" dirty="0">
                <a:solidFill>
                  <a:schemeClr val="accent5"/>
                </a:solidFill>
              </a:rPr>
              <a:t>Link</a:t>
            </a:r>
            <a:endParaRPr lang="en-US" sz="1400" dirty="0"/>
          </a:p>
          <a:p>
            <a:pPr marL="0" indent="0">
              <a:buNone/>
            </a:pPr>
            <a:r>
              <a:rPr lang="en-US" sz="1400" dirty="0">
                <a:solidFill>
                  <a:schemeClr val="tx1"/>
                </a:solidFill>
              </a:rPr>
              <a:t>Because joins the trait to the problem</a:t>
            </a:r>
            <a:endParaRPr lang="en-US" sz="1400" dirty="0"/>
          </a:p>
        </p:txBody>
      </p:sp>
      <p:sp>
        <p:nvSpPr>
          <p:cNvPr id="9" name="Dot 83"/>
          <p:cNvSpPr/>
          <p:nvPr/>
        </p:nvSpPr>
        <p:spPr>
          <a:xfrm>
            <a:off x="6309360" y="2096262"/>
            <a:ext cx="256032" cy="256032"/>
          </a:xfrm>
          <a:prstGeom prst="ellipse">
            <a:avLst/>
          </a:prstGeom>
          <a:solidFill>
            <a:schemeClr val="accent1"/>
          </a:solidFill>
          <a:ln/>
        </p:spPr>
      </p:sp>
      <p:sp>
        <p:nvSpPr>
          <p:cNvPr id="10" name="Text 7"/>
          <p:cNvSpPr txBox="1"/>
          <p:nvPr/>
        </p:nvSpPr>
        <p:spPr>
          <a:xfrm>
            <a:off x="6675120" y="2023110"/>
            <a:ext cx="2011680" cy="761238"/>
          </a:xfrm>
          <a:prstGeom prst="rect">
            <a:avLst/>
          </a:prstGeom>
          <a:noFill/>
          <a:ln/>
        </p:spPr>
        <p:txBody>
          <a:bodyPr wrap="square" lIns="0" tIns="0" rIns="0" bIns="0" rtlCol="0" anchor="t"/>
          <a:lstStyle/>
          <a:p>
            <a:pPr marL="0" indent="0">
              <a:buNone/>
            </a:pPr>
            <a:r>
              <a:rPr lang="en-US" sz="1400" b="1" dirty="0">
                <a:solidFill>
                  <a:schemeClr val="accent1"/>
                </a:solidFill>
              </a:rPr>
              <a:t>Problem</a:t>
            </a:r>
            <a:endParaRPr lang="en-US" sz="1400" dirty="0"/>
          </a:p>
          <a:p>
            <a:pPr marL="0" indent="0">
              <a:buNone/>
            </a:pPr>
            <a:r>
              <a:rPr lang="en-US" sz="1400" dirty="0">
                <a:solidFill>
                  <a:schemeClr val="tx1"/>
                </a:solidFill>
              </a:rPr>
              <a:t>What goes wrong</a:t>
            </a:r>
            <a:endParaRPr lang="en-US" sz="1400" dirty="0"/>
          </a:p>
        </p:txBody>
      </p:sp>
      <p:sp>
        <p:nvSpPr>
          <p:cNvPr id="11" name="Dot 84"/>
          <p:cNvSpPr/>
          <p:nvPr/>
        </p:nvSpPr>
        <p:spPr>
          <a:xfrm>
            <a:off x="6309360" y="2930652"/>
            <a:ext cx="256032" cy="256032"/>
          </a:xfrm>
          <a:prstGeom prst="ellipse">
            <a:avLst/>
          </a:prstGeom>
          <a:solidFill>
            <a:schemeClr val="accent4"/>
          </a:solidFill>
          <a:ln/>
        </p:spPr>
      </p:sp>
      <p:sp>
        <p:nvSpPr>
          <p:cNvPr id="12" name="Text 9"/>
          <p:cNvSpPr txBox="1"/>
          <p:nvPr/>
        </p:nvSpPr>
        <p:spPr>
          <a:xfrm>
            <a:off x="6675120" y="2857500"/>
            <a:ext cx="2011680" cy="761238"/>
          </a:xfrm>
          <a:prstGeom prst="rect">
            <a:avLst/>
          </a:prstGeom>
          <a:noFill/>
          <a:ln/>
        </p:spPr>
        <p:txBody>
          <a:bodyPr wrap="square" lIns="0" tIns="0" rIns="0" bIns="0" rtlCol="0" anchor="t"/>
          <a:lstStyle/>
          <a:p>
            <a:pPr marL="0" indent="0">
              <a:buNone/>
            </a:pPr>
            <a:r>
              <a:rPr lang="en-US" sz="1400" b="1" dirty="0">
                <a:solidFill>
                  <a:schemeClr val="accent4"/>
                </a:solidFill>
              </a:rPr>
              <a:t>Event 1</a:t>
            </a:r>
            <a:endParaRPr lang="en-US" sz="1400" dirty="0"/>
          </a:p>
          <a:p>
            <a:pPr marL="0" indent="0">
              <a:buNone/>
            </a:pPr>
            <a:r>
              <a:rPr lang="en-US" sz="1400" dirty="0">
                <a:solidFill>
                  <a:schemeClr val="tx1"/>
                </a:solidFill>
              </a:rPr>
              <a:t>It gets worse</a:t>
            </a:r>
            <a:endParaRPr lang="en-US" sz="1400" dirty="0"/>
          </a:p>
        </p:txBody>
      </p:sp>
      <p:sp>
        <p:nvSpPr>
          <p:cNvPr id="13" name="Dot 85"/>
          <p:cNvSpPr/>
          <p:nvPr/>
        </p:nvSpPr>
        <p:spPr>
          <a:xfrm>
            <a:off x="6309360" y="3765042"/>
            <a:ext cx="256032" cy="256032"/>
          </a:xfrm>
          <a:prstGeom prst="ellipse">
            <a:avLst/>
          </a:prstGeom>
          <a:solidFill>
            <a:schemeClr val="accent6"/>
          </a:solidFill>
          <a:ln/>
        </p:spPr>
      </p:sp>
      <p:sp>
        <p:nvSpPr>
          <p:cNvPr id="14" name="Text 11"/>
          <p:cNvSpPr txBox="1"/>
          <p:nvPr/>
        </p:nvSpPr>
        <p:spPr>
          <a:xfrm>
            <a:off x="6675120" y="3691890"/>
            <a:ext cx="2011680" cy="761238"/>
          </a:xfrm>
          <a:prstGeom prst="rect">
            <a:avLst/>
          </a:prstGeom>
          <a:noFill/>
          <a:ln/>
        </p:spPr>
        <p:txBody>
          <a:bodyPr wrap="square" lIns="0" tIns="0" rIns="0" bIns="0" rtlCol="0" anchor="t"/>
          <a:lstStyle/>
          <a:p>
            <a:pPr marL="0" indent="0">
              <a:buNone/>
            </a:pPr>
            <a:r>
              <a:rPr lang="en-US" sz="1400" b="1" dirty="0">
                <a:solidFill>
                  <a:schemeClr val="accent6"/>
                </a:solidFill>
              </a:rPr>
              <a:t>Trouble grows</a:t>
            </a:r>
            <a:endParaRPr lang="en-US" sz="1400" dirty="0"/>
          </a:p>
          <a:p>
            <a:pPr marL="0" indent="0">
              <a:buNone/>
            </a:pPr>
            <a:r>
              <a:rPr lang="en-US" sz="1400" dirty="0">
                <a:solidFill>
                  <a:schemeClr val="tx1"/>
                </a:solidFill>
              </a:rPr>
              <a:t>Winter arrives</a:t>
            </a:r>
            <a:endParaRPr lang="en-US" sz="14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Fix the weak problem</a:t>
            </a:r>
            <a:endParaRPr lang="en-US" sz="3400" dirty="0"/>
          </a:p>
        </p:txBody>
      </p:sp>
      <p:sp>
        <p:nvSpPr>
          <p:cNvPr id="3" name="Badge 86"/>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87"/>
          <p:cNvSpPr/>
          <p:nvPr/>
        </p:nvSpPr>
        <p:spPr>
          <a:xfrm>
            <a:off x="457200" y="1188720"/>
            <a:ext cx="3657600" cy="2011680"/>
          </a:xfrm>
          <a:prstGeom prst="roundRect">
            <a:avLst>
              <a:gd name="adj" fmla="val 5455"/>
            </a:avLst>
          </a:prstGeom>
          <a:solidFill>
            <a:schemeClr val="accent6">
              <a:alpha val="12000"/>
            </a:schemeClr>
          </a:solidFill>
          <a:ln w="15875">
            <a:solidFill>
              <a:schemeClr val="accent6"/>
            </a:solidFill>
            <a:prstDash val="solid"/>
          </a:ln>
        </p:spPr>
      </p:sp>
      <p:sp>
        <p:nvSpPr>
          <p:cNvPr id="6" name="Chip 88"/>
          <p:cNvSpPr/>
          <p:nvPr/>
        </p:nvSpPr>
        <p:spPr>
          <a:xfrm>
            <a:off x="640080" y="1325880"/>
            <a:ext cx="1280160" cy="292608"/>
          </a:xfrm>
          <a:prstGeom prst="roundRect">
            <a:avLst>
              <a:gd name="adj" fmla="val 50000"/>
            </a:avLst>
          </a:prstGeom>
          <a:solidFill>
            <a:schemeClr val="accent6"/>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WEAK</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1700" b="1" dirty="0">
                <a:solidFill>
                  <a:schemeClr val="tx1"/>
                </a:solidFill>
                <a:latin typeface="Cambria" pitchFamily="34" charset="0"/>
                <a:ea typeface="Cambria" pitchFamily="34" charset="-122"/>
                <a:cs typeface="Cambria" pitchFamily="34" charset="-120"/>
              </a:rPr>
              <a:t>Gilly was a rabbit. A storm washed away her carrots. She was sad.</a:t>
            </a:r>
            <a:endParaRPr lang="en-US" sz="1700" dirty="0"/>
          </a:p>
        </p:txBody>
      </p:sp>
      <p:sp>
        <p:nvSpPr>
          <p:cNvPr id="9" name="Card 89"/>
          <p:cNvSpPr/>
          <p:nvPr/>
        </p:nvSpPr>
        <p:spPr>
          <a:xfrm>
            <a:off x="5029200" y="1188720"/>
            <a:ext cx="3657600" cy="2011680"/>
          </a:xfrm>
          <a:prstGeom prst="roundRect">
            <a:avLst>
              <a:gd name="adj" fmla="val 5455"/>
            </a:avLst>
          </a:prstGeom>
          <a:solidFill>
            <a:schemeClr val="accent3">
              <a:alpha val="12000"/>
            </a:schemeClr>
          </a:solidFill>
          <a:ln w="15875">
            <a:solidFill>
              <a:schemeClr val="accent3"/>
            </a:solidFill>
            <a:prstDash val="solid"/>
          </a:ln>
        </p:spPr>
      </p:sp>
      <p:sp>
        <p:nvSpPr>
          <p:cNvPr id="10" name="Chip 90"/>
          <p:cNvSpPr/>
          <p:nvPr/>
        </p:nvSpPr>
        <p:spPr>
          <a:xfrm>
            <a:off x="5212080" y="1325880"/>
            <a:ext cx="1280160" cy="292608"/>
          </a:xfrm>
          <a:prstGeom prst="roundRect">
            <a:avLst>
              <a:gd name="adj" fmla="val 50000"/>
            </a:avLst>
          </a:prstGeom>
          <a:solidFill>
            <a:schemeClr val="accent3"/>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FIX IT</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Because Gilly was greedy, she ______. So ______.</a:t>
            </a:r>
            <a:endParaRPr lang="en-US" sz="2000" dirty="0"/>
          </a:p>
        </p:txBody>
      </p:sp>
      <p:sp>
        <p:nvSpPr>
          <p:cNvPr id="13" name="Arrow"/>
          <p:cNvSpPr/>
          <p:nvPr/>
        </p:nvSpPr>
        <p:spPr>
          <a:xfrm>
            <a:off x="4224528" y="1920240"/>
            <a:ext cx="694944" cy="457200"/>
          </a:xfrm>
          <a:prstGeom prst="rightArrow">
            <a:avLst/>
          </a:prstGeom>
          <a:solidFill>
            <a:schemeClr val="accent2"/>
          </a:solidFill>
          <a:ln/>
        </p:spPr>
      </p:sp>
      <p:sp>
        <p:nvSpPr>
          <p:cNvPr id="14" name="Card 91"/>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Make the problem come from Gilly's trait.</a:t>
            </a:r>
            <a:endParaRPr lang="en-US" sz="1700" dirty="0"/>
          </a:p>
        </p:txBody>
      </p:sp>
      <p:sp>
        <p:nvSpPr>
          <p:cNvPr id="16" name="Card 92"/>
          <p:cNvSpPr/>
          <p:nvPr/>
        </p:nvSpPr>
        <p:spPr>
          <a:xfrm>
            <a:off x="457200" y="4023360"/>
            <a:ext cx="8229600" cy="502920"/>
          </a:xfrm>
          <a:prstGeom prst="roundRect">
            <a:avLst>
              <a:gd name="adj" fmla="val 21818"/>
            </a:avLst>
          </a:prstGeom>
          <a:solidFill>
            <a:schemeClr val="tx2"/>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700" b="1" dirty="0">
                <a:solidFill>
                  <a:schemeClr val="accent2"/>
                </a:solidFill>
              </a:rPr>
              <a:t>Whiteboard: </a:t>
            </a:r>
            <a:r>
              <a:rPr lang="en-US" sz="1700" dirty="0">
                <a:solidFill>
                  <a:schemeClr val="bg1"/>
                </a:solidFill>
              </a:rPr>
              <a:t>finish the sentences. 3 minutes.</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fix the problem</a:t>
            </a:r>
            <a:endParaRPr lang="en-US" sz="3400" dirty="0"/>
          </a:p>
        </p:txBody>
      </p:sp>
      <p:sp>
        <p:nvSpPr>
          <p:cNvPr id="3" name="Badge 93"/>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94"/>
          <p:cNvSpPr/>
          <p:nvPr/>
        </p:nvSpPr>
        <p:spPr>
          <a:xfrm>
            <a:off x="457200" y="1188720"/>
            <a:ext cx="8229600" cy="914400"/>
          </a:xfrm>
          <a:prstGeom prst="roundRect">
            <a:avLst>
              <a:gd name="adj" fmla="val 12000"/>
            </a:avLst>
          </a:prstGeom>
          <a:solidFill>
            <a:schemeClr val="bg2"/>
          </a:solidFill>
          <a:ln/>
        </p:spPr>
      </p:sp>
      <p:sp>
        <p:nvSpPr>
          <p:cNvPr id="6" name="Tick 95"/>
          <p:cNvSpPr/>
          <p:nvPr/>
        </p:nvSpPr>
        <p:spPr>
          <a:xfrm>
            <a:off x="640080" y="1417320"/>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527048"/>
            <a:ext cx="237744" cy="237744"/>
          </a:xfrm>
          <a:prstGeom prst="rect">
            <a:avLst/>
          </a:prstGeom>
        </p:spPr>
      </p:pic>
      <p:sp>
        <p:nvSpPr>
          <p:cNvPr id="8" name="Text 4"/>
          <p:cNvSpPr txBox="1"/>
          <p:nvPr/>
        </p:nvSpPr>
        <p:spPr>
          <a:xfrm>
            <a:off x="1325880" y="1188720"/>
            <a:ext cx="7178040" cy="914400"/>
          </a:xfrm>
          <a:prstGeom prst="rect">
            <a:avLst/>
          </a:prstGeom>
          <a:noFill/>
          <a:ln/>
        </p:spPr>
        <p:txBody>
          <a:bodyPr wrap="square" lIns="0" tIns="0" rIns="0" bIns="0" rtlCol="0" anchor="ctr"/>
          <a:lstStyle/>
          <a:p>
            <a:pPr marL="0" indent="0">
              <a:buNone/>
            </a:pPr>
            <a:r>
              <a:rPr lang="en-US" sz="1700" dirty="0">
                <a:solidFill>
                  <a:schemeClr val="tx1"/>
                </a:solidFill>
              </a:rPr>
              <a:t>Because Gilly was greedy, she ate all her carrots at once. So she had nothing left for winter.</a:t>
            </a:r>
            <a:endParaRPr lang="en-US" sz="1700" dirty="0"/>
          </a:p>
        </p:txBody>
      </p:sp>
      <p:sp>
        <p:nvSpPr>
          <p:cNvPr id="9" name="Card 96"/>
          <p:cNvSpPr/>
          <p:nvPr/>
        </p:nvSpPr>
        <p:spPr>
          <a:xfrm>
            <a:off x="457200" y="2212848"/>
            <a:ext cx="8229600" cy="914400"/>
          </a:xfrm>
          <a:prstGeom prst="roundRect">
            <a:avLst>
              <a:gd name="adj" fmla="val 12000"/>
            </a:avLst>
          </a:prstGeom>
          <a:solidFill>
            <a:schemeClr val="bg2"/>
          </a:solidFill>
          <a:ln/>
        </p:spPr>
      </p:sp>
      <p:sp>
        <p:nvSpPr>
          <p:cNvPr id="10" name="Tick 97"/>
          <p:cNvSpPr/>
          <p:nvPr/>
        </p:nvSpPr>
        <p:spPr>
          <a:xfrm>
            <a:off x="640080" y="2441448"/>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551176"/>
            <a:ext cx="237744" cy="237744"/>
          </a:xfrm>
          <a:prstGeom prst="rect">
            <a:avLst/>
          </a:prstGeom>
        </p:spPr>
      </p:pic>
      <p:sp>
        <p:nvSpPr>
          <p:cNvPr id="12" name="Text 7"/>
          <p:cNvSpPr txBox="1"/>
          <p:nvPr/>
        </p:nvSpPr>
        <p:spPr>
          <a:xfrm>
            <a:off x="1325880" y="2212848"/>
            <a:ext cx="7178040" cy="914400"/>
          </a:xfrm>
          <a:prstGeom prst="rect">
            <a:avLst/>
          </a:prstGeom>
          <a:noFill/>
          <a:ln/>
        </p:spPr>
        <p:txBody>
          <a:bodyPr wrap="square" lIns="0" tIns="0" rIns="0" bIns="0" rtlCol="0" anchor="ctr"/>
          <a:lstStyle/>
          <a:p>
            <a:pPr marL="0" indent="0">
              <a:buNone/>
            </a:pPr>
            <a:r>
              <a:rPr lang="en-US" sz="1700" dirty="0">
                <a:solidFill>
                  <a:schemeClr val="tx1"/>
                </a:solidFill>
              </a:rPr>
              <a:t>Because Gilly was greedy, she took everyone else's carrots. So the other rabbits would not help her.</a:t>
            </a:r>
            <a:endParaRPr lang="en-US" sz="1700" dirty="0"/>
          </a:p>
        </p:txBody>
      </p:sp>
      <p:sp>
        <p:nvSpPr>
          <p:cNvPr id="13" name="Card 98"/>
          <p:cNvSpPr/>
          <p:nvPr/>
        </p:nvSpPr>
        <p:spPr>
          <a:xfrm>
            <a:off x="457200" y="4114800"/>
            <a:ext cx="8229600" cy="457200"/>
          </a:xfrm>
          <a:prstGeom prst="roundRect">
            <a:avLst>
              <a:gd name="adj" fmla="val 24000"/>
            </a:avLst>
          </a:prstGeom>
          <a:solidFill>
            <a:schemeClr val="tx2"/>
          </a:solidFill>
          <a:ln/>
        </p:spPr>
      </p:sp>
      <p:sp>
        <p:nvSpPr>
          <p:cNvPr id="14" name="Text 9"/>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600" b="1" dirty="0">
                <a:solidFill>
                  <a:schemeClr val="bg1"/>
                </a:solidFill>
              </a:rPr>
              <a:t>Both problems are caused by Gilly's trait, not by a storm.</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I write, we write, you write</a:t>
            </a:r>
            <a:endParaRPr lang="en-US" sz="3400" dirty="0"/>
          </a:p>
        </p:txBody>
      </p:sp>
      <p:sp>
        <p:nvSpPr>
          <p:cNvPr id="3" name="Badge 99"/>
          <p:cNvSpPr/>
          <p:nvPr/>
        </p:nvSpPr>
        <p:spPr>
          <a:xfrm>
            <a:off x="7955280" y="274320"/>
            <a:ext cx="731520" cy="731520"/>
          </a:xfrm>
          <a:prstGeom prst="ellipse">
            <a:avLst/>
          </a:prstGeom>
          <a:solidFill>
            <a:schemeClr val="accent5"/>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00"/>
          <p:cNvSpPr/>
          <p:nvPr/>
        </p:nvSpPr>
        <p:spPr>
          <a:xfrm>
            <a:off x="457200" y="1188720"/>
            <a:ext cx="2621280" cy="2743200"/>
          </a:xfrm>
          <a:prstGeom prst="roundRect">
            <a:avLst>
              <a:gd name="adj" fmla="val 4186"/>
            </a:avLst>
          </a:prstGeom>
          <a:solidFill>
            <a:schemeClr val="bg2"/>
          </a:solidFill>
          <a:ln/>
        </p:spPr>
      </p:sp>
      <p:sp>
        <p:nvSpPr>
          <p:cNvPr id="6" name="Badge 101"/>
          <p:cNvSpPr/>
          <p:nvPr/>
        </p:nvSpPr>
        <p:spPr>
          <a:xfrm>
            <a:off x="1438656" y="1325880"/>
            <a:ext cx="658368" cy="658368"/>
          </a:xfrm>
          <a:prstGeom prst="ellipse">
            <a:avLst/>
          </a:prstGeom>
          <a:solidFill>
            <a:schemeClr val="accent1"/>
          </a:solidFill>
          <a:ln/>
        </p:spPr>
      </p:sp>
      <p:pic>
        <p:nvPicPr>
          <p:cNvPr id="7" name="Image 1" descr="I write"/>
          <p:cNvPicPr>
            <a:picLocks noChangeAspect="1"/>
          </p:cNvPicPr>
          <p:nvPr/>
        </p:nvPicPr>
        <p:blipFill>
          <a:blip r:embed="rId4"/>
          <a:stretch>
            <a:fillRect/>
          </a:stretch>
        </p:blipFill>
        <p:spPr>
          <a:xfrm>
            <a:off x="1583497" y="1470721"/>
            <a:ext cx="368686" cy="368686"/>
          </a:xfrm>
          <a:prstGeom prst="rect">
            <a:avLst/>
          </a:prstGeom>
        </p:spPr>
      </p:pic>
      <p:sp>
        <p:nvSpPr>
          <p:cNvPr id="8" name="Text 4"/>
          <p:cNvSpPr txBox="1"/>
          <p:nvPr/>
        </p:nvSpPr>
        <p:spPr>
          <a:xfrm>
            <a:off x="53035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I write</a:t>
            </a:r>
            <a:endParaRPr lang="en-US" sz="1800" dirty="0"/>
          </a:p>
        </p:txBody>
      </p:sp>
      <p:sp>
        <p:nvSpPr>
          <p:cNvPr id="9" name="Text 5"/>
          <p:cNvSpPr txBox="1"/>
          <p:nvPr/>
        </p:nvSpPr>
        <p:spPr>
          <a:xfrm>
            <a:off x="566928" y="2560320"/>
            <a:ext cx="2401824" cy="1280160"/>
          </a:xfrm>
          <a:prstGeom prst="rect">
            <a:avLst/>
          </a:prstGeom>
          <a:noFill/>
          <a:ln/>
        </p:spPr>
        <p:txBody>
          <a:bodyPr wrap="square" lIns="0" tIns="0" rIns="0" bIns="0" rtlCol="0" anchor="t"/>
          <a:lstStyle/>
          <a:p>
            <a:pPr marL="0" indent="0" algn="ctr">
              <a:buNone/>
            </a:pPr>
            <a:r>
              <a:rPr lang="en-US" sz="1500" dirty="0">
                <a:solidFill>
                  <a:schemeClr val="tx1"/>
                </a:solidFill>
              </a:rPr>
              <a:t>I write the first two sentences and think aloud.</a:t>
            </a:r>
            <a:endParaRPr lang="en-US" sz="1500" dirty="0"/>
          </a:p>
        </p:txBody>
      </p:sp>
      <p:sp>
        <p:nvSpPr>
          <p:cNvPr id="10" name="Card 102"/>
          <p:cNvSpPr/>
          <p:nvPr/>
        </p:nvSpPr>
        <p:spPr>
          <a:xfrm>
            <a:off x="3261360" y="1188720"/>
            <a:ext cx="2621280" cy="2743200"/>
          </a:xfrm>
          <a:prstGeom prst="roundRect">
            <a:avLst>
              <a:gd name="adj" fmla="val 4186"/>
            </a:avLst>
          </a:prstGeom>
          <a:solidFill>
            <a:schemeClr val="bg2"/>
          </a:solidFill>
          <a:ln/>
        </p:spPr>
      </p:sp>
      <p:sp>
        <p:nvSpPr>
          <p:cNvPr id="11" name="Badge 103"/>
          <p:cNvSpPr/>
          <p:nvPr/>
        </p:nvSpPr>
        <p:spPr>
          <a:xfrm>
            <a:off x="4242816" y="1325880"/>
            <a:ext cx="658368" cy="658368"/>
          </a:xfrm>
          <a:prstGeom prst="ellipse">
            <a:avLst/>
          </a:prstGeom>
          <a:solidFill>
            <a:schemeClr val="accent3"/>
          </a:solidFill>
          <a:ln/>
        </p:spPr>
      </p:sp>
      <p:pic>
        <p:nvPicPr>
          <p:cNvPr id="12" name="Image 2" descr="We write"/>
          <p:cNvPicPr>
            <a:picLocks noChangeAspect="1"/>
          </p:cNvPicPr>
          <p:nvPr/>
        </p:nvPicPr>
        <p:blipFill>
          <a:blip r:embed="rId3"/>
          <a:stretch>
            <a:fillRect/>
          </a:stretch>
        </p:blipFill>
        <p:spPr>
          <a:xfrm>
            <a:off x="4387657" y="1470721"/>
            <a:ext cx="368686" cy="368686"/>
          </a:xfrm>
          <a:prstGeom prst="rect">
            <a:avLst/>
          </a:prstGeom>
        </p:spPr>
      </p:pic>
      <p:sp>
        <p:nvSpPr>
          <p:cNvPr id="13" name="Text 8"/>
          <p:cNvSpPr txBox="1"/>
          <p:nvPr/>
        </p:nvSpPr>
        <p:spPr>
          <a:xfrm>
            <a:off x="333451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We write</a:t>
            </a:r>
            <a:endParaRPr lang="en-US" sz="1800" dirty="0"/>
          </a:p>
        </p:txBody>
      </p:sp>
      <p:sp>
        <p:nvSpPr>
          <p:cNvPr id="14" name="Text 9"/>
          <p:cNvSpPr txBox="1"/>
          <p:nvPr/>
        </p:nvSpPr>
        <p:spPr>
          <a:xfrm>
            <a:off x="3371088" y="2560320"/>
            <a:ext cx="2401824" cy="1280160"/>
          </a:xfrm>
          <a:prstGeom prst="rect">
            <a:avLst/>
          </a:prstGeom>
          <a:noFill/>
          <a:ln/>
        </p:spPr>
        <p:txBody>
          <a:bodyPr wrap="square" lIns="0" tIns="0" rIns="0" bIns="0" rtlCol="0" anchor="t"/>
          <a:lstStyle/>
          <a:p>
            <a:pPr marL="0" indent="0" algn="ctr">
              <a:buNone/>
            </a:pPr>
            <a:r>
              <a:rPr lang="en-US" sz="1500" dirty="0">
                <a:solidFill>
                  <a:schemeClr val="tx1"/>
                </a:solidFill>
              </a:rPr>
              <a:t>You write the next two on your whiteboards. We choose the best.</a:t>
            </a:r>
            <a:endParaRPr lang="en-US" sz="1500" dirty="0"/>
          </a:p>
        </p:txBody>
      </p:sp>
      <p:sp>
        <p:nvSpPr>
          <p:cNvPr id="15" name="Card 104"/>
          <p:cNvSpPr/>
          <p:nvPr/>
        </p:nvSpPr>
        <p:spPr>
          <a:xfrm>
            <a:off x="6065520" y="1188720"/>
            <a:ext cx="2621280" cy="2743200"/>
          </a:xfrm>
          <a:prstGeom prst="roundRect">
            <a:avLst>
              <a:gd name="adj" fmla="val 4186"/>
            </a:avLst>
          </a:prstGeom>
          <a:solidFill>
            <a:schemeClr val="bg2"/>
          </a:solidFill>
          <a:ln/>
        </p:spPr>
      </p:sp>
      <p:sp>
        <p:nvSpPr>
          <p:cNvPr id="16" name="Badge 105"/>
          <p:cNvSpPr/>
          <p:nvPr/>
        </p:nvSpPr>
        <p:spPr>
          <a:xfrm>
            <a:off x="7046976" y="1325880"/>
            <a:ext cx="658368" cy="658368"/>
          </a:xfrm>
          <a:prstGeom prst="ellipse">
            <a:avLst/>
          </a:prstGeom>
          <a:solidFill>
            <a:schemeClr val="accent5"/>
          </a:solidFill>
          <a:ln/>
        </p:spPr>
      </p:sp>
      <p:pic>
        <p:nvPicPr>
          <p:cNvPr id="17" name="Image 3" descr="You write"/>
          <p:cNvPicPr>
            <a:picLocks noChangeAspect="1"/>
          </p:cNvPicPr>
          <p:nvPr/>
        </p:nvPicPr>
        <p:blipFill>
          <a:blip r:embed="rId5"/>
          <a:stretch>
            <a:fillRect/>
          </a:stretch>
        </p:blipFill>
        <p:spPr>
          <a:xfrm>
            <a:off x="7191817" y="1470721"/>
            <a:ext cx="368686" cy="368686"/>
          </a:xfrm>
          <a:prstGeom prst="rect">
            <a:avLst/>
          </a:prstGeom>
        </p:spPr>
      </p:pic>
      <p:sp>
        <p:nvSpPr>
          <p:cNvPr id="18" name="Text 12"/>
          <p:cNvSpPr txBox="1"/>
          <p:nvPr/>
        </p:nvSpPr>
        <p:spPr>
          <a:xfrm>
            <a:off x="613867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You write</a:t>
            </a:r>
            <a:endParaRPr lang="en-US" sz="1800" dirty="0"/>
          </a:p>
        </p:txBody>
      </p:sp>
      <p:sp>
        <p:nvSpPr>
          <p:cNvPr id="19" name="Text 13"/>
          <p:cNvSpPr txBox="1"/>
          <p:nvPr/>
        </p:nvSpPr>
        <p:spPr>
          <a:xfrm>
            <a:off x="6175248" y="2560320"/>
            <a:ext cx="2401824" cy="1280160"/>
          </a:xfrm>
          <a:prstGeom prst="rect">
            <a:avLst/>
          </a:prstGeom>
          <a:noFill/>
          <a:ln/>
        </p:spPr>
        <p:txBody>
          <a:bodyPr wrap="square" lIns="0" tIns="0" rIns="0" bIns="0" rtlCol="0" anchor="t"/>
          <a:lstStyle/>
          <a:p>
            <a:pPr marL="0" indent="0" algn="ctr">
              <a:buNone/>
            </a:pPr>
            <a:r>
              <a:rPr lang="en-US" sz="1500" dirty="0">
                <a:solidFill>
                  <a:schemeClr val="tx1"/>
                </a:solidFill>
              </a:rPr>
              <a:t>You write your own, using your story map.</a:t>
            </a:r>
            <a:endParaRPr lang="en-US" sz="1500" dirty="0"/>
          </a:p>
        </p:txBody>
      </p:sp>
      <p:sp>
        <p:nvSpPr>
          <p:cNvPr id="20" name="Card 106"/>
          <p:cNvSpPr/>
          <p:nvPr/>
        </p:nvSpPr>
        <p:spPr>
          <a:xfrm>
            <a:off x="457200" y="4069080"/>
            <a:ext cx="8229600" cy="502920"/>
          </a:xfrm>
          <a:prstGeom prst="roundRect">
            <a:avLst>
              <a:gd name="adj" fmla="val 21818"/>
            </a:avLst>
          </a:prstGeom>
          <a:solidFill>
            <a:schemeClr val="tx2"/>
          </a:solidFill>
          <a:ln/>
        </p:spPr>
      </p:sp>
      <p:sp>
        <p:nvSpPr>
          <p:cNvPr id="21" name="Text 15"/>
          <p:cNvSpPr txBox="1"/>
          <p:nvPr/>
        </p:nvSpPr>
        <p:spPr>
          <a:xfrm>
            <a:off x="640080" y="4069080"/>
            <a:ext cx="7863840" cy="502920"/>
          </a:xfrm>
          <a:prstGeom prst="rect">
            <a:avLst/>
          </a:prstGeom>
          <a:noFill/>
          <a:ln/>
        </p:spPr>
        <p:txBody>
          <a:bodyPr wrap="square" lIns="0" tIns="0" rIns="0" bIns="0" rtlCol="0" anchor="ctr"/>
          <a:lstStyle/>
          <a:p>
            <a:pPr marL="0" indent="0">
              <a:buNone/>
            </a:pPr>
            <a:r>
              <a:rPr lang="en-US" sz="1700" b="1" dirty="0">
                <a:solidFill>
                  <a:schemeClr val="bg1"/>
                </a:solidFill>
              </a:rPr>
              <a:t>Watch me. Help me. Then you try.</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shared writing</a:t>
            </a:r>
            <a:endParaRPr lang="en-US" sz="3400" dirty="0"/>
          </a:p>
        </p:txBody>
      </p:sp>
      <p:sp>
        <p:nvSpPr>
          <p:cNvPr id="3" name="Badge 107"/>
          <p:cNvSpPr/>
          <p:nvPr/>
        </p:nvSpPr>
        <p:spPr>
          <a:xfrm>
            <a:off x="7955280" y="274320"/>
            <a:ext cx="731520" cy="731520"/>
          </a:xfrm>
          <a:prstGeom prst="ellipse">
            <a:avLst/>
          </a:prstGeom>
          <a:solidFill>
            <a:schemeClr val="accent5"/>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08"/>
          <p:cNvSpPr/>
          <p:nvPr/>
        </p:nvSpPr>
        <p:spPr>
          <a:xfrm>
            <a:off x="457200" y="1188720"/>
            <a:ext cx="3657600" cy="2011680"/>
          </a:xfrm>
          <a:prstGeom prst="roundRect">
            <a:avLst>
              <a:gd name="adj" fmla="val 5455"/>
            </a:avLst>
          </a:prstGeom>
          <a:solidFill>
            <a:schemeClr val="accent1">
              <a:alpha val="12000"/>
            </a:schemeClr>
          </a:solidFill>
          <a:ln w="15875">
            <a:solidFill>
              <a:schemeClr val="accent1"/>
            </a:solidFill>
            <a:prstDash val="solid"/>
          </a:ln>
        </p:spPr>
      </p:sp>
      <p:sp>
        <p:nvSpPr>
          <p:cNvPr id="6" name="Chip 109"/>
          <p:cNvSpPr/>
          <p:nvPr/>
        </p:nvSpPr>
        <p:spPr>
          <a:xfrm>
            <a:off x="640080" y="1325880"/>
            <a:ext cx="1280160" cy="292608"/>
          </a:xfrm>
          <a:prstGeom prst="roundRect">
            <a:avLst>
              <a:gd name="adj" fmla="val 50000"/>
            </a:avLst>
          </a:prstGeom>
          <a:solidFill>
            <a:schemeClr val="accent1"/>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I WRITE</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Sid was a squirrel who lived in a tall oak tree. He loved sleeping more than anything.</a:t>
            </a:r>
            <a:endParaRPr lang="en-US" sz="1600" dirty="0"/>
          </a:p>
        </p:txBody>
      </p:sp>
      <p:sp>
        <p:nvSpPr>
          <p:cNvPr id="9" name="Card 110"/>
          <p:cNvSpPr/>
          <p:nvPr/>
        </p:nvSpPr>
        <p:spPr>
          <a:xfrm>
            <a:off x="5029200" y="1188720"/>
            <a:ext cx="3657600" cy="2011680"/>
          </a:xfrm>
          <a:prstGeom prst="roundRect">
            <a:avLst>
              <a:gd name="adj" fmla="val 5455"/>
            </a:avLst>
          </a:prstGeom>
          <a:solidFill>
            <a:schemeClr val="accent3">
              <a:alpha val="12000"/>
            </a:schemeClr>
          </a:solidFill>
          <a:ln w="15875">
            <a:solidFill>
              <a:schemeClr val="accent3"/>
            </a:solidFill>
            <a:prstDash val="solid"/>
          </a:ln>
        </p:spPr>
      </p:sp>
      <p:sp>
        <p:nvSpPr>
          <p:cNvPr id="10" name="Chip 111"/>
          <p:cNvSpPr/>
          <p:nvPr/>
        </p:nvSpPr>
        <p:spPr>
          <a:xfrm>
            <a:off x="5212080" y="1325880"/>
            <a:ext cx="1280160" cy="292608"/>
          </a:xfrm>
          <a:prstGeom prst="roundRect">
            <a:avLst>
              <a:gd name="adj" fmla="val 50000"/>
            </a:avLst>
          </a:prstGeom>
          <a:solidFill>
            <a:schemeClr val="accent3"/>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WE WRITE</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All day he lay on a branch and yawned while the others gathered nuts. He never helped anyone.</a:t>
            </a:r>
            <a:endParaRPr lang="en-US" sz="1600" dirty="0"/>
          </a:p>
        </p:txBody>
      </p:sp>
      <p:sp>
        <p:nvSpPr>
          <p:cNvPr id="13" name="Arrow"/>
          <p:cNvSpPr/>
          <p:nvPr/>
        </p:nvSpPr>
        <p:spPr>
          <a:xfrm>
            <a:off x="4224528" y="1920240"/>
            <a:ext cx="694944" cy="457200"/>
          </a:xfrm>
          <a:prstGeom prst="rightArrow">
            <a:avLst/>
          </a:prstGeom>
          <a:solidFill>
            <a:schemeClr val="accent2"/>
          </a:solidFill>
          <a:ln/>
        </p:spPr>
      </p:sp>
      <p:sp>
        <p:nvSpPr>
          <p:cNvPr id="14" name="Card 112"/>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Sid is lazy. We show it with what he does.</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Choose your path</a:t>
            </a:r>
            <a:endParaRPr lang="en-US" sz="3400" dirty="0"/>
          </a:p>
        </p:txBody>
      </p:sp>
      <p:sp>
        <p:nvSpPr>
          <p:cNvPr id="3" name="Badge 113"/>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14"/>
          <p:cNvSpPr/>
          <p:nvPr/>
        </p:nvSpPr>
        <p:spPr>
          <a:xfrm>
            <a:off x="457200" y="1188720"/>
            <a:ext cx="2621280" cy="3200400"/>
          </a:xfrm>
          <a:prstGeom prst="roundRect">
            <a:avLst>
              <a:gd name="adj" fmla="val 4186"/>
            </a:avLst>
          </a:prstGeom>
          <a:solidFill>
            <a:schemeClr val="bg2"/>
          </a:solidFill>
          <a:ln/>
        </p:spPr>
      </p:sp>
      <p:sp>
        <p:nvSpPr>
          <p:cNvPr id="6" name="Badge 115"/>
          <p:cNvSpPr/>
          <p:nvPr/>
        </p:nvSpPr>
        <p:spPr>
          <a:xfrm>
            <a:off x="1438656" y="1325880"/>
            <a:ext cx="658368" cy="658368"/>
          </a:xfrm>
          <a:prstGeom prst="ellipse">
            <a:avLst/>
          </a:prstGeom>
          <a:solidFill>
            <a:schemeClr val="accent4"/>
          </a:solidFill>
          <a:ln/>
        </p:spPr>
      </p:sp>
      <p:pic>
        <p:nvPicPr>
          <p:cNvPr id="7" name="Image 1" descr="The Trail"/>
          <p:cNvPicPr>
            <a:picLocks noChangeAspect="1"/>
          </p:cNvPicPr>
          <p:nvPr/>
        </p:nvPicPr>
        <p:blipFill>
          <a:blip r:embed="rId4"/>
          <a:stretch>
            <a:fillRect/>
          </a:stretch>
        </p:blipFill>
        <p:spPr>
          <a:xfrm>
            <a:off x="1583497" y="1470721"/>
            <a:ext cx="368686" cy="368686"/>
          </a:xfrm>
          <a:prstGeom prst="rect">
            <a:avLst/>
          </a:prstGeom>
        </p:spPr>
      </p:pic>
      <p:sp>
        <p:nvSpPr>
          <p:cNvPr id="8" name="Text 4"/>
          <p:cNvSpPr txBox="1"/>
          <p:nvPr/>
        </p:nvSpPr>
        <p:spPr>
          <a:xfrm>
            <a:off x="53035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The Trail</a:t>
            </a:r>
            <a:endParaRPr lang="en-US" sz="1800" dirty="0"/>
          </a:p>
        </p:txBody>
      </p:sp>
      <p:sp>
        <p:nvSpPr>
          <p:cNvPr id="9" name="Text 5"/>
          <p:cNvSpPr txBox="1"/>
          <p:nvPr/>
        </p:nvSpPr>
        <p:spPr>
          <a:xfrm>
            <a:off x="566928" y="2560320"/>
            <a:ext cx="2401824" cy="1737360"/>
          </a:xfrm>
          <a:prstGeom prst="rect">
            <a:avLst/>
          </a:prstGeom>
          <a:noFill/>
          <a:ln/>
        </p:spPr>
        <p:txBody>
          <a:bodyPr wrap="square" lIns="0" tIns="0" rIns="0" bIns="0" rtlCol="0" anchor="t"/>
          <a:lstStyle/>
          <a:p>
            <a:pPr marL="0" indent="0" algn="ctr">
              <a:buNone/>
            </a:pPr>
            <a:r>
              <a:rPr lang="en-US" sz="1500" dirty="0">
                <a:solidFill>
                  <a:schemeClr val="tx1"/>
                </a:solidFill>
              </a:rPr>
              <a:t>My character is a ___ who lives in ___. He/she is ___. First…</a:t>
            </a:r>
            <a:endParaRPr lang="en-US" sz="1500" dirty="0"/>
          </a:p>
        </p:txBody>
      </p:sp>
      <p:sp>
        <p:nvSpPr>
          <p:cNvPr id="10" name="Card 116"/>
          <p:cNvSpPr/>
          <p:nvPr/>
        </p:nvSpPr>
        <p:spPr>
          <a:xfrm>
            <a:off x="3261360" y="1188720"/>
            <a:ext cx="2621280" cy="3200400"/>
          </a:xfrm>
          <a:prstGeom prst="roundRect">
            <a:avLst>
              <a:gd name="adj" fmla="val 4186"/>
            </a:avLst>
          </a:prstGeom>
          <a:solidFill>
            <a:schemeClr val="bg2"/>
          </a:solidFill>
          <a:ln/>
        </p:spPr>
      </p:sp>
      <p:sp>
        <p:nvSpPr>
          <p:cNvPr id="11" name="Badge 117"/>
          <p:cNvSpPr/>
          <p:nvPr/>
        </p:nvSpPr>
        <p:spPr>
          <a:xfrm>
            <a:off x="4242816" y="1325880"/>
            <a:ext cx="658368" cy="658368"/>
          </a:xfrm>
          <a:prstGeom prst="ellipse">
            <a:avLst/>
          </a:prstGeom>
          <a:solidFill>
            <a:schemeClr val="accent3"/>
          </a:solidFill>
          <a:ln/>
        </p:spPr>
      </p:sp>
      <p:pic>
        <p:nvPicPr>
          <p:cNvPr id="12" name="Image 2" descr="The Ridge"/>
          <p:cNvPicPr>
            <a:picLocks noChangeAspect="1"/>
          </p:cNvPicPr>
          <p:nvPr/>
        </p:nvPicPr>
        <p:blipFill>
          <a:blip r:embed="rId3"/>
          <a:stretch>
            <a:fillRect/>
          </a:stretch>
        </p:blipFill>
        <p:spPr>
          <a:xfrm>
            <a:off x="4387657" y="1470721"/>
            <a:ext cx="368686" cy="368686"/>
          </a:xfrm>
          <a:prstGeom prst="rect">
            <a:avLst/>
          </a:prstGeom>
        </p:spPr>
      </p:pic>
      <p:sp>
        <p:nvSpPr>
          <p:cNvPr id="13" name="Text 8"/>
          <p:cNvSpPr txBox="1"/>
          <p:nvPr/>
        </p:nvSpPr>
        <p:spPr>
          <a:xfrm>
            <a:off x="333451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The Ridge</a:t>
            </a:r>
            <a:endParaRPr lang="en-US" sz="1800" dirty="0"/>
          </a:p>
        </p:txBody>
      </p:sp>
      <p:sp>
        <p:nvSpPr>
          <p:cNvPr id="14" name="Text 9"/>
          <p:cNvSpPr txBox="1"/>
          <p:nvPr/>
        </p:nvSpPr>
        <p:spPr>
          <a:xfrm>
            <a:off x="3371088" y="2560320"/>
            <a:ext cx="2401824" cy="1737360"/>
          </a:xfrm>
          <a:prstGeom prst="rect">
            <a:avLst/>
          </a:prstGeom>
          <a:noFill/>
          <a:ln/>
        </p:spPr>
        <p:txBody>
          <a:bodyPr wrap="square" lIns="0" tIns="0" rIns="0" bIns="0" rtlCol="0" anchor="t"/>
          <a:lstStyle/>
          <a:p>
            <a:pPr marL="0" indent="0" algn="ctr">
              <a:buNone/>
            </a:pPr>
            <a:r>
              <a:rPr lang="en-US" sz="1500" dirty="0">
                <a:solidFill>
                  <a:schemeClr val="tx1"/>
                </a:solidFill>
              </a:rPr>
              <a:t>Use your story map. Show the trait with two actions.</a:t>
            </a:r>
            <a:endParaRPr lang="en-US" sz="1500" dirty="0"/>
          </a:p>
        </p:txBody>
      </p:sp>
      <p:sp>
        <p:nvSpPr>
          <p:cNvPr id="15" name="Card 118"/>
          <p:cNvSpPr/>
          <p:nvPr/>
        </p:nvSpPr>
        <p:spPr>
          <a:xfrm>
            <a:off x="6065520" y="1188720"/>
            <a:ext cx="2621280" cy="3200400"/>
          </a:xfrm>
          <a:prstGeom prst="roundRect">
            <a:avLst>
              <a:gd name="adj" fmla="val 4186"/>
            </a:avLst>
          </a:prstGeom>
          <a:solidFill>
            <a:schemeClr val="bg2"/>
          </a:solidFill>
          <a:ln/>
        </p:spPr>
      </p:sp>
      <p:sp>
        <p:nvSpPr>
          <p:cNvPr id="16" name="Badge 119"/>
          <p:cNvSpPr/>
          <p:nvPr/>
        </p:nvSpPr>
        <p:spPr>
          <a:xfrm>
            <a:off x="7046976" y="1325880"/>
            <a:ext cx="658368" cy="658368"/>
          </a:xfrm>
          <a:prstGeom prst="ellipse">
            <a:avLst/>
          </a:prstGeom>
          <a:solidFill>
            <a:schemeClr val="accent5"/>
          </a:solidFill>
          <a:ln/>
        </p:spPr>
      </p:sp>
      <p:pic>
        <p:nvPicPr>
          <p:cNvPr id="17" name="Image 3" descr="The Summit"/>
          <p:cNvPicPr>
            <a:picLocks noChangeAspect="1"/>
          </p:cNvPicPr>
          <p:nvPr/>
        </p:nvPicPr>
        <p:blipFill>
          <a:blip r:embed="rId5"/>
          <a:stretch>
            <a:fillRect/>
          </a:stretch>
        </p:blipFill>
        <p:spPr>
          <a:xfrm>
            <a:off x="7191817" y="1470721"/>
            <a:ext cx="368686" cy="368686"/>
          </a:xfrm>
          <a:prstGeom prst="rect">
            <a:avLst/>
          </a:prstGeom>
        </p:spPr>
      </p:pic>
      <p:sp>
        <p:nvSpPr>
          <p:cNvPr id="18" name="Text 12"/>
          <p:cNvSpPr txBox="1"/>
          <p:nvPr/>
        </p:nvSpPr>
        <p:spPr>
          <a:xfrm>
            <a:off x="613867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The Summit</a:t>
            </a:r>
            <a:endParaRPr lang="en-US" sz="1800" dirty="0"/>
          </a:p>
        </p:txBody>
      </p:sp>
      <p:sp>
        <p:nvSpPr>
          <p:cNvPr id="19" name="Text 13"/>
          <p:cNvSpPr txBox="1"/>
          <p:nvPr/>
        </p:nvSpPr>
        <p:spPr>
          <a:xfrm>
            <a:off x="6175248" y="2560320"/>
            <a:ext cx="2401824" cy="1737360"/>
          </a:xfrm>
          <a:prstGeom prst="rect">
            <a:avLst/>
          </a:prstGeom>
          <a:noFill/>
          <a:ln/>
        </p:spPr>
        <p:txBody>
          <a:bodyPr wrap="square" lIns="0" tIns="0" rIns="0" bIns="0" rtlCol="0" anchor="t"/>
          <a:lstStyle/>
          <a:p>
            <a:pPr marL="0" indent="0" algn="ctr">
              <a:buNone/>
            </a:pPr>
            <a:r>
              <a:rPr lang="en-US" sz="1500" dirty="0">
                <a:solidFill>
                  <a:schemeClr val="tx1"/>
                </a:solidFill>
              </a:rPr>
              <a:t>Show the trait three ways. Add a place detail and a strong verb.</a:t>
            </a:r>
            <a:endParaRPr lang="en-US" sz="15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the three paths</a:t>
            </a:r>
            <a:endParaRPr lang="en-US" sz="3400" dirty="0"/>
          </a:p>
        </p:txBody>
      </p:sp>
      <p:sp>
        <p:nvSpPr>
          <p:cNvPr id="3" name="Badge 120"/>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21"/>
          <p:cNvSpPr/>
          <p:nvPr/>
        </p:nvSpPr>
        <p:spPr>
          <a:xfrm>
            <a:off x="457200" y="1188720"/>
            <a:ext cx="2621280" cy="3200400"/>
          </a:xfrm>
          <a:prstGeom prst="roundRect">
            <a:avLst>
              <a:gd name="adj" fmla="val 4186"/>
            </a:avLst>
          </a:prstGeom>
          <a:solidFill>
            <a:schemeClr val="bg2"/>
          </a:solidFill>
          <a:ln/>
        </p:spPr>
      </p:sp>
      <p:sp>
        <p:nvSpPr>
          <p:cNvPr id="6" name="Badge 122"/>
          <p:cNvSpPr/>
          <p:nvPr/>
        </p:nvSpPr>
        <p:spPr>
          <a:xfrm>
            <a:off x="1438656" y="1325880"/>
            <a:ext cx="658368" cy="658368"/>
          </a:xfrm>
          <a:prstGeom prst="ellipse">
            <a:avLst/>
          </a:prstGeom>
          <a:solidFill>
            <a:schemeClr val="accent4"/>
          </a:solidFill>
          <a:ln/>
        </p:spPr>
      </p:sp>
      <p:pic>
        <p:nvPicPr>
          <p:cNvPr id="7" name="Image 1" descr="The Trail"/>
          <p:cNvPicPr>
            <a:picLocks noChangeAspect="1"/>
          </p:cNvPicPr>
          <p:nvPr/>
        </p:nvPicPr>
        <p:blipFill>
          <a:blip r:embed="rId4"/>
          <a:stretch>
            <a:fillRect/>
          </a:stretch>
        </p:blipFill>
        <p:spPr>
          <a:xfrm>
            <a:off x="1583497" y="1470721"/>
            <a:ext cx="368686" cy="368686"/>
          </a:xfrm>
          <a:prstGeom prst="rect">
            <a:avLst/>
          </a:prstGeom>
        </p:spPr>
      </p:pic>
      <p:sp>
        <p:nvSpPr>
          <p:cNvPr id="8" name="Text 4"/>
          <p:cNvSpPr txBox="1"/>
          <p:nvPr/>
        </p:nvSpPr>
        <p:spPr>
          <a:xfrm>
            <a:off x="53035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The Trail</a:t>
            </a:r>
            <a:endParaRPr lang="en-US" sz="1800" dirty="0"/>
          </a:p>
        </p:txBody>
      </p:sp>
      <p:sp>
        <p:nvSpPr>
          <p:cNvPr id="9" name="Text 5"/>
          <p:cNvSpPr txBox="1"/>
          <p:nvPr/>
        </p:nvSpPr>
        <p:spPr>
          <a:xfrm>
            <a:off x="566928" y="2560320"/>
            <a:ext cx="2401824" cy="1737360"/>
          </a:xfrm>
          <a:prstGeom prst="rect">
            <a:avLst/>
          </a:prstGeom>
          <a:noFill/>
          <a:ln/>
        </p:spPr>
        <p:txBody>
          <a:bodyPr wrap="square" lIns="0" tIns="0" rIns="0" bIns="0" rtlCol="0" anchor="t"/>
          <a:lstStyle/>
          <a:p>
            <a:pPr marL="0" indent="0" algn="ctr">
              <a:buNone/>
            </a:pPr>
            <a:r>
              <a:rPr lang="en-US" sz="1500" dirty="0">
                <a:solidFill>
                  <a:schemeClr val="tx1"/>
                </a:solidFill>
              </a:rPr>
              <a:t>My character is a squirrel who lives in an oak tree. He is lazy. First, he sleeps all day.</a:t>
            </a:r>
            <a:endParaRPr lang="en-US" sz="1500" dirty="0"/>
          </a:p>
        </p:txBody>
      </p:sp>
      <p:sp>
        <p:nvSpPr>
          <p:cNvPr id="10" name="Card 123"/>
          <p:cNvSpPr/>
          <p:nvPr/>
        </p:nvSpPr>
        <p:spPr>
          <a:xfrm>
            <a:off x="3261360" y="1188720"/>
            <a:ext cx="2621280" cy="3200400"/>
          </a:xfrm>
          <a:prstGeom prst="roundRect">
            <a:avLst>
              <a:gd name="adj" fmla="val 4186"/>
            </a:avLst>
          </a:prstGeom>
          <a:solidFill>
            <a:schemeClr val="bg2"/>
          </a:solidFill>
          <a:ln/>
        </p:spPr>
      </p:sp>
      <p:sp>
        <p:nvSpPr>
          <p:cNvPr id="11" name="Badge 124"/>
          <p:cNvSpPr/>
          <p:nvPr/>
        </p:nvSpPr>
        <p:spPr>
          <a:xfrm>
            <a:off x="4242816" y="1325880"/>
            <a:ext cx="658368" cy="658368"/>
          </a:xfrm>
          <a:prstGeom prst="ellipse">
            <a:avLst/>
          </a:prstGeom>
          <a:solidFill>
            <a:schemeClr val="accent3"/>
          </a:solidFill>
          <a:ln/>
        </p:spPr>
      </p:sp>
      <p:pic>
        <p:nvPicPr>
          <p:cNvPr id="12" name="Image 2" descr="The Ridge"/>
          <p:cNvPicPr>
            <a:picLocks noChangeAspect="1"/>
          </p:cNvPicPr>
          <p:nvPr/>
        </p:nvPicPr>
        <p:blipFill>
          <a:blip r:embed="rId3"/>
          <a:stretch>
            <a:fillRect/>
          </a:stretch>
        </p:blipFill>
        <p:spPr>
          <a:xfrm>
            <a:off x="4387657" y="1470721"/>
            <a:ext cx="368686" cy="368686"/>
          </a:xfrm>
          <a:prstGeom prst="rect">
            <a:avLst/>
          </a:prstGeom>
        </p:spPr>
      </p:pic>
      <p:sp>
        <p:nvSpPr>
          <p:cNvPr id="13" name="Text 8"/>
          <p:cNvSpPr txBox="1"/>
          <p:nvPr/>
        </p:nvSpPr>
        <p:spPr>
          <a:xfrm>
            <a:off x="333451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The Ridge</a:t>
            </a:r>
            <a:endParaRPr lang="en-US" sz="1800" dirty="0"/>
          </a:p>
        </p:txBody>
      </p:sp>
      <p:sp>
        <p:nvSpPr>
          <p:cNvPr id="14" name="Text 9"/>
          <p:cNvSpPr txBox="1"/>
          <p:nvPr/>
        </p:nvSpPr>
        <p:spPr>
          <a:xfrm>
            <a:off x="3371088" y="2560320"/>
            <a:ext cx="2401824" cy="1737360"/>
          </a:xfrm>
          <a:prstGeom prst="rect">
            <a:avLst/>
          </a:prstGeom>
          <a:noFill/>
          <a:ln/>
        </p:spPr>
        <p:txBody>
          <a:bodyPr wrap="square" lIns="0" tIns="0" rIns="0" bIns="0" rtlCol="0" anchor="t"/>
          <a:lstStyle/>
          <a:p>
            <a:pPr marL="0" indent="0" algn="ctr">
              <a:buNone/>
            </a:pPr>
            <a:r>
              <a:rPr lang="en-US" sz="1500" dirty="0">
                <a:solidFill>
                  <a:schemeClr val="tx1"/>
                </a:solidFill>
              </a:rPr>
              <a:t>Sid lived in a tall oak tree. All day he lay on a branch and yawned while the others gathered nuts.</a:t>
            </a:r>
            <a:endParaRPr lang="en-US" sz="1500" dirty="0"/>
          </a:p>
        </p:txBody>
      </p:sp>
      <p:sp>
        <p:nvSpPr>
          <p:cNvPr id="15" name="Card 125"/>
          <p:cNvSpPr/>
          <p:nvPr/>
        </p:nvSpPr>
        <p:spPr>
          <a:xfrm>
            <a:off x="6065520" y="1188720"/>
            <a:ext cx="2621280" cy="3200400"/>
          </a:xfrm>
          <a:prstGeom prst="roundRect">
            <a:avLst>
              <a:gd name="adj" fmla="val 4186"/>
            </a:avLst>
          </a:prstGeom>
          <a:solidFill>
            <a:schemeClr val="bg2"/>
          </a:solidFill>
          <a:ln/>
        </p:spPr>
      </p:sp>
      <p:sp>
        <p:nvSpPr>
          <p:cNvPr id="16" name="Badge 126"/>
          <p:cNvSpPr/>
          <p:nvPr/>
        </p:nvSpPr>
        <p:spPr>
          <a:xfrm>
            <a:off x="7046976" y="1325880"/>
            <a:ext cx="658368" cy="658368"/>
          </a:xfrm>
          <a:prstGeom prst="ellipse">
            <a:avLst/>
          </a:prstGeom>
          <a:solidFill>
            <a:schemeClr val="accent5"/>
          </a:solidFill>
          <a:ln/>
        </p:spPr>
      </p:sp>
      <p:pic>
        <p:nvPicPr>
          <p:cNvPr id="17" name="Image 3" descr="The Summit"/>
          <p:cNvPicPr>
            <a:picLocks noChangeAspect="1"/>
          </p:cNvPicPr>
          <p:nvPr/>
        </p:nvPicPr>
        <p:blipFill>
          <a:blip r:embed="rId5"/>
          <a:stretch>
            <a:fillRect/>
          </a:stretch>
        </p:blipFill>
        <p:spPr>
          <a:xfrm>
            <a:off x="7191817" y="1470721"/>
            <a:ext cx="368686" cy="368686"/>
          </a:xfrm>
          <a:prstGeom prst="rect">
            <a:avLst/>
          </a:prstGeom>
        </p:spPr>
      </p:pic>
      <p:sp>
        <p:nvSpPr>
          <p:cNvPr id="18" name="Text 12"/>
          <p:cNvSpPr txBox="1"/>
          <p:nvPr/>
        </p:nvSpPr>
        <p:spPr>
          <a:xfrm>
            <a:off x="613867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The Summit</a:t>
            </a:r>
            <a:endParaRPr lang="en-US" sz="1800" dirty="0"/>
          </a:p>
        </p:txBody>
      </p:sp>
      <p:sp>
        <p:nvSpPr>
          <p:cNvPr id="19" name="Text 13"/>
          <p:cNvSpPr txBox="1"/>
          <p:nvPr/>
        </p:nvSpPr>
        <p:spPr>
          <a:xfrm>
            <a:off x="6175248" y="2560320"/>
            <a:ext cx="2401824" cy="1737360"/>
          </a:xfrm>
          <a:prstGeom prst="rect">
            <a:avLst/>
          </a:prstGeom>
          <a:noFill/>
          <a:ln/>
        </p:spPr>
        <p:txBody>
          <a:bodyPr wrap="square" lIns="0" tIns="0" rIns="0" bIns="0" rtlCol="0" anchor="t"/>
          <a:lstStyle/>
          <a:p>
            <a:pPr marL="0" indent="0" algn="ctr">
              <a:buNone/>
            </a:pPr>
            <a:r>
              <a:rPr lang="en-US" sz="1500" dirty="0">
                <a:solidFill>
                  <a:schemeClr val="tx1"/>
                </a:solidFill>
              </a:rPr>
              <a:t>Sid lived in a tall oak tree where the leaves whispered. All day he sprawled on a branch, yawning, while the others scurried past with nuts.</a:t>
            </a:r>
            <a:endParaRPr lang="en-US" sz="15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Write Paragraph 1</a:t>
            </a:r>
            <a:endParaRPr lang="en-US" sz="3400" dirty="0"/>
          </a:p>
        </p:txBody>
      </p:sp>
      <p:sp>
        <p:nvSpPr>
          <p:cNvPr id="3" name="Badge 127"/>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28"/>
          <p:cNvSpPr/>
          <p:nvPr/>
        </p:nvSpPr>
        <p:spPr>
          <a:xfrm>
            <a:off x="457200" y="1188720"/>
            <a:ext cx="493776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98448"/>
            <a:ext cx="44805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The Beginning</a:t>
            </a:r>
            <a:endParaRPr lang="en-US" sz="1900" dirty="0"/>
          </a:p>
        </p:txBody>
      </p:sp>
      <p:sp>
        <p:nvSpPr>
          <p:cNvPr id="7" name="Checkbox 129"/>
          <p:cNvSpPr/>
          <p:nvPr/>
        </p:nvSpPr>
        <p:spPr>
          <a:xfrm>
            <a:off x="685800" y="1819656"/>
            <a:ext cx="274320" cy="274320"/>
          </a:xfrm>
          <a:prstGeom prst="roundRect">
            <a:avLst>
              <a:gd name="adj" fmla="val 20000"/>
            </a:avLst>
          </a:prstGeom>
          <a:solidFill>
            <a:schemeClr val="bg1"/>
          </a:solidFill>
          <a:ln w="25400">
            <a:solidFill>
              <a:schemeClr val="accent3"/>
            </a:solidFill>
            <a:prstDash val="solid"/>
          </a:ln>
        </p:spPr>
      </p:sp>
      <p:sp>
        <p:nvSpPr>
          <p:cNvPr id="8" name="Text 5"/>
          <p:cNvSpPr txBox="1"/>
          <p:nvPr/>
        </p:nvSpPr>
        <p:spPr>
          <a:xfrm>
            <a:off x="1143000" y="1783080"/>
            <a:ext cx="4114800" cy="365760"/>
          </a:xfrm>
          <a:prstGeom prst="rect">
            <a:avLst/>
          </a:prstGeom>
          <a:noFill/>
          <a:ln/>
        </p:spPr>
        <p:txBody>
          <a:bodyPr wrap="square" lIns="0" tIns="0" rIns="0" bIns="0" rtlCol="0" anchor="ctr"/>
          <a:lstStyle/>
          <a:p>
            <a:pPr marL="0" indent="0">
              <a:buNone/>
            </a:pPr>
            <a:r>
              <a:rPr lang="en-US" sz="1600" dirty="0">
                <a:solidFill>
                  <a:schemeClr val="tx1"/>
                </a:solidFill>
              </a:rPr>
              <a:t>Character and where they live</a:t>
            </a:r>
            <a:endParaRPr lang="en-US" sz="1600" dirty="0"/>
          </a:p>
        </p:txBody>
      </p:sp>
      <p:sp>
        <p:nvSpPr>
          <p:cNvPr id="9" name="Checkbox 130"/>
          <p:cNvSpPr/>
          <p:nvPr/>
        </p:nvSpPr>
        <p:spPr>
          <a:xfrm>
            <a:off x="685800" y="2276856"/>
            <a:ext cx="274320" cy="274320"/>
          </a:xfrm>
          <a:prstGeom prst="roundRect">
            <a:avLst>
              <a:gd name="adj" fmla="val 20000"/>
            </a:avLst>
          </a:prstGeom>
          <a:solidFill>
            <a:schemeClr val="bg1"/>
          </a:solidFill>
          <a:ln w="25400">
            <a:solidFill>
              <a:schemeClr val="accent3"/>
            </a:solidFill>
            <a:prstDash val="solid"/>
          </a:ln>
        </p:spPr>
      </p:sp>
      <p:sp>
        <p:nvSpPr>
          <p:cNvPr id="10" name="Text 7"/>
          <p:cNvSpPr txBox="1"/>
          <p:nvPr/>
        </p:nvSpPr>
        <p:spPr>
          <a:xfrm>
            <a:off x="1143000" y="2240280"/>
            <a:ext cx="4114800" cy="365760"/>
          </a:xfrm>
          <a:prstGeom prst="rect">
            <a:avLst/>
          </a:prstGeom>
          <a:noFill/>
          <a:ln/>
        </p:spPr>
        <p:txBody>
          <a:bodyPr wrap="square" lIns="0" tIns="0" rIns="0" bIns="0" rtlCol="0" anchor="ctr"/>
          <a:lstStyle/>
          <a:p>
            <a:pPr marL="0" indent="0">
              <a:buNone/>
            </a:pPr>
            <a:r>
              <a:rPr lang="en-US" sz="1600" dirty="0">
                <a:solidFill>
                  <a:schemeClr val="tx1"/>
                </a:solidFill>
              </a:rPr>
              <a:t>Trait shown by what they do</a:t>
            </a:r>
            <a:endParaRPr lang="en-US" sz="1600" dirty="0"/>
          </a:p>
        </p:txBody>
      </p:sp>
      <p:sp>
        <p:nvSpPr>
          <p:cNvPr id="11" name="Checkbox 131"/>
          <p:cNvSpPr/>
          <p:nvPr/>
        </p:nvSpPr>
        <p:spPr>
          <a:xfrm>
            <a:off x="685800" y="2734056"/>
            <a:ext cx="274320" cy="274320"/>
          </a:xfrm>
          <a:prstGeom prst="roundRect">
            <a:avLst>
              <a:gd name="adj" fmla="val 20000"/>
            </a:avLst>
          </a:prstGeom>
          <a:solidFill>
            <a:schemeClr val="bg1"/>
          </a:solidFill>
          <a:ln w="25400">
            <a:solidFill>
              <a:schemeClr val="accent3"/>
            </a:solidFill>
            <a:prstDash val="solid"/>
          </a:ln>
        </p:spPr>
      </p:sp>
      <p:sp>
        <p:nvSpPr>
          <p:cNvPr id="12" name="Text 9"/>
          <p:cNvSpPr txBox="1"/>
          <p:nvPr/>
        </p:nvSpPr>
        <p:spPr>
          <a:xfrm>
            <a:off x="1143000" y="2697480"/>
            <a:ext cx="4114800" cy="365760"/>
          </a:xfrm>
          <a:prstGeom prst="rect">
            <a:avLst/>
          </a:prstGeom>
          <a:noFill/>
          <a:ln/>
        </p:spPr>
        <p:txBody>
          <a:bodyPr wrap="square" lIns="0" tIns="0" rIns="0" bIns="0" rtlCol="0" anchor="ctr"/>
          <a:lstStyle/>
          <a:p>
            <a:pPr marL="0" indent="0">
              <a:buNone/>
            </a:pPr>
            <a:r>
              <a:rPr lang="en-US" sz="1600" dirty="0">
                <a:solidFill>
                  <a:schemeClr val="tx1"/>
                </a:solidFill>
              </a:rPr>
              <a:t>At least two actions</a:t>
            </a:r>
            <a:endParaRPr lang="en-US" sz="1600" dirty="0"/>
          </a:p>
        </p:txBody>
      </p:sp>
      <p:sp>
        <p:nvSpPr>
          <p:cNvPr id="13" name="Checkbox 132"/>
          <p:cNvSpPr/>
          <p:nvPr/>
        </p:nvSpPr>
        <p:spPr>
          <a:xfrm>
            <a:off x="685800" y="3191256"/>
            <a:ext cx="274320" cy="274320"/>
          </a:xfrm>
          <a:prstGeom prst="roundRect">
            <a:avLst>
              <a:gd name="adj" fmla="val 20000"/>
            </a:avLst>
          </a:prstGeom>
          <a:solidFill>
            <a:schemeClr val="bg1"/>
          </a:solidFill>
          <a:ln w="25400">
            <a:solidFill>
              <a:schemeClr val="accent3"/>
            </a:solidFill>
            <a:prstDash val="solid"/>
          </a:ln>
        </p:spPr>
      </p:sp>
      <p:sp>
        <p:nvSpPr>
          <p:cNvPr id="14" name="Text 11"/>
          <p:cNvSpPr txBox="1"/>
          <p:nvPr/>
        </p:nvSpPr>
        <p:spPr>
          <a:xfrm>
            <a:off x="1143000" y="3154680"/>
            <a:ext cx="4114800" cy="365760"/>
          </a:xfrm>
          <a:prstGeom prst="rect">
            <a:avLst/>
          </a:prstGeom>
          <a:noFill/>
          <a:ln/>
        </p:spPr>
        <p:txBody>
          <a:bodyPr wrap="square" lIns="0" tIns="0" rIns="0" bIns="0" rtlCol="0" anchor="ctr"/>
          <a:lstStyle/>
          <a:p>
            <a:pPr marL="0" indent="0">
              <a:buNone/>
            </a:pPr>
            <a:r>
              <a:rPr lang="en-US" sz="1600" dirty="0">
                <a:solidFill>
                  <a:schemeClr val="tx1"/>
                </a:solidFill>
              </a:rPr>
              <a:t>3 to 5 sentences</a:t>
            </a:r>
            <a:endParaRPr lang="en-US" sz="1600" dirty="0"/>
          </a:p>
        </p:txBody>
      </p:sp>
      <p:sp>
        <p:nvSpPr>
          <p:cNvPr id="15" name="Checkbox 133"/>
          <p:cNvSpPr/>
          <p:nvPr/>
        </p:nvSpPr>
        <p:spPr>
          <a:xfrm>
            <a:off x="685800" y="3648456"/>
            <a:ext cx="274320" cy="274320"/>
          </a:xfrm>
          <a:prstGeom prst="roundRect">
            <a:avLst>
              <a:gd name="adj" fmla="val 20000"/>
            </a:avLst>
          </a:prstGeom>
          <a:solidFill>
            <a:schemeClr val="bg1"/>
          </a:solidFill>
          <a:ln w="25400">
            <a:solidFill>
              <a:schemeClr val="accent6"/>
            </a:solidFill>
            <a:prstDash val="solid"/>
          </a:ln>
        </p:spPr>
      </p:sp>
      <p:sp>
        <p:nvSpPr>
          <p:cNvPr id="16" name="Text 13"/>
          <p:cNvSpPr txBox="1"/>
          <p:nvPr/>
        </p:nvSpPr>
        <p:spPr>
          <a:xfrm>
            <a:off x="1143000" y="3611880"/>
            <a:ext cx="4114800" cy="365760"/>
          </a:xfrm>
          <a:prstGeom prst="rect">
            <a:avLst/>
          </a:prstGeom>
          <a:noFill/>
          <a:ln/>
        </p:spPr>
        <p:txBody>
          <a:bodyPr wrap="square" lIns="0" tIns="0" rIns="0" bIns="0" rtlCol="0" anchor="ctr"/>
          <a:lstStyle/>
          <a:p>
            <a:pPr marL="0" indent="0">
              <a:buNone/>
            </a:pPr>
            <a:r>
              <a:rPr lang="en-US" sz="1600" b="1" dirty="0">
                <a:solidFill>
                  <a:schemeClr val="accent6"/>
                </a:solidFill>
              </a:rPr>
              <a:t>Do not write the problem yet</a:t>
            </a:r>
            <a:endParaRPr lang="en-US" sz="1600" dirty="0"/>
          </a:p>
        </p:txBody>
      </p:sp>
      <p:sp>
        <p:nvSpPr>
          <p:cNvPr id="17" name="Card 134"/>
          <p:cNvSpPr/>
          <p:nvPr/>
        </p:nvSpPr>
        <p:spPr>
          <a:xfrm>
            <a:off x="5669280" y="1188720"/>
            <a:ext cx="3017520" cy="3337560"/>
          </a:xfrm>
          <a:prstGeom prst="roundRect">
            <a:avLst>
              <a:gd name="adj" fmla="val 3636"/>
            </a:avLst>
          </a:prstGeom>
          <a:solidFill>
            <a:schemeClr val="accent1"/>
          </a:solidFill>
          <a:ln/>
          <a:effectLst>
            <a:outerShdw blurRad="101600" dist="25400" dir="5400000" algn="bl" rotWithShape="0">
              <a:srgbClr val="000000">
                <a:alpha val="16000"/>
              </a:srgbClr>
            </a:outerShdw>
          </a:effectLst>
        </p:spPr>
      </p:sp>
      <p:sp>
        <p:nvSpPr>
          <p:cNvPr id="18" name="Text 15"/>
          <p:cNvSpPr txBox="1"/>
          <p:nvPr/>
        </p:nvSpPr>
        <p:spPr>
          <a:xfrm>
            <a:off x="5669280" y="1325880"/>
            <a:ext cx="3017520" cy="1280160"/>
          </a:xfrm>
          <a:prstGeom prst="rect">
            <a:avLst/>
          </a:prstGeom>
          <a:noFill/>
          <a:ln/>
        </p:spPr>
        <p:txBody>
          <a:bodyPr wrap="square" lIns="0" tIns="0" rIns="0" bIns="0" rtlCol="0" anchor="ctr"/>
          <a:lstStyle/>
          <a:p>
            <a:pPr marL="0" indent="0" algn="ctr">
              <a:buNone/>
            </a:pPr>
            <a:r>
              <a:rPr lang="en-US" sz="7200" b="1" dirty="0">
                <a:solidFill>
                  <a:schemeClr val="bg1"/>
                </a:solidFill>
                <a:latin typeface="Cambria" pitchFamily="34" charset="0"/>
                <a:ea typeface="Cambria" pitchFamily="34" charset="-122"/>
                <a:cs typeface="Cambria" pitchFamily="34" charset="-120"/>
              </a:rPr>
              <a:t>12</a:t>
            </a:r>
            <a:endParaRPr lang="en-US" sz="7200" dirty="0"/>
          </a:p>
        </p:txBody>
      </p:sp>
      <p:sp>
        <p:nvSpPr>
          <p:cNvPr id="19" name="Text 16"/>
          <p:cNvSpPr txBox="1"/>
          <p:nvPr/>
        </p:nvSpPr>
        <p:spPr>
          <a:xfrm>
            <a:off x="5852160" y="2697480"/>
            <a:ext cx="2651760" cy="1737360"/>
          </a:xfrm>
          <a:prstGeom prst="rect">
            <a:avLst/>
          </a:prstGeom>
          <a:noFill/>
          <a:ln/>
        </p:spPr>
        <p:txBody>
          <a:bodyPr wrap="square" lIns="0" tIns="0" rIns="0" bIns="0" rtlCol="0" anchor="t"/>
          <a:lstStyle/>
          <a:p>
            <a:pPr marL="0" indent="0" algn="ctr">
              <a:buNone/>
            </a:pPr>
            <a:r>
              <a:rPr lang="en-US" sz="1600" dirty="0">
                <a:solidFill>
                  <a:schemeClr val="bg1"/>
                </a:solidFill>
              </a:rPr>
              <a:t>minutes</a:t>
            </a:r>
            <a:endParaRPr lang="en-US" sz="1600" dirty="0"/>
          </a:p>
          <a:p>
            <a:pPr marL="0" indent="0" algn="ctr">
              <a:buNone/>
            </a:pPr>
            <a:r>
              <a:rPr lang="en-US" sz="1600" dirty="0">
                <a:solidFill>
                  <a:schemeClr val="bg1"/>
                </a:solidFill>
              </a:rPr>
              <a:t>Use your story map</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Stop: partner check</a:t>
            </a:r>
            <a:endParaRPr lang="en-US" sz="3400" dirty="0"/>
          </a:p>
        </p:txBody>
      </p:sp>
      <p:sp>
        <p:nvSpPr>
          <p:cNvPr id="3" name="Badge 135"/>
          <p:cNvSpPr/>
          <p:nvPr/>
        </p:nvSpPr>
        <p:spPr>
          <a:xfrm>
            <a:off x="7955280" y="274320"/>
            <a:ext cx="731520" cy="731520"/>
          </a:xfrm>
          <a:prstGeom prst="ellipse">
            <a:avLst/>
          </a:prstGeom>
          <a:solidFill>
            <a:schemeClr val="accent5"/>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36"/>
          <p:cNvSpPr/>
          <p:nvPr/>
        </p:nvSpPr>
        <p:spPr>
          <a:xfrm>
            <a:off x="457200" y="1188720"/>
            <a:ext cx="493776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98448"/>
            <a:ext cx="44805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Read your partner's paragraph</a:t>
            </a:r>
            <a:endParaRPr lang="en-US" sz="1900" dirty="0"/>
          </a:p>
        </p:txBody>
      </p:sp>
      <p:sp>
        <p:nvSpPr>
          <p:cNvPr id="7" name="Checkbox 137"/>
          <p:cNvSpPr/>
          <p:nvPr/>
        </p:nvSpPr>
        <p:spPr>
          <a:xfrm>
            <a:off x="685800" y="1819656"/>
            <a:ext cx="274320" cy="274320"/>
          </a:xfrm>
          <a:prstGeom prst="roundRect">
            <a:avLst>
              <a:gd name="adj" fmla="val 20000"/>
            </a:avLst>
          </a:prstGeom>
          <a:solidFill>
            <a:schemeClr val="bg1"/>
          </a:solidFill>
          <a:ln w="25400">
            <a:solidFill>
              <a:schemeClr val="accent3"/>
            </a:solidFill>
            <a:prstDash val="solid"/>
          </a:ln>
        </p:spPr>
      </p:sp>
      <p:sp>
        <p:nvSpPr>
          <p:cNvPr id="8" name="Text 5"/>
          <p:cNvSpPr txBox="1"/>
          <p:nvPr/>
        </p:nvSpPr>
        <p:spPr>
          <a:xfrm>
            <a:off x="1143000" y="1783080"/>
            <a:ext cx="4114800" cy="365760"/>
          </a:xfrm>
          <a:prstGeom prst="rect">
            <a:avLst/>
          </a:prstGeom>
          <a:noFill/>
          <a:ln/>
        </p:spPr>
        <p:txBody>
          <a:bodyPr wrap="square" lIns="0" tIns="0" rIns="0" bIns="0" rtlCol="0" anchor="ctr"/>
          <a:lstStyle/>
          <a:p>
            <a:pPr marL="0" indent="0">
              <a:buNone/>
            </a:pPr>
            <a:r>
              <a:rPr lang="en-US" sz="1600" dirty="0">
                <a:solidFill>
                  <a:schemeClr val="tx1"/>
                </a:solidFill>
              </a:rPr>
              <a:t>Can I see what the character is like?</a:t>
            </a:r>
            <a:endParaRPr lang="en-US" sz="1600" dirty="0"/>
          </a:p>
        </p:txBody>
      </p:sp>
      <p:sp>
        <p:nvSpPr>
          <p:cNvPr id="9" name="Checkbox 138"/>
          <p:cNvSpPr/>
          <p:nvPr/>
        </p:nvSpPr>
        <p:spPr>
          <a:xfrm>
            <a:off x="685800" y="2276856"/>
            <a:ext cx="274320" cy="274320"/>
          </a:xfrm>
          <a:prstGeom prst="roundRect">
            <a:avLst>
              <a:gd name="adj" fmla="val 20000"/>
            </a:avLst>
          </a:prstGeom>
          <a:solidFill>
            <a:schemeClr val="bg1"/>
          </a:solidFill>
          <a:ln w="25400">
            <a:solidFill>
              <a:schemeClr val="accent3"/>
            </a:solidFill>
            <a:prstDash val="solid"/>
          </a:ln>
        </p:spPr>
      </p:sp>
      <p:sp>
        <p:nvSpPr>
          <p:cNvPr id="10" name="Text 7"/>
          <p:cNvSpPr txBox="1"/>
          <p:nvPr/>
        </p:nvSpPr>
        <p:spPr>
          <a:xfrm>
            <a:off x="1143000" y="2240280"/>
            <a:ext cx="4114800" cy="365760"/>
          </a:xfrm>
          <a:prstGeom prst="rect">
            <a:avLst/>
          </a:prstGeom>
          <a:noFill/>
          <a:ln/>
        </p:spPr>
        <p:txBody>
          <a:bodyPr wrap="square" lIns="0" tIns="0" rIns="0" bIns="0" rtlCol="0" anchor="ctr"/>
          <a:lstStyle/>
          <a:p>
            <a:pPr marL="0" indent="0">
              <a:buNone/>
            </a:pPr>
            <a:r>
              <a:rPr lang="en-US" sz="1600" dirty="0">
                <a:solidFill>
                  <a:schemeClr val="tx1"/>
                </a:solidFill>
              </a:rPr>
              <a:t>Is it shown by what they DO?</a:t>
            </a:r>
            <a:endParaRPr lang="en-US" sz="1600" dirty="0"/>
          </a:p>
        </p:txBody>
      </p:sp>
      <p:sp>
        <p:nvSpPr>
          <p:cNvPr id="11" name="Checkbox 139"/>
          <p:cNvSpPr/>
          <p:nvPr/>
        </p:nvSpPr>
        <p:spPr>
          <a:xfrm>
            <a:off x="685800" y="2734056"/>
            <a:ext cx="274320" cy="274320"/>
          </a:xfrm>
          <a:prstGeom prst="roundRect">
            <a:avLst>
              <a:gd name="adj" fmla="val 20000"/>
            </a:avLst>
          </a:prstGeom>
          <a:solidFill>
            <a:schemeClr val="bg1"/>
          </a:solidFill>
          <a:ln w="25400">
            <a:solidFill>
              <a:schemeClr val="accent3"/>
            </a:solidFill>
            <a:prstDash val="solid"/>
          </a:ln>
        </p:spPr>
      </p:sp>
      <p:sp>
        <p:nvSpPr>
          <p:cNvPr id="12" name="Text 9"/>
          <p:cNvSpPr txBox="1"/>
          <p:nvPr/>
        </p:nvSpPr>
        <p:spPr>
          <a:xfrm>
            <a:off x="1143000" y="2697480"/>
            <a:ext cx="4114800" cy="365760"/>
          </a:xfrm>
          <a:prstGeom prst="rect">
            <a:avLst/>
          </a:prstGeom>
          <a:noFill/>
          <a:ln/>
        </p:spPr>
        <p:txBody>
          <a:bodyPr wrap="square" lIns="0" tIns="0" rIns="0" bIns="0" rtlCol="0" anchor="ctr"/>
          <a:lstStyle/>
          <a:p>
            <a:pPr marL="0" indent="0">
              <a:buNone/>
            </a:pPr>
            <a:r>
              <a:rPr lang="en-US" sz="1600" dirty="0">
                <a:solidFill>
                  <a:schemeClr val="tx1"/>
                </a:solidFill>
              </a:rPr>
              <a:t>Do I know where it happens?</a:t>
            </a:r>
            <a:endParaRPr lang="en-US" sz="1600" dirty="0"/>
          </a:p>
        </p:txBody>
      </p:sp>
      <p:sp>
        <p:nvSpPr>
          <p:cNvPr id="13" name="Checkbox 140"/>
          <p:cNvSpPr/>
          <p:nvPr/>
        </p:nvSpPr>
        <p:spPr>
          <a:xfrm>
            <a:off x="685800" y="3191256"/>
            <a:ext cx="274320" cy="274320"/>
          </a:xfrm>
          <a:prstGeom prst="roundRect">
            <a:avLst>
              <a:gd name="adj" fmla="val 20000"/>
            </a:avLst>
          </a:prstGeom>
          <a:solidFill>
            <a:schemeClr val="bg1"/>
          </a:solidFill>
          <a:ln w="25400">
            <a:solidFill>
              <a:schemeClr val="accent6"/>
            </a:solidFill>
            <a:prstDash val="solid"/>
          </a:ln>
        </p:spPr>
      </p:sp>
      <p:sp>
        <p:nvSpPr>
          <p:cNvPr id="14" name="Text 11"/>
          <p:cNvSpPr txBox="1"/>
          <p:nvPr/>
        </p:nvSpPr>
        <p:spPr>
          <a:xfrm>
            <a:off x="1143000" y="3154680"/>
            <a:ext cx="4114800" cy="365760"/>
          </a:xfrm>
          <a:prstGeom prst="rect">
            <a:avLst/>
          </a:prstGeom>
          <a:noFill/>
          <a:ln/>
        </p:spPr>
        <p:txBody>
          <a:bodyPr wrap="square" lIns="0" tIns="0" rIns="0" bIns="0" rtlCol="0" anchor="ctr"/>
          <a:lstStyle/>
          <a:p>
            <a:pPr marL="0" indent="0">
              <a:buNone/>
            </a:pPr>
            <a:r>
              <a:rPr lang="en-US" sz="1600" b="1" dirty="0">
                <a:solidFill>
                  <a:schemeClr val="accent6"/>
                </a:solidFill>
              </a:rPr>
              <a:t>One idea to improve</a:t>
            </a:r>
            <a:endParaRPr lang="en-US" sz="1600" dirty="0"/>
          </a:p>
        </p:txBody>
      </p:sp>
      <p:sp>
        <p:nvSpPr>
          <p:cNvPr id="15" name="Card 141"/>
          <p:cNvSpPr/>
          <p:nvPr/>
        </p:nvSpPr>
        <p:spPr>
          <a:xfrm>
            <a:off x="5669280" y="1188720"/>
            <a:ext cx="3017520" cy="3337560"/>
          </a:xfrm>
          <a:prstGeom prst="roundRect">
            <a:avLst>
              <a:gd name="adj" fmla="val 3636"/>
            </a:avLst>
          </a:prstGeom>
          <a:solidFill>
            <a:schemeClr val="accent2"/>
          </a:solidFill>
          <a:ln/>
          <a:effectLst>
            <a:outerShdw blurRad="101600" dist="25400" dir="5400000" algn="bl" rotWithShape="0">
              <a:srgbClr val="000000">
                <a:alpha val="16000"/>
              </a:srgbClr>
            </a:outerShdw>
          </a:effectLst>
        </p:spPr>
      </p:sp>
      <p:sp>
        <p:nvSpPr>
          <p:cNvPr id="16" name="Text 13"/>
          <p:cNvSpPr txBox="1"/>
          <p:nvPr/>
        </p:nvSpPr>
        <p:spPr>
          <a:xfrm>
            <a:off x="5852160" y="1371600"/>
            <a:ext cx="2651760" cy="3017520"/>
          </a:xfrm>
          <a:prstGeom prst="rect">
            <a:avLst/>
          </a:prstGeom>
          <a:noFill/>
          <a:ln/>
        </p:spPr>
        <p:txBody>
          <a:bodyPr wrap="square" lIns="0" tIns="0" rIns="0" bIns="0" rtlCol="0" anchor="t"/>
          <a:lstStyle/>
          <a:p>
            <a:pPr marL="0" indent="0">
              <a:buNone/>
            </a:pPr>
            <a:r>
              <a:rPr lang="en-US" sz="1700" dirty="0">
                <a:solidFill>
                  <a:schemeClr val="tx2"/>
                </a:solidFill>
              </a:rPr>
              <a:t>Say:</a:t>
            </a:r>
            <a:endParaRPr lang="en-US" sz="1700" dirty="0"/>
          </a:p>
          <a:p>
            <a:pPr marL="0" indent="0">
              <a:buNone/>
            </a:pPr>
            <a:endParaRPr lang="en-US" sz="1700" dirty="0"/>
          </a:p>
          <a:p>
            <a:pPr marL="0" indent="0">
              <a:buNone/>
            </a:pPr>
            <a:r>
              <a:rPr lang="en-US" sz="1700" dirty="0">
                <a:solidFill>
                  <a:schemeClr val="tx2"/>
                </a:solidFill>
              </a:rPr>
              <a:t>“I can tell he is ___ because he ___.”</a:t>
            </a:r>
            <a:endParaRPr lang="en-US" sz="1700" dirty="0"/>
          </a:p>
          <a:p>
            <a:pPr marL="0" indent="0">
              <a:buNone/>
            </a:pPr>
            <a:endParaRPr lang="en-US" sz="1700" dirty="0"/>
          </a:p>
          <a:p>
            <a:pPr marL="0" indent="0">
              <a:buNone/>
            </a:pPr>
            <a:r>
              <a:rPr lang="en-US" sz="1700" dirty="0">
                <a:solidFill>
                  <a:schemeClr val="tx2"/>
                </a:solidFill>
              </a:rPr>
              <a:t>“You could add…”</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Write the bridge</a:t>
            </a:r>
            <a:endParaRPr lang="en-US" sz="3400" dirty="0"/>
          </a:p>
        </p:txBody>
      </p:sp>
      <p:sp>
        <p:nvSpPr>
          <p:cNvPr id="3" name="Badge 142"/>
          <p:cNvSpPr/>
          <p:nvPr/>
        </p:nvSpPr>
        <p:spPr>
          <a:xfrm>
            <a:off x="7955280" y="274320"/>
            <a:ext cx="731520" cy="731520"/>
          </a:xfrm>
          <a:prstGeom prst="ellipse">
            <a:avLst/>
          </a:prstGeom>
          <a:solidFill>
            <a:schemeClr val="accent5"/>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43"/>
          <p:cNvSpPr/>
          <p:nvPr/>
        </p:nvSpPr>
        <p:spPr>
          <a:xfrm>
            <a:off x="457200" y="1188720"/>
            <a:ext cx="3657600" cy="2011680"/>
          </a:xfrm>
          <a:prstGeom prst="roundRect">
            <a:avLst>
              <a:gd name="adj" fmla="val 5455"/>
            </a:avLst>
          </a:prstGeom>
          <a:solidFill>
            <a:schemeClr val="accent1">
              <a:alpha val="12000"/>
            </a:schemeClr>
          </a:solidFill>
          <a:ln w="15875">
            <a:solidFill>
              <a:schemeClr val="accent1"/>
            </a:solidFill>
            <a:prstDash val="solid"/>
          </a:ln>
        </p:spPr>
      </p:sp>
      <p:sp>
        <p:nvSpPr>
          <p:cNvPr id="6" name="Chip 144"/>
          <p:cNvSpPr/>
          <p:nvPr/>
        </p:nvSpPr>
        <p:spPr>
          <a:xfrm>
            <a:off x="640080" y="1325880"/>
            <a:ext cx="1280160" cy="292608"/>
          </a:xfrm>
          <a:prstGeom prst="roundRect">
            <a:avLst>
              <a:gd name="adj" fmla="val 50000"/>
            </a:avLst>
          </a:prstGeom>
          <a:solidFill>
            <a:schemeClr val="accent1"/>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YOUR TURN</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Because my character is ______, he/she ______. So ______.</a:t>
            </a:r>
            <a:endParaRPr lang="en-US" sz="2000" dirty="0"/>
          </a:p>
        </p:txBody>
      </p:sp>
      <p:sp>
        <p:nvSpPr>
          <p:cNvPr id="9" name="Card 145"/>
          <p:cNvSpPr/>
          <p:nvPr/>
        </p:nvSpPr>
        <p:spPr>
          <a:xfrm>
            <a:off x="5029200" y="1188720"/>
            <a:ext cx="3657600" cy="2011680"/>
          </a:xfrm>
          <a:prstGeom prst="roundRect">
            <a:avLst>
              <a:gd name="adj" fmla="val 5455"/>
            </a:avLst>
          </a:prstGeom>
          <a:solidFill>
            <a:schemeClr val="accent4">
              <a:alpha val="12000"/>
            </a:schemeClr>
          </a:solidFill>
          <a:ln w="15875">
            <a:solidFill>
              <a:schemeClr val="accent4"/>
            </a:solidFill>
            <a:prstDash val="solid"/>
          </a:ln>
        </p:spPr>
      </p:sp>
      <p:sp>
        <p:nvSpPr>
          <p:cNvPr id="10" name="Chip 146"/>
          <p:cNvSpPr/>
          <p:nvPr/>
        </p:nvSpPr>
        <p:spPr>
          <a:xfrm>
            <a:off x="5212080" y="1325880"/>
            <a:ext cx="1280160" cy="292608"/>
          </a:xfrm>
          <a:prstGeom prst="roundRect">
            <a:avLst>
              <a:gd name="adj" fmla="val 50000"/>
            </a:avLst>
          </a:prstGeom>
          <a:solidFill>
            <a:schemeClr val="accent4"/>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THINK FIRST</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What is my trait? What does it make me DO? What trouble does that cause?</a:t>
            </a:r>
            <a:endParaRPr lang="en-US" sz="1600" dirty="0"/>
          </a:p>
        </p:txBody>
      </p:sp>
      <p:sp>
        <p:nvSpPr>
          <p:cNvPr id="13" name="Arrow"/>
          <p:cNvSpPr/>
          <p:nvPr/>
        </p:nvSpPr>
        <p:spPr>
          <a:xfrm>
            <a:off x="4224528" y="1920240"/>
            <a:ext cx="694944" cy="457200"/>
          </a:xfrm>
          <a:prstGeom prst="rightArrow">
            <a:avLst/>
          </a:prstGeom>
          <a:solidFill>
            <a:schemeClr val="accent2"/>
          </a:solidFill>
          <a:ln/>
        </p:spPr>
      </p:sp>
      <p:sp>
        <p:nvSpPr>
          <p:cNvPr id="14" name="Card 147"/>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This sentence links your trait to your problem.</a:t>
            </a:r>
            <a:endParaRPr lang="en-US" sz="1700" dirty="0"/>
          </a:p>
        </p:txBody>
      </p:sp>
      <p:sp>
        <p:nvSpPr>
          <p:cNvPr id="16" name="Card 148"/>
          <p:cNvSpPr/>
          <p:nvPr/>
        </p:nvSpPr>
        <p:spPr>
          <a:xfrm>
            <a:off x="457200" y="4023360"/>
            <a:ext cx="8229600" cy="502920"/>
          </a:xfrm>
          <a:prstGeom prst="roundRect">
            <a:avLst>
              <a:gd name="adj" fmla="val 21818"/>
            </a:avLst>
          </a:prstGeom>
          <a:solidFill>
            <a:schemeClr val="tx2"/>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700" dirty="0">
                <a:solidFill>
                  <a:schemeClr val="bg1"/>
                </a:solidFill>
              </a:rPr>
              <a:t>Write it on your whiteboard. Show your partner. 5 minutes.</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bridge sentences</a:t>
            </a:r>
            <a:endParaRPr lang="en-US" sz="3400" dirty="0"/>
          </a:p>
        </p:txBody>
      </p:sp>
      <p:sp>
        <p:nvSpPr>
          <p:cNvPr id="3" name="Badge 149"/>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50"/>
          <p:cNvSpPr/>
          <p:nvPr/>
        </p:nvSpPr>
        <p:spPr>
          <a:xfrm>
            <a:off x="457200" y="1188720"/>
            <a:ext cx="8229600" cy="804672"/>
          </a:xfrm>
          <a:prstGeom prst="roundRect">
            <a:avLst>
              <a:gd name="adj" fmla="val 13636"/>
            </a:avLst>
          </a:prstGeom>
          <a:solidFill>
            <a:schemeClr val="bg2"/>
          </a:solidFill>
          <a:ln/>
        </p:spPr>
      </p:sp>
      <p:sp>
        <p:nvSpPr>
          <p:cNvPr id="6" name="Tick 151"/>
          <p:cNvSpPr/>
          <p:nvPr/>
        </p:nvSpPr>
        <p:spPr>
          <a:xfrm>
            <a:off x="640080" y="1362456"/>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472184"/>
            <a:ext cx="237744" cy="237744"/>
          </a:xfrm>
          <a:prstGeom prst="rect">
            <a:avLst/>
          </a:prstGeom>
        </p:spPr>
      </p:pic>
      <p:sp>
        <p:nvSpPr>
          <p:cNvPr id="8" name="Text 4"/>
          <p:cNvSpPr txBox="1"/>
          <p:nvPr/>
        </p:nvSpPr>
        <p:spPr>
          <a:xfrm>
            <a:off x="1325880" y="1188720"/>
            <a:ext cx="7178040" cy="804672"/>
          </a:xfrm>
          <a:prstGeom prst="rect">
            <a:avLst/>
          </a:prstGeom>
          <a:noFill/>
          <a:ln/>
        </p:spPr>
        <p:txBody>
          <a:bodyPr wrap="square" lIns="0" tIns="0" rIns="0" bIns="0" rtlCol="0" anchor="ctr"/>
          <a:lstStyle/>
          <a:p>
            <a:pPr marL="0" indent="0">
              <a:buNone/>
            </a:pPr>
            <a:r>
              <a:rPr lang="en-US" sz="1700" dirty="0">
                <a:solidFill>
                  <a:schemeClr val="tx1"/>
                </a:solidFill>
              </a:rPr>
              <a:t>Because Geoffrey was dreamy, he stored no food. So winter was hard.</a:t>
            </a:r>
            <a:endParaRPr lang="en-US" sz="1700" dirty="0"/>
          </a:p>
        </p:txBody>
      </p:sp>
      <p:sp>
        <p:nvSpPr>
          <p:cNvPr id="9" name="Card 152"/>
          <p:cNvSpPr/>
          <p:nvPr/>
        </p:nvSpPr>
        <p:spPr>
          <a:xfrm>
            <a:off x="457200" y="2103120"/>
            <a:ext cx="8229600" cy="804672"/>
          </a:xfrm>
          <a:prstGeom prst="roundRect">
            <a:avLst>
              <a:gd name="adj" fmla="val 13636"/>
            </a:avLst>
          </a:prstGeom>
          <a:solidFill>
            <a:schemeClr val="bg2"/>
          </a:solidFill>
          <a:ln/>
        </p:spPr>
      </p:sp>
      <p:sp>
        <p:nvSpPr>
          <p:cNvPr id="10" name="Tick 153"/>
          <p:cNvSpPr/>
          <p:nvPr/>
        </p:nvSpPr>
        <p:spPr>
          <a:xfrm>
            <a:off x="640080" y="2276856"/>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386584"/>
            <a:ext cx="237744" cy="237744"/>
          </a:xfrm>
          <a:prstGeom prst="rect">
            <a:avLst/>
          </a:prstGeom>
        </p:spPr>
      </p:pic>
      <p:sp>
        <p:nvSpPr>
          <p:cNvPr id="12" name="Text 7"/>
          <p:cNvSpPr txBox="1"/>
          <p:nvPr/>
        </p:nvSpPr>
        <p:spPr>
          <a:xfrm>
            <a:off x="1325880" y="2103120"/>
            <a:ext cx="7178040" cy="804672"/>
          </a:xfrm>
          <a:prstGeom prst="rect">
            <a:avLst/>
          </a:prstGeom>
          <a:noFill/>
          <a:ln/>
        </p:spPr>
        <p:txBody>
          <a:bodyPr wrap="square" lIns="0" tIns="0" rIns="0" bIns="0" rtlCol="0" anchor="ctr"/>
          <a:lstStyle/>
          <a:p>
            <a:pPr marL="0" indent="0">
              <a:buNone/>
            </a:pPr>
            <a:r>
              <a:rPr lang="en-US" sz="1700" dirty="0">
                <a:solidFill>
                  <a:schemeClr val="tx1"/>
                </a:solidFill>
              </a:rPr>
              <a:t>Because the fox was proud, he ignored the warning. So he fell into the trap.</a:t>
            </a:r>
            <a:endParaRPr lang="en-US" sz="1700" dirty="0"/>
          </a:p>
        </p:txBody>
      </p:sp>
      <p:sp>
        <p:nvSpPr>
          <p:cNvPr id="13" name="Card 154"/>
          <p:cNvSpPr/>
          <p:nvPr/>
        </p:nvSpPr>
        <p:spPr>
          <a:xfrm>
            <a:off x="457200" y="3017520"/>
            <a:ext cx="8229600" cy="804672"/>
          </a:xfrm>
          <a:prstGeom prst="roundRect">
            <a:avLst>
              <a:gd name="adj" fmla="val 13636"/>
            </a:avLst>
          </a:prstGeom>
          <a:solidFill>
            <a:schemeClr val="bg2"/>
          </a:solidFill>
          <a:ln/>
        </p:spPr>
      </p:sp>
      <p:sp>
        <p:nvSpPr>
          <p:cNvPr id="14" name="Tick 155"/>
          <p:cNvSpPr/>
          <p:nvPr/>
        </p:nvSpPr>
        <p:spPr>
          <a:xfrm>
            <a:off x="640080" y="3191256"/>
            <a:ext cx="457200" cy="457200"/>
          </a:xfrm>
          <a:prstGeom prst="ellipse">
            <a:avLst/>
          </a:prstGeom>
          <a:solidFill>
            <a:schemeClr val="accent3"/>
          </a:solidFill>
          <a:ln/>
        </p:spPr>
      </p:sp>
      <p:pic>
        <p:nvPicPr>
          <p:cNvPr id="15" name="Image 3" descr="Tick"/>
          <p:cNvPicPr>
            <a:picLocks noChangeAspect="1"/>
          </p:cNvPicPr>
          <p:nvPr/>
        </p:nvPicPr>
        <p:blipFill>
          <a:blip r:embed="rId3"/>
          <a:stretch>
            <a:fillRect/>
          </a:stretch>
        </p:blipFill>
        <p:spPr>
          <a:xfrm>
            <a:off x="749808" y="3300984"/>
            <a:ext cx="237744" cy="237744"/>
          </a:xfrm>
          <a:prstGeom prst="rect">
            <a:avLst/>
          </a:prstGeom>
        </p:spPr>
      </p:pic>
      <p:sp>
        <p:nvSpPr>
          <p:cNvPr id="16" name="Text 10"/>
          <p:cNvSpPr txBox="1"/>
          <p:nvPr/>
        </p:nvSpPr>
        <p:spPr>
          <a:xfrm>
            <a:off x="1325880" y="3017520"/>
            <a:ext cx="7178040" cy="804672"/>
          </a:xfrm>
          <a:prstGeom prst="rect">
            <a:avLst/>
          </a:prstGeom>
          <a:noFill/>
          <a:ln/>
        </p:spPr>
        <p:txBody>
          <a:bodyPr wrap="square" lIns="0" tIns="0" rIns="0" bIns="0" rtlCol="0" anchor="ctr"/>
          <a:lstStyle/>
          <a:p>
            <a:pPr marL="0" indent="0">
              <a:buNone/>
            </a:pPr>
            <a:r>
              <a:rPr lang="en-US" sz="1700" dirty="0">
                <a:solidFill>
                  <a:schemeClr val="tx1"/>
                </a:solidFill>
              </a:rPr>
              <a:t>Because the squirrel was greedy, she took all the nuts. So nobody would help her.</a:t>
            </a:r>
            <a:endParaRPr lang="en-US" sz="1700" dirty="0"/>
          </a:p>
        </p:txBody>
      </p:sp>
      <p:sp>
        <p:nvSpPr>
          <p:cNvPr id="17" name="Card 156"/>
          <p:cNvSpPr/>
          <p:nvPr/>
        </p:nvSpPr>
        <p:spPr>
          <a:xfrm>
            <a:off x="457200" y="4114800"/>
            <a:ext cx="8229600" cy="457200"/>
          </a:xfrm>
          <a:prstGeom prst="roundRect">
            <a:avLst>
              <a:gd name="adj" fmla="val 24000"/>
            </a:avLst>
          </a:prstGeom>
          <a:solidFill>
            <a:schemeClr val="tx2"/>
          </a:solidFill>
          <a:ln/>
        </p:spPr>
      </p:sp>
      <p:sp>
        <p:nvSpPr>
          <p:cNvPr id="18" name="Text 12"/>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600" b="1" dirty="0">
                <a:solidFill>
                  <a:schemeClr val="bg1"/>
                </a:solidFill>
              </a:rPr>
              <a:t>Trait, then action, then trouble.</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Write Paragraph 2</a:t>
            </a:r>
            <a:endParaRPr lang="en-US" sz="3400" dirty="0"/>
          </a:p>
        </p:txBody>
      </p:sp>
      <p:sp>
        <p:nvSpPr>
          <p:cNvPr id="3" name="Badge 157"/>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58"/>
          <p:cNvSpPr/>
          <p:nvPr/>
        </p:nvSpPr>
        <p:spPr>
          <a:xfrm>
            <a:off x="457200" y="1188720"/>
            <a:ext cx="493776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98448"/>
            <a:ext cx="44805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The Problem and Event 1</a:t>
            </a:r>
            <a:endParaRPr lang="en-US" sz="1900" dirty="0"/>
          </a:p>
        </p:txBody>
      </p:sp>
      <p:sp>
        <p:nvSpPr>
          <p:cNvPr id="7" name="Checkbox 159"/>
          <p:cNvSpPr/>
          <p:nvPr/>
        </p:nvSpPr>
        <p:spPr>
          <a:xfrm>
            <a:off x="685800" y="1819656"/>
            <a:ext cx="274320" cy="274320"/>
          </a:xfrm>
          <a:prstGeom prst="roundRect">
            <a:avLst>
              <a:gd name="adj" fmla="val 20000"/>
            </a:avLst>
          </a:prstGeom>
          <a:solidFill>
            <a:schemeClr val="bg1"/>
          </a:solidFill>
          <a:ln w="25400">
            <a:solidFill>
              <a:schemeClr val="accent3"/>
            </a:solidFill>
            <a:prstDash val="solid"/>
          </a:ln>
        </p:spPr>
      </p:sp>
      <p:sp>
        <p:nvSpPr>
          <p:cNvPr id="8" name="Text 5"/>
          <p:cNvSpPr txBox="1"/>
          <p:nvPr/>
        </p:nvSpPr>
        <p:spPr>
          <a:xfrm>
            <a:off x="1143000" y="1783080"/>
            <a:ext cx="4114800" cy="365760"/>
          </a:xfrm>
          <a:prstGeom prst="rect">
            <a:avLst/>
          </a:prstGeom>
          <a:noFill/>
          <a:ln/>
        </p:spPr>
        <p:txBody>
          <a:bodyPr wrap="square" lIns="0" tIns="0" rIns="0" bIns="0" rtlCol="0" anchor="ctr"/>
          <a:lstStyle/>
          <a:p>
            <a:pPr marL="0" indent="0">
              <a:buNone/>
            </a:pPr>
            <a:r>
              <a:rPr lang="en-US" sz="1600" dirty="0">
                <a:solidFill>
                  <a:schemeClr val="tx1"/>
                </a:solidFill>
              </a:rPr>
              <a:t>Start with your bridge sentence</a:t>
            </a:r>
            <a:endParaRPr lang="en-US" sz="1600" dirty="0"/>
          </a:p>
        </p:txBody>
      </p:sp>
      <p:sp>
        <p:nvSpPr>
          <p:cNvPr id="9" name="Checkbox 160"/>
          <p:cNvSpPr/>
          <p:nvPr/>
        </p:nvSpPr>
        <p:spPr>
          <a:xfrm>
            <a:off x="685800" y="2276856"/>
            <a:ext cx="274320" cy="274320"/>
          </a:xfrm>
          <a:prstGeom prst="roundRect">
            <a:avLst>
              <a:gd name="adj" fmla="val 20000"/>
            </a:avLst>
          </a:prstGeom>
          <a:solidFill>
            <a:schemeClr val="bg1"/>
          </a:solidFill>
          <a:ln w="25400">
            <a:solidFill>
              <a:schemeClr val="accent3"/>
            </a:solidFill>
            <a:prstDash val="solid"/>
          </a:ln>
        </p:spPr>
      </p:sp>
      <p:sp>
        <p:nvSpPr>
          <p:cNvPr id="10" name="Text 7"/>
          <p:cNvSpPr txBox="1"/>
          <p:nvPr/>
        </p:nvSpPr>
        <p:spPr>
          <a:xfrm>
            <a:off x="1143000" y="2240280"/>
            <a:ext cx="4114800" cy="365760"/>
          </a:xfrm>
          <a:prstGeom prst="rect">
            <a:avLst/>
          </a:prstGeom>
          <a:noFill/>
          <a:ln/>
        </p:spPr>
        <p:txBody>
          <a:bodyPr wrap="square" lIns="0" tIns="0" rIns="0" bIns="0" rtlCol="0" anchor="ctr"/>
          <a:lstStyle/>
          <a:p>
            <a:pPr marL="0" indent="0">
              <a:buNone/>
            </a:pPr>
            <a:r>
              <a:rPr lang="en-US" sz="1600" dirty="0">
                <a:solidFill>
                  <a:schemeClr val="tx1"/>
                </a:solidFill>
              </a:rPr>
              <a:t>The problem comes from the trait</a:t>
            </a:r>
            <a:endParaRPr lang="en-US" sz="1600" dirty="0"/>
          </a:p>
        </p:txBody>
      </p:sp>
      <p:sp>
        <p:nvSpPr>
          <p:cNvPr id="11" name="Checkbox 161"/>
          <p:cNvSpPr/>
          <p:nvPr/>
        </p:nvSpPr>
        <p:spPr>
          <a:xfrm>
            <a:off x="685800" y="2734056"/>
            <a:ext cx="274320" cy="274320"/>
          </a:xfrm>
          <a:prstGeom prst="roundRect">
            <a:avLst>
              <a:gd name="adj" fmla="val 20000"/>
            </a:avLst>
          </a:prstGeom>
          <a:solidFill>
            <a:schemeClr val="bg1"/>
          </a:solidFill>
          <a:ln w="25400">
            <a:solidFill>
              <a:schemeClr val="accent3"/>
            </a:solidFill>
            <a:prstDash val="solid"/>
          </a:ln>
        </p:spPr>
      </p:sp>
      <p:sp>
        <p:nvSpPr>
          <p:cNvPr id="12" name="Text 9"/>
          <p:cNvSpPr txBox="1"/>
          <p:nvPr/>
        </p:nvSpPr>
        <p:spPr>
          <a:xfrm>
            <a:off x="1143000" y="2697480"/>
            <a:ext cx="4114800" cy="365760"/>
          </a:xfrm>
          <a:prstGeom prst="rect">
            <a:avLst/>
          </a:prstGeom>
          <a:noFill/>
          <a:ln/>
        </p:spPr>
        <p:txBody>
          <a:bodyPr wrap="square" lIns="0" tIns="0" rIns="0" bIns="0" rtlCol="0" anchor="ctr"/>
          <a:lstStyle/>
          <a:p>
            <a:pPr marL="0" indent="0">
              <a:buNone/>
            </a:pPr>
            <a:r>
              <a:rPr lang="en-US" sz="1600" dirty="0">
                <a:solidFill>
                  <a:schemeClr val="tx1"/>
                </a:solidFill>
              </a:rPr>
              <a:t>Event 1 makes it worse</a:t>
            </a:r>
            <a:endParaRPr lang="en-US" sz="1600" dirty="0"/>
          </a:p>
        </p:txBody>
      </p:sp>
      <p:sp>
        <p:nvSpPr>
          <p:cNvPr id="13" name="Checkbox 162"/>
          <p:cNvSpPr/>
          <p:nvPr/>
        </p:nvSpPr>
        <p:spPr>
          <a:xfrm>
            <a:off x="685800" y="3191256"/>
            <a:ext cx="274320" cy="274320"/>
          </a:xfrm>
          <a:prstGeom prst="roundRect">
            <a:avLst>
              <a:gd name="adj" fmla="val 20000"/>
            </a:avLst>
          </a:prstGeom>
          <a:solidFill>
            <a:schemeClr val="bg1"/>
          </a:solidFill>
          <a:ln w="25400">
            <a:solidFill>
              <a:schemeClr val="accent3"/>
            </a:solidFill>
            <a:prstDash val="solid"/>
          </a:ln>
        </p:spPr>
      </p:sp>
      <p:sp>
        <p:nvSpPr>
          <p:cNvPr id="14" name="Text 11"/>
          <p:cNvSpPr txBox="1"/>
          <p:nvPr/>
        </p:nvSpPr>
        <p:spPr>
          <a:xfrm>
            <a:off x="1143000" y="3154680"/>
            <a:ext cx="4114800" cy="365760"/>
          </a:xfrm>
          <a:prstGeom prst="rect">
            <a:avLst/>
          </a:prstGeom>
          <a:noFill/>
          <a:ln/>
        </p:spPr>
        <p:txBody>
          <a:bodyPr wrap="square" lIns="0" tIns="0" rIns="0" bIns="0" rtlCol="0" anchor="ctr"/>
          <a:lstStyle/>
          <a:p>
            <a:pPr marL="0" indent="0">
              <a:buNone/>
            </a:pPr>
            <a:r>
              <a:rPr lang="en-US" sz="1600" dirty="0">
                <a:solidFill>
                  <a:schemeClr val="tx1"/>
                </a:solidFill>
              </a:rPr>
              <a:t>My character feels something</a:t>
            </a:r>
            <a:endParaRPr lang="en-US" sz="1600" dirty="0"/>
          </a:p>
        </p:txBody>
      </p:sp>
      <p:sp>
        <p:nvSpPr>
          <p:cNvPr id="15" name="Checkbox 163"/>
          <p:cNvSpPr/>
          <p:nvPr/>
        </p:nvSpPr>
        <p:spPr>
          <a:xfrm>
            <a:off x="685800" y="3648456"/>
            <a:ext cx="274320" cy="274320"/>
          </a:xfrm>
          <a:prstGeom prst="roundRect">
            <a:avLst>
              <a:gd name="adj" fmla="val 20000"/>
            </a:avLst>
          </a:prstGeom>
          <a:solidFill>
            <a:schemeClr val="bg1"/>
          </a:solidFill>
          <a:ln w="25400">
            <a:solidFill>
              <a:schemeClr val="accent3"/>
            </a:solidFill>
            <a:prstDash val="solid"/>
          </a:ln>
        </p:spPr>
      </p:sp>
      <p:sp>
        <p:nvSpPr>
          <p:cNvPr id="16" name="Text 13"/>
          <p:cNvSpPr txBox="1"/>
          <p:nvPr/>
        </p:nvSpPr>
        <p:spPr>
          <a:xfrm>
            <a:off x="1143000" y="3611880"/>
            <a:ext cx="4114800" cy="365760"/>
          </a:xfrm>
          <a:prstGeom prst="rect">
            <a:avLst/>
          </a:prstGeom>
          <a:noFill/>
          <a:ln/>
        </p:spPr>
        <p:txBody>
          <a:bodyPr wrap="square" lIns="0" tIns="0" rIns="0" bIns="0" rtlCol="0" anchor="ctr"/>
          <a:lstStyle/>
          <a:p>
            <a:pPr marL="0" indent="0">
              <a:buNone/>
            </a:pPr>
            <a:r>
              <a:rPr lang="en-US" sz="1600" dirty="0">
                <a:solidFill>
                  <a:schemeClr val="tx1"/>
                </a:solidFill>
              </a:rPr>
              <a:t>4 to 6 sentences</a:t>
            </a:r>
            <a:endParaRPr lang="en-US" sz="1600" dirty="0"/>
          </a:p>
        </p:txBody>
      </p:sp>
      <p:sp>
        <p:nvSpPr>
          <p:cNvPr id="17" name="Checkbox 164"/>
          <p:cNvSpPr/>
          <p:nvPr/>
        </p:nvSpPr>
        <p:spPr>
          <a:xfrm>
            <a:off x="685800" y="4105656"/>
            <a:ext cx="274320" cy="274320"/>
          </a:xfrm>
          <a:prstGeom prst="roundRect">
            <a:avLst>
              <a:gd name="adj" fmla="val 20000"/>
            </a:avLst>
          </a:prstGeom>
          <a:solidFill>
            <a:schemeClr val="bg1"/>
          </a:solidFill>
          <a:ln w="25400">
            <a:solidFill>
              <a:schemeClr val="accent6"/>
            </a:solidFill>
            <a:prstDash val="solid"/>
          </a:ln>
        </p:spPr>
      </p:sp>
      <p:sp>
        <p:nvSpPr>
          <p:cNvPr id="18" name="Text 15"/>
          <p:cNvSpPr txBox="1"/>
          <p:nvPr/>
        </p:nvSpPr>
        <p:spPr>
          <a:xfrm>
            <a:off x="1143000" y="4069080"/>
            <a:ext cx="4114800" cy="365760"/>
          </a:xfrm>
          <a:prstGeom prst="rect">
            <a:avLst/>
          </a:prstGeom>
          <a:noFill/>
          <a:ln/>
        </p:spPr>
        <p:txBody>
          <a:bodyPr wrap="square" lIns="0" tIns="0" rIns="0" bIns="0" rtlCol="0" anchor="ctr"/>
          <a:lstStyle/>
          <a:p>
            <a:pPr marL="0" indent="0">
              <a:buNone/>
            </a:pPr>
            <a:r>
              <a:rPr lang="en-US" sz="1600" b="1" dirty="0">
                <a:solidFill>
                  <a:schemeClr val="accent6"/>
                </a:solidFill>
              </a:rPr>
              <a:t>Stop before the big choice</a:t>
            </a:r>
            <a:endParaRPr lang="en-US" sz="1600" dirty="0"/>
          </a:p>
        </p:txBody>
      </p:sp>
      <p:sp>
        <p:nvSpPr>
          <p:cNvPr id="19" name="Card 165"/>
          <p:cNvSpPr/>
          <p:nvPr/>
        </p:nvSpPr>
        <p:spPr>
          <a:xfrm>
            <a:off x="5669280" y="1188720"/>
            <a:ext cx="3017520" cy="3337560"/>
          </a:xfrm>
          <a:prstGeom prst="roundRect">
            <a:avLst>
              <a:gd name="adj" fmla="val 3636"/>
            </a:avLst>
          </a:prstGeom>
          <a:solidFill>
            <a:schemeClr val="accent1"/>
          </a:solidFill>
          <a:ln/>
          <a:effectLst>
            <a:outerShdw blurRad="101600" dist="25400" dir="5400000" algn="bl" rotWithShape="0">
              <a:srgbClr val="000000">
                <a:alpha val="16000"/>
              </a:srgbClr>
            </a:outerShdw>
          </a:effectLst>
        </p:spPr>
      </p:sp>
      <p:sp>
        <p:nvSpPr>
          <p:cNvPr id="20" name="Text 17"/>
          <p:cNvSpPr txBox="1"/>
          <p:nvPr/>
        </p:nvSpPr>
        <p:spPr>
          <a:xfrm>
            <a:off x="5669280" y="1325880"/>
            <a:ext cx="3017520" cy="1280160"/>
          </a:xfrm>
          <a:prstGeom prst="rect">
            <a:avLst/>
          </a:prstGeom>
          <a:noFill/>
          <a:ln/>
        </p:spPr>
        <p:txBody>
          <a:bodyPr wrap="square" lIns="0" tIns="0" rIns="0" bIns="0" rtlCol="0" anchor="ctr"/>
          <a:lstStyle/>
          <a:p>
            <a:pPr marL="0" indent="0" algn="ctr">
              <a:buNone/>
            </a:pPr>
            <a:r>
              <a:rPr lang="en-US" sz="7200" b="1" dirty="0">
                <a:solidFill>
                  <a:schemeClr val="bg1"/>
                </a:solidFill>
                <a:latin typeface="Cambria" pitchFamily="34" charset="0"/>
                <a:ea typeface="Cambria" pitchFamily="34" charset="-122"/>
                <a:cs typeface="Cambria" pitchFamily="34" charset="-120"/>
              </a:rPr>
              <a:t>18</a:t>
            </a:r>
            <a:endParaRPr lang="en-US" sz="7200" dirty="0"/>
          </a:p>
        </p:txBody>
      </p:sp>
      <p:sp>
        <p:nvSpPr>
          <p:cNvPr id="21" name="Text 18"/>
          <p:cNvSpPr txBox="1"/>
          <p:nvPr/>
        </p:nvSpPr>
        <p:spPr>
          <a:xfrm>
            <a:off x="5852160" y="2697480"/>
            <a:ext cx="2651760" cy="1737360"/>
          </a:xfrm>
          <a:prstGeom prst="rect">
            <a:avLst/>
          </a:prstGeom>
          <a:noFill/>
          <a:ln/>
        </p:spPr>
        <p:txBody>
          <a:bodyPr wrap="square" lIns="0" tIns="0" rIns="0" bIns="0" rtlCol="0" anchor="t"/>
          <a:lstStyle/>
          <a:p>
            <a:pPr marL="0" indent="0" algn="ctr">
              <a:buNone/>
            </a:pPr>
            <a:r>
              <a:rPr lang="en-US" sz="1600" dirty="0">
                <a:solidFill>
                  <a:schemeClr val="bg1"/>
                </a:solidFill>
              </a:rPr>
              <a:t>minutes</a:t>
            </a:r>
            <a:endParaRPr lang="en-US" sz="1600" dirty="0"/>
          </a:p>
          <a:p>
            <a:pPr marL="0" indent="0" algn="ctr">
              <a:buNone/>
            </a:pPr>
            <a:r>
              <a:rPr lang="en-US" sz="1600" dirty="0">
                <a:solidFill>
                  <a:schemeClr val="bg1"/>
                </a:solidFill>
              </a:rPr>
              <a:t>Use your story map and the Geoffrey model</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Stop: check the link</a:t>
            </a:r>
            <a:endParaRPr lang="en-US" sz="3400" dirty="0"/>
          </a:p>
        </p:txBody>
      </p:sp>
      <p:sp>
        <p:nvSpPr>
          <p:cNvPr id="3" name="Badge 166"/>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67"/>
          <p:cNvSpPr/>
          <p:nvPr/>
        </p:nvSpPr>
        <p:spPr>
          <a:xfrm>
            <a:off x="457200" y="1188720"/>
            <a:ext cx="493776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98448"/>
            <a:ext cx="44805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Read your paragraph quietly</a:t>
            </a:r>
            <a:endParaRPr lang="en-US" sz="1900" dirty="0"/>
          </a:p>
        </p:txBody>
      </p:sp>
      <p:sp>
        <p:nvSpPr>
          <p:cNvPr id="7" name="Checkbox 168"/>
          <p:cNvSpPr/>
          <p:nvPr/>
        </p:nvSpPr>
        <p:spPr>
          <a:xfrm>
            <a:off x="685800" y="1819656"/>
            <a:ext cx="274320" cy="274320"/>
          </a:xfrm>
          <a:prstGeom prst="roundRect">
            <a:avLst>
              <a:gd name="adj" fmla="val 20000"/>
            </a:avLst>
          </a:prstGeom>
          <a:solidFill>
            <a:schemeClr val="bg1"/>
          </a:solidFill>
          <a:ln w="25400">
            <a:solidFill>
              <a:schemeClr val="accent3"/>
            </a:solidFill>
            <a:prstDash val="solid"/>
          </a:ln>
        </p:spPr>
      </p:sp>
      <p:sp>
        <p:nvSpPr>
          <p:cNvPr id="8" name="Text 5"/>
          <p:cNvSpPr txBox="1"/>
          <p:nvPr/>
        </p:nvSpPr>
        <p:spPr>
          <a:xfrm>
            <a:off x="1143000" y="1783080"/>
            <a:ext cx="4114800" cy="365760"/>
          </a:xfrm>
          <a:prstGeom prst="rect">
            <a:avLst/>
          </a:prstGeom>
          <a:noFill/>
          <a:ln/>
        </p:spPr>
        <p:txBody>
          <a:bodyPr wrap="square" lIns="0" tIns="0" rIns="0" bIns="0" rtlCol="0" anchor="ctr"/>
          <a:lstStyle/>
          <a:p>
            <a:pPr marL="0" indent="0">
              <a:buNone/>
            </a:pPr>
            <a:r>
              <a:rPr lang="en-US" sz="1600" dirty="0">
                <a:solidFill>
                  <a:schemeClr val="tx1"/>
                </a:solidFill>
              </a:rPr>
              <a:t>Does the problem come from the trait?</a:t>
            </a:r>
            <a:endParaRPr lang="en-US" sz="1600" dirty="0"/>
          </a:p>
        </p:txBody>
      </p:sp>
      <p:sp>
        <p:nvSpPr>
          <p:cNvPr id="9" name="Checkbox 169"/>
          <p:cNvSpPr/>
          <p:nvPr/>
        </p:nvSpPr>
        <p:spPr>
          <a:xfrm>
            <a:off x="685800" y="2276856"/>
            <a:ext cx="274320" cy="274320"/>
          </a:xfrm>
          <a:prstGeom prst="roundRect">
            <a:avLst>
              <a:gd name="adj" fmla="val 20000"/>
            </a:avLst>
          </a:prstGeom>
          <a:solidFill>
            <a:schemeClr val="bg1"/>
          </a:solidFill>
          <a:ln w="25400">
            <a:solidFill>
              <a:schemeClr val="accent3"/>
            </a:solidFill>
            <a:prstDash val="solid"/>
          </a:ln>
        </p:spPr>
      </p:sp>
      <p:sp>
        <p:nvSpPr>
          <p:cNvPr id="10" name="Text 7"/>
          <p:cNvSpPr txBox="1"/>
          <p:nvPr/>
        </p:nvSpPr>
        <p:spPr>
          <a:xfrm>
            <a:off x="1143000" y="2240280"/>
            <a:ext cx="4114800" cy="365760"/>
          </a:xfrm>
          <a:prstGeom prst="rect">
            <a:avLst/>
          </a:prstGeom>
          <a:noFill/>
          <a:ln/>
        </p:spPr>
        <p:txBody>
          <a:bodyPr wrap="square" lIns="0" tIns="0" rIns="0" bIns="0" rtlCol="0" anchor="ctr"/>
          <a:lstStyle/>
          <a:p>
            <a:pPr marL="0" indent="0">
              <a:buNone/>
            </a:pPr>
            <a:r>
              <a:rPr lang="en-US" sz="1600" dirty="0">
                <a:solidFill>
                  <a:schemeClr val="tx1"/>
                </a:solidFill>
              </a:rPr>
              <a:t>Did I use because or so?</a:t>
            </a:r>
            <a:endParaRPr lang="en-US" sz="1600" dirty="0"/>
          </a:p>
        </p:txBody>
      </p:sp>
      <p:sp>
        <p:nvSpPr>
          <p:cNvPr id="11" name="Checkbox 170"/>
          <p:cNvSpPr/>
          <p:nvPr/>
        </p:nvSpPr>
        <p:spPr>
          <a:xfrm>
            <a:off x="685800" y="2734056"/>
            <a:ext cx="274320" cy="274320"/>
          </a:xfrm>
          <a:prstGeom prst="roundRect">
            <a:avLst>
              <a:gd name="adj" fmla="val 20000"/>
            </a:avLst>
          </a:prstGeom>
          <a:solidFill>
            <a:schemeClr val="bg1"/>
          </a:solidFill>
          <a:ln w="25400">
            <a:solidFill>
              <a:schemeClr val="accent3"/>
            </a:solidFill>
            <a:prstDash val="solid"/>
          </a:ln>
        </p:spPr>
      </p:sp>
      <p:sp>
        <p:nvSpPr>
          <p:cNvPr id="12" name="Text 9"/>
          <p:cNvSpPr txBox="1"/>
          <p:nvPr/>
        </p:nvSpPr>
        <p:spPr>
          <a:xfrm>
            <a:off x="1143000" y="2697480"/>
            <a:ext cx="4114800" cy="365760"/>
          </a:xfrm>
          <a:prstGeom prst="rect">
            <a:avLst/>
          </a:prstGeom>
          <a:noFill/>
          <a:ln/>
        </p:spPr>
        <p:txBody>
          <a:bodyPr wrap="square" lIns="0" tIns="0" rIns="0" bIns="0" rtlCol="0" anchor="ctr"/>
          <a:lstStyle/>
          <a:p>
            <a:pPr marL="0" indent="0">
              <a:buNone/>
            </a:pPr>
            <a:r>
              <a:rPr lang="en-US" sz="1600" dirty="0">
                <a:solidFill>
                  <a:schemeClr val="tx1"/>
                </a:solidFill>
              </a:rPr>
              <a:t>Does Event 1 make it worse?</a:t>
            </a:r>
            <a:endParaRPr lang="en-US" sz="1600" dirty="0"/>
          </a:p>
        </p:txBody>
      </p:sp>
      <p:sp>
        <p:nvSpPr>
          <p:cNvPr id="13" name="Checkbox 171"/>
          <p:cNvSpPr/>
          <p:nvPr/>
        </p:nvSpPr>
        <p:spPr>
          <a:xfrm>
            <a:off x="685800" y="3191256"/>
            <a:ext cx="274320" cy="274320"/>
          </a:xfrm>
          <a:prstGeom prst="roundRect">
            <a:avLst>
              <a:gd name="adj" fmla="val 20000"/>
            </a:avLst>
          </a:prstGeom>
          <a:solidFill>
            <a:schemeClr val="bg1"/>
          </a:solidFill>
          <a:ln w="25400">
            <a:solidFill>
              <a:schemeClr val="accent3"/>
            </a:solidFill>
            <a:prstDash val="solid"/>
          </a:ln>
        </p:spPr>
      </p:sp>
      <p:sp>
        <p:nvSpPr>
          <p:cNvPr id="14" name="Text 11"/>
          <p:cNvSpPr txBox="1"/>
          <p:nvPr/>
        </p:nvSpPr>
        <p:spPr>
          <a:xfrm>
            <a:off x="1143000" y="3154680"/>
            <a:ext cx="4114800" cy="365760"/>
          </a:xfrm>
          <a:prstGeom prst="rect">
            <a:avLst/>
          </a:prstGeom>
          <a:noFill/>
          <a:ln/>
        </p:spPr>
        <p:txBody>
          <a:bodyPr wrap="square" lIns="0" tIns="0" rIns="0" bIns="0" rtlCol="0" anchor="ctr"/>
          <a:lstStyle/>
          <a:p>
            <a:pPr marL="0" indent="0">
              <a:buNone/>
            </a:pPr>
            <a:r>
              <a:rPr lang="en-US" sz="1600" dirty="0">
                <a:solidFill>
                  <a:schemeClr val="tx1"/>
                </a:solidFill>
              </a:rPr>
              <a:t>Does my character feel something?</a:t>
            </a:r>
            <a:endParaRPr lang="en-US" sz="1600" dirty="0"/>
          </a:p>
        </p:txBody>
      </p:sp>
      <p:sp>
        <p:nvSpPr>
          <p:cNvPr id="15" name="Checkbox 172"/>
          <p:cNvSpPr/>
          <p:nvPr/>
        </p:nvSpPr>
        <p:spPr>
          <a:xfrm>
            <a:off x="685800" y="3648456"/>
            <a:ext cx="274320" cy="274320"/>
          </a:xfrm>
          <a:prstGeom prst="roundRect">
            <a:avLst>
              <a:gd name="adj" fmla="val 20000"/>
            </a:avLst>
          </a:prstGeom>
          <a:solidFill>
            <a:schemeClr val="bg1"/>
          </a:solidFill>
          <a:ln w="25400">
            <a:solidFill>
              <a:schemeClr val="accent6"/>
            </a:solidFill>
            <a:prstDash val="solid"/>
          </a:ln>
        </p:spPr>
      </p:sp>
      <p:sp>
        <p:nvSpPr>
          <p:cNvPr id="16" name="Text 13"/>
          <p:cNvSpPr txBox="1"/>
          <p:nvPr/>
        </p:nvSpPr>
        <p:spPr>
          <a:xfrm>
            <a:off x="1143000" y="3611880"/>
            <a:ext cx="4114800" cy="365760"/>
          </a:xfrm>
          <a:prstGeom prst="rect">
            <a:avLst/>
          </a:prstGeom>
          <a:noFill/>
          <a:ln/>
        </p:spPr>
        <p:txBody>
          <a:bodyPr wrap="square" lIns="0" tIns="0" rIns="0" bIns="0" rtlCol="0" anchor="ctr"/>
          <a:lstStyle/>
          <a:p>
            <a:pPr marL="0" indent="0">
              <a:buNone/>
            </a:pPr>
            <a:r>
              <a:rPr lang="en-US" sz="1600" b="1" dirty="0">
                <a:solidFill>
                  <a:schemeClr val="accent6"/>
                </a:solidFill>
              </a:rPr>
              <a:t>Did I stop before the big choice?</a:t>
            </a:r>
            <a:endParaRPr lang="en-US" sz="1600" dirty="0"/>
          </a:p>
        </p:txBody>
      </p:sp>
      <p:sp>
        <p:nvSpPr>
          <p:cNvPr id="17" name="Card 173"/>
          <p:cNvSpPr/>
          <p:nvPr/>
        </p:nvSpPr>
        <p:spPr>
          <a:xfrm>
            <a:off x="5669280" y="1188720"/>
            <a:ext cx="3017520" cy="3337560"/>
          </a:xfrm>
          <a:prstGeom prst="roundRect">
            <a:avLst>
              <a:gd name="adj" fmla="val 3636"/>
            </a:avLst>
          </a:prstGeom>
          <a:solidFill>
            <a:schemeClr val="tx2"/>
          </a:solidFill>
          <a:ln/>
          <a:effectLst>
            <a:outerShdw blurRad="101600" dist="25400" dir="5400000" algn="bl" rotWithShape="0">
              <a:srgbClr val="000000">
                <a:alpha val="16000"/>
              </a:srgbClr>
            </a:outerShdw>
          </a:effectLst>
        </p:spPr>
      </p:sp>
      <p:sp>
        <p:nvSpPr>
          <p:cNvPr id="18" name="Text 15"/>
          <p:cNvSpPr txBox="1"/>
          <p:nvPr/>
        </p:nvSpPr>
        <p:spPr>
          <a:xfrm>
            <a:off x="5669280" y="1325880"/>
            <a:ext cx="3017520" cy="1280160"/>
          </a:xfrm>
          <a:prstGeom prst="rect">
            <a:avLst/>
          </a:prstGeom>
          <a:noFill/>
          <a:ln/>
        </p:spPr>
        <p:txBody>
          <a:bodyPr wrap="square" lIns="0" tIns="0" rIns="0" bIns="0" rtlCol="0" anchor="ctr"/>
          <a:lstStyle/>
          <a:p>
            <a:pPr marL="0" indent="0" algn="ctr">
              <a:buNone/>
            </a:pPr>
            <a:r>
              <a:rPr lang="en-US" sz="7200" b="1" dirty="0">
                <a:solidFill>
                  <a:schemeClr val="bg1"/>
                </a:solidFill>
                <a:latin typeface="Cambria" pitchFamily="34" charset="0"/>
                <a:ea typeface="Cambria" pitchFamily="34" charset="-122"/>
                <a:cs typeface="Cambria" pitchFamily="34" charset="-120"/>
              </a:rPr>
              <a:t>2</a:t>
            </a:r>
            <a:endParaRPr lang="en-US" sz="7200" dirty="0"/>
          </a:p>
        </p:txBody>
      </p:sp>
      <p:sp>
        <p:nvSpPr>
          <p:cNvPr id="19" name="Text 16"/>
          <p:cNvSpPr txBox="1"/>
          <p:nvPr/>
        </p:nvSpPr>
        <p:spPr>
          <a:xfrm>
            <a:off x="5852160" y="2697480"/>
            <a:ext cx="2651760" cy="1737360"/>
          </a:xfrm>
          <a:prstGeom prst="rect">
            <a:avLst/>
          </a:prstGeom>
          <a:noFill/>
          <a:ln/>
        </p:spPr>
        <p:txBody>
          <a:bodyPr wrap="square" lIns="0" tIns="0" rIns="0" bIns="0" rtlCol="0" anchor="t"/>
          <a:lstStyle/>
          <a:p>
            <a:pPr marL="0" indent="0" algn="ctr">
              <a:buNone/>
            </a:pPr>
            <a:r>
              <a:rPr lang="en-US" sz="1600" dirty="0">
                <a:solidFill>
                  <a:schemeClr val="bg1"/>
                </a:solidFill>
              </a:rPr>
              <a:t>minutes</a:t>
            </a:r>
            <a:endParaRPr lang="en-US" sz="1600" dirty="0"/>
          </a:p>
          <a:p>
            <a:pPr marL="0" indent="0" algn="ctr">
              <a:buNone/>
            </a:pPr>
            <a:r>
              <a:rPr lang="en-US" sz="1600" dirty="0">
                <a:solidFill>
                  <a:schemeClr val="bg1"/>
                </a:solidFill>
              </a:rPr>
              <a:t>Fix ONE thing</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Edit with a partner</a:t>
            </a:r>
            <a:endParaRPr lang="en-US" sz="3400" dirty="0"/>
          </a:p>
        </p:txBody>
      </p:sp>
      <p:sp>
        <p:nvSpPr>
          <p:cNvPr id="3" name="Badge 174"/>
          <p:cNvSpPr/>
          <p:nvPr/>
        </p:nvSpPr>
        <p:spPr>
          <a:xfrm>
            <a:off x="7955280" y="274320"/>
            <a:ext cx="731520" cy="731520"/>
          </a:xfrm>
          <a:prstGeom prst="ellipse">
            <a:avLst/>
          </a:prstGeom>
          <a:solidFill>
            <a:schemeClr val="accent5"/>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75"/>
          <p:cNvSpPr/>
          <p:nvPr/>
        </p:nvSpPr>
        <p:spPr>
          <a:xfrm>
            <a:off x="457200" y="1188720"/>
            <a:ext cx="493776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98448"/>
            <a:ext cx="44805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Swap books. Find…</a:t>
            </a:r>
            <a:endParaRPr lang="en-US" sz="1900" dirty="0"/>
          </a:p>
        </p:txBody>
      </p:sp>
      <p:sp>
        <p:nvSpPr>
          <p:cNvPr id="7" name="Checkbox 176"/>
          <p:cNvSpPr/>
          <p:nvPr/>
        </p:nvSpPr>
        <p:spPr>
          <a:xfrm>
            <a:off x="685800" y="1819656"/>
            <a:ext cx="274320" cy="274320"/>
          </a:xfrm>
          <a:prstGeom prst="roundRect">
            <a:avLst>
              <a:gd name="adj" fmla="val 20000"/>
            </a:avLst>
          </a:prstGeom>
          <a:solidFill>
            <a:schemeClr val="bg1"/>
          </a:solidFill>
          <a:ln w="25400">
            <a:solidFill>
              <a:schemeClr val="accent3"/>
            </a:solidFill>
            <a:prstDash val="solid"/>
          </a:ln>
        </p:spPr>
      </p:sp>
      <p:sp>
        <p:nvSpPr>
          <p:cNvPr id="8" name="Text 5"/>
          <p:cNvSpPr txBox="1"/>
          <p:nvPr/>
        </p:nvSpPr>
        <p:spPr>
          <a:xfrm>
            <a:off x="1143000" y="1783080"/>
            <a:ext cx="4114800" cy="365760"/>
          </a:xfrm>
          <a:prstGeom prst="rect">
            <a:avLst/>
          </a:prstGeom>
          <a:noFill/>
          <a:ln/>
        </p:spPr>
        <p:txBody>
          <a:bodyPr wrap="square" lIns="0" tIns="0" rIns="0" bIns="0" rtlCol="0" anchor="ctr"/>
          <a:lstStyle/>
          <a:p>
            <a:pPr marL="0" indent="0">
              <a:buNone/>
            </a:pPr>
            <a:r>
              <a:rPr lang="en-US" sz="1600" dirty="0">
                <a:solidFill>
                  <a:schemeClr val="tx1"/>
                </a:solidFill>
              </a:rPr>
              <a:t>Trait shown by actions</a:t>
            </a:r>
            <a:endParaRPr lang="en-US" sz="1600" dirty="0"/>
          </a:p>
        </p:txBody>
      </p:sp>
      <p:sp>
        <p:nvSpPr>
          <p:cNvPr id="9" name="Checkbox 177"/>
          <p:cNvSpPr/>
          <p:nvPr/>
        </p:nvSpPr>
        <p:spPr>
          <a:xfrm>
            <a:off x="685800" y="2276856"/>
            <a:ext cx="274320" cy="274320"/>
          </a:xfrm>
          <a:prstGeom prst="roundRect">
            <a:avLst>
              <a:gd name="adj" fmla="val 20000"/>
            </a:avLst>
          </a:prstGeom>
          <a:solidFill>
            <a:schemeClr val="bg1"/>
          </a:solidFill>
          <a:ln w="25400">
            <a:solidFill>
              <a:schemeClr val="accent3"/>
            </a:solidFill>
            <a:prstDash val="solid"/>
          </a:ln>
        </p:spPr>
      </p:sp>
      <p:sp>
        <p:nvSpPr>
          <p:cNvPr id="10" name="Text 7"/>
          <p:cNvSpPr txBox="1"/>
          <p:nvPr/>
        </p:nvSpPr>
        <p:spPr>
          <a:xfrm>
            <a:off x="1143000" y="2240280"/>
            <a:ext cx="4114800" cy="365760"/>
          </a:xfrm>
          <a:prstGeom prst="rect">
            <a:avLst/>
          </a:prstGeom>
          <a:noFill/>
          <a:ln/>
        </p:spPr>
        <p:txBody>
          <a:bodyPr wrap="square" lIns="0" tIns="0" rIns="0" bIns="0" rtlCol="0" anchor="ctr"/>
          <a:lstStyle/>
          <a:p>
            <a:pPr marL="0" indent="0">
              <a:buNone/>
            </a:pPr>
            <a:r>
              <a:rPr lang="en-US" sz="1600" dirty="0">
                <a:solidFill>
                  <a:schemeClr val="tx1"/>
                </a:solidFill>
              </a:rPr>
              <a:t>A because or so link</a:t>
            </a:r>
            <a:endParaRPr lang="en-US" sz="1600" dirty="0"/>
          </a:p>
        </p:txBody>
      </p:sp>
      <p:sp>
        <p:nvSpPr>
          <p:cNvPr id="11" name="Checkbox 178"/>
          <p:cNvSpPr/>
          <p:nvPr/>
        </p:nvSpPr>
        <p:spPr>
          <a:xfrm>
            <a:off x="685800" y="2734056"/>
            <a:ext cx="274320" cy="274320"/>
          </a:xfrm>
          <a:prstGeom prst="roundRect">
            <a:avLst>
              <a:gd name="adj" fmla="val 20000"/>
            </a:avLst>
          </a:prstGeom>
          <a:solidFill>
            <a:schemeClr val="bg1"/>
          </a:solidFill>
          <a:ln w="25400">
            <a:solidFill>
              <a:schemeClr val="accent3"/>
            </a:solidFill>
            <a:prstDash val="solid"/>
          </a:ln>
        </p:spPr>
      </p:sp>
      <p:sp>
        <p:nvSpPr>
          <p:cNvPr id="12" name="Text 9"/>
          <p:cNvSpPr txBox="1"/>
          <p:nvPr/>
        </p:nvSpPr>
        <p:spPr>
          <a:xfrm>
            <a:off x="1143000" y="2697480"/>
            <a:ext cx="4114800" cy="365760"/>
          </a:xfrm>
          <a:prstGeom prst="rect">
            <a:avLst/>
          </a:prstGeom>
          <a:noFill/>
          <a:ln/>
        </p:spPr>
        <p:txBody>
          <a:bodyPr wrap="square" lIns="0" tIns="0" rIns="0" bIns="0" rtlCol="0" anchor="ctr"/>
          <a:lstStyle/>
          <a:p>
            <a:pPr marL="0" indent="0">
              <a:buNone/>
            </a:pPr>
            <a:r>
              <a:rPr lang="en-US" sz="1600" dirty="0">
                <a:solidFill>
                  <a:schemeClr val="tx1"/>
                </a:solidFill>
              </a:rPr>
              <a:t>Event 1 makes it worse</a:t>
            </a:r>
            <a:endParaRPr lang="en-US" sz="1600" dirty="0"/>
          </a:p>
        </p:txBody>
      </p:sp>
      <p:sp>
        <p:nvSpPr>
          <p:cNvPr id="13" name="Checkbox 179"/>
          <p:cNvSpPr/>
          <p:nvPr/>
        </p:nvSpPr>
        <p:spPr>
          <a:xfrm>
            <a:off x="685800" y="3191256"/>
            <a:ext cx="274320" cy="274320"/>
          </a:xfrm>
          <a:prstGeom prst="roundRect">
            <a:avLst>
              <a:gd name="adj" fmla="val 20000"/>
            </a:avLst>
          </a:prstGeom>
          <a:solidFill>
            <a:schemeClr val="bg1"/>
          </a:solidFill>
          <a:ln w="25400">
            <a:solidFill>
              <a:schemeClr val="accent3"/>
            </a:solidFill>
            <a:prstDash val="solid"/>
          </a:ln>
        </p:spPr>
      </p:sp>
      <p:sp>
        <p:nvSpPr>
          <p:cNvPr id="14" name="Text 11"/>
          <p:cNvSpPr txBox="1"/>
          <p:nvPr/>
        </p:nvSpPr>
        <p:spPr>
          <a:xfrm>
            <a:off x="1143000" y="3154680"/>
            <a:ext cx="4114800" cy="365760"/>
          </a:xfrm>
          <a:prstGeom prst="rect">
            <a:avLst/>
          </a:prstGeom>
          <a:noFill/>
          <a:ln/>
        </p:spPr>
        <p:txBody>
          <a:bodyPr wrap="square" lIns="0" tIns="0" rIns="0" bIns="0" rtlCol="0" anchor="ctr"/>
          <a:lstStyle/>
          <a:p>
            <a:pPr marL="0" indent="0">
              <a:buNone/>
            </a:pPr>
            <a:r>
              <a:rPr lang="en-US" sz="1600" dirty="0">
                <a:solidFill>
                  <a:schemeClr val="tx1"/>
                </a:solidFill>
              </a:rPr>
              <a:t>Capital letters and full stops</a:t>
            </a:r>
            <a:endParaRPr lang="en-US" sz="1600" dirty="0"/>
          </a:p>
        </p:txBody>
      </p:sp>
      <p:sp>
        <p:nvSpPr>
          <p:cNvPr id="15" name="Checkbox 180"/>
          <p:cNvSpPr/>
          <p:nvPr/>
        </p:nvSpPr>
        <p:spPr>
          <a:xfrm>
            <a:off x="685800" y="3648456"/>
            <a:ext cx="274320" cy="274320"/>
          </a:xfrm>
          <a:prstGeom prst="roundRect">
            <a:avLst>
              <a:gd name="adj" fmla="val 20000"/>
            </a:avLst>
          </a:prstGeom>
          <a:solidFill>
            <a:schemeClr val="bg1"/>
          </a:solidFill>
          <a:ln w="25400">
            <a:solidFill>
              <a:schemeClr val="accent3"/>
            </a:solidFill>
            <a:prstDash val="solid"/>
          </a:ln>
        </p:spPr>
      </p:sp>
      <p:sp>
        <p:nvSpPr>
          <p:cNvPr id="16" name="Text 13"/>
          <p:cNvSpPr txBox="1"/>
          <p:nvPr/>
        </p:nvSpPr>
        <p:spPr>
          <a:xfrm>
            <a:off x="1143000" y="3611880"/>
            <a:ext cx="4114800" cy="365760"/>
          </a:xfrm>
          <a:prstGeom prst="rect">
            <a:avLst/>
          </a:prstGeom>
          <a:noFill/>
          <a:ln/>
        </p:spPr>
        <p:txBody>
          <a:bodyPr wrap="square" lIns="0" tIns="0" rIns="0" bIns="0" rtlCol="0" anchor="ctr"/>
          <a:lstStyle/>
          <a:p>
            <a:pPr marL="0" indent="0">
              <a:buNone/>
            </a:pPr>
            <a:r>
              <a:rPr lang="en-US" sz="1600" dirty="0">
                <a:solidFill>
                  <a:schemeClr val="tx1"/>
                </a:solidFill>
              </a:rPr>
              <a:t>One sentence to upgrade</a:t>
            </a:r>
            <a:endParaRPr lang="en-US" sz="1600" dirty="0"/>
          </a:p>
        </p:txBody>
      </p:sp>
      <p:sp>
        <p:nvSpPr>
          <p:cNvPr id="17" name="Card 181"/>
          <p:cNvSpPr/>
          <p:nvPr/>
        </p:nvSpPr>
        <p:spPr>
          <a:xfrm>
            <a:off x="5669280" y="1188720"/>
            <a:ext cx="3017520" cy="3337560"/>
          </a:xfrm>
          <a:prstGeom prst="roundRect">
            <a:avLst>
              <a:gd name="adj" fmla="val 3636"/>
            </a:avLst>
          </a:prstGeom>
          <a:solidFill>
            <a:schemeClr val="accent2"/>
          </a:solidFill>
          <a:ln/>
          <a:effectLst>
            <a:outerShdw blurRad="101600" dist="25400" dir="5400000" algn="bl" rotWithShape="0">
              <a:srgbClr val="000000">
                <a:alpha val="16000"/>
              </a:srgbClr>
            </a:outerShdw>
          </a:effectLst>
        </p:spPr>
      </p:sp>
      <p:sp>
        <p:nvSpPr>
          <p:cNvPr id="18" name="Text 15"/>
          <p:cNvSpPr txBox="1"/>
          <p:nvPr/>
        </p:nvSpPr>
        <p:spPr>
          <a:xfrm>
            <a:off x="5852160" y="1371600"/>
            <a:ext cx="2651760" cy="3017520"/>
          </a:xfrm>
          <a:prstGeom prst="rect">
            <a:avLst/>
          </a:prstGeom>
          <a:noFill/>
          <a:ln/>
        </p:spPr>
        <p:txBody>
          <a:bodyPr wrap="square" lIns="0" tIns="0" rIns="0" bIns="0" rtlCol="0" anchor="t"/>
          <a:lstStyle/>
          <a:p>
            <a:pPr marL="0" indent="0">
              <a:buNone/>
            </a:pPr>
            <a:r>
              <a:rPr lang="en-US" sz="1700" dirty="0">
                <a:solidFill>
                  <a:schemeClr val="tx2"/>
                </a:solidFill>
              </a:rPr>
              <a:t>Give one tick and one idea.</a:t>
            </a:r>
            <a:endParaRPr lang="en-US" sz="1700" dirty="0"/>
          </a:p>
          <a:p>
            <a:pPr marL="0" indent="0">
              <a:buNone/>
            </a:pPr>
            <a:endParaRPr lang="en-US" sz="1700" dirty="0"/>
          </a:p>
          <a:p>
            <a:pPr marL="0" indent="0">
              <a:buNone/>
            </a:pPr>
            <a:r>
              <a:rPr lang="en-US" sz="1700" dirty="0">
                <a:solidFill>
                  <a:schemeClr val="tx2"/>
                </a:solidFill>
              </a:rPr>
              <a:t>“I like…”</a:t>
            </a:r>
            <a:endParaRPr lang="en-US" sz="1700" dirty="0"/>
          </a:p>
          <a:p>
            <a:pPr marL="0" indent="0">
              <a:buNone/>
            </a:pPr>
            <a:endParaRPr lang="en-US" sz="1700" dirty="0"/>
          </a:p>
          <a:p>
            <a:pPr marL="0" indent="0">
              <a:buNone/>
            </a:pPr>
            <a:r>
              <a:rPr lang="en-US" sz="1700" dirty="0">
                <a:solidFill>
                  <a:schemeClr val="tx2"/>
                </a:solidFill>
              </a:rPr>
              <a:t>“You could add…”</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Upgrade one sentence</a:t>
            </a:r>
            <a:endParaRPr lang="en-US" sz="3400" dirty="0"/>
          </a:p>
        </p:txBody>
      </p:sp>
      <p:sp>
        <p:nvSpPr>
          <p:cNvPr id="3" name="Badge 182"/>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83"/>
          <p:cNvSpPr/>
          <p:nvPr/>
        </p:nvSpPr>
        <p:spPr>
          <a:xfrm>
            <a:off x="457200" y="1188720"/>
            <a:ext cx="3657600" cy="2011680"/>
          </a:xfrm>
          <a:prstGeom prst="roundRect">
            <a:avLst>
              <a:gd name="adj" fmla="val 5455"/>
            </a:avLst>
          </a:prstGeom>
          <a:solidFill>
            <a:schemeClr val="accent6">
              <a:alpha val="12000"/>
            </a:schemeClr>
          </a:solidFill>
          <a:ln w="15875">
            <a:solidFill>
              <a:schemeClr val="accent6"/>
            </a:solidFill>
            <a:prstDash val="solid"/>
          </a:ln>
        </p:spPr>
      </p:sp>
      <p:sp>
        <p:nvSpPr>
          <p:cNvPr id="6" name="Chip 184"/>
          <p:cNvSpPr/>
          <p:nvPr/>
        </p:nvSpPr>
        <p:spPr>
          <a:xfrm>
            <a:off x="640080" y="1325880"/>
            <a:ext cx="1280160" cy="292608"/>
          </a:xfrm>
          <a:prstGeom prst="roundRect">
            <a:avLst>
              <a:gd name="adj" fmla="val 50000"/>
            </a:avLst>
          </a:prstGeom>
          <a:solidFill>
            <a:schemeClr val="accent6"/>
          </a:solidFill>
          <a:ln/>
        </p:spPr>
      </p:sp>
      <p:sp>
        <p:nvSpPr>
          <p:cNvPr id="7" name="Text 4"/>
          <p:cNvSpPr txBox="1"/>
          <p:nvPr/>
        </p:nvSpPr>
        <p:spPr>
          <a:xfrm>
            <a:off x="640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UPGRADE THIS</a:t>
            </a:r>
            <a:endParaRPr lang="en-US" sz="1200" dirty="0"/>
          </a:p>
        </p:txBody>
      </p:sp>
      <p:sp>
        <p:nvSpPr>
          <p:cNvPr id="8" name="Text 5"/>
          <p:cNvSpPr txBox="1"/>
          <p:nvPr/>
        </p:nvSpPr>
        <p:spPr>
          <a:xfrm>
            <a:off x="640080" y="1783080"/>
            <a:ext cx="3291840" cy="13258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Geoffrey was hungry.</a:t>
            </a:r>
            <a:endParaRPr lang="en-US" sz="2400" dirty="0"/>
          </a:p>
        </p:txBody>
      </p:sp>
      <p:sp>
        <p:nvSpPr>
          <p:cNvPr id="9" name="Card 185"/>
          <p:cNvSpPr/>
          <p:nvPr/>
        </p:nvSpPr>
        <p:spPr>
          <a:xfrm>
            <a:off x="5029200" y="1188720"/>
            <a:ext cx="3657600" cy="2011680"/>
          </a:xfrm>
          <a:prstGeom prst="roundRect">
            <a:avLst>
              <a:gd name="adj" fmla="val 5455"/>
            </a:avLst>
          </a:prstGeom>
          <a:solidFill>
            <a:schemeClr val="accent4">
              <a:alpha val="12000"/>
            </a:schemeClr>
          </a:solidFill>
          <a:ln w="15875">
            <a:solidFill>
              <a:schemeClr val="accent4"/>
            </a:solidFill>
            <a:prstDash val="solid"/>
          </a:ln>
        </p:spPr>
      </p:sp>
      <p:sp>
        <p:nvSpPr>
          <p:cNvPr id="10" name="Chip 186"/>
          <p:cNvSpPr/>
          <p:nvPr/>
        </p:nvSpPr>
        <p:spPr>
          <a:xfrm>
            <a:off x="5212080" y="1325880"/>
            <a:ext cx="1280160" cy="292608"/>
          </a:xfrm>
          <a:prstGeom prst="roundRect">
            <a:avLst>
              <a:gd name="adj" fmla="val 50000"/>
            </a:avLst>
          </a:prstGeom>
          <a:solidFill>
            <a:schemeClr val="accent4"/>
          </a:solidFill>
          <a:ln/>
        </p:spPr>
      </p:sp>
      <p:sp>
        <p:nvSpPr>
          <p:cNvPr id="11" name="Text 8"/>
          <p:cNvSpPr txBox="1"/>
          <p:nvPr/>
        </p:nvSpPr>
        <p:spPr>
          <a:xfrm>
            <a:off x="5212080" y="1325880"/>
            <a:ext cx="1280160" cy="292608"/>
          </a:xfrm>
          <a:prstGeom prst="rect">
            <a:avLst/>
          </a:prstGeom>
          <a:noFill/>
          <a:ln/>
        </p:spPr>
        <p:txBody>
          <a:bodyPr wrap="square" lIns="0" tIns="0" rIns="0" bIns="0" rtlCol="0" anchor="ctr"/>
          <a:lstStyle/>
          <a:p>
            <a:pPr marL="0" indent="0" algn="ctr">
              <a:buNone/>
            </a:pPr>
            <a:r>
              <a:rPr lang="en-US" sz="1200" b="1" dirty="0">
                <a:solidFill>
                  <a:schemeClr val="bg1"/>
                </a:solidFill>
              </a:rPr>
              <a:t>USE</a:t>
            </a:r>
            <a:endParaRPr lang="en-US" sz="1200" dirty="0"/>
          </a:p>
        </p:txBody>
      </p:sp>
      <p:sp>
        <p:nvSpPr>
          <p:cNvPr id="12" name="Text 9"/>
          <p:cNvSpPr txBox="1"/>
          <p:nvPr/>
        </p:nvSpPr>
        <p:spPr>
          <a:xfrm>
            <a:off x="5212080" y="1783080"/>
            <a:ext cx="3291840" cy="1325880"/>
          </a:xfrm>
          <a:prstGeom prst="rect">
            <a:avLst/>
          </a:prstGeom>
          <a:noFill/>
          <a:ln/>
        </p:spPr>
        <p:txBody>
          <a:bodyPr wrap="square" lIns="0" tIns="0" rIns="0" bIns="0" rtlCol="0" anchor="ctr"/>
          <a:lstStyle/>
          <a:p>
            <a:pPr marL="0" indent="0">
              <a:buNone/>
            </a:pPr>
            <a:r>
              <a:rPr lang="en-US" sz="1700" b="1" dirty="0">
                <a:solidFill>
                  <a:schemeClr val="tx1"/>
                </a:solidFill>
                <a:latin typeface="Cambria" pitchFamily="34" charset="0"/>
                <a:ea typeface="Cambria" pitchFamily="34" charset="-122"/>
                <a:cs typeface="Cambria" pitchFamily="34" charset="-120"/>
              </a:rPr>
              <a:t>a strong verb, a detail, or a feeling shown by the body</a:t>
            </a:r>
            <a:endParaRPr lang="en-US" sz="1700" dirty="0"/>
          </a:p>
        </p:txBody>
      </p:sp>
      <p:sp>
        <p:nvSpPr>
          <p:cNvPr id="13" name="Arrow"/>
          <p:cNvSpPr/>
          <p:nvPr/>
        </p:nvSpPr>
        <p:spPr>
          <a:xfrm>
            <a:off x="4224528" y="1920240"/>
            <a:ext cx="694944" cy="457200"/>
          </a:xfrm>
          <a:prstGeom prst="rightArrow">
            <a:avLst/>
          </a:prstGeom>
          <a:solidFill>
            <a:schemeClr val="accent2"/>
          </a:solidFill>
          <a:ln/>
        </p:spPr>
      </p:sp>
      <p:sp>
        <p:nvSpPr>
          <p:cNvPr id="14" name="Card 187"/>
          <p:cNvSpPr/>
          <p:nvPr/>
        </p:nvSpPr>
        <p:spPr>
          <a:xfrm>
            <a:off x="457200" y="3429000"/>
            <a:ext cx="8229600" cy="502920"/>
          </a:xfrm>
          <a:prstGeom prst="roundRect">
            <a:avLst>
              <a:gd name="adj" fmla="val 21818"/>
            </a:avLst>
          </a:prstGeom>
          <a:solidFill>
            <a:schemeClr val="accent2"/>
          </a:solidFill>
          <a:ln/>
        </p:spPr>
      </p:sp>
      <p:sp>
        <p:nvSpPr>
          <p:cNvPr id="15" name="Text 12"/>
          <p:cNvSpPr txBox="1"/>
          <p:nvPr/>
        </p:nvSpPr>
        <p:spPr>
          <a:xfrm>
            <a:off x="640080" y="3429000"/>
            <a:ext cx="7863840" cy="502920"/>
          </a:xfrm>
          <a:prstGeom prst="rect">
            <a:avLst/>
          </a:prstGeom>
          <a:noFill/>
          <a:ln/>
        </p:spPr>
        <p:txBody>
          <a:bodyPr wrap="square" lIns="0" tIns="0" rIns="0" bIns="0" rtlCol="0" anchor="ctr"/>
          <a:lstStyle/>
          <a:p>
            <a:pPr marL="0" indent="0">
              <a:buNone/>
            </a:pPr>
            <a:r>
              <a:rPr lang="en-US" sz="1700" b="1" dirty="0">
                <a:solidFill>
                  <a:schemeClr val="tx2"/>
                </a:solidFill>
              </a:rPr>
              <a:t>Rewrite the sentence on your whiteboard. 2 minutes.</a:t>
            </a:r>
            <a:endParaRPr lang="en-US" sz="1700" dirty="0"/>
          </a:p>
        </p:txBody>
      </p:sp>
      <p:sp>
        <p:nvSpPr>
          <p:cNvPr id="16" name="Card 188"/>
          <p:cNvSpPr/>
          <p:nvPr/>
        </p:nvSpPr>
        <p:spPr>
          <a:xfrm>
            <a:off x="457200" y="4023360"/>
            <a:ext cx="8229600" cy="502920"/>
          </a:xfrm>
          <a:prstGeom prst="roundRect">
            <a:avLst>
              <a:gd name="adj" fmla="val 21818"/>
            </a:avLst>
          </a:prstGeom>
          <a:solidFill>
            <a:schemeClr val="tx2"/>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700" b="1" dirty="0">
                <a:solidFill>
                  <a:schemeClr val="accent2"/>
                </a:solidFill>
              </a:rPr>
              <a:t>Challenge: </a:t>
            </a:r>
            <a:r>
              <a:rPr lang="en-US" sz="1700" dirty="0">
                <a:solidFill>
                  <a:schemeClr val="bg1"/>
                </a:solidFill>
              </a:rPr>
              <a:t>improve ONE sentence in your own writing.</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upgraded sentences</a:t>
            </a:r>
            <a:endParaRPr lang="en-US" sz="3400" dirty="0"/>
          </a:p>
        </p:txBody>
      </p:sp>
      <p:sp>
        <p:nvSpPr>
          <p:cNvPr id="3" name="Badge 189"/>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90"/>
          <p:cNvSpPr/>
          <p:nvPr/>
        </p:nvSpPr>
        <p:spPr>
          <a:xfrm>
            <a:off x="457200" y="1188720"/>
            <a:ext cx="8229600" cy="804672"/>
          </a:xfrm>
          <a:prstGeom prst="roundRect">
            <a:avLst>
              <a:gd name="adj" fmla="val 13636"/>
            </a:avLst>
          </a:prstGeom>
          <a:solidFill>
            <a:schemeClr val="bg2"/>
          </a:solidFill>
          <a:ln/>
        </p:spPr>
      </p:sp>
      <p:sp>
        <p:nvSpPr>
          <p:cNvPr id="6" name="Tick 191"/>
          <p:cNvSpPr/>
          <p:nvPr/>
        </p:nvSpPr>
        <p:spPr>
          <a:xfrm>
            <a:off x="640080" y="1362456"/>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472184"/>
            <a:ext cx="237744" cy="237744"/>
          </a:xfrm>
          <a:prstGeom prst="rect">
            <a:avLst/>
          </a:prstGeom>
        </p:spPr>
      </p:pic>
      <p:sp>
        <p:nvSpPr>
          <p:cNvPr id="8" name="Text 4"/>
          <p:cNvSpPr txBox="1"/>
          <p:nvPr/>
        </p:nvSpPr>
        <p:spPr>
          <a:xfrm>
            <a:off x="1325880" y="1188720"/>
            <a:ext cx="7178040" cy="804672"/>
          </a:xfrm>
          <a:prstGeom prst="rect">
            <a:avLst/>
          </a:prstGeom>
          <a:noFill/>
          <a:ln/>
        </p:spPr>
        <p:txBody>
          <a:bodyPr wrap="square" lIns="0" tIns="0" rIns="0" bIns="0" rtlCol="0" anchor="ctr"/>
          <a:lstStyle/>
          <a:p>
            <a:pPr marL="0" indent="0">
              <a:buNone/>
            </a:pPr>
            <a:r>
              <a:rPr lang="en-US" sz="1700" dirty="0">
                <a:solidFill>
                  <a:schemeClr val="tx1"/>
                </a:solidFill>
              </a:rPr>
              <a:t>Geoffrey's tummy rumbled as the cold wind blew.</a:t>
            </a:r>
            <a:endParaRPr lang="en-US" sz="1700" dirty="0"/>
          </a:p>
        </p:txBody>
      </p:sp>
      <p:sp>
        <p:nvSpPr>
          <p:cNvPr id="9" name="Card 192"/>
          <p:cNvSpPr/>
          <p:nvPr/>
        </p:nvSpPr>
        <p:spPr>
          <a:xfrm>
            <a:off x="457200" y="2103120"/>
            <a:ext cx="8229600" cy="804672"/>
          </a:xfrm>
          <a:prstGeom prst="roundRect">
            <a:avLst>
              <a:gd name="adj" fmla="val 13636"/>
            </a:avLst>
          </a:prstGeom>
          <a:solidFill>
            <a:schemeClr val="bg2"/>
          </a:solidFill>
          <a:ln/>
        </p:spPr>
      </p:sp>
      <p:sp>
        <p:nvSpPr>
          <p:cNvPr id="10" name="Tick 193"/>
          <p:cNvSpPr/>
          <p:nvPr/>
        </p:nvSpPr>
        <p:spPr>
          <a:xfrm>
            <a:off x="640080" y="2276856"/>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386584"/>
            <a:ext cx="237744" cy="237744"/>
          </a:xfrm>
          <a:prstGeom prst="rect">
            <a:avLst/>
          </a:prstGeom>
        </p:spPr>
      </p:pic>
      <p:sp>
        <p:nvSpPr>
          <p:cNvPr id="12" name="Text 7"/>
          <p:cNvSpPr txBox="1"/>
          <p:nvPr/>
        </p:nvSpPr>
        <p:spPr>
          <a:xfrm>
            <a:off x="1325880" y="2103120"/>
            <a:ext cx="7178040" cy="804672"/>
          </a:xfrm>
          <a:prstGeom prst="rect">
            <a:avLst/>
          </a:prstGeom>
          <a:noFill/>
          <a:ln/>
        </p:spPr>
        <p:txBody>
          <a:bodyPr wrap="square" lIns="0" tIns="0" rIns="0" bIns="0" rtlCol="0" anchor="ctr"/>
          <a:lstStyle/>
          <a:p>
            <a:pPr marL="0" indent="0">
              <a:buNone/>
            </a:pPr>
            <a:r>
              <a:rPr lang="en-US" sz="1700" dirty="0">
                <a:solidFill>
                  <a:schemeClr val="tx1"/>
                </a:solidFill>
              </a:rPr>
              <a:t>Geoffrey shivered and held his empty tummy.</a:t>
            </a:r>
            <a:endParaRPr lang="en-US" sz="1700" dirty="0"/>
          </a:p>
        </p:txBody>
      </p:sp>
      <p:sp>
        <p:nvSpPr>
          <p:cNvPr id="13" name="Card 194"/>
          <p:cNvSpPr/>
          <p:nvPr/>
        </p:nvSpPr>
        <p:spPr>
          <a:xfrm>
            <a:off x="457200" y="3017520"/>
            <a:ext cx="8229600" cy="804672"/>
          </a:xfrm>
          <a:prstGeom prst="roundRect">
            <a:avLst>
              <a:gd name="adj" fmla="val 13636"/>
            </a:avLst>
          </a:prstGeom>
          <a:solidFill>
            <a:schemeClr val="bg2"/>
          </a:solidFill>
          <a:ln/>
        </p:spPr>
      </p:sp>
      <p:sp>
        <p:nvSpPr>
          <p:cNvPr id="14" name="Tick 195"/>
          <p:cNvSpPr/>
          <p:nvPr/>
        </p:nvSpPr>
        <p:spPr>
          <a:xfrm>
            <a:off x="640080" y="3191256"/>
            <a:ext cx="457200" cy="457200"/>
          </a:xfrm>
          <a:prstGeom prst="ellipse">
            <a:avLst/>
          </a:prstGeom>
          <a:solidFill>
            <a:schemeClr val="accent3"/>
          </a:solidFill>
          <a:ln/>
        </p:spPr>
      </p:sp>
      <p:pic>
        <p:nvPicPr>
          <p:cNvPr id="15" name="Image 3" descr="Tick"/>
          <p:cNvPicPr>
            <a:picLocks noChangeAspect="1"/>
          </p:cNvPicPr>
          <p:nvPr/>
        </p:nvPicPr>
        <p:blipFill>
          <a:blip r:embed="rId3"/>
          <a:stretch>
            <a:fillRect/>
          </a:stretch>
        </p:blipFill>
        <p:spPr>
          <a:xfrm>
            <a:off x="749808" y="3300984"/>
            <a:ext cx="237744" cy="237744"/>
          </a:xfrm>
          <a:prstGeom prst="rect">
            <a:avLst/>
          </a:prstGeom>
        </p:spPr>
      </p:pic>
      <p:sp>
        <p:nvSpPr>
          <p:cNvPr id="16" name="Text 10"/>
          <p:cNvSpPr txBox="1"/>
          <p:nvPr/>
        </p:nvSpPr>
        <p:spPr>
          <a:xfrm>
            <a:off x="1325880" y="3017520"/>
            <a:ext cx="7178040" cy="804672"/>
          </a:xfrm>
          <a:prstGeom prst="rect">
            <a:avLst/>
          </a:prstGeom>
          <a:noFill/>
          <a:ln/>
        </p:spPr>
        <p:txBody>
          <a:bodyPr wrap="square" lIns="0" tIns="0" rIns="0" bIns="0" rtlCol="0" anchor="ctr"/>
          <a:lstStyle/>
          <a:p>
            <a:pPr marL="0" indent="0">
              <a:buNone/>
            </a:pPr>
            <a:r>
              <a:rPr lang="en-US" sz="1700" dirty="0">
                <a:solidFill>
                  <a:schemeClr val="tx1"/>
                </a:solidFill>
              </a:rPr>
              <a:t>Geoffrey stared at his empty cupboard and sighed.</a:t>
            </a:r>
            <a:endParaRPr lang="en-US" sz="1700" dirty="0"/>
          </a:p>
        </p:txBody>
      </p:sp>
      <p:sp>
        <p:nvSpPr>
          <p:cNvPr id="17" name="Card 196"/>
          <p:cNvSpPr/>
          <p:nvPr/>
        </p:nvSpPr>
        <p:spPr>
          <a:xfrm>
            <a:off x="457200" y="4114800"/>
            <a:ext cx="8229600" cy="457200"/>
          </a:xfrm>
          <a:prstGeom prst="roundRect">
            <a:avLst>
              <a:gd name="adj" fmla="val 24000"/>
            </a:avLst>
          </a:prstGeom>
          <a:solidFill>
            <a:schemeClr val="tx2"/>
          </a:solidFill>
          <a:ln/>
        </p:spPr>
      </p:sp>
      <p:sp>
        <p:nvSpPr>
          <p:cNvPr id="18" name="Text 12"/>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600" b="1" dirty="0">
                <a:solidFill>
                  <a:schemeClr val="bg1"/>
                </a:solidFill>
              </a:rPr>
              <a:t>A strong verb, a detail and a feeling make a sentence better.</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How did you do?</a:t>
            </a:r>
            <a:endParaRPr lang="en-US" sz="3400" dirty="0"/>
          </a:p>
        </p:txBody>
      </p:sp>
      <p:sp>
        <p:nvSpPr>
          <p:cNvPr id="3" name="Badge 197"/>
          <p:cNvSpPr/>
          <p:nvPr/>
        </p:nvSpPr>
        <p:spPr>
          <a:xfrm>
            <a:off x="7955280" y="274320"/>
            <a:ext cx="731520" cy="731520"/>
          </a:xfrm>
          <a:prstGeom prst="ellipse">
            <a:avLst/>
          </a:prstGeom>
          <a:solidFill>
            <a:schemeClr val="accent2"/>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198"/>
          <p:cNvSpPr/>
          <p:nvPr/>
        </p:nvSpPr>
        <p:spPr>
          <a:xfrm>
            <a:off x="457200" y="1188720"/>
            <a:ext cx="2621280" cy="2651760"/>
          </a:xfrm>
          <a:prstGeom prst="roundRect">
            <a:avLst>
              <a:gd name="adj" fmla="val 4186"/>
            </a:avLst>
          </a:prstGeom>
          <a:solidFill>
            <a:schemeClr val="bg1"/>
          </a:solidFill>
          <a:ln/>
          <a:effectLst>
            <a:outerShdw blurRad="101600" dist="25400" dir="5400000" algn="bl" rotWithShape="0">
              <a:srgbClr val="000000">
                <a:alpha val="16000"/>
              </a:srgbClr>
            </a:outerShdw>
          </a:effectLst>
        </p:spPr>
      </p:sp>
      <p:sp>
        <p:nvSpPr>
          <p:cNvPr id="6" name="Badge 199"/>
          <p:cNvSpPr/>
          <p:nvPr/>
        </p:nvSpPr>
        <p:spPr>
          <a:xfrm>
            <a:off x="1438656" y="1325880"/>
            <a:ext cx="658368" cy="658368"/>
          </a:xfrm>
          <a:prstGeom prst="ellipse">
            <a:avLst/>
          </a:prstGeom>
          <a:solidFill>
            <a:schemeClr val="accent3"/>
          </a:solidFill>
          <a:ln/>
        </p:spPr>
      </p:sp>
      <p:pic>
        <p:nvPicPr>
          <p:cNvPr id="7" name="Image 1" descr="3  Secure"/>
          <p:cNvPicPr>
            <a:picLocks noChangeAspect="1"/>
          </p:cNvPicPr>
          <p:nvPr/>
        </p:nvPicPr>
        <p:blipFill>
          <a:blip r:embed="rId3"/>
          <a:stretch>
            <a:fillRect/>
          </a:stretch>
        </p:blipFill>
        <p:spPr>
          <a:xfrm>
            <a:off x="1583497" y="1470721"/>
            <a:ext cx="368686" cy="368686"/>
          </a:xfrm>
          <a:prstGeom prst="rect">
            <a:avLst/>
          </a:prstGeom>
        </p:spPr>
      </p:pic>
      <p:sp>
        <p:nvSpPr>
          <p:cNvPr id="8" name="Text 4"/>
          <p:cNvSpPr txBox="1"/>
          <p:nvPr/>
        </p:nvSpPr>
        <p:spPr>
          <a:xfrm>
            <a:off x="53035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3  Secure</a:t>
            </a:r>
            <a:endParaRPr lang="en-US" sz="1800" dirty="0"/>
          </a:p>
        </p:txBody>
      </p:sp>
      <p:sp>
        <p:nvSpPr>
          <p:cNvPr id="9" name="Text 5"/>
          <p:cNvSpPr txBox="1"/>
          <p:nvPr/>
        </p:nvSpPr>
        <p:spPr>
          <a:xfrm>
            <a:off x="566928" y="2560320"/>
            <a:ext cx="2401824" cy="1188720"/>
          </a:xfrm>
          <a:prstGeom prst="rect">
            <a:avLst/>
          </a:prstGeom>
          <a:noFill/>
          <a:ln/>
        </p:spPr>
        <p:txBody>
          <a:bodyPr wrap="square" lIns="0" tIns="0" rIns="0" bIns="0" rtlCol="0" anchor="t"/>
          <a:lstStyle/>
          <a:p>
            <a:pPr marL="0" indent="0" algn="ctr">
              <a:buNone/>
            </a:pPr>
            <a:r>
              <a:rPr lang="en-US" sz="1500" dirty="0">
                <a:solidFill>
                  <a:schemeClr val="tx1"/>
                </a:solidFill>
              </a:rPr>
              <a:t>My problem comes from my trait. I used because or so, and Event 1 makes it worse.</a:t>
            </a:r>
            <a:endParaRPr lang="en-US" sz="1500" dirty="0"/>
          </a:p>
        </p:txBody>
      </p:sp>
      <p:sp>
        <p:nvSpPr>
          <p:cNvPr id="10" name="Card 200"/>
          <p:cNvSpPr/>
          <p:nvPr/>
        </p:nvSpPr>
        <p:spPr>
          <a:xfrm>
            <a:off x="3261360" y="1188720"/>
            <a:ext cx="2621280" cy="2651760"/>
          </a:xfrm>
          <a:prstGeom prst="roundRect">
            <a:avLst>
              <a:gd name="adj" fmla="val 4186"/>
            </a:avLst>
          </a:prstGeom>
          <a:solidFill>
            <a:schemeClr val="bg1"/>
          </a:solidFill>
          <a:ln/>
          <a:effectLst>
            <a:outerShdw blurRad="101600" dist="25400" dir="5400000" algn="bl" rotWithShape="0">
              <a:srgbClr val="000000">
                <a:alpha val="16000"/>
              </a:srgbClr>
            </a:outerShdw>
          </a:effectLst>
        </p:spPr>
      </p:sp>
      <p:sp>
        <p:nvSpPr>
          <p:cNvPr id="11" name="Badge 201"/>
          <p:cNvSpPr/>
          <p:nvPr/>
        </p:nvSpPr>
        <p:spPr>
          <a:xfrm>
            <a:off x="4242816" y="1325880"/>
            <a:ext cx="658368" cy="658368"/>
          </a:xfrm>
          <a:prstGeom prst="ellipse">
            <a:avLst/>
          </a:prstGeom>
          <a:solidFill>
            <a:schemeClr val="accent4"/>
          </a:solidFill>
          <a:ln/>
        </p:spPr>
      </p:sp>
      <p:pic>
        <p:nvPicPr>
          <p:cNvPr id="12" name="Image 2" descr="2  Developing"/>
          <p:cNvPicPr>
            <a:picLocks noChangeAspect="1"/>
          </p:cNvPicPr>
          <p:nvPr/>
        </p:nvPicPr>
        <p:blipFill>
          <a:blip r:embed="rId3"/>
          <a:stretch>
            <a:fillRect/>
          </a:stretch>
        </p:blipFill>
        <p:spPr>
          <a:xfrm>
            <a:off x="4387657" y="1470721"/>
            <a:ext cx="368686" cy="368686"/>
          </a:xfrm>
          <a:prstGeom prst="rect">
            <a:avLst/>
          </a:prstGeom>
        </p:spPr>
      </p:pic>
      <p:sp>
        <p:nvSpPr>
          <p:cNvPr id="13" name="Text 8"/>
          <p:cNvSpPr txBox="1"/>
          <p:nvPr/>
        </p:nvSpPr>
        <p:spPr>
          <a:xfrm>
            <a:off x="333451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2  Developing</a:t>
            </a:r>
            <a:endParaRPr lang="en-US" sz="1800" dirty="0"/>
          </a:p>
        </p:txBody>
      </p:sp>
      <p:sp>
        <p:nvSpPr>
          <p:cNvPr id="14" name="Text 9"/>
          <p:cNvSpPr txBox="1"/>
          <p:nvPr/>
        </p:nvSpPr>
        <p:spPr>
          <a:xfrm>
            <a:off x="3371088" y="2560320"/>
            <a:ext cx="2401824" cy="1188720"/>
          </a:xfrm>
          <a:prstGeom prst="rect">
            <a:avLst/>
          </a:prstGeom>
          <a:noFill/>
          <a:ln/>
        </p:spPr>
        <p:txBody>
          <a:bodyPr wrap="square" lIns="0" tIns="0" rIns="0" bIns="0" rtlCol="0" anchor="t"/>
          <a:lstStyle/>
          <a:p>
            <a:pPr marL="0" indent="0" algn="ctr">
              <a:buNone/>
            </a:pPr>
            <a:r>
              <a:rPr lang="en-US" sz="1500" dirty="0">
                <a:solidFill>
                  <a:schemeClr val="tx1"/>
                </a:solidFill>
              </a:rPr>
              <a:t>I wrote both paragraphs but need to link the trait and problem.</a:t>
            </a:r>
            <a:endParaRPr lang="en-US" sz="1500" dirty="0"/>
          </a:p>
        </p:txBody>
      </p:sp>
      <p:sp>
        <p:nvSpPr>
          <p:cNvPr id="15" name="Card 202"/>
          <p:cNvSpPr/>
          <p:nvPr/>
        </p:nvSpPr>
        <p:spPr>
          <a:xfrm>
            <a:off x="6065520" y="1188720"/>
            <a:ext cx="2621280" cy="2651760"/>
          </a:xfrm>
          <a:prstGeom prst="roundRect">
            <a:avLst>
              <a:gd name="adj" fmla="val 4186"/>
            </a:avLst>
          </a:prstGeom>
          <a:solidFill>
            <a:schemeClr val="bg1"/>
          </a:solidFill>
          <a:ln/>
          <a:effectLst>
            <a:outerShdw blurRad="101600" dist="25400" dir="5400000" algn="bl" rotWithShape="0">
              <a:srgbClr val="000000">
                <a:alpha val="16000"/>
              </a:srgbClr>
            </a:outerShdw>
          </a:effectLst>
        </p:spPr>
      </p:sp>
      <p:sp>
        <p:nvSpPr>
          <p:cNvPr id="16" name="Badge 203"/>
          <p:cNvSpPr/>
          <p:nvPr/>
        </p:nvSpPr>
        <p:spPr>
          <a:xfrm>
            <a:off x="7046976" y="1325880"/>
            <a:ext cx="658368" cy="658368"/>
          </a:xfrm>
          <a:prstGeom prst="ellipse">
            <a:avLst/>
          </a:prstGeom>
          <a:solidFill>
            <a:schemeClr val="accent5"/>
          </a:solidFill>
          <a:ln/>
        </p:spPr>
      </p:sp>
      <p:pic>
        <p:nvPicPr>
          <p:cNvPr id="17" name="Image 3" descr="1  Getting there"/>
          <p:cNvPicPr>
            <a:picLocks noChangeAspect="1"/>
          </p:cNvPicPr>
          <p:nvPr/>
        </p:nvPicPr>
        <p:blipFill>
          <a:blip r:embed="rId3"/>
          <a:stretch>
            <a:fillRect/>
          </a:stretch>
        </p:blipFill>
        <p:spPr>
          <a:xfrm>
            <a:off x="7191817" y="1470721"/>
            <a:ext cx="368686" cy="368686"/>
          </a:xfrm>
          <a:prstGeom prst="rect">
            <a:avLst/>
          </a:prstGeom>
        </p:spPr>
      </p:pic>
      <p:sp>
        <p:nvSpPr>
          <p:cNvPr id="18" name="Text 12"/>
          <p:cNvSpPr txBox="1"/>
          <p:nvPr/>
        </p:nvSpPr>
        <p:spPr>
          <a:xfrm>
            <a:off x="6138672" y="2103120"/>
            <a:ext cx="2474976" cy="365760"/>
          </a:xfrm>
          <a:prstGeom prst="rect">
            <a:avLst/>
          </a:prstGeom>
          <a:noFill/>
          <a:ln/>
        </p:spPr>
        <p:txBody>
          <a:bodyPr wrap="square" lIns="0" tIns="0" rIns="0" bIns="0" rtlCol="0" anchor="t"/>
          <a:lstStyle/>
          <a:p>
            <a:pPr marL="0" indent="0" algn="ctr">
              <a:buNone/>
            </a:pPr>
            <a:r>
              <a:rPr lang="en-US" sz="1800" b="1" dirty="0">
                <a:solidFill>
                  <a:schemeClr val="tx2"/>
                </a:solidFill>
                <a:latin typeface="Cambria" pitchFamily="34" charset="0"/>
                <a:ea typeface="Cambria" pitchFamily="34" charset="-122"/>
                <a:cs typeface="Cambria" pitchFamily="34" charset="-120"/>
              </a:rPr>
              <a:t>1  Getting there</a:t>
            </a:r>
            <a:endParaRPr lang="en-US" sz="1800" dirty="0"/>
          </a:p>
        </p:txBody>
      </p:sp>
      <p:sp>
        <p:nvSpPr>
          <p:cNvPr id="19" name="Text 13"/>
          <p:cNvSpPr txBox="1"/>
          <p:nvPr/>
        </p:nvSpPr>
        <p:spPr>
          <a:xfrm>
            <a:off x="6175248" y="2560320"/>
            <a:ext cx="2401824" cy="1188720"/>
          </a:xfrm>
          <a:prstGeom prst="rect">
            <a:avLst/>
          </a:prstGeom>
          <a:noFill/>
          <a:ln/>
        </p:spPr>
        <p:txBody>
          <a:bodyPr wrap="square" lIns="0" tIns="0" rIns="0" bIns="0" rtlCol="0" anchor="t"/>
          <a:lstStyle/>
          <a:p>
            <a:pPr marL="0" indent="0" algn="ctr">
              <a:buNone/>
            </a:pPr>
            <a:r>
              <a:rPr lang="en-US" sz="1500" dirty="0">
                <a:solidFill>
                  <a:schemeClr val="tx1"/>
                </a:solidFill>
              </a:rPr>
              <a:t>I need help with the trait or the problem.</a:t>
            </a:r>
            <a:endParaRPr lang="en-US" sz="1500" dirty="0"/>
          </a:p>
        </p:txBody>
      </p:sp>
      <p:sp>
        <p:nvSpPr>
          <p:cNvPr id="20" name="Card 204"/>
          <p:cNvSpPr/>
          <p:nvPr/>
        </p:nvSpPr>
        <p:spPr>
          <a:xfrm>
            <a:off x="457200" y="3977640"/>
            <a:ext cx="8229600" cy="502920"/>
          </a:xfrm>
          <a:prstGeom prst="roundRect">
            <a:avLst>
              <a:gd name="adj" fmla="val 21818"/>
            </a:avLst>
          </a:prstGeom>
          <a:solidFill>
            <a:schemeClr val="accent1"/>
          </a:solidFill>
          <a:ln/>
        </p:spPr>
      </p:sp>
      <p:sp>
        <p:nvSpPr>
          <p:cNvPr id="21" name="Text 15"/>
          <p:cNvSpPr txBox="1"/>
          <p:nvPr/>
        </p:nvSpPr>
        <p:spPr>
          <a:xfrm>
            <a:off x="640080" y="3977640"/>
            <a:ext cx="7863840" cy="502920"/>
          </a:xfrm>
          <a:prstGeom prst="rect">
            <a:avLst/>
          </a:prstGeom>
          <a:noFill/>
          <a:ln/>
        </p:spPr>
        <p:txBody>
          <a:bodyPr wrap="square" lIns="0" tIns="0" rIns="0" bIns="0" rtlCol="0" anchor="ctr"/>
          <a:lstStyle/>
          <a:p>
            <a:pPr marL="0" indent="0">
              <a:buNone/>
            </a:pPr>
            <a:r>
              <a:rPr lang="en-US" sz="1700" b="1" dirty="0">
                <a:solidFill>
                  <a:schemeClr val="bg1"/>
                </a:solidFill>
              </a:rPr>
              <a:t>My next target: I need to improve ____________.</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Plenary: read the fable</a:t>
            </a:r>
            <a:endParaRPr lang="en-US" sz="3400" dirty="0"/>
          </a:p>
        </p:txBody>
      </p:sp>
      <p:sp>
        <p:nvSpPr>
          <p:cNvPr id="3" name="Badge 221"/>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22"/>
          <p:cNvSpPr/>
          <p:nvPr/>
        </p:nvSpPr>
        <p:spPr>
          <a:xfrm>
            <a:off x="457200" y="1188720"/>
            <a:ext cx="822960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280160"/>
            <a:ext cx="7772400" cy="3154680"/>
          </a:xfrm>
          <a:prstGeom prst="rect">
            <a:avLst/>
          </a:prstGeom>
          <a:noFill/>
          <a:ln/>
        </p:spPr>
        <p:txBody>
          <a:bodyPr wrap="square" lIns="0" tIns="0" rIns="0" bIns="0" rtlCol="0" anchor="ctr"/>
          <a:lstStyle/>
          <a:p>
            <a:pPr marL="0" indent="0">
              <a:spcAft>
                <a:spcPts val="600"/>
              </a:spcAft>
              <a:buNone/>
            </a:pPr>
            <a:r>
              <a:rPr lang="en-US" sz="1900" b="1" dirty="0">
                <a:solidFill>
                  <a:schemeClr val="accent1"/>
                </a:solidFill>
                <a:latin typeface="Cambria" pitchFamily="34" charset="0"/>
                <a:ea typeface="Cambria" pitchFamily="34" charset="-122"/>
                <a:cs typeface="Cambria" pitchFamily="34" charset="-120"/>
              </a:rPr>
              <a:t>The Stubborn Goat
</a:t>
            </a:r>
            <a:r>
              <a:rPr lang="en-US" sz="1500" dirty="0">
                <a:solidFill>
                  <a:schemeClr val="tx1"/>
                </a:solidFill>
              </a:rPr>
              <a:t>Bruno the goat was the most stubborn animal on the mountain. When the shepherd said, “Stay off the old bridge. It is not safe,” Bruno shook his horns. “I know best,” he said.
One morning, Bruno saw fresh green grass on the other side of the river. He did not take the long path. He marched straight onto the old bridge. Crack! A plank broke, and Bruno splashed into the cold water.
The shepherd had to pull him out. Bruno shivered all night. “From now on, I will listen,” he said.
</a:t>
            </a:r>
            <a:r>
              <a:rPr lang="en-US" sz="1500" b="1" dirty="0">
                <a:solidFill>
                  <a:schemeClr val="accent3"/>
                </a:solidFill>
              </a:rPr>
              <a:t>Lesson: Listen to good advice, or you may get into trouble.</a:t>
            </a:r>
            <a:endParaRPr lang="en-US" sz="15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dirty="0"/>
              <a:t>A</a:t>
            </a:r>
            <a:r>
              <a:rPr lang="en-US" sz="3400" b="1" dirty="0">
                <a:solidFill>
                  <a:schemeClr val="tx2"/>
                </a:solidFill>
              </a:rPr>
              <a:t>nswer in your book</a:t>
            </a:r>
            <a:endParaRPr lang="en-US" sz="3400" dirty="0"/>
          </a:p>
        </p:txBody>
      </p:sp>
      <p:sp>
        <p:nvSpPr>
          <p:cNvPr id="3" name="Badge 223"/>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24"/>
          <p:cNvSpPr/>
          <p:nvPr/>
        </p:nvSpPr>
        <p:spPr>
          <a:xfrm>
            <a:off x="457200" y="1188720"/>
            <a:ext cx="8229600" cy="841248"/>
          </a:xfrm>
          <a:prstGeom prst="roundRect">
            <a:avLst>
              <a:gd name="adj" fmla="val 13043"/>
            </a:avLst>
          </a:prstGeom>
          <a:solidFill>
            <a:schemeClr val="bg2"/>
          </a:solidFill>
          <a:ln/>
        </p:spPr>
      </p:sp>
      <p:sp>
        <p:nvSpPr>
          <p:cNvPr id="6" name="Num 225"/>
          <p:cNvSpPr/>
          <p:nvPr/>
        </p:nvSpPr>
        <p:spPr>
          <a:xfrm>
            <a:off x="640080" y="1307592"/>
            <a:ext cx="603504" cy="603504"/>
          </a:xfrm>
          <a:prstGeom prst="ellipse">
            <a:avLst/>
          </a:prstGeom>
          <a:solidFill>
            <a:schemeClr val="accent1"/>
          </a:solidFill>
          <a:ln/>
        </p:spPr>
      </p:sp>
      <p:sp>
        <p:nvSpPr>
          <p:cNvPr id="7" name="Text 4"/>
          <p:cNvSpPr txBox="1"/>
          <p:nvPr/>
        </p:nvSpPr>
        <p:spPr>
          <a:xfrm>
            <a:off x="640080" y="1307592"/>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Text 5"/>
          <p:cNvSpPr txBox="1"/>
          <p:nvPr/>
        </p:nvSpPr>
        <p:spPr>
          <a:xfrm>
            <a:off x="1463040" y="1188720"/>
            <a:ext cx="7040880" cy="841248"/>
          </a:xfrm>
          <a:prstGeom prst="rect">
            <a:avLst/>
          </a:prstGeom>
          <a:noFill/>
          <a:ln/>
        </p:spPr>
        <p:txBody>
          <a:bodyPr wrap="square" lIns="0" tIns="0" rIns="0" bIns="0" rtlCol="0" anchor="ctr"/>
          <a:lstStyle/>
          <a:p>
            <a:pPr marL="0" indent="0">
              <a:buNone/>
            </a:pPr>
            <a:r>
              <a:rPr lang="en-US" sz="1800" b="1" dirty="0">
                <a:solidFill>
                  <a:schemeClr val="tx2"/>
                </a:solidFill>
              </a:rPr>
              <a:t>What is Bruno's trait? Write two things he does that show it.</a:t>
            </a:r>
            <a:endParaRPr lang="en-US" sz="1800" dirty="0"/>
          </a:p>
        </p:txBody>
      </p:sp>
      <p:sp>
        <p:nvSpPr>
          <p:cNvPr id="9" name="Card 226"/>
          <p:cNvSpPr/>
          <p:nvPr/>
        </p:nvSpPr>
        <p:spPr>
          <a:xfrm>
            <a:off x="457200" y="2148840"/>
            <a:ext cx="8229600" cy="841248"/>
          </a:xfrm>
          <a:prstGeom prst="roundRect">
            <a:avLst>
              <a:gd name="adj" fmla="val 13043"/>
            </a:avLst>
          </a:prstGeom>
          <a:solidFill>
            <a:schemeClr val="bg2"/>
          </a:solidFill>
          <a:ln/>
        </p:spPr>
      </p:sp>
      <p:sp>
        <p:nvSpPr>
          <p:cNvPr id="10" name="Num 227"/>
          <p:cNvSpPr/>
          <p:nvPr/>
        </p:nvSpPr>
        <p:spPr>
          <a:xfrm>
            <a:off x="640080" y="2267712"/>
            <a:ext cx="603504" cy="603504"/>
          </a:xfrm>
          <a:prstGeom prst="ellipse">
            <a:avLst/>
          </a:prstGeom>
          <a:solidFill>
            <a:schemeClr val="accent6"/>
          </a:solidFill>
          <a:ln/>
        </p:spPr>
      </p:sp>
      <p:sp>
        <p:nvSpPr>
          <p:cNvPr id="11" name="Text 8"/>
          <p:cNvSpPr txBox="1"/>
          <p:nvPr/>
        </p:nvSpPr>
        <p:spPr>
          <a:xfrm>
            <a:off x="640080" y="2267712"/>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2" name="Text 9"/>
          <p:cNvSpPr txBox="1"/>
          <p:nvPr/>
        </p:nvSpPr>
        <p:spPr>
          <a:xfrm>
            <a:off x="1463040" y="2148840"/>
            <a:ext cx="7040880" cy="841248"/>
          </a:xfrm>
          <a:prstGeom prst="rect">
            <a:avLst/>
          </a:prstGeom>
          <a:noFill/>
          <a:ln/>
        </p:spPr>
        <p:txBody>
          <a:bodyPr wrap="square" lIns="0" tIns="0" rIns="0" bIns="0" rtlCol="0" anchor="ctr"/>
          <a:lstStyle/>
          <a:p>
            <a:pPr marL="0" indent="0">
              <a:buNone/>
            </a:pPr>
            <a:r>
              <a:rPr lang="en-US" sz="1800" b="1" dirty="0">
                <a:solidFill>
                  <a:schemeClr val="tx2"/>
                </a:solidFill>
              </a:rPr>
              <a:t>What problem does the trait cause? Write: Because ______, ______. So ______.</a:t>
            </a:r>
            <a:endParaRPr lang="en-US" sz="1800" dirty="0"/>
          </a:p>
        </p:txBody>
      </p:sp>
      <p:sp>
        <p:nvSpPr>
          <p:cNvPr id="13" name="Card 228"/>
          <p:cNvSpPr/>
          <p:nvPr/>
        </p:nvSpPr>
        <p:spPr>
          <a:xfrm>
            <a:off x="457200" y="3108960"/>
            <a:ext cx="8229600" cy="841248"/>
          </a:xfrm>
          <a:prstGeom prst="roundRect">
            <a:avLst>
              <a:gd name="adj" fmla="val 13043"/>
            </a:avLst>
          </a:prstGeom>
          <a:solidFill>
            <a:schemeClr val="bg2"/>
          </a:solidFill>
          <a:ln/>
        </p:spPr>
      </p:sp>
      <p:sp>
        <p:nvSpPr>
          <p:cNvPr id="14" name="Num 229"/>
          <p:cNvSpPr/>
          <p:nvPr/>
        </p:nvSpPr>
        <p:spPr>
          <a:xfrm>
            <a:off x="640080" y="3227832"/>
            <a:ext cx="603504" cy="603504"/>
          </a:xfrm>
          <a:prstGeom prst="ellipse">
            <a:avLst/>
          </a:prstGeom>
          <a:solidFill>
            <a:schemeClr val="accent3"/>
          </a:solidFill>
          <a:ln/>
        </p:spPr>
      </p:sp>
      <p:sp>
        <p:nvSpPr>
          <p:cNvPr id="15" name="Text 12"/>
          <p:cNvSpPr txBox="1"/>
          <p:nvPr/>
        </p:nvSpPr>
        <p:spPr>
          <a:xfrm>
            <a:off x="640080" y="3227832"/>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 13"/>
          <p:cNvSpPr txBox="1"/>
          <p:nvPr/>
        </p:nvSpPr>
        <p:spPr>
          <a:xfrm>
            <a:off x="1463040" y="3108960"/>
            <a:ext cx="7040880" cy="841248"/>
          </a:xfrm>
          <a:prstGeom prst="rect">
            <a:avLst/>
          </a:prstGeom>
          <a:noFill/>
          <a:ln/>
        </p:spPr>
        <p:txBody>
          <a:bodyPr wrap="square" lIns="0" tIns="0" rIns="0" bIns="0" rtlCol="0" anchor="ctr"/>
          <a:lstStyle/>
          <a:p>
            <a:pPr marL="0" indent="0">
              <a:buNone/>
            </a:pPr>
            <a:r>
              <a:rPr lang="en-US" sz="1800" b="1" dirty="0">
                <a:solidFill>
                  <a:schemeClr val="tx2"/>
                </a:solidFill>
              </a:rPr>
              <a:t>What lesson does the fable teach? Does it match the story?</a:t>
            </a:r>
            <a:endParaRPr lang="en-US" sz="1800" dirty="0"/>
          </a:p>
        </p:txBody>
      </p:sp>
      <p:sp>
        <p:nvSpPr>
          <p:cNvPr id="17" name="Card 230"/>
          <p:cNvSpPr/>
          <p:nvPr/>
        </p:nvSpPr>
        <p:spPr>
          <a:xfrm>
            <a:off x="457200" y="4114800"/>
            <a:ext cx="8229600" cy="457200"/>
          </a:xfrm>
          <a:prstGeom prst="roundRect">
            <a:avLst>
              <a:gd name="adj" fmla="val 24000"/>
            </a:avLst>
          </a:prstGeom>
          <a:solidFill>
            <a:schemeClr val="tx2"/>
          </a:solidFill>
          <a:ln/>
        </p:spPr>
      </p:sp>
      <p:sp>
        <p:nvSpPr>
          <p:cNvPr id="18" name="Text 15"/>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600" b="1" dirty="0">
                <a:solidFill>
                  <a:schemeClr val="accent2"/>
                </a:solidFill>
              </a:rPr>
              <a:t>Challenge: </a:t>
            </a:r>
            <a:r>
              <a:rPr lang="en-US" sz="1600" dirty="0">
                <a:solidFill>
                  <a:schemeClr val="bg1"/>
                </a:solidFill>
              </a:rPr>
              <a:t>write a because / so sentence about YOUR own character.</a:t>
            </a:r>
            <a:endParaRPr lang="en-US" sz="16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Answers</a:t>
            </a:r>
            <a:endParaRPr lang="en-US" sz="3400" dirty="0"/>
          </a:p>
        </p:txBody>
      </p:sp>
      <p:sp>
        <p:nvSpPr>
          <p:cNvPr id="3" name="Badge 231"/>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32"/>
          <p:cNvSpPr/>
          <p:nvPr/>
        </p:nvSpPr>
        <p:spPr>
          <a:xfrm>
            <a:off x="457200" y="1188720"/>
            <a:ext cx="8229600" cy="804672"/>
          </a:xfrm>
          <a:prstGeom prst="roundRect">
            <a:avLst>
              <a:gd name="adj" fmla="val 13636"/>
            </a:avLst>
          </a:prstGeom>
          <a:solidFill>
            <a:schemeClr val="bg2"/>
          </a:solidFill>
          <a:ln/>
        </p:spPr>
      </p:sp>
      <p:sp>
        <p:nvSpPr>
          <p:cNvPr id="6" name="Tick 233"/>
          <p:cNvSpPr/>
          <p:nvPr/>
        </p:nvSpPr>
        <p:spPr>
          <a:xfrm>
            <a:off x="640080" y="1362456"/>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472184"/>
            <a:ext cx="237744" cy="237744"/>
          </a:xfrm>
          <a:prstGeom prst="rect">
            <a:avLst/>
          </a:prstGeom>
        </p:spPr>
      </p:pic>
      <p:sp>
        <p:nvSpPr>
          <p:cNvPr id="8" name="Text 4"/>
          <p:cNvSpPr txBox="1"/>
          <p:nvPr/>
        </p:nvSpPr>
        <p:spPr>
          <a:xfrm>
            <a:off x="1325880" y="1188720"/>
            <a:ext cx="7178040" cy="804672"/>
          </a:xfrm>
          <a:prstGeom prst="rect">
            <a:avLst/>
          </a:prstGeom>
          <a:noFill/>
          <a:ln/>
        </p:spPr>
        <p:txBody>
          <a:bodyPr wrap="square" lIns="0" tIns="0" rIns="0" bIns="0" rtlCol="0" anchor="ctr"/>
          <a:lstStyle/>
          <a:p>
            <a:pPr marL="0" indent="0">
              <a:buNone/>
            </a:pPr>
            <a:r>
              <a:rPr lang="en-US" sz="1700" b="1" dirty="0">
                <a:solidFill>
                  <a:schemeClr val="accent3"/>
                </a:solidFill>
              </a:rPr>
              <a:t>1  </a:t>
            </a:r>
            <a:r>
              <a:rPr lang="en-US" sz="1700" dirty="0">
                <a:solidFill>
                  <a:schemeClr val="tx1"/>
                </a:solidFill>
              </a:rPr>
              <a:t>Stubborn. He shook his horns and said “I know best.” He walked onto the old bridge.</a:t>
            </a:r>
            <a:endParaRPr lang="en-US" sz="1700" dirty="0"/>
          </a:p>
        </p:txBody>
      </p:sp>
      <p:sp>
        <p:nvSpPr>
          <p:cNvPr id="9" name="Card 234"/>
          <p:cNvSpPr/>
          <p:nvPr/>
        </p:nvSpPr>
        <p:spPr>
          <a:xfrm>
            <a:off x="457200" y="2103120"/>
            <a:ext cx="8229600" cy="804672"/>
          </a:xfrm>
          <a:prstGeom prst="roundRect">
            <a:avLst>
              <a:gd name="adj" fmla="val 13636"/>
            </a:avLst>
          </a:prstGeom>
          <a:solidFill>
            <a:schemeClr val="bg2"/>
          </a:solidFill>
          <a:ln/>
        </p:spPr>
      </p:sp>
      <p:sp>
        <p:nvSpPr>
          <p:cNvPr id="10" name="Tick 235"/>
          <p:cNvSpPr/>
          <p:nvPr/>
        </p:nvSpPr>
        <p:spPr>
          <a:xfrm>
            <a:off x="640080" y="2276856"/>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386584"/>
            <a:ext cx="237744" cy="237744"/>
          </a:xfrm>
          <a:prstGeom prst="rect">
            <a:avLst/>
          </a:prstGeom>
        </p:spPr>
      </p:pic>
      <p:sp>
        <p:nvSpPr>
          <p:cNvPr id="12" name="Text 7"/>
          <p:cNvSpPr txBox="1"/>
          <p:nvPr/>
        </p:nvSpPr>
        <p:spPr>
          <a:xfrm>
            <a:off x="1325880" y="2103120"/>
            <a:ext cx="7178040" cy="804672"/>
          </a:xfrm>
          <a:prstGeom prst="rect">
            <a:avLst/>
          </a:prstGeom>
          <a:noFill/>
          <a:ln/>
        </p:spPr>
        <p:txBody>
          <a:bodyPr wrap="square" lIns="0" tIns="0" rIns="0" bIns="0" rtlCol="0" anchor="ctr"/>
          <a:lstStyle/>
          <a:p>
            <a:pPr marL="0" indent="0">
              <a:buNone/>
            </a:pPr>
            <a:r>
              <a:rPr lang="en-US" sz="1700" b="1" dirty="0">
                <a:solidFill>
                  <a:schemeClr val="accent3"/>
                </a:solidFill>
              </a:rPr>
              <a:t>2  </a:t>
            </a:r>
            <a:r>
              <a:rPr lang="en-US" sz="1700" dirty="0">
                <a:solidFill>
                  <a:schemeClr val="tx1"/>
                </a:solidFill>
              </a:rPr>
              <a:t>Because Bruno was stubborn, he ignored the shepherd's warning. So the old bridge broke and he fell into the river.</a:t>
            </a:r>
            <a:endParaRPr lang="en-US" sz="1700" dirty="0"/>
          </a:p>
        </p:txBody>
      </p:sp>
      <p:sp>
        <p:nvSpPr>
          <p:cNvPr id="13" name="Card 236"/>
          <p:cNvSpPr/>
          <p:nvPr/>
        </p:nvSpPr>
        <p:spPr>
          <a:xfrm>
            <a:off x="457200" y="3017520"/>
            <a:ext cx="8229600" cy="804672"/>
          </a:xfrm>
          <a:prstGeom prst="roundRect">
            <a:avLst>
              <a:gd name="adj" fmla="val 13636"/>
            </a:avLst>
          </a:prstGeom>
          <a:solidFill>
            <a:schemeClr val="bg2"/>
          </a:solidFill>
          <a:ln/>
        </p:spPr>
      </p:sp>
      <p:sp>
        <p:nvSpPr>
          <p:cNvPr id="14" name="Tick 237"/>
          <p:cNvSpPr/>
          <p:nvPr/>
        </p:nvSpPr>
        <p:spPr>
          <a:xfrm>
            <a:off x="640080" y="3191256"/>
            <a:ext cx="457200" cy="457200"/>
          </a:xfrm>
          <a:prstGeom prst="ellipse">
            <a:avLst/>
          </a:prstGeom>
          <a:solidFill>
            <a:schemeClr val="accent3"/>
          </a:solidFill>
          <a:ln/>
        </p:spPr>
      </p:sp>
      <p:pic>
        <p:nvPicPr>
          <p:cNvPr id="15" name="Image 3" descr="Tick"/>
          <p:cNvPicPr>
            <a:picLocks noChangeAspect="1"/>
          </p:cNvPicPr>
          <p:nvPr/>
        </p:nvPicPr>
        <p:blipFill>
          <a:blip r:embed="rId3"/>
          <a:stretch>
            <a:fillRect/>
          </a:stretch>
        </p:blipFill>
        <p:spPr>
          <a:xfrm>
            <a:off x="749808" y="3300984"/>
            <a:ext cx="237744" cy="237744"/>
          </a:xfrm>
          <a:prstGeom prst="rect">
            <a:avLst/>
          </a:prstGeom>
        </p:spPr>
      </p:pic>
      <p:sp>
        <p:nvSpPr>
          <p:cNvPr id="16" name="Text 10"/>
          <p:cNvSpPr txBox="1"/>
          <p:nvPr/>
        </p:nvSpPr>
        <p:spPr>
          <a:xfrm>
            <a:off x="1325880" y="3017520"/>
            <a:ext cx="7178040" cy="804672"/>
          </a:xfrm>
          <a:prstGeom prst="rect">
            <a:avLst/>
          </a:prstGeom>
          <a:noFill/>
          <a:ln/>
        </p:spPr>
        <p:txBody>
          <a:bodyPr wrap="square" lIns="0" tIns="0" rIns="0" bIns="0" rtlCol="0" anchor="ctr"/>
          <a:lstStyle/>
          <a:p>
            <a:pPr marL="0" indent="0">
              <a:buNone/>
            </a:pPr>
            <a:r>
              <a:rPr lang="en-US" sz="1700" b="1" dirty="0">
                <a:solidFill>
                  <a:schemeClr val="accent3"/>
                </a:solidFill>
              </a:rPr>
              <a:t>3  </a:t>
            </a:r>
            <a:r>
              <a:rPr lang="en-US" sz="1700" dirty="0">
                <a:solidFill>
                  <a:schemeClr val="tx1"/>
                </a:solidFill>
              </a:rPr>
              <a:t>Listen to good advice, or you may get into trouble. It matches: he ignored advice and got hurt.</a:t>
            </a:r>
            <a:endParaRPr lang="en-US" sz="17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Exit ticket</a:t>
            </a:r>
            <a:endParaRPr lang="en-US" sz="3400" dirty="0"/>
          </a:p>
        </p:txBody>
      </p:sp>
      <p:sp>
        <p:nvSpPr>
          <p:cNvPr id="3" name="Badge 205"/>
          <p:cNvSpPr/>
          <p:nvPr/>
        </p:nvSpPr>
        <p:spPr>
          <a:xfrm>
            <a:off x="7955280" y="274320"/>
            <a:ext cx="731520" cy="731520"/>
          </a:xfrm>
          <a:prstGeom prst="ellipse">
            <a:avLst/>
          </a:prstGeom>
          <a:solidFill>
            <a:schemeClr val="accent6"/>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06"/>
          <p:cNvSpPr/>
          <p:nvPr/>
        </p:nvSpPr>
        <p:spPr>
          <a:xfrm>
            <a:off x="457200" y="1188720"/>
            <a:ext cx="8229600" cy="530352"/>
          </a:xfrm>
          <a:prstGeom prst="roundRect">
            <a:avLst>
              <a:gd name="adj" fmla="val 20690"/>
            </a:avLst>
          </a:prstGeom>
          <a:solidFill>
            <a:schemeClr val="bg2"/>
          </a:solidFill>
          <a:ln/>
        </p:spPr>
      </p:sp>
      <p:sp>
        <p:nvSpPr>
          <p:cNvPr id="6" name="Num 207"/>
          <p:cNvSpPr/>
          <p:nvPr/>
        </p:nvSpPr>
        <p:spPr>
          <a:xfrm>
            <a:off x="594360" y="1243584"/>
            <a:ext cx="420624" cy="420624"/>
          </a:xfrm>
          <a:prstGeom prst="ellipse">
            <a:avLst/>
          </a:prstGeom>
          <a:solidFill>
            <a:schemeClr val="accent1"/>
          </a:solidFill>
          <a:ln/>
        </p:spPr>
      </p:sp>
      <p:sp>
        <p:nvSpPr>
          <p:cNvPr id="7" name="Text 4"/>
          <p:cNvSpPr txBox="1"/>
          <p:nvPr/>
        </p:nvSpPr>
        <p:spPr>
          <a:xfrm>
            <a:off x="594360" y="1243584"/>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234440" y="1188720"/>
            <a:ext cx="7315200" cy="530352"/>
          </a:xfrm>
          <a:prstGeom prst="rect">
            <a:avLst/>
          </a:prstGeom>
          <a:noFill/>
          <a:ln/>
        </p:spPr>
        <p:txBody>
          <a:bodyPr wrap="square" lIns="0" tIns="0" rIns="0" bIns="0" rtlCol="0" anchor="ctr"/>
          <a:lstStyle/>
          <a:p>
            <a:pPr marL="0" indent="0">
              <a:buNone/>
            </a:pPr>
            <a:r>
              <a:rPr lang="en-US" sz="1800" b="1" dirty="0">
                <a:solidFill>
                  <a:schemeClr val="tx2"/>
                </a:solidFill>
              </a:rPr>
              <a:t>Today I learned that ______.</a:t>
            </a:r>
            <a:endParaRPr lang="en-US" sz="1800" dirty="0"/>
          </a:p>
        </p:txBody>
      </p:sp>
      <p:sp>
        <p:nvSpPr>
          <p:cNvPr id="9" name="Card 208"/>
          <p:cNvSpPr/>
          <p:nvPr/>
        </p:nvSpPr>
        <p:spPr>
          <a:xfrm>
            <a:off x="457200" y="1792224"/>
            <a:ext cx="8229600" cy="530352"/>
          </a:xfrm>
          <a:prstGeom prst="roundRect">
            <a:avLst>
              <a:gd name="adj" fmla="val 20690"/>
            </a:avLst>
          </a:prstGeom>
          <a:solidFill>
            <a:schemeClr val="bg2"/>
          </a:solidFill>
          <a:ln/>
        </p:spPr>
      </p:sp>
      <p:sp>
        <p:nvSpPr>
          <p:cNvPr id="10" name="Num 209"/>
          <p:cNvSpPr/>
          <p:nvPr/>
        </p:nvSpPr>
        <p:spPr>
          <a:xfrm>
            <a:off x="594360" y="1847088"/>
            <a:ext cx="420624" cy="420624"/>
          </a:xfrm>
          <a:prstGeom prst="ellipse">
            <a:avLst/>
          </a:prstGeom>
          <a:solidFill>
            <a:schemeClr val="accent6"/>
          </a:solidFill>
          <a:ln/>
        </p:spPr>
      </p:sp>
      <p:sp>
        <p:nvSpPr>
          <p:cNvPr id="11" name="Text 8"/>
          <p:cNvSpPr txBox="1"/>
          <p:nvPr/>
        </p:nvSpPr>
        <p:spPr>
          <a:xfrm>
            <a:off x="594360" y="1847088"/>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 9"/>
          <p:cNvSpPr txBox="1"/>
          <p:nvPr/>
        </p:nvSpPr>
        <p:spPr>
          <a:xfrm>
            <a:off x="1234440" y="1792224"/>
            <a:ext cx="7315200" cy="530352"/>
          </a:xfrm>
          <a:prstGeom prst="rect">
            <a:avLst/>
          </a:prstGeom>
          <a:noFill/>
          <a:ln/>
        </p:spPr>
        <p:txBody>
          <a:bodyPr wrap="square" lIns="0" tIns="0" rIns="0" bIns="0" rtlCol="0" anchor="ctr"/>
          <a:lstStyle/>
          <a:p>
            <a:pPr marL="0" indent="0">
              <a:buNone/>
            </a:pPr>
            <a:r>
              <a:rPr lang="en-US" sz="1800" b="1" dirty="0">
                <a:solidFill>
                  <a:schemeClr val="tx2"/>
                </a:solidFill>
              </a:rPr>
              <a:t>A trait can cause a problem because ______.</a:t>
            </a:r>
            <a:endParaRPr lang="en-US" sz="1800" dirty="0"/>
          </a:p>
        </p:txBody>
      </p:sp>
      <p:sp>
        <p:nvSpPr>
          <p:cNvPr id="17" name="Card 212"/>
          <p:cNvSpPr/>
          <p:nvPr/>
        </p:nvSpPr>
        <p:spPr>
          <a:xfrm>
            <a:off x="457200" y="2458180"/>
            <a:ext cx="8229600" cy="530352"/>
          </a:xfrm>
          <a:prstGeom prst="roundRect">
            <a:avLst>
              <a:gd name="adj" fmla="val 20690"/>
            </a:avLst>
          </a:prstGeom>
          <a:solidFill>
            <a:schemeClr val="bg2"/>
          </a:solidFill>
          <a:ln/>
        </p:spPr>
      </p:sp>
      <p:sp>
        <p:nvSpPr>
          <p:cNvPr id="18" name="Num 213"/>
          <p:cNvSpPr/>
          <p:nvPr/>
        </p:nvSpPr>
        <p:spPr>
          <a:xfrm>
            <a:off x="594360" y="2534444"/>
            <a:ext cx="420624" cy="420624"/>
          </a:xfrm>
          <a:prstGeom prst="ellipse">
            <a:avLst/>
          </a:prstGeom>
          <a:solidFill>
            <a:schemeClr val="accent4"/>
          </a:solidFill>
          <a:ln/>
        </p:spPr>
        <p:txBody>
          <a:bodyPr/>
          <a:lstStyle/>
          <a:p>
            <a:endParaRPr lang="en-US" dirty="0"/>
          </a:p>
        </p:txBody>
      </p:sp>
      <p:sp>
        <p:nvSpPr>
          <p:cNvPr id="19" name="Text 16"/>
          <p:cNvSpPr txBox="1"/>
          <p:nvPr/>
        </p:nvSpPr>
        <p:spPr>
          <a:xfrm>
            <a:off x="594360" y="2490216"/>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Text 17"/>
          <p:cNvSpPr txBox="1"/>
          <p:nvPr/>
        </p:nvSpPr>
        <p:spPr>
          <a:xfrm>
            <a:off x="1210665" y="2410222"/>
            <a:ext cx="7315200" cy="530352"/>
          </a:xfrm>
          <a:prstGeom prst="rect">
            <a:avLst/>
          </a:prstGeom>
          <a:noFill/>
          <a:ln/>
        </p:spPr>
        <p:txBody>
          <a:bodyPr wrap="square" lIns="0" tIns="0" rIns="0" bIns="0" rtlCol="0" anchor="ctr"/>
          <a:lstStyle/>
          <a:p>
            <a:pPr marL="0" indent="0">
              <a:buNone/>
            </a:pPr>
            <a:r>
              <a:rPr lang="en-US" sz="1800" b="1" dirty="0">
                <a:solidFill>
                  <a:schemeClr val="tx2"/>
                </a:solidFill>
              </a:rPr>
              <a:t>The part I found tricky was ______.</a:t>
            </a:r>
            <a:endParaRPr lang="en-US" sz="1800" dirty="0"/>
          </a:p>
        </p:txBody>
      </p:sp>
      <p:sp>
        <p:nvSpPr>
          <p:cNvPr id="27"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Model: exit ticket</a:t>
            </a:r>
            <a:endParaRPr lang="en-US" sz="3400" dirty="0"/>
          </a:p>
        </p:txBody>
      </p:sp>
      <p:sp>
        <p:nvSpPr>
          <p:cNvPr id="3" name="Badge 217"/>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18"/>
          <p:cNvSpPr/>
          <p:nvPr/>
        </p:nvSpPr>
        <p:spPr>
          <a:xfrm>
            <a:off x="457200" y="1188720"/>
            <a:ext cx="8229600" cy="557784"/>
          </a:xfrm>
          <a:prstGeom prst="roundRect">
            <a:avLst>
              <a:gd name="adj" fmla="val 19672"/>
            </a:avLst>
          </a:prstGeom>
          <a:solidFill>
            <a:schemeClr val="bg2"/>
          </a:solidFill>
          <a:ln/>
        </p:spPr>
      </p:sp>
      <p:sp>
        <p:nvSpPr>
          <p:cNvPr id="6" name="Tick 219"/>
          <p:cNvSpPr/>
          <p:nvPr/>
        </p:nvSpPr>
        <p:spPr>
          <a:xfrm>
            <a:off x="640080" y="1239012"/>
            <a:ext cx="457200" cy="457200"/>
          </a:xfrm>
          <a:prstGeom prst="ellipse">
            <a:avLst/>
          </a:prstGeom>
          <a:solidFill>
            <a:schemeClr val="accent3"/>
          </a:solidFill>
          <a:ln/>
        </p:spPr>
      </p:sp>
      <p:pic>
        <p:nvPicPr>
          <p:cNvPr id="7" name="Image 1" descr="Tick"/>
          <p:cNvPicPr>
            <a:picLocks noChangeAspect="1"/>
          </p:cNvPicPr>
          <p:nvPr/>
        </p:nvPicPr>
        <p:blipFill>
          <a:blip r:embed="rId3"/>
          <a:stretch>
            <a:fillRect/>
          </a:stretch>
        </p:blipFill>
        <p:spPr>
          <a:xfrm>
            <a:off x="749808" y="1348740"/>
            <a:ext cx="237744" cy="237744"/>
          </a:xfrm>
          <a:prstGeom prst="rect">
            <a:avLst/>
          </a:prstGeom>
        </p:spPr>
      </p:pic>
      <p:sp>
        <p:nvSpPr>
          <p:cNvPr id="8" name="Text 4"/>
          <p:cNvSpPr txBox="1"/>
          <p:nvPr/>
        </p:nvSpPr>
        <p:spPr>
          <a:xfrm>
            <a:off x="1325880" y="1188720"/>
            <a:ext cx="7178040" cy="557784"/>
          </a:xfrm>
          <a:prstGeom prst="rect">
            <a:avLst/>
          </a:prstGeom>
          <a:noFill/>
          <a:ln/>
        </p:spPr>
        <p:txBody>
          <a:bodyPr wrap="square" lIns="0" tIns="0" rIns="0" bIns="0" rtlCol="0" anchor="ctr"/>
          <a:lstStyle/>
          <a:p>
            <a:pPr marL="0" indent="0">
              <a:buNone/>
            </a:pPr>
            <a:r>
              <a:rPr lang="en-US" sz="1500" dirty="0">
                <a:solidFill>
                  <a:schemeClr val="tx1"/>
                </a:solidFill>
              </a:rPr>
              <a:t>Today I learned that the problem in a fable should come from the character's trait.</a:t>
            </a:r>
            <a:endParaRPr lang="en-US" sz="1500" dirty="0"/>
          </a:p>
        </p:txBody>
      </p:sp>
      <p:sp>
        <p:nvSpPr>
          <p:cNvPr id="9" name="Card 220"/>
          <p:cNvSpPr/>
          <p:nvPr/>
        </p:nvSpPr>
        <p:spPr>
          <a:xfrm>
            <a:off x="457200" y="1856232"/>
            <a:ext cx="8229600" cy="557784"/>
          </a:xfrm>
          <a:prstGeom prst="roundRect">
            <a:avLst>
              <a:gd name="adj" fmla="val 19672"/>
            </a:avLst>
          </a:prstGeom>
          <a:solidFill>
            <a:schemeClr val="bg2"/>
          </a:solidFill>
          <a:ln/>
        </p:spPr>
      </p:sp>
      <p:sp>
        <p:nvSpPr>
          <p:cNvPr id="10" name="Tick 221"/>
          <p:cNvSpPr/>
          <p:nvPr/>
        </p:nvSpPr>
        <p:spPr>
          <a:xfrm>
            <a:off x="640080" y="1906524"/>
            <a:ext cx="457200" cy="457200"/>
          </a:xfrm>
          <a:prstGeom prst="ellipse">
            <a:avLst/>
          </a:prstGeom>
          <a:solidFill>
            <a:schemeClr val="accent3"/>
          </a:solidFill>
          <a:ln/>
        </p:spPr>
      </p:sp>
      <p:pic>
        <p:nvPicPr>
          <p:cNvPr id="11" name="Image 2" descr="Tick"/>
          <p:cNvPicPr>
            <a:picLocks noChangeAspect="1"/>
          </p:cNvPicPr>
          <p:nvPr/>
        </p:nvPicPr>
        <p:blipFill>
          <a:blip r:embed="rId3"/>
          <a:stretch>
            <a:fillRect/>
          </a:stretch>
        </p:blipFill>
        <p:spPr>
          <a:xfrm>
            <a:off x="749808" y="2016252"/>
            <a:ext cx="237744" cy="237744"/>
          </a:xfrm>
          <a:prstGeom prst="rect">
            <a:avLst/>
          </a:prstGeom>
        </p:spPr>
      </p:pic>
      <p:sp>
        <p:nvSpPr>
          <p:cNvPr id="12" name="Text 7"/>
          <p:cNvSpPr txBox="1"/>
          <p:nvPr/>
        </p:nvSpPr>
        <p:spPr>
          <a:xfrm>
            <a:off x="1325880" y="1856232"/>
            <a:ext cx="7178040" cy="557784"/>
          </a:xfrm>
          <a:prstGeom prst="rect">
            <a:avLst/>
          </a:prstGeom>
          <a:noFill/>
          <a:ln/>
        </p:spPr>
        <p:txBody>
          <a:bodyPr wrap="square" lIns="0" tIns="0" rIns="0" bIns="0" rtlCol="0" anchor="ctr"/>
          <a:lstStyle/>
          <a:p>
            <a:pPr marL="0" indent="0">
              <a:buNone/>
            </a:pPr>
            <a:r>
              <a:rPr lang="en-US" sz="1500" dirty="0">
                <a:solidFill>
                  <a:schemeClr val="tx1"/>
                </a:solidFill>
              </a:rPr>
              <a:t>A trait can cause a problem because the character’s choices or actions lead to trouble. Geoffrey was dreamy, so he stored no food.</a:t>
            </a:r>
            <a:endParaRPr lang="en-US" sz="1500" dirty="0"/>
          </a:p>
        </p:txBody>
      </p:sp>
      <p:pic>
        <p:nvPicPr>
          <p:cNvPr id="15" name="Image 3" descr="Tick"/>
          <p:cNvPicPr>
            <a:picLocks noChangeAspect="1"/>
          </p:cNvPicPr>
          <p:nvPr/>
        </p:nvPicPr>
        <p:blipFill>
          <a:blip r:embed="rId3"/>
          <a:stretch>
            <a:fillRect/>
          </a:stretch>
        </p:blipFill>
        <p:spPr>
          <a:xfrm>
            <a:off x="749808" y="2683764"/>
            <a:ext cx="237744" cy="237744"/>
          </a:xfrm>
          <a:prstGeom prst="rect">
            <a:avLst/>
          </a:prstGeom>
        </p:spPr>
      </p:pic>
      <p:sp>
        <p:nvSpPr>
          <p:cNvPr id="17" name="Card 224"/>
          <p:cNvSpPr/>
          <p:nvPr/>
        </p:nvSpPr>
        <p:spPr>
          <a:xfrm>
            <a:off x="457200" y="2488951"/>
            <a:ext cx="8229600" cy="557784"/>
          </a:xfrm>
          <a:prstGeom prst="roundRect">
            <a:avLst>
              <a:gd name="adj" fmla="val 19672"/>
            </a:avLst>
          </a:prstGeom>
          <a:solidFill>
            <a:schemeClr val="bg2"/>
          </a:solidFill>
          <a:ln/>
        </p:spPr>
        <p:txBody>
          <a:bodyPr/>
          <a:lstStyle/>
          <a:p>
            <a:endParaRPr lang="en-US" dirty="0"/>
          </a:p>
        </p:txBody>
      </p:sp>
      <p:sp>
        <p:nvSpPr>
          <p:cNvPr id="18" name="Tick 225"/>
          <p:cNvSpPr/>
          <p:nvPr/>
        </p:nvSpPr>
        <p:spPr>
          <a:xfrm>
            <a:off x="662940" y="2488951"/>
            <a:ext cx="457200" cy="457200"/>
          </a:xfrm>
          <a:prstGeom prst="ellipse">
            <a:avLst/>
          </a:prstGeom>
          <a:solidFill>
            <a:schemeClr val="accent3"/>
          </a:solidFill>
          <a:ln/>
        </p:spPr>
      </p:sp>
      <p:pic>
        <p:nvPicPr>
          <p:cNvPr id="19" name="Image 4" descr="Tick"/>
          <p:cNvPicPr>
            <a:picLocks noChangeAspect="1"/>
          </p:cNvPicPr>
          <p:nvPr/>
        </p:nvPicPr>
        <p:blipFill>
          <a:blip r:embed="rId3"/>
          <a:stretch>
            <a:fillRect/>
          </a:stretch>
        </p:blipFill>
        <p:spPr>
          <a:xfrm>
            <a:off x="772668" y="2587720"/>
            <a:ext cx="237744" cy="237744"/>
          </a:xfrm>
          <a:prstGeom prst="rect">
            <a:avLst/>
          </a:prstGeom>
        </p:spPr>
      </p:pic>
      <p:sp>
        <p:nvSpPr>
          <p:cNvPr id="20" name="Text 13"/>
          <p:cNvSpPr txBox="1"/>
          <p:nvPr/>
        </p:nvSpPr>
        <p:spPr>
          <a:xfrm>
            <a:off x="1325880" y="2414016"/>
            <a:ext cx="7178040" cy="557784"/>
          </a:xfrm>
          <a:prstGeom prst="rect">
            <a:avLst/>
          </a:prstGeom>
          <a:noFill/>
          <a:ln/>
        </p:spPr>
        <p:txBody>
          <a:bodyPr wrap="square" lIns="0" tIns="0" rIns="0" bIns="0" rtlCol="0" anchor="ctr"/>
          <a:lstStyle/>
          <a:p>
            <a:pPr marL="0" indent="0">
              <a:buNone/>
            </a:pPr>
            <a:r>
              <a:rPr lang="en-US" sz="1500" dirty="0">
                <a:solidFill>
                  <a:schemeClr val="tx1"/>
                </a:solidFill>
              </a:rPr>
              <a:t>The part I found tricky was linking my problem to my trait. </a:t>
            </a:r>
            <a:endParaRPr lang="en-US" sz="15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Homework: read the fable</a:t>
            </a:r>
            <a:endParaRPr lang="en-US" sz="3400" dirty="0"/>
          </a:p>
        </p:txBody>
      </p:sp>
      <p:sp>
        <p:nvSpPr>
          <p:cNvPr id="3" name="Badge 221"/>
          <p:cNvSpPr/>
          <p:nvPr/>
        </p:nvSpPr>
        <p:spPr>
          <a:xfrm>
            <a:off x="7955280" y="274320"/>
            <a:ext cx="731520" cy="731520"/>
          </a:xfrm>
          <a:prstGeom prst="ellipse">
            <a:avLst/>
          </a:prstGeom>
          <a:solidFill>
            <a:schemeClr val="accent3"/>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22"/>
          <p:cNvSpPr/>
          <p:nvPr/>
        </p:nvSpPr>
        <p:spPr>
          <a:xfrm>
            <a:off x="457200" y="1188720"/>
            <a:ext cx="8229600" cy="3337560"/>
          </a:xfrm>
          <a:prstGeom prst="roundRect">
            <a:avLst>
              <a:gd name="adj" fmla="val 3288"/>
            </a:avLst>
          </a:prstGeom>
          <a:solidFill>
            <a:schemeClr val="bg1"/>
          </a:solidFill>
          <a:ln/>
          <a:effectLst>
            <a:outerShdw blurRad="101600" dist="25400" dir="5400000" algn="bl" rotWithShape="0">
              <a:srgbClr val="000000">
                <a:alpha val="16000"/>
              </a:srgbClr>
            </a:outerShdw>
          </a:effectLst>
        </p:spPr>
      </p:sp>
      <p:sp>
        <p:nvSpPr>
          <p:cNvPr id="6" name="Text 3"/>
          <p:cNvSpPr txBox="1"/>
          <p:nvPr/>
        </p:nvSpPr>
        <p:spPr>
          <a:xfrm>
            <a:off x="685800" y="1149913"/>
            <a:ext cx="7772400" cy="3154680"/>
          </a:xfrm>
          <a:prstGeom prst="rect">
            <a:avLst/>
          </a:prstGeom>
          <a:noFill/>
          <a:ln/>
        </p:spPr>
        <p:txBody>
          <a:bodyPr wrap="square" lIns="0" tIns="0" rIns="0" bIns="0" rtlCol="0" anchor="ctr"/>
          <a:lstStyle/>
          <a:p>
            <a:pPr marL="0" indent="0">
              <a:spcAft>
                <a:spcPts val="800"/>
              </a:spcAft>
              <a:buNone/>
            </a:pPr>
            <a:r>
              <a:rPr lang="en-US" sz="1900" b="1" dirty="0">
                <a:solidFill>
                  <a:schemeClr val="accent1"/>
                </a:solidFill>
                <a:latin typeface="Cambria" pitchFamily="34" charset="0"/>
                <a:ea typeface="Cambria" pitchFamily="34" charset="-122"/>
                <a:cs typeface="Cambria" pitchFamily="34" charset="-120"/>
              </a:rPr>
              <a:t>The Magpie and the Race
</a:t>
            </a:r>
            <a:r>
              <a:rPr lang="en-US" sz="1500" dirty="0">
                <a:solidFill>
                  <a:schemeClr val="tx1"/>
                </a:solidFill>
              </a:rPr>
              <a:t>Every morning, Maya the magpie perched on the highest branch of the elm tree and announced to the whole wood, “I am the cleverest bird alive. Nobody could ever beat me!” The sparrows rolled their eyes. The old owl said quietly, “Even a clever bird should check the sky before she flies.” Maya laughed. “Check the sky? I do not need to.”
One afternoon, she challenged the swallows to a race across the valley. Dark clouds were gathering, but Maya did not look up. She shot into the air; certain she would win. Halfway across, the wind roared. Rain lashed her wings and she tumbled into a thorn bush, bruised and soaked.
The swallows, who had stayed safely at home, found her at dusk. Maya's cheeks burned. “I should have listened,” she whispered.</a:t>
            </a:r>
            <a:endParaRPr lang="en-US" sz="15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07847"/>
            <a:ext cx="7223760" cy="731520"/>
          </a:xfrm>
          <a:prstGeom prst="rect">
            <a:avLst/>
          </a:prstGeom>
          <a:noFill/>
          <a:ln/>
        </p:spPr>
        <p:txBody>
          <a:bodyPr wrap="square" lIns="0" tIns="0" rIns="0" bIns="0" rtlCol="0" anchor="ctr"/>
          <a:lstStyle/>
          <a:p>
            <a:pPr marL="0" indent="0" algn="l">
              <a:buNone/>
            </a:pPr>
            <a:r>
              <a:rPr lang="en-US" sz="3400" b="1" dirty="0">
                <a:solidFill>
                  <a:schemeClr val="tx2"/>
                </a:solidFill>
              </a:rPr>
              <a:t>Homework: answer in your book</a:t>
            </a:r>
            <a:endParaRPr lang="en-US" sz="3400" dirty="0"/>
          </a:p>
        </p:txBody>
      </p:sp>
      <p:sp>
        <p:nvSpPr>
          <p:cNvPr id="3" name="Badge 223"/>
          <p:cNvSpPr/>
          <p:nvPr/>
        </p:nvSpPr>
        <p:spPr>
          <a:xfrm>
            <a:off x="7955280" y="274320"/>
            <a:ext cx="731520" cy="731520"/>
          </a:xfrm>
          <a:prstGeom prst="ellipse">
            <a:avLst/>
          </a:prstGeom>
          <a:solidFill>
            <a:schemeClr val="accent1"/>
          </a:solidFill>
          <a:ln/>
        </p:spPr>
      </p:sp>
      <p:pic>
        <p:nvPicPr>
          <p:cNvPr id="4" name="Image 0" descr="Decorative animal icon"/>
          <p:cNvPicPr>
            <a:picLocks noChangeAspect="1"/>
          </p:cNvPicPr>
          <p:nvPr/>
        </p:nvPicPr>
        <p:blipFill>
          <a:blip r:embed="rId3"/>
          <a:stretch>
            <a:fillRect/>
          </a:stretch>
        </p:blipFill>
        <p:spPr>
          <a:xfrm>
            <a:off x="8116214" y="435254"/>
            <a:ext cx="409651" cy="409651"/>
          </a:xfrm>
          <a:prstGeom prst="rect">
            <a:avLst/>
          </a:prstGeom>
        </p:spPr>
      </p:pic>
      <p:sp>
        <p:nvSpPr>
          <p:cNvPr id="5" name="Card 224"/>
          <p:cNvSpPr/>
          <p:nvPr/>
        </p:nvSpPr>
        <p:spPr>
          <a:xfrm>
            <a:off x="457200" y="1188720"/>
            <a:ext cx="8229600" cy="658368"/>
          </a:xfrm>
          <a:prstGeom prst="roundRect">
            <a:avLst>
              <a:gd name="adj" fmla="val 16667"/>
            </a:avLst>
          </a:prstGeom>
          <a:solidFill>
            <a:schemeClr val="bg2"/>
          </a:solidFill>
          <a:ln/>
        </p:spPr>
      </p:sp>
      <p:sp>
        <p:nvSpPr>
          <p:cNvPr id="6" name="Num 225"/>
          <p:cNvSpPr/>
          <p:nvPr/>
        </p:nvSpPr>
        <p:spPr>
          <a:xfrm>
            <a:off x="594360" y="1243584"/>
            <a:ext cx="548640" cy="548640"/>
          </a:xfrm>
          <a:prstGeom prst="ellipse">
            <a:avLst/>
          </a:prstGeom>
          <a:solidFill>
            <a:schemeClr val="accent1"/>
          </a:solidFill>
          <a:ln/>
        </p:spPr>
      </p:sp>
      <p:sp>
        <p:nvSpPr>
          <p:cNvPr id="7" name="Text 4"/>
          <p:cNvSpPr txBox="1"/>
          <p:nvPr/>
        </p:nvSpPr>
        <p:spPr>
          <a:xfrm>
            <a:off x="594360" y="124358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371600" y="1188720"/>
            <a:ext cx="7178040" cy="658368"/>
          </a:xfrm>
          <a:prstGeom prst="rect">
            <a:avLst/>
          </a:prstGeom>
          <a:noFill/>
          <a:ln/>
        </p:spPr>
        <p:txBody>
          <a:bodyPr wrap="square" lIns="0" tIns="0" rIns="0" bIns="0" rtlCol="0" anchor="ctr"/>
          <a:lstStyle/>
          <a:p>
            <a:pPr marL="0" indent="0">
              <a:buNone/>
            </a:pPr>
            <a:r>
              <a:rPr lang="en-US" sz="1500" b="1" dirty="0">
                <a:solidFill>
                  <a:schemeClr val="tx2"/>
                </a:solidFill>
              </a:rPr>
              <a:t>Maya's trait is never named. What is it? Give two pieces of evidence.</a:t>
            </a:r>
            <a:endParaRPr lang="en-US" sz="1500" dirty="0"/>
          </a:p>
        </p:txBody>
      </p:sp>
      <p:sp>
        <p:nvSpPr>
          <p:cNvPr id="9" name="Card 226"/>
          <p:cNvSpPr/>
          <p:nvPr/>
        </p:nvSpPr>
        <p:spPr>
          <a:xfrm>
            <a:off x="457200" y="1920240"/>
            <a:ext cx="8229600" cy="658368"/>
          </a:xfrm>
          <a:prstGeom prst="roundRect">
            <a:avLst>
              <a:gd name="adj" fmla="val 16667"/>
            </a:avLst>
          </a:prstGeom>
          <a:solidFill>
            <a:schemeClr val="bg2"/>
          </a:solidFill>
          <a:ln/>
        </p:spPr>
      </p:sp>
      <p:sp>
        <p:nvSpPr>
          <p:cNvPr id="10" name="Num 227"/>
          <p:cNvSpPr/>
          <p:nvPr/>
        </p:nvSpPr>
        <p:spPr>
          <a:xfrm>
            <a:off x="594360" y="1975104"/>
            <a:ext cx="548640" cy="548640"/>
          </a:xfrm>
          <a:prstGeom prst="ellipse">
            <a:avLst/>
          </a:prstGeom>
          <a:solidFill>
            <a:schemeClr val="accent6"/>
          </a:solidFill>
          <a:ln/>
        </p:spPr>
      </p:sp>
      <p:sp>
        <p:nvSpPr>
          <p:cNvPr id="11" name="Text 8"/>
          <p:cNvSpPr txBox="1"/>
          <p:nvPr/>
        </p:nvSpPr>
        <p:spPr>
          <a:xfrm>
            <a:off x="594360" y="197510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9"/>
          <p:cNvSpPr txBox="1"/>
          <p:nvPr/>
        </p:nvSpPr>
        <p:spPr>
          <a:xfrm>
            <a:off x="1371600" y="1920240"/>
            <a:ext cx="7178040" cy="658368"/>
          </a:xfrm>
          <a:prstGeom prst="rect">
            <a:avLst/>
          </a:prstGeom>
          <a:noFill/>
          <a:ln/>
        </p:spPr>
        <p:txBody>
          <a:bodyPr wrap="square" lIns="0" tIns="0" rIns="0" bIns="0" rtlCol="0" anchor="ctr"/>
          <a:lstStyle/>
          <a:p>
            <a:pPr marL="0" indent="0">
              <a:buNone/>
            </a:pPr>
            <a:r>
              <a:rPr lang="en-US" sz="1500" b="1" dirty="0">
                <a:solidFill>
                  <a:schemeClr val="tx2"/>
                </a:solidFill>
              </a:rPr>
              <a:t>How did her trait cause the problem? </a:t>
            </a:r>
          </a:p>
          <a:p>
            <a:pPr marL="0" indent="0">
              <a:buNone/>
            </a:pPr>
            <a:r>
              <a:rPr lang="en-US" sz="1500" b="1" dirty="0">
                <a:solidFill>
                  <a:schemeClr val="tx2"/>
                </a:solidFill>
              </a:rPr>
              <a:t>Write: Because ______, ______. So ______. </a:t>
            </a:r>
          </a:p>
          <a:p>
            <a:pPr marL="0" indent="0">
              <a:buNone/>
            </a:pPr>
            <a:r>
              <a:rPr lang="en-US" sz="1500" b="1" dirty="0">
                <a:solidFill>
                  <a:schemeClr val="tx2"/>
                </a:solidFill>
              </a:rPr>
              <a:t>Why was it not just bad luck?</a:t>
            </a:r>
            <a:endParaRPr lang="en-US" sz="1500" dirty="0"/>
          </a:p>
        </p:txBody>
      </p:sp>
      <p:sp>
        <p:nvSpPr>
          <p:cNvPr id="13" name="Card 228"/>
          <p:cNvSpPr/>
          <p:nvPr/>
        </p:nvSpPr>
        <p:spPr>
          <a:xfrm>
            <a:off x="457200" y="2651760"/>
            <a:ext cx="8229600" cy="658368"/>
          </a:xfrm>
          <a:prstGeom prst="roundRect">
            <a:avLst>
              <a:gd name="adj" fmla="val 16667"/>
            </a:avLst>
          </a:prstGeom>
          <a:solidFill>
            <a:schemeClr val="bg2"/>
          </a:solidFill>
          <a:ln/>
        </p:spPr>
      </p:sp>
      <p:sp>
        <p:nvSpPr>
          <p:cNvPr id="14" name="Num 229"/>
          <p:cNvSpPr/>
          <p:nvPr/>
        </p:nvSpPr>
        <p:spPr>
          <a:xfrm>
            <a:off x="594360" y="2706624"/>
            <a:ext cx="548640" cy="548640"/>
          </a:xfrm>
          <a:prstGeom prst="ellipse">
            <a:avLst/>
          </a:prstGeom>
          <a:solidFill>
            <a:schemeClr val="accent5"/>
          </a:solidFill>
          <a:ln/>
        </p:spPr>
      </p:sp>
      <p:sp>
        <p:nvSpPr>
          <p:cNvPr id="15" name="Text 12"/>
          <p:cNvSpPr txBox="1"/>
          <p:nvPr/>
        </p:nvSpPr>
        <p:spPr>
          <a:xfrm>
            <a:off x="594360" y="270662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3"/>
          <p:cNvSpPr txBox="1"/>
          <p:nvPr/>
        </p:nvSpPr>
        <p:spPr>
          <a:xfrm>
            <a:off x="1371600" y="2651760"/>
            <a:ext cx="7178040" cy="658368"/>
          </a:xfrm>
          <a:prstGeom prst="rect">
            <a:avLst/>
          </a:prstGeom>
          <a:noFill/>
          <a:ln/>
        </p:spPr>
        <p:txBody>
          <a:bodyPr wrap="square" lIns="0" tIns="0" rIns="0" bIns="0" rtlCol="0" anchor="ctr"/>
          <a:lstStyle/>
          <a:p>
            <a:pPr marL="0" indent="0">
              <a:buNone/>
            </a:pPr>
            <a:r>
              <a:rPr lang="en-US" sz="1500" b="1" dirty="0">
                <a:solidFill>
                  <a:schemeClr val="tx2"/>
                </a:solidFill>
              </a:rPr>
              <a:t>What choice did Maya make? What could she have done differently?</a:t>
            </a:r>
            <a:endParaRPr lang="en-US" sz="1500" dirty="0"/>
          </a:p>
        </p:txBody>
      </p:sp>
      <p:sp>
        <p:nvSpPr>
          <p:cNvPr id="17" name="Card 230"/>
          <p:cNvSpPr/>
          <p:nvPr/>
        </p:nvSpPr>
        <p:spPr>
          <a:xfrm>
            <a:off x="457200" y="3383280"/>
            <a:ext cx="8229600" cy="658368"/>
          </a:xfrm>
          <a:prstGeom prst="roundRect">
            <a:avLst>
              <a:gd name="adj" fmla="val 16667"/>
            </a:avLst>
          </a:prstGeom>
          <a:solidFill>
            <a:schemeClr val="bg2"/>
          </a:solidFill>
          <a:ln/>
        </p:spPr>
      </p:sp>
      <p:sp>
        <p:nvSpPr>
          <p:cNvPr id="18" name="Num 231"/>
          <p:cNvSpPr/>
          <p:nvPr/>
        </p:nvSpPr>
        <p:spPr>
          <a:xfrm>
            <a:off x="594360" y="3438144"/>
            <a:ext cx="548640" cy="548640"/>
          </a:xfrm>
          <a:prstGeom prst="ellipse">
            <a:avLst/>
          </a:prstGeom>
          <a:solidFill>
            <a:schemeClr val="accent3"/>
          </a:solidFill>
          <a:ln/>
        </p:spPr>
      </p:sp>
      <p:sp>
        <p:nvSpPr>
          <p:cNvPr id="19" name="Text 16"/>
          <p:cNvSpPr txBox="1"/>
          <p:nvPr/>
        </p:nvSpPr>
        <p:spPr>
          <a:xfrm>
            <a:off x="594360" y="343814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0" name="Text 17"/>
          <p:cNvSpPr txBox="1"/>
          <p:nvPr/>
        </p:nvSpPr>
        <p:spPr>
          <a:xfrm>
            <a:off x="1371600" y="3383280"/>
            <a:ext cx="7178040" cy="658368"/>
          </a:xfrm>
          <a:prstGeom prst="rect">
            <a:avLst/>
          </a:prstGeom>
          <a:noFill/>
          <a:ln/>
        </p:spPr>
        <p:txBody>
          <a:bodyPr wrap="square" lIns="0" tIns="0" rIns="0" bIns="0" rtlCol="0" anchor="ctr"/>
          <a:lstStyle/>
          <a:p>
            <a:pPr marL="0" indent="0">
              <a:buNone/>
            </a:pPr>
            <a:r>
              <a:rPr lang="en-US" sz="1500" b="1" dirty="0">
                <a:solidFill>
                  <a:schemeClr val="tx2"/>
                </a:solidFill>
              </a:rPr>
              <a:t>Write the lesson in your own words. Which part of the story shows it?</a:t>
            </a:r>
            <a:endParaRPr lang="en-US" sz="1500" dirty="0"/>
          </a:p>
        </p:txBody>
      </p:sp>
      <p:sp>
        <p:nvSpPr>
          <p:cNvPr id="21" name="Card 232"/>
          <p:cNvSpPr/>
          <p:nvPr/>
        </p:nvSpPr>
        <p:spPr>
          <a:xfrm>
            <a:off x="457200" y="4160520"/>
            <a:ext cx="8229600" cy="502920"/>
          </a:xfrm>
          <a:prstGeom prst="roundRect">
            <a:avLst>
              <a:gd name="adj" fmla="val 21818"/>
            </a:avLst>
          </a:prstGeom>
          <a:solidFill>
            <a:schemeClr val="tx2"/>
          </a:solidFill>
          <a:ln/>
        </p:spPr>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35</a:t>
            </a:fld>
            <a:endParaRPr lang="en-US"/>
          </a:p>
        </p:txBody>
      </p:sp>
    </p:spTree>
  </p:cSld>
  <p:clrMapOvr>
    <a:masterClrMapping/>
  </p:clrMapOvr>
</p:sld>
</file>

<file path=ppt/theme/theme1.xml><?xml version="1.0" encoding="utf-8"?>
<a:theme xmlns:a="http://schemas.openxmlformats.org/drawingml/2006/main" name="Woodland Fable">
  <a:themeElements>
    <a:clrScheme name="Woodland Fable">
      <a:dk1>
        <a:srgbClr val="22302A"/>
      </a:dk1>
      <a:lt1>
        <a:srgbClr val="FFFFFF"/>
      </a:lt1>
      <a:dk2>
        <a:srgbClr val="1B4332"/>
      </a:dk2>
      <a:lt2>
        <a:srgbClr val="EAF3E4"/>
      </a:lt2>
      <a:accent1>
        <a:srgbClr val="E0561F"/>
      </a:accent1>
      <a:accent2>
        <a:srgbClr val="F4B942"/>
      </a:accent2>
      <a:accent3>
        <a:srgbClr val="2D6A4F"/>
      </a:accent3>
      <a:accent4>
        <a:srgbClr val="2A7AB0"/>
      </a:accent4>
      <a:accent5>
        <a:srgbClr val="7B4FA3"/>
      </a:accent5>
      <a:accent6>
        <a:srgbClr val="C9304A"/>
      </a:accent6>
      <a:hlink>
        <a:srgbClr val="2A7AB0"/>
      </a:hlink>
      <a:folHlink>
        <a:srgbClr val="7B4FA3"/>
      </a:folHlink>
    </a:clrScheme>
    <a:fontScheme name="Woodland Fab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3061</Words>
  <Application>Microsoft Office PowerPoint</Application>
  <PresentationFormat>On-screen Show (16:9)</PresentationFormat>
  <Paragraphs>358</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Cambria</vt:lpstr>
      <vt:lpstr>Woodland Fable</vt:lpstr>
      <vt:lpstr>Write a Fable</vt:lpstr>
      <vt:lpstr>Today's outcome</vt:lpstr>
      <vt:lpstr>Our fable chain</vt:lpstr>
      <vt:lpstr>Check your map</vt:lpstr>
      <vt:lpstr>One box, two sentences</vt:lpstr>
      <vt:lpstr>Show the trait</vt:lpstr>
      <vt:lpstr>Answers: show the trait</vt:lpstr>
      <vt:lpstr>Model: Paragraph 1</vt:lpstr>
      <vt:lpstr>Bad luck or the trait?</vt:lpstr>
      <vt:lpstr>Answer: from the trait</vt:lpstr>
      <vt:lpstr>The because / so bridge</vt:lpstr>
      <vt:lpstr>Model: Paragraph 2</vt:lpstr>
      <vt:lpstr>Fix the weak problem</vt:lpstr>
      <vt:lpstr>Model: fix the problem</vt:lpstr>
      <vt:lpstr>I write, we write, you write</vt:lpstr>
      <vt:lpstr>Model: shared writing</vt:lpstr>
      <vt:lpstr>Choose your path</vt:lpstr>
      <vt:lpstr>Model: the three paths</vt:lpstr>
      <vt:lpstr>Write Paragraph 1</vt:lpstr>
      <vt:lpstr>Stop: partner check</vt:lpstr>
      <vt:lpstr>Write the bridge</vt:lpstr>
      <vt:lpstr>Model: bridge sentences</vt:lpstr>
      <vt:lpstr>Write Paragraph 2</vt:lpstr>
      <vt:lpstr>Stop: check the link</vt:lpstr>
      <vt:lpstr>Edit with a partner</vt:lpstr>
      <vt:lpstr>Upgrade one sentence</vt:lpstr>
      <vt:lpstr>Model: upgraded sentences</vt:lpstr>
      <vt:lpstr>How did you do?</vt:lpstr>
      <vt:lpstr>Plenary: read the fable</vt:lpstr>
      <vt:lpstr>Answer in your book</vt:lpstr>
      <vt:lpstr>Answers</vt:lpstr>
      <vt:lpstr>Exit ticket</vt:lpstr>
      <vt:lpstr>Model: exit ticket</vt:lpstr>
      <vt:lpstr>Homework: read the fable</vt:lpstr>
      <vt:lpstr>Homework: answer in your book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Fable Writing - Session 1: Write the Beginning + Problem</dc:title>
  <dc:subject>Year 5 Writing - Fables</dc:subject>
  <dc:creator>PptxGenJS</dc:creator>
  <cp:lastModifiedBy>pc</cp:lastModifiedBy>
  <cp:revision>4</cp:revision>
  <dcterms:created xsi:type="dcterms:W3CDTF">2026-10-06T19:30:39Z</dcterms:created>
  <dcterms:modified xsi:type="dcterms:W3CDTF">2026-10-06T19:53:28Z</dcterms:modified>
</cp:coreProperties>
</file>