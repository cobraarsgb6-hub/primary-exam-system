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69" autoAdjust="0"/>
    <p:restoredTop sz="94610"/>
  </p:normalViewPr>
  <p:slideViewPr>
    <p:cSldViewPr snapToGrid="0" snapToObjects="1">
      <p:cViewPr varScale="1">
        <p:scale>
          <a:sx n="144" d="100"/>
          <a:sy n="144" d="100"/>
        </p:scale>
        <p:origin x="29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8434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starter 10 min, teaching and checks 25 min, challenge and sharing 20 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warm-up and models 15 min, planning 10 min, writing 25 min. Peer review and improvement can move to a plenary or the start of the next lesson.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be used as a plenary, or at the start of the next lesson.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B4D"/>
        </a:solidFill>
        <a:effectLst/>
      </p:bgPr>
    </p:bg>
    <p:spTree>
      <p:nvGrpSpPr>
        <p:cNvPr id="1" name=""/>
        <p:cNvGrpSpPr/>
        <p:nvPr/>
      </p:nvGrpSpPr>
      <p:grpSpPr>
        <a:xfrm>
          <a:off x="0" y="0"/>
          <a:ext cx="0" cy="0"/>
          <a:chOff x="0" y="0"/>
          <a:chExt cx="0" cy="0"/>
        </a:xfrm>
      </p:grpSpPr>
      <p:sp>
        <p:nvSpPr>
          <p:cNvPr id="2" name="Shape 0"/>
          <p:cNvSpPr/>
          <p:nvPr/>
        </p:nvSpPr>
        <p:spPr>
          <a:xfrm>
            <a:off x="-914400" y="2926080"/>
            <a:ext cx="3291840" cy="3291840"/>
          </a:xfrm>
          <a:prstGeom prst="ellipse">
            <a:avLst/>
          </a:prstGeom>
          <a:solidFill>
            <a:srgbClr val="3E2A70"/>
          </a:solidFill>
          <a:ln/>
        </p:spPr>
      </p:sp>
      <p:sp>
        <p:nvSpPr>
          <p:cNvPr id="3" name="Shape 1"/>
          <p:cNvSpPr/>
          <p:nvPr/>
        </p:nvSpPr>
        <p:spPr>
          <a:xfrm>
            <a:off x="3108960" y="3931920"/>
            <a:ext cx="2194560" cy="2194560"/>
          </a:xfrm>
          <a:prstGeom prst="ellipse">
            <a:avLst/>
          </a:prstGeom>
          <a:solidFill>
            <a:srgbClr val="3E2A70"/>
          </a:solidFill>
          <a:ln/>
        </p:spPr>
      </p:sp>
      <p:sp>
        <p:nvSpPr>
          <p:cNvPr id="4" name="Text 2"/>
          <p:cNvSpPr txBox="1"/>
          <p:nvPr/>
        </p:nvSpPr>
        <p:spPr>
          <a:xfrm>
            <a:off x="548640" y="640080"/>
            <a:ext cx="1554480" cy="411480"/>
          </a:xfrm>
          <a:prstGeom prst="roundRect">
            <a:avLst>
              <a:gd name="adj" fmla="val 26667"/>
            </a:avLst>
          </a:prstGeom>
          <a:solidFill>
            <a:srgbClr val="FF8A3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LESSON 1.6</a:t>
            </a:r>
            <a:endParaRPr lang="en-US" sz="1400" dirty="0"/>
          </a:p>
        </p:txBody>
      </p:sp>
      <p:sp>
        <p:nvSpPr>
          <p:cNvPr id="5" name="Text 3"/>
          <p:cNvSpPr txBox="1"/>
          <p:nvPr/>
        </p:nvSpPr>
        <p:spPr>
          <a:xfrm>
            <a:off x="548640" y="1188720"/>
            <a:ext cx="4206240" cy="1005840"/>
          </a:xfrm>
          <a:prstGeom prst="rect">
            <a:avLst/>
          </a:prstGeom>
          <a:noFill/>
          <a:ln/>
        </p:spPr>
        <p:txBody>
          <a:bodyPr wrap="square" lIns="0" tIns="0" rIns="0" bIns="0" rtlCol="0" anchor="ctr"/>
          <a:lstStyle/>
          <a:p>
            <a:pPr marL="0" indent="0">
              <a:buNone/>
            </a:pPr>
            <a:r>
              <a:rPr lang="en-US" sz="5400" b="1" dirty="0">
                <a:solidFill>
                  <a:srgbClr val="FFD166"/>
                </a:solidFill>
                <a:latin typeface="Cambria" pitchFamily="34" charset="0"/>
                <a:ea typeface="Cambria" pitchFamily="34" charset="-122"/>
                <a:cs typeface="Cambria" pitchFamily="34" charset="-120"/>
              </a:rPr>
              <a:t>A TWIST…</a:t>
            </a:r>
            <a:endParaRPr lang="en-US" sz="5400" dirty="0"/>
          </a:p>
        </p:txBody>
      </p:sp>
      <p:sp>
        <p:nvSpPr>
          <p:cNvPr id="6" name="Text 4"/>
          <p:cNvSpPr txBox="1"/>
          <p:nvPr/>
        </p:nvSpPr>
        <p:spPr>
          <a:xfrm>
            <a:off x="548640" y="2286000"/>
            <a:ext cx="4023360" cy="548640"/>
          </a:xfrm>
          <a:prstGeom prst="rect">
            <a:avLst/>
          </a:prstGeom>
          <a:noFill/>
          <a:ln/>
        </p:spPr>
        <p:txBody>
          <a:bodyPr wrap="square" lIns="0" tIns="0" rIns="0" bIns="0" rtlCol="0" anchor="ctr"/>
          <a:lstStyle/>
          <a:p>
            <a:pPr marL="0" indent="0">
              <a:buNone/>
            </a:pPr>
            <a:r>
              <a:rPr lang="en-US" sz="2400" i="1" dirty="0">
                <a:solidFill>
                  <a:srgbClr val="FFFFFF"/>
                </a:solidFill>
              </a:rPr>
              <a:t>What if the story changed?</a:t>
            </a:r>
            <a:endParaRPr lang="en-US" sz="2400" dirty="0"/>
          </a:p>
        </p:txBody>
      </p:sp>
      <p:sp>
        <p:nvSpPr>
          <p:cNvPr id="7" name="Text 5"/>
          <p:cNvSpPr txBox="1"/>
          <p:nvPr/>
        </p:nvSpPr>
        <p:spPr>
          <a:xfrm>
            <a:off x="548640" y="3017520"/>
            <a:ext cx="4023360" cy="365760"/>
          </a:xfrm>
          <a:prstGeom prst="rect">
            <a:avLst/>
          </a:prstGeom>
          <a:noFill/>
          <a:ln/>
        </p:spPr>
        <p:txBody>
          <a:bodyPr wrap="square" lIns="0" tIns="0" rIns="0" bIns="0" rtlCol="0" anchor="ctr"/>
          <a:lstStyle/>
          <a:p>
            <a:pPr marL="0" indent="0">
              <a:buNone/>
            </a:pPr>
            <a:r>
              <a:rPr lang="en-US" sz="1300" b="1" dirty="0">
                <a:solidFill>
                  <a:srgbClr val="B7A8E8"/>
                </a:solidFill>
              </a:rPr>
              <a:t>YEAR 5  ·  FABLES  ·  TWO SESSIONS</a:t>
            </a:r>
            <a:endParaRPr lang="en-US" sz="1300" dirty="0"/>
          </a:p>
        </p:txBody>
      </p:sp>
      <p:sp>
        <p:nvSpPr>
          <p:cNvPr id="8" name="Shape 6"/>
          <p:cNvSpPr/>
          <p:nvPr/>
        </p:nvSpPr>
        <p:spPr>
          <a:xfrm>
            <a:off x="4846320" y="640080"/>
            <a:ext cx="3840480" cy="3840480"/>
          </a:xfrm>
          <a:prstGeom prst="roundRect">
            <a:avLst>
              <a:gd name="adj" fmla="val 4762"/>
            </a:avLst>
          </a:prstGeom>
          <a:solidFill>
            <a:srgbClr val="3E2A70"/>
          </a:solidFill>
          <a:ln w="25400">
            <a:solidFill>
              <a:srgbClr val="FF8A3D"/>
            </a:solidFill>
            <a:prstDash val="solid"/>
          </a:ln>
        </p:spPr>
      </p:sp>
      <p:sp>
        <p:nvSpPr>
          <p:cNvPr id="9" name="Text 7"/>
          <p:cNvSpPr txBox="1"/>
          <p:nvPr/>
        </p:nvSpPr>
        <p:spPr>
          <a:xfrm>
            <a:off x="5120640" y="822960"/>
            <a:ext cx="3291840" cy="457200"/>
          </a:xfrm>
          <a:prstGeom prst="rect">
            <a:avLst/>
          </a:prstGeom>
          <a:noFill/>
          <a:ln/>
        </p:spPr>
        <p:txBody>
          <a:bodyPr wrap="square" lIns="0" tIns="0" rIns="0" bIns="0" rtlCol="0" anchor="ctr"/>
          <a:lstStyle/>
          <a:p>
            <a:pPr marL="0" indent="0">
              <a:buNone/>
            </a:pPr>
            <a:r>
              <a:rPr lang="en-US" sz="2000" b="1" dirty="0">
                <a:solidFill>
                  <a:srgbClr val="FFD166"/>
                </a:solidFill>
                <a:latin typeface="Cambria" pitchFamily="34" charset="0"/>
                <a:ea typeface="Cambria" pitchFamily="34" charset="-122"/>
                <a:cs typeface="Cambria" pitchFamily="34" charset="-120"/>
              </a:rPr>
              <a:t>Today we will:</a:t>
            </a:r>
            <a:endParaRPr lang="en-US" sz="2000" dirty="0"/>
          </a:p>
        </p:txBody>
      </p:sp>
      <p:sp>
        <p:nvSpPr>
          <p:cNvPr id="10" name="Text 8"/>
          <p:cNvSpPr txBox="1"/>
          <p:nvPr/>
        </p:nvSpPr>
        <p:spPr>
          <a:xfrm>
            <a:off x="5120640" y="1371600"/>
            <a:ext cx="3291840" cy="2926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rPr>
              <a:t>identify important parts of a fable</a:t>
            </a:r>
            <a:endParaRPr lang="en-US" sz="1500" dirty="0"/>
          </a:p>
          <a:p>
            <a:pPr marL="342900" indent="-342900">
              <a:spcAft>
                <a:spcPts val="800"/>
              </a:spcAft>
              <a:buSzPct val="100000"/>
              <a:buChar char="•"/>
            </a:pPr>
            <a:r>
              <a:rPr lang="en-US" sz="1500" dirty="0">
                <a:solidFill>
                  <a:srgbClr val="FFFFFF"/>
                </a:solidFill>
              </a:rPr>
              <a:t>explore what happens when one part changes</a:t>
            </a:r>
            <a:endParaRPr lang="en-US" sz="1500" dirty="0"/>
          </a:p>
          <a:p>
            <a:pPr marL="342900" indent="-342900">
              <a:spcAft>
                <a:spcPts val="800"/>
              </a:spcAft>
              <a:buSzPct val="100000"/>
              <a:buChar char="•"/>
            </a:pPr>
            <a:r>
              <a:rPr lang="en-US" sz="1500" dirty="0">
                <a:solidFill>
                  <a:srgbClr val="FFFFFF"/>
                </a:solidFill>
              </a:rPr>
              <a:t>predict new consequences</a:t>
            </a:r>
            <a:endParaRPr lang="en-US" sz="1500" dirty="0"/>
          </a:p>
          <a:p>
            <a:pPr marL="342900" indent="-342900">
              <a:spcAft>
                <a:spcPts val="800"/>
              </a:spcAft>
              <a:buSzPct val="100000"/>
              <a:buChar char="•"/>
            </a:pPr>
            <a:r>
              <a:rPr lang="en-US" sz="1500" dirty="0">
                <a:solidFill>
                  <a:srgbClr val="FFFFFF"/>
                </a:solidFill>
              </a:rPr>
              <a:t>think about how the moral may change</a:t>
            </a:r>
            <a:endParaRPr lang="en-US" sz="1500" dirty="0"/>
          </a:p>
          <a:p>
            <a:pPr marL="342900" indent="-342900">
              <a:spcAft>
                <a:spcPts val="800"/>
              </a:spcAft>
              <a:buSzPct val="100000"/>
              <a:buChar char="•"/>
            </a:pPr>
            <a:r>
              <a:rPr lang="en-US" sz="1500" dirty="0">
                <a:solidFill>
                  <a:srgbClr val="FFFFFF"/>
                </a:solidFill>
              </a:rPr>
              <a:t>create our own twisted fable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A1B4D"/>
        </a:solidFill>
        <a:effectLst/>
      </p:bgPr>
    </p:bg>
    <p:spTree>
      <p:nvGrpSpPr>
        <p:cNvPr id="1" name=""/>
        <p:cNvGrpSpPr/>
        <p:nvPr/>
      </p:nvGrpSpPr>
      <p:grpSpPr>
        <a:xfrm>
          <a:off x="0" y="0"/>
          <a:ext cx="0" cy="0"/>
          <a:chOff x="0" y="0"/>
          <a:chExt cx="0" cy="0"/>
        </a:xfrm>
      </p:grpSpPr>
      <p:sp>
        <p:nvSpPr>
          <p:cNvPr id="3" name="Shape 0"/>
          <p:cNvSpPr/>
          <p:nvPr/>
        </p:nvSpPr>
        <p:spPr>
          <a:xfrm>
            <a:off x="5669280" y="731520"/>
            <a:ext cx="4572000" cy="4572000"/>
          </a:xfrm>
          <a:prstGeom prst="ellipse">
            <a:avLst/>
          </a:prstGeom>
          <a:solidFill>
            <a:srgbClr val="3E2A70"/>
          </a:solidFill>
          <a:ln/>
        </p:spPr>
      </p:sp>
      <p:sp>
        <p:nvSpPr>
          <p:cNvPr id="4" name="Shape 1"/>
          <p:cNvSpPr/>
          <p:nvPr/>
        </p:nvSpPr>
        <p:spPr>
          <a:xfrm>
            <a:off x="6949440" y="2194560"/>
            <a:ext cx="1463040" cy="1463040"/>
          </a:xfrm>
          <a:prstGeom prst="ellipse">
            <a:avLst/>
          </a:prstGeom>
          <a:solidFill>
            <a:srgbClr val="FF8A3D"/>
          </a:solidFill>
          <a:ln/>
        </p:spPr>
      </p:sp>
      <p:sp>
        <p:nvSpPr>
          <p:cNvPr id="5" name="Text 2"/>
          <p:cNvSpPr txBox="1"/>
          <p:nvPr/>
        </p:nvSpPr>
        <p:spPr>
          <a:xfrm>
            <a:off x="640080" y="1554480"/>
            <a:ext cx="2194560" cy="457200"/>
          </a:xfrm>
          <a:prstGeom prst="roundRect">
            <a:avLst>
              <a:gd name="adj" fmla="val 24000"/>
            </a:avLst>
          </a:prstGeom>
          <a:solidFill>
            <a:srgbClr val="1FB5A8"/>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SESSION 1</a:t>
            </a:r>
            <a:endParaRPr lang="en-US" sz="1800" dirty="0"/>
          </a:p>
        </p:txBody>
      </p:sp>
      <p:sp>
        <p:nvSpPr>
          <p:cNvPr id="6" name="Text 3"/>
          <p:cNvSpPr txBox="1"/>
          <p:nvPr/>
        </p:nvSpPr>
        <p:spPr>
          <a:xfrm>
            <a:off x="640080" y="2194560"/>
            <a:ext cx="5486400" cy="1280160"/>
          </a:xfrm>
          <a:prstGeom prst="rect">
            <a:avLst/>
          </a:prstGeom>
          <a:noFill/>
          <a:ln/>
        </p:spPr>
        <p:txBody>
          <a:bodyPr wrap="square" lIns="0" tIns="0" rIns="0" bIns="0" rtlCol="0" anchor="ctr"/>
          <a:lstStyle/>
          <a:p>
            <a:pPr marL="0" indent="0">
              <a:buNone/>
            </a:pPr>
            <a:r>
              <a:rPr lang="en-US" sz="4400" b="1" dirty="0">
                <a:solidFill>
                  <a:srgbClr val="FFD166"/>
                </a:solidFill>
                <a:latin typeface="Cambria" pitchFamily="34" charset="0"/>
                <a:ea typeface="Cambria" pitchFamily="34" charset="-122"/>
                <a:cs typeface="Cambria" pitchFamily="34" charset="-120"/>
              </a:rPr>
              <a:t>Finding the Twist</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STARTER: WHAT IF…?</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b="1" i="1" dirty="0">
                <a:solidFill>
                  <a:srgbClr val="5A4A85"/>
                </a:solidFill>
                <a:latin typeface="Calibri" pitchFamily="34" charset="0"/>
                <a:ea typeface="Calibri" pitchFamily="34" charset="-122"/>
                <a:cs typeface="Calibri" pitchFamily="34" charset="-120"/>
              </a:rPr>
              <a:t>Think about The Ant and the Grasshopper.</a:t>
            </a:r>
            <a:endParaRPr lang="en-US" sz="1700" b="1" dirty="0"/>
          </a:p>
        </p:txBody>
      </p:sp>
      <p:sp>
        <p:nvSpPr>
          <p:cNvPr id="7" name="Shape 5"/>
          <p:cNvSpPr/>
          <p:nvPr/>
        </p:nvSpPr>
        <p:spPr>
          <a:xfrm>
            <a:off x="457200" y="1691640"/>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808226"/>
            <a:ext cx="402336" cy="402336"/>
          </a:xfrm>
          <a:prstGeom prst="ellipse">
            <a:avLst/>
          </a:prstGeom>
          <a:solidFill>
            <a:srgbClr val="FF8A3D"/>
          </a:solidFill>
          <a:ln/>
        </p:spPr>
      </p:sp>
      <p:sp>
        <p:nvSpPr>
          <p:cNvPr id="9" name="Text 7"/>
          <p:cNvSpPr txBox="1"/>
          <p:nvPr/>
        </p:nvSpPr>
        <p:spPr>
          <a:xfrm>
            <a:off x="640080" y="180822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635508"/>
          </a:xfrm>
          <a:prstGeom prst="rect">
            <a:avLst/>
          </a:prstGeom>
          <a:noFill/>
          <a:ln/>
        </p:spPr>
        <p:txBody>
          <a:bodyPr wrap="square" lIns="0" tIns="0" rIns="0" bIns="0" rtlCol="0" anchor="ctr"/>
          <a:lstStyle/>
          <a:p>
            <a:pPr marL="0" indent="0">
              <a:buNone/>
            </a:pPr>
            <a:r>
              <a:rPr lang="en-US" sz="1600" dirty="0">
                <a:solidFill>
                  <a:srgbClr val="2A1B4D"/>
                </a:solidFill>
              </a:rPr>
              <a:t>The Ant works hard and prepares for winter.</a:t>
            </a:r>
            <a:endParaRPr lang="en-US" sz="1600" dirty="0"/>
          </a:p>
        </p:txBody>
      </p:sp>
      <p:sp>
        <p:nvSpPr>
          <p:cNvPr id="11" name="Shape 9"/>
          <p:cNvSpPr/>
          <p:nvPr/>
        </p:nvSpPr>
        <p:spPr>
          <a:xfrm>
            <a:off x="457200" y="2455164"/>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571750"/>
            <a:ext cx="402336" cy="402336"/>
          </a:xfrm>
          <a:prstGeom prst="ellipse">
            <a:avLst/>
          </a:prstGeom>
          <a:solidFill>
            <a:srgbClr val="1FB5A8"/>
          </a:solidFill>
          <a:ln/>
        </p:spPr>
      </p:sp>
      <p:sp>
        <p:nvSpPr>
          <p:cNvPr id="13" name="Text 11"/>
          <p:cNvSpPr txBox="1"/>
          <p:nvPr/>
        </p:nvSpPr>
        <p:spPr>
          <a:xfrm>
            <a:off x="640080" y="257175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455164"/>
            <a:ext cx="7315200" cy="635508"/>
          </a:xfrm>
          <a:prstGeom prst="rect">
            <a:avLst/>
          </a:prstGeom>
          <a:noFill/>
          <a:ln/>
        </p:spPr>
        <p:txBody>
          <a:bodyPr wrap="square" lIns="0" tIns="0" rIns="0" bIns="0" rtlCol="0" anchor="ctr"/>
          <a:lstStyle/>
          <a:p>
            <a:pPr marL="0" indent="0">
              <a:buNone/>
            </a:pPr>
            <a:r>
              <a:rPr lang="en-US" sz="1600" dirty="0">
                <a:solidFill>
                  <a:srgbClr val="2A1B4D"/>
                </a:solidFill>
              </a:rPr>
              <a:t>The Grasshopper spends the summer singing and playing.</a:t>
            </a:r>
            <a:endParaRPr lang="en-US" sz="1600" dirty="0"/>
          </a:p>
        </p:txBody>
      </p:sp>
      <p:sp>
        <p:nvSpPr>
          <p:cNvPr id="15" name="Shape 13"/>
          <p:cNvSpPr/>
          <p:nvPr/>
        </p:nvSpPr>
        <p:spPr>
          <a:xfrm>
            <a:off x="457200" y="3218688"/>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3335274"/>
            <a:ext cx="402336" cy="402336"/>
          </a:xfrm>
          <a:prstGeom prst="ellipse">
            <a:avLst/>
          </a:prstGeom>
          <a:solidFill>
            <a:srgbClr val="E85D9E"/>
          </a:solidFill>
          <a:ln/>
        </p:spPr>
      </p:sp>
      <p:sp>
        <p:nvSpPr>
          <p:cNvPr id="17" name="Text 15"/>
          <p:cNvSpPr txBox="1"/>
          <p:nvPr/>
        </p:nvSpPr>
        <p:spPr>
          <a:xfrm>
            <a:off x="640080" y="333527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3218688"/>
            <a:ext cx="7315200" cy="635508"/>
          </a:xfrm>
          <a:prstGeom prst="rect">
            <a:avLst/>
          </a:prstGeom>
          <a:noFill/>
          <a:ln/>
        </p:spPr>
        <p:txBody>
          <a:bodyPr wrap="square" lIns="0" tIns="0" rIns="0" bIns="0" rtlCol="0" anchor="ctr"/>
          <a:lstStyle/>
          <a:p>
            <a:pPr marL="0" indent="0">
              <a:buNone/>
            </a:pPr>
            <a:r>
              <a:rPr lang="en-US" sz="1600" dirty="0">
                <a:solidFill>
                  <a:srgbClr val="2A1B4D"/>
                </a:solidFill>
              </a:rPr>
              <a:t>BUT WHAT IF… the Grasshopper decided to work hard too?</a:t>
            </a:r>
            <a:endParaRPr lang="en-US" sz="1600" dirty="0"/>
          </a:p>
        </p:txBody>
      </p:sp>
      <p:sp>
        <p:nvSpPr>
          <p:cNvPr id="19" name="Shape 17"/>
          <p:cNvSpPr/>
          <p:nvPr/>
        </p:nvSpPr>
        <p:spPr>
          <a:xfrm>
            <a:off x="457200" y="3982212"/>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4098798"/>
            <a:ext cx="402336" cy="402336"/>
          </a:xfrm>
          <a:prstGeom prst="ellipse">
            <a:avLst/>
          </a:prstGeom>
          <a:solidFill>
            <a:srgbClr val="7B5CE0"/>
          </a:solidFill>
          <a:ln/>
        </p:spPr>
      </p:sp>
      <p:sp>
        <p:nvSpPr>
          <p:cNvPr id="21" name="Text 19"/>
          <p:cNvSpPr txBox="1"/>
          <p:nvPr/>
        </p:nvSpPr>
        <p:spPr>
          <a:xfrm>
            <a:off x="640080" y="409879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982212"/>
            <a:ext cx="7315200" cy="635508"/>
          </a:xfrm>
          <a:prstGeom prst="rect">
            <a:avLst/>
          </a:prstGeom>
          <a:noFill/>
          <a:ln/>
        </p:spPr>
        <p:txBody>
          <a:bodyPr wrap="square" lIns="0" tIns="0" rIns="0" bIns="0" rtlCol="0" anchor="ctr"/>
          <a:lstStyle/>
          <a:p>
            <a:pPr marL="0" indent="0">
              <a:buNone/>
            </a:pPr>
            <a:r>
              <a:rPr lang="en-US" sz="1600" dirty="0">
                <a:solidFill>
                  <a:srgbClr val="2A1B4D"/>
                </a:solidFill>
              </a:rPr>
              <a:t>Turn and talk: What might happen?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WHAT COULD CHANGE?</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b="1" i="1" dirty="0">
                <a:solidFill>
                  <a:srgbClr val="5A4A85"/>
                </a:solidFill>
                <a:latin typeface="Calibri" pitchFamily="34" charset="0"/>
                <a:ea typeface="Calibri" pitchFamily="34" charset="-122"/>
                <a:cs typeface="Calibri" pitchFamily="34" charset="-120"/>
              </a:rPr>
              <a:t>If the Grasshopper worked hard… what might happen to:</a:t>
            </a:r>
            <a:endParaRPr lang="en-US" sz="1700" b="1" dirty="0"/>
          </a:p>
        </p:txBody>
      </p:sp>
      <p:sp>
        <p:nvSpPr>
          <p:cNvPr id="7" name="Shape 5"/>
          <p:cNvSpPr/>
          <p:nvPr/>
        </p:nvSpPr>
        <p:spPr>
          <a:xfrm>
            <a:off x="457200" y="1691640"/>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756791"/>
            <a:ext cx="402336" cy="402336"/>
          </a:xfrm>
          <a:prstGeom prst="ellipse">
            <a:avLst/>
          </a:prstGeom>
          <a:solidFill>
            <a:srgbClr val="FF8A3D"/>
          </a:solidFill>
          <a:ln/>
        </p:spPr>
      </p:sp>
      <p:sp>
        <p:nvSpPr>
          <p:cNvPr id="9" name="Text 7"/>
          <p:cNvSpPr txBox="1"/>
          <p:nvPr/>
        </p:nvSpPr>
        <p:spPr>
          <a:xfrm>
            <a:off x="640080" y="1756791"/>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532638"/>
          </a:xfrm>
          <a:prstGeom prst="rect">
            <a:avLst/>
          </a:prstGeom>
          <a:noFill/>
          <a:ln/>
        </p:spPr>
        <p:txBody>
          <a:bodyPr wrap="square" lIns="0" tIns="0" rIns="0" bIns="0" rtlCol="0" anchor="ctr"/>
          <a:lstStyle/>
          <a:p>
            <a:pPr marL="0" indent="0">
              <a:buNone/>
            </a:pPr>
            <a:r>
              <a:rPr lang="en-US" sz="1600" dirty="0">
                <a:solidFill>
                  <a:srgbClr val="2A1B4D"/>
                </a:solidFill>
              </a:rPr>
              <a:t>The Grasshopper?</a:t>
            </a:r>
            <a:endParaRPr lang="en-US" sz="1600" dirty="0"/>
          </a:p>
        </p:txBody>
      </p:sp>
      <p:sp>
        <p:nvSpPr>
          <p:cNvPr id="11" name="Shape 9"/>
          <p:cNvSpPr/>
          <p:nvPr/>
        </p:nvSpPr>
        <p:spPr>
          <a:xfrm>
            <a:off x="457200" y="2352294"/>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417445"/>
            <a:ext cx="402336" cy="402336"/>
          </a:xfrm>
          <a:prstGeom prst="ellipse">
            <a:avLst/>
          </a:prstGeom>
          <a:solidFill>
            <a:srgbClr val="1FB5A8"/>
          </a:solidFill>
          <a:ln/>
        </p:spPr>
      </p:sp>
      <p:sp>
        <p:nvSpPr>
          <p:cNvPr id="13" name="Text 11"/>
          <p:cNvSpPr txBox="1"/>
          <p:nvPr/>
        </p:nvSpPr>
        <p:spPr>
          <a:xfrm>
            <a:off x="640080" y="2417445"/>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352294"/>
            <a:ext cx="7315200" cy="532638"/>
          </a:xfrm>
          <a:prstGeom prst="rect">
            <a:avLst/>
          </a:prstGeom>
          <a:noFill/>
          <a:ln/>
        </p:spPr>
        <p:txBody>
          <a:bodyPr wrap="square" lIns="0" tIns="0" rIns="0" bIns="0" rtlCol="0" anchor="ctr"/>
          <a:lstStyle/>
          <a:p>
            <a:pPr marL="0" indent="0">
              <a:buNone/>
            </a:pPr>
            <a:r>
              <a:rPr lang="en-US" sz="1600" dirty="0">
                <a:solidFill>
                  <a:srgbClr val="2A1B4D"/>
                </a:solidFill>
              </a:rPr>
              <a:t>The Ant?</a:t>
            </a:r>
            <a:endParaRPr lang="en-US" sz="1600" dirty="0"/>
          </a:p>
        </p:txBody>
      </p:sp>
      <p:sp>
        <p:nvSpPr>
          <p:cNvPr id="15" name="Shape 13"/>
          <p:cNvSpPr/>
          <p:nvPr/>
        </p:nvSpPr>
        <p:spPr>
          <a:xfrm>
            <a:off x="457200" y="3012948"/>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3078099"/>
            <a:ext cx="402336" cy="402336"/>
          </a:xfrm>
          <a:prstGeom prst="ellipse">
            <a:avLst/>
          </a:prstGeom>
          <a:solidFill>
            <a:srgbClr val="E85D9E"/>
          </a:solidFill>
          <a:ln/>
        </p:spPr>
      </p:sp>
      <p:sp>
        <p:nvSpPr>
          <p:cNvPr id="17" name="Text 15"/>
          <p:cNvSpPr txBox="1"/>
          <p:nvPr/>
        </p:nvSpPr>
        <p:spPr>
          <a:xfrm>
            <a:off x="640080" y="3078099"/>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3012948"/>
            <a:ext cx="7315200" cy="532638"/>
          </a:xfrm>
          <a:prstGeom prst="rect">
            <a:avLst/>
          </a:prstGeom>
          <a:noFill/>
          <a:ln/>
        </p:spPr>
        <p:txBody>
          <a:bodyPr wrap="square" lIns="0" tIns="0" rIns="0" bIns="0" rtlCol="0" anchor="ctr"/>
          <a:lstStyle/>
          <a:p>
            <a:pPr marL="0" indent="0">
              <a:buNone/>
            </a:pPr>
            <a:r>
              <a:rPr lang="en-US" sz="1600" dirty="0">
                <a:solidFill>
                  <a:srgbClr val="2A1B4D"/>
                </a:solidFill>
              </a:rPr>
              <a:t>The ending?</a:t>
            </a:r>
            <a:endParaRPr lang="en-US" sz="1600" dirty="0"/>
          </a:p>
        </p:txBody>
      </p:sp>
      <p:sp>
        <p:nvSpPr>
          <p:cNvPr id="19" name="Shape 17"/>
          <p:cNvSpPr/>
          <p:nvPr/>
        </p:nvSpPr>
        <p:spPr>
          <a:xfrm>
            <a:off x="457200" y="3673602"/>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3738753"/>
            <a:ext cx="402336" cy="402336"/>
          </a:xfrm>
          <a:prstGeom prst="ellipse">
            <a:avLst/>
          </a:prstGeom>
          <a:solidFill>
            <a:srgbClr val="7B5CE0"/>
          </a:solidFill>
          <a:ln/>
        </p:spPr>
      </p:sp>
      <p:sp>
        <p:nvSpPr>
          <p:cNvPr id="21" name="Text 19"/>
          <p:cNvSpPr txBox="1"/>
          <p:nvPr/>
        </p:nvSpPr>
        <p:spPr>
          <a:xfrm>
            <a:off x="640080" y="3738753"/>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673602"/>
            <a:ext cx="7315200" cy="532638"/>
          </a:xfrm>
          <a:prstGeom prst="rect">
            <a:avLst/>
          </a:prstGeom>
          <a:noFill/>
          <a:ln/>
        </p:spPr>
        <p:txBody>
          <a:bodyPr wrap="square" lIns="0" tIns="0" rIns="0" bIns="0" rtlCol="0" anchor="ctr"/>
          <a:lstStyle/>
          <a:p>
            <a:pPr marL="0" indent="0">
              <a:buNone/>
            </a:pPr>
            <a:r>
              <a:rPr lang="en-US" sz="1600" dirty="0">
                <a:solidFill>
                  <a:srgbClr val="2A1B4D"/>
                </a:solidFill>
              </a:rPr>
              <a:t>The lesson?</a:t>
            </a:r>
            <a:endParaRPr lang="en-US" sz="1600" dirty="0"/>
          </a:p>
        </p:txBody>
      </p:sp>
      <p:sp>
        <p:nvSpPr>
          <p:cNvPr id="23" name="Text 21"/>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One change can affect many parts of a story.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POSSIBLE ANSWERS</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i="1" dirty="0">
                <a:solidFill>
                  <a:srgbClr val="5A4A85"/>
                </a:solidFill>
                <a:latin typeface="Calibri" pitchFamily="34" charset="0"/>
                <a:ea typeface="Calibri" pitchFamily="34" charset="-122"/>
                <a:cs typeface="Calibri" pitchFamily="34" charset="-120"/>
              </a:rPr>
              <a:t>If the Grasshopper worked hard:</a:t>
            </a:r>
            <a:endParaRPr lang="en-US" sz="1700" dirty="0"/>
          </a:p>
        </p:txBody>
      </p:sp>
      <p:sp>
        <p:nvSpPr>
          <p:cNvPr id="7" name="Shape 5"/>
          <p:cNvSpPr/>
          <p:nvPr/>
        </p:nvSpPr>
        <p:spPr>
          <a:xfrm>
            <a:off x="457200" y="1691640"/>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756791"/>
            <a:ext cx="402336" cy="402336"/>
          </a:xfrm>
          <a:prstGeom prst="ellipse">
            <a:avLst/>
          </a:prstGeom>
          <a:solidFill>
            <a:srgbClr val="FF8A3D"/>
          </a:solidFill>
          <a:ln/>
        </p:spPr>
      </p:sp>
      <p:sp>
        <p:nvSpPr>
          <p:cNvPr id="9" name="Text 7"/>
          <p:cNvSpPr txBox="1"/>
          <p:nvPr/>
        </p:nvSpPr>
        <p:spPr>
          <a:xfrm>
            <a:off x="640080" y="1756791"/>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532638"/>
          </a:xfrm>
          <a:prstGeom prst="rect">
            <a:avLst/>
          </a:prstGeom>
          <a:noFill/>
          <a:ln/>
        </p:spPr>
        <p:txBody>
          <a:bodyPr wrap="square" lIns="0" tIns="0" rIns="0" bIns="0" rtlCol="0" anchor="ctr"/>
          <a:lstStyle/>
          <a:p>
            <a:pPr marL="0" indent="0">
              <a:buNone/>
            </a:pPr>
            <a:r>
              <a:rPr lang="en-US" sz="1600" dirty="0">
                <a:solidFill>
                  <a:srgbClr val="2A1B4D"/>
                </a:solidFill>
              </a:rPr>
              <a:t>He might collect food for winter.</a:t>
            </a:r>
            <a:endParaRPr lang="en-US" sz="1600" dirty="0"/>
          </a:p>
        </p:txBody>
      </p:sp>
      <p:sp>
        <p:nvSpPr>
          <p:cNvPr id="11" name="Shape 9"/>
          <p:cNvSpPr/>
          <p:nvPr/>
        </p:nvSpPr>
        <p:spPr>
          <a:xfrm>
            <a:off x="457200" y="2352294"/>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417445"/>
            <a:ext cx="402336" cy="402336"/>
          </a:xfrm>
          <a:prstGeom prst="ellipse">
            <a:avLst/>
          </a:prstGeom>
          <a:solidFill>
            <a:srgbClr val="1FB5A8"/>
          </a:solidFill>
          <a:ln/>
        </p:spPr>
      </p:sp>
      <p:sp>
        <p:nvSpPr>
          <p:cNvPr id="13" name="Text 11"/>
          <p:cNvSpPr txBox="1"/>
          <p:nvPr/>
        </p:nvSpPr>
        <p:spPr>
          <a:xfrm>
            <a:off x="640080" y="2417445"/>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352294"/>
            <a:ext cx="7315200" cy="532638"/>
          </a:xfrm>
          <a:prstGeom prst="rect">
            <a:avLst/>
          </a:prstGeom>
          <a:noFill/>
          <a:ln/>
        </p:spPr>
        <p:txBody>
          <a:bodyPr wrap="square" lIns="0" tIns="0" rIns="0" bIns="0" rtlCol="0" anchor="ctr"/>
          <a:lstStyle/>
          <a:p>
            <a:pPr marL="0" indent="0">
              <a:buNone/>
            </a:pPr>
            <a:r>
              <a:rPr lang="en-US" sz="1600" dirty="0">
                <a:solidFill>
                  <a:srgbClr val="2A1B4D"/>
                </a:solidFill>
              </a:rPr>
              <a:t>He might not need to ask the Ant for help.</a:t>
            </a:r>
            <a:endParaRPr lang="en-US" sz="1600" dirty="0"/>
          </a:p>
        </p:txBody>
      </p:sp>
      <p:sp>
        <p:nvSpPr>
          <p:cNvPr id="15" name="Shape 13"/>
          <p:cNvSpPr/>
          <p:nvPr/>
        </p:nvSpPr>
        <p:spPr>
          <a:xfrm>
            <a:off x="457200" y="3012948"/>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3078099"/>
            <a:ext cx="402336" cy="402336"/>
          </a:xfrm>
          <a:prstGeom prst="ellipse">
            <a:avLst/>
          </a:prstGeom>
          <a:solidFill>
            <a:srgbClr val="E85D9E"/>
          </a:solidFill>
          <a:ln/>
        </p:spPr>
      </p:sp>
      <p:sp>
        <p:nvSpPr>
          <p:cNvPr id="17" name="Text 15"/>
          <p:cNvSpPr txBox="1"/>
          <p:nvPr/>
        </p:nvSpPr>
        <p:spPr>
          <a:xfrm>
            <a:off x="640080" y="3078099"/>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3012948"/>
            <a:ext cx="7315200" cy="532638"/>
          </a:xfrm>
          <a:prstGeom prst="rect">
            <a:avLst/>
          </a:prstGeom>
          <a:noFill/>
          <a:ln/>
        </p:spPr>
        <p:txBody>
          <a:bodyPr wrap="square" lIns="0" tIns="0" rIns="0" bIns="0" rtlCol="0" anchor="ctr"/>
          <a:lstStyle/>
          <a:p>
            <a:pPr marL="0" indent="0">
              <a:buNone/>
            </a:pPr>
            <a:r>
              <a:rPr lang="en-US" sz="1600" dirty="0">
                <a:solidFill>
                  <a:srgbClr val="2A1B4D"/>
                </a:solidFill>
              </a:rPr>
              <a:t>The Ant's reaction might be different.</a:t>
            </a:r>
            <a:endParaRPr lang="en-US" sz="1600" dirty="0"/>
          </a:p>
        </p:txBody>
      </p:sp>
      <p:sp>
        <p:nvSpPr>
          <p:cNvPr id="19" name="Shape 17"/>
          <p:cNvSpPr/>
          <p:nvPr/>
        </p:nvSpPr>
        <p:spPr>
          <a:xfrm>
            <a:off x="457200" y="3673602"/>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3738753"/>
            <a:ext cx="402336" cy="402336"/>
          </a:xfrm>
          <a:prstGeom prst="ellipse">
            <a:avLst/>
          </a:prstGeom>
          <a:solidFill>
            <a:srgbClr val="7B5CE0"/>
          </a:solidFill>
          <a:ln/>
        </p:spPr>
      </p:sp>
      <p:sp>
        <p:nvSpPr>
          <p:cNvPr id="21" name="Text 19"/>
          <p:cNvSpPr txBox="1"/>
          <p:nvPr/>
        </p:nvSpPr>
        <p:spPr>
          <a:xfrm>
            <a:off x="640080" y="3738753"/>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673602"/>
            <a:ext cx="7315200" cy="532638"/>
          </a:xfrm>
          <a:prstGeom prst="rect">
            <a:avLst/>
          </a:prstGeom>
          <a:noFill/>
          <a:ln/>
        </p:spPr>
        <p:txBody>
          <a:bodyPr wrap="square" lIns="0" tIns="0" rIns="0" bIns="0" rtlCol="0" anchor="ctr"/>
          <a:lstStyle/>
          <a:p>
            <a:pPr marL="0" indent="0">
              <a:buNone/>
            </a:pPr>
            <a:r>
              <a:rPr lang="en-US" sz="1600" dirty="0">
                <a:solidFill>
                  <a:srgbClr val="2A1B4D"/>
                </a:solidFill>
              </a:rPr>
              <a:t>The ending would change.</a:t>
            </a:r>
            <a:endParaRPr lang="en-US" sz="1600" dirty="0"/>
          </a:p>
        </p:txBody>
      </p:sp>
      <p:sp>
        <p:nvSpPr>
          <p:cNvPr id="23" name="Text 21"/>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Most importantly: the original lesson might become less important, or even change.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TODAY'S MISSION</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i="1" dirty="0">
                <a:solidFill>
                  <a:srgbClr val="5A4A85"/>
                </a:solidFill>
                <a:latin typeface="Calibri" pitchFamily="34" charset="0"/>
                <a:ea typeface="Calibri" pitchFamily="34" charset="-122"/>
                <a:cs typeface="Calibri" pitchFamily="34" charset="-120"/>
              </a:rPr>
              <a:t>Learning objective: I can explain how changing one event changes the ending.</a:t>
            </a:r>
            <a:endParaRPr lang="en-US" sz="1700" dirty="0"/>
          </a:p>
        </p:txBody>
      </p:sp>
      <p:sp>
        <p:nvSpPr>
          <p:cNvPr id="7" name="Shape 5"/>
          <p:cNvSpPr/>
          <p:nvPr/>
        </p:nvSpPr>
        <p:spPr>
          <a:xfrm>
            <a:off x="457200" y="1691640"/>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731874"/>
            <a:ext cx="402336" cy="402336"/>
          </a:xfrm>
          <a:prstGeom prst="ellipse">
            <a:avLst/>
          </a:prstGeom>
          <a:solidFill>
            <a:srgbClr val="FF8A3D"/>
          </a:solidFill>
          <a:ln/>
        </p:spPr>
      </p:sp>
      <p:sp>
        <p:nvSpPr>
          <p:cNvPr id="9" name="Text 7"/>
          <p:cNvSpPr txBox="1"/>
          <p:nvPr/>
        </p:nvSpPr>
        <p:spPr>
          <a:xfrm>
            <a:off x="640080" y="173187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482803"/>
          </a:xfrm>
          <a:prstGeom prst="rect">
            <a:avLst/>
          </a:prstGeom>
          <a:noFill/>
          <a:ln/>
        </p:spPr>
        <p:txBody>
          <a:bodyPr wrap="square" lIns="0" tIns="0" rIns="0" bIns="0" rtlCol="0" anchor="ctr"/>
          <a:lstStyle/>
          <a:p>
            <a:pPr marL="0" indent="0">
              <a:buNone/>
            </a:pPr>
            <a:r>
              <a:rPr lang="en-US" sz="1600" dirty="0">
                <a:solidFill>
                  <a:srgbClr val="2A1B4D"/>
                </a:solidFill>
              </a:rPr>
              <a:t>Identify an important part of a fable.</a:t>
            </a:r>
            <a:endParaRPr lang="en-US" sz="1600" dirty="0"/>
          </a:p>
        </p:txBody>
      </p:sp>
      <p:sp>
        <p:nvSpPr>
          <p:cNvPr id="11" name="Shape 9"/>
          <p:cNvSpPr/>
          <p:nvPr/>
        </p:nvSpPr>
        <p:spPr>
          <a:xfrm>
            <a:off x="457200" y="2302459"/>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342693"/>
            <a:ext cx="402336" cy="402336"/>
          </a:xfrm>
          <a:prstGeom prst="ellipse">
            <a:avLst/>
          </a:prstGeom>
          <a:solidFill>
            <a:srgbClr val="1FB5A8"/>
          </a:solidFill>
          <a:ln/>
        </p:spPr>
      </p:sp>
      <p:sp>
        <p:nvSpPr>
          <p:cNvPr id="13" name="Text 11"/>
          <p:cNvSpPr txBox="1"/>
          <p:nvPr/>
        </p:nvSpPr>
        <p:spPr>
          <a:xfrm>
            <a:off x="640080" y="2342693"/>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302459"/>
            <a:ext cx="7315200" cy="482803"/>
          </a:xfrm>
          <a:prstGeom prst="rect">
            <a:avLst/>
          </a:prstGeom>
          <a:noFill/>
          <a:ln/>
        </p:spPr>
        <p:txBody>
          <a:bodyPr wrap="square" lIns="0" tIns="0" rIns="0" bIns="0" rtlCol="0" anchor="ctr"/>
          <a:lstStyle/>
          <a:p>
            <a:pPr marL="0" indent="0">
              <a:buNone/>
            </a:pPr>
            <a:r>
              <a:rPr lang="en-US" sz="1600" dirty="0">
                <a:solidFill>
                  <a:srgbClr val="2A1B4D"/>
                </a:solidFill>
              </a:rPr>
              <a:t>Change one part of the story.</a:t>
            </a:r>
            <a:endParaRPr lang="en-US" sz="1600" dirty="0"/>
          </a:p>
        </p:txBody>
      </p:sp>
      <p:sp>
        <p:nvSpPr>
          <p:cNvPr id="15" name="Shape 13"/>
          <p:cNvSpPr/>
          <p:nvPr/>
        </p:nvSpPr>
        <p:spPr>
          <a:xfrm>
            <a:off x="457200" y="2913278"/>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2953512"/>
            <a:ext cx="402336" cy="402336"/>
          </a:xfrm>
          <a:prstGeom prst="ellipse">
            <a:avLst/>
          </a:prstGeom>
          <a:solidFill>
            <a:srgbClr val="E85D9E"/>
          </a:solidFill>
          <a:ln/>
        </p:spPr>
      </p:sp>
      <p:sp>
        <p:nvSpPr>
          <p:cNvPr id="17" name="Text 15"/>
          <p:cNvSpPr txBox="1"/>
          <p:nvPr/>
        </p:nvSpPr>
        <p:spPr>
          <a:xfrm>
            <a:off x="640080" y="29535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2913278"/>
            <a:ext cx="7315200" cy="482803"/>
          </a:xfrm>
          <a:prstGeom prst="rect">
            <a:avLst/>
          </a:prstGeom>
          <a:noFill/>
          <a:ln/>
        </p:spPr>
        <p:txBody>
          <a:bodyPr wrap="square" lIns="0" tIns="0" rIns="0" bIns="0" rtlCol="0" anchor="ctr"/>
          <a:lstStyle/>
          <a:p>
            <a:pPr marL="0" indent="0">
              <a:buNone/>
            </a:pPr>
            <a:r>
              <a:rPr lang="en-US" sz="1600" dirty="0">
                <a:solidFill>
                  <a:srgbClr val="2A1B4D"/>
                </a:solidFill>
              </a:rPr>
              <a:t>Predict the consequences of the change.</a:t>
            </a:r>
            <a:endParaRPr lang="en-US" sz="1600" dirty="0"/>
          </a:p>
        </p:txBody>
      </p:sp>
      <p:sp>
        <p:nvSpPr>
          <p:cNvPr id="19" name="Shape 17"/>
          <p:cNvSpPr/>
          <p:nvPr/>
        </p:nvSpPr>
        <p:spPr>
          <a:xfrm>
            <a:off x="457200" y="3524098"/>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3564331"/>
            <a:ext cx="402336" cy="402336"/>
          </a:xfrm>
          <a:prstGeom prst="ellipse">
            <a:avLst/>
          </a:prstGeom>
          <a:solidFill>
            <a:srgbClr val="7B5CE0"/>
          </a:solidFill>
          <a:ln/>
        </p:spPr>
      </p:sp>
      <p:sp>
        <p:nvSpPr>
          <p:cNvPr id="21" name="Text 19"/>
          <p:cNvSpPr txBox="1"/>
          <p:nvPr/>
        </p:nvSpPr>
        <p:spPr>
          <a:xfrm>
            <a:off x="640080" y="3564331"/>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524098"/>
            <a:ext cx="7315200" cy="482803"/>
          </a:xfrm>
          <a:prstGeom prst="rect">
            <a:avLst/>
          </a:prstGeom>
          <a:noFill/>
          <a:ln/>
        </p:spPr>
        <p:txBody>
          <a:bodyPr wrap="square" lIns="0" tIns="0" rIns="0" bIns="0" rtlCol="0" anchor="ctr"/>
          <a:lstStyle/>
          <a:p>
            <a:pPr marL="0" indent="0">
              <a:buNone/>
            </a:pPr>
            <a:r>
              <a:rPr lang="en-US" sz="1600" dirty="0">
                <a:solidFill>
                  <a:srgbClr val="2A1B4D"/>
                </a:solidFill>
              </a:rPr>
              <a:t>Explain how the change affects the lesson.</a:t>
            </a:r>
            <a:endParaRPr lang="en-US" sz="1600" dirty="0"/>
          </a:p>
        </p:txBody>
      </p:sp>
      <p:sp>
        <p:nvSpPr>
          <p:cNvPr id="23" name="Shape 21"/>
          <p:cNvSpPr/>
          <p:nvPr/>
        </p:nvSpPr>
        <p:spPr>
          <a:xfrm>
            <a:off x="457200" y="4134917"/>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4" name="Shape 22"/>
          <p:cNvSpPr/>
          <p:nvPr/>
        </p:nvSpPr>
        <p:spPr>
          <a:xfrm>
            <a:off x="640080" y="4175150"/>
            <a:ext cx="402336" cy="402336"/>
          </a:xfrm>
          <a:prstGeom prst="ellipse">
            <a:avLst/>
          </a:prstGeom>
          <a:solidFill>
            <a:srgbClr val="FF8A3D"/>
          </a:solidFill>
          <a:ln/>
        </p:spPr>
      </p:sp>
      <p:sp>
        <p:nvSpPr>
          <p:cNvPr id="25" name="Text 23"/>
          <p:cNvSpPr txBox="1"/>
          <p:nvPr/>
        </p:nvSpPr>
        <p:spPr>
          <a:xfrm>
            <a:off x="640080" y="417515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6" name="Text 24"/>
          <p:cNvSpPr txBox="1"/>
          <p:nvPr/>
        </p:nvSpPr>
        <p:spPr>
          <a:xfrm>
            <a:off x="1280160" y="4134917"/>
            <a:ext cx="7315200" cy="482803"/>
          </a:xfrm>
          <a:prstGeom prst="rect">
            <a:avLst/>
          </a:prstGeom>
          <a:noFill/>
          <a:ln/>
        </p:spPr>
        <p:txBody>
          <a:bodyPr wrap="square" lIns="0" tIns="0" rIns="0" bIns="0" rtlCol="0" anchor="ctr"/>
          <a:lstStyle/>
          <a:p>
            <a:pPr marL="0" indent="0">
              <a:buNone/>
            </a:pPr>
            <a:r>
              <a:rPr lang="en-US" sz="1600" dirty="0">
                <a:solidFill>
                  <a:srgbClr val="2A1B4D"/>
                </a:solidFill>
              </a:rPr>
              <a:t>Begin planning your own twisted fable.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WHAT IS A TWIST?</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i="1" dirty="0">
                <a:solidFill>
                  <a:srgbClr val="5A4A85"/>
                </a:solidFill>
                <a:latin typeface="Calibri" pitchFamily="34" charset="0"/>
                <a:ea typeface="Calibri" pitchFamily="34" charset="-122"/>
                <a:cs typeface="Calibri" pitchFamily="34" charset="-120"/>
              </a:rPr>
              <a:t>A twist is an unexpected change in a story.</a:t>
            </a:r>
            <a:endParaRPr lang="en-US" sz="1700" dirty="0"/>
          </a:p>
        </p:txBody>
      </p:sp>
      <p:sp>
        <p:nvSpPr>
          <p:cNvPr id="7" name="Shape 5"/>
          <p:cNvSpPr/>
          <p:nvPr/>
        </p:nvSpPr>
        <p:spPr>
          <a:xfrm>
            <a:off x="457200" y="1691640"/>
            <a:ext cx="4000500" cy="2468880"/>
          </a:xfrm>
          <a:prstGeom prst="roundRect">
            <a:avLst>
              <a:gd name="adj" fmla="val 555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Text 6"/>
          <p:cNvSpPr txBox="1"/>
          <p:nvPr/>
        </p:nvSpPr>
        <p:spPr>
          <a:xfrm>
            <a:off x="594360" y="1828800"/>
            <a:ext cx="3726180" cy="457200"/>
          </a:xfrm>
          <a:prstGeom prst="roundRect">
            <a:avLst>
              <a:gd name="adj" fmla="val 24000"/>
            </a:avLst>
          </a:prstGeom>
          <a:solidFill>
            <a:srgbClr val="FF8A3D"/>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 WRITER CAN CHANGE</a:t>
            </a:r>
            <a:endParaRPr lang="en-US" sz="1600" dirty="0"/>
          </a:p>
        </p:txBody>
      </p:sp>
      <p:sp>
        <p:nvSpPr>
          <p:cNvPr id="9" name="Text 7"/>
          <p:cNvSpPr txBox="1"/>
          <p:nvPr/>
        </p:nvSpPr>
        <p:spPr>
          <a:xfrm>
            <a:off x="640080" y="2423160"/>
            <a:ext cx="363474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A1B4D"/>
                </a:solidFill>
              </a:rPr>
              <a:t>a character</a:t>
            </a:r>
            <a:endParaRPr lang="en-US" sz="1500" dirty="0"/>
          </a:p>
          <a:p>
            <a:pPr marL="342900" indent="-342900">
              <a:spcAft>
                <a:spcPts val="600"/>
              </a:spcAft>
              <a:buSzPct val="100000"/>
              <a:buChar char="•"/>
            </a:pPr>
            <a:r>
              <a:rPr lang="en-US" sz="1500" dirty="0">
                <a:solidFill>
                  <a:srgbClr val="2A1B4D"/>
                </a:solidFill>
              </a:rPr>
              <a:t>a character's behaviour</a:t>
            </a:r>
            <a:endParaRPr lang="en-US" sz="1500" dirty="0"/>
          </a:p>
          <a:p>
            <a:pPr marL="342900" indent="-342900">
              <a:spcAft>
                <a:spcPts val="600"/>
              </a:spcAft>
              <a:buSzPct val="100000"/>
              <a:buChar char="•"/>
            </a:pPr>
            <a:r>
              <a:rPr lang="en-US" sz="1500" dirty="0">
                <a:solidFill>
                  <a:srgbClr val="2A1B4D"/>
                </a:solidFill>
              </a:rPr>
              <a:t>a problem</a:t>
            </a:r>
            <a:endParaRPr lang="en-US" sz="1500" dirty="0"/>
          </a:p>
          <a:p>
            <a:pPr marL="342900" indent="-342900">
              <a:spcAft>
                <a:spcPts val="600"/>
              </a:spcAft>
              <a:buSzPct val="100000"/>
              <a:buChar char="•"/>
            </a:pPr>
            <a:r>
              <a:rPr lang="en-US" sz="1500" dirty="0">
                <a:solidFill>
                  <a:srgbClr val="2A1B4D"/>
                </a:solidFill>
              </a:rPr>
              <a:t>an important event</a:t>
            </a:r>
            <a:endParaRPr lang="en-US" sz="1500" dirty="0"/>
          </a:p>
          <a:p>
            <a:pPr marL="342900" indent="-342900">
              <a:spcAft>
                <a:spcPts val="600"/>
              </a:spcAft>
              <a:buSzPct val="100000"/>
              <a:buChar char="•"/>
            </a:pPr>
            <a:r>
              <a:rPr lang="en-US" sz="1500" dirty="0">
                <a:solidFill>
                  <a:srgbClr val="2A1B4D"/>
                </a:solidFill>
              </a:rPr>
              <a:t>the ending</a:t>
            </a:r>
            <a:endParaRPr lang="en-US" sz="1500" dirty="0"/>
          </a:p>
        </p:txBody>
      </p:sp>
      <p:sp>
        <p:nvSpPr>
          <p:cNvPr id="10" name="Shape 8"/>
          <p:cNvSpPr/>
          <p:nvPr/>
        </p:nvSpPr>
        <p:spPr>
          <a:xfrm>
            <a:off x="4686300" y="1691640"/>
            <a:ext cx="4000500" cy="2468880"/>
          </a:xfrm>
          <a:prstGeom prst="roundRect">
            <a:avLst>
              <a:gd name="adj" fmla="val 555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1" name="Text 9"/>
          <p:cNvSpPr txBox="1"/>
          <p:nvPr/>
        </p:nvSpPr>
        <p:spPr>
          <a:xfrm>
            <a:off x="4823460" y="1828800"/>
            <a:ext cx="3726180" cy="457200"/>
          </a:xfrm>
          <a:prstGeom prst="roundRect">
            <a:avLst>
              <a:gd name="adj" fmla="val 24000"/>
            </a:avLst>
          </a:prstGeom>
          <a:solidFill>
            <a:srgbClr val="1FB5A8"/>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p>
        </p:txBody>
      </p:sp>
      <p:sp>
        <p:nvSpPr>
          <p:cNvPr id="12" name="Text 10"/>
          <p:cNvSpPr txBox="1"/>
          <p:nvPr/>
        </p:nvSpPr>
        <p:spPr>
          <a:xfrm>
            <a:off x="4869180" y="2423160"/>
            <a:ext cx="3634740" cy="1600200"/>
          </a:xfrm>
          <a:prstGeom prst="rect">
            <a:avLst/>
          </a:prstGeom>
          <a:noFill/>
          <a:ln/>
        </p:spPr>
        <p:txBody>
          <a:bodyPr wrap="square" lIns="0" tIns="0" rIns="0" bIns="0" rtlCol="0" anchor="t"/>
          <a:lstStyle/>
          <a:p>
            <a:pPr marL="0" indent="0">
              <a:spcAft>
                <a:spcPts val="600"/>
              </a:spcAft>
              <a:buNone/>
            </a:pPr>
            <a:r>
              <a:rPr lang="en-US" sz="1500" dirty="0">
                <a:solidFill>
                  <a:srgbClr val="2A1B4D"/>
                </a:solidFill>
              </a:rPr>
              <a:t>Original: The Grasshopper does not prepare for winter.</a:t>
            </a:r>
            <a:endParaRPr lang="en-US" sz="1500" dirty="0"/>
          </a:p>
          <a:p>
            <a:pPr marL="0" indent="0">
              <a:spcAft>
                <a:spcPts val="600"/>
              </a:spcAft>
              <a:buNone/>
            </a:pPr>
            <a:r>
              <a:rPr lang="en-US" sz="1500" dirty="0">
                <a:solidFill>
                  <a:srgbClr val="2A1B4D"/>
                </a:solidFill>
              </a:rPr>
              <a:t>Twist: The Grasshopper decides to prepare for winter.</a:t>
            </a:r>
            <a:endParaRPr lang="en-US" sz="1500" dirty="0"/>
          </a:p>
        </p:txBody>
      </p:sp>
      <p:sp>
        <p:nvSpPr>
          <p:cNvPr id="13" name="Text 11"/>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That ONE change can affect the whole story.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2800" b="1" dirty="0">
                <a:solidFill>
                  <a:srgbClr val="2A1B4D"/>
                </a:solidFill>
                <a:latin typeface="Cambria" pitchFamily="34" charset="0"/>
                <a:ea typeface="Cambria" pitchFamily="34" charset="-122"/>
                <a:cs typeface="Cambria" pitchFamily="34" charset="-120"/>
              </a:rPr>
              <a:t>ONE CHANGE, MANY RESULTS</a:t>
            </a:r>
            <a:endParaRPr lang="en-US" sz="28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37160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66928" y="1481328"/>
            <a:ext cx="2066544" cy="365760"/>
          </a:xfrm>
          <a:prstGeom prst="roundRect">
            <a:avLst>
              <a:gd name="adj" fmla="val 30000"/>
            </a:avLst>
          </a:prstGeom>
          <a:solidFill>
            <a:srgbClr val="FF8A3D"/>
          </a:solid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CHARACTER</a:t>
            </a:r>
            <a:endParaRPr lang="en-US" sz="2400" dirty="0"/>
          </a:p>
        </p:txBody>
      </p:sp>
      <p:sp>
        <p:nvSpPr>
          <p:cNvPr id="8" name="Text 6"/>
          <p:cNvSpPr txBox="1"/>
          <p:nvPr/>
        </p:nvSpPr>
        <p:spPr>
          <a:xfrm>
            <a:off x="2743200" y="160020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9" name="Shape 7"/>
          <p:cNvSpPr/>
          <p:nvPr/>
        </p:nvSpPr>
        <p:spPr>
          <a:xfrm>
            <a:off x="3429000" y="137160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0" name="Text 8"/>
          <p:cNvSpPr txBox="1"/>
          <p:nvPr/>
        </p:nvSpPr>
        <p:spPr>
          <a:xfrm>
            <a:off x="3538728" y="1481328"/>
            <a:ext cx="2066544" cy="365760"/>
          </a:xfrm>
          <a:prstGeom prst="roundRect">
            <a:avLst>
              <a:gd name="adj" fmla="val 30000"/>
            </a:avLst>
          </a:prstGeom>
          <a:solidFill>
            <a:srgbClr val="1FB5A8"/>
          </a:solid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CHOICE</a:t>
            </a:r>
            <a:endParaRPr lang="en-US" sz="2400" dirty="0"/>
          </a:p>
        </p:txBody>
      </p:sp>
      <p:sp>
        <p:nvSpPr>
          <p:cNvPr id="11" name="Text 9"/>
          <p:cNvSpPr txBox="1"/>
          <p:nvPr/>
        </p:nvSpPr>
        <p:spPr>
          <a:xfrm>
            <a:off x="5715000" y="160020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12" name="Shape 10"/>
          <p:cNvSpPr/>
          <p:nvPr/>
        </p:nvSpPr>
        <p:spPr>
          <a:xfrm>
            <a:off x="6400800" y="137160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3" name="Text 11"/>
          <p:cNvSpPr txBox="1"/>
          <p:nvPr/>
        </p:nvSpPr>
        <p:spPr>
          <a:xfrm>
            <a:off x="6510528" y="1481328"/>
            <a:ext cx="2066544" cy="365760"/>
          </a:xfrm>
          <a:prstGeom prst="roundRect">
            <a:avLst>
              <a:gd name="adj" fmla="val 30000"/>
            </a:avLst>
          </a:prstGeom>
          <a:solidFill>
            <a:srgbClr val="E85D9E"/>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EVENT</a:t>
            </a:r>
            <a:endParaRPr lang="en-US" sz="2000" dirty="0"/>
          </a:p>
        </p:txBody>
      </p:sp>
      <p:sp>
        <p:nvSpPr>
          <p:cNvPr id="14" name="Shape 12"/>
          <p:cNvSpPr/>
          <p:nvPr/>
        </p:nvSpPr>
        <p:spPr>
          <a:xfrm>
            <a:off x="457200" y="265176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5" name="Text 13"/>
          <p:cNvSpPr txBox="1"/>
          <p:nvPr/>
        </p:nvSpPr>
        <p:spPr>
          <a:xfrm>
            <a:off x="566928" y="2761488"/>
            <a:ext cx="2066544" cy="365760"/>
          </a:xfrm>
          <a:prstGeom prst="roundRect">
            <a:avLst>
              <a:gd name="adj" fmla="val 30000"/>
            </a:avLst>
          </a:prstGeom>
          <a:solidFill>
            <a:srgbClr val="7B5CE0"/>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CONSEQUENCE</a:t>
            </a:r>
            <a:endParaRPr lang="en-US" sz="2000" dirty="0"/>
          </a:p>
        </p:txBody>
      </p:sp>
      <p:sp>
        <p:nvSpPr>
          <p:cNvPr id="16" name="Text 14"/>
          <p:cNvSpPr txBox="1"/>
          <p:nvPr/>
        </p:nvSpPr>
        <p:spPr>
          <a:xfrm>
            <a:off x="2743200" y="288036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17" name="Shape 15"/>
          <p:cNvSpPr/>
          <p:nvPr/>
        </p:nvSpPr>
        <p:spPr>
          <a:xfrm>
            <a:off x="3429000" y="265176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8" name="Text 16"/>
          <p:cNvSpPr txBox="1"/>
          <p:nvPr/>
        </p:nvSpPr>
        <p:spPr>
          <a:xfrm>
            <a:off x="3538728" y="2761488"/>
            <a:ext cx="2066544" cy="365760"/>
          </a:xfrm>
          <a:prstGeom prst="roundRect">
            <a:avLst>
              <a:gd name="adj" fmla="val 30000"/>
            </a:avLst>
          </a:prstGeom>
          <a:solidFill>
            <a:srgbClr val="FF8A3D"/>
          </a:solid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ENDING</a:t>
            </a:r>
            <a:endParaRPr lang="en-US" sz="2400" dirty="0"/>
          </a:p>
        </p:txBody>
      </p:sp>
      <p:sp>
        <p:nvSpPr>
          <p:cNvPr id="19" name="Text 17"/>
          <p:cNvSpPr txBox="1"/>
          <p:nvPr/>
        </p:nvSpPr>
        <p:spPr>
          <a:xfrm>
            <a:off x="5715000" y="288036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20" name="Shape 18"/>
          <p:cNvSpPr/>
          <p:nvPr/>
        </p:nvSpPr>
        <p:spPr>
          <a:xfrm>
            <a:off x="6400800" y="265176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1" name="Text 19"/>
          <p:cNvSpPr txBox="1"/>
          <p:nvPr/>
        </p:nvSpPr>
        <p:spPr>
          <a:xfrm>
            <a:off x="6510528" y="2761488"/>
            <a:ext cx="2066544" cy="365760"/>
          </a:xfrm>
          <a:prstGeom prst="roundRect">
            <a:avLst>
              <a:gd name="adj" fmla="val 30000"/>
            </a:avLst>
          </a:prstGeom>
          <a:solidFill>
            <a:srgbClr val="1FB5A8"/>
          </a:solid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LESSON</a:t>
            </a:r>
            <a:endParaRPr lang="en-US" sz="2400" dirty="0"/>
          </a:p>
        </p:txBody>
      </p:sp>
      <p:sp>
        <p:nvSpPr>
          <p:cNvPr id="22" name="Text 20"/>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Change one part near the beginning and everything after it may change.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THE ORIGINAL STORY</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280160"/>
            <a:ext cx="2590800" cy="3337560"/>
          </a:xfrm>
          <a:prstGeom prst="roundRect">
            <a:avLst>
              <a:gd name="adj" fmla="val 5294"/>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94360" y="1417320"/>
            <a:ext cx="2316480" cy="457200"/>
          </a:xfrm>
          <a:prstGeom prst="roundRect">
            <a:avLst>
              <a:gd name="adj" fmla="val 24000"/>
            </a:avLst>
          </a:prstGeom>
          <a:solidFill>
            <a:srgbClr val="FF8A3D"/>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THE ANT</a:t>
            </a:r>
            <a:endParaRPr lang="en-US" sz="2000" dirty="0"/>
          </a:p>
        </p:txBody>
      </p:sp>
      <p:sp>
        <p:nvSpPr>
          <p:cNvPr id="8" name="Text 6"/>
          <p:cNvSpPr txBox="1"/>
          <p:nvPr/>
        </p:nvSpPr>
        <p:spPr>
          <a:xfrm>
            <a:off x="640080" y="2011680"/>
            <a:ext cx="222504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A1B4D"/>
                </a:solidFill>
              </a:rPr>
              <a:t>Works hard.</a:t>
            </a:r>
            <a:endParaRPr lang="en-US" sz="1500" dirty="0"/>
          </a:p>
          <a:p>
            <a:pPr marL="342900" indent="-342900">
              <a:spcAft>
                <a:spcPts val="600"/>
              </a:spcAft>
              <a:buSzPct val="100000"/>
              <a:buChar char="•"/>
            </a:pPr>
            <a:r>
              <a:rPr lang="en-US" sz="1500" dirty="0">
                <a:solidFill>
                  <a:srgbClr val="2A1B4D"/>
                </a:solidFill>
              </a:rPr>
              <a:t>Collects food.</a:t>
            </a:r>
            <a:endParaRPr lang="en-US" sz="1500" dirty="0"/>
          </a:p>
          <a:p>
            <a:pPr marL="342900" indent="-342900">
              <a:spcAft>
                <a:spcPts val="600"/>
              </a:spcAft>
              <a:buSzPct val="100000"/>
              <a:buChar char="•"/>
            </a:pPr>
            <a:r>
              <a:rPr lang="en-US" sz="1500" dirty="0">
                <a:solidFill>
                  <a:srgbClr val="2A1B4D"/>
                </a:solidFill>
              </a:rPr>
              <a:t>Prepares for winter.</a:t>
            </a:r>
            <a:endParaRPr lang="en-US" sz="1500" dirty="0"/>
          </a:p>
        </p:txBody>
      </p:sp>
      <p:sp>
        <p:nvSpPr>
          <p:cNvPr id="9" name="Shape 7"/>
          <p:cNvSpPr/>
          <p:nvPr/>
        </p:nvSpPr>
        <p:spPr>
          <a:xfrm>
            <a:off x="3276600" y="1280160"/>
            <a:ext cx="2590800" cy="3337560"/>
          </a:xfrm>
          <a:prstGeom prst="roundRect">
            <a:avLst>
              <a:gd name="adj" fmla="val 5294"/>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0" name="Text 8"/>
          <p:cNvSpPr txBox="1"/>
          <p:nvPr/>
        </p:nvSpPr>
        <p:spPr>
          <a:xfrm>
            <a:off x="3413760" y="1417320"/>
            <a:ext cx="2316480" cy="457200"/>
          </a:xfrm>
          <a:prstGeom prst="roundRect">
            <a:avLst>
              <a:gd name="adj" fmla="val 24000"/>
            </a:avLst>
          </a:prstGeom>
          <a:solidFill>
            <a:srgbClr val="E85D9E"/>
          </a:solidFill>
          <a:ln/>
        </p:spPr>
        <p:txBody>
          <a:bodyPr wrap="square" lIns="0" tIns="0" rIns="0" bIns="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THE GRASSHOPPER</a:t>
            </a:r>
            <a:endParaRPr lang="en-US" dirty="0"/>
          </a:p>
        </p:txBody>
      </p:sp>
      <p:sp>
        <p:nvSpPr>
          <p:cNvPr id="11" name="Text 9"/>
          <p:cNvSpPr txBox="1"/>
          <p:nvPr/>
        </p:nvSpPr>
        <p:spPr>
          <a:xfrm>
            <a:off x="3459480" y="2011680"/>
            <a:ext cx="222504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A1B4D"/>
                </a:solidFill>
              </a:rPr>
              <a:t>Sings and plays.</a:t>
            </a:r>
            <a:endParaRPr lang="en-US" sz="1500" dirty="0"/>
          </a:p>
          <a:p>
            <a:pPr marL="342900" indent="-342900">
              <a:spcAft>
                <a:spcPts val="600"/>
              </a:spcAft>
              <a:buSzPct val="100000"/>
              <a:buChar char="•"/>
            </a:pPr>
            <a:r>
              <a:rPr lang="en-US" sz="1500" dirty="0">
                <a:solidFill>
                  <a:srgbClr val="2A1B4D"/>
                </a:solidFill>
              </a:rPr>
              <a:t>Does not prepare.</a:t>
            </a:r>
            <a:endParaRPr lang="en-US" sz="1500" dirty="0"/>
          </a:p>
        </p:txBody>
      </p:sp>
      <p:sp>
        <p:nvSpPr>
          <p:cNvPr id="12" name="Shape 10"/>
          <p:cNvSpPr/>
          <p:nvPr/>
        </p:nvSpPr>
        <p:spPr>
          <a:xfrm>
            <a:off x="6096000" y="1280160"/>
            <a:ext cx="2590800" cy="3337560"/>
          </a:xfrm>
          <a:prstGeom prst="roundRect">
            <a:avLst>
              <a:gd name="adj" fmla="val 5294"/>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3" name="Text 11"/>
          <p:cNvSpPr txBox="1"/>
          <p:nvPr/>
        </p:nvSpPr>
        <p:spPr>
          <a:xfrm>
            <a:off x="6233160" y="1417320"/>
            <a:ext cx="2316480" cy="457200"/>
          </a:xfrm>
          <a:prstGeom prst="roundRect">
            <a:avLst>
              <a:gd name="adj" fmla="val 24000"/>
            </a:avLst>
          </a:prstGeom>
          <a:solidFill>
            <a:srgbClr val="1FB5A8"/>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WINTER &amp; ENDING</a:t>
            </a:r>
            <a:endParaRPr lang="en-US" sz="2000" dirty="0"/>
          </a:p>
        </p:txBody>
      </p:sp>
      <p:sp>
        <p:nvSpPr>
          <p:cNvPr id="14" name="Text 12"/>
          <p:cNvSpPr txBox="1"/>
          <p:nvPr/>
        </p:nvSpPr>
        <p:spPr>
          <a:xfrm>
            <a:off x="6096000" y="1965960"/>
            <a:ext cx="2774653"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A1B4D"/>
                </a:solidFill>
              </a:rPr>
              <a:t>The Grasshopper has no food.</a:t>
            </a:r>
            <a:endParaRPr lang="en-US" sz="1500" dirty="0"/>
          </a:p>
          <a:p>
            <a:pPr marL="342900" indent="-342900">
              <a:spcAft>
                <a:spcPts val="600"/>
              </a:spcAft>
              <a:buSzPct val="100000"/>
              <a:buChar char="•"/>
            </a:pPr>
            <a:r>
              <a:rPr lang="en-US" sz="1500" dirty="0">
                <a:solidFill>
                  <a:srgbClr val="2A1B4D"/>
                </a:solidFill>
              </a:rPr>
              <a:t>The Grasshopper learns a lesson.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THE KEY DIFFERENCE</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188720"/>
            <a:ext cx="8229600" cy="1051560"/>
          </a:xfrm>
          <a:prstGeom prst="roundRect">
            <a:avLst>
              <a:gd name="adj" fmla="val 1304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640080" y="1188720"/>
            <a:ext cx="7863840" cy="1051560"/>
          </a:xfrm>
          <a:prstGeom prst="rect">
            <a:avLst/>
          </a:prstGeom>
          <a:noFill/>
          <a:ln/>
        </p:spPr>
        <p:txBody>
          <a:bodyPr wrap="square" lIns="0" tIns="0" rIns="0" bIns="0" rtlCol="0" anchor="ctr"/>
          <a:lstStyle/>
          <a:p>
            <a:pPr marL="0" indent="0">
              <a:buNone/>
            </a:pPr>
            <a:r>
              <a:rPr lang="en-US" sz="1700" b="1" dirty="0">
                <a:solidFill>
                  <a:srgbClr val="2A1B4D"/>
                </a:solidFill>
              </a:rPr>
              <a:t>Why does the Ant survive the winter better than the Grasshopper?</a:t>
            </a:r>
            <a:endParaRPr lang="en-US" sz="1700" dirty="0"/>
          </a:p>
        </p:txBody>
      </p:sp>
      <p:sp>
        <p:nvSpPr>
          <p:cNvPr id="8" name="Shape 6"/>
          <p:cNvSpPr/>
          <p:nvPr/>
        </p:nvSpPr>
        <p:spPr>
          <a:xfrm>
            <a:off x="45720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9" name="Shape 7"/>
          <p:cNvSpPr/>
          <p:nvPr/>
        </p:nvSpPr>
        <p:spPr>
          <a:xfrm>
            <a:off x="640080" y="2651760"/>
            <a:ext cx="548640" cy="548640"/>
          </a:xfrm>
          <a:prstGeom prst="ellipse">
            <a:avLst/>
          </a:prstGeom>
          <a:solidFill>
            <a:srgbClr val="FF8A3D"/>
          </a:solidFill>
          <a:ln/>
        </p:spPr>
      </p:sp>
      <p:sp>
        <p:nvSpPr>
          <p:cNvPr id="10" name="Text 8"/>
          <p:cNvSpPr txBox="1"/>
          <p:nvPr/>
        </p:nvSpPr>
        <p:spPr>
          <a:xfrm>
            <a:off x="64008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1" name="Text 9"/>
          <p:cNvSpPr txBox="1"/>
          <p:nvPr/>
        </p:nvSpPr>
        <p:spPr>
          <a:xfrm>
            <a:off x="1160186" y="2423160"/>
            <a:ext cx="3503254" cy="1005840"/>
          </a:xfrm>
          <a:prstGeom prst="rect">
            <a:avLst/>
          </a:prstGeom>
          <a:noFill/>
          <a:ln/>
        </p:spPr>
        <p:txBody>
          <a:bodyPr wrap="square" lIns="0" tIns="0" rIns="0" bIns="0" rtlCol="0" anchor="ctr"/>
          <a:lstStyle/>
          <a:p>
            <a:pPr marL="0" indent="0">
              <a:buNone/>
            </a:pPr>
            <a:r>
              <a:rPr lang="en-US" sz="1500" dirty="0">
                <a:solidFill>
                  <a:srgbClr val="2A1B4D"/>
                </a:solidFill>
              </a:rPr>
              <a:t>The Ant is bigger, so he can carry more food.</a:t>
            </a:r>
            <a:endParaRPr lang="en-US" sz="1500" dirty="0"/>
          </a:p>
        </p:txBody>
      </p:sp>
      <p:sp>
        <p:nvSpPr>
          <p:cNvPr id="12" name="Shape 10"/>
          <p:cNvSpPr/>
          <p:nvPr/>
        </p:nvSpPr>
        <p:spPr>
          <a:xfrm>
            <a:off x="466344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3" name="Shape 11"/>
          <p:cNvSpPr/>
          <p:nvPr/>
        </p:nvSpPr>
        <p:spPr>
          <a:xfrm>
            <a:off x="4846320" y="2651760"/>
            <a:ext cx="548640" cy="548640"/>
          </a:xfrm>
          <a:prstGeom prst="ellipse">
            <a:avLst/>
          </a:prstGeom>
          <a:solidFill>
            <a:srgbClr val="1FB5A8"/>
          </a:solidFill>
          <a:ln/>
        </p:spPr>
      </p:sp>
      <p:sp>
        <p:nvSpPr>
          <p:cNvPr id="14" name="Text 12"/>
          <p:cNvSpPr txBox="1"/>
          <p:nvPr/>
        </p:nvSpPr>
        <p:spPr>
          <a:xfrm>
            <a:off x="484632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5" name="Text 13"/>
          <p:cNvSpPr txBox="1"/>
          <p:nvPr/>
        </p:nvSpPr>
        <p:spPr>
          <a:xfrm>
            <a:off x="5577840" y="2423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Grasshopper works too, but he starts too late.</a:t>
            </a:r>
            <a:endParaRPr lang="en-US" sz="1500" dirty="0"/>
          </a:p>
        </p:txBody>
      </p:sp>
      <p:sp>
        <p:nvSpPr>
          <p:cNvPr id="16" name="Shape 14"/>
          <p:cNvSpPr/>
          <p:nvPr/>
        </p:nvSpPr>
        <p:spPr>
          <a:xfrm>
            <a:off x="45720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7" name="Shape 15"/>
          <p:cNvSpPr/>
          <p:nvPr/>
        </p:nvSpPr>
        <p:spPr>
          <a:xfrm>
            <a:off x="640080" y="3794760"/>
            <a:ext cx="548640" cy="548640"/>
          </a:xfrm>
          <a:prstGeom prst="ellipse">
            <a:avLst/>
          </a:prstGeom>
          <a:solidFill>
            <a:srgbClr val="E85D9E"/>
          </a:solidFill>
          <a:ln/>
        </p:spPr>
      </p:sp>
      <p:sp>
        <p:nvSpPr>
          <p:cNvPr id="18" name="Text 16"/>
          <p:cNvSpPr txBox="1"/>
          <p:nvPr/>
        </p:nvSpPr>
        <p:spPr>
          <a:xfrm>
            <a:off x="64008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19" name="Text 17"/>
          <p:cNvSpPr txBox="1"/>
          <p:nvPr/>
        </p:nvSpPr>
        <p:spPr>
          <a:xfrm>
            <a:off x="137160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Ant prepares in summer, so he has food in winter.</a:t>
            </a:r>
            <a:endParaRPr lang="en-US" sz="1500" dirty="0"/>
          </a:p>
        </p:txBody>
      </p:sp>
      <p:sp>
        <p:nvSpPr>
          <p:cNvPr id="20" name="Shape 18"/>
          <p:cNvSpPr/>
          <p:nvPr/>
        </p:nvSpPr>
        <p:spPr>
          <a:xfrm>
            <a:off x="466344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1" name="Shape 19"/>
          <p:cNvSpPr/>
          <p:nvPr/>
        </p:nvSpPr>
        <p:spPr>
          <a:xfrm>
            <a:off x="4846320" y="3794760"/>
            <a:ext cx="548640" cy="548640"/>
          </a:xfrm>
          <a:prstGeom prst="ellipse">
            <a:avLst/>
          </a:prstGeom>
          <a:solidFill>
            <a:srgbClr val="7B5CE0"/>
          </a:solidFill>
          <a:ln/>
        </p:spPr>
      </p:sp>
      <p:sp>
        <p:nvSpPr>
          <p:cNvPr id="22" name="Text 20"/>
          <p:cNvSpPr txBox="1"/>
          <p:nvPr/>
        </p:nvSpPr>
        <p:spPr>
          <a:xfrm>
            <a:off x="484632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3" name="Text 21"/>
          <p:cNvSpPr txBox="1"/>
          <p:nvPr/>
        </p:nvSpPr>
        <p:spPr>
          <a:xfrm>
            <a:off x="557784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Ant asks other insects to share their food.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1B4D"/>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3E2A70"/>
          </a:solidFill>
          <a:ln/>
        </p:spPr>
      </p:sp>
      <p:sp>
        <p:nvSpPr>
          <p:cNvPr id="3" name="Shape 1"/>
          <p:cNvSpPr/>
          <p:nvPr/>
        </p:nvSpPr>
        <p:spPr>
          <a:xfrm>
            <a:off x="8549640" y="502920"/>
            <a:ext cx="822960" cy="822960"/>
          </a:xfrm>
          <a:prstGeom prst="ellipse">
            <a:avLst/>
          </a:prstGeom>
          <a:solidFill>
            <a:srgbClr val="FF8A3D">
              <a:alpha val="8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ANSWER</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B7A8E8"/>
                </a:solidFill>
              </a:rPr>
              <a:t>1.6 A TWIST…</a:t>
            </a:r>
            <a:endParaRPr lang="en-US" sz="1000" dirty="0"/>
          </a:p>
        </p:txBody>
      </p:sp>
      <p:sp>
        <p:nvSpPr>
          <p:cNvPr id="6" name="Shape 4"/>
          <p:cNvSpPr/>
          <p:nvPr/>
        </p:nvSpPr>
        <p:spPr>
          <a:xfrm>
            <a:off x="548640" y="1554480"/>
            <a:ext cx="1737360" cy="1737360"/>
          </a:xfrm>
          <a:prstGeom prst="ellipse">
            <a:avLst/>
          </a:prstGeom>
          <a:solidFill>
            <a:srgbClr val="1FB5A8"/>
          </a:solidFill>
          <a:ln/>
        </p:spPr>
      </p:sp>
      <p:sp>
        <p:nvSpPr>
          <p:cNvPr id="7" name="Text 5"/>
          <p:cNvSpPr txBox="1"/>
          <p:nvPr/>
        </p:nvSpPr>
        <p:spPr>
          <a:xfrm>
            <a:off x="548640" y="1554480"/>
            <a:ext cx="1737360" cy="17373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C</a:t>
            </a:r>
            <a:endParaRPr lang="en-US" sz="7200" dirty="0"/>
          </a:p>
        </p:txBody>
      </p:sp>
      <p:sp>
        <p:nvSpPr>
          <p:cNvPr id="8" name="Text 6"/>
          <p:cNvSpPr txBox="1"/>
          <p:nvPr/>
        </p:nvSpPr>
        <p:spPr>
          <a:xfrm>
            <a:off x="2651760" y="1280160"/>
            <a:ext cx="5943600" cy="1005840"/>
          </a:xfrm>
          <a:prstGeom prst="rect">
            <a:avLst/>
          </a:prstGeom>
          <a:noFill/>
          <a:ln/>
        </p:spPr>
        <p:txBody>
          <a:bodyPr wrap="square" lIns="0" tIns="0" rIns="0" bIns="0" rtlCol="0" anchor="ctr"/>
          <a:lstStyle/>
          <a:p>
            <a:pPr marL="0" indent="0">
              <a:buNone/>
            </a:pPr>
            <a:r>
              <a:rPr lang="en-US" sz="2200" b="1" dirty="0">
                <a:solidFill>
                  <a:srgbClr val="FFFFFF"/>
                </a:solidFill>
              </a:rPr>
              <a:t>The Ant prepares in summer, so he has food in winter.</a:t>
            </a:r>
            <a:endParaRPr lang="en-US" sz="2200" dirty="0"/>
          </a:p>
        </p:txBody>
      </p:sp>
      <p:sp>
        <p:nvSpPr>
          <p:cNvPr id="9" name="Text 7"/>
          <p:cNvSpPr txBox="1"/>
          <p:nvPr/>
        </p:nvSpPr>
        <p:spPr>
          <a:xfrm>
            <a:off x="2651760" y="2377440"/>
            <a:ext cx="5943600" cy="2286000"/>
          </a:xfrm>
          <a:prstGeom prst="rect">
            <a:avLst/>
          </a:prstGeom>
          <a:noFill/>
          <a:ln/>
        </p:spPr>
        <p:txBody>
          <a:bodyPr wrap="square" lIns="0" tIns="0" rIns="0" bIns="0" rtlCol="0" anchor="t"/>
          <a:lstStyle/>
          <a:p>
            <a:pPr marL="0" indent="0">
              <a:spcAft>
                <a:spcPts val="800"/>
              </a:spcAft>
              <a:buNone/>
            </a:pPr>
            <a:r>
              <a:rPr lang="en-US" sz="1600" dirty="0">
                <a:solidFill>
                  <a:srgbClr val="DCD2FF"/>
                </a:solidFill>
              </a:rPr>
              <a:t>Main consequence:</a:t>
            </a:r>
            <a:endParaRPr lang="en-US" sz="1600" dirty="0"/>
          </a:p>
          <a:p>
            <a:pPr marL="0" indent="0">
              <a:spcAft>
                <a:spcPts val="800"/>
              </a:spcAft>
              <a:buNone/>
            </a:pPr>
            <a:r>
              <a:rPr lang="en-US" sz="1600" dirty="0">
                <a:solidFill>
                  <a:srgbClr val="DCD2FF"/>
                </a:solidFill>
              </a:rPr>
              <a:t>The Ant has food. The Grasshopper does not.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FIND THE BIGGEST TWIST</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188720"/>
            <a:ext cx="8229600" cy="1051560"/>
          </a:xfrm>
          <a:prstGeom prst="roundRect">
            <a:avLst>
              <a:gd name="adj" fmla="val 1304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640080" y="1188720"/>
            <a:ext cx="7863840" cy="1051560"/>
          </a:xfrm>
          <a:prstGeom prst="rect">
            <a:avLst/>
          </a:prstGeom>
          <a:noFill/>
          <a:ln/>
        </p:spPr>
        <p:txBody>
          <a:bodyPr wrap="square" lIns="0" tIns="0" rIns="0" bIns="0" rtlCol="0" anchor="ctr"/>
          <a:lstStyle/>
          <a:p>
            <a:pPr marL="0" indent="0">
              <a:buNone/>
            </a:pPr>
            <a:r>
              <a:rPr lang="en-US" sz="1700" b="1" dirty="0">
                <a:solidFill>
                  <a:srgbClr val="2A1B4D"/>
                </a:solidFill>
              </a:rPr>
              <a:t>Which change would create the biggest twist? Think: which change could affect the whole story?</a:t>
            </a:r>
            <a:endParaRPr lang="en-US" sz="1700" dirty="0"/>
          </a:p>
        </p:txBody>
      </p:sp>
      <p:sp>
        <p:nvSpPr>
          <p:cNvPr id="8" name="Shape 6"/>
          <p:cNvSpPr/>
          <p:nvPr/>
        </p:nvSpPr>
        <p:spPr>
          <a:xfrm>
            <a:off x="45720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9" name="Shape 7"/>
          <p:cNvSpPr/>
          <p:nvPr/>
        </p:nvSpPr>
        <p:spPr>
          <a:xfrm>
            <a:off x="640080" y="2651760"/>
            <a:ext cx="548640" cy="548640"/>
          </a:xfrm>
          <a:prstGeom prst="ellipse">
            <a:avLst/>
          </a:prstGeom>
          <a:solidFill>
            <a:srgbClr val="FF8A3D"/>
          </a:solidFill>
          <a:ln/>
        </p:spPr>
      </p:sp>
      <p:sp>
        <p:nvSpPr>
          <p:cNvPr id="10" name="Text 8"/>
          <p:cNvSpPr txBox="1"/>
          <p:nvPr/>
        </p:nvSpPr>
        <p:spPr>
          <a:xfrm>
            <a:off x="64008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1" name="Text 9"/>
          <p:cNvSpPr txBox="1"/>
          <p:nvPr/>
        </p:nvSpPr>
        <p:spPr>
          <a:xfrm>
            <a:off x="1371600" y="2423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Ant collects food from a different field.</a:t>
            </a:r>
            <a:endParaRPr lang="en-US" sz="1500" dirty="0"/>
          </a:p>
        </p:txBody>
      </p:sp>
      <p:sp>
        <p:nvSpPr>
          <p:cNvPr id="12" name="Shape 10"/>
          <p:cNvSpPr/>
          <p:nvPr/>
        </p:nvSpPr>
        <p:spPr>
          <a:xfrm>
            <a:off x="466344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3" name="Shape 11"/>
          <p:cNvSpPr/>
          <p:nvPr/>
        </p:nvSpPr>
        <p:spPr>
          <a:xfrm>
            <a:off x="4846320" y="2651760"/>
            <a:ext cx="548640" cy="548640"/>
          </a:xfrm>
          <a:prstGeom prst="ellipse">
            <a:avLst/>
          </a:prstGeom>
          <a:solidFill>
            <a:srgbClr val="1FB5A8"/>
          </a:solidFill>
          <a:ln/>
        </p:spPr>
      </p:sp>
      <p:sp>
        <p:nvSpPr>
          <p:cNvPr id="14" name="Text 12"/>
          <p:cNvSpPr txBox="1"/>
          <p:nvPr/>
        </p:nvSpPr>
        <p:spPr>
          <a:xfrm>
            <a:off x="484632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5" name="Text 13"/>
          <p:cNvSpPr txBox="1"/>
          <p:nvPr/>
        </p:nvSpPr>
        <p:spPr>
          <a:xfrm>
            <a:off x="5577840" y="2423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Grasshopper sings a different song.</a:t>
            </a:r>
            <a:endParaRPr lang="en-US" sz="1500" dirty="0"/>
          </a:p>
        </p:txBody>
      </p:sp>
      <p:sp>
        <p:nvSpPr>
          <p:cNvPr id="16" name="Shape 14"/>
          <p:cNvSpPr/>
          <p:nvPr/>
        </p:nvSpPr>
        <p:spPr>
          <a:xfrm>
            <a:off x="45720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7" name="Shape 15"/>
          <p:cNvSpPr/>
          <p:nvPr/>
        </p:nvSpPr>
        <p:spPr>
          <a:xfrm>
            <a:off x="640080" y="3794760"/>
            <a:ext cx="548640" cy="548640"/>
          </a:xfrm>
          <a:prstGeom prst="ellipse">
            <a:avLst/>
          </a:prstGeom>
          <a:solidFill>
            <a:srgbClr val="E85D9E"/>
          </a:solidFill>
          <a:ln/>
        </p:spPr>
      </p:sp>
      <p:sp>
        <p:nvSpPr>
          <p:cNvPr id="18" name="Text 16"/>
          <p:cNvSpPr txBox="1"/>
          <p:nvPr/>
        </p:nvSpPr>
        <p:spPr>
          <a:xfrm>
            <a:off x="64008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19" name="Text 17"/>
          <p:cNvSpPr txBox="1"/>
          <p:nvPr/>
        </p:nvSpPr>
        <p:spPr>
          <a:xfrm>
            <a:off x="137160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Winter arrives one day later.</a:t>
            </a:r>
            <a:endParaRPr lang="en-US" sz="1500" dirty="0"/>
          </a:p>
        </p:txBody>
      </p:sp>
      <p:sp>
        <p:nvSpPr>
          <p:cNvPr id="20" name="Shape 18"/>
          <p:cNvSpPr/>
          <p:nvPr/>
        </p:nvSpPr>
        <p:spPr>
          <a:xfrm>
            <a:off x="466344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1" name="Shape 19"/>
          <p:cNvSpPr/>
          <p:nvPr/>
        </p:nvSpPr>
        <p:spPr>
          <a:xfrm>
            <a:off x="4846320" y="3794760"/>
            <a:ext cx="548640" cy="548640"/>
          </a:xfrm>
          <a:prstGeom prst="ellipse">
            <a:avLst/>
          </a:prstGeom>
          <a:solidFill>
            <a:srgbClr val="7B5CE0"/>
          </a:solidFill>
          <a:ln/>
        </p:spPr>
      </p:sp>
      <p:sp>
        <p:nvSpPr>
          <p:cNvPr id="22" name="Text 20"/>
          <p:cNvSpPr txBox="1"/>
          <p:nvPr/>
        </p:nvSpPr>
        <p:spPr>
          <a:xfrm>
            <a:off x="484632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3" name="Text 21"/>
          <p:cNvSpPr txBox="1"/>
          <p:nvPr/>
        </p:nvSpPr>
        <p:spPr>
          <a:xfrm>
            <a:off x="557784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Grasshopper decides to prepare for winter.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A1B4D"/>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3E2A70"/>
          </a:solidFill>
          <a:ln/>
        </p:spPr>
      </p:sp>
      <p:sp>
        <p:nvSpPr>
          <p:cNvPr id="3" name="Shape 1"/>
          <p:cNvSpPr/>
          <p:nvPr/>
        </p:nvSpPr>
        <p:spPr>
          <a:xfrm>
            <a:off x="8549640" y="502920"/>
            <a:ext cx="822960" cy="822960"/>
          </a:xfrm>
          <a:prstGeom prst="ellipse">
            <a:avLst/>
          </a:prstGeom>
          <a:solidFill>
            <a:srgbClr val="FF8A3D">
              <a:alpha val="8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ANSWER</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B7A8E8"/>
                </a:solidFill>
              </a:rPr>
              <a:t>1.6 A TWIST…</a:t>
            </a:r>
            <a:endParaRPr lang="en-US" sz="1000" dirty="0"/>
          </a:p>
        </p:txBody>
      </p:sp>
      <p:sp>
        <p:nvSpPr>
          <p:cNvPr id="6" name="Shape 4"/>
          <p:cNvSpPr/>
          <p:nvPr/>
        </p:nvSpPr>
        <p:spPr>
          <a:xfrm>
            <a:off x="548640" y="1554480"/>
            <a:ext cx="1737360" cy="1737360"/>
          </a:xfrm>
          <a:prstGeom prst="ellipse">
            <a:avLst/>
          </a:prstGeom>
          <a:solidFill>
            <a:srgbClr val="1FB5A8"/>
          </a:solidFill>
          <a:ln/>
        </p:spPr>
      </p:sp>
      <p:sp>
        <p:nvSpPr>
          <p:cNvPr id="7" name="Text 5"/>
          <p:cNvSpPr txBox="1"/>
          <p:nvPr/>
        </p:nvSpPr>
        <p:spPr>
          <a:xfrm>
            <a:off x="548640" y="1554480"/>
            <a:ext cx="1737360" cy="17373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D</a:t>
            </a:r>
            <a:endParaRPr lang="en-US" sz="7200" dirty="0"/>
          </a:p>
        </p:txBody>
      </p:sp>
      <p:sp>
        <p:nvSpPr>
          <p:cNvPr id="8" name="Text 6"/>
          <p:cNvSpPr txBox="1"/>
          <p:nvPr/>
        </p:nvSpPr>
        <p:spPr>
          <a:xfrm>
            <a:off x="2651760" y="1280160"/>
            <a:ext cx="5943600" cy="1005840"/>
          </a:xfrm>
          <a:prstGeom prst="rect">
            <a:avLst/>
          </a:prstGeom>
          <a:noFill/>
          <a:ln/>
        </p:spPr>
        <p:txBody>
          <a:bodyPr wrap="square" lIns="0" tIns="0" rIns="0" bIns="0" rtlCol="0" anchor="ctr"/>
          <a:lstStyle/>
          <a:p>
            <a:pPr marL="0" indent="0">
              <a:buNone/>
            </a:pPr>
            <a:r>
              <a:rPr lang="en-US" sz="2200" b="1" dirty="0">
                <a:solidFill>
                  <a:srgbClr val="FFFFFF"/>
                </a:solidFill>
              </a:rPr>
              <a:t>The Grasshopper decides to prepare for winter.</a:t>
            </a:r>
            <a:endParaRPr lang="en-US" sz="2200" dirty="0"/>
          </a:p>
        </p:txBody>
      </p:sp>
      <p:sp>
        <p:nvSpPr>
          <p:cNvPr id="9" name="Text 7"/>
          <p:cNvSpPr txBox="1"/>
          <p:nvPr/>
        </p:nvSpPr>
        <p:spPr>
          <a:xfrm>
            <a:off x="2651760" y="2377440"/>
            <a:ext cx="5943600" cy="2286000"/>
          </a:xfrm>
          <a:prstGeom prst="rect">
            <a:avLst/>
          </a:prstGeom>
          <a:noFill/>
          <a:ln/>
        </p:spPr>
        <p:txBody>
          <a:bodyPr wrap="square" lIns="0" tIns="0" rIns="0" bIns="0" rtlCol="0" anchor="t"/>
          <a:lstStyle/>
          <a:p>
            <a:pPr marL="0" indent="0">
              <a:spcAft>
                <a:spcPts val="800"/>
              </a:spcAft>
              <a:buNone/>
            </a:pPr>
            <a:r>
              <a:rPr lang="en-US" sz="1600" dirty="0">
                <a:solidFill>
                  <a:srgbClr val="DCD2FF"/>
                </a:solidFill>
              </a:rPr>
              <a:t>This changes his:</a:t>
            </a:r>
            <a:endParaRPr lang="en-US" sz="1600" dirty="0"/>
          </a:p>
          <a:p>
            <a:pPr marL="0" indent="0">
              <a:spcAft>
                <a:spcPts val="800"/>
              </a:spcAft>
              <a:buNone/>
            </a:pPr>
            <a:r>
              <a:rPr lang="en-US" sz="1600" dirty="0">
                <a:solidFill>
                  <a:srgbClr val="DCD2FF"/>
                </a:solidFill>
              </a:rPr>
              <a:t>choice → actions → consequences → ending</a:t>
            </a:r>
            <a:endParaRPr lang="en-US" sz="1600" dirty="0"/>
          </a:p>
          <a:p>
            <a:pPr marL="0" indent="0">
              <a:spcAft>
                <a:spcPts val="800"/>
              </a:spcAft>
              <a:buNone/>
            </a:pPr>
            <a:endParaRPr lang="en-US" sz="1600" dirty="0"/>
          </a:p>
          <a:p>
            <a:pPr marL="0" indent="0">
              <a:spcAft>
                <a:spcPts val="800"/>
              </a:spcAft>
              <a:buNone/>
            </a:pPr>
            <a:r>
              <a:rPr lang="en-US" sz="1600" dirty="0">
                <a:solidFill>
                  <a:srgbClr val="DCD2FF"/>
                </a:solidFill>
              </a:rPr>
              <a:t>It could also change the lesson.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TWIST DETECTIVE</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188720"/>
            <a:ext cx="8229600" cy="1051560"/>
          </a:xfrm>
          <a:prstGeom prst="roundRect">
            <a:avLst>
              <a:gd name="adj" fmla="val 1304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640080" y="1188720"/>
            <a:ext cx="7863840" cy="1051560"/>
          </a:xfrm>
          <a:prstGeom prst="rect">
            <a:avLst/>
          </a:prstGeom>
          <a:noFill/>
          <a:ln/>
        </p:spPr>
        <p:txBody>
          <a:bodyPr wrap="square" lIns="0" tIns="0" rIns="0" bIns="0" rtlCol="0" anchor="ctr"/>
          <a:lstStyle/>
          <a:p>
            <a:pPr marL="0" indent="0">
              <a:buNone/>
            </a:pPr>
            <a:r>
              <a:rPr lang="en-US" sz="1400" b="1" dirty="0">
                <a:solidFill>
                  <a:srgbClr val="2A1B4D"/>
                </a:solidFill>
              </a:rPr>
              <a:t>Original: The Grasshopper plays all summer.  Twist: "I've been wasting my time. I'm going to collect food too!"  What might happen next?</a:t>
            </a:r>
            <a:endParaRPr lang="en-US" sz="1400" dirty="0"/>
          </a:p>
        </p:txBody>
      </p:sp>
      <p:sp>
        <p:nvSpPr>
          <p:cNvPr id="8" name="Shape 6"/>
          <p:cNvSpPr/>
          <p:nvPr/>
        </p:nvSpPr>
        <p:spPr>
          <a:xfrm>
            <a:off x="45720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9" name="Shape 7"/>
          <p:cNvSpPr/>
          <p:nvPr/>
        </p:nvSpPr>
        <p:spPr>
          <a:xfrm>
            <a:off x="640080" y="2651760"/>
            <a:ext cx="548640" cy="548640"/>
          </a:xfrm>
          <a:prstGeom prst="ellipse">
            <a:avLst/>
          </a:prstGeom>
          <a:solidFill>
            <a:srgbClr val="FF8A3D"/>
          </a:solidFill>
          <a:ln/>
        </p:spPr>
      </p:sp>
      <p:sp>
        <p:nvSpPr>
          <p:cNvPr id="10" name="Text 8"/>
          <p:cNvSpPr txBox="1"/>
          <p:nvPr/>
        </p:nvSpPr>
        <p:spPr>
          <a:xfrm>
            <a:off x="64008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1" name="Text 9"/>
          <p:cNvSpPr txBox="1"/>
          <p:nvPr/>
        </p:nvSpPr>
        <p:spPr>
          <a:xfrm>
            <a:off x="1371600" y="2423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Grasshopper asks the Ant to give him food.</a:t>
            </a:r>
            <a:endParaRPr lang="en-US" sz="1500" dirty="0"/>
          </a:p>
        </p:txBody>
      </p:sp>
      <p:sp>
        <p:nvSpPr>
          <p:cNvPr id="12" name="Shape 10"/>
          <p:cNvSpPr/>
          <p:nvPr/>
        </p:nvSpPr>
        <p:spPr>
          <a:xfrm>
            <a:off x="466344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3" name="Shape 11"/>
          <p:cNvSpPr/>
          <p:nvPr/>
        </p:nvSpPr>
        <p:spPr>
          <a:xfrm>
            <a:off x="4846320" y="2651760"/>
            <a:ext cx="548640" cy="548640"/>
          </a:xfrm>
          <a:prstGeom prst="ellipse">
            <a:avLst/>
          </a:prstGeom>
          <a:solidFill>
            <a:srgbClr val="1FB5A8"/>
          </a:solidFill>
          <a:ln/>
        </p:spPr>
      </p:sp>
      <p:sp>
        <p:nvSpPr>
          <p:cNvPr id="14" name="Text 12"/>
          <p:cNvSpPr txBox="1"/>
          <p:nvPr/>
        </p:nvSpPr>
        <p:spPr>
          <a:xfrm>
            <a:off x="484632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5" name="Text 13"/>
          <p:cNvSpPr txBox="1"/>
          <p:nvPr/>
        </p:nvSpPr>
        <p:spPr>
          <a:xfrm>
            <a:off x="5577840" y="2423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Grasshopper begins collecting food.</a:t>
            </a:r>
            <a:endParaRPr lang="en-US" sz="1500" dirty="0"/>
          </a:p>
        </p:txBody>
      </p:sp>
      <p:sp>
        <p:nvSpPr>
          <p:cNvPr id="16" name="Shape 14"/>
          <p:cNvSpPr/>
          <p:nvPr/>
        </p:nvSpPr>
        <p:spPr>
          <a:xfrm>
            <a:off x="45720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7" name="Shape 15"/>
          <p:cNvSpPr/>
          <p:nvPr/>
        </p:nvSpPr>
        <p:spPr>
          <a:xfrm>
            <a:off x="640080" y="3794760"/>
            <a:ext cx="548640" cy="548640"/>
          </a:xfrm>
          <a:prstGeom prst="ellipse">
            <a:avLst/>
          </a:prstGeom>
          <a:solidFill>
            <a:srgbClr val="E85D9E"/>
          </a:solidFill>
          <a:ln/>
        </p:spPr>
      </p:sp>
      <p:sp>
        <p:nvSpPr>
          <p:cNvPr id="18" name="Text 16"/>
          <p:cNvSpPr txBox="1"/>
          <p:nvPr/>
        </p:nvSpPr>
        <p:spPr>
          <a:xfrm>
            <a:off x="64008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19" name="Text 17"/>
          <p:cNvSpPr txBox="1"/>
          <p:nvPr/>
        </p:nvSpPr>
        <p:spPr>
          <a:xfrm>
            <a:off x="137160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Ant refuses to speak to him.</a:t>
            </a:r>
            <a:endParaRPr lang="en-US" sz="1500" dirty="0"/>
          </a:p>
        </p:txBody>
      </p:sp>
      <p:sp>
        <p:nvSpPr>
          <p:cNvPr id="20" name="Shape 18"/>
          <p:cNvSpPr/>
          <p:nvPr/>
        </p:nvSpPr>
        <p:spPr>
          <a:xfrm>
            <a:off x="466344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1" name="Shape 19"/>
          <p:cNvSpPr/>
          <p:nvPr/>
        </p:nvSpPr>
        <p:spPr>
          <a:xfrm>
            <a:off x="4846320" y="3794760"/>
            <a:ext cx="548640" cy="548640"/>
          </a:xfrm>
          <a:prstGeom prst="ellipse">
            <a:avLst/>
          </a:prstGeom>
          <a:solidFill>
            <a:srgbClr val="7B5CE0"/>
          </a:solidFill>
          <a:ln/>
        </p:spPr>
      </p:sp>
      <p:sp>
        <p:nvSpPr>
          <p:cNvPr id="22" name="Text 20"/>
          <p:cNvSpPr txBox="1"/>
          <p:nvPr/>
        </p:nvSpPr>
        <p:spPr>
          <a:xfrm>
            <a:off x="484632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3" name="Text 21"/>
          <p:cNvSpPr txBox="1"/>
          <p:nvPr/>
        </p:nvSpPr>
        <p:spPr>
          <a:xfrm>
            <a:off x="557784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Grasshopper forgets about winter.</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A1B4D"/>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3E2A70"/>
          </a:solidFill>
          <a:ln/>
        </p:spPr>
      </p:sp>
      <p:sp>
        <p:nvSpPr>
          <p:cNvPr id="3" name="Shape 1"/>
          <p:cNvSpPr/>
          <p:nvPr/>
        </p:nvSpPr>
        <p:spPr>
          <a:xfrm>
            <a:off x="8549640" y="502920"/>
            <a:ext cx="822960" cy="822960"/>
          </a:xfrm>
          <a:prstGeom prst="ellipse">
            <a:avLst/>
          </a:prstGeom>
          <a:solidFill>
            <a:srgbClr val="FF8A3D">
              <a:alpha val="8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ANSWER</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B7A8E8"/>
                </a:solidFill>
              </a:rPr>
              <a:t>1.6 A TWIST…</a:t>
            </a:r>
            <a:endParaRPr lang="en-US" sz="1000" dirty="0"/>
          </a:p>
        </p:txBody>
      </p:sp>
      <p:sp>
        <p:nvSpPr>
          <p:cNvPr id="6" name="Shape 4"/>
          <p:cNvSpPr/>
          <p:nvPr/>
        </p:nvSpPr>
        <p:spPr>
          <a:xfrm>
            <a:off x="548640" y="1554480"/>
            <a:ext cx="1737360" cy="1737360"/>
          </a:xfrm>
          <a:prstGeom prst="ellipse">
            <a:avLst/>
          </a:prstGeom>
          <a:solidFill>
            <a:srgbClr val="1FB5A8"/>
          </a:solidFill>
          <a:ln/>
        </p:spPr>
      </p:sp>
      <p:sp>
        <p:nvSpPr>
          <p:cNvPr id="7" name="Text 5"/>
          <p:cNvSpPr txBox="1"/>
          <p:nvPr/>
        </p:nvSpPr>
        <p:spPr>
          <a:xfrm>
            <a:off x="548640" y="1554480"/>
            <a:ext cx="1737360" cy="17373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B</a:t>
            </a:r>
            <a:endParaRPr lang="en-US" sz="7200" dirty="0"/>
          </a:p>
        </p:txBody>
      </p:sp>
      <p:sp>
        <p:nvSpPr>
          <p:cNvPr id="8" name="Text 6"/>
          <p:cNvSpPr txBox="1"/>
          <p:nvPr/>
        </p:nvSpPr>
        <p:spPr>
          <a:xfrm>
            <a:off x="2651760" y="1280160"/>
            <a:ext cx="5943600" cy="1005840"/>
          </a:xfrm>
          <a:prstGeom prst="rect">
            <a:avLst/>
          </a:prstGeom>
          <a:noFill/>
          <a:ln/>
        </p:spPr>
        <p:txBody>
          <a:bodyPr wrap="square" lIns="0" tIns="0" rIns="0" bIns="0" rtlCol="0" anchor="ctr"/>
          <a:lstStyle/>
          <a:p>
            <a:pPr marL="0" indent="0">
              <a:buNone/>
            </a:pPr>
            <a:r>
              <a:rPr lang="en-US" sz="2200" b="1" dirty="0">
                <a:solidFill>
                  <a:srgbClr val="FFFFFF"/>
                </a:solidFill>
              </a:rPr>
              <a:t>The Grasshopper begins collecting food.</a:t>
            </a:r>
            <a:endParaRPr lang="en-US" sz="2200" dirty="0"/>
          </a:p>
        </p:txBody>
      </p:sp>
      <p:sp>
        <p:nvSpPr>
          <p:cNvPr id="9" name="Text 7"/>
          <p:cNvSpPr txBox="1"/>
          <p:nvPr/>
        </p:nvSpPr>
        <p:spPr>
          <a:xfrm>
            <a:off x="2651760" y="2377440"/>
            <a:ext cx="5943600" cy="2286000"/>
          </a:xfrm>
          <a:prstGeom prst="rect">
            <a:avLst/>
          </a:prstGeom>
          <a:noFill/>
          <a:ln/>
        </p:spPr>
        <p:txBody>
          <a:bodyPr wrap="square" lIns="0" tIns="0" rIns="0" bIns="0" rtlCol="0" anchor="t"/>
          <a:lstStyle/>
          <a:p>
            <a:pPr marL="0" indent="0">
              <a:spcAft>
                <a:spcPts val="800"/>
              </a:spcAft>
              <a:buNone/>
            </a:pPr>
            <a:r>
              <a:rPr lang="en-US" sz="1600" dirty="0">
                <a:solidFill>
                  <a:srgbClr val="DCD2FF"/>
                </a:solidFill>
              </a:rPr>
              <a:t>But that's only the beginning. Now ask: what happens because he prepares?</a:t>
            </a:r>
            <a:endParaRPr lang="en-US" sz="1600" dirty="0"/>
          </a:p>
          <a:p>
            <a:pPr marL="0" indent="0">
              <a:spcAft>
                <a:spcPts val="800"/>
              </a:spcAft>
              <a:buNone/>
            </a:pPr>
            <a:endParaRPr lang="en-US" sz="1600" dirty="0"/>
          </a:p>
          <a:p>
            <a:pPr marL="0" indent="0">
              <a:spcAft>
                <a:spcPts val="800"/>
              </a:spcAft>
              <a:buNone/>
            </a:pPr>
            <a:r>
              <a:rPr lang="en-US" sz="1600" dirty="0">
                <a:solidFill>
                  <a:srgbClr val="DCD2FF"/>
                </a:solidFill>
              </a:rPr>
              <a:t>He may have:</a:t>
            </a:r>
            <a:endParaRPr lang="en-US" sz="1600" dirty="0"/>
          </a:p>
          <a:p>
            <a:pPr marL="0" indent="0">
              <a:spcAft>
                <a:spcPts val="800"/>
              </a:spcAft>
              <a:buNone/>
            </a:pPr>
            <a:r>
              <a:rPr lang="en-US" sz="1600" dirty="0">
                <a:solidFill>
                  <a:srgbClr val="DCD2FF"/>
                </a:solidFill>
              </a:rPr>
              <a:t>• enough food  • a safer winter</a:t>
            </a:r>
            <a:endParaRPr lang="en-US" sz="1600" dirty="0"/>
          </a:p>
          <a:p>
            <a:pPr marL="0" indent="0">
              <a:spcAft>
                <a:spcPts val="800"/>
              </a:spcAft>
              <a:buNone/>
            </a:pPr>
            <a:r>
              <a:rPr lang="en-US" sz="1600" dirty="0">
                <a:solidFill>
                  <a:srgbClr val="DCD2FF"/>
                </a:solidFill>
              </a:rPr>
              <a:t>• a different relationship with the Ant</a:t>
            </a:r>
            <a:endParaRPr lang="en-US" sz="1600" dirty="0"/>
          </a:p>
          <a:p>
            <a:pPr marL="0" indent="0">
              <a:spcAft>
                <a:spcPts val="800"/>
              </a:spcAft>
              <a:buNone/>
            </a:pPr>
            <a:r>
              <a:rPr lang="en-US" sz="1600" dirty="0">
                <a:solidFill>
                  <a:srgbClr val="DCD2FF"/>
                </a:solidFill>
              </a:rPr>
              <a:t>• a different ending</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FOLLOW THE CHAIN</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280160"/>
            <a:ext cx="228600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66928" y="1389888"/>
            <a:ext cx="2066544" cy="365760"/>
          </a:xfrm>
          <a:prstGeom prst="roundRect">
            <a:avLst>
              <a:gd name="adj" fmla="val 30000"/>
            </a:avLst>
          </a:prstGeom>
          <a:solidFill>
            <a:srgbClr val="FF8A3D"/>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TWIST</a:t>
            </a:r>
            <a:endParaRPr lang="en-US" sz="1200" dirty="0"/>
          </a:p>
        </p:txBody>
      </p:sp>
      <p:sp>
        <p:nvSpPr>
          <p:cNvPr id="8" name="Text 6"/>
          <p:cNvSpPr txBox="1"/>
          <p:nvPr/>
        </p:nvSpPr>
        <p:spPr>
          <a:xfrm>
            <a:off x="566928" y="1828800"/>
            <a:ext cx="2066544" cy="731520"/>
          </a:xfrm>
          <a:prstGeom prst="rect">
            <a:avLst/>
          </a:prstGeom>
          <a:noFill/>
          <a:ln/>
        </p:spPr>
        <p:txBody>
          <a:bodyPr wrap="square" lIns="0" tIns="0" rIns="0" bIns="0" rtlCol="0" anchor="t"/>
          <a:lstStyle/>
          <a:p>
            <a:pPr marL="0" indent="0">
              <a:buNone/>
            </a:pPr>
            <a:r>
              <a:rPr lang="en-US" sz="1400" dirty="0">
                <a:solidFill>
                  <a:srgbClr val="2A1B4D"/>
                </a:solidFill>
              </a:rPr>
              <a:t>The Grasshopper works hard.</a:t>
            </a:r>
            <a:endParaRPr lang="en-US" sz="1400" dirty="0"/>
          </a:p>
        </p:txBody>
      </p:sp>
      <p:sp>
        <p:nvSpPr>
          <p:cNvPr id="9" name="Text 7"/>
          <p:cNvSpPr txBox="1"/>
          <p:nvPr/>
        </p:nvSpPr>
        <p:spPr>
          <a:xfrm>
            <a:off x="2743200" y="173736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10" name="Shape 8"/>
          <p:cNvSpPr/>
          <p:nvPr/>
        </p:nvSpPr>
        <p:spPr>
          <a:xfrm>
            <a:off x="3429000" y="1280160"/>
            <a:ext cx="228600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1" name="Text 9"/>
          <p:cNvSpPr txBox="1"/>
          <p:nvPr/>
        </p:nvSpPr>
        <p:spPr>
          <a:xfrm>
            <a:off x="3538728" y="1389888"/>
            <a:ext cx="2066544" cy="365760"/>
          </a:xfrm>
          <a:prstGeom prst="roundRect">
            <a:avLst>
              <a:gd name="adj" fmla="val 30000"/>
            </a:avLst>
          </a:prstGeom>
          <a:solidFill>
            <a:srgbClr val="1FB5A8"/>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12" name="Text 10"/>
          <p:cNvSpPr txBox="1"/>
          <p:nvPr/>
        </p:nvSpPr>
        <p:spPr>
          <a:xfrm>
            <a:off x="3538728" y="1828800"/>
            <a:ext cx="2066544" cy="731520"/>
          </a:xfrm>
          <a:prstGeom prst="rect">
            <a:avLst/>
          </a:prstGeom>
          <a:noFill/>
          <a:ln/>
        </p:spPr>
        <p:txBody>
          <a:bodyPr wrap="square" lIns="0" tIns="0" rIns="0" bIns="0" rtlCol="0" anchor="t"/>
          <a:lstStyle/>
          <a:p>
            <a:pPr marL="0" indent="0">
              <a:buNone/>
            </a:pPr>
            <a:r>
              <a:rPr lang="en-US" sz="1400" dirty="0">
                <a:solidFill>
                  <a:srgbClr val="2A1B4D"/>
                </a:solidFill>
              </a:rPr>
              <a:t>He collects food.</a:t>
            </a:r>
            <a:endParaRPr lang="en-US" sz="1400" dirty="0"/>
          </a:p>
        </p:txBody>
      </p:sp>
      <p:sp>
        <p:nvSpPr>
          <p:cNvPr id="13" name="Text 11"/>
          <p:cNvSpPr txBox="1"/>
          <p:nvPr/>
        </p:nvSpPr>
        <p:spPr>
          <a:xfrm>
            <a:off x="5715000" y="173736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14" name="Shape 12"/>
          <p:cNvSpPr/>
          <p:nvPr/>
        </p:nvSpPr>
        <p:spPr>
          <a:xfrm>
            <a:off x="6400800" y="1280160"/>
            <a:ext cx="228600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5" name="Text 13"/>
          <p:cNvSpPr txBox="1"/>
          <p:nvPr/>
        </p:nvSpPr>
        <p:spPr>
          <a:xfrm>
            <a:off x="6510528" y="1389888"/>
            <a:ext cx="2066544" cy="365760"/>
          </a:xfrm>
          <a:prstGeom prst="roundRect">
            <a:avLst>
              <a:gd name="adj" fmla="val 30000"/>
            </a:avLst>
          </a:prstGeom>
          <a:solidFill>
            <a:srgbClr val="E85D9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CONSEQUENCE</a:t>
            </a:r>
            <a:endParaRPr lang="en-US" sz="1200" dirty="0"/>
          </a:p>
        </p:txBody>
      </p:sp>
      <p:sp>
        <p:nvSpPr>
          <p:cNvPr id="16" name="Text 14"/>
          <p:cNvSpPr txBox="1"/>
          <p:nvPr/>
        </p:nvSpPr>
        <p:spPr>
          <a:xfrm>
            <a:off x="6510528" y="1828800"/>
            <a:ext cx="2066544" cy="731520"/>
          </a:xfrm>
          <a:prstGeom prst="rect">
            <a:avLst/>
          </a:prstGeom>
          <a:noFill/>
          <a:ln/>
        </p:spPr>
        <p:txBody>
          <a:bodyPr wrap="square" lIns="0" tIns="0" rIns="0" bIns="0" rtlCol="0" anchor="t"/>
          <a:lstStyle/>
          <a:p>
            <a:pPr marL="0" indent="0">
              <a:buNone/>
            </a:pPr>
            <a:r>
              <a:rPr lang="en-US" sz="1400" dirty="0">
                <a:solidFill>
                  <a:srgbClr val="2A1B4D"/>
                </a:solidFill>
              </a:rPr>
              <a:t>He has food for winter.</a:t>
            </a:r>
            <a:endParaRPr lang="en-US" sz="1400" dirty="0"/>
          </a:p>
        </p:txBody>
      </p:sp>
      <p:sp>
        <p:nvSpPr>
          <p:cNvPr id="17" name="Shape 15"/>
          <p:cNvSpPr/>
          <p:nvPr/>
        </p:nvSpPr>
        <p:spPr>
          <a:xfrm>
            <a:off x="457200" y="3017520"/>
            <a:ext cx="228600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8" name="Text 16"/>
          <p:cNvSpPr txBox="1"/>
          <p:nvPr/>
        </p:nvSpPr>
        <p:spPr>
          <a:xfrm>
            <a:off x="566928" y="3127248"/>
            <a:ext cx="2066544" cy="365760"/>
          </a:xfrm>
          <a:prstGeom prst="roundRect">
            <a:avLst>
              <a:gd name="adj" fmla="val 30000"/>
            </a:avLst>
          </a:prstGeom>
          <a:solidFill>
            <a:srgbClr val="7B5CE0"/>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ENDING</a:t>
            </a:r>
            <a:endParaRPr lang="en-US" sz="1200" dirty="0"/>
          </a:p>
        </p:txBody>
      </p:sp>
      <p:sp>
        <p:nvSpPr>
          <p:cNvPr id="19" name="Text 17"/>
          <p:cNvSpPr txBox="1"/>
          <p:nvPr/>
        </p:nvSpPr>
        <p:spPr>
          <a:xfrm>
            <a:off x="566928" y="3566160"/>
            <a:ext cx="2066544" cy="731520"/>
          </a:xfrm>
          <a:prstGeom prst="rect">
            <a:avLst/>
          </a:prstGeom>
          <a:noFill/>
          <a:ln/>
        </p:spPr>
        <p:txBody>
          <a:bodyPr wrap="square" lIns="0" tIns="0" rIns="0" bIns="0" rtlCol="0" anchor="t"/>
          <a:lstStyle/>
          <a:p>
            <a:pPr marL="0" indent="0">
              <a:buNone/>
            </a:pPr>
            <a:r>
              <a:rPr lang="en-US" sz="1400" dirty="0">
                <a:solidFill>
                  <a:srgbClr val="2A1B4D"/>
                </a:solidFill>
              </a:rPr>
              <a:t>He may not need to ask the Ant for help.</a:t>
            </a:r>
            <a:endParaRPr lang="en-US" sz="1400" dirty="0"/>
          </a:p>
        </p:txBody>
      </p:sp>
      <p:sp>
        <p:nvSpPr>
          <p:cNvPr id="20" name="Text 18"/>
          <p:cNvSpPr txBox="1"/>
          <p:nvPr/>
        </p:nvSpPr>
        <p:spPr>
          <a:xfrm>
            <a:off x="2743200" y="347472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21" name="Shape 19"/>
          <p:cNvSpPr/>
          <p:nvPr/>
        </p:nvSpPr>
        <p:spPr>
          <a:xfrm>
            <a:off x="3429000" y="3017520"/>
            <a:ext cx="228600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2" name="Text 20"/>
          <p:cNvSpPr txBox="1"/>
          <p:nvPr/>
        </p:nvSpPr>
        <p:spPr>
          <a:xfrm>
            <a:off x="3538728" y="3127248"/>
            <a:ext cx="2066544" cy="365760"/>
          </a:xfrm>
          <a:prstGeom prst="roundRect">
            <a:avLst>
              <a:gd name="adj" fmla="val 30000"/>
            </a:avLst>
          </a:prstGeom>
          <a:solidFill>
            <a:srgbClr val="FF8A3D"/>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NEW LESSON</a:t>
            </a:r>
            <a:endParaRPr lang="en-US" sz="1200" dirty="0"/>
          </a:p>
        </p:txBody>
      </p:sp>
      <p:sp>
        <p:nvSpPr>
          <p:cNvPr id="23" name="Text 21"/>
          <p:cNvSpPr txBox="1"/>
          <p:nvPr/>
        </p:nvSpPr>
        <p:spPr>
          <a:xfrm>
            <a:off x="3538728" y="3566160"/>
            <a:ext cx="2066544" cy="731520"/>
          </a:xfrm>
          <a:prstGeom prst="rect">
            <a:avLst/>
          </a:prstGeom>
          <a:noFill/>
          <a:ln/>
        </p:spPr>
        <p:txBody>
          <a:bodyPr wrap="square" lIns="0" tIns="0" rIns="0" bIns="0" rtlCol="0" anchor="t"/>
          <a:lstStyle/>
          <a:p>
            <a:pPr marL="0" indent="0">
              <a:buNone/>
            </a:pPr>
            <a:r>
              <a:rPr lang="en-US" sz="1400" dirty="0">
                <a:solidFill>
                  <a:srgbClr val="2A1B4D"/>
                </a:solidFill>
              </a:rPr>
              <a:t>Learn from your mistakes and change your behaviour.</a:t>
            </a:r>
            <a:endParaRPr lang="en-US" sz="1400" dirty="0"/>
          </a:p>
        </p:txBody>
      </p:sp>
      <p:sp>
        <p:nvSpPr>
          <p:cNvPr id="25" name="Text 4">
            <a:extLst>
              <a:ext uri="{FF2B5EF4-FFF2-40B4-BE49-F238E27FC236}">
                <a16:creationId xmlns:a16="http://schemas.microsoft.com/office/drawing/2014/main" id="{60DB9F4A-35D9-3182-F4DD-252932ABEA5D}"/>
              </a:ext>
            </a:extLst>
          </p:cNvPr>
          <p:cNvSpPr txBox="1"/>
          <p:nvPr/>
        </p:nvSpPr>
        <p:spPr>
          <a:xfrm>
            <a:off x="1449421" y="4493336"/>
            <a:ext cx="7315200" cy="502920"/>
          </a:xfrm>
          <a:prstGeom prst="rect">
            <a:avLst/>
          </a:prstGeom>
          <a:noFill/>
          <a:ln/>
        </p:spPr>
        <p:txBody>
          <a:bodyPr wrap="square" lIns="0" tIns="0" rIns="0" bIns="0" rtlCol="0" anchor="ctr"/>
          <a:lstStyle/>
          <a:p>
            <a:pPr marL="0" indent="0">
              <a:buNone/>
            </a:pPr>
            <a:r>
              <a:rPr lang="en-US" sz="1700" i="1" dirty="0">
                <a:solidFill>
                  <a:srgbClr val="5A4A85"/>
                </a:solidFill>
                <a:latin typeface="Calibri" pitchFamily="34" charset="0"/>
                <a:ea typeface="Calibri" pitchFamily="34" charset="-122"/>
                <a:cs typeface="Calibri" pitchFamily="34" charset="-120"/>
              </a:rPr>
              <a:t>Turn the chain into sentences with because / so / as a result: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CHAIN TO SENTENCES</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7" name="Shape 5"/>
          <p:cNvSpPr/>
          <p:nvPr/>
        </p:nvSpPr>
        <p:spPr>
          <a:xfrm>
            <a:off x="457200" y="1691640"/>
            <a:ext cx="8229600" cy="752856"/>
          </a:xfrm>
          <a:prstGeom prst="roundRect">
            <a:avLst>
              <a:gd name="adj" fmla="val 1821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866900"/>
            <a:ext cx="402336" cy="402336"/>
          </a:xfrm>
          <a:prstGeom prst="ellipse">
            <a:avLst/>
          </a:prstGeom>
          <a:solidFill>
            <a:srgbClr val="FF8A3D"/>
          </a:solidFill>
          <a:ln/>
        </p:spPr>
      </p:sp>
      <p:sp>
        <p:nvSpPr>
          <p:cNvPr id="9" name="Text 7"/>
          <p:cNvSpPr txBox="1"/>
          <p:nvPr/>
        </p:nvSpPr>
        <p:spPr>
          <a:xfrm>
            <a:off x="640080" y="18669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752856"/>
          </a:xfrm>
          <a:prstGeom prst="rect">
            <a:avLst/>
          </a:prstGeom>
          <a:noFill/>
          <a:ln/>
        </p:spPr>
        <p:txBody>
          <a:bodyPr wrap="square" lIns="0" tIns="0" rIns="0" bIns="0" rtlCol="0" anchor="ctr"/>
          <a:lstStyle/>
          <a:p>
            <a:pPr marL="0" indent="0">
              <a:buNone/>
            </a:pPr>
            <a:r>
              <a:rPr lang="en-US" sz="1600" dirty="0">
                <a:solidFill>
                  <a:srgbClr val="2A1B4D"/>
                </a:solidFill>
              </a:rPr>
              <a:t>The Grasshopper worked hard, so he had food for winter.</a:t>
            </a:r>
            <a:endParaRPr lang="en-US" sz="1600" dirty="0"/>
          </a:p>
        </p:txBody>
      </p:sp>
      <p:sp>
        <p:nvSpPr>
          <p:cNvPr id="11" name="Shape 9"/>
          <p:cNvSpPr/>
          <p:nvPr/>
        </p:nvSpPr>
        <p:spPr>
          <a:xfrm>
            <a:off x="457200" y="2572512"/>
            <a:ext cx="8229600" cy="752856"/>
          </a:xfrm>
          <a:prstGeom prst="roundRect">
            <a:avLst>
              <a:gd name="adj" fmla="val 1821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747772"/>
            <a:ext cx="402336" cy="402336"/>
          </a:xfrm>
          <a:prstGeom prst="ellipse">
            <a:avLst/>
          </a:prstGeom>
          <a:solidFill>
            <a:srgbClr val="1FB5A8"/>
          </a:solidFill>
          <a:ln/>
        </p:spPr>
      </p:sp>
      <p:sp>
        <p:nvSpPr>
          <p:cNvPr id="13" name="Text 11"/>
          <p:cNvSpPr txBox="1"/>
          <p:nvPr/>
        </p:nvSpPr>
        <p:spPr>
          <a:xfrm>
            <a:off x="640080" y="274777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572512"/>
            <a:ext cx="7315200" cy="752856"/>
          </a:xfrm>
          <a:prstGeom prst="rect">
            <a:avLst/>
          </a:prstGeom>
          <a:noFill/>
          <a:ln/>
        </p:spPr>
        <p:txBody>
          <a:bodyPr wrap="square" lIns="0" tIns="0" rIns="0" bIns="0" rtlCol="0" anchor="ctr"/>
          <a:lstStyle/>
          <a:p>
            <a:pPr marL="0" indent="0">
              <a:buNone/>
            </a:pPr>
            <a:r>
              <a:rPr lang="en-US" sz="1600" dirty="0">
                <a:solidFill>
                  <a:srgbClr val="2A1B4D"/>
                </a:solidFill>
              </a:rPr>
              <a:t>Because he collected food, he did not need to ask the Ant for help.</a:t>
            </a:r>
            <a:endParaRPr lang="en-US" sz="1600" dirty="0"/>
          </a:p>
        </p:txBody>
      </p:sp>
      <p:sp>
        <p:nvSpPr>
          <p:cNvPr id="15" name="Shape 13"/>
          <p:cNvSpPr/>
          <p:nvPr/>
        </p:nvSpPr>
        <p:spPr>
          <a:xfrm>
            <a:off x="457200" y="3453384"/>
            <a:ext cx="8229600" cy="752856"/>
          </a:xfrm>
          <a:prstGeom prst="roundRect">
            <a:avLst>
              <a:gd name="adj" fmla="val 1821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3628644"/>
            <a:ext cx="402336" cy="402336"/>
          </a:xfrm>
          <a:prstGeom prst="ellipse">
            <a:avLst/>
          </a:prstGeom>
          <a:solidFill>
            <a:srgbClr val="E85D9E"/>
          </a:solidFill>
          <a:ln/>
        </p:spPr>
      </p:sp>
      <p:sp>
        <p:nvSpPr>
          <p:cNvPr id="17" name="Text 15"/>
          <p:cNvSpPr txBox="1"/>
          <p:nvPr/>
        </p:nvSpPr>
        <p:spPr>
          <a:xfrm>
            <a:off x="640080" y="362864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3453384"/>
            <a:ext cx="7315200" cy="752856"/>
          </a:xfrm>
          <a:prstGeom prst="rect">
            <a:avLst/>
          </a:prstGeom>
          <a:noFill/>
          <a:ln/>
        </p:spPr>
        <p:txBody>
          <a:bodyPr wrap="square" lIns="0" tIns="0" rIns="0" bIns="0" rtlCol="0" anchor="ctr"/>
          <a:lstStyle/>
          <a:p>
            <a:pPr marL="0" indent="0">
              <a:buNone/>
            </a:pPr>
            <a:r>
              <a:rPr lang="en-US" sz="1600" dirty="0">
                <a:solidFill>
                  <a:srgbClr val="2A1B4D"/>
                </a:solidFill>
              </a:rPr>
              <a:t>As a result, he stayed safe and warm all winter.</a:t>
            </a:r>
            <a:endParaRPr lang="en-US" sz="1600" dirty="0"/>
          </a:p>
        </p:txBody>
      </p:sp>
      <p:sp>
        <p:nvSpPr>
          <p:cNvPr id="19" name="Text 17"/>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Your turn: write 3 sentences about YOUR twist using these words.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ORIGINAL VS TWISTED</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188720"/>
            <a:ext cx="4023360" cy="411480"/>
          </a:xfrm>
          <a:prstGeom prst="roundRect">
            <a:avLst>
              <a:gd name="adj" fmla="val 26667"/>
            </a:avLst>
          </a:prstGeom>
          <a:solidFill>
            <a:srgbClr val="E85D9E"/>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ORIGINAL</a:t>
            </a:r>
            <a:endParaRPr lang="en-US" sz="1600" dirty="0"/>
          </a:p>
        </p:txBody>
      </p:sp>
      <p:sp>
        <p:nvSpPr>
          <p:cNvPr id="7" name="Text 5"/>
          <p:cNvSpPr txBox="1"/>
          <p:nvPr/>
        </p:nvSpPr>
        <p:spPr>
          <a:xfrm>
            <a:off x="4663440" y="1188720"/>
            <a:ext cx="4023360" cy="411480"/>
          </a:xfrm>
          <a:prstGeom prst="roundRect">
            <a:avLst>
              <a:gd name="adj" fmla="val 26667"/>
            </a:avLst>
          </a:prstGeom>
          <a:solidFill>
            <a:srgbClr val="1FB5A8"/>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TWISTED</a:t>
            </a:r>
            <a:endParaRPr lang="en-US" sz="1600" dirty="0"/>
          </a:p>
        </p:txBody>
      </p:sp>
      <p:sp>
        <p:nvSpPr>
          <p:cNvPr id="8" name="Shape 6"/>
          <p:cNvSpPr/>
          <p:nvPr/>
        </p:nvSpPr>
        <p:spPr>
          <a:xfrm>
            <a:off x="457200" y="1691640"/>
            <a:ext cx="4023360" cy="457200"/>
          </a:xfrm>
          <a:prstGeom prst="roundRect">
            <a:avLst>
              <a:gd name="adj" fmla="val 3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9" name="Text 7"/>
          <p:cNvSpPr txBox="1"/>
          <p:nvPr/>
        </p:nvSpPr>
        <p:spPr>
          <a:xfrm>
            <a:off x="594360" y="1691640"/>
            <a:ext cx="3749040" cy="457200"/>
          </a:xfrm>
          <a:prstGeom prst="rect">
            <a:avLst/>
          </a:prstGeom>
          <a:noFill/>
          <a:ln/>
        </p:spPr>
        <p:txBody>
          <a:bodyPr wrap="square" lIns="0" tIns="0" rIns="0" bIns="0" rtlCol="0" anchor="ctr"/>
          <a:lstStyle/>
          <a:p>
            <a:pPr marL="0" indent="0">
              <a:buNone/>
            </a:pPr>
            <a:r>
              <a:rPr lang="en-US" sz="1500" dirty="0">
                <a:solidFill>
                  <a:srgbClr val="2A1B4D"/>
                </a:solidFill>
              </a:rPr>
              <a:t>Grasshopper plays</a:t>
            </a:r>
            <a:endParaRPr lang="en-US" sz="1500" dirty="0"/>
          </a:p>
        </p:txBody>
      </p:sp>
      <p:sp>
        <p:nvSpPr>
          <p:cNvPr id="10" name="Shape 8"/>
          <p:cNvSpPr/>
          <p:nvPr/>
        </p:nvSpPr>
        <p:spPr>
          <a:xfrm>
            <a:off x="4663440" y="1691640"/>
            <a:ext cx="4023360" cy="457200"/>
          </a:xfrm>
          <a:prstGeom prst="roundRect">
            <a:avLst>
              <a:gd name="adj" fmla="val 3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1" name="Text 9"/>
          <p:cNvSpPr txBox="1"/>
          <p:nvPr/>
        </p:nvSpPr>
        <p:spPr>
          <a:xfrm>
            <a:off x="4800600" y="1691640"/>
            <a:ext cx="3749040" cy="457200"/>
          </a:xfrm>
          <a:prstGeom prst="rect">
            <a:avLst/>
          </a:prstGeom>
          <a:noFill/>
          <a:ln/>
        </p:spPr>
        <p:txBody>
          <a:bodyPr wrap="square" lIns="0" tIns="0" rIns="0" bIns="0" rtlCol="0" anchor="ctr"/>
          <a:lstStyle/>
          <a:p>
            <a:pPr marL="0" indent="0">
              <a:buNone/>
            </a:pPr>
            <a:r>
              <a:rPr lang="en-US" sz="1500" dirty="0">
                <a:solidFill>
                  <a:srgbClr val="2A1B4D"/>
                </a:solidFill>
              </a:rPr>
              <a:t>Grasshopper works</a:t>
            </a:r>
            <a:endParaRPr lang="en-US" sz="1500" dirty="0"/>
          </a:p>
        </p:txBody>
      </p:sp>
      <p:sp>
        <p:nvSpPr>
          <p:cNvPr id="12" name="Shape 10"/>
          <p:cNvSpPr/>
          <p:nvPr/>
        </p:nvSpPr>
        <p:spPr>
          <a:xfrm>
            <a:off x="457200" y="2221992"/>
            <a:ext cx="4023360" cy="457200"/>
          </a:xfrm>
          <a:prstGeom prst="roundRect">
            <a:avLst>
              <a:gd name="adj" fmla="val 3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3" name="Text 11"/>
          <p:cNvSpPr txBox="1"/>
          <p:nvPr/>
        </p:nvSpPr>
        <p:spPr>
          <a:xfrm>
            <a:off x="594360" y="2221992"/>
            <a:ext cx="3749040" cy="457200"/>
          </a:xfrm>
          <a:prstGeom prst="rect">
            <a:avLst/>
          </a:prstGeom>
          <a:noFill/>
          <a:ln/>
        </p:spPr>
        <p:txBody>
          <a:bodyPr wrap="square" lIns="0" tIns="0" rIns="0" bIns="0" rtlCol="0" anchor="ctr"/>
          <a:lstStyle/>
          <a:p>
            <a:pPr marL="0" indent="0">
              <a:buNone/>
            </a:pPr>
            <a:r>
              <a:rPr lang="en-US" sz="1500" dirty="0">
                <a:solidFill>
                  <a:srgbClr val="2A1B4D"/>
                </a:solidFill>
              </a:rPr>
              <a:t>He does not prepare</a:t>
            </a:r>
            <a:endParaRPr lang="en-US" sz="1500" dirty="0"/>
          </a:p>
        </p:txBody>
      </p:sp>
      <p:sp>
        <p:nvSpPr>
          <p:cNvPr id="14" name="Shape 12"/>
          <p:cNvSpPr/>
          <p:nvPr/>
        </p:nvSpPr>
        <p:spPr>
          <a:xfrm>
            <a:off x="4663440" y="2221992"/>
            <a:ext cx="4023360" cy="457200"/>
          </a:xfrm>
          <a:prstGeom prst="roundRect">
            <a:avLst>
              <a:gd name="adj" fmla="val 3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5" name="Text 13"/>
          <p:cNvSpPr txBox="1"/>
          <p:nvPr/>
        </p:nvSpPr>
        <p:spPr>
          <a:xfrm>
            <a:off x="4800600" y="2221992"/>
            <a:ext cx="3749040" cy="457200"/>
          </a:xfrm>
          <a:prstGeom prst="rect">
            <a:avLst/>
          </a:prstGeom>
          <a:noFill/>
          <a:ln/>
        </p:spPr>
        <p:txBody>
          <a:bodyPr wrap="square" lIns="0" tIns="0" rIns="0" bIns="0" rtlCol="0" anchor="ctr"/>
          <a:lstStyle/>
          <a:p>
            <a:pPr marL="0" indent="0">
              <a:buNone/>
            </a:pPr>
            <a:r>
              <a:rPr lang="en-US" sz="1500" dirty="0">
                <a:solidFill>
                  <a:srgbClr val="2A1B4D"/>
                </a:solidFill>
              </a:rPr>
              <a:t>He prepares</a:t>
            </a:r>
            <a:endParaRPr lang="en-US" sz="1500" dirty="0"/>
          </a:p>
        </p:txBody>
      </p:sp>
      <p:sp>
        <p:nvSpPr>
          <p:cNvPr id="16" name="Shape 14"/>
          <p:cNvSpPr/>
          <p:nvPr/>
        </p:nvSpPr>
        <p:spPr>
          <a:xfrm>
            <a:off x="457200" y="2752344"/>
            <a:ext cx="4023360" cy="457200"/>
          </a:xfrm>
          <a:prstGeom prst="roundRect">
            <a:avLst>
              <a:gd name="adj" fmla="val 3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7" name="Text 15"/>
          <p:cNvSpPr txBox="1"/>
          <p:nvPr/>
        </p:nvSpPr>
        <p:spPr>
          <a:xfrm>
            <a:off x="594360" y="2752344"/>
            <a:ext cx="3749040" cy="457200"/>
          </a:xfrm>
          <a:prstGeom prst="rect">
            <a:avLst/>
          </a:prstGeom>
          <a:noFill/>
          <a:ln/>
        </p:spPr>
        <p:txBody>
          <a:bodyPr wrap="square" lIns="0" tIns="0" rIns="0" bIns="0" rtlCol="0" anchor="ctr"/>
          <a:lstStyle/>
          <a:p>
            <a:pPr marL="0" indent="0">
              <a:buNone/>
            </a:pPr>
            <a:r>
              <a:rPr lang="en-US" sz="1500" dirty="0">
                <a:solidFill>
                  <a:srgbClr val="2A1B4D"/>
                </a:solidFill>
              </a:rPr>
              <a:t>He has no food</a:t>
            </a:r>
            <a:endParaRPr lang="en-US" sz="1500" dirty="0"/>
          </a:p>
        </p:txBody>
      </p:sp>
      <p:sp>
        <p:nvSpPr>
          <p:cNvPr id="18" name="Shape 16"/>
          <p:cNvSpPr/>
          <p:nvPr/>
        </p:nvSpPr>
        <p:spPr>
          <a:xfrm>
            <a:off x="4663440" y="2752344"/>
            <a:ext cx="4023360" cy="457200"/>
          </a:xfrm>
          <a:prstGeom prst="roundRect">
            <a:avLst>
              <a:gd name="adj" fmla="val 3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9" name="Text 17"/>
          <p:cNvSpPr txBox="1"/>
          <p:nvPr/>
        </p:nvSpPr>
        <p:spPr>
          <a:xfrm>
            <a:off x="4800600" y="2752344"/>
            <a:ext cx="3749040" cy="457200"/>
          </a:xfrm>
          <a:prstGeom prst="rect">
            <a:avLst/>
          </a:prstGeom>
          <a:noFill/>
          <a:ln/>
        </p:spPr>
        <p:txBody>
          <a:bodyPr wrap="square" lIns="0" tIns="0" rIns="0" bIns="0" rtlCol="0" anchor="ctr"/>
          <a:lstStyle/>
          <a:p>
            <a:pPr marL="0" indent="0">
              <a:buNone/>
            </a:pPr>
            <a:r>
              <a:rPr lang="en-US" sz="1500" dirty="0">
                <a:solidFill>
                  <a:srgbClr val="2A1B4D"/>
                </a:solidFill>
              </a:rPr>
              <a:t>He has food</a:t>
            </a:r>
            <a:endParaRPr lang="en-US" sz="1500" dirty="0"/>
          </a:p>
        </p:txBody>
      </p:sp>
      <p:sp>
        <p:nvSpPr>
          <p:cNvPr id="20" name="Shape 18"/>
          <p:cNvSpPr/>
          <p:nvPr/>
        </p:nvSpPr>
        <p:spPr>
          <a:xfrm>
            <a:off x="457200" y="3282696"/>
            <a:ext cx="4023360" cy="457200"/>
          </a:xfrm>
          <a:prstGeom prst="roundRect">
            <a:avLst>
              <a:gd name="adj" fmla="val 3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1" name="Text 19"/>
          <p:cNvSpPr txBox="1"/>
          <p:nvPr/>
        </p:nvSpPr>
        <p:spPr>
          <a:xfrm>
            <a:off x="594360" y="3282696"/>
            <a:ext cx="3749040" cy="457200"/>
          </a:xfrm>
          <a:prstGeom prst="rect">
            <a:avLst/>
          </a:prstGeom>
          <a:noFill/>
          <a:ln/>
        </p:spPr>
        <p:txBody>
          <a:bodyPr wrap="square" lIns="0" tIns="0" rIns="0" bIns="0" rtlCol="0" anchor="ctr"/>
          <a:lstStyle/>
          <a:p>
            <a:pPr marL="0" indent="0">
              <a:buNone/>
            </a:pPr>
            <a:r>
              <a:rPr lang="en-US" sz="1500" dirty="0">
                <a:solidFill>
                  <a:srgbClr val="2A1B4D"/>
                </a:solidFill>
              </a:rPr>
              <a:t>He needs help</a:t>
            </a:r>
            <a:endParaRPr lang="en-US" sz="1500" dirty="0"/>
          </a:p>
        </p:txBody>
      </p:sp>
      <p:sp>
        <p:nvSpPr>
          <p:cNvPr id="22" name="Shape 20"/>
          <p:cNvSpPr/>
          <p:nvPr/>
        </p:nvSpPr>
        <p:spPr>
          <a:xfrm>
            <a:off x="4663440" y="3282696"/>
            <a:ext cx="4023360" cy="457200"/>
          </a:xfrm>
          <a:prstGeom prst="roundRect">
            <a:avLst>
              <a:gd name="adj" fmla="val 3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3" name="Text 21"/>
          <p:cNvSpPr txBox="1"/>
          <p:nvPr/>
        </p:nvSpPr>
        <p:spPr>
          <a:xfrm>
            <a:off x="4800600" y="3282696"/>
            <a:ext cx="3749040" cy="457200"/>
          </a:xfrm>
          <a:prstGeom prst="rect">
            <a:avLst/>
          </a:prstGeom>
          <a:noFill/>
          <a:ln/>
        </p:spPr>
        <p:txBody>
          <a:bodyPr wrap="square" lIns="0" tIns="0" rIns="0" bIns="0" rtlCol="0" anchor="ctr"/>
          <a:lstStyle/>
          <a:p>
            <a:pPr marL="0" indent="0">
              <a:buNone/>
            </a:pPr>
            <a:r>
              <a:rPr lang="en-US" sz="1500" dirty="0">
                <a:solidFill>
                  <a:srgbClr val="2A1B4D"/>
                </a:solidFill>
              </a:rPr>
              <a:t>He may not need help</a:t>
            </a:r>
            <a:endParaRPr lang="en-US" sz="1500" dirty="0"/>
          </a:p>
        </p:txBody>
      </p:sp>
      <p:sp>
        <p:nvSpPr>
          <p:cNvPr id="24" name="Shape 22"/>
          <p:cNvSpPr/>
          <p:nvPr/>
        </p:nvSpPr>
        <p:spPr>
          <a:xfrm>
            <a:off x="457200" y="3813048"/>
            <a:ext cx="4023360" cy="457200"/>
          </a:xfrm>
          <a:prstGeom prst="roundRect">
            <a:avLst>
              <a:gd name="adj" fmla="val 3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5" name="Text 23"/>
          <p:cNvSpPr txBox="1"/>
          <p:nvPr/>
        </p:nvSpPr>
        <p:spPr>
          <a:xfrm>
            <a:off x="594360" y="3813048"/>
            <a:ext cx="3749040" cy="457200"/>
          </a:xfrm>
          <a:prstGeom prst="rect">
            <a:avLst/>
          </a:prstGeom>
          <a:noFill/>
          <a:ln/>
        </p:spPr>
        <p:txBody>
          <a:bodyPr wrap="square" lIns="0" tIns="0" rIns="0" bIns="0" rtlCol="0" anchor="ctr"/>
          <a:lstStyle/>
          <a:p>
            <a:pPr marL="0" indent="0">
              <a:buNone/>
            </a:pPr>
            <a:r>
              <a:rPr lang="en-US" sz="1500" dirty="0">
                <a:solidFill>
                  <a:srgbClr val="2A1B4D"/>
                </a:solidFill>
              </a:rPr>
              <a:t>Learns after suffering</a:t>
            </a:r>
            <a:endParaRPr lang="en-US" sz="1500" dirty="0"/>
          </a:p>
        </p:txBody>
      </p:sp>
      <p:sp>
        <p:nvSpPr>
          <p:cNvPr id="26" name="Shape 24"/>
          <p:cNvSpPr/>
          <p:nvPr/>
        </p:nvSpPr>
        <p:spPr>
          <a:xfrm>
            <a:off x="4663440" y="3813048"/>
            <a:ext cx="4023360" cy="457200"/>
          </a:xfrm>
          <a:prstGeom prst="roundRect">
            <a:avLst>
              <a:gd name="adj" fmla="val 3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7" name="Text 25"/>
          <p:cNvSpPr txBox="1"/>
          <p:nvPr/>
        </p:nvSpPr>
        <p:spPr>
          <a:xfrm>
            <a:off x="4800600" y="3813048"/>
            <a:ext cx="3749040" cy="457200"/>
          </a:xfrm>
          <a:prstGeom prst="rect">
            <a:avLst/>
          </a:prstGeom>
          <a:noFill/>
          <a:ln/>
        </p:spPr>
        <p:txBody>
          <a:bodyPr wrap="square" lIns="0" tIns="0" rIns="0" bIns="0" rtlCol="0" anchor="ctr"/>
          <a:lstStyle/>
          <a:p>
            <a:pPr marL="0" indent="0">
              <a:buNone/>
            </a:pPr>
            <a:r>
              <a:rPr lang="en-US" sz="1500" dirty="0">
                <a:solidFill>
                  <a:srgbClr val="2A1B4D"/>
                </a:solidFill>
              </a:rPr>
              <a:t>Learns before it is too late</a:t>
            </a:r>
            <a:endParaRPr lang="en-US" sz="1500" dirty="0"/>
          </a:p>
        </p:txBody>
      </p:sp>
      <p:sp>
        <p:nvSpPr>
          <p:cNvPr id="28" name="Text 26"/>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What changed?  The character's choice.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DOES THE MORAL CHANGE?</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188720"/>
            <a:ext cx="8229600" cy="1051560"/>
          </a:xfrm>
          <a:prstGeom prst="roundRect">
            <a:avLst>
              <a:gd name="adj" fmla="val 1304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640080" y="1188720"/>
            <a:ext cx="7863840" cy="1051560"/>
          </a:xfrm>
          <a:prstGeom prst="rect">
            <a:avLst/>
          </a:prstGeom>
          <a:noFill/>
          <a:ln/>
        </p:spPr>
        <p:txBody>
          <a:bodyPr wrap="square" lIns="0" tIns="0" rIns="0" bIns="0" rtlCol="0" anchor="ctr"/>
          <a:lstStyle/>
          <a:p>
            <a:pPr marL="0" indent="0">
              <a:buNone/>
            </a:pPr>
            <a:r>
              <a:rPr lang="en-US" sz="1400" b="1" dirty="0">
                <a:solidFill>
                  <a:srgbClr val="2A1B4D"/>
                </a:solidFill>
              </a:rPr>
              <a:t>Original: he learns to prepare instead of wasting time. </a:t>
            </a:r>
          </a:p>
          <a:p>
            <a:pPr marL="0" indent="0">
              <a:buNone/>
            </a:pPr>
            <a:r>
              <a:rPr lang="en-US" sz="1400" b="1" dirty="0">
                <a:solidFill>
                  <a:srgbClr val="2A1B4D"/>
                </a:solidFill>
              </a:rPr>
              <a:t>Twisted: he changes his behaviour before winter. Does the lesson stay exactly the same?</a:t>
            </a:r>
            <a:endParaRPr lang="en-US" sz="1400" dirty="0"/>
          </a:p>
        </p:txBody>
      </p:sp>
      <p:sp>
        <p:nvSpPr>
          <p:cNvPr id="8" name="Shape 6"/>
          <p:cNvSpPr/>
          <p:nvPr/>
        </p:nvSpPr>
        <p:spPr>
          <a:xfrm>
            <a:off x="45720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9" name="Shape 7"/>
          <p:cNvSpPr/>
          <p:nvPr/>
        </p:nvSpPr>
        <p:spPr>
          <a:xfrm>
            <a:off x="640080" y="2651760"/>
            <a:ext cx="548640" cy="548640"/>
          </a:xfrm>
          <a:prstGeom prst="ellipse">
            <a:avLst/>
          </a:prstGeom>
          <a:solidFill>
            <a:srgbClr val="FF8A3D"/>
          </a:solidFill>
          <a:ln/>
        </p:spPr>
      </p:sp>
      <p:sp>
        <p:nvSpPr>
          <p:cNvPr id="10" name="Text 8"/>
          <p:cNvSpPr txBox="1"/>
          <p:nvPr/>
        </p:nvSpPr>
        <p:spPr>
          <a:xfrm>
            <a:off x="64008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1" name="Text 9"/>
          <p:cNvSpPr txBox="1"/>
          <p:nvPr/>
        </p:nvSpPr>
        <p:spPr>
          <a:xfrm>
            <a:off x="1371600" y="2423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Yes, the moral is exactly the same.</a:t>
            </a:r>
            <a:endParaRPr lang="en-US" sz="1500" dirty="0"/>
          </a:p>
        </p:txBody>
      </p:sp>
      <p:sp>
        <p:nvSpPr>
          <p:cNvPr id="12" name="Shape 10"/>
          <p:cNvSpPr/>
          <p:nvPr/>
        </p:nvSpPr>
        <p:spPr>
          <a:xfrm>
            <a:off x="466344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3" name="Shape 11"/>
          <p:cNvSpPr/>
          <p:nvPr/>
        </p:nvSpPr>
        <p:spPr>
          <a:xfrm>
            <a:off x="4846320" y="2651760"/>
            <a:ext cx="548640" cy="548640"/>
          </a:xfrm>
          <a:prstGeom prst="ellipse">
            <a:avLst/>
          </a:prstGeom>
          <a:solidFill>
            <a:srgbClr val="1FB5A8"/>
          </a:solidFill>
          <a:ln/>
        </p:spPr>
      </p:sp>
      <p:sp>
        <p:nvSpPr>
          <p:cNvPr id="14" name="Text 12"/>
          <p:cNvSpPr txBox="1"/>
          <p:nvPr/>
        </p:nvSpPr>
        <p:spPr>
          <a:xfrm>
            <a:off x="484632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5" name="Text 13"/>
          <p:cNvSpPr txBox="1"/>
          <p:nvPr/>
        </p:nvSpPr>
        <p:spPr>
          <a:xfrm>
            <a:off x="5577840" y="2423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moral is about preparing, so it cannot change.</a:t>
            </a:r>
            <a:endParaRPr lang="en-US" sz="1500" dirty="0"/>
          </a:p>
        </p:txBody>
      </p:sp>
      <p:sp>
        <p:nvSpPr>
          <p:cNvPr id="16" name="Shape 14"/>
          <p:cNvSpPr/>
          <p:nvPr/>
        </p:nvSpPr>
        <p:spPr>
          <a:xfrm>
            <a:off x="45720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7" name="Shape 15"/>
          <p:cNvSpPr/>
          <p:nvPr/>
        </p:nvSpPr>
        <p:spPr>
          <a:xfrm>
            <a:off x="640080" y="3794760"/>
            <a:ext cx="548640" cy="548640"/>
          </a:xfrm>
          <a:prstGeom prst="ellipse">
            <a:avLst/>
          </a:prstGeom>
          <a:solidFill>
            <a:srgbClr val="E85D9E"/>
          </a:solidFill>
          <a:ln/>
        </p:spPr>
      </p:sp>
      <p:sp>
        <p:nvSpPr>
          <p:cNvPr id="18" name="Text 16"/>
          <p:cNvSpPr txBox="1"/>
          <p:nvPr/>
        </p:nvSpPr>
        <p:spPr>
          <a:xfrm>
            <a:off x="64008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19" name="Text 17"/>
          <p:cNvSpPr txBox="1"/>
          <p:nvPr/>
        </p:nvSpPr>
        <p:spPr>
          <a:xfrm>
            <a:off x="137160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It is related, but now focuses on changing your choices.</a:t>
            </a:r>
            <a:endParaRPr lang="en-US" sz="1500" dirty="0"/>
          </a:p>
        </p:txBody>
      </p:sp>
      <p:sp>
        <p:nvSpPr>
          <p:cNvPr id="20" name="Shape 18"/>
          <p:cNvSpPr/>
          <p:nvPr/>
        </p:nvSpPr>
        <p:spPr>
          <a:xfrm>
            <a:off x="466344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1" name="Shape 19"/>
          <p:cNvSpPr/>
          <p:nvPr/>
        </p:nvSpPr>
        <p:spPr>
          <a:xfrm>
            <a:off x="4846320" y="3794760"/>
            <a:ext cx="548640" cy="548640"/>
          </a:xfrm>
          <a:prstGeom prst="ellipse">
            <a:avLst/>
          </a:prstGeom>
          <a:solidFill>
            <a:srgbClr val="7B5CE0"/>
          </a:solidFill>
          <a:ln/>
        </p:spPr>
      </p:sp>
      <p:sp>
        <p:nvSpPr>
          <p:cNvPr id="22" name="Text 20"/>
          <p:cNvSpPr txBox="1"/>
          <p:nvPr/>
        </p:nvSpPr>
        <p:spPr>
          <a:xfrm>
            <a:off x="484632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3" name="Text 21"/>
          <p:cNvSpPr txBox="1"/>
          <p:nvPr/>
        </p:nvSpPr>
        <p:spPr>
          <a:xfrm>
            <a:off x="557784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The moral disappears because the ending is happier.</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A1B4D"/>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3E2A70"/>
          </a:solidFill>
          <a:ln/>
        </p:spPr>
      </p:sp>
      <p:sp>
        <p:nvSpPr>
          <p:cNvPr id="3" name="Shape 1"/>
          <p:cNvSpPr/>
          <p:nvPr/>
        </p:nvSpPr>
        <p:spPr>
          <a:xfrm>
            <a:off x="8549640" y="502920"/>
            <a:ext cx="822960" cy="822960"/>
          </a:xfrm>
          <a:prstGeom prst="ellipse">
            <a:avLst/>
          </a:prstGeom>
          <a:solidFill>
            <a:srgbClr val="FF8A3D">
              <a:alpha val="8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ANSWER</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B7A8E8"/>
                </a:solidFill>
              </a:rPr>
              <a:t>1.6 A TWIST…</a:t>
            </a:r>
            <a:endParaRPr lang="en-US" sz="1000" dirty="0"/>
          </a:p>
        </p:txBody>
      </p:sp>
      <p:sp>
        <p:nvSpPr>
          <p:cNvPr id="6" name="Shape 4"/>
          <p:cNvSpPr/>
          <p:nvPr/>
        </p:nvSpPr>
        <p:spPr>
          <a:xfrm>
            <a:off x="548640" y="1554480"/>
            <a:ext cx="1737360" cy="1737360"/>
          </a:xfrm>
          <a:prstGeom prst="ellipse">
            <a:avLst/>
          </a:prstGeom>
          <a:solidFill>
            <a:srgbClr val="1FB5A8"/>
          </a:solidFill>
          <a:ln/>
        </p:spPr>
      </p:sp>
      <p:sp>
        <p:nvSpPr>
          <p:cNvPr id="7" name="Text 5"/>
          <p:cNvSpPr txBox="1"/>
          <p:nvPr/>
        </p:nvSpPr>
        <p:spPr>
          <a:xfrm>
            <a:off x="548640" y="1554480"/>
            <a:ext cx="1737360" cy="1737360"/>
          </a:xfrm>
          <a:prstGeom prst="rect">
            <a:avLst/>
          </a:prstGeom>
          <a:noFill/>
          <a:ln/>
        </p:spPr>
        <p:txBody>
          <a:bodyPr wrap="square" lIns="0" tIns="0" rIns="0" bIns="0"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C</a:t>
            </a:r>
            <a:endParaRPr lang="en-US" sz="7200" dirty="0"/>
          </a:p>
        </p:txBody>
      </p:sp>
      <p:sp>
        <p:nvSpPr>
          <p:cNvPr id="8" name="Text 6"/>
          <p:cNvSpPr txBox="1"/>
          <p:nvPr/>
        </p:nvSpPr>
        <p:spPr>
          <a:xfrm>
            <a:off x="2158892" y="1361548"/>
            <a:ext cx="6811956" cy="1005840"/>
          </a:xfrm>
          <a:prstGeom prst="rect">
            <a:avLst/>
          </a:prstGeom>
          <a:noFill/>
          <a:ln/>
        </p:spPr>
        <p:txBody>
          <a:bodyPr wrap="square" lIns="0" tIns="0" rIns="0" bIns="0" rtlCol="0" anchor="ctr"/>
          <a:lstStyle/>
          <a:p>
            <a:pPr marL="0" indent="0">
              <a:buNone/>
            </a:pPr>
            <a:r>
              <a:rPr lang="en-US" sz="2200" b="1" dirty="0">
                <a:solidFill>
                  <a:srgbClr val="FFFFFF"/>
                </a:solidFill>
              </a:rPr>
              <a:t>The lessons can be related, but the emphasis can change.</a:t>
            </a:r>
            <a:endParaRPr lang="en-US" sz="2200" dirty="0"/>
          </a:p>
        </p:txBody>
      </p:sp>
      <p:sp>
        <p:nvSpPr>
          <p:cNvPr id="9" name="Text 7"/>
          <p:cNvSpPr txBox="1"/>
          <p:nvPr/>
        </p:nvSpPr>
        <p:spPr>
          <a:xfrm>
            <a:off x="2651760" y="2377440"/>
            <a:ext cx="5943600" cy="2286000"/>
          </a:xfrm>
          <a:prstGeom prst="rect">
            <a:avLst/>
          </a:prstGeom>
          <a:noFill/>
          <a:ln/>
        </p:spPr>
        <p:txBody>
          <a:bodyPr wrap="square" lIns="0" tIns="0" rIns="0" bIns="0" rtlCol="0" anchor="t"/>
          <a:lstStyle/>
          <a:p>
            <a:pPr marL="0" indent="0">
              <a:spcAft>
                <a:spcPts val="800"/>
              </a:spcAft>
              <a:buNone/>
            </a:pPr>
            <a:r>
              <a:rPr lang="en-US" sz="1600" dirty="0">
                <a:solidFill>
                  <a:srgbClr val="DCD2FF"/>
                </a:solidFill>
              </a:rPr>
              <a:t>Original: Prepare before it is too late.</a:t>
            </a:r>
            <a:endParaRPr lang="en-US" sz="1600" dirty="0"/>
          </a:p>
          <a:p>
            <a:pPr marL="0" indent="0">
              <a:spcAft>
                <a:spcPts val="800"/>
              </a:spcAft>
              <a:buNone/>
            </a:pPr>
            <a:r>
              <a:rPr lang="en-US" sz="1600" dirty="0">
                <a:solidFill>
                  <a:srgbClr val="DCD2FF"/>
                </a:solidFill>
              </a:rPr>
              <a:t>Twisted: Recognise your mistake and change your behaviour.</a:t>
            </a:r>
            <a:endParaRPr lang="en-US" sz="1600" dirty="0"/>
          </a:p>
          <a:p>
            <a:pPr marL="0" indent="0">
              <a:spcAft>
                <a:spcPts val="800"/>
              </a:spcAft>
              <a:buNone/>
            </a:pPr>
            <a:endParaRPr lang="en-US" sz="1600" dirty="0"/>
          </a:p>
          <a:p>
            <a:pPr marL="0" indent="0">
              <a:spcAft>
                <a:spcPts val="800"/>
              </a:spcAft>
              <a:buNone/>
            </a:pPr>
            <a:r>
              <a:rPr lang="en-US" sz="1600" dirty="0">
                <a:solidFill>
                  <a:srgbClr val="DCD2FF"/>
                </a:solidFill>
              </a:rPr>
              <a:t>Great writers notice: a change in the story can change the message.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SESSION 1 CHALLENGE</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i="1" dirty="0">
                <a:solidFill>
                  <a:srgbClr val="5A4A85"/>
                </a:solidFill>
                <a:latin typeface="Calibri" pitchFamily="34" charset="0"/>
                <a:ea typeface="Calibri" pitchFamily="34" charset="-122"/>
                <a:cs typeface="Calibri" pitchFamily="34" charset="-120"/>
              </a:rPr>
              <a:t>Choose ONE:</a:t>
            </a:r>
            <a:endParaRPr lang="en-US" sz="1700" dirty="0"/>
          </a:p>
        </p:txBody>
      </p:sp>
      <p:sp>
        <p:nvSpPr>
          <p:cNvPr id="7" name="Shape 5"/>
          <p:cNvSpPr/>
          <p:nvPr/>
        </p:nvSpPr>
        <p:spPr>
          <a:xfrm>
            <a:off x="457200" y="1691640"/>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808226"/>
            <a:ext cx="402336" cy="402336"/>
          </a:xfrm>
          <a:prstGeom prst="ellipse">
            <a:avLst/>
          </a:prstGeom>
          <a:solidFill>
            <a:srgbClr val="FF8A3D"/>
          </a:solidFill>
          <a:ln/>
        </p:spPr>
      </p:sp>
      <p:sp>
        <p:nvSpPr>
          <p:cNvPr id="9" name="Text 7"/>
          <p:cNvSpPr txBox="1"/>
          <p:nvPr/>
        </p:nvSpPr>
        <p:spPr>
          <a:xfrm>
            <a:off x="640080" y="180822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635508"/>
          </a:xfrm>
          <a:prstGeom prst="rect">
            <a:avLst/>
          </a:prstGeom>
          <a:noFill/>
          <a:ln/>
        </p:spPr>
        <p:txBody>
          <a:bodyPr wrap="square" lIns="0" tIns="0" rIns="0" bIns="0" rtlCol="0" anchor="ctr"/>
          <a:lstStyle/>
          <a:p>
            <a:pPr marL="0" indent="0">
              <a:buNone/>
            </a:pPr>
            <a:r>
              <a:rPr lang="en-US" sz="1600" dirty="0">
                <a:solidFill>
                  <a:srgbClr val="2A1B4D"/>
                </a:solidFill>
              </a:rPr>
              <a:t>WHAT IF… the Ant became lazy?</a:t>
            </a:r>
            <a:endParaRPr lang="en-US" sz="1600" dirty="0"/>
          </a:p>
        </p:txBody>
      </p:sp>
      <p:sp>
        <p:nvSpPr>
          <p:cNvPr id="11" name="Shape 9"/>
          <p:cNvSpPr/>
          <p:nvPr/>
        </p:nvSpPr>
        <p:spPr>
          <a:xfrm>
            <a:off x="457200" y="2455164"/>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571750"/>
            <a:ext cx="402336" cy="402336"/>
          </a:xfrm>
          <a:prstGeom prst="ellipse">
            <a:avLst/>
          </a:prstGeom>
          <a:solidFill>
            <a:srgbClr val="1FB5A8"/>
          </a:solidFill>
          <a:ln/>
        </p:spPr>
      </p:sp>
      <p:sp>
        <p:nvSpPr>
          <p:cNvPr id="13" name="Text 11"/>
          <p:cNvSpPr txBox="1"/>
          <p:nvPr/>
        </p:nvSpPr>
        <p:spPr>
          <a:xfrm>
            <a:off x="640080" y="257175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455164"/>
            <a:ext cx="7315200" cy="635508"/>
          </a:xfrm>
          <a:prstGeom prst="rect">
            <a:avLst/>
          </a:prstGeom>
          <a:noFill/>
          <a:ln/>
        </p:spPr>
        <p:txBody>
          <a:bodyPr wrap="square" lIns="0" tIns="0" rIns="0" bIns="0" rtlCol="0" anchor="ctr"/>
          <a:lstStyle/>
          <a:p>
            <a:pPr marL="0" indent="0">
              <a:buNone/>
            </a:pPr>
            <a:r>
              <a:rPr lang="en-US" sz="1600" dirty="0">
                <a:solidFill>
                  <a:srgbClr val="2A1B4D"/>
                </a:solidFill>
              </a:rPr>
              <a:t>WHAT IF… the Grasshopper started working?</a:t>
            </a:r>
            <a:endParaRPr lang="en-US" sz="1600" dirty="0"/>
          </a:p>
        </p:txBody>
      </p:sp>
      <p:sp>
        <p:nvSpPr>
          <p:cNvPr id="15" name="Shape 13"/>
          <p:cNvSpPr/>
          <p:nvPr/>
        </p:nvSpPr>
        <p:spPr>
          <a:xfrm>
            <a:off x="457200" y="3218688"/>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3335274"/>
            <a:ext cx="402336" cy="402336"/>
          </a:xfrm>
          <a:prstGeom prst="ellipse">
            <a:avLst/>
          </a:prstGeom>
          <a:solidFill>
            <a:srgbClr val="E85D9E"/>
          </a:solidFill>
          <a:ln/>
        </p:spPr>
      </p:sp>
      <p:sp>
        <p:nvSpPr>
          <p:cNvPr id="17" name="Text 15"/>
          <p:cNvSpPr txBox="1"/>
          <p:nvPr/>
        </p:nvSpPr>
        <p:spPr>
          <a:xfrm>
            <a:off x="640080" y="333527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3218688"/>
            <a:ext cx="7315200" cy="635508"/>
          </a:xfrm>
          <a:prstGeom prst="rect">
            <a:avLst/>
          </a:prstGeom>
          <a:noFill/>
          <a:ln/>
        </p:spPr>
        <p:txBody>
          <a:bodyPr wrap="square" lIns="0" tIns="0" rIns="0" bIns="0" rtlCol="0" anchor="ctr"/>
          <a:lstStyle/>
          <a:p>
            <a:pPr marL="0" indent="0">
              <a:buNone/>
            </a:pPr>
            <a:r>
              <a:rPr lang="en-US" sz="1600" dirty="0">
                <a:solidFill>
                  <a:srgbClr val="2A1B4D"/>
                </a:solidFill>
              </a:rPr>
              <a:t>WHAT IF… the Ant refused to help?</a:t>
            </a:r>
            <a:endParaRPr lang="en-US" sz="1600" dirty="0"/>
          </a:p>
        </p:txBody>
      </p:sp>
      <p:sp>
        <p:nvSpPr>
          <p:cNvPr id="19" name="Shape 17"/>
          <p:cNvSpPr/>
          <p:nvPr/>
        </p:nvSpPr>
        <p:spPr>
          <a:xfrm>
            <a:off x="457200" y="3982212"/>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4098798"/>
            <a:ext cx="402336" cy="402336"/>
          </a:xfrm>
          <a:prstGeom prst="ellipse">
            <a:avLst/>
          </a:prstGeom>
          <a:solidFill>
            <a:srgbClr val="7B5CE0"/>
          </a:solidFill>
          <a:ln/>
        </p:spPr>
      </p:sp>
      <p:sp>
        <p:nvSpPr>
          <p:cNvPr id="21" name="Text 19"/>
          <p:cNvSpPr txBox="1"/>
          <p:nvPr/>
        </p:nvSpPr>
        <p:spPr>
          <a:xfrm>
            <a:off x="640080" y="409879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982212"/>
            <a:ext cx="7315200" cy="635508"/>
          </a:xfrm>
          <a:prstGeom prst="rect">
            <a:avLst/>
          </a:prstGeom>
          <a:noFill/>
          <a:ln/>
        </p:spPr>
        <p:txBody>
          <a:bodyPr wrap="square" lIns="0" tIns="0" rIns="0" bIns="0" rtlCol="0" anchor="ctr"/>
          <a:lstStyle/>
          <a:p>
            <a:pPr marL="0" indent="0">
              <a:buNone/>
            </a:pPr>
            <a:r>
              <a:rPr lang="en-US" sz="1600" dirty="0">
                <a:solidFill>
                  <a:srgbClr val="2A1B4D"/>
                </a:solidFill>
              </a:rPr>
              <a:t>WHAT IF… winter arrived much earlier?</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MODEL: WHAT IF…?</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280160"/>
            <a:ext cx="8229600" cy="738378"/>
          </a:xfrm>
          <a:prstGeom prst="roundRect">
            <a:avLst>
              <a:gd name="adj" fmla="val 1857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Shape 5"/>
          <p:cNvSpPr/>
          <p:nvPr/>
        </p:nvSpPr>
        <p:spPr>
          <a:xfrm>
            <a:off x="640080" y="1448181"/>
            <a:ext cx="402336" cy="402336"/>
          </a:xfrm>
          <a:prstGeom prst="ellipse">
            <a:avLst/>
          </a:prstGeom>
          <a:solidFill>
            <a:srgbClr val="FF8A3D"/>
          </a:solidFill>
          <a:ln/>
        </p:spPr>
      </p:sp>
      <p:sp>
        <p:nvSpPr>
          <p:cNvPr id="8" name="Text 6"/>
          <p:cNvSpPr txBox="1"/>
          <p:nvPr/>
        </p:nvSpPr>
        <p:spPr>
          <a:xfrm>
            <a:off x="640080" y="1448181"/>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9" name="Text 7"/>
          <p:cNvSpPr txBox="1"/>
          <p:nvPr/>
        </p:nvSpPr>
        <p:spPr>
          <a:xfrm>
            <a:off x="1280160" y="1280160"/>
            <a:ext cx="7315200" cy="738378"/>
          </a:xfrm>
          <a:prstGeom prst="rect">
            <a:avLst/>
          </a:prstGeom>
          <a:noFill/>
          <a:ln/>
        </p:spPr>
        <p:txBody>
          <a:bodyPr wrap="square" lIns="0" tIns="0" rIns="0" bIns="0" rtlCol="0" anchor="ctr"/>
          <a:lstStyle/>
          <a:p>
            <a:pPr marL="0" indent="0">
              <a:buNone/>
            </a:pPr>
            <a:r>
              <a:rPr lang="en-US" sz="1600" dirty="0">
                <a:solidFill>
                  <a:srgbClr val="2A1B4D"/>
                </a:solidFill>
              </a:rPr>
              <a:t>The Ant became lazy → he has little food too → both struggle. </a:t>
            </a:r>
          </a:p>
          <a:p>
            <a:pPr marL="0" indent="0">
              <a:buNone/>
            </a:pPr>
            <a:r>
              <a:rPr lang="en-US" sz="1600" dirty="0">
                <a:solidFill>
                  <a:srgbClr val="2A1B4D"/>
                </a:solidFill>
              </a:rPr>
              <a:t>Lesson: everyone must prepare.</a:t>
            </a:r>
            <a:endParaRPr lang="en-US" sz="1600" dirty="0"/>
          </a:p>
        </p:txBody>
      </p:sp>
      <p:sp>
        <p:nvSpPr>
          <p:cNvPr id="10" name="Shape 8"/>
          <p:cNvSpPr/>
          <p:nvPr/>
        </p:nvSpPr>
        <p:spPr>
          <a:xfrm>
            <a:off x="457200" y="2146554"/>
            <a:ext cx="8229600" cy="738378"/>
          </a:xfrm>
          <a:prstGeom prst="roundRect">
            <a:avLst>
              <a:gd name="adj" fmla="val 1857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1" name="Shape 9"/>
          <p:cNvSpPr/>
          <p:nvPr/>
        </p:nvSpPr>
        <p:spPr>
          <a:xfrm>
            <a:off x="640080" y="2314575"/>
            <a:ext cx="402336" cy="402336"/>
          </a:xfrm>
          <a:prstGeom prst="ellipse">
            <a:avLst/>
          </a:prstGeom>
          <a:solidFill>
            <a:srgbClr val="1FB5A8"/>
          </a:solidFill>
          <a:ln/>
        </p:spPr>
      </p:sp>
      <p:sp>
        <p:nvSpPr>
          <p:cNvPr id="12" name="Text 10"/>
          <p:cNvSpPr txBox="1"/>
          <p:nvPr/>
        </p:nvSpPr>
        <p:spPr>
          <a:xfrm>
            <a:off x="640080" y="2314575"/>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3" name="Text 11"/>
          <p:cNvSpPr txBox="1"/>
          <p:nvPr/>
        </p:nvSpPr>
        <p:spPr>
          <a:xfrm>
            <a:off x="1280160" y="2146554"/>
            <a:ext cx="7315200" cy="738378"/>
          </a:xfrm>
          <a:prstGeom prst="rect">
            <a:avLst/>
          </a:prstGeom>
          <a:noFill/>
          <a:ln/>
        </p:spPr>
        <p:txBody>
          <a:bodyPr wrap="square" lIns="0" tIns="0" rIns="0" bIns="0" rtlCol="0" anchor="ctr"/>
          <a:lstStyle/>
          <a:p>
            <a:pPr marL="0" indent="0">
              <a:buNone/>
            </a:pPr>
            <a:r>
              <a:rPr lang="en-US" sz="1600" dirty="0">
                <a:solidFill>
                  <a:srgbClr val="2A1B4D"/>
                </a:solidFill>
              </a:rPr>
              <a:t>The Grasshopper worked → he has food → he needs no help. </a:t>
            </a:r>
          </a:p>
          <a:p>
            <a:pPr marL="0" indent="0">
              <a:buNone/>
            </a:pPr>
            <a:r>
              <a:rPr lang="en-US" sz="1600" dirty="0">
                <a:solidFill>
                  <a:srgbClr val="2A1B4D"/>
                </a:solidFill>
              </a:rPr>
              <a:t>Lesson: change your choices.</a:t>
            </a:r>
            <a:endParaRPr lang="en-US" sz="1600" dirty="0"/>
          </a:p>
        </p:txBody>
      </p:sp>
      <p:sp>
        <p:nvSpPr>
          <p:cNvPr id="14" name="Shape 12"/>
          <p:cNvSpPr/>
          <p:nvPr/>
        </p:nvSpPr>
        <p:spPr>
          <a:xfrm>
            <a:off x="457200" y="3012948"/>
            <a:ext cx="8229600" cy="738378"/>
          </a:xfrm>
          <a:prstGeom prst="roundRect">
            <a:avLst>
              <a:gd name="adj" fmla="val 1857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5" name="Shape 13"/>
          <p:cNvSpPr/>
          <p:nvPr/>
        </p:nvSpPr>
        <p:spPr>
          <a:xfrm>
            <a:off x="640080" y="3180969"/>
            <a:ext cx="402336" cy="402336"/>
          </a:xfrm>
          <a:prstGeom prst="ellipse">
            <a:avLst/>
          </a:prstGeom>
          <a:solidFill>
            <a:srgbClr val="E85D9E"/>
          </a:solidFill>
          <a:ln/>
        </p:spPr>
      </p:sp>
      <p:sp>
        <p:nvSpPr>
          <p:cNvPr id="16" name="Text 14"/>
          <p:cNvSpPr txBox="1"/>
          <p:nvPr/>
        </p:nvSpPr>
        <p:spPr>
          <a:xfrm>
            <a:off x="640080" y="3180969"/>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7" name="Text 15"/>
          <p:cNvSpPr txBox="1"/>
          <p:nvPr/>
        </p:nvSpPr>
        <p:spPr>
          <a:xfrm>
            <a:off x="1280160" y="3012948"/>
            <a:ext cx="7315200" cy="738378"/>
          </a:xfrm>
          <a:prstGeom prst="rect">
            <a:avLst/>
          </a:prstGeom>
          <a:noFill/>
          <a:ln/>
        </p:spPr>
        <p:txBody>
          <a:bodyPr wrap="square" lIns="0" tIns="0" rIns="0" bIns="0" rtlCol="0" anchor="ctr"/>
          <a:lstStyle/>
          <a:p>
            <a:pPr marL="0" indent="0">
              <a:buNone/>
            </a:pPr>
            <a:r>
              <a:rPr lang="en-US" sz="1600" dirty="0">
                <a:solidFill>
                  <a:srgbClr val="2A1B4D"/>
                </a:solidFill>
              </a:rPr>
              <a:t>The Ant refused to help → the Grasshopper must find another way. </a:t>
            </a:r>
          </a:p>
          <a:p>
            <a:pPr marL="0" indent="0">
              <a:buNone/>
            </a:pPr>
            <a:r>
              <a:rPr lang="en-US" sz="1600" dirty="0">
                <a:solidFill>
                  <a:srgbClr val="2A1B4D"/>
                </a:solidFill>
              </a:rPr>
              <a:t>Lesson: do not depend on others.</a:t>
            </a:r>
            <a:endParaRPr lang="en-US" sz="1600" dirty="0"/>
          </a:p>
        </p:txBody>
      </p:sp>
      <p:sp>
        <p:nvSpPr>
          <p:cNvPr id="18" name="Shape 16"/>
          <p:cNvSpPr/>
          <p:nvPr/>
        </p:nvSpPr>
        <p:spPr>
          <a:xfrm>
            <a:off x="457200" y="3879342"/>
            <a:ext cx="8229600" cy="738378"/>
          </a:xfrm>
          <a:prstGeom prst="roundRect">
            <a:avLst>
              <a:gd name="adj" fmla="val 1857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9" name="Shape 17"/>
          <p:cNvSpPr/>
          <p:nvPr/>
        </p:nvSpPr>
        <p:spPr>
          <a:xfrm>
            <a:off x="640080" y="4047363"/>
            <a:ext cx="402336" cy="402336"/>
          </a:xfrm>
          <a:prstGeom prst="ellipse">
            <a:avLst/>
          </a:prstGeom>
          <a:solidFill>
            <a:srgbClr val="7B5CE0"/>
          </a:solidFill>
          <a:ln/>
        </p:spPr>
      </p:sp>
      <p:sp>
        <p:nvSpPr>
          <p:cNvPr id="20" name="Text 18"/>
          <p:cNvSpPr txBox="1"/>
          <p:nvPr/>
        </p:nvSpPr>
        <p:spPr>
          <a:xfrm>
            <a:off x="640080" y="4047363"/>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1" name="Text 19"/>
          <p:cNvSpPr txBox="1"/>
          <p:nvPr/>
        </p:nvSpPr>
        <p:spPr>
          <a:xfrm>
            <a:off x="1280160" y="3879342"/>
            <a:ext cx="7315200" cy="738378"/>
          </a:xfrm>
          <a:prstGeom prst="rect">
            <a:avLst/>
          </a:prstGeom>
          <a:noFill/>
          <a:ln/>
        </p:spPr>
        <p:txBody>
          <a:bodyPr wrap="square" lIns="0" tIns="0" rIns="0" bIns="0" rtlCol="0" anchor="ctr"/>
          <a:lstStyle/>
          <a:p>
            <a:pPr marL="0" indent="0">
              <a:buNone/>
            </a:pPr>
            <a:r>
              <a:rPr lang="en-US" sz="1600" dirty="0">
                <a:solidFill>
                  <a:srgbClr val="2A1B4D"/>
                </a:solidFill>
              </a:rPr>
              <a:t>Winter came early → both rush to collect food.</a:t>
            </a:r>
          </a:p>
          <a:p>
            <a:pPr marL="0" indent="0">
              <a:buNone/>
            </a:pPr>
            <a:r>
              <a:rPr lang="en-US" sz="1600" dirty="0">
                <a:solidFill>
                  <a:srgbClr val="2A1B4D"/>
                </a:solidFill>
              </a:rPr>
              <a:t> Lesson: be ready before it is too late.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2800" b="1" dirty="0">
                <a:solidFill>
                  <a:srgbClr val="2A1B4D"/>
                </a:solidFill>
                <a:latin typeface="Cambria" pitchFamily="34" charset="0"/>
                <a:ea typeface="Cambria" pitchFamily="34" charset="-122"/>
                <a:cs typeface="Cambria" pitchFamily="34" charset="-120"/>
              </a:rPr>
              <a:t>COMPLETE THE STORY CHAIN</a:t>
            </a:r>
            <a:endParaRPr lang="en-US" sz="28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280160"/>
            <a:ext cx="2743200" cy="464820"/>
          </a:xfrm>
          <a:prstGeom prst="roundRect">
            <a:avLst>
              <a:gd name="adj" fmla="val 23607"/>
            </a:avLst>
          </a:prstGeom>
          <a:solidFill>
            <a:srgbClr val="FF8A3D"/>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My twist:</a:t>
            </a:r>
            <a:endParaRPr lang="en-US" sz="1400" dirty="0"/>
          </a:p>
        </p:txBody>
      </p:sp>
      <p:sp>
        <p:nvSpPr>
          <p:cNvPr id="7" name="Shape 5"/>
          <p:cNvSpPr/>
          <p:nvPr/>
        </p:nvSpPr>
        <p:spPr>
          <a:xfrm>
            <a:off x="3337560" y="1280160"/>
            <a:ext cx="5349240" cy="464820"/>
          </a:xfrm>
          <a:prstGeom prst="roundRect">
            <a:avLst>
              <a:gd name="adj" fmla="val 23607"/>
            </a:avLst>
          </a:prstGeom>
          <a:solidFill>
            <a:srgbClr val="FFFFFF"/>
          </a:solidFill>
          <a:ln w="12700">
            <a:solidFill>
              <a:srgbClr val="CFC3F2"/>
            </a:solidFill>
            <a:prstDash val="dash"/>
          </a:ln>
        </p:spPr>
      </p:sp>
      <p:sp>
        <p:nvSpPr>
          <p:cNvPr id="8" name="Text 6"/>
          <p:cNvSpPr txBox="1"/>
          <p:nvPr/>
        </p:nvSpPr>
        <p:spPr>
          <a:xfrm>
            <a:off x="457200" y="1854708"/>
            <a:ext cx="2743200" cy="464820"/>
          </a:xfrm>
          <a:prstGeom prst="roundRect">
            <a:avLst>
              <a:gd name="adj" fmla="val 23607"/>
            </a:avLst>
          </a:prstGeom>
          <a:solidFill>
            <a:srgbClr val="1FB5A8"/>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This would cause:</a:t>
            </a:r>
            <a:endParaRPr lang="en-US" sz="1400" dirty="0"/>
          </a:p>
        </p:txBody>
      </p:sp>
      <p:sp>
        <p:nvSpPr>
          <p:cNvPr id="9" name="Shape 7"/>
          <p:cNvSpPr/>
          <p:nvPr/>
        </p:nvSpPr>
        <p:spPr>
          <a:xfrm>
            <a:off x="3337560" y="1854708"/>
            <a:ext cx="5349240" cy="464820"/>
          </a:xfrm>
          <a:prstGeom prst="roundRect">
            <a:avLst>
              <a:gd name="adj" fmla="val 23607"/>
            </a:avLst>
          </a:prstGeom>
          <a:solidFill>
            <a:srgbClr val="FFFFFF"/>
          </a:solidFill>
          <a:ln w="12700">
            <a:solidFill>
              <a:srgbClr val="CFC3F2"/>
            </a:solidFill>
            <a:prstDash val="dash"/>
          </a:ln>
        </p:spPr>
      </p:sp>
      <p:sp>
        <p:nvSpPr>
          <p:cNvPr id="10" name="Text 8"/>
          <p:cNvSpPr txBox="1"/>
          <p:nvPr/>
        </p:nvSpPr>
        <p:spPr>
          <a:xfrm>
            <a:off x="457200" y="2429256"/>
            <a:ext cx="2743200" cy="464820"/>
          </a:xfrm>
          <a:prstGeom prst="roundRect">
            <a:avLst>
              <a:gd name="adj" fmla="val 23607"/>
            </a:avLst>
          </a:prstGeom>
          <a:solidFill>
            <a:srgbClr val="E85D9E"/>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Then:</a:t>
            </a:r>
            <a:endParaRPr lang="en-US" sz="1400" dirty="0"/>
          </a:p>
        </p:txBody>
      </p:sp>
      <p:sp>
        <p:nvSpPr>
          <p:cNvPr id="11" name="Shape 9"/>
          <p:cNvSpPr/>
          <p:nvPr/>
        </p:nvSpPr>
        <p:spPr>
          <a:xfrm>
            <a:off x="3337560" y="2429256"/>
            <a:ext cx="5349240" cy="464820"/>
          </a:xfrm>
          <a:prstGeom prst="roundRect">
            <a:avLst>
              <a:gd name="adj" fmla="val 23607"/>
            </a:avLst>
          </a:prstGeom>
          <a:solidFill>
            <a:srgbClr val="FFFFFF"/>
          </a:solidFill>
          <a:ln w="12700">
            <a:solidFill>
              <a:srgbClr val="CFC3F2"/>
            </a:solidFill>
            <a:prstDash val="dash"/>
          </a:ln>
        </p:spPr>
      </p:sp>
      <p:sp>
        <p:nvSpPr>
          <p:cNvPr id="12" name="Text 10"/>
          <p:cNvSpPr txBox="1"/>
          <p:nvPr/>
        </p:nvSpPr>
        <p:spPr>
          <a:xfrm>
            <a:off x="457200" y="3003804"/>
            <a:ext cx="2743200" cy="464820"/>
          </a:xfrm>
          <a:prstGeom prst="roundRect">
            <a:avLst>
              <a:gd name="adj" fmla="val 23607"/>
            </a:avLst>
          </a:prstGeom>
          <a:solidFill>
            <a:srgbClr val="7B5CE0"/>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As a result:</a:t>
            </a:r>
            <a:endParaRPr lang="en-US" sz="1400" dirty="0"/>
          </a:p>
        </p:txBody>
      </p:sp>
      <p:sp>
        <p:nvSpPr>
          <p:cNvPr id="13" name="Shape 11"/>
          <p:cNvSpPr/>
          <p:nvPr/>
        </p:nvSpPr>
        <p:spPr>
          <a:xfrm>
            <a:off x="3337560" y="3003804"/>
            <a:ext cx="5349240" cy="464820"/>
          </a:xfrm>
          <a:prstGeom prst="roundRect">
            <a:avLst>
              <a:gd name="adj" fmla="val 23607"/>
            </a:avLst>
          </a:prstGeom>
          <a:solidFill>
            <a:srgbClr val="FFFFFF"/>
          </a:solidFill>
          <a:ln w="12700">
            <a:solidFill>
              <a:srgbClr val="CFC3F2"/>
            </a:solidFill>
            <a:prstDash val="dash"/>
          </a:ln>
        </p:spPr>
      </p:sp>
      <p:sp>
        <p:nvSpPr>
          <p:cNvPr id="14" name="Text 12"/>
          <p:cNvSpPr txBox="1"/>
          <p:nvPr/>
        </p:nvSpPr>
        <p:spPr>
          <a:xfrm>
            <a:off x="457200" y="3578352"/>
            <a:ext cx="2743200" cy="464820"/>
          </a:xfrm>
          <a:prstGeom prst="roundRect">
            <a:avLst>
              <a:gd name="adj" fmla="val 23607"/>
            </a:avLst>
          </a:prstGeom>
          <a:solidFill>
            <a:srgbClr val="FF8A3D"/>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The ending could be:</a:t>
            </a:r>
            <a:endParaRPr lang="en-US" sz="1400" dirty="0"/>
          </a:p>
        </p:txBody>
      </p:sp>
      <p:sp>
        <p:nvSpPr>
          <p:cNvPr id="15" name="Shape 13"/>
          <p:cNvSpPr/>
          <p:nvPr/>
        </p:nvSpPr>
        <p:spPr>
          <a:xfrm>
            <a:off x="3337560" y="3578352"/>
            <a:ext cx="5349240" cy="464820"/>
          </a:xfrm>
          <a:prstGeom prst="roundRect">
            <a:avLst>
              <a:gd name="adj" fmla="val 23607"/>
            </a:avLst>
          </a:prstGeom>
          <a:solidFill>
            <a:srgbClr val="FFFFFF"/>
          </a:solidFill>
          <a:ln w="12700">
            <a:solidFill>
              <a:srgbClr val="CFC3F2"/>
            </a:solidFill>
            <a:prstDash val="dash"/>
          </a:ln>
        </p:spPr>
      </p:sp>
      <p:sp>
        <p:nvSpPr>
          <p:cNvPr id="16" name="Text 14"/>
          <p:cNvSpPr txBox="1"/>
          <p:nvPr/>
        </p:nvSpPr>
        <p:spPr>
          <a:xfrm>
            <a:off x="457200" y="4152900"/>
            <a:ext cx="2743200" cy="464820"/>
          </a:xfrm>
          <a:prstGeom prst="roundRect">
            <a:avLst>
              <a:gd name="adj" fmla="val 23607"/>
            </a:avLst>
          </a:prstGeom>
          <a:solidFill>
            <a:srgbClr val="1FB5A8"/>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The new lesson might be:</a:t>
            </a:r>
            <a:endParaRPr lang="en-US" sz="1400" dirty="0"/>
          </a:p>
        </p:txBody>
      </p:sp>
      <p:sp>
        <p:nvSpPr>
          <p:cNvPr id="17" name="Shape 15"/>
          <p:cNvSpPr/>
          <p:nvPr/>
        </p:nvSpPr>
        <p:spPr>
          <a:xfrm>
            <a:off x="3337560" y="4152900"/>
            <a:ext cx="5349240" cy="464820"/>
          </a:xfrm>
          <a:prstGeom prst="roundRect">
            <a:avLst>
              <a:gd name="adj" fmla="val 23607"/>
            </a:avLst>
          </a:prstGeom>
          <a:solidFill>
            <a:srgbClr val="FFFFFF"/>
          </a:solidFill>
          <a:ln w="12700">
            <a:solidFill>
              <a:srgbClr val="CFC3F2"/>
            </a:solidFill>
            <a:prstDash val="dash"/>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MODEL: STORY CHAIN</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280160"/>
            <a:ext cx="2377440" cy="464820"/>
          </a:xfrm>
          <a:prstGeom prst="roundRect">
            <a:avLst>
              <a:gd name="adj" fmla="val 23607"/>
            </a:avLst>
          </a:prstGeom>
          <a:solidFill>
            <a:srgbClr val="FF8A3D"/>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My twist:</a:t>
            </a:r>
            <a:endParaRPr lang="en-US" sz="1400" dirty="0"/>
          </a:p>
        </p:txBody>
      </p:sp>
      <p:sp>
        <p:nvSpPr>
          <p:cNvPr id="7" name="Shape 5"/>
          <p:cNvSpPr/>
          <p:nvPr/>
        </p:nvSpPr>
        <p:spPr>
          <a:xfrm>
            <a:off x="2971800" y="1280160"/>
            <a:ext cx="5715000" cy="464820"/>
          </a:xfrm>
          <a:prstGeom prst="roundRect">
            <a:avLst>
              <a:gd name="adj" fmla="val 23607"/>
            </a:avLst>
          </a:prstGeom>
          <a:solidFill>
            <a:srgbClr val="FFFFFF"/>
          </a:solidFill>
          <a:ln w="19050">
            <a:solidFill>
              <a:srgbClr val="1FB5A8"/>
            </a:solidFill>
            <a:prstDash val="solid"/>
          </a:ln>
        </p:spPr>
      </p:sp>
      <p:sp>
        <p:nvSpPr>
          <p:cNvPr id="8" name="Text 6"/>
          <p:cNvSpPr txBox="1"/>
          <p:nvPr/>
        </p:nvSpPr>
        <p:spPr>
          <a:xfrm>
            <a:off x="3154680" y="1280160"/>
            <a:ext cx="5394960" cy="464820"/>
          </a:xfrm>
          <a:prstGeom prst="rect">
            <a:avLst/>
          </a:prstGeom>
          <a:noFill/>
          <a:ln/>
        </p:spPr>
        <p:txBody>
          <a:bodyPr wrap="square" lIns="0" tIns="0" rIns="0" bIns="0" rtlCol="0" anchor="ctr"/>
          <a:lstStyle/>
          <a:p>
            <a:pPr marL="0" indent="0">
              <a:buNone/>
            </a:pPr>
            <a:r>
              <a:rPr lang="en-US" sz="1500" dirty="0">
                <a:solidFill>
                  <a:srgbClr val="2A1B4D"/>
                </a:solidFill>
              </a:rPr>
              <a:t>The Grasshopper starts working.</a:t>
            </a:r>
            <a:endParaRPr lang="en-US" sz="1500" dirty="0"/>
          </a:p>
        </p:txBody>
      </p:sp>
      <p:sp>
        <p:nvSpPr>
          <p:cNvPr id="9" name="Text 7"/>
          <p:cNvSpPr txBox="1"/>
          <p:nvPr/>
        </p:nvSpPr>
        <p:spPr>
          <a:xfrm>
            <a:off x="457200" y="1854708"/>
            <a:ext cx="2377440" cy="464820"/>
          </a:xfrm>
          <a:prstGeom prst="roundRect">
            <a:avLst>
              <a:gd name="adj" fmla="val 23607"/>
            </a:avLst>
          </a:prstGeom>
          <a:solidFill>
            <a:srgbClr val="1FB5A8"/>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This would cause:</a:t>
            </a:r>
            <a:endParaRPr lang="en-US" sz="1400" dirty="0"/>
          </a:p>
        </p:txBody>
      </p:sp>
      <p:sp>
        <p:nvSpPr>
          <p:cNvPr id="10" name="Shape 8"/>
          <p:cNvSpPr/>
          <p:nvPr/>
        </p:nvSpPr>
        <p:spPr>
          <a:xfrm>
            <a:off x="2971800" y="1854708"/>
            <a:ext cx="5715000" cy="464820"/>
          </a:xfrm>
          <a:prstGeom prst="roundRect">
            <a:avLst>
              <a:gd name="adj" fmla="val 23607"/>
            </a:avLst>
          </a:prstGeom>
          <a:solidFill>
            <a:srgbClr val="FFFFFF"/>
          </a:solidFill>
          <a:ln w="19050">
            <a:solidFill>
              <a:srgbClr val="1FB5A8"/>
            </a:solidFill>
            <a:prstDash val="solid"/>
          </a:ln>
        </p:spPr>
      </p:sp>
      <p:sp>
        <p:nvSpPr>
          <p:cNvPr id="11" name="Text 9"/>
          <p:cNvSpPr txBox="1"/>
          <p:nvPr/>
        </p:nvSpPr>
        <p:spPr>
          <a:xfrm>
            <a:off x="3154680" y="1854708"/>
            <a:ext cx="5394960" cy="464820"/>
          </a:xfrm>
          <a:prstGeom prst="rect">
            <a:avLst/>
          </a:prstGeom>
          <a:noFill/>
          <a:ln/>
        </p:spPr>
        <p:txBody>
          <a:bodyPr wrap="square" lIns="0" tIns="0" rIns="0" bIns="0" rtlCol="0" anchor="ctr"/>
          <a:lstStyle/>
          <a:p>
            <a:pPr marL="0" indent="0">
              <a:buNone/>
            </a:pPr>
            <a:r>
              <a:rPr lang="en-US" sz="1500" dirty="0">
                <a:solidFill>
                  <a:srgbClr val="2A1B4D"/>
                </a:solidFill>
              </a:rPr>
              <a:t>He collects food all summer.</a:t>
            </a:r>
            <a:endParaRPr lang="en-US" sz="1500" dirty="0"/>
          </a:p>
        </p:txBody>
      </p:sp>
      <p:sp>
        <p:nvSpPr>
          <p:cNvPr id="12" name="Text 10"/>
          <p:cNvSpPr txBox="1"/>
          <p:nvPr/>
        </p:nvSpPr>
        <p:spPr>
          <a:xfrm>
            <a:off x="457200" y="2429256"/>
            <a:ext cx="2377440" cy="464820"/>
          </a:xfrm>
          <a:prstGeom prst="roundRect">
            <a:avLst>
              <a:gd name="adj" fmla="val 23607"/>
            </a:avLst>
          </a:prstGeom>
          <a:solidFill>
            <a:srgbClr val="E85D9E"/>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Then:</a:t>
            </a:r>
            <a:endParaRPr lang="en-US" sz="1400" dirty="0"/>
          </a:p>
        </p:txBody>
      </p:sp>
      <p:sp>
        <p:nvSpPr>
          <p:cNvPr id="13" name="Shape 11"/>
          <p:cNvSpPr/>
          <p:nvPr/>
        </p:nvSpPr>
        <p:spPr>
          <a:xfrm>
            <a:off x="2971800" y="2429256"/>
            <a:ext cx="5715000" cy="464820"/>
          </a:xfrm>
          <a:prstGeom prst="roundRect">
            <a:avLst>
              <a:gd name="adj" fmla="val 23607"/>
            </a:avLst>
          </a:prstGeom>
          <a:solidFill>
            <a:srgbClr val="FFFFFF"/>
          </a:solidFill>
          <a:ln w="19050">
            <a:solidFill>
              <a:srgbClr val="1FB5A8"/>
            </a:solidFill>
            <a:prstDash val="solid"/>
          </a:ln>
        </p:spPr>
      </p:sp>
      <p:sp>
        <p:nvSpPr>
          <p:cNvPr id="14" name="Text 12"/>
          <p:cNvSpPr txBox="1"/>
          <p:nvPr/>
        </p:nvSpPr>
        <p:spPr>
          <a:xfrm>
            <a:off x="3154680" y="2429256"/>
            <a:ext cx="5394960" cy="464820"/>
          </a:xfrm>
          <a:prstGeom prst="rect">
            <a:avLst/>
          </a:prstGeom>
          <a:noFill/>
          <a:ln/>
        </p:spPr>
        <p:txBody>
          <a:bodyPr wrap="square" lIns="0" tIns="0" rIns="0" bIns="0" rtlCol="0" anchor="ctr"/>
          <a:lstStyle/>
          <a:p>
            <a:pPr marL="0" indent="0">
              <a:buNone/>
            </a:pPr>
            <a:r>
              <a:rPr lang="en-US" sz="1500" dirty="0">
                <a:solidFill>
                  <a:srgbClr val="2A1B4D"/>
                </a:solidFill>
              </a:rPr>
              <a:t>His store is full when winter comes.</a:t>
            </a:r>
            <a:endParaRPr lang="en-US" sz="1500" dirty="0"/>
          </a:p>
        </p:txBody>
      </p:sp>
      <p:sp>
        <p:nvSpPr>
          <p:cNvPr id="15" name="Text 13"/>
          <p:cNvSpPr txBox="1"/>
          <p:nvPr/>
        </p:nvSpPr>
        <p:spPr>
          <a:xfrm>
            <a:off x="457200" y="3003804"/>
            <a:ext cx="2377440" cy="464820"/>
          </a:xfrm>
          <a:prstGeom prst="roundRect">
            <a:avLst>
              <a:gd name="adj" fmla="val 23607"/>
            </a:avLst>
          </a:prstGeom>
          <a:solidFill>
            <a:srgbClr val="7B5CE0"/>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As a result:</a:t>
            </a:r>
            <a:endParaRPr lang="en-US" sz="1400" dirty="0"/>
          </a:p>
        </p:txBody>
      </p:sp>
      <p:sp>
        <p:nvSpPr>
          <p:cNvPr id="16" name="Shape 14"/>
          <p:cNvSpPr/>
          <p:nvPr/>
        </p:nvSpPr>
        <p:spPr>
          <a:xfrm>
            <a:off x="2971800" y="3003804"/>
            <a:ext cx="5715000" cy="464820"/>
          </a:xfrm>
          <a:prstGeom prst="roundRect">
            <a:avLst>
              <a:gd name="adj" fmla="val 23607"/>
            </a:avLst>
          </a:prstGeom>
          <a:solidFill>
            <a:srgbClr val="FFFFFF"/>
          </a:solidFill>
          <a:ln w="19050">
            <a:solidFill>
              <a:srgbClr val="1FB5A8"/>
            </a:solidFill>
            <a:prstDash val="solid"/>
          </a:ln>
        </p:spPr>
      </p:sp>
      <p:sp>
        <p:nvSpPr>
          <p:cNvPr id="17" name="Text 15"/>
          <p:cNvSpPr txBox="1"/>
          <p:nvPr/>
        </p:nvSpPr>
        <p:spPr>
          <a:xfrm>
            <a:off x="3154680" y="3003804"/>
            <a:ext cx="5394960" cy="464820"/>
          </a:xfrm>
          <a:prstGeom prst="rect">
            <a:avLst/>
          </a:prstGeom>
          <a:noFill/>
          <a:ln/>
        </p:spPr>
        <p:txBody>
          <a:bodyPr wrap="square" lIns="0" tIns="0" rIns="0" bIns="0" rtlCol="0" anchor="ctr"/>
          <a:lstStyle/>
          <a:p>
            <a:pPr marL="0" indent="0">
              <a:buNone/>
            </a:pPr>
            <a:r>
              <a:rPr lang="en-US" sz="1500" dirty="0">
                <a:solidFill>
                  <a:srgbClr val="2A1B4D"/>
                </a:solidFill>
              </a:rPr>
              <a:t>He does not need the Ant's help.</a:t>
            </a:r>
            <a:endParaRPr lang="en-US" sz="1500" dirty="0"/>
          </a:p>
        </p:txBody>
      </p:sp>
      <p:sp>
        <p:nvSpPr>
          <p:cNvPr id="18" name="Text 16"/>
          <p:cNvSpPr txBox="1"/>
          <p:nvPr/>
        </p:nvSpPr>
        <p:spPr>
          <a:xfrm>
            <a:off x="457200" y="3578352"/>
            <a:ext cx="2377440" cy="464820"/>
          </a:xfrm>
          <a:prstGeom prst="roundRect">
            <a:avLst>
              <a:gd name="adj" fmla="val 23607"/>
            </a:avLst>
          </a:prstGeom>
          <a:solidFill>
            <a:srgbClr val="FF8A3D"/>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The ending could be:</a:t>
            </a:r>
            <a:endParaRPr lang="en-US" sz="1400" dirty="0"/>
          </a:p>
        </p:txBody>
      </p:sp>
      <p:sp>
        <p:nvSpPr>
          <p:cNvPr id="19" name="Shape 17"/>
          <p:cNvSpPr/>
          <p:nvPr/>
        </p:nvSpPr>
        <p:spPr>
          <a:xfrm>
            <a:off x="2971800" y="3578352"/>
            <a:ext cx="5715000" cy="464820"/>
          </a:xfrm>
          <a:prstGeom prst="roundRect">
            <a:avLst>
              <a:gd name="adj" fmla="val 23607"/>
            </a:avLst>
          </a:prstGeom>
          <a:solidFill>
            <a:srgbClr val="FFFFFF"/>
          </a:solidFill>
          <a:ln w="19050">
            <a:solidFill>
              <a:srgbClr val="1FB5A8"/>
            </a:solidFill>
            <a:prstDash val="solid"/>
          </a:ln>
        </p:spPr>
      </p:sp>
      <p:sp>
        <p:nvSpPr>
          <p:cNvPr id="20" name="Text 18"/>
          <p:cNvSpPr txBox="1"/>
          <p:nvPr/>
        </p:nvSpPr>
        <p:spPr>
          <a:xfrm>
            <a:off x="3154680" y="3578352"/>
            <a:ext cx="5394960" cy="464820"/>
          </a:xfrm>
          <a:prstGeom prst="rect">
            <a:avLst/>
          </a:prstGeom>
          <a:noFill/>
          <a:ln/>
        </p:spPr>
        <p:txBody>
          <a:bodyPr wrap="square" lIns="0" tIns="0" rIns="0" bIns="0" rtlCol="0" anchor="ctr"/>
          <a:lstStyle/>
          <a:p>
            <a:pPr marL="0" indent="0">
              <a:buNone/>
            </a:pPr>
            <a:r>
              <a:rPr lang="en-US" sz="1500" dirty="0">
                <a:solidFill>
                  <a:srgbClr val="2A1B4D"/>
                </a:solidFill>
              </a:rPr>
              <a:t>He stays warm and safe all winter.</a:t>
            </a:r>
            <a:endParaRPr lang="en-US" sz="1500" dirty="0"/>
          </a:p>
        </p:txBody>
      </p:sp>
      <p:sp>
        <p:nvSpPr>
          <p:cNvPr id="21" name="Text 19"/>
          <p:cNvSpPr txBox="1"/>
          <p:nvPr/>
        </p:nvSpPr>
        <p:spPr>
          <a:xfrm>
            <a:off x="457200" y="4152900"/>
            <a:ext cx="2377440" cy="464820"/>
          </a:xfrm>
          <a:prstGeom prst="roundRect">
            <a:avLst>
              <a:gd name="adj" fmla="val 23607"/>
            </a:avLst>
          </a:prstGeom>
          <a:solidFill>
            <a:srgbClr val="1FB5A8"/>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The new lesson might be:</a:t>
            </a:r>
            <a:endParaRPr lang="en-US" sz="1400" dirty="0"/>
          </a:p>
        </p:txBody>
      </p:sp>
      <p:sp>
        <p:nvSpPr>
          <p:cNvPr id="22" name="Shape 20"/>
          <p:cNvSpPr/>
          <p:nvPr/>
        </p:nvSpPr>
        <p:spPr>
          <a:xfrm>
            <a:off x="2971800" y="4152900"/>
            <a:ext cx="5715000" cy="464820"/>
          </a:xfrm>
          <a:prstGeom prst="roundRect">
            <a:avLst>
              <a:gd name="adj" fmla="val 23607"/>
            </a:avLst>
          </a:prstGeom>
          <a:solidFill>
            <a:srgbClr val="FFFFFF"/>
          </a:solidFill>
          <a:ln w="19050">
            <a:solidFill>
              <a:srgbClr val="1FB5A8"/>
            </a:solidFill>
            <a:prstDash val="solid"/>
          </a:ln>
        </p:spPr>
      </p:sp>
      <p:sp>
        <p:nvSpPr>
          <p:cNvPr id="23" name="Text 21"/>
          <p:cNvSpPr txBox="1"/>
          <p:nvPr/>
        </p:nvSpPr>
        <p:spPr>
          <a:xfrm>
            <a:off x="3154680" y="4152900"/>
            <a:ext cx="5394960" cy="464820"/>
          </a:xfrm>
          <a:prstGeom prst="rect">
            <a:avLst/>
          </a:prstGeom>
          <a:noFill/>
          <a:ln/>
        </p:spPr>
        <p:txBody>
          <a:bodyPr wrap="square" lIns="0" tIns="0" rIns="0" bIns="0" rtlCol="0" anchor="ctr"/>
          <a:lstStyle/>
          <a:p>
            <a:pPr marL="0" indent="0">
              <a:buNone/>
            </a:pPr>
            <a:r>
              <a:rPr lang="en-US" sz="1500" dirty="0">
                <a:solidFill>
                  <a:srgbClr val="2A1B4D"/>
                </a:solidFill>
              </a:rPr>
              <a:t>Change your behaviour before it is too late.</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STORY SCIENTISTS</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i="1" dirty="0">
                <a:solidFill>
                  <a:srgbClr val="5A4A85"/>
                </a:solidFill>
                <a:latin typeface="Calibri" pitchFamily="34" charset="0"/>
                <a:ea typeface="Calibri" pitchFamily="34" charset="-122"/>
                <a:cs typeface="Calibri" pitchFamily="34" charset="-120"/>
              </a:rPr>
              <a:t>Tell your partner:</a:t>
            </a:r>
            <a:endParaRPr lang="en-US" sz="1700" dirty="0"/>
          </a:p>
        </p:txBody>
      </p:sp>
      <p:sp>
        <p:nvSpPr>
          <p:cNvPr id="7" name="Shape 5"/>
          <p:cNvSpPr/>
          <p:nvPr/>
        </p:nvSpPr>
        <p:spPr>
          <a:xfrm>
            <a:off x="457200" y="1691640"/>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756791"/>
            <a:ext cx="402336" cy="402336"/>
          </a:xfrm>
          <a:prstGeom prst="ellipse">
            <a:avLst/>
          </a:prstGeom>
          <a:solidFill>
            <a:srgbClr val="FF8A3D"/>
          </a:solidFill>
          <a:ln/>
        </p:spPr>
      </p:sp>
      <p:sp>
        <p:nvSpPr>
          <p:cNvPr id="9" name="Text 7"/>
          <p:cNvSpPr txBox="1"/>
          <p:nvPr/>
        </p:nvSpPr>
        <p:spPr>
          <a:xfrm>
            <a:off x="640080" y="1756791"/>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532638"/>
          </a:xfrm>
          <a:prstGeom prst="rect">
            <a:avLst/>
          </a:prstGeom>
          <a:noFill/>
          <a:ln/>
        </p:spPr>
        <p:txBody>
          <a:bodyPr wrap="square" lIns="0" tIns="0" rIns="0" bIns="0" rtlCol="0" anchor="ctr"/>
          <a:lstStyle/>
          <a:p>
            <a:pPr marL="0" indent="0">
              <a:buNone/>
            </a:pPr>
            <a:r>
              <a:rPr lang="en-US" sz="1600" dirty="0">
                <a:solidFill>
                  <a:srgbClr val="2A1B4D"/>
                </a:solidFill>
              </a:rPr>
              <a:t>My twist is…</a:t>
            </a:r>
            <a:endParaRPr lang="en-US" sz="1600" dirty="0"/>
          </a:p>
        </p:txBody>
      </p:sp>
      <p:sp>
        <p:nvSpPr>
          <p:cNvPr id="11" name="Shape 9"/>
          <p:cNvSpPr/>
          <p:nvPr/>
        </p:nvSpPr>
        <p:spPr>
          <a:xfrm>
            <a:off x="457200" y="2352294"/>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417445"/>
            <a:ext cx="402336" cy="402336"/>
          </a:xfrm>
          <a:prstGeom prst="ellipse">
            <a:avLst/>
          </a:prstGeom>
          <a:solidFill>
            <a:srgbClr val="1FB5A8"/>
          </a:solidFill>
          <a:ln/>
        </p:spPr>
      </p:sp>
      <p:sp>
        <p:nvSpPr>
          <p:cNvPr id="13" name="Text 11"/>
          <p:cNvSpPr txBox="1"/>
          <p:nvPr/>
        </p:nvSpPr>
        <p:spPr>
          <a:xfrm>
            <a:off x="640080" y="2417445"/>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352294"/>
            <a:ext cx="7315200" cy="532638"/>
          </a:xfrm>
          <a:prstGeom prst="rect">
            <a:avLst/>
          </a:prstGeom>
          <a:noFill/>
          <a:ln/>
        </p:spPr>
        <p:txBody>
          <a:bodyPr wrap="square" lIns="0" tIns="0" rIns="0" bIns="0" rtlCol="0" anchor="ctr"/>
          <a:lstStyle/>
          <a:p>
            <a:pPr marL="0" indent="0">
              <a:buNone/>
            </a:pPr>
            <a:r>
              <a:rPr lang="en-US" sz="1600" dirty="0">
                <a:solidFill>
                  <a:srgbClr val="2A1B4D"/>
                </a:solidFill>
              </a:rPr>
              <a:t>This changes the story because…</a:t>
            </a:r>
            <a:endParaRPr lang="en-US" sz="1600" dirty="0"/>
          </a:p>
        </p:txBody>
      </p:sp>
      <p:sp>
        <p:nvSpPr>
          <p:cNvPr id="15" name="Shape 13"/>
          <p:cNvSpPr/>
          <p:nvPr/>
        </p:nvSpPr>
        <p:spPr>
          <a:xfrm>
            <a:off x="457200" y="3012948"/>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3078099"/>
            <a:ext cx="402336" cy="402336"/>
          </a:xfrm>
          <a:prstGeom prst="ellipse">
            <a:avLst/>
          </a:prstGeom>
          <a:solidFill>
            <a:srgbClr val="E85D9E"/>
          </a:solidFill>
          <a:ln/>
        </p:spPr>
      </p:sp>
      <p:sp>
        <p:nvSpPr>
          <p:cNvPr id="17" name="Text 15"/>
          <p:cNvSpPr txBox="1"/>
          <p:nvPr/>
        </p:nvSpPr>
        <p:spPr>
          <a:xfrm>
            <a:off x="640080" y="3078099"/>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3012948"/>
            <a:ext cx="7315200" cy="532638"/>
          </a:xfrm>
          <a:prstGeom prst="rect">
            <a:avLst/>
          </a:prstGeom>
          <a:noFill/>
          <a:ln/>
        </p:spPr>
        <p:txBody>
          <a:bodyPr wrap="square" lIns="0" tIns="0" rIns="0" bIns="0" rtlCol="0" anchor="ctr"/>
          <a:lstStyle/>
          <a:p>
            <a:pPr marL="0" indent="0">
              <a:buNone/>
            </a:pPr>
            <a:r>
              <a:rPr lang="en-US" sz="1600" dirty="0">
                <a:solidFill>
                  <a:srgbClr val="2A1B4D"/>
                </a:solidFill>
              </a:rPr>
              <a:t>As a result…</a:t>
            </a:r>
            <a:endParaRPr lang="en-US" sz="1600" dirty="0"/>
          </a:p>
        </p:txBody>
      </p:sp>
      <p:sp>
        <p:nvSpPr>
          <p:cNvPr id="19" name="Shape 17"/>
          <p:cNvSpPr/>
          <p:nvPr/>
        </p:nvSpPr>
        <p:spPr>
          <a:xfrm>
            <a:off x="457200" y="3673602"/>
            <a:ext cx="8229600" cy="532638"/>
          </a:xfrm>
          <a:prstGeom prst="roundRect">
            <a:avLst>
              <a:gd name="adj" fmla="val 25751"/>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3738753"/>
            <a:ext cx="402336" cy="402336"/>
          </a:xfrm>
          <a:prstGeom prst="ellipse">
            <a:avLst/>
          </a:prstGeom>
          <a:solidFill>
            <a:srgbClr val="7B5CE0"/>
          </a:solidFill>
          <a:ln/>
        </p:spPr>
      </p:sp>
      <p:sp>
        <p:nvSpPr>
          <p:cNvPr id="21" name="Text 19"/>
          <p:cNvSpPr txBox="1"/>
          <p:nvPr/>
        </p:nvSpPr>
        <p:spPr>
          <a:xfrm>
            <a:off x="640080" y="3738753"/>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673602"/>
            <a:ext cx="7315200" cy="532638"/>
          </a:xfrm>
          <a:prstGeom prst="rect">
            <a:avLst/>
          </a:prstGeom>
          <a:noFill/>
          <a:ln/>
        </p:spPr>
        <p:txBody>
          <a:bodyPr wrap="square" lIns="0" tIns="0" rIns="0" bIns="0" rtlCol="0" anchor="ctr"/>
          <a:lstStyle/>
          <a:p>
            <a:pPr marL="0" indent="0">
              <a:buNone/>
            </a:pPr>
            <a:r>
              <a:rPr lang="en-US" sz="1600" dirty="0">
                <a:solidFill>
                  <a:srgbClr val="2A1B4D"/>
                </a:solidFill>
              </a:rPr>
              <a:t>The new lesson could be…</a:t>
            </a:r>
            <a:endParaRPr lang="en-US" sz="1600" dirty="0"/>
          </a:p>
        </p:txBody>
      </p:sp>
      <p:sp>
        <p:nvSpPr>
          <p:cNvPr id="23" name="Text 21"/>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Partner's job: ask "What happens because of your change?"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A1B4D"/>
        </a:solidFill>
        <a:effectLst/>
      </p:bgPr>
    </p:bg>
    <p:spTree>
      <p:nvGrpSpPr>
        <p:cNvPr id="1" name=""/>
        <p:cNvGrpSpPr/>
        <p:nvPr/>
      </p:nvGrpSpPr>
      <p:grpSpPr>
        <a:xfrm>
          <a:off x="0" y="0"/>
          <a:ext cx="0" cy="0"/>
          <a:chOff x="0" y="0"/>
          <a:chExt cx="0" cy="0"/>
        </a:xfrm>
      </p:grpSpPr>
      <p:sp>
        <p:nvSpPr>
          <p:cNvPr id="3" name="Shape 0"/>
          <p:cNvSpPr/>
          <p:nvPr/>
        </p:nvSpPr>
        <p:spPr>
          <a:xfrm>
            <a:off x="5669280" y="731520"/>
            <a:ext cx="4572000" cy="4572000"/>
          </a:xfrm>
          <a:prstGeom prst="ellipse">
            <a:avLst/>
          </a:prstGeom>
          <a:solidFill>
            <a:srgbClr val="3E2A70"/>
          </a:solidFill>
          <a:ln/>
        </p:spPr>
      </p:sp>
      <p:sp>
        <p:nvSpPr>
          <p:cNvPr id="4" name="Shape 1"/>
          <p:cNvSpPr/>
          <p:nvPr/>
        </p:nvSpPr>
        <p:spPr>
          <a:xfrm>
            <a:off x="6949440" y="2194560"/>
            <a:ext cx="1463040" cy="1463040"/>
          </a:xfrm>
          <a:prstGeom prst="ellipse">
            <a:avLst/>
          </a:prstGeom>
          <a:solidFill>
            <a:srgbClr val="FF8A3D"/>
          </a:solidFill>
          <a:ln/>
        </p:spPr>
      </p:sp>
      <p:sp>
        <p:nvSpPr>
          <p:cNvPr id="5" name="Text 2"/>
          <p:cNvSpPr txBox="1"/>
          <p:nvPr/>
        </p:nvSpPr>
        <p:spPr>
          <a:xfrm>
            <a:off x="640080" y="1554480"/>
            <a:ext cx="2194560" cy="457200"/>
          </a:xfrm>
          <a:prstGeom prst="roundRect">
            <a:avLst>
              <a:gd name="adj" fmla="val 24000"/>
            </a:avLst>
          </a:prstGeom>
          <a:solidFill>
            <a:srgbClr val="1FB5A8"/>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SESSION 2</a:t>
            </a:r>
            <a:endParaRPr lang="en-US" sz="1800" dirty="0"/>
          </a:p>
        </p:txBody>
      </p:sp>
      <p:sp>
        <p:nvSpPr>
          <p:cNvPr id="6" name="Text 3"/>
          <p:cNvSpPr txBox="1"/>
          <p:nvPr/>
        </p:nvSpPr>
        <p:spPr>
          <a:xfrm>
            <a:off x="640080" y="2194560"/>
            <a:ext cx="5486400" cy="1280160"/>
          </a:xfrm>
          <a:prstGeom prst="rect">
            <a:avLst/>
          </a:prstGeom>
          <a:noFill/>
          <a:ln/>
        </p:spPr>
        <p:txBody>
          <a:bodyPr wrap="square" lIns="0" tIns="0" rIns="0" bIns="0" rtlCol="0" anchor="ctr"/>
          <a:lstStyle/>
          <a:p>
            <a:pPr marL="0" indent="0">
              <a:buNone/>
            </a:pPr>
            <a:r>
              <a:rPr lang="en-US" sz="4400" b="1" dirty="0">
                <a:solidFill>
                  <a:srgbClr val="FFD166"/>
                </a:solidFill>
                <a:latin typeface="Cambria" pitchFamily="34" charset="0"/>
                <a:ea typeface="Cambria" pitchFamily="34" charset="-122"/>
                <a:cs typeface="Cambria" pitchFamily="34" charset="-120"/>
              </a:rPr>
              <a:t>Write the Twist</a:t>
            </a:r>
            <a:endParaRPr lang="en-US" sz="4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FROM IDEA TO STORY</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828800"/>
            <a:ext cx="228600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66928" y="1938528"/>
            <a:ext cx="2066544" cy="365760"/>
          </a:xfrm>
          <a:prstGeom prst="roundRect">
            <a:avLst>
              <a:gd name="adj" fmla="val 30000"/>
            </a:avLst>
          </a:prstGeom>
          <a:solidFill>
            <a:srgbClr val="FF8A3D"/>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PLAN</a:t>
            </a:r>
            <a:endParaRPr lang="en-US" sz="1200" dirty="0"/>
          </a:p>
        </p:txBody>
      </p:sp>
      <p:sp>
        <p:nvSpPr>
          <p:cNvPr id="8" name="Text 6"/>
          <p:cNvSpPr txBox="1"/>
          <p:nvPr/>
        </p:nvSpPr>
        <p:spPr>
          <a:xfrm>
            <a:off x="566928" y="2377440"/>
            <a:ext cx="2066544" cy="731520"/>
          </a:xfrm>
          <a:prstGeom prst="rect">
            <a:avLst/>
          </a:prstGeom>
          <a:noFill/>
          <a:ln/>
        </p:spPr>
        <p:txBody>
          <a:bodyPr wrap="square" lIns="0" tIns="0" rIns="0" bIns="0" rtlCol="0" anchor="t"/>
          <a:lstStyle/>
          <a:p>
            <a:pPr marL="0" indent="0">
              <a:buNone/>
            </a:pPr>
            <a:r>
              <a:rPr lang="en-US" sz="1400" dirty="0">
                <a:solidFill>
                  <a:srgbClr val="2A1B4D"/>
                </a:solidFill>
              </a:rPr>
              <a:t>Choose your fable and your twist.</a:t>
            </a:r>
            <a:endParaRPr lang="en-US" sz="1400" dirty="0"/>
          </a:p>
        </p:txBody>
      </p:sp>
      <p:sp>
        <p:nvSpPr>
          <p:cNvPr id="9" name="Text 7"/>
          <p:cNvSpPr txBox="1"/>
          <p:nvPr/>
        </p:nvSpPr>
        <p:spPr>
          <a:xfrm>
            <a:off x="2743200" y="228600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10" name="Shape 8"/>
          <p:cNvSpPr/>
          <p:nvPr/>
        </p:nvSpPr>
        <p:spPr>
          <a:xfrm>
            <a:off x="3429000" y="1828800"/>
            <a:ext cx="228600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1" name="Text 9"/>
          <p:cNvSpPr txBox="1"/>
          <p:nvPr/>
        </p:nvSpPr>
        <p:spPr>
          <a:xfrm>
            <a:off x="3538728" y="1938528"/>
            <a:ext cx="2066544" cy="365760"/>
          </a:xfrm>
          <a:prstGeom prst="roundRect">
            <a:avLst>
              <a:gd name="adj" fmla="val 30000"/>
            </a:avLst>
          </a:prstGeom>
          <a:solidFill>
            <a:srgbClr val="1FB5A8"/>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WRITE</a:t>
            </a:r>
            <a:endParaRPr lang="en-US" sz="1200" dirty="0"/>
          </a:p>
        </p:txBody>
      </p:sp>
      <p:sp>
        <p:nvSpPr>
          <p:cNvPr id="12" name="Text 10"/>
          <p:cNvSpPr txBox="1"/>
          <p:nvPr/>
        </p:nvSpPr>
        <p:spPr>
          <a:xfrm>
            <a:off x="3538728" y="2377440"/>
            <a:ext cx="2066544" cy="731520"/>
          </a:xfrm>
          <a:prstGeom prst="rect">
            <a:avLst/>
          </a:prstGeom>
          <a:noFill/>
          <a:ln/>
        </p:spPr>
        <p:txBody>
          <a:bodyPr wrap="square" lIns="0" tIns="0" rIns="0" bIns="0" rtlCol="0" anchor="t"/>
          <a:lstStyle/>
          <a:p>
            <a:pPr marL="0" indent="0">
              <a:buNone/>
            </a:pPr>
            <a:r>
              <a:rPr lang="en-US" sz="1400" dirty="0">
                <a:solidFill>
                  <a:srgbClr val="2A1B4D"/>
                </a:solidFill>
              </a:rPr>
              <a:t>Follow the consequences.</a:t>
            </a:r>
            <a:endParaRPr lang="en-US" sz="1400" dirty="0"/>
          </a:p>
        </p:txBody>
      </p:sp>
      <p:sp>
        <p:nvSpPr>
          <p:cNvPr id="13" name="Text 11"/>
          <p:cNvSpPr txBox="1"/>
          <p:nvPr/>
        </p:nvSpPr>
        <p:spPr>
          <a:xfrm>
            <a:off x="5715000" y="228600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14" name="Shape 12"/>
          <p:cNvSpPr/>
          <p:nvPr/>
        </p:nvSpPr>
        <p:spPr>
          <a:xfrm>
            <a:off x="6400800" y="1828800"/>
            <a:ext cx="228600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5" name="Text 13"/>
          <p:cNvSpPr txBox="1"/>
          <p:nvPr/>
        </p:nvSpPr>
        <p:spPr>
          <a:xfrm>
            <a:off x="6510528" y="1938528"/>
            <a:ext cx="2066544" cy="365760"/>
          </a:xfrm>
          <a:prstGeom prst="roundRect">
            <a:avLst>
              <a:gd name="adj" fmla="val 30000"/>
            </a:avLst>
          </a:prstGeom>
          <a:solidFill>
            <a:srgbClr val="E85D9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16" name="Text 14"/>
          <p:cNvSpPr txBox="1"/>
          <p:nvPr/>
        </p:nvSpPr>
        <p:spPr>
          <a:xfrm>
            <a:off x="6510528" y="2377440"/>
            <a:ext cx="2066544" cy="731520"/>
          </a:xfrm>
          <a:prstGeom prst="rect">
            <a:avLst/>
          </a:prstGeom>
          <a:noFill/>
          <a:ln/>
        </p:spPr>
        <p:txBody>
          <a:bodyPr wrap="square" lIns="0" tIns="0" rIns="0" bIns="0" rtlCol="0" anchor="t"/>
          <a:lstStyle/>
          <a:p>
            <a:pPr marL="0" indent="0">
              <a:buNone/>
            </a:pPr>
            <a:r>
              <a:rPr lang="en-US" sz="1400" dirty="0">
                <a:solidFill>
                  <a:srgbClr val="2A1B4D"/>
                </a:solidFill>
              </a:rPr>
              <a:t>Does it all make sense?</a:t>
            </a:r>
            <a:endParaRPr lang="en-US" sz="1400" dirty="0"/>
          </a:p>
        </p:txBody>
      </p:sp>
      <p:sp>
        <p:nvSpPr>
          <p:cNvPr id="17" name="Text 15"/>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We learned: one change can affect the whole story.</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WHAT WOULD YOU CHANGE?</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37160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66928" y="1481328"/>
            <a:ext cx="2066544" cy="365760"/>
          </a:xfrm>
          <a:prstGeom prst="roundRect">
            <a:avLst>
              <a:gd name="adj" fmla="val 30000"/>
            </a:avLst>
          </a:prstGeom>
          <a:solidFill>
            <a:srgbClr val="FF8A3D"/>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CHARACTER</a:t>
            </a:r>
            <a:endParaRPr lang="en-US" sz="1200" dirty="0"/>
          </a:p>
        </p:txBody>
      </p:sp>
      <p:sp>
        <p:nvSpPr>
          <p:cNvPr id="8" name="Text 6"/>
          <p:cNvSpPr txBox="1"/>
          <p:nvPr/>
        </p:nvSpPr>
        <p:spPr>
          <a:xfrm>
            <a:off x="2743200" y="160020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9" name="Shape 7"/>
          <p:cNvSpPr/>
          <p:nvPr/>
        </p:nvSpPr>
        <p:spPr>
          <a:xfrm>
            <a:off x="3429000" y="137160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0" name="Text 8"/>
          <p:cNvSpPr txBox="1"/>
          <p:nvPr/>
        </p:nvSpPr>
        <p:spPr>
          <a:xfrm>
            <a:off x="3538728" y="1481328"/>
            <a:ext cx="2066544" cy="365760"/>
          </a:xfrm>
          <a:prstGeom prst="roundRect">
            <a:avLst>
              <a:gd name="adj" fmla="val 30000"/>
            </a:avLst>
          </a:prstGeom>
          <a:solidFill>
            <a:srgbClr val="1FB5A8"/>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PROBLEM</a:t>
            </a:r>
            <a:endParaRPr lang="en-US" sz="1200" dirty="0"/>
          </a:p>
        </p:txBody>
      </p:sp>
      <p:sp>
        <p:nvSpPr>
          <p:cNvPr id="11" name="Text 9"/>
          <p:cNvSpPr txBox="1"/>
          <p:nvPr/>
        </p:nvSpPr>
        <p:spPr>
          <a:xfrm>
            <a:off x="5715000" y="160020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12" name="Shape 10"/>
          <p:cNvSpPr/>
          <p:nvPr/>
        </p:nvSpPr>
        <p:spPr>
          <a:xfrm>
            <a:off x="6400800" y="137160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3" name="Text 11"/>
          <p:cNvSpPr txBox="1"/>
          <p:nvPr/>
        </p:nvSpPr>
        <p:spPr>
          <a:xfrm>
            <a:off x="6510528" y="1481328"/>
            <a:ext cx="2066544" cy="365760"/>
          </a:xfrm>
          <a:prstGeom prst="roundRect">
            <a:avLst>
              <a:gd name="adj" fmla="val 30000"/>
            </a:avLst>
          </a:prstGeom>
          <a:solidFill>
            <a:srgbClr val="E85D9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CHOICE</a:t>
            </a:r>
            <a:endParaRPr lang="en-US" sz="1200" dirty="0"/>
          </a:p>
        </p:txBody>
      </p:sp>
      <p:sp>
        <p:nvSpPr>
          <p:cNvPr id="14" name="Shape 12"/>
          <p:cNvSpPr/>
          <p:nvPr/>
        </p:nvSpPr>
        <p:spPr>
          <a:xfrm>
            <a:off x="457200" y="265176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5" name="Text 13"/>
          <p:cNvSpPr txBox="1"/>
          <p:nvPr/>
        </p:nvSpPr>
        <p:spPr>
          <a:xfrm>
            <a:off x="566928" y="2761488"/>
            <a:ext cx="2066544" cy="365760"/>
          </a:xfrm>
          <a:prstGeom prst="roundRect">
            <a:avLst>
              <a:gd name="adj" fmla="val 30000"/>
            </a:avLst>
          </a:prstGeom>
          <a:solidFill>
            <a:srgbClr val="7B5CE0"/>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CONSEQUENCE</a:t>
            </a:r>
            <a:endParaRPr lang="en-US" sz="1200" dirty="0"/>
          </a:p>
        </p:txBody>
      </p:sp>
      <p:sp>
        <p:nvSpPr>
          <p:cNvPr id="16" name="Text 14"/>
          <p:cNvSpPr txBox="1"/>
          <p:nvPr/>
        </p:nvSpPr>
        <p:spPr>
          <a:xfrm>
            <a:off x="2743200" y="288036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17" name="Shape 15"/>
          <p:cNvSpPr/>
          <p:nvPr/>
        </p:nvSpPr>
        <p:spPr>
          <a:xfrm>
            <a:off x="3429000" y="265176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8" name="Text 16"/>
          <p:cNvSpPr txBox="1"/>
          <p:nvPr/>
        </p:nvSpPr>
        <p:spPr>
          <a:xfrm>
            <a:off x="3538728" y="2761488"/>
            <a:ext cx="2066544" cy="365760"/>
          </a:xfrm>
          <a:prstGeom prst="roundRect">
            <a:avLst>
              <a:gd name="adj" fmla="val 30000"/>
            </a:avLst>
          </a:prstGeom>
          <a:solidFill>
            <a:srgbClr val="FF8A3D"/>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ENDING</a:t>
            </a:r>
            <a:endParaRPr lang="en-US" sz="1200" dirty="0"/>
          </a:p>
        </p:txBody>
      </p:sp>
      <p:sp>
        <p:nvSpPr>
          <p:cNvPr id="19" name="Text 17"/>
          <p:cNvSpPr txBox="1"/>
          <p:nvPr/>
        </p:nvSpPr>
        <p:spPr>
          <a:xfrm>
            <a:off x="5715000" y="2880360"/>
            <a:ext cx="68580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20" name="Shape 18"/>
          <p:cNvSpPr/>
          <p:nvPr/>
        </p:nvSpPr>
        <p:spPr>
          <a:xfrm>
            <a:off x="6400800" y="2651760"/>
            <a:ext cx="2286000" cy="914400"/>
          </a:xfrm>
          <a:prstGeom prst="roundRect">
            <a:avLst>
              <a:gd name="adj" fmla="val 15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1" name="Text 19"/>
          <p:cNvSpPr txBox="1"/>
          <p:nvPr/>
        </p:nvSpPr>
        <p:spPr>
          <a:xfrm>
            <a:off x="6510528" y="2761488"/>
            <a:ext cx="2066544" cy="365760"/>
          </a:xfrm>
          <a:prstGeom prst="roundRect">
            <a:avLst>
              <a:gd name="adj" fmla="val 30000"/>
            </a:avLst>
          </a:prstGeom>
          <a:solidFill>
            <a:srgbClr val="1FB5A8"/>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LESSON</a:t>
            </a:r>
            <a:endParaRPr lang="en-US" sz="1200" dirty="0"/>
          </a:p>
        </p:txBody>
      </p:sp>
      <p:sp>
        <p:nvSpPr>
          <p:cNvPr id="22" name="Text 20"/>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Which part is easiest to change? Turn and talk.</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2800" b="1" dirty="0">
                <a:solidFill>
                  <a:srgbClr val="2A1B4D"/>
                </a:solidFill>
                <a:latin typeface="Cambria" pitchFamily="34" charset="0"/>
                <a:ea typeface="Cambria" pitchFamily="34" charset="-122"/>
                <a:cs typeface="Cambria" pitchFamily="34" charset="-120"/>
              </a:rPr>
              <a:t>MORE THAN ONE GOOD ANSWER</a:t>
            </a:r>
            <a:endParaRPr lang="en-US" sz="28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i="1" dirty="0">
                <a:solidFill>
                  <a:srgbClr val="5A4A85"/>
                </a:solidFill>
                <a:latin typeface="Calibri" pitchFamily="34" charset="0"/>
                <a:ea typeface="Calibri" pitchFamily="34" charset="-122"/>
                <a:cs typeface="Calibri" pitchFamily="34" charset="-120"/>
              </a:rPr>
              <a:t>You could change:</a:t>
            </a:r>
            <a:endParaRPr lang="en-US" sz="1700" dirty="0"/>
          </a:p>
        </p:txBody>
      </p:sp>
      <p:sp>
        <p:nvSpPr>
          <p:cNvPr id="7" name="Shape 5"/>
          <p:cNvSpPr/>
          <p:nvPr/>
        </p:nvSpPr>
        <p:spPr>
          <a:xfrm>
            <a:off x="457200" y="1691640"/>
            <a:ext cx="8229600" cy="400507"/>
          </a:xfrm>
          <a:prstGeom prst="roundRect">
            <a:avLst>
              <a:gd name="adj" fmla="val 342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728216"/>
            <a:ext cx="327355" cy="327355"/>
          </a:xfrm>
          <a:prstGeom prst="ellipse">
            <a:avLst/>
          </a:prstGeom>
          <a:solidFill>
            <a:srgbClr val="FF8A3D"/>
          </a:solidFill>
          <a:ln/>
        </p:spPr>
      </p:sp>
      <p:sp>
        <p:nvSpPr>
          <p:cNvPr id="9" name="Text 7"/>
          <p:cNvSpPr txBox="1"/>
          <p:nvPr/>
        </p:nvSpPr>
        <p:spPr>
          <a:xfrm>
            <a:off x="640080" y="1728216"/>
            <a:ext cx="327355" cy="327355"/>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400507"/>
          </a:xfrm>
          <a:prstGeom prst="rect">
            <a:avLst/>
          </a:prstGeom>
          <a:noFill/>
          <a:ln/>
        </p:spPr>
        <p:txBody>
          <a:bodyPr wrap="square" lIns="0" tIns="0" rIns="0" bIns="0" rtlCol="0" anchor="ctr"/>
          <a:lstStyle/>
          <a:p>
            <a:pPr marL="0" indent="0">
              <a:buNone/>
            </a:pPr>
            <a:r>
              <a:rPr lang="en-US" sz="1600" b="1" dirty="0">
                <a:solidFill>
                  <a:srgbClr val="2A1B4D"/>
                </a:solidFill>
              </a:rPr>
              <a:t>CHARACTER</a:t>
            </a:r>
            <a:r>
              <a:rPr lang="en-US" sz="1600" dirty="0">
                <a:solidFill>
                  <a:srgbClr val="2A1B4D"/>
                </a:solidFill>
              </a:rPr>
              <a:t>: behaves differently</a:t>
            </a:r>
            <a:endParaRPr lang="en-US" sz="1600" dirty="0"/>
          </a:p>
        </p:txBody>
      </p:sp>
      <p:sp>
        <p:nvSpPr>
          <p:cNvPr id="11" name="Shape 9"/>
          <p:cNvSpPr/>
          <p:nvPr/>
        </p:nvSpPr>
        <p:spPr>
          <a:xfrm>
            <a:off x="457200" y="2220163"/>
            <a:ext cx="8229600" cy="400507"/>
          </a:xfrm>
          <a:prstGeom prst="roundRect">
            <a:avLst>
              <a:gd name="adj" fmla="val 342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256739"/>
            <a:ext cx="327355" cy="327355"/>
          </a:xfrm>
          <a:prstGeom prst="ellipse">
            <a:avLst/>
          </a:prstGeom>
          <a:solidFill>
            <a:srgbClr val="1FB5A8"/>
          </a:solidFill>
          <a:ln/>
        </p:spPr>
      </p:sp>
      <p:sp>
        <p:nvSpPr>
          <p:cNvPr id="13" name="Text 11"/>
          <p:cNvSpPr txBox="1"/>
          <p:nvPr/>
        </p:nvSpPr>
        <p:spPr>
          <a:xfrm>
            <a:off x="640080" y="2256739"/>
            <a:ext cx="327355" cy="327355"/>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220163"/>
            <a:ext cx="7315200" cy="400507"/>
          </a:xfrm>
          <a:prstGeom prst="rect">
            <a:avLst/>
          </a:prstGeom>
          <a:noFill/>
          <a:ln/>
        </p:spPr>
        <p:txBody>
          <a:bodyPr wrap="square" lIns="0" tIns="0" rIns="0" bIns="0" rtlCol="0" anchor="ctr"/>
          <a:lstStyle/>
          <a:p>
            <a:pPr marL="0" indent="0">
              <a:buNone/>
            </a:pPr>
            <a:r>
              <a:rPr lang="en-US" sz="1600" b="1" dirty="0">
                <a:solidFill>
                  <a:srgbClr val="2A1B4D"/>
                </a:solidFill>
              </a:rPr>
              <a:t>CHOICE</a:t>
            </a:r>
            <a:r>
              <a:rPr lang="en-US" sz="1600" dirty="0">
                <a:solidFill>
                  <a:srgbClr val="2A1B4D"/>
                </a:solidFill>
              </a:rPr>
              <a:t>: makes a different decision</a:t>
            </a:r>
            <a:endParaRPr lang="en-US" sz="1600" dirty="0"/>
          </a:p>
        </p:txBody>
      </p:sp>
      <p:sp>
        <p:nvSpPr>
          <p:cNvPr id="15" name="Shape 13"/>
          <p:cNvSpPr/>
          <p:nvPr/>
        </p:nvSpPr>
        <p:spPr>
          <a:xfrm>
            <a:off x="457200" y="2748686"/>
            <a:ext cx="8229600" cy="400507"/>
          </a:xfrm>
          <a:prstGeom prst="roundRect">
            <a:avLst>
              <a:gd name="adj" fmla="val 342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2785262"/>
            <a:ext cx="327355" cy="327355"/>
          </a:xfrm>
          <a:prstGeom prst="ellipse">
            <a:avLst/>
          </a:prstGeom>
          <a:solidFill>
            <a:srgbClr val="E85D9E"/>
          </a:solidFill>
          <a:ln/>
        </p:spPr>
      </p:sp>
      <p:sp>
        <p:nvSpPr>
          <p:cNvPr id="17" name="Text 15"/>
          <p:cNvSpPr txBox="1"/>
          <p:nvPr/>
        </p:nvSpPr>
        <p:spPr>
          <a:xfrm>
            <a:off x="640080" y="2785262"/>
            <a:ext cx="327355" cy="327355"/>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2748686"/>
            <a:ext cx="7315200" cy="400507"/>
          </a:xfrm>
          <a:prstGeom prst="rect">
            <a:avLst/>
          </a:prstGeom>
          <a:noFill/>
          <a:ln/>
        </p:spPr>
        <p:txBody>
          <a:bodyPr wrap="square" lIns="0" tIns="0" rIns="0" bIns="0" rtlCol="0" anchor="ctr"/>
          <a:lstStyle/>
          <a:p>
            <a:pPr marL="0" indent="0">
              <a:buNone/>
            </a:pPr>
            <a:r>
              <a:rPr lang="en-US" sz="1600" b="1" dirty="0">
                <a:solidFill>
                  <a:srgbClr val="2A1B4D"/>
                </a:solidFill>
              </a:rPr>
              <a:t>PROBLEM</a:t>
            </a:r>
            <a:r>
              <a:rPr lang="en-US" sz="1600" dirty="0">
                <a:solidFill>
                  <a:srgbClr val="2A1B4D"/>
                </a:solidFill>
              </a:rPr>
              <a:t>: a new problem appears</a:t>
            </a:r>
            <a:endParaRPr lang="en-US" sz="1600" dirty="0"/>
          </a:p>
        </p:txBody>
      </p:sp>
      <p:sp>
        <p:nvSpPr>
          <p:cNvPr id="19" name="Shape 17"/>
          <p:cNvSpPr/>
          <p:nvPr/>
        </p:nvSpPr>
        <p:spPr>
          <a:xfrm>
            <a:off x="457200" y="3277210"/>
            <a:ext cx="8229600" cy="400507"/>
          </a:xfrm>
          <a:prstGeom prst="roundRect">
            <a:avLst>
              <a:gd name="adj" fmla="val 342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3313786"/>
            <a:ext cx="327355" cy="327355"/>
          </a:xfrm>
          <a:prstGeom prst="ellipse">
            <a:avLst/>
          </a:prstGeom>
          <a:solidFill>
            <a:srgbClr val="7B5CE0"/>
          </a:solidFill>
          <a:ln/>
        </p:spPr>
      </p:sp>
      <p:sp>
        <p:nvSpPr>
          <p:cNvPr id="21" name="Text 19"/>
          <p:cNvSpPr txBox="1"/>
          <p:nvPr/>
        </p:nvSpPr>
        <p:spPr>
          <a:xfrm>
            <a:off x="640080" y="3313786"/>
            <a:ext cx="327355" cy="327355"/>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277210"/>
            <a:ext cx="7315200" cy="400507"/>
          </a:xfrm>
          <a:prstGeom prst="rect">
            <a:avLst/>
          </a:prstGeom>
          <a:noFill/>
          <a:ln/>
        </p:spPr>
        <p:txBody>
          <a:bodyPr wrap="square" lIns="0" tIns="0" rIns="0" bIns="0" rtlCol="0" anchor="ctr"/>
          <a:lstStyle/>
          <a:p>
            <a:pPr marL="0" indent="0">
              <a:buNone/>
            </a:pPr>
            <a:r>
              <a:rPr lang="en-US" sz="1600" b="1" dirty="0">
                <a:solidFill>
                  <a:srgbClr val="2A1B4D"/>
                </a:solidFill>
              </a:rPr>
              <a:t>CONSEQUENCE</a:t>
            </a:r>
            <a:r>
              <a:rPr lang="en-US" sz="1600" dirty="0">
                <a:solidFill>
                  <a:srgbClr val="2A1B4D"/>
                </a:solidFill>
              </a:rPr>
              <a:t>: something unexpected happens</a:t>
            </a:r>
            <a:endParaRPr lang="en-US" sz="1600" dirty="0"/>
          </a:p>
        </p:txBody>
      </p:sp>
      <p:sp>
        <p:nvSpPr>
          <p:cNvPr id="23" name="Shape 21"/>
          <p:cNvSpPr/>
          <p:nvPr/>
        </p:nvSpPr>
        <p:spPr>
          <a:xfrm>
            <a:off x="457200" y="3805733"/>
            <a:ext cx="8229600" cy="400507"/>
          </a:xfrm>
          <a:prstGeom prst="roundRect">
            <a:avLst>
              <a:gd name="adj" fmla="val 342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4" name="Shape 22"/>
          <p:cNvSpPr/>
          <p:nvPr/>
        </p:nvSpPr>
        <p:spPr>
          <a:xfrm>
            <a:off x="640080" y="3842309"/>
            <a:ext cx="327355" cy="327355"/>
          </a:xfrm>
          <a:prstGeom prst="ellipse">
            <a:avLst/>
          </a:prstGeom>
          <a:solidFill>
            <a:srgbClr val="FF8A3D"/>
          </a:solidFill>
          <a:ln/>
        </p:spPr>
      </p:sp>
      <p:sp>
        <p:nvSpPr>
          <p:cNvPr id="25" name="Text 23"/>
          <p:cNvSpPr txBox="1"/>
          <p:nvPr/>
        </p:nvSpPr>
        <p:spPr>
          <a:xfrm>
            <a:off x="640080" y="3842309"/>
            <a:ext cx="327355" cy="327355"/>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6" name="Text 24"/>
          <p:cNvSpPr txBox="1"/>
          <p:nvPr/>
        </p:nvSpPr>
        <p:spPr>
          <a:xfrm>
            <a:off x="1280160" y="3805733"/>
            <a:ext cx="7315200" cy="400507"/>
          </a:xfrm>
          <a:prstGeom prst="rect">
            <a:avLst/>
          </a:prstGeom>
          <a:noFill/>
          <a:ln/>
        </p:spPr>
        <p:txBody>
          <a:bodyPr wrap="square" lIns="0" tIns="0" rIns="0" bIns="0" rtlCol="0" anchor="ctr"/>
          <a:lstStyle/>
          <a:p>
            <a:pPr marL="0" indent="0">
              <a:buNone/>
            </a:pPr>
            <a:r>
              <a:rPr lang="en-US" sz="1600" b="1" dirty="0">
                <a:solidFill>
                  <a:srgbClr val="2A1B4D"/>
                </a:solidFill>
              </a:rPr>
              <a:t>ENDING</a:t>
            </a:r>
            <a:r>
              <a:rPr lang="en-US" sz="1600" dirty="0">
                <a:solidFill>
                  <a:srgbClr val="2A1B4D"/>
                </a:solidFill>
              </a:rPr>
              <a:t>: the story ends differently</a:t>
            </a:r>
            <a:endParaRPr lang="en-US" sz="1600" dirty="0"/>
          </a:p>
        </p:txBody>
      </p:sp>
      <p:sp>
        <p:nvSpPr>
          <p:cNvPr id="27" name="Text 25"/>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Best advice: change one important element first, then follow the consequences.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2800" b="1" dirty="0">
                <a:solidFill>
                  <a:srgbClr val="2A1B4D"/>
                </a:solidFill>
                <a:latin typeface="Cambria" pitchFamily="34" charset="0"/>
                <a:ea typeface="Cambria" pitchFamily="34" charset="-122"/>
                <a:cs typeface="Cambria" pitchFamily="34" charset="-120"/>
              </a:rPr>
              <a:t>TEACHER MODEL: ORIGINAL</a:t>
            </a:r>
            <a:endParaRPr lang="en-US" sz="28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188720"/>
            <a:ext cx="8229600" cy="2514600"/>
          </a:xfrm>
          <a:prstGeom prst="roundRect">
            <a:avLst>
              <a:gd name="adj" fmla="val 5455"/>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685800" y="1280160"/>
            <a:ext cx="7772400" cy="2331720"/>
          </a:xfrm>
          <a:prstGeom prst="rect">
            <a:avLst/>
          </a:prstGeom>
          <a:noFill/>
          <a:ln/>
        </p:spPr>
        <p:txBody>
          <a:bodyPr wrap="square" lIns="0" tIns="0" rIns="0" bIns="0" rtlCol="0" anchor="ctr"/>
          <a:lstStyle/>
          <a:p>
            <a:pPr marL="0" indent="0">
              <a:spcAft>
                <a:spcPts val="500"/>
              </a:spcAft>
              <a:buNone/>
            </a:pPr>
            <a:r>
              <a:rPr lang="en-US" sz="1600" dirty="0">
                <a:solidFill>
                  <a:srgbClr val="2A1B4D"/>
                </a:solidFill>
              </a:rPr>
              <a:t>The Grasshopper spends the summer playing.</a:t>
            </a:r>
            <a:endParaRPr lang="en-US" sz="1600" dirty="0"/>
          </a:p>
          <a:p>
            <a:pPr marL="0" indent="0">
              <a:spcAft>
                <a:spcPts val="500"/>
              </a:spcAft>
              <a:buNone/>
            </a:pPr>
            <a:r>
              <a:rPr lang="en-US" sz="1600" dirty="0">
                <a:solidFill>
                  <a:srgbClr val="2A1B4D"/>
                </a:solidFill>
              </a:rPr>
              <a:t>Winter arrives.</a:t>
            </a:r>
            <a:endParaRPr lang="en-US" sz="1600" dirty="0"/>
          </a:p>
          <a:p>
            <a:pPr marL="0" indent="0">
              <a:spcAft>
                <a:spcPts val="500"/>
              </a:spcAft>
              <a:buNone/>
            </a:pPr>
            <a:r>
              <a:rPr lang="en-US" sz="1600" dirty="0">
                <a:solidFill>
                  <a:srgbClr val="2A1B4D"/>
                </a:solidFill>
              </a:rPr>
              <a:t>He has no food.</a:t>
            </a:r>
            <a:endParaRPr lang="en-US" sz="1600" dirty="0"/>
          </a:p>
          <a:p>
            <a:pPr marL="0" indent="0">
              <a:spcAft>
                <a:spcPts val="500"/>
              </a:spcAft>
              <a:buNone/>
            </a:pPr>
            <a:r>
              <a:rPr lang="en-US" sz="1600" dirty="0">
                <a:solidFill>
                  <a:srgbClr val="2A1B4D"/>
                </a:solidFill>
              </a:rPr>
              <a:t>He asks the Ant for help.</a:t>
            </a:r>
            <a:endParaRPr lang="en-US" sz="1600" dirty="0"/>
          </a:p>
        </p:txBody>
      </p:sp>
      <p:sp>
        <p:nvSpPr>
          <p:cNvPr id="8" name="Text 6"/>
          <p:cNvSpPr txBox="1"/>
          <p:nvPr/>
        </p:nvSpPr>
        <p:spPr>
          <a:xfrm>
            <a:off x="457200" y="3840480"/>
            <a:ext cx="8229600" cy="777240"/>
          </a:xfrm>
          <a:prstGeom prst="roundRect">
            <a:avLst>
              <a:gd name="adj" fmla="val 14118"/>
            </a:avLst>
          </a:prstGeom>
          <a:solidFill>
            <a:srgbClr val="1FB5A8"/>
          </a:solidFill>
          <a:ln/>
        </p:spPr>
        <p:txBody>
          <a:bodyPr wrap="square" lIns="127000" tIns="127000" rIns="127000" bIns="12700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LESSON: Prepare for the future.</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MODEL THE TWIST</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b="1" i="1" dirty="0">
                <a:solidFill>
                  <a:srgbClr val="5A4A85"/>
                </a:solidFill>
                <a:latin typeface="Calibri" pitchFamily="34" charset="0"/>
                <a:ea typeface="Calibri" pitchFamily="34" charset="-122"/>
                <a:cs typeface="Calibri" pitchFamily="34" charset="-120"/>
              </a:rPr>
              <a:t>What if… the Grasshopper realised his mistake before winter arrived?</a:t>
            </a:r>
            <a:endParaRPr lang="en-US" sz="1700" b="1" dirty="0"/>
          </a:p>
        </p:txBody>
      </p:sp>
      <p:sp>
        <p:nvSpPr>
          <p:cNvPr id="7" name="Shape 5"/>
          <p:cNvSpPr/>
          <p:nvPr/>
        </p:nvSpPr>
        <p:spPr>
          <a:xfrm>
            <a:off x="457200" y="1691640"/>
            <a:ext cx="8229600" cy="777240"/>
          </a:xfrm>
          <a:prstGeom prst="roundRect">
            <a:avLst>
              <a:gd name="adj" fmla="val 176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879092"/>
            <a:ext cx="402336" cy="402336"/>
          </a:xfrm>
          <a:prstGeom prst="ellipse">
            <a:avLst/>
          </a:prstGeom>
          <a:solidFill>
            <a:srgbClr val="FF8A3D"/>
          </a:solidFill>
          <a:ln/>
        </p:spPr>
      </p:sp>
      <p:sp>
        <p:nvSpPr>
          <p:cNvPr id="9" name="Text 7"/>
          <p:cNvSpPr txBox="1"/>
          <p:nvPr/>
        </p:nvSpPr>
        <p:spPr>
          <a:xfrm>
            <a:off x="640080" y="187909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777240"/>
          </a:xfrm>
          <a:prstGeom prst="rect">
            <a:avLst/>
          </a:prstGeom>
          <a:noFill/>
          <a:ln/>
        </p:spPr>
        <p:txBody>
          <a:bodyPr wrap="square" lIns="0" tIns="0" rIns="0" bIns="0" rtlCol="0" anchor="ctr"/>
          <a:lstStyle/>
          <a:p>
            <a:pPr marL="0" indent="0">
              <a:buNone/>
            </a:pPr>
            <a:r>
              <a:rPr lang="en-US" sz="1600" dirty="0">
                <a:solidFill>
                  <a:srgbClr val="2A1B4D"/>
                </a:solidFill>
              </a:rPr>
              <a:t>What would he DO?  →  He starts collecting food.</a:t>
            </a:r>
            <a:endParaRPr lang="en-US" sz="1600" dirty="0"/>
          </a:p>
        </p:txBody>
      </p:sp>
      <p:sp>
        <p:nvSpPr>
          <p:cNvPr id="11" name="Shape 9"/>
          <p:cNvSpPr/>
          <p:nvPr/>
        </p:nvSpPr>
        <p:spPr>
          <a:xfrm>
            <a:off x="457200" y="2596896"/>
            <a:ext cx="8229600" cy="777240"/>
          </a:xfrm>
          <a:prstGeom prst="roundRect">
            <a:avLst>
              <a:gd name="adj" fmla="val 176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784348"/>
            <a:ext cx="402336" cy="402336"/>
          </a:xfrm>
          <a:prstGeom prst="ellipse">
            <a:avLst/>
          </a:prstGeom>
          <a:solidFill>
            <a:srgbClr val="1FB5A8"/>
          </a:solidFill>
          <a:ln/>
        </p:spPr>
      </p:sp>
      <p:sp>
        <p:nvSpPr>
          <p:cNvPr id="13" name="Text 11"/>
          <p:cNvSpPr txBox="1"/>
          <p:nvPr/>
        </p:nvSpPr>
        <p:spPr>
          <a:xfrm>
            <a:off x="640080" y="27843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596896"/>
            <a:ext cx="7315200" cy="777240"/>
          </a:xfrm>
          <a:prstGeom prst="rect">
            <a:avLst/>
          </a:prstGeom>
          <a:noFill/>
          <a:ln/>
        </p:spPr>
        <p:txBody>
          <a:bodyPr wrap="square" lIns="0" tIns="0" rIns="0" bIns="0" rtlCol="0" anchor="ctr"/>
          <a:lstStyle/>
          <a:p>
            <a:pPr marL="0" indent="0">
              <a:buNone/>
            </a:pPr>
            <a:r>
              <a:rPr lang="en-US" sz="1600" dirty="0">
                <a:solidFill>
                  <a:srgbClr val="2A1B4D"/>
                </a:solidFill>
              </a:rPr>
              <a:t>What happens NEXT?  →  He has food for winter.</a:t>
            </a:r>
            <a:endParaRPr lang="en-US" sz="1600" dirty="0"/>
          </a:p>
        </p:txBody>
      </p:sp>
      <p:sp>
        <p:nvSpPr>
          <p:cNvPr id="15" name="Shape 13"/>
          <p:cNvSpPr/>
          <p:nvPr/>
        </p:nvSpPr>
        <p:spPr>
          <a:xfrm>
            <a:off x="457200" y="3502152"/>
            <a:ext cx="8229600" cy="777240"/>
          </a:xfrm>
          <a:prstGeom prst="roundRect">
            <a:avLst>
              <a:gd name="adj" fmla="val 176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3689604"/>
            <a:ext cx="402336" cy="402336"/>
          </a:xfrm>
          <a:prstGeom prst="ellipse">
            <a:avLst/>
          </a:prstGeom>
          <a:solidFill>
            <a:srgbClr val="E85D9E"/>
          </a:solidFill>
          <a:ln/>
        </p:spPr>
      </p:sp>
      <p:sp>
        <p:nvSpPr>
          <p:cNvPr id="17" name="Text 15"/>
          <p:cNvSpPr txBox="1"/>
          <p:nvPr/>
        </p:nvSpPr>
        <p:spPr>
          <a:xfrm>
            <a:off x="640080" y="368960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3502152"/>
            <a:ext cx="7315200" cy="777240"/>
          </a:xfrm>
          <a:prstGeom prst="rect">
            <a:avLst/>
          </a:prstGeom>
          <a:noFill/>
          <a:ln/>
        </p:spPr>
        <p:txBody>
          <a:bodyPr wrap="square" lIns="0" tIns="0" rIns="0" bIns="0" rtlCol="0" anchor="ctr"/>
          <a:lstStyle/>
          <a:p>
            <a:pPr marL="0" indent="0">
              <a:buNone/>
            </a:pPr>
            <a:r>
              <a:rPr lang="en-US" sz="1600" dirty="0">
                <a:solidFill>
                  <a:srgbClr val="2A1B4D"/>
                </a:solidFill>
              </a:rPr>
              <a:t>What changes?  →  The ending becomes different.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THE TWISTED VERSION</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188720"/>
            <a:ext cx="8229600" cy="2514600"/>
          </a:xfrm>
          <a:prstGeom prst="roundRect">
            <a:avLst>
              <a:gd name="adj" fmla="val 5455"/>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05838" y="1280160"/>
            <a:ext cx="7952362" cy="2331720"/>
          </a:xfrm>
          <a:prstGeom prst="rect">
            <a:avLst/>
          </a:prstGeom>
          <a:noFill/>
          <a:ln/>
        </p:spPr>
        <p:txBody>
          <a:bodyPr wrap="square" lIns="0" tIns="0" rIns="0" bIns="0" rtlCol="0" anchor="ctr"/>
          <a:lstStyle/>
          <a:p>
            <a:pPr marL="0" indent="0">
              <a:spcAft>
                <a:spcPts val="500"/>
              </a:spcAft>
              <a:buNone/>
            </a:pPr>
            <a:r>
              <a:rPr lang="en-US" sz="1600" dirty="0">
                <a:solidFill>
                  <a:srgbClr val="2A1B4D"/>
                </a:solidFill>
              </a:rPr>
              <a:t>The Grasshopper heard the Ant carrying food.</a:t>
            </a:r>
            <a:endParaRPr lang="en-US" sz="1600" dirty="0"/>
          </a:p>
          <a:p>
            <a:pPr marL="0" indent="0">
              <a:spcAft>
                <a:spcPts val="500"/>
              </a:spcAft>
              <a:buNone/>
            </a:pPr>
            <a:r>
              <a:rPr lang="en-US" sz="1600" dirty="0">
                <a:solidFill>
                  <a:srgbClr val="2A1B4D"/>
                </a:solidFill>
              </a:rPr>
              <a:t>For the first time, he realised that winter was coming.</a:t>
            </a:r>
            <a:endParaRPr lang="en-US" sz="1600" dirty="0"/>
          </a:p>
          <a:p>
            <a:pPr marL="0" indent="0">
              <a:spcAft>
                <a:spcPts val="500"/>
              </a:spcAft>
              <a:buNone/>
            </a:pPr>
            <a:r>
              <a:rPr lang="en-US" sz="1600" dirty="0">
                <a:solidFill>
                  <a:srgbClr val="2A1B4D"/>
                </a:solidFill>
              </a:rPr>
              <a:t>"I've wasted too much time," he said.</a:t>
            </a:r>
            <a:endParaRPr lang="en-US" sz="1600" dirty="0"/>
          </a:p>
          <a:p>
            <a:pPr marL="0" indent="0">
              <a:spcAft>
                <a:spcPts val="500"/>
              </a:spcAft>
              <a:buNone/>
            </a:pPr>
            <a:r>
              <a:rPr lang="en-US" sz="1600" dirty="0">
                <a:solidFill>
                  <a:srgbClr val="2A1B4D"/>
                </a:solidFill>
              </a:rPr>
              <a:t>He stopped playing and began collecting food.</a:t>
            </a:r>
            <a:endParaRPr lang="en-US" sz="1600" dirty="0"/>
          </a:p>
          <a:p>
            <a:pPr marL="0" indent="0">
              <a:spcAft>
                <a:spcPts val="500"/>
              </a:spcAft>
              <a:buNone/>
            </a:pPr>
            <a:r>
              <a:rPr lang="en-US" sz="1600" dirty="0">
                <a:solidFill>
                  <a:srgbClr val="2A1B4D"/>
                </a:solidFill>
              </a:rPr>
              <a:t>Every day, he worked a little harder.</a:t>
            </a:r>
            <a:endParaRPr lang="en-US" sz="1600" dirty="0"/>
          </a:p>
          <a:p>
            <a:pPr marL="0" indent="0">
              <a:spcAft>
                <a:spcPts val="500"/>
              </a:spcAft>
              <a:buNone/>
            </a:pPr>
            <a:r>
              <a:rPr lang="en-US" sz="1600" dirty="0">
                <a:solidFill>
                  <a:srgbClr val="2A1B4D"/>
                </a:solidFill>
              </a:rPr>
              <a:t>When winter arrived, the Grasshopper had enough food to survive.</a:t>
            </a:r>
            <a:endParaRPr lang="en-US" sz="1600" dirty="0"/>
          </a:p>
        </p:txBody>
      </p:sp>
      <p:sp>
        <p:nvSpPr>
          <p:cNvPr id="8" name="Text 6"/>
          <p:cNvSpPr txBox="1"/>
          <p:nvPr/>
        </p:nvSpPr>
        <p:spPr>
          <a:xfrm>
            <a:off x="457200" y="3840480"/>
            <a:ext cx="8229600" cy="777240"/>
          </a:xfrm>
          <a:prstGeom prst="roundRect">
            <a:avLst>
              <a:gd name="adj" fmla="val 14118"/>
            </a:avLst>
          </a:prstGeom>
          <a:solidFill>
            <a:srgbClr val="1FB5A8"/>
          </a:solidFill>
          <a:ln/>
        </p:spPr>
        <p:txBody>
          <a:bodyPr wrap="square" lIns="127000" tIns="127000" rIns="127000" bIns="12700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NEW LESSON: Recognise your mistake and change your behaviour in time.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SECOND MODEL: RED EYES</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188720"/>
            <a:ext cx="8229600" cy="2514600"/>
          </a:xfrm>
          <a:prstGeom prst="roundRect">
            <a:avLst>
              <a:gd name="adj" fmla="val 5455"/>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43128" y="1280160"/>
            <a:ext cx="7772400" cy="2331720"/>
          </a:xfrm>
          <a:prstGeom prst="rect">
            <a:avLst/>
          </a:prstGeom>
          <a:noFill/>
          <a:ln/>
        </p:spPr>
        <p:txBody>
          <a:bodyPr wrap="square" lIns="0" tIns="0" rIns="0" bIns="0" rtlCol="0" anchor="ctr"/>
          <a:lstStyle/>
          <a:p>
            <a:pPr marL="0" indent="0">
              <a:spcAft>
                <a:spcPts val="500"/>
              </a:spcAft>
              <a:buNone/>
            </a:pPr>
            <a:r>
              <a:rPr lang="en-US" sz="1600" b="1" dirty="0">
                <a:solidFill>
                  <a:srgbClr val="2A1B4D"/>
                </a:solidFill>
              </a:rPr>
              <a:t>ORIGINAL</a:t>
            </a:r>
            <a:r>
              <a:rPr lang="en-US" sz="1600" dirty="0">
                <a:solidFill>
                  <a:srgbClr val="2A1B4D"/>
                </a:solidFill>
              </a:rPr>
              <a:t>: Cuka is sent away for his red eyes, but later saves the village from a dragon.</a:t>
            </a:r>
            <a:endParaRPr lang="en-US" sz="1600" dirty="0"/>
          </a:p>
          <a:p>
            <a:pPr marL="0" indent="0">
              <a:spcAft>
                <a:spcPts val="500"/>
              </a:spcAft>
              <a:buNone/>
            </a:pPr>
            <a:r>
              <a:rPr lang="en-US" sz="1600" b="1" dirty="0">
                <a:solidFill>
                  <a:srgbClr val="2A1B4D"/>
                </a:solidFill>
              </a:rPr>
              <a:t>TWIST</a:t>
            </a:r>
            <a:r>
              <a:rPr lang="en-US" sz="1600" dirty="0">
                <a:solidFill>
                  <a:srgbClr val="2A1B4D"/>
                </a:solidFill>
              </a:rPr>
              <a:t>: What if Cuka stayed on the cliff and did not help?</a:t>
            </a:r>
            <a:endParaRPr lang="en-US" sz="1600" dirty="0"/>
          </a:p>
          <a:p>
            <a:pPr marL="0" indent="0">
              <a:spcAft>
                <a:spcPts val="500"/>
              </a:spcAft>
              <a:buNone/>
            </a:pPr>
            <a:r>
              <a:rPr lang="en-US" sz="1600" dirty="0">
                <a:solidFill>
                  <a:srgbClr val="2A1B4D"/>
                </a:solidFill>
              </a:rPr>
              <a:t>Because he did nothing, the dragon burned the crops and stole the animals.</a:t>
            </a:r>
            <a:endParaRPr lang="en-US" sz="1600" dirty="0"/>
          </a:p>
          <a:p>
            <a:pPr marL="0" indent="0">
              <a:spcAft>
                <a:spcPts val="500"/>
              </a:spcAft>
              <a:buNone/>
            </a:pPr>
            <a:r>
              <a:rPr lang="en-US" sz="1600" dirty="0">
                <a:solidFill>
                  <a:srgbClr val="2A1B4D"/>
                </a:solidFill>
              </a:rPr>
              <a:t>The lions realised too late how much they needed him.</a:t>
            </a:r>
            <a:endParaRPr lang="en-US" sz="1600" dirty="0"/>
          </a:p>
        </p:txBody>
      </p:sp>
      <p:sp>
        <p:nvSpPr>
          <p:cNvPr id="8" name="Text 6"/>
          <p:cNvSpPr txBox="1"/>
          <p:nvPr/>
        </p:nvSpPr>
        <p:spPr>
          <a:xfrm>
            <a:off x="457200" y="3840480"/>
            <a:ext cx="8229600" cy="777240"/>
          </a:xfrm>
          <a:prstGeom prst="roundRect">
            <a:avLst>
              <a:gd name="adj" fmla="val 14118"/>
            </a:avLst>
          </a:prstGeom>
          <a:solidFill>
            <a:srgbClr val="1FB5A8"/>
          </a:solidFill>
          <a:ln/>
        </p:spPr>
        <p:txBody>
          <a:bodyPr wrap="square" lIns="127000" tIns="127000" rIns="127000" bIns="127000" rtlCol="0" anchor="ctr"/>
          <a:lstStyle/>
          <a:p>
            <a:pPr marL="0" indent="0" algn="l">
              <a:buNone/>
            </a:pPr>
            <a:r>
              <a:rPr lang="en-US" sz="2400" b="1" dirty="0">
                <a:highlight>
                  <a:srgbClr val="FFFF00"/>
                </a:highlight>
                <a:latin typeface="Calibri" pitchFamily="34" charset="0"/>
                <a:ea typeface="Calibri" pitchFamily="34" charset="-122"/>
                <a:cs typeface="Calibri" pitchFamily="34" charset="-120"/>
              </a:rPr>
              <a:t>NEW LESSON</a:t>
            </a:r>
            <a:r>
              <a:rPr lang="en-US" sz="2400" b="1" dirty="0">
                <a:solidFill>
                  <a:srgbClr val="FFFFFF"/>
                </a:solidFill>
                <a:latin typeface="Calibri" pitchFamily="34" charset="0"/>
                <a:ea typeface="Calibri" pitchFamily="34" charset="-122"/>
                <a:cs typeface="Calibri" pitchFamily="34" charset="-120"/>
              </a:rPr>
              <a:t>: Unkindness can come back to hurt everyone.</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TWIST MENU</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2000" i="1" dirty="0">
                <a:solidFill>
                  <a:srgbClr val="5A4A85"/>
                </a:solidFill>
                <a:latin typeface="Calibri" pitchFamily="34" charset="0"/>
                <a:ea typeface="Calibri" pitchFamily="34" charset="-122"/>
                <a:cs typeface="Calibri" pitchFamily="34" charset="-120"/>
              </a:rPr>
              <a:t>Five ways to twist a fable:</a:t>
            </a:r>
            <a:endParaRPr lang="en-US" sz="2000" dirty="0"/>
          </a:p>
        </p:txBody>
      </p:sp>
      <p:sp>
        <p:nvSpPr>
          <p:cNvPr id="7" name="Shape 5"/>
          <p:cNvSpPr/>
          <p:nvPr/>
        </p:nvSpPr>
        <p:spPr>
          <a:xfrm>
            <a:off x="457200" y="1691640"/>
            <a:ext cx="8229600" cy="400507"/>
          </a:xfrm>
          <a:prstGeom prst="roundRect">
            <a:avLst>
              <a:gd name="adj" fmla="val 342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728216"/>
            <a:ext cx="327355" cy="327355"/>
          </a:xfrm>
          <a:prstGeom prst="ellipse">
            <a:avLst/>
          </a:prstGeom>
          <a:solidFill>
            <a:srgbClr val="FF8A3D"/>
          </a:solidFill>
          <a:ln/>
        </p:spPr>
      </p:sp>
      <p:sp>
        <p:nvSpPr>
          <p:cNvPr id="9" name="Text 7"/>
          <p:cNvSpPr txBox="1"/>
          <p:nvPr/>
        </p:nvSpPr>
        <p:spPr>
          <a:xfrm>
            <a:off x="640080" y="1728216"/>
            <a:ext cx="327355" cy="327355"/>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400507"/>
          </a:xfrm>
          <a:prstGeom prst="rect">
            <a:avLst/>
          </a:prstGeom>
          <a:noFill/>
          <a:ln/>
        </p:spPr>
        <p:txBody>
          <a:bodyPr wrap="square" lIns="0" tIns="0" rIns="0" bIns="0" rtlCol="0" anchor="ctr"/>
          <a:lstStyle/>
          <a:p>
            <a:pPr marL="0" indent="0">
              <a:buNone/>
            </a:pPr>
            <a:r>
              <a:rPr lang="en-US" sz="1600" dirty="0">
                <a:solidFill>
                  <a:srgbClr val="2A1B4D"/>
                </a:solidFill>
              </a:rPr>
              <a:t>SWAP the roles: the weak character becomes strong.</a:t>
            </a:r>
            <a:endParaRPr lang="en-US" sz="1600" dirty="0"/>
          </a:p>
        </p:txBody>
      </p:sp>
      <p:sp>
        <p:nvSpPr>
          <p:cNvPr id="11" name="Shape 9"/>
          <p:cNvSpPr/>
          <p:nvPr/>
        </p:nvSpPr>
        <p:spPr>
          <a:xfrm>
            <a:off x="457200" y="2220163"/>
            <a:ext cx="8229600" cy="400507"/>
          </a:xfrm>
          <a:prstGeom prst="roundRect">
            <a:avLst>
              <a:gd name="adj" fmla="val 342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256739"/>
            <a:ext cx="327355" cy="327355"/>
          </a:xfrm>
          <a:prstGeom prst="ellipse">
            <a:avLst/>
          </a:prstGeom>
          <a:solidFill>
            <a:srgbClr val="1FB5A8"/>
          </a:solidFill>
          <a:ln/>
        </p:spPr>
      </p:sp>
      <p:sp>
        <p:nvSpPr>
          <p:cNvPr id="13" name="Text 11"/>
          <p:cNvSpPr txBox="1"/>
          <p:nvPr/>
        </p:nvSpPr>
        <p:spPr>
          <a:xfrm>
            <a:off x="640080" y="2256739"/>
            <a:ext cx="327355" cy="327355"/>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220163"/>
            <a:ext cx="7315200" cy="400507"/>
          </a:xfrm>
          <a:prstGeom prst="rect">
            <a:avLst/>
          </a:prstGeom>
          <a:noFill/>
          <a:ln/>
        </p:spPr>
        <p:txBody>
          <a:bodyPr wrap="square" lIns="0" tIns="0" rIns="0" bIns="0" rtlCol="0" anchor="ctr"/>
          <a:lstStyle/>
          <a:p>
            <a:pPr marL="0" indent="0">
              <a:buNone/>
            </a:pPr>
            <a:r>
              <a:rPr lang="en-US" sz="1600" dirty="0">
                <a:solidFill>
                  <a:srgbClr val="2A1B4D"/>
                </a:solidFill>
              </a:rPr>
              <a:t>CHANGE the choice: the character acts differently.</a:t>
            </a:r>
            <a:endParaRPr lang="en-US" sz="1600" dirty="0"/>
          </a:p>
        </p:txBody>
      </p:sp>
      <p:sp>
        <p:nvSpPr>
          <p:cNvPr id="15" name="Shape 13"/>
          <p:cNvSpPr/>
          <p:nvPr/>
        </p:nvSpPr>
        <p:spPr>
          <a:xfrm>
            <a:off x="457200" y="2748686"/>
            <a:ext cx="8229600" cy="400507"/>
          </a:xfrm>
          <a:prstGeom prst="roundRect">
            <a:avLst>
              <a:gd name="adj" fmla="val 342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2785262"/>
            <a:ext cx="327355" cy="327355"/>
          </a:xfrm>
          <a:prstGeom prst="ellipse">
            <a:avLst/>
          </a:prstGeom>
          <a:solidFill>
            <a:srgbClr val="E85D9E"/>
          </a:solidFill>
          <a:ln/>
        </p:spPr>
      </p:sp>
      <p:sp>
        <p:nvSpPr>
          <p:cNvPr id="17" name="Text 15"/>
          <p:cNvSpPr txBox="1"/>
          <p:nvPr/>
        </p:nvSpPr>
        <p:spPr>
          <a:xfrm>
            <a:off x="640080" y="2785262"/>
            <a:ext cx="327355" cy="327355"/>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2748686"/>
            <a:ext cx="7315200" cy="400507"/>
          </a:xfrm>
          <a:prstGeom prst="rect">
            <a:avLst/>
          </a:prstGeom>
          <a:noFill/>
          <a:ln/>
        </p:spPr>
        <p:txBody>
          <a:bodyPr wrap="square" lIns="0" tIns="0" rIns="0" bIns="0" rtlCol="0" anchor="ctr"/>
          <a:lstStyle/>
          <a:p>
            <a:pPr marL="0" indent="0">
              <a:buNone/>
            </a:pPr>
            <a:r>
              <a:rPr lang="en-US" sz="1600" dirty="0">
                <a:solidFill>
                  <a:srgbClr val="2A1B4D"/>
                </a:solidFill>
              </a:rPr>
              <a:t>ADD a new character who changes the problem.</a:t>
            </a:r>
            <a:endParaRPr lang="en-US" sz="1600" dirty="0"/>
          </a:p>
        </p:txBody>
      </p:sp>
      <p:sp>
        <p:nvSpPr>
          <p:cNvPr id="19" name="Shape 17"/>
          <p:cNvSpPr/>
          <p:nvPr/>
        </p:nvSpPr>
        <p:spPr>
          <a:xfrm>
            <a:off x="457200" y="3277210"/>
            <a:ext cx="8229600" cy="400507"/>
          </a:xfrm>
          <a:prstGeom prst="roundRect">
            <a:avLst>
              <a:gd name="adj" fmla="val 342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3313786"/>
            <a:ext cx="327355" cy="327355"/>
          </a:xfrm>
          <a:prstGeom prst="ellipse">
            <a:avLst/>
          </a:prstGeom>
          <a:solidFill>
            <a:srgbClr val="7B5CE0"/>
          </a:solidFill>
          <a:ln/>
        </p:spPr>
      </p:sp>
      <p:sp>
        <p:nvSpPr>
          <p:cNvPr id="21" name="Text 19"/>
          <p:cNvSpPr txBox="1"/>
          <p:nvPr/>
        </p:nvSpPr>
        <p:spPr>
          <a:xfrm>
            <a:off x="640080" y="3313786"/>
            <a:ext cx="327355" cy="327355"/>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277210"/>
            <a:ext cx="7315200" cy="400507"/>
          </a:xfrm>
          <a:prstGeom prst="rect">
            <a:avLst/>
          </a:prstGeom>
          <a:noFill/>
          <a:ln/>
        </p:spPr>
        <p:txBody>
          <a:bodyPr wrap="square" lIns="0" tIns="0" rIns="0" bIns="0" rtlCol="0" anchor="ctr"/>
          <a:lstStyle/>
          <a:p>
            <a:pPr marL="0" indent="0">
              <a:buNone/>
            </a:pPr>
            <a:r>
              <a:rPr lang="en-US" sz="1600" dirty="0">
                <a:solidFill>
                  <a:srgbClr val="2A1B4D"/>
                </a:solidFill>
              </a:rPr>
              <a:t>CHANGE the setting: a new place, a new problem.</a:t>
            </a:r>
            <a:endParaRPr lang="en-US" sz="1600" dirty="0"/>
          </a:p>
        </p:txBody>
      </p:sp>
      <p:sp>
        <p:nvSpPr>
          <p:cNvPr id="23" name="Shape 21"/>
          <p:cNvSpPr/>
          <p:nvPr/>
        </p:nvSpPr>
        <p:spPr>
          <a:xfrm>
            <a:off x="457200" y="3805733"/>
            <a:ext cx="8229600" cy="400507"/>
          </a:xfrm>
          <a:prstGeom prst="roundRect">
            <a:avLst>
              <a:gd name="adj" fmla="val 34247"/>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4" name="Shape 22"/>
          <p:cNvSpPr/>
          <p:nvPr/>
        </p:nvSpPr>
        <p:spPr>
          <a:xfrm>
            <a:off x="640080" y="3842309"/>
            <a:ext cx="327355" cy="327355"/>
          </a:xfrm>
          <a:prstGeom prst="ellipse">
            <a:avLst/>
          </a:prstGeom>
          <a:solidFill>
            <a:srgbClr val="FF8A3D"/>
          </a:solidFill>
          <a:ln/>
        </p:spPr>
      </p:sp>
      <p:sp>
        <p:nvSpPr>
          <p:cNvPr id="25" name="Text 23"/>
          <p:cNvSpPr txBox="1"/>
          <p:nvPr/>
        </p:nvSpPr>
        <p:spPr>
          <a:xfrm>
            <a:off x="640080" y="3842309"/>
            <a:ext cx="327355" cy="327355"/>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6" name="Text 24"/>
          <p:cNvSpPr txBox="1"/>
          <p:nvPr/>
        </p:nvSpPr>
        <p:spPr>
          <a:xfrm>
            <a:off x="1280160" y="3805733"/>
            <a:ext cx="7315200" cy="400507"/>
          </a:xfrm>
          <a:prstGeom prst="rect">
            <a:avLst/>
          </a:prstGeom>
          <a:noFill/>
          <a:ln/>
        </p:spPr>
        <p:txBody>
          <a:bodyPr wrap="square" lIns="0" tIns="0" rIns="0" bIns="0" rtlCol="0" anchor="ctr"/>
          <a:lstStyle/>
          <a:p>
            <a:pPr marL="0" indent="0">
              <a:buNone/>
            </a:pPr>
            <a:r>
              <a:rPr lang="en-US" sz="1600" dirty="0">
                <a:solidFill>
                  <a:srgbClr val="2A1B4D"/>
                </a:solidFill>
              </a:rPr>
              <a:t>FLIP the ending: success becomes failure, or the reverse.</a:t>
            </a:r>
            <a:endParaRPr lang="en-US" sz="1600" dirty="0"/>
          </a:p>
        </p:txBody>
      </p:sp>
      <p:sp>
        <p:nvSpPr>
          <p:cNvPr id="27" name="Text 25"/>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Then follow the consequences!</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THE WRITER'S MOVES</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i="1" dirty="0">
                <a:solidFill>
                  <a:srgbClr val="5A4A85"/>
                </a:solidFill>
                <a:latin typeface="Calibri" pitchFamily="34" charset="0"/>
                <a:ea typeface="Calibri" pitchFamily="34" charset="-122"/>
                <a:cs typeface="Calibri" pitchFamily="34" charset="-120"/>
              </a:rPr>
              <a:t>How did the writer create the twist?</a:t>
            </a:r>
            <a:endParaRPr lang="en-US" sz="1700" dirty="0"/>
          </a:p>
        </p:txBody>
      </p:sp>
      <p:sp>
        <p:nvSpPr>
          <p:cNvPr id="7" name="Shape 5"/>
          <p:cNvSpPr/>
          <p:nvPr/>
        </p:nvSpPr>
        <p:spPr>
          <a:xfrm>
            <a:off x="457200" y="1691640"/>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731874"/>
            <a:ext cx="402336" cy="402336"/>
          </a:xfrm>
          <a:prstGeom prst="ellipse">
            <a:avLst/>
          </a:prstGeom>
          <a:solidFill>
            <a:srgbClr val="FF8A3D"/>
          </a:solidFill>
          <a:ln/>
        </p:spPr>
      </p:sp>
      <p:sp>
        <p:nvSpPr>
          <p:cNvPr id="9" name="Text 7"/>
          <p:cNvSpPr txBox="1"/>
          <p:nvPr/>
        </p:nvSpPr>
        <p:spPr>
          <a:xfrm>
            <a:off x="640080" y="173187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482803"/>
          </a:xfrm>
          <a:prstGeom prst="rect">
            <a:avLst/>
          </a:prstGeom>
          <a:noFill/>
          <a:ln/>
        </p:spPr>
        <p:txBody>
          <a:bodyPr wrap="square" lIns="0" tIns="0" rIns="0" bIns="0" rtlCol="0" anchor="ctr"/>
          <a:lstStyle/>
          <a:p>
            <a:pPr marL="0" indent="0">
              <a:buNone/>
            </a:pPr>
            <a:r>
              <a:rPr lang="en-US" sz="1600" dirty="0">
                <a:solidFill>
                  <a:srgbClr val="2A1B4D"/>
                </a:solidFill>
              </a:rPr>
              <a:t>Changed the character's behaviour.</a:t>
            </a:r>
            <a:endParaRPr lang="en-US" sz="1600" dirty="0"/>
          </a:p>
        </p:txBody>
      </p:sp>
      <p:sp>
        <p:nvSpPr>
          <p:cNvPr id="11" name="Shape 9"/>
          <p:cNvSpPr/>
          <p:nvPr/>
        </p:nvSpPr>
        <p:spPr>
          <a:xfrm>
            <a:off x="457200" y="2302459"/>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342693"/>
            <a:ext cx="402336" cy="402336"/>
          </a:xfrm>
          <a:prstGeom prst="ellipse">
            <a:avLst/>
          </a:prstGeom>
          <a:solidFill>
            <a:srgbClr val="1FB5A8"/>
          </a:solidFill>
          <a:ln/>
        </p:spPr>
      </p:sp>
      <p:sp>
        <p:nvSpPr>
          <p:cNvPr id="13" name="Text 11"/>
          <p:cNvSpPr txBox="1"/>
          <p:nvPr/>
        </p:nvSpPr>
        <p:spPr>
          <a:xfrm>
            <a:off x="640080" y="2342693"/>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302459"/>
            <a:ext cx="7315200" cy="482803"/>
          </a:xfrm>
          <a:prstGeom prst="rect">
            <a:avLst/>
          </a:prstGeom>
          <a:noFill/>
          <a:ln/>
        </p:spPr>
        <p:txBody>
          <a:bodyPr wrap="square" lIns="0" tIns="0" rIns="0" bIns="0" rtlCol="0" anchor="ctr"/>
          <a:lstStyle/>
          <a:p>
            <a:pPr marL="0" indent="0">
              <a:buNone/>
            </a:pPr>
            <a:r>
              <a:rPr lang="en-US" sz="1600" dirty="0">
                <a:solidFill>
                  <a:srgbClr val="2A1B4D"/>
                </a:solidFill>
              </a:rPr>
              <a:t>Added a new decision.</a:t>
            </a:r>
            <a:endParaRPr lang="en-US" sz="1600" dirty="0"/>
          </a:p>
        </p:txBody>
      </p:sp>
      <p:sp>
        <p:nvSpPr>
          <p:cNvPr id="15" name="Shape 13"/>
          <p:cNvSpPr/>
          <p:nvPr/>
        </p:nvSpPr>
        <p:spPr>
          <a:xfrm>
            <a:off x="457200" y="2913278"/>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2953512"/>
            <a:ext cx="402336" cy="402336"/>
          </a:xfrm>
          <a:prstGeom prst="ellipse">
            <a:avLst/>
          </a:prstGeom>
          <a:solidFill>
            <a:srgbClr val="E85D9E"/>
          </a:solidFill>
          <a:ln/>
        </p:spPr>
      </p:sp>
      <p:sp>
        <p:nvSpPr>
          <p:cNvPr id="17" name="Text 15"/>
          <p:cNvSpPr txBox="1"/>
          <p:nvPr/>
        </p:nvSpPr>
        <p:spPr>
          <a:xfrm>
            <a:off x="640080" y="29535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2913278"/>
            <a:ext cx="7315200" cy="482803"/>
          </a:xfrm>
          <a:prstGeom prst="rect">
            <a:avLst/>
          </a:prstGeom>
          <a:noFill/>
          <a:ln/>
        </p:spPr>
        <p:txBody>
          <a:bodyPr wrap="square" lIns="0" tIns="0" rIns="0" bIns="0" rtlCol="0" anchor="ctr"/>
          <a:lstStyle/>
          <a:p>
            <a:pPr marL="0" indent="0">
              <a:buNone/>
            </a:pPr>
            <a:r>
              <a:rPr lang="en-US" sz="1600" dirty="0">
                <a:solidFill>
                  <a:srgbClr val="2A1B4D"/>
                </a:solidFill>
              </a:rPr>
              <a:t>Showed the consequences.</a:t>
            </a:r>
            <a:endParaRPr lang="en-US" sz="1600" dirty="0"/>
          </a:p>
        </p:txBody>
      </p:sp>
      <p:sp>
        <p:nvSpPr>
          <p:cNvPr id="19" name="Shape 17"/>
          <p:cNvSpPr/>
          <p:nvPr/>
        </p:nvSpPr>
        <p:spPr>
          <a:xfrm>
            <a:off x="457200" y="3524098"/>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3564331"/>
            <a:ext cx="402336" cy="402336"/>
          </a:xfrm>
          <a:prstGeom prst="ellipse">
            <a:avLst/>
          </a:prstGeom>
          <a:solidFill>
            <a:srgbClr val="7B5CE0"/>
          </a:solidFill>
          <a:ln/>
        </p:spPr>
      </p:sp>
      <p:sp>
        <p:nvSpPr>
          <p:cNvPr id="21" name="Text 19"/>
          <p:cNvSpPr txBox="1"/>
          <p:nvPr/>
        </p:nvSpPr>
        <p:spPr>
          <a:xfrm>
            <a:off x="640080" y="3564331"/>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524098"/>
            <a:ext cx="7315200" cy="482803"/>
          </a:xfrm>
          <a:prstGeom prst="rect">
            <a:avLst/>
          </a:prstGeom>
          <a:noFill/>
          <a:ln/>
        </p:spPr>
        <p:txBody>
          <a:bodyPr wrap="square" lIns="0" tIns="0" rIns="0" bIns="0" rtlCol="0" anchor="ctr"/>
          <a:lstStyle/>
          <a:p>
            <a:pPr marL="0" indent="0">
              <a:buNone/>
            </a:pPr>
            <a:r>
              <a:rPr lang="en-US" sz="1600" dirty="0">
                <a:solidFill>
                  <a:srgbClr val="2A1B4D"/>
                </a:solidFill>
              </a:rPr>
              <a:t>Changed the ending.</a:t>
            </a:r>
            <a:endParaRPr lang="en-US" sz="1600" dirty="0"/>
          </a:p>
        </p:txBody>
      </p:sp>
      <p:sp>
        <p:nvSpPr>
          <p:cNvPr id="23" name="Shape 21"/>
          <p:cNvSpPr/>
          <p:nvPr/>
        </p:nvSpPr>
        <p:spPr>
          <a:xfrm>
            <a:off x="457200" y="4134917"/>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4" name="Shape 22"/>
          <p:cNvSpPr/>
          <p:nvPr/>
        </p:nvSpPr>
        <p:spPr>
          <a:xfrm>
            <a:off x="640080" y="4175150"/>
            <a:ext cx="402336" cy="402336"/>
          </a:xfrm>
          <a:prstGeom prst="ellipse">
            <a:avLst/>
          </a:prstGeom>
          <a:solidFill>
            <a:srgbClr val="FF8A3D"/>
          </a:solidFill>
          <a:ln/>
        </p:spPr>
      </p:sp>
      <p:sp>
        <p:nvSpPr>
          <p:cNvPr id="25" name="Text 23"/>
          <p:cNvSpPr txBox="1"/>
          <p:nvPr/>
        </p:nvSpPr>
        <p:spPr>
          <a:xfrm>
            <a:off x="640080" y="417515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6" name="Text 24"/>
          <p:cNvSpPr txBox="1"/>
          <p:nvPr/>
        </p:nvSpPr>
        <p:spPr>
          <a:xfrm>
            <a:off x="1280160" y="4134917"/>
            <a:ext cx="7315200" cy="482803"/>
          </a:xfrm>
          <a:prstGeom prst="rect">
            <a:avLst/>
          </a:prstGeom>
          <a:noFill/>
          <a:ln/>
        </p:spPr>
        <p:txBody>
          <a:bodyPr wrap="square" lIns="0" tIns="0" rIns="0" bIns="0" rtlCol="0" anchor="ctr"/>
          <a:lstStyle/>
          <a:p>
            <a:pPr marL="0" indent="0">
              <a:buNone/>
            </a:pPr>
            <a:r>
              <a:rPr lang="en-US" sz="1600" dirty="0">
                <a:solidFill>
                  <a:srgbClr val="2A1B4D"/>
                </a:solidFill>
              </a:rPr>
              <a:t>Created a slightly different lesson.</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FIND THE CONSEQUENCE</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188720"/>
            <a:ext cx="8229600" cy="1051560"/>
          </a:xfrm>
          <a:prstGeom prst="roundRect">
            <a:avLst>
              <a:gd name="adj" fmla="val 1304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640080" y="1188720"/>
            <a:ext cx="7863840" cy="1051560"/>
          </a:xfrm>
          <a:prstGeom prst="rect">
            <a:avLst/>
          </a:prstGeom>
          <a:noFill/>
          <a:ln/>
        </p:spPr>
        <p:txBody>
          <a:bodyPr wrap="square" lIns="0" tIns="0" rIns="0" bIns="0" rtlCol="0" anchor="ctr"/>
          <a:lstStyle/>
          <a:p>
            <a:pPr marL="0" indent="0">
              <a:buNone/>
            </a:pPr>
            <a:r>
              <a:rPr lang="en-US" sz="1700" b="1" dirty="0">
                <a:solidFill>
                  <a:srgbClr val="2A1B4D"/>
                </a:solidFill>
              </a:rPr>
              <a:t>Which sentence best shows a consequence?</a:t>
            </a:r>
            <a:endParaRPr lang="en-US" sz="1700" dirty="0"/>
          </a:p>
        </p:txBody>
      </p:sp>
      <p:sp>
        <p:nvSpPr>
          <p:cNvPr id="8" name="Shape 6"/>
          <p:cNvSpPr/>
          <p:nvPr/>
        </p:nvSpPr>
        <p:spPr>
          <a:xfrm>
            <a:off x="45720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9" name="Shape 7"/>
          <p:cNvSpPr/>
          <p:nvPr/>
        </p:nvSpPr>
        <p:spPr>
          <a:xfrm>
            <a:off x="640080" y="2651760"/>
            <a:ext cx="548640" cy="548640"/>
          </a:xfrm>
          <a:prstGeom prst="ellipse">
            <a:avLst/>
          </a:prstGeom>
          <a:solidFill>
            <a:srgbClr val="FF8A3D"/>
          </a:solidFill>
          <a:ln/>
        </p:spPr>
      </p:sp>
      <p:sp>
        <p:nvSpPr>
          <p:cNvPr id="10" name="Text 8"/>
          <p:cNvSpPr txBox="1"/>
          <p:nvPr/>
        </p:nvSpPr>
        <p:spPr>
          <a:xfrm>
            <a:off x="64008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1" name="Text 9"/>
          <p:cNvSpPr txBox="1"/>
          <p:nvPr/>
        </p:nvSpPr>
        <p:spPr>
          <a:xfrm>
            <a:off x="1371600" y="2423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He worked hard every day, so he had enough food.</a:t>
            </a:r>
            <a:endParaRPr lang="en-US" sz="1500" dirty="0"/>
          </a:p>
        </p:txBody>
      </p:sp>
      <p:sp>
        <p:nvSpPr>
          <p:cNvPr id="12" name="Shape 10"/>
          <p:cNvSpPr/>
          <p:nvPr/>
        </p:nvSpPr>
        <p:spPr>
          <a:xfrm>
            <a:off x="466344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3" name="Shape 11"/>
          <p:cNvSpPr/>
          <p:nvPr/>
        </p:nvSpPr>
        <p:spPr>
          <a:xfrm>
            <a:off x="4846320" y="2651760"/>
            <a:ext cx="548640" cy="548640"/>
          </a:xfrm>
          <a:prstGeom prst="ellipse">
            <a:avLst/>
          </a:prstGeom>
          <a:solidFill>
            <a:srgbClr val="1FB5A8"/>
          </a:solidFill>
          <a:ln/>
        </p:spPr>
      </p:sp>
      <p:sp>
        <p:nvSpPr>
          <p:cNvPr id="14" name="Text 12"/>
          <p:cNvSpPr txBox="1"/>
          <p:nvPr/>
        </p:nvSpPr>
        <p:spPr>
          <a:xfrm>
            <a:off x="484632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5" name="Text 13"/>
          <p:cNvSpPr txBox="1"/>
          <p:nvPr/>
        </p:nvSpPr>
        <p:spPr>
          <a:xfrm>
            <a:off x="5577840" y="2423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He worked hard every day before winter.</a:t>
            </a:r>
            <a:endParaRPr lang="en-US" sz="1500" dirty="0"/>
          </a:p>
        </p:txBody>
      </p:sp>
      <p:sp>
        <p:nvSpPr>
          <p:cNvPr id="16" name="Shape 14"/>
          <p:cNvSpPr/>
          <p:nvPr/>
        </p:nvSpPr>
        <p:spPr>
          <a:xfrm>
            <a:off x="45720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7" name="Shape 15"/>
          <p:cNvSpPr/>
          <p:nvPr/>
        </p:nvSpPr>
        <p:spPr>
          <a:xfrm>
            <a:off x="640080" y="3794760"/>
            <a:ext cx="548640" cy="548640"/>
          </a:xfrm>
          <a:prstGeom prst="ellipse">
            <a:avLst/>
          </a:prstGeom>
          <a:solidFill>
            <a:srgbClr val="E85D9E"/>
          </a:solidFill>
          <a:ln/>
        </p:spPr>
      </p:sp>
      <p:sp>
        <p:nvSpPr>
          <p:cNvPr id="18" name="Text 16"/>
          <p:cNvSpPr txBox="1"/>
          <p:nvPr/>
        </p:nvSpPr>
        <p:spPr>
          <a:xfrm>
            <a:off x="64008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19" name="Text 17"/>
          <p:cNvSpPr txBox="1"/>
          <p:nvPr/>
        </p:nvSpPr>
        <p:spPr>
          <a:xfrm>
            <a:off x="137160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He decided to work hard every day.</a:t>
            </a:r>
            <a:endParaRPr lang="en-US" sz="1500" dirty="0"/>
          </a:p>
        </p:txBody>
      </p:sp>
      <p:sp>
        <p:nvSpPr>
          <p:cNvPr id="20" name="Shape 18"/>
          <p:cNvSpPr/>
          <p:nvPr/>
        </p:nvSpPr>
        <p:spPr>
          <a:xfrm>
            <a:off x="466344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1" name="Shape 19"/>
          <p:cNvSpPr/>
          <p:nvPr/>
        </p:nvSpPr>
        <p:spPr>
          <a:xfrm>
            <a:off x="4846320" y="3794760"/>
            <a:ext cx="548640" cy="548640"/>
          </a:xfrm>
          <a:prstGeom prst="ellipse">
            <a:avLst/>
          </a:prstGeom>
          <a:solidFill>
            <a:srgbClr val="7B5CE0"/>
          </a:solidFill>
          <a:ln/>
        </p:spPr>
      </p:sp>
      <p:sp>
        <p:nvSpPr>
          <p:cNvPr id="22" name="Text 20"/>
          <p:cNvSpPr txBox="1"/>
          <p:nvPr/>
        </p:nvSpPr>
        <p:spPr>
          <a:xfrm>
            <a:off x="484632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3" name="Text 21"/>
          <p:cNvSpPr txBox="1"/>
          <p:nvPr/>
        </p:nvSpPr>
        <p:spPr>
          <a:xfrm>
            <a:off x="557784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He felt sorry that he had wasted time.</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A1B4D"/>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3E2A70"/>
          </a:solidFill>
          <a:ln/>
        </p:spPr>
      </p:sp>
      <p:sp>
        <p:nvSpPr>
          <p:cNvPr id="3" name="Shape 1"/>
          <p:cNvSpPr/>
          <p:nvPr/>
        </p:nvSpPr>
        <p:spPr>
          <a:xfrm>
            <a:off x="8549640" y="502920"/>
            <a:ext cx="822960" cy="822960"/>
          </a:xfrm>
          <a:prstGeom prst="ellipse">
            <a:avLst/>
          </a:prstGeom>
          <a:solidFill>
            <a:srgbClr val="FF8A3D">
              <a:alpha val="8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ANSWER</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B7A8E8"/>
                </a:solidFill>
              </a:rPr>
              <a:t>1.6 A TWIST…</a:t>
            </a:r>
            <a:endParaRPr lang="en-US" sz="1000" dirty="0"/>
          </a:p>
        </p:txBody>
      </p:sp>
      <p:sp>
        <p:nvSpPr>
          <p:cNvPr id="6" name="Shape 4"/>
          <p:cNvSpPr/>
          <p:nvPr/>
        </p:nvSpPr>
        <p:spPr>
          <a:xfrm>
            <a:off x="548640" y="1554480"/>
            <a:ext cx="1737360" cy="1737360"/>
          </a:xfrm>
          <a:prstGeom prst="ellipse">
            <a:avLst/>
          </a:prstGeom>
          <a:solidFill>
            <a:srgbClr val="1FB5A8"/>
          </a:solidFill>
          <a:ln/>
        </p:spPr>
      </p:sp>
      <p:sp>
        <p:nvSpPr>
          <p:cNvPr id="7" name="Text 5"/>
          <p:cNvSpPr txBox="1"/>
          <p:nvPr/>
        </p:nvSpPr>
        <p:spPr>
          <a:xfrm>
            <a:off x="548640" y="1554480"/>
            <a:ext cx="1737360" cy="17373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A</a:t>
            </a:r>
            <a:endParaRPr lang="en-US" sz="7200" dirty="0"/>
          </a:p>
        </p:txBody>
      </p:sp>
      <p:sp>
        <p:nvSpPr>
          <p:cNvPr id="8" name="Text 6"/>
          <p:cNvSpPr txBox="1"/>
          <p:nvPr/>
        </p:nvSpPr>
        <p:spPr>
          <a:xfrm>
            <a:off x="2651760" y="1280160"/>
            <a:ext cx="5943600" cy="1005840"/>
          </a:xfrm>
          <a:prstGeom prst="rect">
            <a:avLst/>
          </a:prstGeom>
          <a:noFill/>
          <a:ln/>
        </p:spPr>
        <p:txBody>
          <a:bodyPr wrap="square" lIns="0" tIns="0" rIns="0" bIns="0" rtlCol="0" anchor="ctr"/>
          <a:lstStyle/>
          <a:p>
            <a:pPr marL="0" indent="0">
              <a:buNone/>
            </a:pPr>
            <a:r>
              <a:rPr lang="en-US" sz="2200" b="1" dirty="0">
                <a:solidFill>
                  <a:srgbClr val="FFFFFF"/>
                </a:solidFill>
              </a:rPr>
              <a:t>He worked hard every day, so he had enough food.</a:t>
            </a:r>
            <a:endParaRPr lang="en-US" sz="2200" dirty="0"/>
          </a:p>
        </p:txBody>
      </p:sp>
      <p:sp>
        <p:nvSpPr>
          <p:cNvPr id="9" name="Text 7"/>
          <p:cNvSpPr txBox="1"/>
          <p:nvPr/>
        </p:nvSpPr>
        <p:spPr>
          <a:xfrm>
            <a:off x="2651760" y="2377440"/>
            <a:ext cx="5943600" cy="2286000"/>
          </a:xfrm>
          <a:prstGeom prst="rect">
            <a:avLst/>
          </a:prstGeom>
          <a:noFill/>
          <a:ln/>
        </p:spPr>
        <p:txBody>
          <a:bodyPr wrap="square" lIns="0" tIns="0" rIns="0" bIns="0" rtlCol="0" anchor="t"/>
          <a:lstStyle/>
          <a:p>
            <a:pPr marL="0" indent="0">
              <a:spcAft>
                <a:spcPts val="800"/>
              </a:spcAft>
              <a:buNone/>
            </a:pPr>
            <a:r>
              <a:rPr lang="en-US" sz="1600" dirty="0">
                <a:solidFill>
                  <a:srgbClr val="DCD2FF"/>
                </a:solidFill>
              </a:rPr>
              <a:t>The action (working hard) caused the result (enough food):</a:t>
            </a:r>
            <a:endParaRPr lang="en-US" sz="1600" dirty="0"/>
          </a:p>
          <a:p>
            <a:pPr marL="0" indent="0">
              <a:spcAft>
                <a:spcPts val="800"/>
              </a:spcAft>
              <a:buNone/>
            </a:pPr>
            <a:r>
              <a:rPr lang="en-US" sz="1600" dirty="0">
                <a:solidFill>
                  <a:srgbClr val="DCD2FF"/>
                </a:solidFill>
              </a:rPr>
              <a:t>ACTION → CONSEQUENCE</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CHOOSE YOUR FABLE</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280160"/>
            <a:ext cx="4000500" cy="2880360"/>
          </a:xfrm>
          <a:prstGeom prst="roundRect">
            <a:avLst>
              <a:gd name="adj" fmla="val 4762"/>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94360" y="1417320"/>
            <a:ext cx="3726180" cy="457200"/>
          </a:xfrm>
          <a:prstGeom prst="roundRect">
            <a:avLst>
              <a:gd name="adj" fmla="val 24000"/>
            </a:avLst>
          </a:prstGeom>
          <a:solidFill>
            <a:srgbClr val="FF8A3D"/>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THE ANT AND THE GRASSHOPPER</a:t>
            </a:r>
            <a:endParaRPr lang="en-US" sz="1600" dirty="0"/>
          </a:p>
        </p:txBody>
      </p:sp>
      <p:sp>
        <p:nvSpPr>
          <p:cNvPr id="8" name="Text 6"/>
          <p:cNvSpPr txBox="1"/>
          <p:nvPr/>
        </p:nvSpPr>
        <p:spPr>
          <a:xfrm>
            <a:off x="640080" y="2011680"/>
            <a:ext cx="3634740" cy="2011680"/>
          </a:xfrm>
          <a:prstGeom prst="rect">
            <a:avLst/>
          </a:prstGeom>
          <a:noFill/>
          <a:ln/>
        </p:spPr>
        <p:txBody>
          <a:bodyPr wrap="square" lIns="0" tIns="0" rIns="0" bIns="0" rtlCol="0" anchor="t"/>
          <a:lstStyle/>
          <a:p>
            <a:pPr marL="0" indent="0">
              <a:spcAft>
                <a:spcPts val="600"/>
              </a:spcAft>
              <a:buNone/>
            </a:pPr>
            <a:r>
              <a:rPr lang="en-US" sz="1500" dirty="0">
                <a:solidFill>
                  <a:srgbClr val="2A1B4D"/>
                </a:solidFill>
              </a:rPr>
              <a:t>Twist the story we know best.</a:t>
            </a:r>
            <a:endParaRPr lang="en-US" sz="1500" dirty="0"/>
          </a:p>
        </p:txBody>
      </p:sp>
      <p:sp>
        <p:nvSpPr>
          <p:cNvPr id="9" name="Shape 7"/>
          <p:cNvSpPr/>
          <p:nvPr/>
        </p:nvSpPr>
        <p:spPr>
          <a:xfrm>
            <a:off x="4686300" y="1280160"/>
            <a:ext cx="4000500" cy="2880360"/>
          </a:xfrm>
          <a:prstGeom prst="roundRect">
            <a:avLst>
              <a:gd name="adj" fmla="val 4762"/>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0" name="Text 8"/>
          <p:cNvSpPr txBox="1"/>
          <p:nvPr/>
        </p:nvSpPr>
        <p:spPr>
          <a:xfrm>
            <a:off x="4823460" y="1417320"/>
            <a:ext cx="3726180" cy="457200"/>
          </a:xfrm>
          <a:prstGeom prst="roundRect">
            <a:avLst>
              <a:gd name="adj" fmla="val 24000"/>
            </a:avLst>
          </a:prstGeom>
          <a:solidFill>
            <a:srgbClr val="1FB5A8"/>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ANOTHER FAMILIAR FABLE</a:t>
            </a:r>
            <a:endParaRPr lang="en-US" sz="1600" dirty="0"/>
          </a:p>
        </p:txBody>
      </p:sp>
      <p:sp>
        <p:nvSpPr>
          <p:cNvPr id="11" name="Text 9"/>
          <p:cNvSpPr txBox="1"/>
          <p:nvPr/>
        </p:nvSpPr>
        <p:spPr>
          <a:xfrm>
            <a:off x="4869180" y="2011680"/>
            <a:ext cx="3634740" cy="2011680"/>
          </a:xfrm>
          <a:prstGeom prst="rect">
            <a:avLst/>
          </a:prstGeom>
          <a:noFill/>
          <a:ln/>
        </p:spPr>
        <p:txBody>
          <a:bodyPr wrap="square" lIns="0" tIns="0" rIns="0" bIns="0" rtlCol="0" anchor="t"/>
          <a:lstStyle/>
          <a:p>
            <a:pPr marL="0" indent="0">
              <a:spcAft>
                <a:spcPts val="600"/>
              </a:spcAft>
              <a:buNone/>
            </a:pPr>
            <a:r>
              <a:rPr lang="en-US" sz="1500" dirty="0">
                <a:solidFill>
                  <a:srgbClr val="2A1B4D"/>
                </a:solidFill>
              </a:rPr>
              <a:t>Choose one you know well.</a:t>
            </a:r>
            <a:endParaRPr lang="en-US" sz="1500" dirty="0"/>
          </a:p>
        </p:txBody>
      </p:sp>
      <p:sp>
        <p:nvSpPr>
          <p:cNvPr id="12" name="Text 10"/>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It must still feel like a fable: Character → Problem → Choice → Consequence → Ending → Lesson</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PLAN: THE ORIGINAL</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280160"/>
            <a:ext cx="2926080" cy="685800"/>
          </a:xfrm>
          <a:prstGeom prst="roundRect">
            <a:avLst>
              <a:gd name="adj" fmla="val 16000"/>
            </a:avLst>
          </a:prstGeom>
          <a:solidFill>
            <a:srgbClr val="FF8A3D"/>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Fable:</a:t>
            </a:r>
            <a:endParaRPr lang="en-US" sz="1400" dirty="0"/>
          </a:p>
        </p:txBody>
      </p:sp>
      <p:sp>
        <p:nvSpPr>
          <p:cNvPr id="7" name="Shape 5"/>
          <p:cNvSpPr/>
          <p:nvPr/>
        </p:nvSpPr>
        <p:spPr>
          <a:xfrm>
            <a:off x="3520440" y="1280160"/>
            <a:ext cx="5166360" cy="685800"/>
          </a:xfrm>
          <a:prstGeom prst="roundRect">
            <a:avLst>
              <a:gd name="adj" fmla="val 16000"/>
            </a:avLst>
          </a:prstGeom>
          <a:solidFill>
            <a:srgbClr val="FFFFFF"/>
          </a:solidFill>
          <a:ln w="12700">
            <a:solidFill>
              <a:srgbClr val="CFC3F2"/>
            </a:solidFill>
            <a:prstDash val="dash"/>
          </a:ln>
        </p:spPr>
      </p:sp>
      <p:sp>
        <p:nvSpPr>
          <p:cNvPr id="8" name="Text 6"/>
          <p:cNvSpPr txBox="1"/>
          <p:nvPr/>
        </p:nvSpPr>
        <p:spPr>
          <a:xfrm>
            <a:off x="457200" y="2075688"/>
            <a:ext cx="2926080" cy="685800"/>
          </a:xfrm>
          <a:prstGeom prst="roundRect">
            <a:avLst>
              <a:gd name="adj" fmla="val 16000"/>
            </a:avLst>
          </a:prstGeom>
          <a:solidFill>
            <a:srgbClr val="1FB5A8"/>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Original character:</a:t>
            </a:r>
            <a:endParaRPr lang="en-US" sz="1400" dirty="0"/>
          </a:p>
        </p:txBody>
      </p:sp>
      <p:sp>
        <p:nvSpPr>
          <p:cNvPr id="9" name="Shape 7"/>
          <p:cNvSpPr/>
          <p:nvPr/>
        </p:nvSpPr>
        <p:spPr>
          <a:xfrm>
            <a:off x="3520440" y="2075688"/>
            <a:ext cx="5166360" cy="685800"/>
          </a:xfrm>
          <a:prstGeom prst="roundRect">
            <a:avLst>
              <a:gd name="adj" fmla="val 16000"/>
            </a:avLst>
          </a:prstGeom>
          <a:solidFill>
            <a:srgbClr val="FFFFFF"/>
          </a:solidFill>
          <a:ln w="12700">
            <a:solidFill>
              <a:srgbClr val="CFC3F2"/>
            </a:solidFill>
            <a:prstDash val="dash"/>
          </a:ln>
        </p:spPr>
      </p:sp>
      <p:sp>
        <p:nvSpPr>
          <p:cNvPr id="10" name="Text 8"/>
          <p:cNvSpPr txBox="1"/>
          <p:nvPr/>
        </p:nvSpPr>
        <p:spPr>
          <a:xfrm>
            <a:off x="457200" y="2871216"/>
            <a:ext cx="2926080" cy="685800"/>
          </a:xfrm>
          <a:prstGeom prst="roundRect">
            <a:avLst>
              <a:gd name="adj" fmla="val 16000"/>
            </a:avLst>
          </a:prstGeom>
          <a:solidFill>
            <a:srgbClr val="E85D9E"/>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Original problem:</a:t>
            </a:r>
            <a:endParaRPr lang="en-US" sz="1400" dirty="0"/>
          </a:p>
        </p:txBody>
      </p:sp>
      <p:sp>
        <p:nvSpPr>
          <p:cNvPr id="11" name="Shape 9"/>
          <p:cNvSpPr/>
          <p:nvPr/>
        </p:nvSpPr>
        <p:spPr>
          <a:xfrm>
            <a:off x="3520440" y="2871216"/>
            <a:ext cx="5166360" cy="685800"/>
          </a:xfrm>
          <a:prstGeom prst="roundRect">
            <a:avLst>
              <a:gd name="adj" fmla="val 16000"/>
            </a:avLst>
          </a:prstGeom>
          <a:solidFill>
            <a:srgbClr val="FFFFFF"/>
          </a:solidFill>
          <a:ln w="12700">
            <a:solidFill>
              <a:srgbClr val="CFC3F2"/>
            </a:solidFill>
            <a:prstDash val="dash"/>
          </a:ln>
        </p:spPr>
      </p:sp>
      <p:sp>
        <p:nvSpPr>
          <p:cNvPr id="12" name="Text 10"/>
          <p:cNvSpPr txBox="1"/>
          <p:nvPr/>
        </p:nvSpPr>
        <p:spPr>
          <a:xfrm>
            <a:off x="457200" y="3666744"/>
            <a:ext cx="2926080" cy="685800"/>
          </a:xfrm>
          <a:prstGeom prst="roundRect">
            <a:avLst>
              <a:gd name="adj" fmla="val 16000"/>
            </a:avLst>
          </a:prstGeom>
          <a:solidFill>
            <a:srgbClr val="7B5CE0"/>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Original lesson:</a:t>
            </a:r>
            <a:endParaRPr lang="en-US" sz="1400" dirty="0"/>
          </a:p>
        </p:txBody>
      </p:sp>
      <p:sp>
        <p:nvSpPr>
          <p:cNvPr id="13" name="Shape 11"/>
          <p:cNvSpPr/>
          <p:nvPr/>
        </p:nvSpPr>
        <p:spPr>
          <a:xfrm>
            <a:off x="3520440" y="3666744"/>
            <a:ext cx="5166360" cy="685800"/>
          </a:xfrm>
          <a:prstGeom prst="roundRect">
            <a:avLst>
              <a:gd name="adj" fmla="val 16000"/>
            </a:avLst>
          </a:prstGeom>
          <a:solidFill>
            <a:srgbClr val="FFFFFF"/>
          </a:solidFill>
          <a:ln w="12700">
            <a:solidFill>
              <a:srgbClr val="CFC3F2"/>
            </a:solidFill>
            <a:prstDash val="dash"/>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MODEL: THE ORIGINAL</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280160"/>
            <a:ext cx="2926080" cy="685800"/>
          </a:xfrm>
          <a:prstGeom prst="roundRect">
            <a:avLst>
              <a:gd name="adj" fmla="val 16000"/>
            </a:avLst>
          </a:prstGeom>
          <a:solidFill>
            <a:srgbClr val="FF8A3D"/>
          </a:solidFill>
          <a:ln/>
        </p:spPr>
        <p:txBody>
          <a:bodyPr wrap="square" lIns="76200" tIns="76200" rIns="76200" bIns="7620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Fable:</a:t>
            </a:r>
            <a:endParaRPr lang="en-US" sz="2400" dirty="0"/>
          </a:p>
        </p:txBody>
      </p:sp>
      <p:sp>
        <p:nvSpPr>
          <p:cNvPr id="7" name="Shape 5"/>
          <p:cNvSpPr/>
          <p:nvPr/>
        </p:nvSpPr>
        <p:spPr>
          <a:xfrm>
            <a:off x="3520440" y="1280160"/>
            <a:ext cx="5166360" cy="685800"/>
          </a:xfrm>
          <a:prstGeom prst="roundRect">
            <a:avLst>
              <a:gd name="adj" fmla="val 16000"/>
            </a:avLst>
          </a:prstGeom>
          <a:solidFill>
            <a:srgbClr val="FFFFFF"/>
          </a:solidFill>
          <a:ln w="19050">
            <a:solidFill>
              <a:srgbClr val="1FB5A8"/>
            </a:solidFill>
            <a:prstDash val="solid"/>
          </a:ln>
        </p:spPr>
      </p:sp>
      <p:sp>
        <p:nvSpPr>
          <p:cNvPr id="8" name="Text 6"/>
          <p:cNvSpPr txBox="1"/>
          <p:nvPr/>
        </p:nvSpPr>
        <p:spPr>
          <a:xfrm>
            <a:off x="3703320" y="1280160"/>
            <a:ext cx="4846320" cy="685800"/>
          </a:xfrm>
          <a:prstGeom prst="rect">
            <a:avLst/>
          </a:prstGeom>
          <a:noFill/>
          <a:ln/>
        </p:spPr>
        <p:txBody>
          <a:bodyPr wrap="square" lIns="0" tIns="0" rIns="0" bIns="0" rtlCol="0" anchor="ctr"/>
          <a:lstStyle/>
          <a:p>
            <a:pPr marL="0" indent="0">
              <a:buNone/>
            </a:pPr>
            <a:r>
              <a:rPr lang="en-US" dirty="0">
                <a:solidFill>
                  <a:srgbClr val="2A1B4D"/>
                </a:solidFill>
              </a:rPr>
              <a:t>The Ant and the Grasshopper</a:t>
            </a:r>
            <a:endParaRPr lang="en-US" dirty="0"/>
          </a:p>
        </p:txBody>
      </p:sp>
      <p:sp>
        <p:nvSpPr>
          <p:cNvPr id="9" name="Text 7"/>
          <p:cNvSpPr txBox="1"/>
          <p:nvPr/>
        </p:nvSpPr>
        <p:spPr>
          <a:xfrm>
            <a:off x="457200" y="2075688"/>
            <a:ext cx="2926080" cy="685800"/>
          </a:xfrm>
          <a:prstGeom prst="roundRect">
            <a:avLst>
              <a:gd name="adj" fmla="val 16000"/>
            </a:avLst>
          </a:prstGeom>
          <a:solidFill>
            <a:srgbClr val="1FB5A8"/>
          </a:solidFill>
          <a:ln/>
        </p:spPr>
        <p:txBody>
          <a:bodyPr wrap="square" lIns="76200" tIns="76200" rIns="76200" bIns="762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Original character:</a:t>
            </a:r>
            <a:endParaRPr lang="en-US" sz="2000" dirty="0"/>
          </a:p>
        </p:txBody>
      </p:sp>
      <p:sp>
        <p:nvSpPr>
          <p:cNvPr id="10" name="Shape 8"/>
          <p:cNvSpPr/>
          <p:nvPr/>
        </p:nvSpPr>
        <p:spPr>
          <a:xfrm>
            <a:off x="3520440" y="2075688"/>
            <a:ext cx="5166360" cy="685800"/>
          </a:xfrm>
          <a:prstGeom prst="roundRect">
            <a:avLst>
              <a:gd name="adj" fmla="val 16000"/>
            </a:avLst>
          </a:prstGeom>
          <a:solidFill>
            <a:srgbClr val="FFFFFF"/>
          </a:solidFill>
          <a:ln w="19050">
            <a:solidFill>
              <a:srgbClr val="1FB5A8"/>
            </a:solidFill>
            <a:prstDash val="solid"/>
          </a:ln>
        </p:spPr>
      </p:sp>
      <p:sp>
        <p:nvSpPr>
          <p:cNvPr id="11" name="Text 9"/>
          <p:cNvSpPr txBox="1"/>
          <p:nvPr/>
        </p:nvSpPr>
        <p:spPr>
          <a:xfrm>
            <a:off x="3703320" y="2075688"/>
            <a:ext cx="4846320" cy="685800"/>
          </a:xfrm>
          <a:prstGeom prst="rect">
            <a:avLst/>
          </a:prstGeom>
          <a:noFill/>
          <a:ln/>
        </p:spPr>
        <p:txBody>
          <a:bodyPr wrap="square" lIns="0" tIns="0" rIns="0" bIns="0" rtlCol="0" anchor="ctr"/>
          <a:lstStyle/>
          <a:p>
            <a:pPr marL="0" indent="0">
              <a:buNone/>
            </a:pPr>
            <a:r>
              <a:rPr lang="en-US" dirty="0">
                <a:solidFill>
                  <a:srgbClr val="2A1B4D"/>
                </a:solidFill>
              </a:rPr>
              <a:t>The Grasshopper, who plays all summer</a:t>
            </a:r>
            <a:endParaRPr lang="en-US" dirty="0"/>
          </a:p>
        </p:txBody>
      </p:sp>
      <p:sp>
        <p:nvSpPr>
          <p:cNvPr id="12" name="Text 10"/>
          <p:cNvSpPr txBox="1"/>
          <p:nvPr/>
        </p:nvSpPr>
        <p:spPr>
          <a:xfrm>
            <a:off x="457200" y="2871216"/>
            <a:ext cx="2926080" cy="685800"/>
          </a:xfrm>
          <a:prstGeom prst="roundRect">
            <a:avLst>
              <a:gd name="adj" fmla="val 16000"/>
            </a:avLst>
          </a:prstGeom>
          <a:solidFill>
            <a:srgbClr val="E85D9E"/>
          </a:solidFill>
          <a:ln/>
        </p:spPr>
        <p:txBody>
          <a:bodyPr wrap="square" lIns="76200" tIns="76200" rIns="76200" bIns="762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Original problem:</a:t>
            </a:r>
            <a:endParaRPr lang="en-US" sz="2000" dirty="0"/>
          </a:p>
        </p:txBody>
      </p:sp>
      <p:sp>
        <p:nvSpPr>
          <p:cNvPr id="13" name="Shape 11"/>
          <p:cNvSpPr/>
          <p:nvPr/>
        </p:nvSpPr>
        <p:spPr>
          <a:xfrm>
            <a:off x="3520440" y="2871216"/>
            <a:ext cx="5166360" cy="685800"/>
          </a:xfrm>
          <a:prstGeom prst="roundRect">
            <a:avLst>
              <a:gd name="adj" fmla="val 16000"/>
            </a:avLst>
          </a:prstGeom>
          <a:solidFill>
            <a:srgbClr val="FFFFFF"/>
          </a:solidFill>
          <a:ln w="19050">
            <a:solidFill>
              <a:srgbClr val="1FB5A8"/>
            </a:solidFill>
            <a:prstDash val="solid"/>
          </a:ln>
        </p:spPr>
      </p:sp>
      <p:sp>
        <p:nvSpPr>
          <p:cNvPr id="14" name="Text 12"/>
          <p:cNvSpPr txBox="1"/>
          <p:nvPr/>
        </p:nvSpPr>
        <p:spPr>
          <a:xfrm>
            <a:off x="3703320" y="2871216"/>
            <a:ext cx="4846320" cy="685800"/>
          </a:xfrm>
          <a:prstGeom prst="rect">
            <a:avLst/>
          </a:prstGeom>
          <a:noFill/>
          <a:ln/>
        </p:spPr>
        <p:txBody>
          <a:bodyPr wrap="square" lIns="0" tIns="0" rIns="0" bIns="0" rtlCol="0" anchor="ctr"/>
          <a:lstStyle/>
          <a:p>
            <a:pPr marL="0" indent="0">
              <a:buNone/>
            </a:pPr>
            <a:r>
              <a:rPr lang="en-US" dirty="0">
                <a:solidFill>
                  <a:srgbClr val="2A1B4D"/>
                </a:solidFill>
              </a:rPr>
              <a:t>Winter comes and he has no food</a:t>
            </a:r>
            <a:endParaRPr lang="en-US" dirty="0"/>
          </a:p>
        </p:txBody>
      </p:sp>
      <p:sp>
        <p:nvSpPr>
          <p:cNvPr id="15" name="Text 13"/>
          <p:cNvSpPr txBox="1"/>
          <p:nvPr/>
        </p:nvSpPr>
        <p:spPr>
          <a:xfrm>
            <a:off x="457200" y="3666744"/>
            <a:ext cx="2926080" cy="685800"/>
          </a:xfrm>
          <a:prstGeom prst="roundRect">
            <a:avLst>
              <a:gd name="adj" fmla="val 16000"/>
            </a:avLst>
          </a:prstGeom>
          <a:solidFill>
            <a:srgbClr val="7B5CE0"/>
          </a:solidFill>
          <a:ln/>
        </p:spPr>
        <p:txBody>
          <a:bodyPr wrap="square" lIns="76200" tIns="76200" rIns="76200" bIns="762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Original lesson:</a:t>
            </a:r>
            <a:endParaRPr lang="en-US" sz="2000" dirty="0"/>
          </a:p>
        </p:txBody>
      </p:sp>
      <p:sp>
        <p:nvSpPr>
          <p:cNvPr id="16" name="Shape 14"/>
          <p:cNvSpPr/>
          <p:nvPr/>
        </p:nvSpPr>
        <p:spPr>
          <a:xfrm>
            <a:off x="3520440" y="3666744"/>
            <a:ext cx="5166360" cy="685800"/>
          </a:xfrm>
          <a:prstGeom prst="roundRect">
            <a:avLst>
              <a:gd name="adj" fmla="val 16000"/>
            </a:avLst>
          </a:prstGeom>
          <a:solidFill>
            <a:srgbClr val="FFFFFF"/>
          </a:solidFill>
          <a:ln w="19050">
            <a:solidFill>
              <a:srgbClr val="1FB5A8"/>
            </a:solidFill>
            <a:prstDash val="solid"/>
          </a:ln>
        </p:spPr>
      </p:sp>
      <p:sp>
        <p:nvSpPr>
          <p:cNvPr id="17" name="Text 15"/>
          <p:cNvSpPr txBox="1"/>
          <p:nvPr/>
        </p:nvSpPr>
        <p:spPr>
          <a:xfrm>
            <a:off x="3703320" y="3666744"/>
            <a:ext cx="4846320" cy="685800"/>
          </a:xfrm>
          <a:prstGeom prst="rect">
            <a:avLst/>
          </a:prstGeom>
          <a:noFill/>
          <a:ln/>
        </p:spPr>
        <p:txBody>
          <a:bodyPr wrap="square" lIns="0" tIns="0" rIns="0" bIns="0" rtlCol="0" anchor="ctr"/>
          <a:lstStyle/>
          <a:p>
            <a:pPr marL="0" indent="0">
              <a:buNone/>
            </a:pPr>
            <a:r>
              <a:rPr lang="en-US" dirty="0">
                <a:solidFill>
                  <a:srgbClr val="2A1B4D"/>
                </a:solidFill>
              </a:rPr>
              <a:t>Prepare for the future</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PLAN: THE TWIST</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2000" b="1" i="1" dirty="0">
                <a:solidFill>
                  <a:srgbClr val="5A4A85"/>
                </a:solidFill>
                <a:latin typeface="Calibri" pitchFamily="34" charset="0"/>
                <a:ea typeface="Calibri" pitchFamily="34" charset="-122"/>
                <a:cs typeface="Calibri" pitchFamily="34" charset="-120"/>
              </a:rPr>
              <a:t>Change ONE important thing.</a:t>
            </a:r>
            <a:endParaRPr lang="en-US" sz="2000" b="1" dirty="0"/>
          </a:p>
        </p:txBody>
      </p:sp>
      <p:sp>
        <p:nvSpPr>
          <p:cNvPr id="7" name="Shape 5"/>
          <p:cNvSpPr/>
          <p:nvPr/>
        </p:nvSpPr>
        <p:spPr>
          <a:xfrm>
            <a:off x="457200" y="1691640"/>
            <a:ext cx="4000500" cy="2926080"/>
          </a:xfrm>
          <a:prstGeom prst="roundRect">
            <a:avLst>
              <a:gd name="adj" fmla="val 4688"/>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Text 6"/>
          <p:cNvSpPr txBox="1"/>
          <p:nvPr/>
        </p:nvSpPr>
        <p:spPr>
          <a:xfrm>
            <a:off x="594360" y="1828800"/>
            <a:ext cx="3726180" cy="457200"/>
          </a:xfrm>
          <a:prstGeom prst="roundRect">
            <a:avLst>
              <a:gd name="adj" fmla="val 24000"/>
            </a:avLst>
          </a:prstGeom>
          <a:solidFill>
            <a:srgbClr val="FF8A3D"/>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MY TWIST IS…</a:t>
            </a:r>
            <a:endParaRPr lang="en-US" sz="1600" dirty="0"/>
          </a:p>
        </p:txBody>
      </p:sp>
      <p:sp>
        <p:nvSpPr>
          <p:cNvPr id="9" name="Text 7"/>
          <p:cNvSpPr txBox="1"/>
          <p:nvPr/>
        </p:nvSpPr>
        <p:spPr>
          <a:xfrm>
            <a:off x="640080" y="2423160"/>
            <a:ext cx="3634740" cy="2057400"/>
          </a:xfrm>
          <a:prstGeom prst="rect">
            <a:avLst/>
          </a:prstGeom>
          <a:noFill/>
          <a:ln/>
        </p:spPr>
        <p:txBody>
          <a:bodyPr wrap="square" lIns="0" tIns="0" rIns="0" bIns="0" rtlCol="0" anchor="t"/>
          <a:lstStyle/>
          <a:p>
            <a:pPr marL="0" indent="0">
              <a:spcAft>
                <a:spcPts val="600"/>
              </a:spcAft>
              <a:buNone/>
            </a:pPr>
            <a:r>
              <a:rPr lang="en-US" dirty="0">
                <a:solidFill>
                  <a:srgbClr val="2A1B4D"/>
                </a:solidFill>
              </a:rPr>
              <a:t>What if ______________________ ?</a:t>
            </a:r>
            <a:endParaRPr lang="en-US" dirty="0"/>
          </a:p>
        </p:txBody>
      </p:sp>
      <p:sp>
        <p:nvSpPr>
          <p:cNvPr id="10" name="Shape 8"/>
          <p:cNvSpPr/>
          <p:nvPr/>
        </p:nvSpPr>
        <p:spPr>
          <a:xfrm>
            <a:off x="4686300" y="1691640"/>
            <a:ext cx="4000500" cy="2926080"/>
          </a:xfrm>
          <a:prstGeom prst="roundRect">
            <a:avLst>
              <a:gd name="adj" fmla="val 4688"/>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1" name="Text 9"/>
          <p:cNvSpPr txBox="1"/>
          <p:nvPr/>
        </p:nvSpPr>
        <p:spPr>
          <a:xfrm>
            <a:off x="4823460" y="1828800"/>
            <a:ext cx="3726180" cy="457200"/>
          </a:xfrm>
          <a:prstGeom prst="roundRect">
            <a:avLst>
              <a:gd name="adj" fmla="val 24000"/>
            </a:avLst>
          </a:prstGeom>
          <a:solidFill>
            <a:srgbClr val="1FB5A8"/>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I AM CHANGING</a:t>
            </a:r>
            <a:endParaRPr lang="en-US" sz="1600" dirty="0"/>
          </a:p>
        </p:txBody>
      </p:sp>
      <p:sp>
        <p:nvSpPr>
          <p:cNvPr id="12" name="Text 10"/>
          <p:cNvSpPr txBox="1"/>
          <p:nvPr/>
        </p:nvSpPr>
        <p:spPr>
          <a:xfrm>
            <a:off x="4869180" y="2423160"/>
            <a:ext cx="3634740" cy="2057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A1B4D"/>
                </a:solidFill>
              </a:rPr>
              <a:t>the character</a:t>
            </a:r>
            <a:endParaRPr lang="en-US" sz="1500" dirty="0"/>
          </a:p>
          <a:p>
            <a:pPr marL="342900" indent="-342900">
              <a:spcAft>
                <a:spcPts val="600"/>
              </a:spcAft>
              <a:buSzPct val="100000"/>
              <a:buChar char="•"/>
            </a:pPr>
            <a:r>
              <a:rPr lang="en-US" sz="1500" dirty="0">
                <a:solidFill>
                  <a:srgbClr val="2A1B4D"/>
                </a:solidFill>
              </a:rPr>
              <a:t>the character's behaviour</a:t>
            </a:r>
            <a:endParaRPr lang="en-US" sz="1500" dirty="0"/>
          </a:p>
          <a:p>
            <a:pPr marL="342900" indent="-342900">
              <a:spcAft>
                <a:spcPts val="600"/>
              </a:spcAft>
              <a:buSzPct val="100000"/>
              <a:buChar char="•"/>
            </a:pPr>
            <a:r>
              <a:rPr lang="en-US" sz="1500" dirty="0">
                <a:solidFill>
                  <a:srgbClr val="2A1B4D"/>
                </a:solidFill>
              </a:rPr>
              <a:t>the problem</a:t>
            </a:r>
            <a:endParaRPr lang="en-US" sz="1500" dirty="0"/>
          </a:p>
          <a:p>
            <a:pPr marL="342900" indent="-342900">
              <a:spcAft>
                <a:spcPts val="600"/>
              </a:spcAft>
              <a:buSzPct val="100000"/>
              <a:buChar char="•"/>
            </a:pPr>
            <a:r>
              <a:rPr lang="en-US" sz="1500" dirty="0">
                <a:solidFill>
                  <a:srgbClr val="2A1B4D"/>
                </a:solidFill>
              </a:rPr>
              <a:t>an important event</a:t>
            </a:r>
            <a:endParaRPr lang="en-US" sz="1500" dirty="0"/>
          </a:p>
          <a:p>
            <a:pPr marL="342900" indent="-342900">
              <a:spcAft>
                <a:spcPts val="600"/>
              </a:spcAft>
              <a:buSzPct val="100000"/>
              <a:buChar char="•"/>
            </a:pPr>
            <a:r>
              <a:rPr lang="en-US" sz="1500" dirty="0">
                <a:solidFill>
                  <a:srgbClr val="2A1B4D"/>
                </a:solidFill>
              </a:rPr>
              <a:t>the ending</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MODEL: THE TWIST</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280160"/>
            <a:ext cx="2377440" cy="685800"/>
          </a:xfrm>
          <a:prstGeom prst="roundRect">
            <a:avLst>
              <a:gd name="adj" fmla="val 16000"/>
            </a:avLst>
          </a:prstGeom>
          <a:solidFill>
            <a:srgbClr val="FF8A3D"/>
          </a:solidFill>
          <a:ln/>
        </p:spPr>
        <p:txBody>
          <a:bodyPr wrap="square" lIns="76200" tIns="76200" rIns="76200" bIns="7620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What if…</a:t>
            </a:r>
            <a:endParaRPr lang="en-US" sz="2800" dirty="0"/>
          </a:p>
        </p:txBody>
      </p:sp>
      <p:sp>
        <p:nvSpPr>
          <p:cNvPr id="7" name="Shape 5"/>
          <p:cNvSpPr/>
          <p:nvPr/>
        </p:nvSpPr>
        <p:spPr>
          <a:xfrm>
            <a:off x="2971800" y="1280160"/>
            <a:ext cx="5715000" cy="685800"/>
          </a:xfrm>
          <a:prstGeom prst="roundRect">
            <a:avLst>
              <a:gd name="adj" fmla="val 16000"/>
            </a:avLst>
          </a:prstGeom>
          <a:solidFill>
            <a:srgbClr val="FFFFFF"/>
          </a:solidFill>
          <a:ln w="19050">
            <a:solidFill>
              <a:srgbClr val="1FB5A8"/>
            </a:solidFill>
            <a:prstDash val="solid"/>
          </a:ln>
        </p:spPr>
      </p:sp>
      <p:sp>
        <p:nvSpPr>
          <p:cNvPr id="8" name="Text 6"/>
          <p:cNvSpPr txBox="1"/>
          <p:nvPr/>
        </p:nvSpPr>
        <p:spPr>
          <a:xfrm>
            <a:off x="3017520" y="1280160"/>
            <a:ext cx="5532120" cy="685800"/>
          </a:xfrm>
          <a:prstGeom prst="rect">
            <a:avLst/>
          </a:prstGeom>
          <a:noFill/>
          <a:ln/>
        </p:spPr>
        <p:txBody>
          <a:bodyPr wrap="square" lIns="0" tIns="0" rIns="0" bIns="0" rtlCol="0" anchor="ctr"/>
          <a:lstStyle/>
          <a:p>
            <a:pPr marL="0" indent="0">
              <a:buNone/>
            </a:pPr>
            <a:r>
              <a:rPr lang="en-US" sz="2000" dirty="0">
                <a:solidFill>
                  <a:srgbClr val="2A1B4D"/>
                </a:solidFill>
              </a:rPr>
              <a:t>the Grasshopper realised his mistake before winter?</a:t>
            </a:r>
            <a:endParaRPr lang="en-US" sz="2000" dirty="0"/>
          </a:p>
        </p:txBody>
      </p:sp>
      <p:sp>
        <p:nvSpPr>
          <p:cNvPr id="9" name="Text 7"/>
          <p:cNvSpPr txBox="1"/>
          <p:nvPr/>
        </p:nvSpPr>
        <p:spPr>
          <a:xfrm>
            <a:off x="457200" y="2075688"/>
            <a:ext cx="2377440" cy="685800"/>
          </a:xfrm>
          <a:prstGeom prst="roundRect">
            <a:avLst>
              <a:gd name="adj" fmla="val 16000"/>
            </a:avLst>
          </a:prstGeom>
          <a:solidFill>
            <a:srgbClr val="1FB5A8"/>
          </a:solidFill>
          <a:ln/>
        </p:spPr>
        <p:txBody>
          <a:bodyPr wrap="square" lIns="76200" tIns="76200" rIns="76200" bIns="7620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I am changing:</a:t>
            </a:r>
            <a:endParaRPr lang="en-US" sz="2400" dirty="0"/>
          </a:p>
        </p:txBody>
      </p:sp>
      <p:sp>
        <p:nvSpPr>
          <p:cNvPr id="10" name="Shape 8"/>
          <p:cNvSpPr/>
          <p:nvPr/>
        </p:nvSpPr>
        <p:spPr>
          <a:xfrm>
            <a:off x="2971800" y="2075688"/>
            <a:ext cx="5715000" cy="685800"/>
          </a:xfrm>
          <a:prstGeom prst="roundRect">
            <a:avLst>
              <a:gd name="adj" fmla="val 16000"/>
            </a:avLst>
          </a:prstGeom>
          <a:solidFill>
            <a:srgbClr val="FFFFFF"/>
          </a:solidFill>
          <a:ln w="19050">
            <a:solidFill>
              <a:srgbClr val="1FB5A8"/>
            </a:solidFill>
            <a:prstDash val="solid"/>
          </a:ln>
        </p:spPr>
      </p:sp>
      <p:sp>
        <p:nvSpPr>
          <p:cNvPr id="11" name="Text 9"/>
          <p:cNvSpPr txBox="1"/>
          <p:nvPr/>
        </p:nvSpPr>
        <p:spPr>
          <a:xfrm>
            <a:off x="3154680" y="2075688"/>
            <a:ext cx="5394960" cy="685800"/>
          </a:xfrm>
          <a:prstGeom prst="rect">
            <a:avLst/>
          </a:prstGeom>
          <a:noFill/>
          <a:ln/>
        </p:spPr>
        <p:txBody>
          <a:bodyPr wrap="square" lIns="0" tIns="0" rIns="0" bIns="0" rtlCol="0" anchor="ctr"/>
          <a:lstStyle/>
          <a:p>
            <a:pPr marL="0" indent="0">
              <a:buNone/>
            </a:pPr>
            <a:r>
              <a:rPr lang="en-US" sz="2000" dirty="0">
                <a:solidFill>
                  <a:srgbClr val="2A1B4D"/>
                </a:solidFill>
              </a:rPr>
              <a:t>the character's behaviour</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PLAN: THE CONSEQUENCES</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280160"/>
            <a:ext cx="2743200" cy="579730"/>
          </a:xfrm>
          <a:prstGeom prst="roundRect">
            <a:avLst>
              <a:gd name="adj" fmla="val 18927"/>
            </a:avLst>
          </a:prstGeom>
          <a:solidFill>
            <a:srgbClr val="FF8A3D"/>
          </a:solidFill>
          <a:ln/>
        </p:spPr>
        <p:txBody>
          <a:bodyPr wrap="square" lIns="76200" tIns="76200" rIns="76200" bIns="762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Because of my twist…</a:t>
            </a:r>
            <a:endParaRPr lang="en-US" sz="2000" dirty="0"/>
          </a:p>
        </p:txBody>
      </p:sp>
      <p:sp>
        <p:nvSpPr>
          <p:cNvPr id="7" name="Shape 5"/>
          <p:cNvSpPr/>
          <p:nvPr/>
        </p:nvSpPr>
        <p:spPr>
          <a:xfrm>
            <a:off x="3337560" y="1280160"/>
            <a:ext cx="5349240" cy="579730"/>
          </a:xfrm>
          <a:prstGeom prst="roundRect">
            <a:avLst>
              <a:gd name="adj" fmla="val 18927"/>
            </a:avLst>
          </a:prstGeom>
          <a:solidFill>
            <a:srgbClr val="FFFFFF"/>
          </a:solidFill>
          <a:ln w="12700">
            <a:solidFill>
              <a:srgbClr val="CFC3F2"/>
            </a:solidFill>
            <a:prstDash val="dash"/>
          </a:ln>
        </p:spPr>
      </p:sp>
      <p:sp>
        <p:nvSpPr>
          <p:cNvPr id="8" name="Text 6"/>
          <p:cNvSpPr txBox="1"/>
          <p:nvPr/>
        </p:nvSpPr>
        <p:spPr>
          <a:xfrm>
            <a:off x="457200" y="1969618"/>
            <a:ext cx="2743200" cy="579730"/>
          </a:xfrm>
          <a:prstGeom prst="roundRect">
            <a:avLst>
              <a:gd name="adj" fmla="val 18927"/>
            </a:avLst>
          </a:prstGeom>
          <a:solidFill>
            <a:srgbClr val="1FB5A8"/>
          </a:solidFill>
          <a:ln/>
        </p:spPr>
        <p:txBody>
          <a:bodyPr wrap="square" lIns="76200" tIns="76200" rIns="76200" bIns="7620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Then…</a:t>
            </a:r>
            <a:endParaRPr lang="en-US" sz="2400" dirty="0"/>
          </a:p>
        </p:txBody>
      </p:sp>
      <p:sp>
        <p:nvSpPr>
          <p:cNvPr id="9" name="Shape 7"/>
          <p:cNvSpPr/>
          <p:nvPr/>
        </p:nvSpPr>
        <p:spPr>
          <a:xfrm>
            <a:off x="3337560" y="1969618"/>
            <a:ext cx="5349240" cy="579730"/>
          </a:xfrm>
          <a:prstGeom prst="roundRect">
            <a:avLst>
              <a:gd name="adj" fmla="val 18927"/>
            </a:avLst>
          </a:prstGeom>
          <a:solidFill>
            <a:srgbClr val="FFFFFF"/>
          </a:solidFill>
          <a:ln w="12700">
            <a:solidFill>
              <a:srgbClr val="CFC3F2"/>
            </a:solidFill>
            <a:prstDash val="dash"/>
          </a:ln>
        </p:spPr>
      </p:sp>
      <p:sp>
        <p:nvSpPr>
          <p:cNvPr id="10" name="Text 8"/>
          <p:cNvSpPr txBox="1"/>
          <p:nvPr/>
        </p:nvSpPr>
        <p:spPr>
          <a:xfrm>
            <a:off x="457200" y="2659075"/>
            <a:ext cx="2743200" cy="579730"/>
          </a:xfrm>
          <a:prstGeom prst="roundRect">
            <a:avLst>
              <a:gd name="adj" fmla="val 18927"/>
            </a:avLst>
          </a:prstGeom>
          <a:solidFill>
            <a:srgbClr val="E85D9E"/>
          </a:solidFill>
          <a:ln/>
        </p:spPr>
        <p:txBody>
          <a:bodyPr wrap="square" lIns="76200" tIns="76200" rIns="76200" bIns="7620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As a result…</a:t>
            </a:r>
            <a:endParaRPr lang="en-US" sz="2400" dirty="0"/>
          </a:p>
        </p:txBody>
      </p:sp>
      <p:sp>
        <p:nvSpPr>
          <p:cNvPr id="11" name="Shape 9"/>
          <p:cNvSpPr/>
          <p:nvPr/>
        </p:nvSpPr>
        <p:spPr>
          <a:xfrm>
            <a:off x="3337560" y="2659075"/>
            <a:ext cx="5349240" cy="579730"/>
          </a:xfrm>
          <a:prstGeom prst="roundRect">
            <a:avLst>
              <a:gd name="adj" fmla="val 18927"/>
            </a:avLst>
          </a:prstGeom>
          <a:solidFill>
            <a:srgbClr val="FFFFFF"/>
          </a:solidFill>
          <a:ln w="12700">
            <a:solidFill>
              <a:srgbClr val="CFC3F2"/>
            </a:solidFill>
            <a:prstDash val="dash"/>
          </a:ln>
        </p:spPr>
      </p:sp>
      <p:sp>
        <p:nvSpPr>
          <p:cNvPr id="12" name="Text 10"/>
          <p:cNvSpPr txBox="1"/>
          <p:nvPr/>
        </p:nvSpPr>
        <p:spPr>
          <a:xfrm>
            <a:off x="457200" y="3348533"/>
            <a:ext cx="2743200" cy="579730"/>
          </a:xfrm>
          <a:prstGeom prst="roundRect">
            <a:avLst>
              <a:gd name="adj" fmla="val 18927"/>
            </a:avLst>
          </a:prstGeom>
          <a:solidFill>
            <a:srgbClr val="7B5CE0"/>
          </a:solidFill>
          <a:ln/>
        </p:spPr>
        <p:txBody>
          <a:bodyPr wrap="square" lIns="76200" tIns="76200" rIns="76200" bIns="7620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Finally…</a:t>
            </a:r>
            <a:endParaRPr lang="en-US" sz="2400" dirty="0"/>
          </a:p>
        </p:txBody>
      </p:sp>
      <p:sp>
        <p:nvSpPr>
          <p:cNvPr id="13" name="Shape 11"/>
          <p:cNvSpPr/>
          <p:nvPr/>
        </p:nvSpPr>
        <p:spPr>
          <a:xfrm>
            <a:off x="3337560" y="3348533"/>
            <a:ext cx="5349240" cy="579730"/>
          </a:xfrm>
          <a:prstGeom prst="roundRect">
            <a:avLst>
              <a:gd name="adj" fmla="val 18927"/>
            </a:avLst>
          </a:prstGeom>
          <a:solidFill>
            <a:srgbClr val="FFFFFF"/>
          </a:solidFill>
          <a:ln w="12700">
            <a:solidFill>
              <a:srgbClr val="CFC3F2"/>
            </a:solidFill>
            <a:prstDash val="dash"/>
          </a:ln>
        </p:spPr>
      </p:sp>
      <p:sp>
        <p:nvSpPr>
          <p:cNvPr id="14" name="Text 12"/>
          <p:cNvSpPr txBox="1"/>
          <p:nvPr/>
        </p:nvSpPr>
        <p:spPr>
          <a:xfrm>
            <a:off x="457200" y="4037990"/>
            <a:ext cx="2743200" cy="579730"/>
          </a:xfrm>
          <a:prstGeom prst="roundRect">
            <a:avLst>
              <a:gd name="adj" fmla="val 18927"/>
            </a:avLst>
          </a:prstGeom>
          <a:solidFill>
            <a:srgbClr val="FF8A3D"/>
          </a:solidFill>
          <a:ln/>
        </p:spPr>
        <p:txBody>
          <a:bodyPr wrap="square" lIns="76200" tIns="76200" rIns="76200" bIns="7620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New lesson:</a:t>
            </a:r>
            <a:endParaRPr lang="en-US" sz="2400" dirty="0"/>
          </a:p>
        </p:txBody>
      </p:sp>
      <p:sp>
        <p:nvSpPr>
          <p:cNvPr id="15" name="Shape 13"/>
          <p:cNvSpPr/>
          <p:nvPr/>
        </p:nvSpPr>
        <p:spPr>
          <a:xfrm>
            <a:off x="3337560" y="4037990"/>
            <a:ext cx="5349240" cy="579730"/>
          </a:xfrm>
          <a:prstGeom prst="roundRect">
            <a:avLst>
              <a:gd name="adj" fmla="val 18927"/>
            </a:avLst>
          </a:prstGeom>
          <a:solidFill>
            <a:srgbClr val="FFFFFF"/>
          </a:solidFill>
          <a:ln w="12700">
            <a:solidFill>
              <a:srgbClr val="CFC3F2"/>
            </a:solidFill>
            <a:prstDash val="dash"/>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MODEL: CONSEQUENCES</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280160"/>
            <a:ext cx="2743200" cy="579730"/>
          </a:xfrm>
          <a:prstGeom prst="roundRect">
            <a:avLst>
              <a:gd name="adj" fmla="val 18927"/>
            </a:avLst>
          </a:prstGeom>
          <a:solidFill>
            <a:srgbClr val="FF8A3D"/>
          </a:solidFill>
          <a:ln/>
        </p:spPr>
        <p:txBody>
          <a:bodyPr wrap="square" lIns="76200" tIns="76200" rIns="76200" bIns="762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Because of my twist…</a:t>
            </a:r>
            <a:endParaRPr lang="en-US" sz="2000" dirty="0"/>
          </a:p>
        </p:txBody>
      </p:sp>
      <p:sp>
        <p:nvSpPr>
          <p:cNvPr id="7" name="Shape 5"/>
          <p:cNvSpPr/>
          <p:nvPr/>
        </p:nvSpPr>
        <p:spPr>
          <a:xfrm>
            <a:off x="3337560" y="1280160"/>
            <a:ext cx="5349240" cy="579730"/>
          </a:xfrm>
          <a:prstGeom prst="roundRect">
            <a:avLst>
              <a:gd name="adj" fmla="val 18927"/>
            </a:avLst>
          </a:prstGeom>
          <a:solidFill>
            <a:srgbClr val="FFFFFF"/>
          </a:solidFill>
          <a:ln w="19050">
            <a:solidFill>
              <a:srgbClr val="1FB5A8"/>
            </a:solidFill>
            <a:prstDash val="solid"/>
          </a:ln>
        </p:spPr>
      </p:sp>
      <p:sp>
        <p:nvSpPr>
          <p:cNvPr id="8" name="Text 6"/>
          <p:cNvSpPr txBox="1"/>
          <p:nvPr/>
        </p:nvSpPr>
        <p:spPr>
          <a:xfrm>
            <a:off x="3520440" y="1280160"/>
            <a:ext cx="5029200" cy="579730"/>
          </a:xfrm>
          <a:prstGeom prst="rect">
            <a:avLst/>
          </a:prstGeom>
          <a:noFill/>
          <a:ln/>
        </p:spPr>
        <p:txBody>
          <a:bodyPr wrap="square" lIns="0" tIns="0" rIns="0" bIns="0" rtlCol="0" anchor="ctr"/>
          <a:lstStyle/>
          <a:p>
            <a:pPr marL="0" indent="0">
              <a:buNone/>
            </a:pPr>
            <a:r>
              <a:rPr lang="en-US" sz="1500" dirty="0">
                <a:solidFill>
                  <a:srgbClr val="2A1B4D"/>
                </a:solidFill>
              </a:rPr>
              <a:t>he collects food every day.</a:t>
            </a:r>
            <a:endParaRPr lang="en-US" sz="1500" dirty="0"/>
          </a:p>
        </p:txBody>
      </p:sp>
      <p:sp>
        <p:nvSpPr>
          <p:cNvPr id="9" name="Text 7"/>
          <p:cNvSpPr txBox="1"/>
          <p:nvPr/>
        </p:nvSpPr>
        <p:spPr>
          <a:xfrm>
            <a:off x="457200" y="1969618"/>
            <a:ext cx="2743200" cy="579730"/>
          </a:xfrm>
          <a:prstGeom prst="roundRect">
            <a:avLst>
              <a:gd name="adj" fmla="val 18927"/>
            </a:avLst>
          </a:prstGeom>
          <a:solidFill>
            <a:srgbClr val="1FB5A8"/>
          </a:solidFill>
          <a:ln/>
        </p:spPr>
        <p:txBody>
          <a:bodyPr wrap="square" lIns="76200" tIns="76200" rIns="76200" bIns="762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Then…</a:t>
            </a:r>
            <a:endParaRPr lang="en-US" sz="2000" dirty="0"/>
          </a:p>
        </p:txBody>
      </p:sp>
      <p:sp>
        <p:nvSpPr>
          <p:cNvPr id="10" name="Shape 8"/>
          <p:cNvSpPr/>
          <p:nvPr/>
        </p:nvSpPr>
        <p:spPr>
          <a:xfrm>
            <a:off x="3337560" y="1969618"/>
            <a:ext cx="5349240" cy="579730"/>
          </a:xfrm>
          <a:prstGeom prst="roundRect">
            <a:avLst>
              <a:gd name="adj" fmla="val 18927"/>
            </a:avLst>
          </a:prstGeom>
          <a:solidFill>
            <a:srgbClr val="FFFFFF"/>
          </a:solidFill>
          <a:ln w="19050">
            <a:solidFill>
              <a:srgbClr val="1FB5A8"/>
            </a:solidFill>
            <a:prstDash val="solid"/>
          </a:ln>
        </p:spPr>
      </p:sp>
      <p:sp>
        <p:nvSpPr>
          <p:cNvPr id="11" name="Text 9"/>
          <p:cNvSpPr txBox="1"/>
          <p:nvPr/>
        </p:nvSpPr>
        <p:spPr>
          <a:xfrm>
            <a:off x="3520440" y="1969618"/>
            <a:ext cx="5029200" cy="579730"/>
          </a:xfrm>
          <a:prstGeom prst="rect">
            <a:avLst/>
          </a:prstGeom>
          <a:noFill/>
          <a:ln/>
        </p:spPr>
        <p:txBody>
          <a:bodyPr wrap="square" lIns="0" tIns="0" rIns="0" bIns="0" rtlCol="0" anchor="ctr"/>
          <a:lstStyle/>
          <a:p>
            <a:pPr marL="0" indent="0">
              <a:buNone/>
            </a:pPr>
            <a:r>
              <a:rPr lang="en-US" sz="1500" dirty="0">
                <a:solidFill>
                  <a:srgbClr val="2A1B4D"/>
                </a:solidFill>
              </a:rPr>
              <a:t>he has enough food for winter.</a:t>
            </a:r>
            <a:endParaRPr lang="en-US" sz="1500" dirty="0"/>
          </a:p>
        </p:txBody>
      </p:sp>
      <p:sp>
        <p:nvSpPr>
          <p:cNvPr id="12" name="Text 10"/>
          <p:cNvSpPr txBox="1"/>
          <p:nvPr/>
        </p:nvSpPr>
        <p:spPr>
          <a:xfrm>
            <a:off x="457200" y="2659075"/>
            <a:ext cx="2743200" cy="579730"/>
          </a:xfrm>
          <a:prstGeom prst="roundRect">
            <a:avLst>
              <a:gd name="adj" fmla="val 18927"/>
            </a:avLst>
          </a:prstGeom>
          <a:solidFill>
            <a:srgbClr val="E85D9E"/>
          </a:solidFill>
          <a:ln/>
        </p:spPr>
        <p:txBody>
          <a:bodyPr wrap="square" lIns="76200" tIns="76200" rIns="76200" bIns="762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As a result…</a:t>
            </a:r>
            <a:endParaRPr lang="en-US" sz="2000" dirty="0"/>
          </a:p>
        </p:txBody>
      </p:sp>
      <p:sp>
        <p:nvSpPr>
          <p:cNvPr id="13" name="Shape 11"/>
          <p:cNvSpPr/>
          <p:nvPr/>
        </p:nvSpPr>
        <p:spPr>
          <a:xfrm>
            <a:off x="3337560" y="2659075"/>
            <a:ext cx="5349240" cy="579730"/>
          </a:xfrm>
          <a:prstGeom prst="roundRect">
            <a:avLst>
              <a:gd name="adj" fmla="val 18927"/>
            </a:avLst>
          </a:prstGeom>
          <a:solidFill>
            <a:srgbClr val="FFFFFF"/>
          </a:solidFill>
          <a:ln w="19050">
            <a:solidFill>
              <a:srgbClr val="1FB5A8"/>
            </a:solidFill>
            <a:prstDash val="solid"/>
          </a:ln>
        </p:spPr>
      </p:sp>
      <p:sp>
        <p:nvSpPr>
          <p:cNvPr id="14" name="Text 12"/>
          <p:cNvSpPr txBox="1"/>
          <p:nvPr/>
        </p:nvSpPr>
        <p:spPr>
          <a:xfrm>
            <a:off x="3520440" y="2659075"/>
            <a:ext cx="5029200" cy="579730"/>
          </a:xfrm>
          <a:prstGeom prst="rect">
            <a:avLst/>
          </a:prstGeom>
          <a:noFill/>
          <a:ln/>
        </p:spPr>
        <p:txBody>
          <a:bodyPr wrap="square" lIns="0" tIns="0" rIns="0" bIns="0" rtlCol="0" anchor="ctr"/>
          <a:lstStyle/>
          <a:p>
            <a:pPr marL="0" indent="0">
              <a:buNone/>
            </a:pPr>
            <a:r>
              <a:rPr lang="en-US" sz="1500" dirty="0">
                <a:solidFill>
                  <a:srgbClr val="2A1B4D"/>
                </a:solidFill>
              </a:rPr>
              <a:t>he does not need to ask the Ant for help.</a:t>
            </a:r>
            <a:endParaRPr lang="en-US" sz="1500" dirty="0"/>
          </a:p>
        </p:txBody>
      </p:sp>
      <p:sp>
        <p:nvSpPr>
          <p:cNvPr id="15" name="Text 13"/>
          <p:cNvSpPr txBox="1"/>
          <p:nvPr/>
        </p:nvSpPr>
        <p:spPr>
          <a:xfrm>
            <a:off x="457200" y="3348533"/>
            <a:ext cx="2743200" cy="579730"/>
          </a:xfrm>
          <a:prstGeom prst="roundRect">
            <a:avLst>
              <a:gd name="adj" fmla="val 18927"/>
            </a:avLst>
          </a:prstGeom>
          <a:solidFill>
            <a:srgbClr val="7B5CE0"/>
          </a:solidFill>
          <a:ln/>
        </p:spPr>
        <p:txBody>
          <a:bodyPr wrap="square" lIns="76200" tIns="76200" rIns="76200" bIns="762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Finally…</a:t>
            </a:r>
            <a:endParaRPr lang="en-US" sz="2000" dirty="0"/>
          </a:p>
        </p:txBody>
      </p:sp>
      <p:sp>
        <p:nvSpPr>
          <p:cNvPr id="16" name="Shape 14"/>
          <p:cNvSpPr/>
          <p:nvPr/>
        </p:nvSpPr>
        <p:spPr>
          <a:xfrm>
            <a:off x="3337560" y="3348533"/>
            <a:ext cx="5349240" cy="579730"/>
          </a:xfrm>
          <a:prstGeom prst="roundRect">
            <a:avLst>
              <a:gd name="adj" fmla="val 18927"/>
            </a:avLst>
          </a:prstGeom>
          <a:solidFill>
            <a:srgbClr val="FFFFFF"/>
          </a:solidFill>
          <a:ln w="19050">
            <a:solidFill>
              <a:srgbClr val="1FB5A8"/>
            </a:solidFill>
            <a:prstDash val="solid"/>
          </a:ln>
        </p:spPr>
      </p:sp>
      <p:sp>
        <p:nvSpPr>
          <p:cNvPr id="17" name="Text 15"/>
          <p:cNvSpPr txBox="1"/>
          <p:nvPr/>
        </p:nvSpPr>
        <p:spPr>
          <a:xfrm>
            <a:off x="3520440" y="3348533"/>
            <a:ext cx="5029200" cy="579730"/>
          </a:xfrm>
          <a:prstGeom prst="rect">
            <a:avLst/>
          </a:prstGeom>
          <a:noFill/>
          <a:ln/>
        </p:spPr>
        <p:txBody>
          <a:bodyPr wrap="square" lIns="0" tIns="0" rIns="0" bIns="0" rtlCol="0" anchor="ctr"/>
          <a:lstStyle/>
          <a:p>
            <a:pPr marL="0" indent="0">
              <a:buNone/>
            </a:pPr>
            <a:r>
              <a:rPr lang="en-US" sz="1500" dirty="0">
                <a:solidFill>
                  <a:srgbClr val="2A1B4D"/>
                </a:solidFill>
              </a:rPr>
              <a:t>he stays safe and warm.</a:t>
            </a:r>
            <a:endParaRPr lang="en-US" sz="1500" dirty="0"/>
          </a:p>
        </p:txBody>
      </p:sp>
      <p:sp>
        <p:nvSpPr>
          <p:cNvPr id="18" name="Text 16"/>
          <p:cNvSpPr txBox="1"/>
          <p:nvPr/>
        </p:nvSpPr>
        <p:spPr>
          <a:xfrm>
            <a:off x="457200" y="4037990"/>
            <a:ext cx="2743200" cy="579730"/>
          </a:xfrm>
          <a:prstGeom prst="roundRect">
            <a:avLst>
              <a:gd name="adj" fmla="val 18927"/>
            </a:avLst>
          </a:prstGeom>
          <a:solidFill>
            <a:srgbClr val="FF8A3D"/>
          </a:solidFill>
          <a:ln/>
        </p:spPr>
        <p:txBody>
          <a:bodyPr wrap="square" lIns="76200" tIns="76200" rIns="76200" bIns="762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New lesson:</a:t>
            </a:r>
            <a:endParaRPr lang="en-US" sz="2000" dirty="0"/>
          </a:p>
        </p:txBody>
      </p:sp>
      <p:sp>
        <p:nvSpPr>
          <p:cNvPr id="19" name="Shape 17"/>
          <p:cNvSpPr/>
          <p:nvPr/>
        </p:nvSpPr>
        <p:spPr>
          <a:xfrm>
            <a:off x="3337560" y="4037990"/>
            <a:ext cx="5349240" cy="579730"/>
          </a:xfrm>
          <a:prstGeom prst="roundRect">
            <a:avLst>
              <a:gd name="adj" fmla="val 18927"/>
            </a:avLst>
          </a:prstGeom>
          <a:solidFill>
            <a:srgbClr val="FFFFFF"/>
          </a:solidFill>
          <a:ln w="19050">
            <a:solidFill>
              <a:srgbClr val="1FB5A8"/>
            </a:solidFill>
            <a:prstDash val="solid"/>
          </a:ln>
        </p:spPr>
      </p:sp>
      <p:sp>
        <p:nvSpPr>
          <p:cNvPr id="20" name="Text 18"/>
          <p:cNvSpPr txBox="1"/>
          <p:nvPr/>
        </p:nvSpPr>
        <p:spPr>
          <a:xfrm>
            <a:off x="3520440" y="4037990"/>
            <a:ext cx="5029200" cy="579730"/>
          </a:xfrm>
          <a:prstGeom prst="rect">
            <a:avLst/>
          </a:prstGeom>
          <a:noFill/>
          <a:ln/>
        </p:spPr>
        <p:txBody>
          <a:bodyPr wrap="square" lIns="0" tIns="0" rIns="0" bIns="0" rtlCol="0" anchor="ctr"/>
          <a:lstStyle/>
          <a:p>
            <a:pPr marL="0" indent="0">
              <a:buNone/>
            </a:pPr>
            <a:r>
              <a:rPr lang="en-US" sz="1500" dirty="0">
                <a:solidFill>
                  <a:srgbClr val="2A1B4D"/>
                </a:solidFill>
              </a:rPr>
              <a:t>Recognise your mistake and change in time.</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2800" b="1" dirty="0">
                <a:solidFill>
                  <a:srgbClr val="2A1B4D"/>
                </a:solidFill>
                <a:latin typeface="Cambria" pitchFamily="34" charset="0"/>
                <a:ea typeface="Cambria" pitchFamily="34" charset="-122"/>
                <a:cs typeface="Cambria" pitchFamily="34" charset="-120"/>
              </a:rPr>
              <a:t>WRITE YOUR TWISTED FABLE</a:t>
            </a:r>
            <a:endParaRPr lang="en-US" sz="28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280160"/>
            <a:ext cx="1828800" cy="464820"/>
          </a:xfrm>
          <a:prstGeom prst="roundRect">
            <a:avLst>
              <a:gd name="adj" fmla="val 23607"/>
            </a:avLst>
          </a:prstGeom>
          <a:solidFill>
            <a:srgbClr val="FF8A3D"/>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BEGINNING</a:t>
            </a:r>
            <a:endParaRPr lang="en-US" sz="1400" dirty="0"/>
          </a:p>
        </p:txBody>
      </p:sp>
      <p:sp>
        <p:nvSpPr>
          <p:cNvPr id="7" name="Shape 5"/>
          <p:cNvSpPr/>
          <p:nvPr/>
        </p:nvSpPr>
        <p:spPr>
          <a:xfrm>
            <a:off x="2423160" y="1280160"/>
            <a:ext cx="6263640" cy="464820"/>
          </a:xfrm>
          <a:prstGeom prst="roundRect">
            <a:avLst>
              <a:gd name="adj" fmla="val 23607"/>
            </a:avLst>
          </a:prstGeom>
          <a:solidFill>
            <a:srgbClr val="FFFFFF"/>
          </a:solidFill>
          <a:ln w="12700">
            <a:solidFill>
              <a:srgbClr val="CFC3F2"/>
            </a:solidFill>
            <a:prstDash val="dash"/>
          </a:ln>
        </p:spPr>
      </p:sp>
      <p:sp>
        <p:nvSpPr>
          <p:cNvPr id="8" name="Text 6"/>
          <p:cNvSpPr txBox="1"/>
          <p:nvPr/>
        </p:nvSpPr>
        <p:spPr>
          <a:xfrm>
            <a:off x="2606040" y="1280160"/>
            <a:ext cx="5943600" cy="464820"/>
          </a:xfrm>
          <a:prstGeom prst="rect">
            <a:avLst/>
          </a:prstGeom>
          <a:noFill/>
          <a:ln/>
        </p:spPr>
        <p:txBody>
          <a:bodyPr wrap="square" lIns="0" tIns="0" rIns="0" bIns="0" rtlCol="0" anchor="ctr"/>
          <a:lstStyle/>
          <a:p>
            <a:pPr marL="0" indent="0">
              <a:buNone/>
            </a:pPr>
            <a:r>
              <a:rPr lang="en-US" sz="1400" i="1" dirty="0">
                <a:solidFill>
                  <a:srgbClr val="7A6BA8"/>
                </a:solidFill>
              </a:rPr>
              <a:t>One ______ day, ______ was…</a:t>
            </a:r>
            <a:endParaRPr lang="en-US" sz="1400" dirty="0"/>
          </a:p>
        </p:txBody>
      </p:sp>
      <p:sp>
        <p:nvSpPr>
          <p:cNvPr id="9" name="Text 7"/>
          <p:cNvSpPr txBox="1"/>
          <p:nvPr/>
        </p:nvSpPr>
        <p:spPr>
          <a:xfrm>
            <a:off x="457200" y="1854708"/>
            <a:ext cx="1828800" cy="464820"/>
          </a:xfrm>
          <a:prstGeom prst="roundRect">
            <a:avLst>
              <a:gd name="adj" fmla="val 23607"/>
            </a:avLst>
          </a:prstGeom>
          <a:solidFill>
            <a:srgbClr val="1FB5A8"/>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PROBLEM</a:t>
            </a:r>
            <a:endParaRPr lang="en-US" sz="1400" dirty="0"/>
          </a:p>
        </p:txBody>
      </p:sp>
      <p:sp>
        <p:nvSpPr>
          <p:cNvPr id="10" name="Shape 8"/>
          <p:cNvSpPr/>
          <p:nvPr/>
        </p:nvSpPr>
        <p:spPr>
          <a:xfrm>
            <a:off x="2423160" y="1854708"/>
            <a:ext cx="6263640" cy="464820"/>
          </a:xfrm>
          <a:prstGeom prst="roundRect">
            <a:avLst>
              <a:gd name="adj" fmla="val 23607"/>
            </a:avLst>
          </a:prstGeom>
          <a:solidFill>
            <a:srgbClr val="FFFFFF"/>
          </a:solidFill>
          <a:ln w="12700">
            <a:solidFill>
              <a:srgbClr val="CFC3F2"/>
            </a:solidFill>
            <a:prstDash val="dash"/>
          </a:ln>
        </p:spPr>
      </p:sp>
      <p:sp>
        <p:nvSpPr>
          <p:cNvPr id="11" name="Text 9"/>
          <p:cNvSpPr txBox="1"/>
          <p:nvPr/>
        </p:nvSpPr>
        <p:spPr>
          <a:xfrm>
            <a:off x="2606040" y="1854708"/>
            <a:ext cx="5943600" cy="464820"/>
          </a:xfrm>
          <a:prstGeom prst="rect">
            <a:avLst/>
          </a:prstGeom>
          <a:noFill/>
          <a:ln/>
        </p:spPr>
        <p:txBody>
          <a:bodyPr wrap="square" lIns="0" tIns="0" rIns="0" bIns="0" rtlCol="0" anchor="ctr"/>
          <a:lstStyle/>
          <a:p>
            <a:pPr marL="0" indent="0">
              <a:buNone/>
            </a:pPr>
            <a:r>
              <a:rPr lang="en-US" sz="1400" i="1" dirty="0">
                <a:solidFill>
                  <a:srgbClr val="7A6BA8"/>
                </a:solidFill>
              </a:rPr>
              <a:t>But one day…</a:t>
            </a:r>
            <a:endParaRPr lang="en-US" sz="1400" dirty="0"/>
          </a:p>
        </p:txBody>
      </p:sp>
      <p:sp>
        <p:nvSpPr>
          <p:cNvPr id="12" name="Text 10"/>
          <p:cNvSpPr txBox="1"/>
          <p:nvPr/>
        </p:nvSpPr>
        <p:spPr>
          <a:xfrm>
            <a:off x="457200" y="2429256"/>
            <a:ext cx="1828800" cy="464820"/>
          </a:xfrm>
          <a:prstGeom prst="roundRect">
            <a:avLst>
              <a:gd name="adj" fmla="val 23607"/>
            </a:avLst>
          </a:prstGeom>
          <a:solidFill>
            <a:srgbClr val="E85D9E"/>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TWIST</a:t>
            </a:r>
            <a:endParaRPr lang="en-US" sz="1400" dirty="0"/>
          </a:p>
        </p:txBody>
      </p:sp>
      <p:sp>
        <p:nvSpPr>
          <p:cNvPr id="13" name="Shape 11"/>
          <p:cNvSpPr/>
          <p:nvPr/>
        </p:nvSpPr>
        <p:spPr>
          <a:xfrm>
            <a:off x="2423160" y="2429256"/>
            <a:ext cx="6263640" cy="464820"/>
          </a:xfrm>
          <a:prstGeom prst="roundRect">
            <a:avLst>
              <a:gd name="adj" fmla="val 23607"/>
            </a:avLst>
          </a:prstGeom>
          <a:solidFill>
            <a:srgbClr val="FFFFFF"/>
          </a:solidFill>
          <a:ln w="12700">
            <a:solidFill>
              <a:srgbClr val="CFC3F2"/>
            </a:solidFill>
            <a:prstDash val="dash"/>
          </a:ln>
        </p:spPr>
      </p:sp>
      <p:sp>
        <p:nvSpPr>
          <p:cNvPr id="14" name="Text 12"/>
          <p:cNvSpPr txBox="1"/>
          <p:nvPr/>
        </p:nvSpPr>
        <p:spPr>
          <a:xfrm>
            <a:off x="2606040" y="2429256"/>
            <a:ext cx="5943600" cy="464820"/>
          </a:xfrm>
          <a:prstGeom prst="rect">
            <a:avLst/>
          </a:prstGeom>
          <a:noFill/>
          <a:ln/>
        </p:spPr>
        <p:txBody>
          <a:bodyPr wrap="square" lIns="0" tIns="0" rIns="0" bIns="0" rtlCol="0" anchor="ctr"/>
          <a:lstStyle/>
          <a:p>
            <a:pPr marL="0" indent="0">
              <a:buNone/>
            </a:pPr>
            <a:r>
              <a:rPr lang="en-US" sz="1400" i="1" dirty="0">
                <a:solidFill>
                  <a:srgbClr val="7A6BA8"/>
                </a:solidFill>
              </a:rPr>
              <a:t>This time, ______ decided to…</a:t>
            </a:r>
            <a:endParaRPr lang="en-US" sz="1400" dirty="0"/>
          </a:p>
        </p:txBody>
      </p:sp>
      <p:sp>
        <p:nvSpPr>
          <p:cNvPr id="15" name="Text 13"/>
          <p:cNvSpPr txBox="1"/>
          <p:nvPr/>
        </p:nvSpPr>
        <p:spPr>
          <a:xfrm>
            <a:off x="457200" y="3003804"/>
            <a:ext cx="1828800" cy="464820"/>
          </a:xfrm>
          <a:prstGeom prst="roundRect">
            <a:avLst>
              <a:gd name="adj" fmla="val 23607"/>
            </a:avLst>
          </a:prstGeom>
          <a:solidFill>
            <a:srgbClr val="7B5CE0"/>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CONSEQUENCE</a:t>
            </a:r>
            <a:endParaRPr lang="en-US" sz="1400" dirty="0"/>
          </a:p>
        </p:txBody>
      </p:sp>
      <p:sp>
        <p:nvSpPr>
          <p:cNvPr id="16" name="Shape 14"/>
          <p:cNvSpPr/>
          <p:nvPr/>
        </p:nvSpPr>
        <p:spPr>
          <a:xfrm>
            <a:off x="2423160" y="3003804"/>
            <a:ext cx="6263640" cy="464820"/>
          </a:xfrm>
          <a:prstGeom prst="roundRect">
            <a:avLst>
              <a:gd name="adj" fmla="val 23607"/>
            </a:avLst>
          </a:prstGeom>
          <a:solidFill>
            <a:srgbClr val="FFFFFF"/>
          </a:solidFill>
          <a:ln w="12700">
            <a:solidFill>
              <a:srgbClr val="CFC3F2"/>
            </a:solidFill>
            <a:prstDash val="dash"/>
          </a:ln>
        </p:spPr>
      </p:sp>
      <p:sp>
        <p:nvSpPr>
          <p:cNvPr id="17" name="Text 15"/>
          <p:cNvSpPr txBox="1"/>
          <p:nvPr/>
        </p:nvSpPr>
        <p:spPr>
          <a:xfrm>
            <a:off x="2606040" y="3003804"/>
            <a:ext cx="5943600" cy="464820"/>
          </a:xfrm>
          <a:prstGeom prst="rect">
            <a:avLst/>
          </a:prstGeom>
          <a:noFill/>
          <a:ln/>
        </p:spPr>
        <p:txBody>
          <a:bodyPr wrap="square" lIns="0" tIns="0" rIns="0" bIns="0" rtlCol="0" anchor="ctr"/>
          <a:lstStyle/>
          <a:p>
            <a:pPr marL="0" indent="0">
              <a:buNone/>
            </a:pPr>
            <a:r>
              <a:rPr lang="en-US" sz="1400" i="1" dirty="0">
                <a:solidFill>
                  <a:srgbClr val="7A6BA8"/>
                </a:solidFill>
              </a:rPr>
              <a:t>Because ______…</a:t>
            </a:r>
            <a:endParaRPr lang="en-US" sz="1400" dirty="0"/>
          </a:p>
        </p:txBody>
      </p:sp>
      <p:sp>
        <p:nvSpPr>
          <p:cNvPr id="18" name="Text 16"/>
          <p:cNvSpPr txBox="1"/>
          <p:nvPr/>
        </p:nvSpPr>
        <p:spPr>
          <a:xfrm>
            <a:off x="457200" y="3578352"/>
            <a:ext cx="1828800" cy="464820"/>
          </a:xfrm>
          <a:prstGeom prst="roundRect">
            <a:avLst>
              <a:gd name="adj" fmla="val 23607"/>
            </a:avLst>
          </a:prstGeom>
          <a:solidFill>
            <a:srgbClr val="FF8A3D"/>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ENDING</a:t>
            </a:r>
            <a:endParaRPr lang="en-US" sz="1400" dirty="0"/>
          </a:p>
        </p:txBody>
      </p:sp>
      <p:sp>
        <p:nvSpPr>
          <p:cNvPr id="19" name="Shape 17"/>
          <p:cNvSpPr/>
          <p:nvPr/>
        </p:nvSpPr>
        <p:spPr>
          <a:xfrm>
            <a:off x="2423160" y="3578352"/>
            <a:ext cx="6263640" cy="464820"/>
          </a:xfrm>
          <a:prstGeom prst="roundRect">
            <a:avLst>
              <a:gd name="adj" fmla="val 23607"/>
            </a:avLst>
          </a:prstGeom>
          <a:solidFill>
            <a:srgbClr val="FFFFFF"/>
          </a:solidFill>
          <a:ln w="12700">
            <a:solidFill>
              <a:srgbClr val="CFC3F2"/>
            </a:solidFill>
            <a:prstDash val="dash"/>
          </a:ln>
        </p:spPr>
      </p:sp>
      <p:sp>
        <p:nvSpPr>
          <p:cNvPr id="20" name="Text 18"/>
          <p:cNvSpPr txBox="1"/>
          <p:nvPr/>
        </p:nvSpPr>
        <p:spPr>
          <a:xfrm>
            <a:off x="2606040" y="3578352"/>
            <a:ext cx="5943600" cy="464820"/>
          </a:xfrm>
          <a:prstGeom prst="rect">
            <a:avLst/>
          </a:prstGeom>
          <a:noFill/>
          <a:ln/>
        </p:spPr>
        <p:txBody>
          <a:bodyPr wrap="square" lIns="0" tIns="0" rIns="0" bIns="0" rtlCol="0" anchor="ctr"/>
          <a:lstStyle/>
          <a:p>
            <a:pPr marL="0" indent="0">
              <a:buNone/>
            </a:pPr>
            <a:r>
              <a:rPr lang="en-US" sz="1400" i="1" dirty="0">
                <a:solidFill>
                  <a:srgbClr val="7A6BA8"/>
                </a:solidFill>
              </a:rPr>
              <a:t>In the end…</a:t>
            </a:r>
            <a:endParaRPr lang="en-US" sz="1400" dirty="0"/>
          </a:p>
        </p:txBody>
      </p:sp>
      <p:sp>
        <p:nvSpPr>
          <p:cNvPr id="21" name="Text 19"/>
          <p:cNvSpPr txBox="1"/>
          <p:nvPr/>
        </p:nvSpPr>
        <p:spPr>
          <a:xfrm>
            <a:off x="457200" y="4152900"/>
            <a:ext cx="1828800" cy="464820"/>
          </a:xfrm>
          <a:prstGeom prst="roundRect">
            <a:avLst>
              <a:gd name="adj" fmla="val 23607"/>
            </a:avLst>
          </a:prstGeom>
          <a:solidFill>
            <a:srgbClr val="1FB5A8"/>
          </a:solidFill>
          <a:ln/>
        </p:spPr>
        <p:txBody>
          <a:bodyPr wrap="square" lIns="76200" tIns="76200" rIns="76200" bIns="7620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LESSON</a:t>
            </a:r>
            <a:endParaRPr lang="en-US" sz="1400" dirty="0"/>
          </a:p>
        </p:txBody>
      </p:sp>
      <p:sp>
        <p:nvSpPr>
          <p:cNvPr id="22" name="Shape 20"/>
          <p:cNvSpPr/>
          <p:nvPr/>
        </p:nvSpPr>
        <p:spPr>
          <a:xfrm>
            <a:off x="2423160" y="4152900"/>
            <a:ext cx="6263640" cy="464820"/>
          </a:xfrm>
          <a:prstGeom prst="roundRect">
            <a:avLst>
              <a:gd name="adj" fmla="val 23607"/>
            </a:avLst>
          </a:prstGeom>
          <a:solidFill>
            <a:srgbClr val="FFFFFF"/>
          </a:solidFill>
          <a:ln w="12700">
            <a:solidFill>
              <a:srgbClr val="CFC3F2"/>
            </a:solidFill>
            <a:prstDash val="dash"/>
          </a:ln>
        </p:spPr>
      </p:sp>
      <p:sp>
        <p:nvSpPr>
          <p:cNvPr id="23" name="Text 21"/>
          <p:cNvSpPr txBox="1"/>
          <p:nvPr/>
        </p:nvSpPr>
        <p:spPr>
          <a:xfrm>
            <a:off x="2606040" y="4152900"/>
            <a:ext cx="5943600" cy="464820"/>
          </a:xfrm>
          <a:prstGeom prst="rect">
            <a:avLst/>
          </a:prstGeom>
          <a:noFill/>
          <a:ln/>
        </p:spPr>
        <p:txBody>
          <a:bodyPr wrap="square" lIns="0" tIns="0" rIns="0" bIns="0" rtlCol="0" anchor="ctr"/>
          <a:lstStyle/>
          <a:p>
            <a:pPr marL="0" indent="0">
              <a:buNone/>
            </a:pPr>
            <a:r>
              <a:rPr lang="en-US" sz="1400" i="1" dirty="0">
                <a:solidFill>
                  <a:srgbClr val="7A6BA8"/>
                </a:solidFill>
              </a:rPr>
              <a:t>From this, we learn that…</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2800" b="1" dirty="0">
                <a:solidFill>
                  <a:srgbClr val="2A1B4D"/>
                </a:solidFill>
                <a:latin typeface="Cambria" pitchFamily="34" charset="0"/>
                <a:ea typeface="Cambria" pitchFamily="34" charset="-122"/>
                <a:cs typeface="Cambria" pitchFamily="34" charset="-120"/>
              </a:rPr>
              <a:t>MODEL: FULL TWISTED FABLE</a:t>
            </a:r>
            <a:endParaRPr lang="en-US" sz="28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188720"/>
            <a:ext cx="8229600" cy="3429000"/>
          </a:xfrm>
          <a:prstGeom prst="roundRect">
            <a:avLst>
              <a:gd name="adj" fmla="val 4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685800" y="1280160"/>
            <a:ext cx="7772400" cy="3246120"/>
          </a:xfrm>
          <a:prstGeom prst="rect">
            <a:avLst/>
          </a:prstGeom>
          <a:noFill/>
          <a:ln/>
        </p:spPr>
        <p:txBody>
          <a:bodyPr wrap="square" lIns="0" tIns="0" rIns="0" bIns="0" rtlCol="0" anchor="ctr"/>
          <a:lstStyle/>
          <a:p>
            <a:pPr marL="0" indent="0">
              <a:spcAft>
                <a:spcPts val="900"/>
              </a:spcAft>
              <a:buNone/>
            </a:pPr>
            <a:r>
              <a:rPr lang="en-US" dirty="0">
                <a:solidFill>
                  <a:srgbClr val="2A1B4D"/>
                </a:solidFill>
              </a:rPr>
              <a:t>One sunny summer day, the Grasshopper was singing in the meadow while the Ant carried food past him. "Why work?" he laughed. But that evening, he noticed the leaves turning brown, and he realised winter was coming.</a:t>
            </a:r>
            <a:endParaRPr lang="en-US" dirty="0"/>
          </a:p>
          <a:p>
            <a:pPr marL="0" indent="0">
              <a:spcAft>
                <a:spcPts val="900"/>
              </a:spcAft>
              <a:buNone/>
            </a:pPr>
            <a:r>
              <a:rPr lang="en-US" dirty="0">
                <a:solidFill>
                  <a:srgbClr val="2A1B4D"/>
                </a:solidFill>
              </a:rPr>
              <a:t>This time, the Grasshopper decided to change. "I have wasted too much time," he said, and he began to collect seeds and berries. Because he worked hard every day, his store was full when the first snow arrived.</a:t>
            </a:r>
            <a:endParaRPr lang="en-US" dirty="0"/>
          </a:p>
          <a:p>
            <a:pPr marL="0" indent="0">
              <a:spcAft>
                <a:spcPts val="900"/>
              </a:spcAft>
              <a:buNone/>
            </a:pPr>
            <a:r>
              <a:rPr lang="en-US" dirty="0">
                <a:solidFill>
                  <a:srgbClr val="2A1B4D"/>
                </a:solidFill>
              </a:rPr>
              <a:t>He did not have to beg the Ant for help. Instead, the two insects shared a warm winter and a good laugh. In the end, the Grasshopper was safe and proud of himself. From this, we learn that we should recognise our mistakes and change our behaviour in time.</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2800" b="1" dirty="0">
                <a:solidFill>
                  <a:srgbClr val="2A1B4D"/>
                </a:solidFill>
                <a:latin typeface="Cambria" pitchFamily="34" charset="0"/>
                <a:ea typeface="Cambria" pitchFamily="34" charset="-122"/>
                <a:cs typeface="Cambria" pitchFamily="34" charset="-120"/>
              </a:rPr>
              <a:t>DON'T MAKE THIS MISTAKE</a:t>
            </a:r>
            <a:endParaRPr lang="en-US" sz="28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280160"/>
            <a:ext cx="4000500" cy="3337560"/>
          </a:xfrm>
          <a:prstGeom prst="roundRect">
            <a:avLst>
              <a:gd name="adj" fmla="val 411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94360" y="1417320"/>
            <a:ext cx="3726180" cy="457200"/>
          </a:xfrm>
          <a:prstGeom prst="roundRect">
            <a:avLst>
              <a:gd name="adj" fmla="val 24000"/>
            </a:avLst>
          </a:prstGeom>
          <a:solidFill>
            <a:srgbClr val="E85D9E"/>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WEAK TWIST</a:t>
            </a:r>
            <a:endParaRPr lang="en-US" sz="1600" dirty="0"/>
          </a:p>
        </p:txBody>
      </p:sp>
      <p:sp>
        <p:nvSpPr>
          <p:cNvPr id="8" name="Text 6"/>
          <p:cNvSpPr txBox="1"/>
          <p:nvPr/>
        </p:nvSpPr>
        <p:spPr>
          <a:xfrm>
            <a:off x="640080" y="2011680"/>
            <a:ext cx="3634740" cy="2468880"/>
          </a:xfrm>
          <a:prstGeom prst="rect">
            <a:avLst/>
          </a:prstGeom>
          <a:noFill/>
          <a:ln/>
        </p:spPr>
        <p:txBody>
          <a:bodyPr wrap="square" lIns="0" tIns="0" rIns="0" bIns="0" rtlCol="0" anchor="t"/>
          <a:lstStyle/>
          <a:p>
            <a:pPr marL="0" indent="0">
              <a:spcAft>
                <a:spcPts val="600"/>
              </a:spcAft>
              <a:buNone/>
            </a:pPr>
            <a:r>
              <a:rPr lang="en-US" sz="1500" dirty="0">
                <a:solidFill>
                  <a:srgbClr val="2A1B4D"/>
                </a:solidFill>
              </a:rPr>
              <a:t>The Ant became blue.</a:t>
            </a:r>
            <a:endParaRPr lang="en-US" sz="1500" dirty="0"/>
          </a:p>
          <a:p>
            <a:pPr marL="0" indent="0">
              <a:spcAft>
                <a:spcPts val="600"/>
              </a:spcAft>
              <a:buNone/>
            </a:pPr>
            <a:endParaRPr lang="en-US" sz="1500" dirty="0"/>
          </a:p>
          <a:p>
            <a:pPr marL="0" indent="0">
              <a:spcAft>
                <a:spcPts val="600"/>
              </a:spcAft>
              <a:buNone/>
            </a:pPr>
            <a:r>
              <a:rPr lang="en-US" sz="1500" dirty="0">
                <a:solidFill>
                  <a:srgbClr val="2A1B4D"/>
                </a:solidFill>
              </a:rPr>
              <a:t>Why? It does not really change the story.</a:t>
            </a:r>
            <a:endParaRPr lang="en-US" sz="1500" dirty="0"/>
          </a:p>
        </p:txBody>
      </p:sp>
      <p:sp>
        <p:nvSpPr>
          <p:cNvPr id="9" name="Shape 7"/>
          <p:cNvSpPr/>
          <p:nvPr/>
        </p:nvSpPr>
        <p:spPr>
          <a:xfrm>
            <a:off x="4686300" y="1280160"/>
            <a:ext cx="4000500" cy="3337560"/>
          </a:xfrm>
          <a:prstGeom prst="roundRect">
            <a:avLst>
              <a:gd name="adj" fmla="val 411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0" name="Text 8"/>
          <p:cNvSpPr txBox="1"/>
          <p:nvPr/>
        </p:nvSpPr>
        <p:spPr>
          <a:xfrm>
            <a:off x="4823460" y="1417320"/>
            <a:ext cx="3726180" cy="457200"/>
          </a:xfrm>
          <a:prstGeom prst="roundRect">
            <a:avLst>
              <a:gd name="adj" fmla="val 24000"/>
            </a:avLst>
          </a:prstGeom>
          <a:solidFill>
            <a:srgbClr val="1FB5A8"/>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STRONG TWIST</a:t>
            </a:r>
            <a:endParaRPr lang="en-US" sz="1600" dirty="0"/>
          </a:p>
        </p:txBody>
      </p:sp>
      <p:sp>
        <p:nvSpPr>
          <p:cNvPr id="11" name="Text 9"/>
          <p:cNvSpPr txBox="1"/>
          <p:nvPr/>
        </p:nvSpPr>
        <p:spPr>
          <a:xfrm>
            <a:off x="4869180" y="2011680"/>
            <a:ext cx="3634740" cy="2468880"/>
          </a:xfrm>
          <a:prstGeom prst="rect">
            <a:avLst/>
          </a:prstGeom>
          <a:noFill/>
          <a:ln/>
        </p:spPr>
        <p:txBody>
          <a:bodyPr wrap="square" lIns="0" tIns="0" rIns="0" bIns="0" rtlCol="0" anchor="t"/>
          <a:lstStyle/>
          <a:p>
            <a:pPr marL="0" indent="0">
              <a:spcAft>
                <a:spcPts val="600"/>
              </a:spcAft>
              <a:buNone/>
            </a:pPr>
            <a:r>
              <a:rPr lang="en-US" sz="1500" dirty="0">
                <a:solidFill>
                  <a:srgbClr val="2A1B4D"/>
                </a:solidFill>
              </a:rPr>
              <a:t>The Ant stopped preparing for winter.</a:t>
            </a:r>
            <a:endParaRPr lang="en-US" sz="1500" dirty="0"/>
          </a:p>
          <a:p>
            <a:pPr marL="0" indent="0">
              <a:spcAft>
                <a:spcPts val="600"/>
              </a:spcAft>
              <a:buNone/>
            </a:pPr>
            <a:endParaRPr lang="en-US" sz="1500" dirty="0"/>
          </a:p>
          <a:p>
            <a:pPr marL="0" indent="0">
              <a:spcAft>
                <a:spcPts val="600"/>
              </a:spcAft>
              <a:buNone/>
            </a:pPr>
            <a:r>
              <a:rPr lang="en-US" sz="1500" dirty="0">
                <a:solidFill>
                  <a:srgbClr val="2A1B4D"/>
                </a:solidFill>
              </a:rPr>
              <a:t>Why? It can change the events → the consequences → the ending → the lesson.</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YOUR TASK</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i="1" dirty="0">
                <a:solidFill>
                  <a:srgbClr val="5A4A85"/>
                </a:solidFill>
                <a:latin typeface="Calibri" pitchFamily="34" charset="0"/>
                <a:ea typeface="Calibri" pitchFamily="34" charset="-122"/>
                <a:cs typeface="Calibri" pitchFamily="34" charset="-120"/>
              </a:rPr>
              <a:t>Write a twisted version of a fable: 10–12 connected sentences. Include:</a:t>
            </a:r>
            <a:endParaRPr lang="en-US" sz="1700" dirty="0"/>
          </a:p>
        </p:txBody>
      </p:sp>
      <p:sp>
        <p:nvSpPr>
          <p:cNvPr id="7" name="Shape 5"/>
          <p:cNvSpPr/>
          <p:nvPr/>
        </p:nvSpPr>
        <p:spPr>
          <a:xfrm>
            <a:off x="457200" y="1691640"/>
            <a:ext cx="8229600" cy="381000"/>
          </a:xfrm>
          <a:prstGeom prst="roundRect">
            <a:avLst>
              <a:gd name="adj" fmla="val 36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728216"/>
            <a:ext cx="307848" cy="307848"/>
          </a:xfrm>
          <a:prstGeom prst="ellipse">
            <a:avLst/>
          </a:prstGeom>
          <a:solidFill>
            <a:srgbClr val="FF8A3D"/>
          </a:solidFill>
          <a:ln/>
        </p:spPr>
      </p:sp>
      <p:sp>
        <p:nvSpPr>
          <p:cNvPr id="9" name="Text 7"/>
          <p:cNvSpPr txBox="1"/>
          <p:nvPr/>
        </p:nvSpPr>
        <p:spPr>
          <a:xfrm>
            <a:off x="640080" y="1728216"/>
            <a:ext cx="307848" cy="307848"/>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381000"/>
          </a:xfrm>
          <a:prstGeom prst="rect">
            <a:avLst/>
          </a:prstGeom>
          <a:noFill/>
          <a:ln/>
        </p:spPr>
        <p:txBody>
          <a:bodyPr wrap="square" lIns="0" tIns="0" rIns="0" bIns="0" rtlCol="0" anchor="ctr"/>
          <a:lstStyle/>
          <a:p>
            <a:pPr marL="0" indent="0">
              <a:buNone/>
            </a:pPr>
            <a:r>
              <a:rPr lang="en-US" sz="1600" dirty="0">
                <a:solidFill>
                  <a:srgbClr val="2A1B4D"/>
                </a:solidFill>
              </a:rPr>
              <a:t>A clear beginning</a:t>
            </a:r>
            <a:endParaRPr lang="en-US" sz="1600" dirty="0"/>
          </a:p>
        </p:txBody>
      </p:sp>
      <p:sp>
        <p:nvSpPr>
          <p:cNvPr id="11" name="Shape 9"/>
          <p:cNvSpPr/>
          <p:nvPr/>
        </p:nvSpPr>
        <p:spPr>
          <a:xfrm>
            <a:off x="457200" y="2200656"/>
            <a:ext cx="8229600" cy="381000"/>
          </a:xfrm>
          <a:prstGeom prst="roundRect">
            <a:avLst>
              <a:gd name="adj" fmla="val 36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237232"/>
            <a:ext cx="307848" cy="307848"/>
          </a:xfrm>
          <a:prstGeom prst="ellipse">
            <a:avLst/>
          </a:prstGeom>
          <a:solidFill>
            <a:srgbClr val="1FB5A8"/>
          </a:solidFill>
          <a:ln/>
        </p:spPr>
      </p:sp>
      <p:sp>
        <p:nvSpPr>
          <p:cNvPr id="13" name="Text 11"/>
          <p:cNvSpPr txBox="1"/>
          <p:nvPr/>
        </p:nvSpPr>
        <p:spPr>
          <a:xfrm>
            <a:off x="640080" y="2237232"/>
            <a:ext cx="307848" cy="307848"/>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200656"/>
            <a:ext cx="7315200" cy="381000"/>
          </a:xfrm>
          <a:prstGeom prst="rect">
            <a:avLst/>
          </a:prstGeom>
          <a:noFill/>
          <a:ln/>
        </p:spPr>
        <p:txBody>
          <a:bodyPr wrap="square" lIns="0" tIns="0" rIns="0" bIns="0" rtlCol="0" anchor="ctr"/>
          <a:lstStyle/>
          <a:p>
            <a:pPr marL="0" indent="0">
              <a:buNone/>
            </a:pPr>
            <a:r>
              <a:rPr lang="en-US" sz="1600" dirty="0">
                <a:solidFill>
                  <a:srgbClr val="2A1B4D"/>
                </a:solidFill>
              </a:rPr>
              <a:t>A problem</a:t>
            </a:r>
            <a:endParaRPr lang="en-US" sz="1600" dirty="0"/>
          </a:p>
        </p:txBody>
      </p:sp>
      <p:sp>
        <p:nvSpPr>
          <p:cNvPr id="15" name="Shape 13"/>
          <p:cNvSpPr/>
          <p:nvPr/>
        </p:nvSpPr>
        <p:spPr>
          <a:xfrm>
            <a:off x="457200" y="2709672"/>
            <a:ext cx="8229600" cy="381000"/>
          </a:xfrm>
          <a:prstGeom prst="roundRect">
            <a:avLst>
              <a:gd name="adj" fmla="val 36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2746248"/>
            <a:ext cx="307848" cy="307848"/>
          </a:xfrm>
          <a:prstGeom prst="ellipse">
            <a:avLst/>
          </a:prstGeom>
          <a:solidFill>
            <a:srgbClr val="E85D9E"/>
          </a:solidFill>
          <a:ln/>
        </p:spPr>
      </p:sp>
      <p:sp>
        <p:nvSpPr>
          <p:cNvPr id="17" name="Text 15"/>
          <p:cNvSpPr txBox="1"/>
          <p:nvPr/>
        </p:nvSpPr>
        <p:spPr>
          <a:xfrm>
            <a:off x="640080" y="2746248"/>
            <a:ext cx="307848" cy="307848"/>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2709672"/>
            <a:ext cx="7315200" cy="381000"/>
          </a:xfrm>
          <a:prstGeom prst="rect">
            <a:avLst/>
          </a:prstGeom>
          <a:noFill/>
          <a:ln/>
        </p:spPr>
        <p:txBody>
          <a:bodyPr wrap="square" lIns="0" tIns="0" rIns="0" bIns="0" rtlCol="0" anchor="ctr"/>
          <a:lstStyle/>
          <a:p>
            <a:pPr marL="0" indent="0">
              <a:buNone/>
            </a:pPr>
            <a:r>
              <a:rPr lang="en-US" sz="1600" dirty="0">
                <a:solidFill>
                  <a:srgbClr val="2A1B4D"/>
                </a:solidFill>
              </a:rPr>
              <a:t>One important twist</a:t>
            </a:r>
            <a:endParaRPr lang="en-US" sz="1600" dirty="0"/>
          </a:p>
        </p:txBody>
      </p:sp>
      <p:sp>
        <p:nvSpPr>
          <p:cNvPr id="19" name="Shape 17"/>
          <p:cNvSpPr/>
          <p:nvPr/>
        </p:nvSpPr>
        <p:spPr>
          <a:xfrm>
            <a:off x="457200" y="3218688"/>
            <a:ext cx="8229600" cy="381000"/>
          </a:xfrm>
          <a:prstGeom prst="roundRect">
            <a:avLst>
              <a:gd name="adj" fmla="val 36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3255264"/>
            <a:ext cx="307848" cy="307848"/>
          </a:xfrm>
          <a:prstGeom prst="ellipse">
            <a:avLst/>
          </a:prstGeom>
          <a:solidFill>
            <a:srgbClr val="7B5CE0"/>
          </a:solidFill>
          <a:ln/>
        </p:spPr>
      </p:sp>
      <p:sp>
        <p:nvSpPr>
          <p:cNvPr id="21" name="Text 19"/>
          <p:cNvSpPr txBox="1"/>
          <p:nvPr/>
        </p:nvSpPr>
        <p:spPr>
          <a:xfrm>
            <a:off x="640080" y="3255264"/>
            <a:ext cx="307848" cy="307848"/>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218688"/>
            <a:ext cx="7315200" cy="381000"/>
          </a:xfrm>
          <a:prstGeom prst="rect">
            <a:avLst/>
          </a:prstGeom>
          <a:noFill/>
          <a:ln/>
        </p:spPr>
        <p:txBody>
          <a:bodyPr wrap="square" lIns="0" tIns="0" rIns="0" bIns="0" rtlCol="0" anchor="ctr"/>
          <a:lstStyle/>
          <a:p>
            <a:pPr marL="0" indent="0">
              <a:buNone/>
            </a:pPr>
            <a:r>
              <a:rPr lang="en-US" sz="1600" dirty="0">
                <a:solidFill>
                  <a:srgbClr val="2A1B4D"/>
                </a:solidFill>
              </a:rPr>
              <a:t>A logical consequence</a:t>
            </a:r>
            <a:endParaRPr lang="en-US" sz="1600" dirty="0"/>
          </a:p>
        </p:txBody>
      </p:sp>
      <p:sp>
        <p:nvSpPr>
          <p:cNvPr id="23" name="Shape 21"/>
          <p:cNvSpPr/>
          <p:nvPr/>
        </p:nvSpPr>
        <p:spPr>
          <a:xfrm>
            <a:off x="457200" y="3727704"/>
            <a:ext cx="8229600" cy="381000"/>
          </a:xfrm>
          <a:prstGeom prst="roundRect">
            <a:avLst>
              <a:gd name="adj" fmla="val 36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4" name="Shape 22"/>
          <p:cNvSpPr/>
          <p:nvPr/>
        </p:nvSpPr>
        <p:spPr>
          <a:xfrm>
            <a:off x="640080" y="3764280"/>
            <a:ext cx="307848" cy="307848"/>
          </a:xfrm>
          <a:prstGeom prst="ellipse">
            <a:avLst/>
          </a:prstGeom>
          <a:solidFill>
            <a:srgbClr val="FF8A3D"/>
          </a:solidFill>
          <a:ln/>
        </p:spPr>
      </p:sp>
      <p:sp>
        <p:nvSpPr>
          <p:cNvPr id="25" name="Text 23"/>
          <p:cNvSpPr txBox="1"/>
          <p:nvPr/>
        </p:nvSpPr>
        <p:spPr>
          <a:xfrm>
            <a:off x="640080" y="3764280"/>
            <a:ext cx="307848" cy="307848"/>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6" name="Text 24"/>
          <p:cNvSpPr txBox="1"/>
          <p:nvPr/>
        </p:nvSpPr>
        <p:spPr>
          <a:xfrm>
            <a:off x="1280160" y="3727704"/>
            <a:ext cx="7315200" cy="381000"/>
          </a:xfrm>
          <a:prstGeom prst="rect">
            <a:avLst/>
          </a:prstGeom>
          <a:noFill/>
          <a:ln/>
        </p:spPr>
        <p:txBody>
          <a:bodyPr wrap="square" lIns="0" tIns="0" rIns="0" bIns="0" rtlCol="0" anchor="ctr"/>
          <a:lstStyle/>
          <a:p>
            <a:pPr marL="0" indent="0">
              <a:buNone/>
            </a:pPr>
            <a:r>
              <a:rPr lang="en-US" sz="1600" dirty="0">
                <a:solidFill>
                  <a:srgbClr val="2A1B4D"/>
                </a:solidFill>
              </a:rPr>
              <a:t>A clear ending</a:t>
            </a:r>
            <a:endParaRPr lang="en-US" sz="1600" dirty="0"/>
          </a:p>
        </p:txBody>
      </p:sp>
      <p:sp>
        <p:nvSpPr>
          <p:cNvPr id="27" name="Shape 25"/>
          <p:cNvSpPr/>
          <p:nvPr/>
        </p:nvSpPr>
        <p:spPr>
          <a:xfrm>
            <a:off x="457200" y="4236720"/>
            <a:ext cx="8229600" cy="381000"/>
          </a:xfrm>
          <a:prstGeom prst="roundRect">
            <a:avLst>
              <a:gd name="adj" fmla="val 36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8" name="Shape 26"/>
          <p:cNvSpPr/>
          <p:nvPr/>
        </p:nvSpPr>
        <p:spPr>
          <a:xfrm>
            <a:off x="640080" y="4273296"/>
            <a:ext cx="307848" cy="307848"/>
          </a:xfrm>
          <a:prstGeom prst="ellipse">
            <a:avLst/>
          </a:prstGeom>
          <a:solidFill>
            <a:srgbClr val="1FB5A8"/>
          </a:solidFill>
          <a:ln/>
        </p:spPr>
      </p:sp>
      <p:sp>
        <p:nvSpPr>
          <p:cNvPr id="29" name="Text 27"/>
          <p:cNvSpPr txBox="1"/>
          <p:nvPr/>
        </p:nvSpPr>
        <p:spPr>
          <a:xfrm>
            <a:off x="640080" y="4273296"/>
            <a:ext cx="307848" cy="307848"/>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30" name="Text 28"/>
          <p:cNvSpPr txBox="1"/>
          <p:nvPr/>
        </p:nvSpPr>
        <p:spPr>
          <a:xfrm>
            <a:off x="1280160" y="4236720"/>
            <a:ext cx="7315200" cy="381000"/>
          </a:xfrm>
          <a:prstGeom prst="rect">
            <a:avLst/>
          </a:prstGeom>
          <a:noFill/>
          <a:ln/>
        </p:spPr>
        <p:txBody>
          <a:bodyPr wrap="square" lIns="0" tIns="0" rIns="0" bIns="0" rtlCol="0" anchor="ctr"/>
          <a:lstStyle/>
          <a:p>
            <a:pPr marL="0" indent="0">
              <a:buNone/>
            </a:pPr>
            <a:r>
              <a:rPr lang="en-US" sz="1600" dirty="0">
                <a:solidFill>
                  <a:srgbClr val="2A1B4D"/>
                </a:solidFill>
              </a:rPr>
              <a:t>A lesson or moral</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SUCCESS CRITERIA</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1700" i="1" dirty="0">
                <a:solidFill>
                  <a:srgbClr val="5A4A85"/>
                </a:solidFill>
                <a:latin typeface="Calibri" pitchFamily="34" charset="0"/>
                <a:ea typeface="Calibri" pitchFamily="34" charset="-122"/>
                <a:cs typeface="Calibri" pitchFamily="34" charset="-120"/>
              </a:rPr>
              <a:t>Before you finish, check your writing.</a:t>
            </a:r>
            <a:endParaRPr lang="en-US" sz="1700" dirty="0"/>
          </a:p>
        </p:txBody>
      </p:sp>
      <p:sp>
        <p:nvSpPr>
          <p:cNvPr id="7" name="Shape 5"/>
          <p:cNvSpPr/>
          <p:nvPr/>
        </p:nvSpPr>
        <p:spPr>
          <a:xfrm>
            <a:off x="457200" y="1691640"/>
            <a:ext cx="4000500" cy="2926080"/>
          </a:xfrm>
          <a:prstGeom prst="roundRect">
            <a:avLst>
              <a:gd name="adj" fmla="val 4688"/>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Text 6"/>
          <p:cNvSpPr txBox="1"/>
          <p:nvPr/>
        </p:nvSpPr>
        <p:spPr>
          <a:xfrm>
            <a:off x="594360" y="1828800"/>
            <a:ext cx="3726180" cy="457200"/>
          </a:xfrm>
          <a:prstGeom prst="roundRect">
            <a:avLst>
              <a:gd name="adj" fmla="val 24000"/>
            </a:avLst>
          </a:prstGeom>
          <a:solidFill>
            <a:srgbClr val="FF8A3D"/>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CONTENT</a:t>
            </a:r>
            <a:endParaRPr lang="en-US" sz="1600" dirty="0"/>
          </a:p>
        </p:txBody>
      </p:sp>
      <p:sp>
        <p:nvSpPr>
          <p:cNvPr id="9" name="Text 7"/>
          <p:cNvSpPr txBox="1"/>
          <p:nvPr/>
        </p:nvSpPr>
        <p:spPr>
          <a:xfrm>
            <a:off x="640080" y="2423160"/>
            <a:ext cx="3634740" cy="2057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A1B4D"/>
                </a:solidFill>
              </a:rPr>
              <a:t>I changed one important part of the original fable.</a:t>
            </a:r>
            <a:endParaRPr lang="en-US" sz="1500" dirty="0"/>
          </a:p>
          <a:p>
            <a:pPr marL="342900" indent="-342900">
              <a:spcAft>
                <a:spcPts val="600"/>
              </a:spcAft>
              <a:buSzPct val="100000"/>
              <a:buChar char="•"/>
            </a:pPr>
            <a:r>
              <a:rPr lang="en-US" sz="1500" dirty="0">
                <a:solidFill>
                  <a:srgbClr val="2A1B4D"/>
                </a:solidFill>
              </a:rPr>
              <a:t>My twist affects the events.</a:t>
            </a:r>
            <a:endParaRPr lang="en-US" sz="1500" dirty="0"/>
          </a:p>
          <a:p>
            <a:pPr marL="342900" indent="-342900">
              <a:spcAft>
                <a:spcPts val="600"/>
              </a:spcAft>
              <a:buSzPct val="100000"/>
              <a:buChar char="•"/>
            </a:pPr>
            <a:r>
              <a:rPr lang="en-US" sz="1500" dirty="0">
                <a:solidFill>
                  <a:srgbClr val="2A1B4D"/>
                </a:solidFill>
              </a:rPr>
              <a:t>My story has a clear consequence.</a:t>
            </a:r>
            <a:endParaRPr lang="en-US" sz="1500" dirty="0"/>
          </a:p>
          <a:p>
            <a:pPr marL="342900" indent="-342900">
              <a:spcAft>
                <a:spcPts val="600"/>
              </a:spcAft>
              <a:buSzPct val="100000"/>
              <a:buChar char="•"/>
            </a:pPr>
            <a:r>
              <a:rPr lang="en-US" sz="1500" dirty="0">
                <a:solidFill>
                  <a:srgbClr val="2A1B4D"/>
                </a:solidFill>
              </a:rPr>
              <a:t>My ending follows logically.</a:t>
            </a:r>
            <a:endParaRPr lang="en-US" sz="1500" dirty="0"/>
          </a:p>
          <a:p>
            <a:pPr marL="342900" indent="-342900">
              <a:spcAft>
                <a:spcPts val="600"/>
              </a:spcAft>
              <a:buSzPct val="100000"/>
              <a:buChar char="•"/>
            </a:pPr>
            <a:r>
              <a:rPr lang="en-US" sz="1500" dirty="0">
                <a:solidFill>
                  <a:srgbClr val="2A1B4D"/>
                </a:solidFill>
              </a:rPr>
              <a:t>My lesson matches my new story.</a:t>
            </a:r>
            <a:endParaRPr lang="en-US" sz="1500" dirty="0"/>
          </a:p>
        </p:txBody>
      </p:sp>
      <p:sp>
        <p:nvSpPr>
          <p:cNvPr id="10" name="Shape 8"/>
          <p:cNvSpPr/>
          <p:nvPr/>
        </p:nvSpPr>
        <p:spPr>
          <a:xfrm>
            <a:off x="4686300" y="1691640"/>
            <a:ext cx="4000500" cy="2926080"/>
          </a:xfrm>
          <a:prstGeom prst="roundRect">
            <a:avLst>
              <a:gd name="adj" fmla="val 4688"/>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1" name="Text 9"/>
          <p:cNvSpPr txBox="1"/>
          <p:nvPr/>
        </p:nvSpPr>
        <p:spPr>
          <a:xfrm>
            <a:off x="4823460" y="1828800"/>
            <a:ext cx="3726180" cy="457200"/>
          </a:xfrm>
          <a:prstGeom prst="roundRect">
            <a:avLst>
              <a:gd name="adj" fmla="val 24000"/>
            </a:avLst>
          </a:prstGeom>
          <a:solidFill>
            <a:srgbClr val="1FB5A8"/>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LANGUAGE</a:t>
            </a:r>
            <a:endParaRPr lang="en-US" sz="1600" dirty="0"/>
          </a:p>
        </p:txBody>
      </p:sp>
      <p:sp>
        <p:nvSpPr>
          <p:cNvPr id="12" name="Text 10"/>
          <p:cNvSpPr txBox="1"/>
          <p:nvPr/>
        </p:nvSpPr>
        <p:spPr>
          <a:xfrm>
            <a:off x="4869180" y="2423160"/>
            <a:ext cx="3634740" cy="20574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A1B4D"/>
                </a:solidFill>
              </a:rPr>
              <a:t>My moral is a full sentence.</a:t>
            </a:r>
            <a:endParaRPr lang="en-US" sz="1500" dirty="0"/>
          </a:p>
          <a:p>
            <a:pPr marL="342900" indent="-342900">
              <a:spcAft>
                <a:spcPts val="600"/>
              </a:spcAft>
              <a:buSzPct val="100000"/>
              <a:buChar char="•"/>
            </a:pPr>
            <a:r>
              <a:rPr lang="en-US" sz="1500" dirty="0">
                <a:solidFill>
                  <a:srgbClr val="2A1B4D"/>
                </a:solidFill>
              </a:rPr>
              <a:t>I used past tense throughout.</a:t>
            </a:r>
            <a:endParaRPr lang="en-US" sz="1500" dirty="0"/>
          </a:p>
          <a:p>
            <a:pPr marL="342900" indent="-342900">
              <a:spcAft>
                <a:spcPts val="600"/>
              </a:spcAft>
              <a:buSzPct val="100000"/>
              <a:buChar char="•"/>
            </a:pPr>
            <a:r>
              <a:rPr lang="en-US" sz="1500" dirty="0">
                <a:solidFill>
                  <a:srgbClr val="2A1B4D"/>
                </a:solidFill>
              </a:rPr>
              <a:t>I used because / so / as a result.</a:t>
            </a:r>
            <a:endParaRPr lang="en-US" sz="1500" dirty="0"/>
          </a:p>
          <a:p>
            <a:pPr marL="342900" indent="-342900">
              <a:spcAft>
                <a:spcPts val="600"/>
              </a:spcAft>
              <a:buSzPct val="100000"/>
              <a:buChar char="•"/>
            </a:pPr>
            <a:r>
              <a:rPr lang="en-US" sz="1500" dirty="0">
                <a:solidFill>
                  <a:srgbClr val="2A1B4D"/>
                </a:solidFill>
              </a:rPr>
              <a:t>I started sentences with time phrases (One day, In the end).</a:t>
            </a:r>
            <a:endParaRPr lang="en-US" sz="1500" dirty="0"/>
          </a:p>
          <a:p>
            <a:pPr marL="342900" indent="-342900">
              <a:spcAft>
                <a:spcPts val="600"/>
              </a:spcAft>
              <a:buSzPct val="100000"/>
              <a:buChar char="•"/>
            </a:pPr>
            <a:r>
              <a:rPr lang="en-US" sz="1500" dirty="0">
                <a:solidFill>
                  <a:srgbClr val="2A1B4D"/>
                </a:solidFill>
              </a:rPr>
              <a:t>I used capital letters and full stops correctly.</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CHOOSE YOUR CHALLENGE</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280160"/>
            <a:ext cx="2590800" cy="3337560"/>
          </a:xfrm>
          <a:prstGeom prst="roundRect">
            <a:avLst>
              <a:gd name="adj" fmla="val 5294"/>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94360" y="1417320"/>
            <a:ext cx="2316480" cy="457200"/>
          </a:xfrm>
          <a:prstGeom prst="roundRect">
            <a:avLst>
              <a:gd name="adj" fmla="val 24000"/>
            </a:avLst>
          </a:prstGeom>
          <a:solidFill>
            <a:srgbClr val="1FB5A8"/>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SUPPORT</a:t>
            </a:r>
            <a:endParaRPr lang="en-US" sz="1600" dirty="0"/>
          </a:p>
        </p:txBody>
      </p:sp>
      <p:sp>
        <p:nvSpPr>
          <p:cNvPr id="8" name="Text 6"/>
          <p:cNvSpPr txBox="1"/>
          <p:nvPr/>
        </p:nvSpPr>
        <p:spPr>
          <a:xfrm>
            <a:off x="640080" y="2011680"/>
            <a:ext cx="2225040" cy="2468880"/>
          </a:xfrm>
          <a:prstGeom prst="rect">
            <a:avLst/>
          </a:prstGeom>
          <a:noFill/>
          <a:ln/>
        </p:spPr>
        <p:txBody>
          <a:bodyPr wrap="square" lIns="0" tIns="0" rIns="0" bIns="0" rtlCol="0" anchor="t"/>
          <a:lstStyle/>
          <a:p>
            <a:pPr marL="0" indent="0">
              <a:spcAft>
                <a:spcPts val="600"/>
              </a:spcAft>
              <a:buNone/>
            </a:pPr>
            <a:r>
              <a:rPr lang="en-US" sz="1500" dirty="0">
                <a:solidFill>
                  <a:srgbClr val="2A1B4D"/>
                </a:solidFill>
              </a:rPr>
              <a:t>Originally, ______.</a:t>
            </a:r>
            <a:endParaRPr lang="en-US" sz="1500" dirty="0"/>
          </a:p>
          <a:p>
            <a:pPr marL="0" indent="0">
              <a:spcAft>
                <a:spcPts val="600"/>
              </a:spcAft>
              <a:buNone/>
            </a:pPr>
            <a:r>
              <a:rPr lang="en-US" sz="1500" dirty="0">
                <a:solidFill>
                  <a:srgbClr val="2A1B4D"/>
                </a:solidFill>
              </a:rPr>
              <a:t>But this time, ______.</a:t>
            </a:r>
            <a:endParaRPr lang="en-US" sz="1500" dirty="0"/>
          </a:p>
          <a:p>
            <a:pPr marL="0" indent="0">
              <a:spcAft>
                <a:spcPts val="600"/>
              </a:spcAft>
              <a:buNone/>
            </a:pPr>
            <a:r>
              <a:rPr lang="en-US" sz="1500" dirty="0">
                <a:solidFill>
                  <a:srgbClr val="2A1B4D"/>
                </a:solidFill>
              </a:rPr>
              <a:t>Because of this, ______.</a:t>
            </a:r>
            <a:endParaRPr lang="en-US" sz="1500" dirty="0"/>
          </a:p>
          <a:p>
            <a:pPr marL="0" indent="0">
              <a:spcAft>
                <a:spcPts val="600"/>
              </a:spcAft>
              <a:buNone/>
            </a:pPr>
            <a:r>
              <a:rPr lang="en-US" sz="1500" dirty="0">
                <a:solidFill>
                  <a:srgbClr val="2A1B4D"/>
                </a:solidFill>
              </a:rPr>
              <a:t>As a result, ______.</a:t>
            </a:r>
            <a:endParaRPr lang="en-US" sz="1500" dirty="0"/>
          </a:p>
          <a:p>
            <a:pPr marL="0" indent="0">
              <a:spcAft>
                <a:spcPts val="600"/>
              </a:spcAft>
              <a:buNone/>
            </a:pPr>
            <a:r>
              <a:rPr lang="en-US" sz="1500" dirty="0">
                <a:solidFill>
                  <a:srgbClr val="2A1B4D"/>
                </a:solidFill>
              </a:rPr>
              <a:t>In the end, ______.</a:t>
            </a:r>
            <a:endParaRPr lang="en-US" sz="1500" dirty="0"/>
          </a:p>
          <a:p>
            <a:pPr marL="0" indent="0">
              <a:spcAft>
                <a:spcPts val="600"/>
              </a:spcAft>
              <a:buNone/>
            </a:pPr>
            <a:r>
              <a:rPr lang="en-US" sz="1500" dirty="0">
                <a:solidFill>
                  <a:srgbClr val="2A1B4D"/>
                </a:solidFill>
              </a:rPr>
              <a:t>The lesson is ______.</a:t>
            </a:r>
            <a:endParaRPr lang="en-US" sz="1500" dirty="0"/>
          </a:p>
        </p:txBody>
      </p:sp>
      <p:sp>
        <p:nvSpPr>
          <p:cNvPr id="9" name="Shape 7"/>
          <p:cNvSpPr/>
          <p:nvPr/>
        </p:nvSpPr>
        <p:spPr>
          <a:xfrm>
            <a:off x="3276600" y="1280160"/>
            <a:ext cx="2590800" cy="3337560"/>
          </a:xfrm>
          <a:prstGeom prst="roundRect">
            <a:avLst>
              <a:gd name="adj" fmla="val 5294"/>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0" name="Text 8"/>
          <p:cNvSpPr txBox="1"/>
          <p:nvPr/>
        </p:nvSpPr>
        <p:spPr>
          <a:xfrm>
            <a:off x="3413760" y="1417320"/>
            <a:ext cx="2316480" cy="457200"/>
          </a:xfrm>
          <a:prstGeom prst="roundRect">
            <a:avLst>
              <a:gd name="adj" fmla="val 24000"/>
            </a:avLst>
          </a:prstGeom>
          <a:solidFill>
            <a:srgbClr val="7B5CE0"/>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CORE</a:t>
            </a:r>
            <a:endParaRPr lang="en-US" sz="1600" dirty="0"/>
          </a:p>
        </p:txBody>
      </p:sp>
      <p:sp>
        <p:nvSpPr>
          <p:cNvPr id="11" name="Text 9"/>
          <p:cNvSpPr txBox="1"/>
          <p:nvPr/>
        </p:nvSpPr>
        <p:spPr>
          <a:xfrm>
            <a:off x="3459480" y="2011680"/>
            <a:ext cx="2225040" cy="2468880"/>
          </a:xfrm>
          <a:prstGeom prst="rect">
            <a:avLst/>
          </a:prstGeom>
          <a:noFill/>
          <a:ln/>
        </p:spPr>
        <p:txBody>
          <a:bodyPr wrap="square" lIns="0" tIns="0" rIns="0" bIns="0" rtlCol="0" anchor="t"/>
          <a:lstStyle/>
          <a:p>
            <a:pPr marL="0" indent="0">
              <a:spcAft>
                <a:spcPts val="600"/>
              </a:spcAft>
              <a:buNone/>
            </a:pPr>
            <a:r>
              <a:rPr lang="en-US" sz="1500" dirty="0">
                <a:solidFill>
                  <a:srgbClr val="2A1B4D"/>
                </a:solidFill>
              </a:rPr>
              <a:t>Write a complete 10–12 sentence twisted fable.</a:t>
            </a:r>
            <a:endParaRPr lang="en-US" sz="1500" dirty="0"/>
          </a:p>
        </p:txBody>
      </p:sp>
      <p:sp>
        <p:nvSpPr>
          <p:cNvPr id="12" name="Shape 10"/>
          <p:cNvSpPr/>
          <p:nvPr/>
        </p:nvSpPr>
        <p:spPr>
          <a:xfrm>
            <a:off x="6096000" y="1280160"/>
            <a:ext cx="2590800" cy="3337560"/>
          </a:xfrm>
          <a:prstGeom prst="roundRect">
            <a:avLst>
              <a:gd name="adj" fmla="val 5294"/>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3" name="Text 11"/>
          <p:cNvSpPr txBox="1"/>
          <p:nvPr/>
        </p:nvSpPr>
        <p:spPr>
          <a:xfrm>
            <a:off x="6233160" y="1417320"/>
            <a:ext cx="2316480" cy="457200"/>
          </a:xfrm>
          <a:prstGeom prst="roundRect">
            <a:avLst>
              <a:gd name="adj" fmla="val 24000"/>
            </a:avLst>
          </a:prstGeom>
          <a:solidFill>
            <a:srgbClr val="E85D9E"/>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EXTENSION</a:t>
            </a:r>
            <a:endParaRPr lang="en-US" sz="1600" dirty="0"/>
          </a:p>
        </p:txBody>
      </p:sp>
      <p:sp>
        <p:nvSpPr>
          <p:cNvPr id="14" name="Text 12"/>
          <p:cNvSpPr txBox="1"/>
          <p:nvPr/>
        </p:nvSpPr>
        <p:spPr>
          <a:xfrm>
            <a:off x="6278880" y="2011680"/>
            <a:ext cx="222504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A1B4D"/>
                </a:solidFill>
              </a:rPr>
              <a:t>changes the character's motivation</a:t>
            </a:r>
            <a:endParaRPr lang="en-US" sz="1500" dirty="0"/>
          </a:p>
          <a:p>
            <a:pPr marL="342900" indent="-342900">
              <a:spcAft>
                <a:spcPts val="600"/>
              </a:spcAft>
              <a:buSzPct val="100000"/>
              <a:buChar char="•"/>
            </a:pPr>
            <a:r>
              <a:rPr lang="en-US" sz="1500" dirty="0">
                <a:solidFill>
                  <a:srgbClr val="2A1B4D"/>
                </a:solidFill>
              </a:rPr>
              <a:t>creates an unexpected consequence</a:t>
            </a:r>
            <a:endParaRPr lang="en-US" sz="1500" dirty="0"/>
          </a:p>
          <a:p>
            <a:pPr marL="342900" indent="-342900">
              <a:spcAft>
                <a:spcPts val="600"/>
              </a:spcAft>
              <a:buSzPct val="100000"/>
              <a:buChar char="•"/>
            </a:pPr>
            <a:r>
              <a:rPr lang="en-US" sz="1500" dirty="0">
                <a:solidFill>
                  <a:srgbClr val="2A1B4D"/>
                </a:solidFill>
              </a:rPr>
              <a:t>still has a logical ending</a:t>
            </a:r>
            <a:endParaRPr lang="en-US" sz="1500" dirty="0"/>
          </a:p>
          <a:p>
            <a:pPr marL="342900" indent="-342900">
              <a:spcAft>
                <a:spcPts val="600"/>
              </a:spcAft>
              <a:buSzPct val="100000"/>
              <a:buChar char="•"/>
            </a:pPr>
            <a:r>
              <a:rPr lang="en-US" sz="1500" dirty="0">
                <a:solidFill>
                  <a:srgbClr val="2A1B4D"/>
                </a:solidFill>
              </a:rPr>
              <a:t>gives a thoughtful new lesson</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2A1B4D"/>
        </a:solidFill>
        <a:effectLst/>
      </p:bgPr>
    </p:bg>
    <p:spTree>
      <p:nvGrpSpPr>
        <p:cNvPr id="1" name=""/>
        <p:cNvGrpSpPr/>
        <p:nvPr/>
      </p:nvGrpSpPr>
      <p:grpSpPr>
        <a:xfrm>
          <a:off x="0" y="0"/>
          <a:ext cx="0" cy="0"/>
          <a:chOff x="0" y="0"/>
          <a:chExt cx="0" cy="0"/>
        </a:xfrm>
      </p:grpSpPr>
      <p:sp>
        <p:nvSpPr>
          <p:cNvPr id="3" name="Shape 0"/>
          <p:cNvSpPr/>
          <p:nvPr/>
        </p:nvSpPr>
        <p:spPr>
          <a:xfrm>
            <a:off x="5669280" y="731520"/>
            <a:ext cx="4572000" cy="4572000"/>
          </a:xfrm>
          <a:prstGeom prst="ellipse">
            <a:avLst/>
          </a:prstGeom>
          <a:solidFill>
            <a:srgbClr val="3E2A70"/>
          </a:solidFill>
          <a:ln/>
        </p:spPr>
      </p:sp>
      <p:sp>
        <p:nvSpPr>
          <p:cNvPr id="4" name="Shape 1"/>
          <p:cNvSpPr/>
          <p:nvPr/>
        </p:nvSpPr>
        <p:spPr>
          <a:xfrm>
            <a:off x="6949440" y="2194560"/>
            <a:ext cx="1463040" cy="1463040"/>
          </a:xfrm>
          <a:prstGeom prst="ellipse">
            <a:avLst/>
          </a:prstGeom>
          <a:solidFill>
            <a:srgbClr val="FF8A3D"/>
          </a:solidFill>
          <a:ln/>
        </p:spPr>
      </p:sp>
      <p:sp>
        <p:nvSpPr>
          <p:cNvPr id="5" name="Text 2"/>
          <p:cNvSpPr txBox="1"/>
          <p:nvPr/>
        </p:nvSpPr>
        <p:spPr>
          <a:xfrm>
            <a:off x="640079" y="1554480"/>
            <a:ext cx="2659711" cy="457200"/>
          </a:xfrm>
          <a:prstGeom prst="roundRect">
            <a:avLst>
              <a:gd name="adj" fmla="val 24000"/>
            </a:avLst>
          </a:prstGeom>
          <a:solidFill>
            <a:srgbClr val="1FB5A8"/>
          </a:solid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REVIEW TIME</a:t>
            </a:r>
            <a:endParaRPr lang="en-US" sz="3200" dirty="0"/>
          </a:p>
        </p:txBody>
      </p:sp>
      <p:sp>
        <p:nvSpPr>
          <p:cNvPr id="6" name="Text 3"/>
          <p:cNvSpPr txBox="1"/>
          <p:nvPr/>
        </p:nvSpPr>
        <p:spPr>
          <a:xfrm>
            <a:off x="23854" y="3093390"/>
            <a:ext cx="6309360" cy="1280160"/>
          </a:xfrm>
          <a:prstGeom prst="rect">
            <a:avLst/>
          </a:prstGeom>
          <a:noFill/>
          <a:ln/>
        </p:spPr>
        <p:txBody>
          <a:bodyPr wrap="square" lIns="0" tIns="0" rIns="0" bIns="0" rtlCol="0" anchor="ctr"/>
          <a:lstStyle/>
          <a:p>
            <a:pPr marL="0" indent="0">
              <a:buNone/>
            </a:pPr>
            <a:r>
              <a:rPr lang="en-US" sz="4400" b="1" dirty="0">
                <a:solidFill>
                  <a:srgbClr val="FFD166"/>
                </a:solidFill>
                <a:latin typeface="Cambria" pitchFamily="34" charset="0"/>
                <a:ea typeface="Cambria" pitchFamily="34" charset="-122"/>
                <a:cs typeface="Cambria" pitchFamily="34" charset="-120"/>
              </a:rPr>
              <a:t>Peer Review &amp; Improve</a:t>
            </a:r>
            <a:endParaRPr lang="en-US" sz="4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BE A STORY DETECTIVE</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051560"/>
            <a:ext cx="7315200" cy="502920"/>
          </a:xfrm>
          <a:prstGeom prst="rect">
            <a:avLst/>
          </a:prstGeom>
          <a:noFill/>
          <a:ln/>
        </p:spPr>
        <p:txBody>
          <a:bodyPr wrap="square" lIns="0" tIns="0" rIns="0" bIns="0" rtlCol="0" anchor="ctr"/>
          <a:lstStyle/>
          <a:p>
            <a:pPr marL="0" indent="0">
              <a:buNone/>
            </a:pPr>
            <a:r>
              <a:rPr lang="en-US" sz="2400" b="1" i="1" dirty="0">
                <a:solidFill>
                  <a:srgbClr val="5A4A85"/>
                </a:solidFill>
                <a:latin typeface="Calibri" pitchFamily="34" charset="0"/>
                <a:ea typeface="Calibri" pitchFamily="34" charset="-122"/>
                <a:cs typeface="Calibri" pitchFamily="34" charset="-120"/>
              </a:rPr>
              <a:t>Read your partner's fable. Answer:</a:t>
            </a:r>
            <a:endParaRPr lang="en-US" sz="2400" b="1" dirty="0"/>
          </a:p>
        </p:txBody>
      </p:sp>
      <p:sp>
        <p:nvSpPr>
          <p:cNvPr id="7" name="Shape 5"/>
          <p:cNvSpPr/>
          <p:nvPr/>
        </p:nvSpPr>
        <p:spPr>
          <a:xfrm>
            <a:off x="457200" y="1691640"/>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731874"/>
            <a:ext cx="402336" cy="402336"/>
          </a:xfrm>
          <a:prstGeom prst="ellipse">
            <a:avLst/>
          </a:prstGeom>
          <a:solidFill>
            <a:srgbClr val="FF8A3D"/>
          </a:solidFill>
          <a:ln/>
        </p:spPr>
      </p:sp>
      <p:sp>
        <p:nvSpPr>
          <p:cNvPr id="9" name="Text 7"/>
          <p:cNvSpPr txBox="1"/>
          <p:nvPr/>
        </p:nvSpPr>
        <p:spPr>
          <a:xfrm>
            <a:off x="640080" y="173187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482803"/>
          </a:xfrm>
          <a:prstGeom prst="rect">
            <a:avLst/>
          </a:prstGeom>
          <a:noFill/>
          <a:ln/>
        </p:spPr>
        <p:txBody>
          <a:bodyPr wrap="square" lIns="0" tIns="0" rIns="0" bIns="0" rtlCol="0" anchor="ctr"/>
          <a:lstStyle/>
          <a:p>
            <a:pPr marL="0" indent="0">
              <a:buNone/>
            </a:pPr>
            <a:r>
              <a:rPr lang="en-US" sz="2000" dirty="0">
                <a:solidFill>
                  <a:srgbClr val="2A1B4D"/>
                </a:solidFill>
              </a:rPr>
              <a:t>What was the original story?</a:t>
            </a:r>
            <a:endParaRPr lang="en-US" sz="2000" dirty="0"/>
          </a:p>
        </p:txBody>
      </p:sp>
      <p:sp>
        <p:nvSpPr>
          <p:cNvPr id="11" name="Shape 9"/>
          <p:cNvSpPr/>
          <p:nvPr/>
        </p:nvSpPr>
        <p:spPr>
          <a:xfrm>
            <a:off x="457200" y="2302459"/>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342693"/>
            <a:ext cx="402336" cy="402336"/>
          </a:xfrm>
          <a:prstGeom prst="ellipse">
            <a:avLst/>
          </a:prstGeom>
          <a:solidFill>
            <a:srgbClr val="1FB5A8"/>
          </a:solidFill>
          <a:ln/>
        </p:spPr>
      </p:sp>
      <p:sp>
        <p:nvSpPr>
          <p:cNvPr id="13" name="Text 11"/>
          <p:cNvSpPr txBox="1"/>
          <p:nvPr/>
        </p:nvSpPr>
        <p:spPr>
          <a:xfrm>
            <a:off x="640080" y="2342693"/>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302459"/>
            <a:ext cx="7315200" cy="482803"/>
          </a:xfrm>
          <a:prstGeom prst="rect">
            <a:avLst/>
          </a:prstGeom>
          <a:noFill/>
          <a:ln/>
        </p:spPr>
        <p:txBody>
          <a:bodyPr wrap="square" lIns="0" tIns="0" rIns="0" bIns="0" rtlCol="0" anchor="ctr"/>
          <a:lstStyle/>
          <a:p>
            <a:pPr marL="0" indent="0">
              <a:buNone/>
            </a:pPr>
            <a:r>
              <a:rPr lang="en-US" sz="2000" dirty="0">
                <a:solidFill>
                  <a:srgbClr val="2A1B4D"/>
                </a:solidFill>
              </a:rPr>
              <a:t>What was the twist?</a:t>
            </a:r>
            <a:endParaRPr lang="en-US" sz="2000" dirty="0"/>
          </a:p>
        </p:txBody>
      </p:sp>
      <p:sp>
        <p:nvSpPr>
          <p:cNvPr id="15" name="Shape 13"/>
          <p:cNvSpPr/>
          <p:nvPr/>
        </p:nvSpPr>
        <p:spPr>
          <a:xfrm>
            <a:off x="457200" y="2913278"/>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2953512"/>
            <a:ext cx="402336" cy="402336"/>
          </a:xfrm>
          <a:prstGeom prst="ellipse">
            <a:avLst/>
          </a:prstGeom>
          <a:solidFill>
            <a:srgbClr val="E85D9E"/>
          </a:solidFill>
          <a:ln/>
        </p:spPr>
      </p:sp>
      <p:sp>
        <p:nvSpPr>
          <p:cNvPr id="17" name="Text 15"/>
          <p:cNvSpPr txBox="1"/>
          <p:nvPr/>
        </p:nvSpPr>
        <p:spPr>
          <a:xfrm>
            <a:off x="640080" y="29535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2913278"/>
            <a:ext cx="7315200" cy="482803"/>
          </a:xfrm>
          <a:prstGeom prst="rect">
            <a:avLst/>
          </a:prstGeom>
          <a:noFill/>
          <a:ln/>
        </p:spPr>
        <p:txBody>
          <a:bodyPr wrap="square" lIns="0" tIns="0" rIns="0" bIns="0" rtlCol="0" anchor="ctr"/>
          <a:lstStyle/>
          <a:p>
            <a:pPr marL="0" indent="0">
              <a:buNone/>
            </a:pPr>
            <a:r>
              <a:rPr lang="en-US" dirty="0">
                <a:solidFill>
                  <a:srgbClr val="2A1B4D"/>
                </a:solidFill>
              </a:rPr>
              <a:t>What consequence did the twist create?</a:t>
            </a:r>
            <a:endParaRPr lang="en-US" dirty="0"/>
          </a:p>
        </p:txBody>
      </p:sp>
      <p:sp>
        <p:nvSpPr>
          <p:cNvPr id="19" name="Shape 17"/>
          <p:cNvSpPr/>
          <p:nvPr/>
        </p:nvSpPr>
        <p:spPr>
          <a:xfrm>
            <a:off x="457200" y="3524098"/>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3564331"/>
            <a:ext cx="402336" cy="402336"/>
          </a:xfrm>
          <a:prstGeom prst="ellipse">
            <a:avLst/>
          </a:prstGeom>
          <a:solidFill>
            <a:srgbClr val="7B5CE0"/>
          </a:solidFill>
          <a:ln/>
        </p:spPr>
      </p:sp>
      <p:sp>
        <p:nvSpPr>
          <p:cNvPr id="21" name="Text 19"/>
          <p:cNvSpPr txBox="1"/>
          <p:nvPr/>
        </p:nvSpPr>
        <p:spPr>
          <a:xfrm>
            <a:off x="640080" y="3564331"/>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524098"/>
            <a:ext cx="7315200" cy="482803"/>
          </a:xfrm>
          <a:prstGeom prst="rect">
            <a:avLst/>
          </a:prstGeom>
          <a:noFill/>
          <a:ln/>
        </p:spPr>
        <p:txBody>
          <a:bodyPr wrap="square" lIns="0" tIns="0" rIns="0" bIns="0" rtlCol="0" anchor="ctr"/>
          <a:lstStyle/>
          <a:p>
            <a:pPr marL="0" indent="0">
              <a:buNone/>
            </a:pPr>
            <a:r>
              <a:rPr lang="en-US" sz="2000" dirty="0">
                <a:solidFill>
                  <a:srgbClr val="2A1B4D"/>
                </a:solidFill>
              </a:rPr>
              <a:t>What new lesson did you understand?</a:t>
            </a:r>
            <a:endParaRPr lang="en-US" sz="2000" dirty="0"/>
          </a:p>
        </p:txBody>
      </p:sp>
      <p:sp>
        <p:nvSpPr>
          <p:cNvPr id="23" name="Shape 21"/>
          <p:cNvSpPr/>
          <p:nvPr/>
        </p:nvSpPr>
        <p:spPr>
          <a:xfrm>
            <a:off x="457200" y="4134917"/>
            <a:ext cx="8229600" cy="482803"/>
          </a:xfrm>
          <a:prstGeom prst="roundRect">
            <a:avLst>
              <a:gd name="adj" fmla="val 28409"/>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4" name="Shape 22"/>
          <p:cNvSpPr/>
          <p:nvPr/>
        </p:nvSpPr>
        <p:spPr>
          <a:xfrm>
            <a:off x="640080" y="4175150"/>
            <a:ext cx="402336" cy="402336"/>
          </a:xfrm>
          <a:prstGeom prst="ellipse">
            <a:avLst/>
          </a:prstGeom>
          <a:solidFill>
            <a:srgbClr val="FF8A3D"/>
          </a:solidFill>
          <a:ln/>
        </p:spPr>
      </p:sp>
      <p:sp>
        <p:nvSpPr>
          <p:cNvPr id="25" name="Text 23"/>
          <p:cNvSpPr txBox="1"/>
          <p:nvPr/>
        </p:nvSpPr>
        <p:spPr>
          <a:xfrm>
            <a:off x="640080" y="417515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6" name="Text 24"/>
          <p:cNvSpPr txBox="1"/>
          <p:nvPr/>
        </p:nvSpPr>
        <p:spPr>
          <a:xfrm>
            <a:off x="1280160" y="4134917"/>
            <a:ext cx="7315200" cy="482803"/>
          </a:xfrm>
          <a:prstGeom prst="rect">
            <a:avLst/>
          </a:prstGeom>
          <a:noFill/>
          <a:ln/>
        </p:spPr>
        <p:txBody>
          <a:bodyPr wrap="square" lIns="0" tIns="0" rIns="0" bIns="0" rtlCol="0" anchor="ctr"/>
          <a:lstStyle/>
          <a:p>
            <a:pPr marL="0" indent="0">
              <a:buNone/>
            </a:pPr>
            <a:r>
              <a:rPr lang="en-US" sz="2000" dirty="0">
                <a:solidFill>
                  <a:srgbClr val="2A1B4D"/>
                </a:solidFill>
              </a:rPr>
              <a:t>What is one part you enjoyed?</a:t>
            </a:r>
            <a:endParaRPr lang="en-US"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77011"/>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IMPROVE YOUR WRITING</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968551"/>
            <a:ext cx="7315200" cy="502920"/>
          </a:xfrm>
          <a:prstGeom prst="rect">
            <a:avLst/>
          </a:prstGeom>
          <a:noFill/>
          <a:ln/>
        </p:spPr>
        <p:txBody>
          <a:bodyPr wrap="square" lIns="0" tIns="0" rIns="0" bIns="0" rtlCol="0" anchor="ctr"/>
          <a:lstStyle/>
          <a:p>
            <a:pPr marL="0" indent="0">
              <a:buNone/>
            </a:pPr>
            <a:r>
              <a:rPr lang="en-US" sz="1700" i="1" dirty="0">
                <a:solidFill>
                  <a:srgbClr val="5A4A85"/>
                </a:solidFill>
                <a:latin typeface="Calibri" pitchFamily="34" charset="0"/>
                <a:ea typeface="Calibri" pitchFamily="34" charset="-122"/>
                <a:cs typeface="Calibri" pitchFamily="34" charset="-120"/>
              </a:rPr>
              <a:t>After feedback, make ONE change.</a:t>
            </a:r>
          </a:p>
          <a:p>
            <a:pPr marL="0" indent="0">
              <a:buNone/>
            </a:pPr>
            <a:r>
              <a:rPr lang="en-US" sz="1700" i="1" dirty="0">
                <a:solidFill>
                  <a:srgbClr val="5A4A85"/>
                </a:solidFill>
                <a:latin typeface="Calibri" pitchFamily="34" charset="0"/>
                <a:ea typeface="Calibri" pitchFamily="34" charset="-122"/>
                <a:cs typeface="Calibri" pitchFamily="34" charset="-120"/>
              </a:rPr>
              <a:t> </a:t>
            </a:r>
          </a:p>
          <a:p>
            <a:pPr marL="0" indent="0">
              <a:buNone/>
            </a:pPr>
            <a:r>
              <a:rPr lang="en-US" sz="1700" i="1" dirty="0">
                <a:solidFill>
                  <a:srgbClr val="5A4A85"/>
                </a:solidFill>
                <a:latin typeface="Calibri" pitchFamily="34" charset="0"/>
                <a:ea typeface="Calibri" pitchFamily="34" charset="-122"/>
                <a:cs typeface="Calibri" pitchFamily="34" charset="-120"/>
              </a:rPr>
              <a:t>You could:</a:t>
            </a:r>
            <a:endParaRPr lang="en-US" sz="1700" dirty="0"/>
          </a:p>
        </p:txBody>
      </p:sp>
      <p:sp>
        <p:nvSpPr>
          <p:cNvPr id="7" name="Shape 5"/>
          <p:cNvSpPr/>
          <p:nvPr/>
        </p:nvSpPr>
        <p:spPr>
          <a:xfrm>
            <a:off x="457200" y="1691640"/>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8" name="Shape 6"/>
          <p:cNvSpPr/>
          <p:nvPr/>
        </p:nvSpPr>
        <p:spPr>
          <a:xfrm>
            <a:off x="640080" y="1808226"/>
            <a:ext cx="402336" cy="402336"/>
          </a:xfrm>
          <a:prstGeom prst="ellipse">
            <a:avLst/>
          </a:prstGeom>
          <a:solidFill>
            <a:srgbClr val="FF8A3D"/>
          </a:solidFill>
          <a:ln/>
        </p:spPr>
      </p:sp>
      <p:sp>
        <p:nvSpPr>
          <p:cNvPr id="9" name="Text 7"/>
          <p:cNvSpPr txBox="1"/>
          <p:nvPr/>
        </p:nvSpPr>
        <p:spPr>
          <a:xfrm>
            <a:off x="640080" y="180822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10" name="Text 8"/>
          <p:cNvSpPr txBox="1"/>
          <p:nvPr/>
        </p:nvSpPr>
        <p:spPr>
          <a:xfrm>
            <a:off x="1280160" y="1691640"/>
            <a:ext cx="7315200" cy="635508"/>
          </a:xfrm>
          <a:prstGeom prst="rect">
            <a:avLst/>
          </a:prstGeom>
          <a:noFill/>
          <a:ln/>
        </p:spPr>
        <p:txBody>
          <a:bodyPr wrap="square" lIns="0" tIns="0" rIns="0" bIns="0" rtlCol="0" anchor="ctr"/>
          <a:lstStyle/>
          <a:p>
            <a:pPr marL="0" indent="0">
              <a:buNone/>
            </a:pPr>
            <a:r>
              <a:rPr lang="en-US" sz="1600" dirty="0">
                <a:solidFill>
                  <a:srgbClr val="2A1B4D"/>
                </a:solidFill>
              </a:rPr>
              <a:t>ADD a stronger description.</a:t>
            </a:r>
            <a:endParaRPr lang="en-US" sz="1600" dirty="0"/>
          </a:p>
        </p:txBody>
      </p:sp>
      <p:sp>
        <p:nvSpPr>
          <p:cNvPr id="11" name="Shape 9"/>
          <p:cNvSpPr/>
          <p:nvPr/>
        </p:nvSpPr>
        <p:spPr>
          <a:xfrm>
            <a:off x="457200" y="2455164"/>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2" name="Shape 10"/>
          <p:cNvSpPr/>
          <p:nvPr/>
        </p:nvSpPr>
        <p:spPr>
          <a:xfrm>
            <a:off x="640080" y="2571750"/>
            <a:ext cx="402336" cy="402336"/>
          </a:xfrm>
          <a:prstGeom prst="ellipse">
            <a:avLst/>
          </a:prstGeom>
          <a:solidFill>
            <a:srgbClr val="1FB5A8"/>
          </a:solidFill>
          <a:ln/>
        </p:spPr>
      </p:sp>
      <p:sp>
        <p:nvSpPr>
          <p:cNvPr id="13" name="Text 11"/>
          <p:cNvSpPr txBox="1"/>
          <p:nvPr/>
        </p:nvSpPr>
        <p:spPr>
          <a:xfrm>
            <a:off x="640080" y="257175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txBox="1"/>
          <p:nvPr/>
        </p:nvSpPr>
        <p:spPr>
          <a:xfrm>
            <a:off x="1280160" y="2455164"/>
            <a:ext cx="7315200" cy="635508"/>
          </a:xfrm>
          <a:prstGeom prst="rect">
            <a:avLst/>
          </a:prstGeom>
          <a:noFill/>
          <a:ln/>
        </p:spPr>
        <p:txBody>
          <a:bodyPr wrap="square" lIns="0" tIns="0" rIns="0" bIns="0" rtlCol="0" anchor="ctr"/>
          <a:lstStyle/>
          <a:p>
            <a:pPr marL="0" indent="0">
              <a:buNone/>
            </a:pPr>
            <a:r>
              <a:rPr lang="en-US" sz="1600" dirty="0">
                <a:solidFill>
                  <a:srgbClr val="2A1B4D"/>
                </a:solidFill>
              </a:rPr>
              <a:t>CHANGE a weak sentence.</a:t>
            </a:r>
            <a:endParaRPr lang="en-US" sz="1600" dirty="0"/>
          </a:p>
        </p:txBody>
      </p:sp>
      <p:sp>
        <p:nvSpPr>
          <p:cNvPr id="15" name="Shape 13"/>
          <p:cNvSpPr/>
          <p:nvPr/>
        </p:nvSpPr>
        <p:spPr>
          <a:xfrm>
            <a:off x="457200" y="3218688"/>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6" name="Shape 14"/>
          <p:cNvSpPr/>
          <p:nvPr/>
        </p:nvSpPr>
        <p:spPr>
          <a:xfrm>
            <a:off x="640080" y="3335274"/>
            <a:ext cx="402336" cy="402336"/>
          </a:xfrm>
          <a:prstGeom prst="ellipse">
            <a:avLst/>
          </a:prstGeom>
          <a:solidFill>
            <a:srgbClr val="E85D9E"/>
          </a:solidFill>
          <a:ln/>
        </p:spPr>
      </p:sp>
      <p:sp>
        <p:nvSpPr>
          <p:cNvPr id="17" name="Text 15"/>
          <p:cNvSpPr txBox="1"/>
          <p:nvPr/>
        </p:nvSpPr>
        <p:spPr>
          <a:xfrm>
            <a:off x="640080" y="333527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Text 16"/>
          <p:cNvSpPr txBox="1"/>
          <p:nvPr/>
        </p:nvSpPr>
        <p:spPr>
          <a:xfrm>
            <a:off x="1280160" y="3218688"/>
            <a:ext cx="7315200" cy="635508"/>
          </a:xfrm>
          <a:prstGeom prst="rect">
            <a:avLst/>
          </a:prstGeom>
          <a:noFill/>
          <a:ln/>
        </p:spPr>
        <p:txBody>
          <a:bodyPr wrap="square" lIns="0" tIns="0" rIns="0" bIns="0" rtlCol="0" anchor="ctr"/>
          <a:lstStyle/>
          <a:p>
            <a:pPr marL="0" indent="0">
              <a:buNone/>
            </a:pPr>
            <a:r>
              <a:rPr lang="en-US" sz="1600" dirty="0">
                <a:solidFill>
                  <a:srgbClr val="2A1B4D"/>
                </a:solidFill>
              </a:rPr>
              <a:t>EXPLAIN a consequence more clearly.</a:t>
            </a:r>
            <a:endParaRPr lang="en-US" sz="1600" dirty="0"/>
          </a:p>
        </p:txBody>
      </p:sp>
      <p:sp>
        <p:nvSpPr>
          <p:cNvPr id="19" name="Shape 17"/>
          <p:cNvSpPr/>
          <p:nvPr/>
        </p:nvSpPr>
        <p:spPr>
          <a:xfrm>
            <a:off x="457200" y="3982212"/>
            <a:ext cx="8229600" cy="635508"/>
          </a:xfrm>
          <a:prstGeom prst="roundRect">
            <a:avLst>
              <a:gd name="adj" fmla="val 2158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0" name="Shape 18"/>
          <p:cNvSpPr/>
          <p:nvPr/>
        </p:nvSpPr>
        <p:spPr>
          <a:xfrm>
            <a:off x="640080" y="4098798"/>
            <a:ext cx="402336" cy="402336"/>
          </a:xfrm>
          <a:prstGeom prst="ellipse">
            <a:avLst/>
          </a:prstGeom>
          <a:solidFill>
            <a:srgbClr val="7B5CE0"/>
          </a:solidFill>
          <a:ln/>
        </p:spPr>
      </p:sp>
      <p:sp>
        <p:nvSpPr>
          <p:cNvPr id="21" name="Text 19"/>
          <p:cNvSpPr txBox="1"/>
          <p:nvPr/>
        </p:nvSpPr>
        <p:spPr>
          <a:xfrm>
            <a:off x="640080" y="409879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2" name="Text 20"/>
          <p:cNvSpPr txBox="1"/>
          <p:nvPr/>
        </p:nvSpPr>
        <p:spPr>
          <a:xfrm>
            <a:off x="1280160" y="3982212"/>
            <a:ext cx="7315200" cy="635508"/>
          </a:xfrm>
          <a:prstGeom prst="rect">
            <a:avLst/>
          </a:prstGeom>
          <a:noFill/>
          <a:ln/>
        </p:spPr>
        <p:txBody>
          <a:bodyPr wrap="square" lIns="0" tIns="0" rIns="0" bIns="0" rtlCol="0" anchor="ctr"/>
          <a:lstStyle/>
          <a:p>
            <a:pPr marL="0" indent="0">
              <a:buNone/>
            </a:pPr>
            <a:r>
              <a:rPr lang="en-US" sz="1600" dirty="0">
                <a:solidFill>
                  <a:srgbClr val="2A1B4D"/>
                </a:solidFill>
              </a:rPr>
              <a:t>IMPROVE the final lesson.</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EXIT TICKET</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188720"/>
            <a:ext cx="8229600" cy="1051560"/>
          </a:xfrm>
          <a:prstGeom prst="roundRect">
            <a:avLst>
              <a:gd name="adj" fmla="val 13043"/>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640080" y="1188720"/>
            <a:ext cx="7863840" cy="1051560"/>
          </a:xfrm>
          <a:prstGeom prst="rect">
            <a:avLst/>
          </a:prstGeom>
          <a:noFill/>
          <a:ln/>
        </p:spPr>
        <p:txBody>
          <a:bodyPr wrap="square" lIns="0" tIns="0" rIns="0" bIns="0" rtlCol="0" anchor="ctr"/>
          <a:lstStyle/>
          <a:p>
            <a:pPr marL="0" indent="0">
              <a:buNone/>
            </a:pPr>
            <a:r>
              <a:rPr lang="en-US" sz="1700" b="1" dirty="0">
                <a:solidFill>
                  <a:srgbClr val="2A1B4D"/>
                </a:solidFill>
              </a:rPr>
              <a:t>Why does a writer need to think about consequences when creating a twist?</a:t>
            </a:r>
            <a:endParaRPr lang="en-US" sz="1700" dirty="0"/>
          </a:p>
        </p:txBody>
      </p:sp>
      <p:sp>
        <p:nvSpPr>
          <p:cNvPr id="8" name="Shape 6"/>
          <p:cNvSpPr/>
          <p:nvPr/>
        </p:nvSpPr>
        <p:spPr>
          <a:xfrm>
            <a:off x="45720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9" name="Shape 7"/>
          <p:cNvSpPr/>
          <p:nvPr/>
        </p:nvSpPr>
        <p:spPr>
          <a:xfrm>
            <a:off x="640080" y="2651760"/>
            <a:ext cx="548640" cy="548640"/>
          </a:xfrm>
          <a:prstGeom prst="ellipse">
            <a:avLst/>
          </a:prstGeom>
          <a:solidFill>
            <a:srgbClr val="FF8A3D"/>
          </a:solidFill>
          <a:ln/>
        </p:spPr>
      </p:sp>
      <p:sp>
        <p:nvSpPr>
          <p:cNvPr id="10" name="Text 8"/>
          <p:cNvSpPr txBox="1"/>
          <p:nvPr/>
        </p:nvSpPr>
        <p:spPr>
          <a:xfrm>
            <a:off x="64008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A</a:t>
            </a:r>
            <a:endParaRPr lang="en-US" sz="2000" dirty="0"/>
          </a:p>
        </p:txBody>
      </p:sp>
      <p:sp>
        <p:nvSpPr>
          <p:cNvPr id="11" name="Text 9"/>
          <p:cNvSpPr txBox="1"/>
          <p:nvPr/>
        </p:nvSpPr>
        <p:spPr>
          <a:xfrm>
            <a:off x="1371600" y="2423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Because a twist makes the story shorter.</a:t>
            </a:r>
            <a:endParaRPr lang="en-US" sz="1500" dirty="0"/>
          </a:p>
        </p:txBody>
      </p:sp>
      <p:sp>
        <p:nvSpPr>
          <p:cNvPr id="12" name="Shape 10"/>
          <p:cNvSpPr/>
          <p:nvPr/>
        </p:nvSpPr>
        <p:spPr>
          <a:xfrm>
            <a:off x="4663440" y="2423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3" name="Shape 11"/>
          <p:cNvSpPr/>
          <p:nvPr/>
        </p:nvSpPr>
        <p:spPr>
          <a:xfrm>
            <a:off x="4846320" y="2651760"/>
            <a:ext cx="548640" cy="548640"/>
          </a:xfrm>
          <a:prstGeom prst="ellipse">
            <a:avLst/>
          </a:prstGeom>
          <a:solidFill>
            <a:srgbClr val="1FB5A8"/>
          </a:solidFill>
          <a:ln/>
        </p:spPr>
      </p:sp>
      <p:sp>
        <p:nvSpPr>
          <p:cNvPr id="14" name="Text 12"/>
          <p:cNvSpPr txBox="1"/>
          <p:nvPr/>
        </p:nvSpPr>
        <p:spPr>
          <a:xfrm>
            <a:off x="4846320" y="2651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B</a:t>
            </a:r>
            <a:endParaRPr lang="en-US" sz="2000" dirty="0"/>
          </a:p>
        </p:txBody>
      </p:sp>
      <p:sp>
        <p:nvSpPr>
          <p:cNvPr id="15" name="Text 13"/>
          <p:cNvSpPr txBox="1"/>
          <p:nvPr/>
        </p:nvSpPr>
        <p:spPr>
          <a:xfrm>
            <a:off x="5577840" y="2423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Because the moral must always stay the same.</a:t>
            </a:r>
            <a:endParaRPr lang="en-US" sz="1500" dirty="0"/>
          </a:p>
        </p:txBody>
      </p:sp>
      <p:sp>
        <p:nvSpPr>
          <p:cNvPr id="16" name="Shape 14"/>
          <p:cNvSpPr/>
          <p:nvPr/>
        </p:nvSpPr>
        <p:spPr>
          <a:xfrm>
            <a:off x="45720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7" name="Shape 15"/>
          <p:cNvSpPr/>
          <p:nvPr/>
        </p:nvSpPr>
        <p:spPr>
          <a:xfrm>
            <a:off x="640080" y="3794760"/>
            <a:ext cx="548640" cy="548640"/>
          </a:xfrm>
          <a:prstGeom prst="ellipse">
            <a:avLst/>
          </a:prstGeom>
          <a:solidFill>
            <a:srgbClr val="E85D9E"/>
          </a:solidFill>
          <a:ln/>
        </p:spPr>
      </p:sp>
      <p:sp>
        <p:nvSpPr>
          <p:cNvPr id="18" name="Text 16"/>
          <p:cNvSpPr txBox="1"/>
          <p:nvPr/>
        </p:nvSpPr>
        <p:spPr>
          <a:xfrm>
            <a:off x="64008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C</a:t>
            </a:r>
            <a:endParaRPr lang="en-US" sz="2000" dirty="0"/>
          </a:p>
        </p:txBody>
      </p:sp>
      <p:sp>
        <p:nvSpPr>
          <p:cNvPr id="19" name="Text 17"/>
          <p:cNvSpPr txBox="1"/>
          <p:nvPr/>
        </p:nvSpPr>
        <p:spPr>
          <a:xfrm>
            <a:off x="137160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Because every story needs a happy ending.</a:t>
            </a:r>
            <a:endParaRPr lang="en-US" sz="1500" dirty="0"/>
          </a:p>
        </p:txBody>
      </p:sp>
      <p:sp>
        <p:nvSpPr>
          <p:cNvPr id="20" name="Shape 18"/>
          <p:cNvSpPr/>
          <p:nvPr/>
        </p:nvSpPr>
        <p:spPr>
          <a:xfrm>
            <a:off x="4663440" y="3566160"/>
            <a:ext cx="4023360" cy="1005840"/>
          </a:xfrm>
          <a:prstGeom prst="roundRect">
            <a:avLst>
              <a:gd name="adj" fmla="val 13636"/>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21" name="Shape 19"/>
          <p:cNvSpPr/>
          <p:nvPr/>
        </p:nvSpPr>
        <p:spPr>
          <a:xfrm>
            <a:off x="4846320" y="3794760"/>
            <a:ext cx="548640" cy="548640"/>
          </a:xfrm>
          <a:prstGeom prst="ellipse">
            <a:avLst/>
          </a:prstGeom>
          <a:solidFill>
            <a:srgbClr val="7B5CE0"/>
          </a:solidFill>
          <a:ln/>
        </p:spPr>
      </p:sp>
      <p:sp>
        <p:nvSpPr>
          <p:cNvPr id="22" name="Text 20"/>
          <p:cNvSpPr txBox="1"/>
          <p:nvPr/>
        </p:nvSpPr>
        <p:spPr>
          <a:xfrm>
            <a:off x="4846320" y="37947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D</a:t>
            </a:r>
            <a:endParaRPr lang="en-US" sz="2000" dirty="0"/>
          </a:p>
        </p:txBody>
      </p:sp>
      <p:sp>
        <p:nvSpPr>
          <p:cNvPr id="23" name="Text 21"/>
          <p:cNvSpPr txBox="1"/>
          <p:nvPr/>
        </p:nvSpPr>
        <p:spPr>
          <a:xfrm>
            <a:off x="5577840" y="3566160"/>
            <a:ext cx="3017520" cy="1005840"/>
          </a:xfrm>
          <a:prstGeom prst="rect">
            <a:avLst/>
          </a:prstGeom>
          <a:noFill/>
          <a:ln/>
        </p:spPr>
        <p:txBody>
          <a:bodyPr wrap="square" lIns="0" tIns="0" rIns="0" bIns="0" rtlCol="0" anchor="ctr"/>
          <a:lstStyle/>
          <a:p>
            <a:pPr marL="0" indent="0">
              <a:buNone/>
            </a:pPr>
            <a:r>
              <a:rPr lang="en-US" sz="1500" dirty="0">
                <a:solidFill>
                  <a:srgbClr val="2A1B4D"/>
                </a:solidFill>
              </a:rPr>
              <a:t>Because the twist should change what happens next.</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2A1B4D"/>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3E2A70"/>
          </a:solidFill>
          <a:ln/>
        </p:spPr>
      </p:sp>
      <p:sp>
        <p:nvSpPr>
          <p:cNvPr id="3" name="Shape 1"/>
          <p:cNvSpPr/>
          <p:nvPr/>
        </p:nvSpPr>
        <p:spPr>
          <a:xfrm>
            <a:off x="8549640" y="502920"/>
            <a:ext cx="822960" cy="822960"/>
          </a:xfrm>
          <a:prstGeom prst="ellipse">
            <a:avLst/>
          </a:prstGeom>
          <a:solidFill>
            <a:srgbClr val="FF8A3D">
              <a:alpha val="8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ANSWER</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B7A8E8"/>
                </a:solidFill>
              </a:rPr>
              <a:t>1.6 A TWIST…</a:t>
            </a:r>
            <a:endParaRPr lang="en-US" sz="1000" dirty="0"/>
          </a:p>
        </p:txBody>
      </p:sp>
      <p:sp>
        <p:nvSpPr>
          <p:cNvPr id="6" name="Shape 4"/>
          <p:cNvSpPr/>
          <p:nvPr/>
        </p:nvSpPr>
        <p:spPr>
          <a:xfrm>
            <a:off x="548640" y="1554480"/>
            <a:ext cx="1737360" cy="1737360"/>
          </a:xfrm>
          <a:prstGeom prst="ellipse">
            <a:avLst/>
          </a:prstGeom>
          <a:solidFill>
            <a:srgbClr val="1FB5A8"/>
          </a:solidFill>
          <a:ln/>
        </p:spPr>
      </p:sp>
      <p:sp>
        <p:nvSpPr>
          <p:cNvPr id="7" name="Text 5"/>
          <p:cNvSpPr txBox="1"/>
          <p:nvPr/>
        </p:nvSpPr>
        <p:spPr>
          <a:xfrm>
            <a:off x="548640" y="1554480"/>
            <a:ext cx="1737360" cy="173736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D</a:t>
            </a:r>
            <a:endParaRPr lang="en-US" sz="7200" dirty="0"/>
          </a:p>
        </p:txBody>
      </p:sp>
      <p:sp>
        <p:nvSpPr>
          <p:cNvPr id="8" name="Text 6"/>
          <p:cNvSpPr txBox="1"/>
          <p:nvPr/>
        </p:nvSpPr>
        <p:spPr>
          <a:xfrm>
            <a:off x="2651760" y="1280160"/>
            <a:ext cx="5943600" cy="1005840"/>
          </a:xfrm>
          <a:prstGeom prst="rect">
            <a:avLst/>
          </a:prstGeom>
          <a:noFill/>
          <a:ln/>
        </p:spPr>
        <p:txBody>
          <a:bodyPr wrap="square" lIns="0" tIns="0" rIns="0" bIns="0" rtlCol="0" anchor="ctr"/>
          <a:lstStyle/>
          <a:p>
            <a:pPr marL="0" indent="0">
              <a:buNone/>
            </a:pPr>
            <a:r>
              <a:rPr lang="en-US" sz="2200" b="1" dirty="0">
                <a:solidFill>
                  <a:srgbClr val="FFFFFF"/>
                </a:solidFill>
              </a:rPr>
              <a:t>A good twist should not be random. It should change what happens next.</a:t>
            </a:r>
            <a:endParaRPr lang="en-US" sz="2200" dirty="0"/>
          </a:p>
        </p:txBody>
      </p:sp>
      <p:sp>
        <p:nvSpPr>
          <p:cNvPr id="9" name="Text 7"/>
          <p:cNvSpPr txBox="1"/>
          <p:nvPr/>
        </p:nvSpPr>
        <p:spPr>
          <a:xfrm>
            <a:off x="2651760" y="2377440"/>
            <a:ext cx="5943600" cy="2286000"/>
          </a:xfrm>
          <a:prstGeom prst="rect">
            <a:avLst/>
          </a:prstGeom>
          <a:noFill/>
          <a:ln/>
        </p:spPr>
        <p:txBody>
          <a:bodyPr wrap="square" lIns="0" tIns="0" rIns="0" bIns="0" rtlCol="0" anchor="t"/>
          <a:lstStyle/>
          <a:p>
            <a:pPr marL="0" indent="0">
              <a:spcAft>
                <a:spcPts val="800"/>
              </a:spcAft>
              <a:buNone/>
            </a:pPr>
            <a:r>
              <a:rPr lang="en-US" sz="1600" dirty="0">
                <a:solidFill>
                  <a:srgbClr val="DCD2FF"/>
                </a:solidFill>
              </a:rPr>
              <a:t>Remember:</a:t>
            </a:r>
            <a:endParaRPr lang="en-US" sz="1600" dirty="0"/>
          </a:p>
          <a:p>
            <a:pPr marL="0" indent="0">
              <a:spcAft>
                <a:spcPts val="800"/>
              </a:spcAft>
              <a:buNone/>
            </a:pPr>
            <a:r>
              <a:rPr lang="en-US" sz="1600" dirty="0">
                <a:solidFill>
                  <a:srgbClr val="DCD2FF"/>
                </a:solidFill>
              </a:rPr>
              <a:t>TWIST → CONSEQUENCE → NEW ENDING</a:t>
            </a:r>
            <a:endParaRPr lang="en-US" sz="1600" dirty="0"/>
          </a:p>
          <a:p>
            <a:pPr marL="0" indent="0">
              <a:spcAft>
                <a:spcPts val="800"/>
              </a:spcAft>
              <a:buNone/>
            </a:pPr>
            <a:endParaRPr lang="en-US" sz="1600" dirty="0"/>
          </a:p>
          <a:p>
            <a:pPr marL="0" indent="0">
              <a:spcAft>
                <a:spcPts val="800"/>
              </a:spcAft>
              <a:buNone/>
            </a:pPr>
            <a:r>
              <a:rPr lang="en-US" sz="1600" dirty="0">
                <a:solidFill>
                  <a:srgbClr val="DCD2FF"/>
                </a:solidFill>
              </a:rPr>
              <a:t>And sometimes:</a:t>
            </a:r>
            <a:endParaRPr lang="en-US" sz="1600" dirty="0"/>
          </a:p>
          <a:p>
            <a:pPr marL="0" indent="0">
              <a:spcAft>
                <a:spcPts val="800"/>
              </a:spcAft>
              <a:buNone/>
            </a:pPr>
            <a:r>
              <a:rPr lang="en-US" sz="1600" dirty="0">
                <a:solidFill>
                  <a:srgbClr val="DCD2FF"/>
                </a:solidFill>
              </a:rPr>
              <a:t>NEW ENDING → NEW LESSON</a:t>
            </a:r>
            <a:endParaRPr lang="en-US"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FINAL REFLECTION</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Text 4"/>
          <p:cNvSpPr txBox="1"/>
          <p:nvPr/>
        </p:nvSpPr>
        <p:spPr>
          <a:xfrm>
            <a:off x="457200" y="1280160"/>
            <a:ext cx="3108960" cy="685800"/>
          </a:xfrm>
          <a:prstGeom prst="roundRect">
            <a:avLst>
              <a:gd name="adj" fmla="val 16000"/>
            </a:avLst>
          </a:prstGeom>
          <a:solidFill>
            <a:srgbClr val="FF8A3D"/>
          </a:solidFill>
          <a:ln/>
        </p:spPr>
        <p:txBody>
          <a:bodyPr wrap="square" lIns="76200" tIns="76200" rIns="76200" bIns="762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Today I learned that…</a:t>
            </a:r>
            <a:endParaRPr lang="en-US" sz="2000" dirty="0"/>
          </a:p>
        </p:txBody>
      </p:sp>
      <p:sp>
        <p:nvSpPr>
          <p:cNvPr id="7" name="Shape 5"/>
          <p:cNvSpPr/>
          <p:nvPr/>
        </p:nvSpPr>
        <p:spPr>
          <a:xfrm>
            <a:off x="3703320" y="1280160"/>
            <a:ext cx="4983480" cy="685800"/>
          </a:xfrm>
          <a:prstGeom prst="roundRect">
            <a:avLst>
              <a:gd name="adj" fmla="val 16000"/>
            </a:avLst>
          </a:prstGeom>
          <a:solidFill>
            <a:srgbClr val="FFFFFF"/>
          </a:solidFill>
          <a:ln w="12700">
            <a:solidFill>
              <a:srgbClr val="CFC3F2"/>
            </a:solidFill>
            <a:prstDash val="dash"/>
          </a:ln>
        </p:spPr>
      </p:sp>
      <p:sp>
        <p:nvSpPr>
          <p:cNvPr id="8" name="Text 6"/>
          <p:cNvSpPr txBox="1"/>
          <p:nvPr/>
        </p:nvSpPr>
        <p:spPr>
          <a:xfrm>
            <a:off x="457200" y="2075688"/>
            <a:ext cx="3108960" cy="685800"/>
          </a:xfrm>
          <a:prstGeom prst="roundRect">
            <a:avLst>
              <a:gd name="adj" fmla="val 16000"/>
            </a:avLst>
          </a:prstGeom>
          <a:solidFill>
            <a:srgbClr val="1FB5A8"/>
          </a:solidFill>
          <a:ln/>
        </p:spPr>
        <p:txBody>
          <a:bodyPr wrap="square" lIns="76200" tIns="76200" rIns="76200" bIns="7620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One change in a story can…</a:t>
            </a:r>
            <a:endParaRPr lang="en-US" sz="2000" dirty="0"/>
          </a:p>
        </p:txBody>
      </p:sp>
      <p:sp>
        <p:nvSpPr>
          <p:cNvPr id="9" name="Shape 7"/>
          <p:cNvSpPr/>
          <p:nvPr/>
        </p:nvSpPr>
        <p:spPr>
          <a:xfrm>
            <a:off x="3703320" y="2075688"/>
            <a:ext cx="4983480" cy="685800"/>
          </a:xfrm>
          <a:prstGeom prst="roundRect">
            <a:avLst>
              <a:gd name="adj" fmla="val 16000"/>
            </a:avLst>
          </a:prstGeom>
          <a:solidFill>
            <a:srgbClr val="FFFFFF"/>
          </a:solidFill>
          <a:ln w="12700">
            <a:solidFill>
              <a:srgbClr val="CFC3F2"/>
            </a:solidFill>
            <a:prstDash val="dash"/>
          </a:ln>
        </p:spPr>
      </p:sp>
      <p:sp>
        <p:nvSpPr>
          <p:cNvPr id="10" name="Text 8"/>
          <p:cNvSpPr txBox="1"/>
          <p:nvPr/>
        </p:nvSpPr>
        <p:spPr>
          <a:xfrm>
            <a:off x="457200" y="2871216"/>
            <a:ext cx="3108960" cy="685800"/>
          </a:xfrm>
          <a:prstGeom prst="roundRect">
            <a:avLst>
              <a:gd name="adj" fmla="val 16000"/>
            </a:avLst>
          </a:prstGeom>
          <a:solidFill>
            <a:srgbClr val="E85D9E"/>
          </a:solidFill>
          <a:ln/>
        </p:spPr>
        <p:txBody>
          <a:bodyPr wrap="square" lIns="76200" tIns="76200" rIns="76200" bIns="76200" rtlCol="0" anchor="ctr"/>
          <a:lstStyle/>
          <a:p>
            <a:pPr marL="0" indent="0" algn="l">
              <a:buNone/>
            </a:pPr>
            <a:r>
              <a:rPr lang="en-US" b="1" dirty="0">
                <a:solidFill>
                  <a:srgbClr val="FFFFFF"/>
                </a:solidFill>
                <a:latin typeface="Calibri" pitchFamily="34" charset="0"/>
                <a:ea typeface="Calibri" pitchFamily="34" charset="-122"/>
                <a:cs typeface="Calibri" pitchFamily="34" charset="-120"/>
              </a:rPr>
              <a:t>My favourite twist idea was…</a:t>
            </a:r>
            <a:endParaRPr lang="en-US" dirty="0"/>
          </a:p>
        </p:txBody>
      </p:sp>
      <p:sp>
        <p:nvSpPr>
          <p:cNvPr id="11" name="Shape 9"/>
          <p:cNvSpPr/>
          <p:nvPr/>
        </p:nvSpPr>
        <p:spPr>
          <a:xfrm>
            <a:off x="3703320" y="2871216"/>
            <a:ext cx="4983480" cy="685800"/>
          </a:xfrm>
          <a:prstGeom prst="roundRect">
            <a:avLst>
              <a:gd name="adj" fmla="val 16000"/>
            </a:avLst>
          </a:prstGeom>
          <a:solidFill>
            <a:srgbClr val="FFFFFF"/>
          </a:solidFill>
          <a:ln w="12700">
            <a:solidFill>
              <a:srgbClr val="CFC3F2"/>
            </a:solidFill>
            <a:prstDash val="dash"/>
          </a:ln>
        </p:spPr>
      </p:sp>
      <p:sp>
        <p:nvSpPr>
          <p:cNvPr id="12" name="Text 10"/>
          <p:cNvSpPr txBox="1"/>
          <p:nvPr/>
        </p:nvSpPr>
        <p:spPr>
          <a:xfrm>
            <a:off x="457200" y="3666744"/>
            <a:ext cx="3108960" cy="685800"/>
          </a:xfrm>
          <a:prstGeom prst="roundRect">
            <a:avLst>
              <a:gd name="adj" fmla="val 16000"/>
            </a:avLst>
          </a:prstGeom>
          <a:solidFill>
            <a:srgbClr val="7B5CE0"/>
          </a:solidFill>
          <a:ln/>
        </p:spPr>
        <p:txBody>
          <a:bodyPr wrap="square" lIns="76200" tIns="76200" rIns="76200" bIns="76200" rtlCol="0" anchor="ctr"/>
          <a:lstStyle/>
          <a:p>
            <a:pPr marL="0" indent="0" algn="l">
              <a:buNone/>
            </a:pPr>
            <a:r>
              <a:rPr lang="en-US" b="1" dirty="0">
                <a:solidFill>
                  <a:srgbClr val="FFFFFF"/>
                </a:solidFill>
                <a:latin typeface="Calibri" pitchFamily="34" charset="0"/>
                <a:ea typeface="Calibri" pitchFamily="34" charset="-122"/>
                <a:cs typeface="Calibri" pitchFamily="34" charset="-120"/>
              </a:rPr>
              <a:t>The most important thing a writer must remember is…</a:t>
            </a:r>
            <a:endParaRPr lang="en-US" dirty="0"/>
          </a:p>
        </p:txBody>
      </p:sp>
      <p:sp>
        <p:nvSpPr>
          <p:cNvPr id="13" name="Shape 11"/>
          <p:cNvSpPr/>
          <p:nvPr/>
        </p:nvSpPr>
        <p:spPr>
          <a:xfrm>
            <a:off x="3703320" y="3666744"/>
            <a:ext cx="4983480" cy="685800"/>
          </a:xfrm>
          <a:prstGeom prst="roundRect">
            <a:avLst>
              <a:gd name="adj" fmla="val 16000"/>
            </a:avLst>
          </a:prstGeom>
          <a:solidFill>
            <a:srgbClr val="FFFFFF"/>
          </a:solidFill>
          <a:ln w="12700">
            <a:solidFill>
              <a:srgbClr val="CFC3F2"/>
            </a:solidFill>
            <a:prstDash val="dash"/>
          </a:ln>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3200" b="1" dirty="0">
                <a:solidFill>
                  <a:srgbClr val="2A1B4D"/>
                </a:solidFill>
                <a:latin typeface="Cambria" pitchFamily="34" charset="0"/>
                <a:ea typeface="Cambria" pitchFamily="34" charset="-122"/>
                <a:cs typeface="Cambria" pitchFamily="34" charset="-120"/>
              </a:rPr>
              <a:t>WRITER'S GOLDEN RULE</a:t>
            </a:r>
            <a:endParaRPr lang="en-US" sz="32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828800"/>
            <a:ext cx="178308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66928" y="1938528"/>
            <a:ext cx="1563624" cy="365760"/>
          </a:xfrm>
          <a:prstGeom prst="roundRect">
            <a:avLst>
              <a:gd name="adj" fmla="val 30000"/>
            </a:avLst>
          </a:prstGeom>
          <a:solidFill>
            <a:srgbClr val="FF8A3D"/>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p>
        </p:txBody>
      </p:sp>
      <p:sp>
        <p:nvSpPr>
          <p:cNvPr id="8" name="Text 6"/>
          <p:cNvSpPr txBox="1"/>
          <p:nvPr/>
        </p:nvSpPr>
        <p:spPr>
          <a:xfrm>
            <a:off x="566927" y="2308503"/>
            <a:ext cx="1722315" cy="731520"/>
          </a:xfrm>
          <a:prstGeom prst="rect">
            <a:avLst/>
          </a:prstGeom>
          <a:noFill/>
          <a:ln/>
        </p:spPr>
        <p:txBody>
          <a:bodyPr wrap="square" lIns="0" tIns="0" rIns="0" bIns="0" rtlCol="0" anchor="t"/>
          <a:lstStyle/>
          <a:p>
            <a:pPr marL="0" indent="0">
              <a:buNone/>
            </a:pPr>
            <a:r>
              <a:rPr lang="en-US" dirty="0">
                <a:solidFill>
                  <a:srgbClr val="2A1B4D"/>
                </a:solidFill>
              </a:rPr>
              <a:t>Changes something important</a:t>
            </a:r>
            <a:endParaRPr lang="en-US" dirty="0"/>
          </a:p>
        </p:txBody>
      </p:sp>
      <p:sp>
        <p:nvSpPr>
          <p:cNvPr id="9" name="Text 7"/>
          <p:cNvSpPr txBox="1"/>
          <p:nvPr/>
        </p:nvSpPr>
        <p:spPr>
          <a:xfrm>
            <a:off x="2240280" y="2286000"/>
            <a:ext cx="36576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10" name="Shape 8"/>
          <p:cNvSpPr/>
          <p:nvPr/>
        </p:nvSpPr>
        <p:spPr>
          <a:xfrm>
            <a:off x="2606040" y="1828800"/>
            <a:ext cx="178308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1" name="Text 9"/>
          <p:cNvSpPr txBox="1"/>
          <p:nvPr/>
        </p:nvSpPr>
        <p:spPr>
          <a:xfrm>
            <a:off x="2715768" y="1938528"/>
            <a:ext cx="1563624" cy="365760"/>
          </a:xfrm>
          <a:prstGeom prst="roundRect">
            <a:avLst>
              <a:gd name="adj" fmla="val 30000"/>
            </a:avLst>
          </a:prstGeom>
          <a:solidFill>
            <a:srgbClr val="1FB5A8"/>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CONSEQUENCE</a:t>
            </a:r>
            <a:endParaRPr lang="en-US" sz="1200" dirty="0"/>
          </a:p>
        </p:txBody>
      </p:sp>
      <p:sp>
        <p:nvSpPr>
          <p:cNvPr id="12" name="Text 10"/>
          <p:cNvSpPr txBox="1"/>
          <p:nvPr/>
        </p:nvSpPr>
        <p:spPr>
          <a:xfrm>
            <a:off x="2715768" y="2377440"/>
            <a:ext cx="1563624" cy="731520"/>
          </a:xfrm>
          <a:prstGeom prst="rect">
            <a:avLst/>
          </a:prstGeom>
          <a:noFill/>
          <a:ln/>
        </p:spPr>
        <p:txBody>
          <a:bodyPr wrap="square" lIns="0" tIns="0" rIns="0" bIns="0" rtlCol="0" anchor="t"/>
          <a:lstStyle/>
          <a:p>
            <a:pPr marL="0" indent="0">
              <a:buNone/>
            </a:pPr>
            <a:r>
              <a:rPr lang="en-US" sz="2000" dirty="0">
                <a:solidFill>
                  <a:srgbClr val="2A1B4D"/>
                </a:solidFill>
              </a:rPr>
              <a:t>Creates a consequence</a:t>
            </a:r>
            <a:endParaRPr lang="en-US" sz="2000" dirty="0"/>
          </a:p>
        </p:txBody>
      </p:sp>
      <p:sp>
        <p:nvSpPr>
          <p:cNvPr id="13" name="Text 11"/>
          <p:cNvSpPr txBox="1"/>
          <p:nvPr/>
        </p:nvSpPr>
        <p:spPr>
          <a:xfrm>
            <a:off x="4389120" y="2286000"/>
            <a:ext cx="36576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14" name="Shape 12"/>
          <p:cNvSpPr/>
          <p:nvPr/>
        </p:nvSpPr>
        <p:spPr>
          <a:xfrm>
            <a:off x="4754880" y="1828800"/>
            <a:ext cx="178308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5" name="Text 13"/>
          <p:cNvSpPr txBox="1"/>
          <p:nvPr/>
        </p:nvSpPr>
        <p:spPr>
          <a:xfrm>
            <a:off x="4864608" y="1938528"/>
            <a:ext cx="1563624" cy="365760"/>
          </a:xfrm>
          <a:prstGeom prst="roundRect">
            <a:avLst>
              <a:gd name="adj" fmla="val 30000"/>
            </a:avLst>
          </a:prstGeom>
          <a:solidFill>
            <a:srgbClr val="E85D9E"/>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STORY</a:t>
            </a:r>
            <a:endParaRPr lang="en-US" sz="1200" dirty="0"/>
          </a:p>
        </p:txBody>
      </p:sp>
      <p:sp>
        <p:nvSpPr>
          <p:cNvPr id="16" name="Text 14"/>
          <p:cNvSpPr txBox="1"/>
          <p:nvPr/>
        </p:nvSpPr>
        <p:spPr>
          <a:xfrm>
            <a:off x="4864608" y="2377440"/>
            <a:ext cx="1563624" cy="731520"/>
          </a:xfrm>
          <a:prstGeom prst="rect">
            <a:avLst/>
          </a:prstGeom>
          <a:noFill/>
          <a:ln/>
        </p:spPr>
        <p:txBody>
          <a:bodyPr wrap="square" lIns="0" tIns="0" rIns="0" bIns="0" rtlCol="0" anchor="t"/>
          <a:lstStyle/>
          <a:p>
            <a:pPr marL="0" indent="0">
              <a:buNone/>
            </a:pPr>
            <a:r>
              <a:rPr lang="en-US" dirty="0">
                <a:solidFill>
                  <a:srgbClr val="2A1B4D"/>
                </a:solidFill>
              </a:rPr>
              <a:t>Changes the story</a:t>
            </a:r>
            <a:endParaRPr lang="en-US" dirty="0"/>
          </a:p>
        </p:txBody>
      </p:sp>
      <p:sp>
        <p:nvSpPr>
          <p:cNvPr id="17" name="Text 15"/>
          <p:cNvSpPr txBox="1"/>
          <p:nvPr/>
        </p:nvSpPr>
        <p:spPr>
          <a:xfrm>
            <a:off x="6537960" y="2286000"/>
            <a:ext cx="365760" cy="457200"/>
          </a:xfrm>
          <a:prstGeom prst="rect">
            <a:avLst/>
          </a:prstGeom>
          <a:noFill/>
          <a:ln/>
        </p:spPr>
        <p:txBody>
          <a:bodyPr wrap="square" lIns="0" tIns="0" rIns="0" bIns="0" rtlCol="0" anchor="ctr"/>
          <a:lstStyle/>
          <a:p>
            <a:pPr marL="0" indent="0" algn="ctr">
              <a:buNone/>
            </a:pPr>
            <a:r>
              <a:rPr lang="en-US" sz="2600" b="1" dirty="0">
                <a:solidFill>
                  <a:srgbClr val="FF8A3D"/>
                </a:solidFill>
              </a:rPr>
              <a:t>→</a:t>
            </a:r>
            <a:endParaRPr lang="en-US" sz="2600" dirty="0"/>
          </a:p>
        </p:txBody>
      </p:sp>
      <p:sp>
        <p:nvSpPr>
          <p:cNvPr id="18" name="Shape 16"/>
          <p:cNvSpPr/>
          <p:nvPr/>
        </p:nvSpPr>
        <p:spPr>
          <a:xfrm>
            <a:off x="6903720" y="1828800"/>
            <a:ext cx="1783080" cy="1371600"/>
          </a:xfrm>
          <a:prstGeom prst="roundRect">
            <a:avLst>
              <a:gd name="adj" fmla="val 10000"/>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9" name="Text 17"/>
          <p:cNvSpPr txBox="1"/>
          <p:nvPr/>
        </p:nvSpPr>
        <p:spPr>
          <a:xfrm>
            <a:off x="7013448" y="1938528"/>
            <a:ext cx="1563624" cy="365760"/>
          </a:xfrm>
          <a:prstGeom prst="roundRect">
            <a:avLst>
              <a:gd name="adj" fmla="val 30000"/>
            </a:avLst>
          </a:prstGeom>
          <a:solidFill>
            <a:srgbClr val="7B5CE0"/>
          </a:solid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LESSON</a:t>
            </a:r>
            <a:endParaRPr lang="en-US" sz="1200" dirty="0"/>
          </a:p>
        </p:txBody>
      </p:sp>
      <p:sp>
        <p:nvSpPr>
          <p:cNvPr id="20" name="Text 18"/>
          <p:cNvSpPr txBox="1"/>
          <p:nvPr/>
        </p:nvSpPr>
        <p:spPr>
          <a:xfrm>
            <a:off x="7013448" y="2377440"/>
            <a:ext cx="1563624" cy="731520"/>
          </a:xfrm>
          <a:prstGeom prst="rect">
            <a:avLst/>
          </a:prstGeom>
          <a:noFill/>
          <a:ln/>
        </p:spPr>
        <p:txBody>
          <a:bodyPr wrap="square" lIns="0" tIns="0" rIns="0" bIns="0" rtlCol="0" anchor="t"/>
          <a:lstStyle/>
          <a:p>
            <a:pPr marL="0" indent="0">
              <a:buNone/>
            </a:pPr>
            <a:r>
              <a:rPr lang="en-US" sz="2000" dirty="0">
                <a:solidFill>
                  <a:srgbClr val="2A1B4D"/>
                </a:solidFill>
              </a:rPr>
              <a:t>May change the lesson</a:t>
            </a:r>
            <a:endParaRPr lang="en-US" sz="2000" dirty="0"/>
          </a:p>
        </p:txBody>
      </p:sp>
      <p:sp>
        <p:nvSpPr>
          <p:cNvPr id="21" name="Text 19"/>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2400" b="1" dirty="0">
                <a:solidFill>
                  <a:srgbClr val="2A1B4D"/>
                </a:solidFill>
                <a:latin typeface="Calibri" pitchFamily="34" charset="0"/>
                <a:ea typeface="Calibri" pitchFamily="34" charset="-122"/>
                <a:cs typeface="Calibri" pitchFamily="34" charset="-120"/>
              </a:rPr>
              <a:t>Think like a writer: "If I change this… what happens next?"</a:t>
            </a: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2FF"/>
        </a:solidFill>
        <a:effectLst/>
      </p:bgPr>
    </p:bg>
    <p:spTree>
      <p:nvGrpSpPr>
        <p:cNvPr id="1" name=""/>
        <p:cNvGrpSpPr/>
        <p:nvPr/>
      </p:nvGrpSpPr>
      <p:grpSpPr>
        <a:xfrm>
          <a:off x="0" y="0"/>
          <a:ext cx="0" cy="0"/>
          <a:chOff x="0" y="0"/>
          <a:chExt cx="0" cy="0"/>
        </a:xfrm>
      </p:grpSpPr>
      <p:sp>
        <p:nvSpPr>
          <p:cNvPr id="2" name="Shape 0"/>
          <p:cNvSpPr/>
          <p:nvPr/>
        </p:nvSpPr>
        <p:spPr>
          <a:xfrm>
            <a:off x="7955280" y="-914400"/>
            <a:ext cx="2194560" cy="2194560"/>
          </a:xfrm>
          <a:prstGeom prst="ellipse">
            <a:avLst/>
          </a:prstGeom>
          <a:solidFill>
            <a:srgbClr val="E4DBFF"/>
          </a:solidFill>
          <a:ln/>
        </p:spPr>
      </p:sp>
      <p:sp>
        <p:nvSpPr>
          <p:cNvPr id="3" name="Shape 1"/>
          <p:cNvSpPr/>
          <p:nvPr/>
        </p:nvSpPr>
        <p:spPr>
          <a:xfrm>
            <a:off x="8549640" y="502920"/>
            <a:ext cx="822960" cy="822960"/>
          </a:xfrm>
          <a:prstGeom prst="ellipse">
            <a:avLst/>
          </a:prstGeom>
          <a:solidFill>
            <a:srgbClr val="FF8A3D">
              <a:alpha val="75000"/>
            </a:srgbClr>
          </a:solidFill>
          <a:ln/>
        </p:spPr>
      </p:sp>
      <p:sp>
        <p:nvSpPr>
          <p:cNvPr id="4" name="Text 2"/>
          <p:cNvSpPr txBox="1"/>
          <p:nvPr/>
        </p:nvSpPr>
        <p:spPr>
          <a:xfrm>
            <a:off x="457200" y="274320"/>
            <a:ext cx="7315200" cy="731520"/>
          </a:xfrm>
          <a:prstGeom prst="rect">
            <a:avLst/>
          </a:prstGeom>
          <a:noFill/>
          <a:ln/>
        </p:spPr>
        <p:txBody>
          <a:bodyPr wrap="square" lIns="0" tIns="0" rIns="0" bIns="0" rtlCol="0" anchor="ctr"/>
          <a:lstStyle/>
          <a:p>
            <a:pPr marL="0" indent="0">
              <a:buNone/>
            </a:pPr>
            <a:r>
              <a:rPr lang="en-US" sz="2800" b="1" dirty="0">
                <a:solidFill>
                  <a:srgbClr val="2A1B4D"/>
                </a:solidFill>
                <a:latin typeface="Cambria" pitchFamily="34" charset="0"/>
                <a:ea typeface="Cambria" pitchFamily="34" charset="-122"/>
                <a:cs typeface="Cambria" pitchFamily="34" charset="-120"/>
              </a:rPr>
              <a:t>HOMEWORK: TWIST A FABLE</a:t>
            </a:r>
            <a:endParaRPr lang="en-US" sz="2800" dirty="0"/>
          </a:p>
        </p:txBody>
      </p:sp>
      <p:sp>
        <p:nvSpPr>
          <p:cNvPr id="5" name="Text 3"/>
          <p:cNvSpPr txBox="1"/>
          <p:nvPr/>
        </p:nvSpPr>
        <p:spPr>
          <a:xfrm>
            <a:off x="457200" y="4846320"/>
            <a:ext cx="2743200" cy="228600"/>
          </a:xfrm>
          <a:prstGeom prst="rect">
            <a:avLst/>
          </a:prstGeom>
          <a:noFill/>
          <a:ln/>
        </p:spPr>
        <p:txBody>
          <a:bodyPr wrap="square" lIns="0" tIns="0" rIns="0" bIns="0" rtlCol="0" anchor="ctr"/>
          <a:lstStyle/>
          <a:p>
            <a:pPr marL="0" indent="0">
              <a:buNone/>
            </a:pPr>
            <a:r>
              <a:rPr lang="en-US" sz="1000" dirty="0">
                <a:solidFill>
                  <a:srgbClr val="7A6BA8"/>
                </a:solidFill>
              </a:rPr>
              <a:t>1.6 A TWIST…</a:t>
            </a:r>
            <a:endParaRPr lang="en-US" sz="1000" dirty="0"/>
          </a:p>
        </p:txBody>
      </p:sp>
      <p:sp>
        <p:nvSpPr>
          <p:cNvPr id="6" name="Shape 4"/>
          <p:cNvSpPr/>
          <p:nvPr/>
        </p:nvSpPr>
        <p:spPr>
          <a:xfrm>
            <a:off x="457200" y="1280160"/>
            <a:ext cx="4000500" cy="2880360"/>
          </a:xfrm>
          <a:prstGeom prst="roundRect">
            <a:avLst>
              <a:gd name="adj" fmla="val 4762"/>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7" name="Text 5"/>
          <p:cNvSpPr txBox="1"/>
          <p:nvPr/>
        </p:nvSpPr>
        <p:spPr>
          <a:xfrm>
            <a:off x="594360" y="1417320"/>
            <a:ext cx="3726180" cy="457200"/>
          </a:xfrm>
          <a:prstGeom prst="roundRect">
            <a:avLst>
              <a:gd name="adj" fmla="val 24000"/>
            </a:avLst>
          </a:prstGeom>
          <a:solidFill>
            <a:srgbClr val="FF8A3D"/>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YOUR TASK</a:t>
            </a:r>
            <a:endParaRPr lang="en-US" sz="1600" dirty="0"/>
          </a:p>
        </p:txBody>
      </p:sp>
      <p:sp>
        <p:nvSpPr>
          <p:cNvPr id="8" name="Text 6"/>
          <p:cNvSpPr txBox="1"/>
          <p:nvPr/>
        </p:nvSpPr>
        <p:spPr>
          <a:xfrm>
            <a:off x="548640" y="2011680"/>
            <a:ext cx="372618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A1B4D"/>
                </a:solidFill>
              </a:rPr>
              <a:t>Choose a DIFFERENT fable from the one you wrote in class. </a:t>
            </a:r>
          </a:p>
          <a:p>
            <a:pPr marL="342900" indent="-342900">
              <a:spcAft>
                <a:spcPts val="600"/>
              </a:spcAft>
              <a:buSzPct val="100000"/>
              <a:buChar char="•"/>
            </a:pPr>
            <a:r>
              <a:rPr lang="en-US" sz="1500" b="1" dirty="0">
                <a:solidFill>
                  <a:srgbClr val="2A1B4D"/>
                </a:solidFill>
              </a:rPr>
              <a:t>Ex</a:t>
            </a:r>
            <a:r>
              <a:rPr lang="en-US" sz="1500" dirty="0">
                <a:solidFill>
                  <a:srgbClr val="2A1B4D"/>
                </a:solidFill>
              </a:rPr>
              <a:t>.:  (The Lion with the Red Eyes)</a:t>
            </a:r>
            <a:endParaRPr lang="en-US" sz="1500" dirty="0"/>
          </a:p>
          <a:p>
            <a:pPr marL="342900" indent="-342900">
              <a:spcAft>
                <a:spcPts val="600"/>
              </a:spcAft>
              <a:buSzPct val="100000"/>
              <a:buChar char="•"/>
            </a:pPr>
            <a:r>
              <a:rPr lang="en-US" sz="1500" dirty="0">
                <a:solidFill>
                  <a:srgbClr val="2A1B4D"/>
                </a:solidFill>
              </a:rPr>
              <a:t>Write a twisted version in 10–12 sentences.</a:t>
            </a:r>
            <a:endParaRPr lang="en-US" sz="1500" dirty="0"/>
          </a:p>
          <a:p>
            <a:pPr marL="342900" indent="-342900">
              <a:spcAft>
                <a:spcPts val="600"/>
              </a:spcAft>
              <a:buSzPct val="100000"/>
              <a:buChar char="•"/>
            </a:pPr>
            <a:r>
              <a:rPr lang="en-US" sz="1500" dirty="0">
                <a:solidFill>
                  <a:srgbClr val="2A1B4D"/>
                </a:solidFill>
              </a:rPr>
              <a:t>Change ONE important part.</a:t>
            </a:r>
            <a:endParaRPr lang="en-US" sz="1500" dirty="0"/>
          </a:p>
        </p:txBody>
      </p:sp>
      <p:sp>
        <p:nvSpPr>
          <p:cNvPr id="9" name="Shape 7"/>
          <p:cNvSpPr/>
          <p:nvPr/>
        </p:nvSpPr>
        <p:spPr>
          <a:xfrm>
            <a:off x="4686300" y="1280160"/>
            <a:ext cx="4000500" cy="2880360"/>
          </a:xfrm>
          <a:prstGeom prst="roundRect">
            <a:avLst>
              <a:gd name="adj" fmla="val 4762"/>
            </a:avLst>
          </a:prstGeom>
          <a:solidFill>
            <a:srgbClr val="FFFFFF"/>
          </a:solidFill>
          <a:ln w="12700">
            <a:solidFill>
              <a:srgbClr val="DDD3F7"/>
            </a:solidFill>
            <a:prstDash val="solid"/>
          </a:ln>
          <a:effectLst>
            <a:outerShdw blurRad="76200" dist="25400" dir="5400000" algn="bl" rotWithShape="0">
              <a:srgbClr val="000000">
                <a:alpha val="12000"/>
              </a:srgbClr>
            </a:outerShdw>
          </a:effectLst>
        </p:spPr>
      </p:sp>
      <p:sp>
        <p:nvSpPr>
          <p:cNvPr id="10" name="Text 8"/>
          <p:cNvSpPr txBox="1"/>
          <p:nvPr/>
        </p:nvSpPr>
        <p:spPr>
          <a:xfrm>
            <a:off x="4823460" y="1417320"/>
            <a:ext cx="3726180" cy="457200"/>
          </a:xfrm>
          <a:prstGeom prst="roundRect">
            <a:avLst>
              <a:gd name="adj" fmla="val 24000"/>
            </a:avLst>
          </a:prstGeom>
          <a:solidFill>
            <a:srgbClr val="1FB5A8"/>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MUST INCLUDE</a:t>
            </a:r>
            <a:endParaRPr lang="en-US" sz="1600" dirty="0"/>
          </a:p>
        </p:txBody>
      </p:sp>
      <p:sp>
        <p:nvSpPr>
          <p:cNvPr id="11" name="Text 9"/>
          <p:cNvSpPr txBox="1"/>
          <p:nvPr/>
        </p:nvSpPr>
        <p:spPr>
          <a:xfrm>
            <a:off x="4869180" y="2011680"/>
            <a:ext cx="363474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A1B4D"/>
                </a:solidFill>
              </a:rPr>
              <a:t>The original characters</a:t>
            </a:r>
            <a:endParaRPr lang="en-US" sz="1500" dirty="0"/>
          </a:p>
          <a:p>
            <a:pPr marL="342900" indent="-342900">
              <a:spcAft>
                <a:spcPts val="600"/>
              </a:spcAft>
              <a:buSzPct val="100000"/>
              <a:buChar char="•"/>
            </a:pPr>
            <a:r>
              <a:rPr lang="en-US" sz="1500" dirty="0">
                <a:solidFill>
                  <a:srgbClr val="2A1B4D"/>
                </a:solidFill>
              </a:rPr>
              <a:t>A clear problem</a:t>
            </a:r>
            <a:endParaRPr lang="en-US" sz="1500" dirty="0"/>
          </a:p>
          <a:p>
            <a:pPr marL="342900" indent="-342900">
              <a:spcAft>
                <a:spcPts val="600"/>
              </a:spcAft>
              <a:buSzPct val="100000"/>
              <a:buChar char="•"/>
            </a:pPr>
            <a:r>
              <a:rPr lang="en-US" sz="1500" dirty="0">
                <a:solidFill>
                  <a:srgbClr val="2A1B4D"/>
                </a:solidFill>
              </a:rPr>
              <a:t>One important twist</a:t>
            </a:r>
            <a:endParaRPr lang="en-US" sz="1500" dirty="0"/>
          </a:p>
          <a:p>
            <a:pPr marL="342900" indent="-342900">
              <a:spcAft>
                <a:spcPts val="600"/>
              </a:spcAft>
              <a:buSzPct val="100000"/>
              <a:buChar char="•"/>
            </a:pPr>
            <a:r>
              <a:rPr lang="en-US" sz="1500" dirty="0">
                <a:solidFill>
                  <a:srgbClr val="2A1B4D"/>
                </a:solidFill>
              </a:rPr>
              <a:t>What happens because of it</a:t>
            </a:r>
            <a:endParaRPr lang="en-US" sz="1500" dirty="0"/>
          </a:p>
          <a:p>
            <a:pPr marL="342900" indent="-342900">
              <a:spcAft>
                <a:spcPts val="600"/>
              </a:spcAft>
              <a:buSzPct val="100000"/>
              <a:buChar char="•"/>
            </a:pPr>
            <a:r>
              <a:rPr lang="en-US" sz="1500" dirty="0">
                <a:solidFill>
                  <a:srgbClr val="2A1B4D"/>
                </a:solidFill>
              </a:rPr>
              <a:t>A different or developed ending</a:t>
            </a:r>
            <a:endParaRPr lang="en-US" sz="1500" dirty="0"/>
          </a:p>
          <a:p>
            <a:pPr marL="342900" indent="-342900">
              <a:spcAft>
                <a:spcPts val="600"/>
              </a:spcAft>
              <a:buSzPct val="100000"/>
              <a:buChar char="•"/>
            </a:pPr>
            <a:r>
              <a:rPr lang="en-US" sz="1500" dirty="0">
                <a:solidFill>
                  <a:srgbClr val="2A1B4D"/>
                </a:solidFill>
              </a:rPr>
              <a:t>A clear moral</a:t>
            </a:r>
            <a:endParaRPr lang="en-US" sz="1500" dirty="0"/>
          </a:p>
        </p:txBody>
      </p:sp>
      <p:sp>
        <p:nvSpPr>
          <p:cNvPr id="12" name="Text 10"/>
          <p:cNvSpPr txBox="1"/>
          <p:nvPr/>
        </p:nvSpPr>
        <p:spPr>
          <a:xfrm>
            <a:off x="457200" y="4297680"/>
            <a:ext cx="8229600" cy="502920"/>
          </a:xfrm>
          <a:prstGeom prst="roundRect">
            <a:avLst>
              <a:gd name="adj" fmla="val 21818"/>
            </a:avLst>
          </a:prstGeom>
          <a:solidFill>
            <a:srgbClr val="FFD166"/>
          </a:solidFill>
          <a:ln/>
        </p:spPr>
        <p:txBody>
          <a:bodyPr wrap="square" lIns="101600" tIns="101600" rIns="101600" bIns="101600" rtlCol="0" anchor="ctr"/>
          <a:lstStyle/>
          <a:p>
            <a:pPr marL="0" indent="0" algn="ctr">
              <a:buNone/>
            </a:pPr>
            <a:r>
              <a:rPr lang="en-US" sz="1600" b="1" dirty="0">
                <a:solidFill>
                  <a:srgbClr val="2A1B4D"/>
                </a:solidFill>
                <a:latin typeface="Calibri" pitchFamily="34" charset="0"/>
                <a:ea typeface="Calibri" pitchFamily="34" charset="-122"/>
                <a:cs typeface="Calibri" pitchFamily="34" charset="-120"/>
              </a:rPr>
              <a:t>Final challenge: write your moral in your own words. "The lesson of my twisted fable is…"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3132</Words>
  <Application>Microsoft Office PowerPoint</Application>
  <PresentationFormat>On-screen Show (16:9)</PresentationFormat>
  <Paragraphs>668</Paragraphs>
  <Slides>58</Slides>
  <Notes>58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3</cp:revision>
  <dcterms:created xsi:type="dcterms:W3CDTF">2026-10-03T16:15:00Z</dcterms:created>
  <dcterms:modified xsi:type="dcterms:W3CDTF">2026-10-03T16:36:44Z</dcterms:modified>
</cp:coreProperties>
</file>