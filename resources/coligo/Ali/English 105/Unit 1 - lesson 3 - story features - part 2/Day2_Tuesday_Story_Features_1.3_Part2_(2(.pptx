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4623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914400"/>
            <a:ext cx="3108960" cy="3108960"/>
          </a:xfrm>
          <a:prstGeom prst="ellipse">
            <a:avLst/>
          </a:prstGeom>
          <a:solidFill>
            <a:srgbClr val="2B42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9144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000000"/>
                </a:solidFill>
              </a:rPr>
              <a:t>🔎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FABLE DETECTIVES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2 · Problem, Consequence, Lesson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Features 1.3 · Year 5 </a:t>
            </a:r>
            <a:r>
              <a:rPr lang="en-US" sz="1400">
                <a:solidFill>
                  <a:srgbClr val="C9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23317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383280"/>
            <a:ext cx="64008" cy="914400"/>
          </a:xfrm>
          <a:prstGeom prst="rect">
            <a:avLst/>
          </a:prstGeom>
          <a:solidFill>
            <a:srgbClr val="C067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918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detective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3291840"/>
            <a:ext cx="23317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6120" y="3383280"/>
            <a:ext cx="64008" cy="914400"/>
          </a:xfrm>
          <a:prstGeom prst="rect">
            <a:avLst/>
          </a:prstGeom>
          <a:solidFill>
            <a:srgbClr val="4F7CA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32918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up on the clues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60720" y="3291840"/>
            <a:ext cx="23317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0" y="3383280"/>
            <a:ext cx="64008" cy="91440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0" y="32918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it solo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892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BIG QUESTION</a:t>
            </a:r>
            <a:endParaRPr lang="en-US" sz="12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fable make a problem lead to a lesson, and how can we prove it?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· UNIT 1 · STORY FEATURES 1.3 ·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7C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2 · LESSON MAP · 80 MINUTES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424160" y="25603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4F7C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24160" y="2560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Journey 🗺️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216152" y="1463040"/>
            <a:ext cx="548640" cy="548640"/>
          </a:xfrm>
          <a:prstGeom prst="ellipse">
            <a:avLst/>
          </a:prstGeom>
          <a:solidFill>
            <a:srgbClr val="4E7D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16152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496312" y="3680460"/>
            <a:ext cx="283464" cy="27432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48840"/>
            <a:ext cx="1883664" cy="333756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86000"/>
            <a:ext cx="64008" cy="306324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148840"/>
            <a:ext cx="1517904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· WARM-UP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506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and a fix-it scenario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11296" y="1463040"/>
            <a:ext cx="548640" cy="548640"/>
          </a:xfrm>
          <a:prstGeom prst="ellipse">
            <a:avLst/>
          </a:prstGeom>
          <a:solidFill>
            <a:srgbClr val="4F7CA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11296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91456" y="3680460"/>
            <a:ext cx="283464" cy="27432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6" name="Shape 14"/>
          <p:cNvSpPr/>
          <p:nvPr/>
        </p:nvSpPr>
        <p:spPr>
          <a:xfrm>
            <a:off x="2843784" y="2148840"/>
            <a:ext cx="1883664" cy="333756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843784" y="2286000"/>
            <a:ext cx="64008" cy="3063240"/>
          </a:xfrm>
          <a:prstGeom prst="rect">
            <a:avLst/>
          </a:prstGeom>
          <a:solidFill>
            <a:srgbClr val="4F7C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072384" y="2148840"/>
            <a:ext cx="1517904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 · I DO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506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models a fable chain and evidence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06440" y="1463040"/>
            <a:ext cx="548640" cy="548640"/>
          </a:xfrm>
          <a:prstGeom prst="ellipse">
            <a:avLst/>
          </a:prstGeom>
          <a:solidFill>
            <a:srgbClr val="C067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806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086600" y="3680460"/>
            <a:ext cx="283464" cy="27432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22" name="Shape 20"/>
          <p:cNvSpPr/>
          <p:nvPr/>
        </p:nvSpPr>
        <p:spPr>
          <a:xfrm>
            <a:off x="5138928" y="2148840"/>
            <a:ext cx="1883664" cy="333756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38928" y="2286000"/>
            <a:ext cx="64008" cy="3063240"/>
          </a:xfrm>
          <a:prstGeom prst="rect">
            <a:avLst/>
          </a:prstGeom>
          <a:solidFill>
            <a:srgbClr val="C0674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367528" y="2148840"/>
            <a:ext cx="1517904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 · WE DO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506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builders and Conscience Alley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01584" y="146304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01584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381744" y="3680460"/>
            <a:ext cx="283464" cy="27432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28" name="Shape 26"/>
          <p:cNvSpPr/>
          <p:nvPr/>
        </p:nvSpPr>
        <p:spPr>
          <a:xfrm>
            <a:off x="7434072" y="2148840"/>
            <a:ext cx="1883664" cy="333756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34072" y="2286000"/>
            <a:ext cx="64008" cy="30632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662672" y="2148840"/>
            <a:ext cx="1517904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 · YOU DO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506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play, then write a paragraph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396728" y="1463040"/>
            <a:ext cx="548640" cy="548640"/>
          </a:xfrm>
          <a:prstGeom prst="ellipse">
            <a:avLst/>
          </a:prstGeom>
          <a:solidFill>
            <a:srgbClr val="4E7D5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396728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9729216" y="2148840"/>
            <a:ext cx="1883664" cy="333756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729216" y="2286000"/>
            <a:ext cx="64008" cy="306324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957816" y="2148840"/>
            <a:ext cx="1517904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 · PLENARY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506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 Court and exit ticket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715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CRITERION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2194560" y="57150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how a fable teaches a lesson and back up my ideas with evidence.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9875520" y="5852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· UNIT 1 · STORY FEATURES 1.3 · TUESDAY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2 · 0–10 MIN · WARM-UP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424160" y="25603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24160" y="2560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Consequence → Lesson 🎯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981200" y="1463040"/>
            <a:ext cx="548640" cy="548640"/>
          </a:xfrm>
          <a:prstGeom prst="ellipse">
            <a:avLst/>
          </a:prstGeom>
          <a:solidFill>
            <a:srgbClr val="4E7D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812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026408" y="3680460"/>
            <a:ext cx="283464" cy="27432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48840"/>
            <a:ext cx="34137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86000"/>
            <a:ext cx="64008" cy="306324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148840"/>
            <a:ext cx="3048000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PROBLEM?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plays games every night and never revises.                                What went wrong?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06440" y="1463040"/>
            <a:ext cx="548640" cy="548640"/>
          </a:xfrm>
          <a:prstGeom prst="ellipse">
            <a:avLst/>
          </a:prstGeom>
          <a:solidFill>
            <a:srgbClr val="4F7CA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06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851648" y="3680460"/>
            <a:ext cx="283464" cy="27432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6" name="Shape 14"/>
          <p:cNvSpPr/>
          <p:nvPr/>
        </p:nvSpPr>
        <p:spPr>
          <a:xfrm>
            <a:off x="4373880" y="2148840"/>
            <a:ext cx="34137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73880" y="2286000"/>
            <a:ext cx="64008" cy="3063240"/>
          </a:xfrm>
          <a:prstGeom prst="rect">
            <a:avLst/>
          </a:prstGeom>
          <a:solidFill>
            <a:srgbClr val="4F7C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02480" y="2148840"/>
            <a:ext cx="3048000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CONSEQUENCE?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test day, Sam cannot answer the questions.                         What happened?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31680" y="1463040"/>
            <a:ext cx="548640" cy="548640"/>
          </a:xfrm>
          <a:prstGeom prst="ellipse">
            <a:avLst/>
          </a:prstGeom>
          <a:solidFill>
            <a:srgbClr val="C067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31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199120" y="2148840"/>
            <a:ext cx="34137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99120" y="2286000"/>
            <a:ext cx="64008" cy="3063240"/>
          </a:xfrm>
          <a:prstGeom prst="rect">
            <a:avLst/>
          </a:prstGeom>
          <a:solidFill>
            <a:srgbClr val="C067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15597" y="2103120"/>
            <a:ext cx="3413759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LESSON?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Sam learn?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715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QUESTION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194560" y="57150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scenario. Talk with a partner.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5852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· UNIT 1 · STORY FEATURES 1.3 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2 · REVEAL AFTER STUDENTS ANSWER · WARM-UP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424160" y="25603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4E7D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24160" y="2560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Sam's Story: Answers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981200" y="1463040"/>
            <a:ext cx="548640" cy="548640"/>
          </a:xfrm>
          <a:prstGeom prst="ellipse">
            <a:avLst/>
          </a:prstGeom>
          <a:solidFill>
            <a:srgbClr val="4E7D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812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026408" y="3680460"/>
            <a:ext cx="283464" cy="27432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48840"/>
            <a:ext cx="34137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86000"/>
            <a:ext cx="64008" cy="306324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148840"/>
            <a:ext cx="3048000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does not revise.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06440" y="1463040"/>
            <a:ext cx="548640" cy="548640"/>
          </a:xfrm>
          <a:prstGeom prst="ellipse">
            <a:avLst/>
          </a:prstGeom>
          <a:solidFill>
            <a:srgbClr val="4E7D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06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851648" y="3680460"/>
            <a:ext cx="283464" cy="27432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6" name="Shape 14"/>
          <p:cNvSpPr/>
          <p:nvPr/>
        </p:nvSpPr>
        <p:spPr>
          <a:xfrm>
            <a:off x="4373880" y="2148840"/>
            <a:ext cx="34137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73880" y="2286000"/>
            <a:ext cx="64008" cy="306324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02480" y="2148840"/>
            <a:ext cx="3048000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does badly in the test.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31680" y="1463040"/>
            <a:ext cx="548640" cy="548640"/>
          </a:xfrm>
          <a:prstGeom prst="ellipse">
            <a:avLst/>
          </a:prstGeom>
          <a:solidFill>
            <a:srgbClr val="4E7D5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31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199120" y="2148840"/>
            <a:ext cx="34137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99120" y="2286000"/>
            <a:ext cx="64008" cy="306324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27720" y="2148840"/>
            <a:ext cx="3048000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today so you can succeed tomorrow.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715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TIP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57378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Fables are built in exactly the same way!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5852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· UNIT 1 · STORY FEATURES 1.3 ·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67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2 · 10–22 MIN · I DO · TEACHER MODELS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424160" y="25603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C067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24160" y="2560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The Boy Who Cried Wolf 🔎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981200" y="1463040"/>
            <a:ext cx="548640" cy="548640"/>
          </a:xfrm>
          <a:prstGeom prst="ellipse">
            <a:avLst/>
          </a:prstGeom>
          <a:solidFill>
            <a:srgbClr val="4E7D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812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026408" y="3680460"/>
            <a:ext cx="283464" cy="27432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48840"/>
            <a:ext cx="34137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86000"/>
            <a:ext cx="64008" cy="306324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148840"/>
            <a:ext cx="3048000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boy tricks the villagers by shouting "Wolf!" for fun.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06440" y="1463040"/>
            <a:ext cx="548640" cy="548640"/>
          </a:xfrm>
          <a:prstGeom prst="ellipse">
            <a:avLst/>
          </a:prstGeom>
          <a:solidFill>
            <a:srgbClr val="4F7CA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06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851648" y="3680460"/>
            <a:ext cx="283464" cy="27432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6" name="Shape 14"/>
          <p:cNvSpPr/>
          <p:nvPr/>
        </p:nvSpPr>
        <p:spPr>
          <a:xfrm>
            <a:off x="4373880" y="2148840"/>
            <a:ext cx="34137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73880" y="2286000"/>
            <a:ext cx="64008" cy="3063240"/>
          </a:xfrm>
          <a:prstGeom prst="rect">
            <a:avLst/>
          </a:prstGeom>
          <a:solidFill>
            <a:srgbClr val="4F7C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02480" y="2148840"/>
            <a:ext cx="3048000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real wolf comes, nobody believes him and the sheep are lost.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31680" y="1463040"/>
            <a:ext cx="548640" cy="548640"/>
          </a:xfrm>
          <a:prstGeom prst="ellipse">
            <a:avLst/>
          </a:prstGeom>
          <a:solidFill>
            <a:srgbClr val="C067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31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199120" y="2148840"/>
            <a:ext cx="34137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99120" y="2286000"/>
            <a:ext cx="64008" cy="3063240"/>
          </a:xfrm>
          <a:prstGeom prst="rect">
            <a:avLst/>
          </a:prstGeom>
          <a:solidFill>
            <a:srgbClr val="C067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27720" y="2148840"/>
            <a:ext cx="3048000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Liars are not believed, even when they tell the truth.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715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DETECTIVE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194559" y="5550066"/>
            <a:ext cx="8906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me build the chain on the board and say my thinking aloud.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5852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· UNIT 1 · STORY FEATURES 1.3 ·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67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2 · 10–22 MIN · I DO · TEACHER MODELS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424160" y="25603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C067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24160" y="2560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Prove It with Evidence 🔎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981200" y="1463040"/>
            <a:ext cx="548640" cy="548640"/>
          </a:xfrm>
          <a:prstGeom prst="ellipse">
            <a:avLst/>
          </a:prstGeom>
          <a:solidFill>
            <a:srgbClr val="4E7D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812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026408" y="3680460"/>
            <a:ext cx="283464" cy="27432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48840"/>
            <a:ext cx="34137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86000"/>
            <a:ext cx="64008" cy="306324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148840"/>
            <a:ext cx="3048000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is prudent.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06440" y="1463040"/>
            <a:ext cx="548640" cy="548640"/>
          </a:xfrm>
          <a:prstGeom prst="ellipse">
            <a:avLst/>
          </a:prstGeom>
          <a:solidFill>
            <a:srgbClr val="4F7CA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06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851648" y="3680460"/>
            <a:ext cx="283464" cy="27432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6" name="Shape 14"/>
          <p:cNvSpPr/>
          <p:nvPr/>
        </p:nvSpPr>
        <p:spPr>
          <a:xfrm>
            <a:off x="4373880" y="2148840"/>
            <a:ext cx="34137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73880" y="2286000"/>
            <a:ext cx="64008" cy="3063240"/>
          </a:xfrm>
          <a:prstGeom prst="rect">
            <a:avLst/>
          </a:prstGeom>
          <a:solidFill>
            <a:srgbClr val="4F7C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02480" y="2148840"/>
            <a:ext cx="3048000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collects food all summer while Grasshopper plays.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31680" y="1463040"/>
            <a:ext cx="548640" cy="548640"/>
          </a:xfrm>
          <a:prstGeom prst="ellipse">
            <a:avLst/>
          </a:prstGeom>
          <a:solidFill>
            <a:srgbClr val="C067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31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199120" y="2148840"/>
            <a:ext cx="34137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99120" y="2286000"/>
            <a:ext cx="64008" cy="3063240"/>
          </a:xfrm>
          <a:prstGeom prst="rect">
            <a:avLst/>
          </a:prstGeom>
          <a:solidFill>
            <a:srgbClr val="C067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27720" y="2148840"/>
            <a:ext cx="3048000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shows he thinks ahead about winter.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715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DETECTIVE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194560" y="54864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→ Evidence → Explain. Use words from the text where you can.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5852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· UNIT 1 · STORY FEATURES 1.3 ·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7C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2 · 22–42 MIN · WE DO · TOGETHER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424160" y="25603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4F7C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24160" y="2560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Builders: Ant &amp; Grasshopper 🧩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981200" y="1463040"/>
            <a:ext cx="548640" cy="548640"/>
          </a:xfrm>
          <a:prstGeom prst="ellipse">
            <a:avLst/>
          </a:prstGeom>
          <a:solidFill>
            <a:srgbClr val="4E7D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812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026408" y="3680460"/>
            <a:ext cx="283464" cy="27432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48840"/>
            <a:ext cx="34137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86000"/>
            <a:ext cx="64008" cy="306324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148840"/>
            <a:ext cx="3048000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 · THE ISSUE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 in this story?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06440" y="1463040"/>
            <a:ext cx="548640" cy="548640"/>
          </a:xfrm>
          <a:prstGeom prst="ellipse">
            <a:avLst/>
          </a:prstGeom>
          <a:solidFill>
            <a:srgbClr val="4F7CA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06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851648" y="3680460"/>
            <a:ext cx="283464" cy="27432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6" name="Shape 14"/>
          <p:cNvSpPr/>
          <p:nvPr/>
        </p:nvSpPr>
        <p:spPr>
          <a:xfrm>
            <a:off x="4373880" y="2148840"/>
            <a:ext cx="34137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73880" y="2286000"/>
            <a:ext cx="64008" cy="3063240"/>
          </a:xfrm>
          <a:prstGeom prst="rect">
            <a:avLst/>
          </a:prstGeom>
          <a:solidFill>
            <a:srgbClr val="4F7C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02480" y="2148840"/>
            <a:ext cx="3048000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· THE RESOLUTION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either character do to try to solve it?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31680" y="1463040"/>
            <a:ext cx="548640" cy="548640"/>
          </a:xfrm>
          <a:prstGeom prst="ellipse">
            <a:avLst/>
          </a:prstGeom>
          <a:solidFill>
            <a:srgbClr val="C067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31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199120" y="2148840"/>
            <a:ext cx="34137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99120" y="2286000"/>
            <a:ext cx="64008" cy="3063240"/>
          </a:xfrm>
          <a:prstGeom prst="rect">
            <a:avLst/>
          </a:prstGeom>
          <a:solidFill>
            <a:srgbClr val="C067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27720" y="2148840"/>
            <a:ext cx="3048000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 · THE LESSON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story teach us the lesson?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715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QUESTION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331720" y="5629969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of four: build the chain on your coloured strips.                                       Use evidence.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5852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· UNIT 1 · STORY FEATURES 1.3 ·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2 · REVEAL AFTER STUDENTS ANSWER · WE DO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424160" y="25603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4E7D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24160" y="2560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Chain Builders: Answers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981200" y="1463040"/>
            <a:ext cx="548640" cy="548640"/>
          </a:xfrm>
          <a:prstGeom prst="ellipse">
            <a:avLst/>
          </a:prstGeom>
          <a:solidFill>
            <a:srgbClr val="4E7D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812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026408" y="3680460"/>
            <a:ext cx="283464" cy="27432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48840"/>
            <a:ext cx="34137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86000"/>
            <a:ext cx="64008" cy="306324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148840"/>
            <a:ext cx="3048000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Grasshopper plays all summer and has no food for winter.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06440" y="1463040"/>
            <a:ext cx="548640" cy="548640"/>
          </a:xfrm>
          <a:prstGeom prst="ellipse">
            <a:avLst/>
          </a:prstGeom>
          <a:solidFill>
            <a:srgbClr val="4E7D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06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851648" y="3680460"/>
            <a:ext cx="283464" cy="27432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6" name="Shape 14"/>
          <p:cNvSpPr/>
          <p:nvPr/>
        </p:nvSpPr>
        <p:spPr>
          <a:xfrm>
            <a:off x="4373880" y="2148840"/>
            <a:ext cx="34137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73880" y="2286000"/>
            <a:ext cx="64008" cy="306324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02480" y="2148840"/>
            <a:ext cx="3048000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Grasshopper begs Ant for food. Ant must decide whether to help.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31680" y="1463040"/>
            <a:ext cx="548640" cy="548640"/>
          </a:xfrm>
          <a:prstGeom prst="ellipse">
            <a:avLst/>
          </a:prstGeom>
          <a:solidFill>
            <a:srgbClr val="4E7D5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31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199120" y="2148840"/>
            <a:ext cx="34137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99120" y="2286000"/>
            <a:ext cx="64008" cy="306324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27720" y="2148840"/>
            <a:ext cx="3048000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Ant's full store and Grasshopper's hunger show why we must plan ahead.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715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TIP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194560" y="5532120"/>
            <a:ext cx="85304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against your version of the text. Endings differ slightly.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5852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· UNIT 1 · STORY FEATURES 1.3 ·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7C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2 · 22–42 MIN · WE DO · TOGETHER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424160" y="25603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4F7C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24160" y="2560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Conscience Alley 🧩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981200" y="1463040"/>
            <a:ext cx="548640" cy="548640"/>
          </a:xfrm>
          <a:prstGeom prst="ellipse">
            <a:avLst/>
          </a:prstGeom>
          <a:solidFill>
            <a:srgbClr val="4E7D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812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026408" y="3680460"/>
            <a:ext cx="283464" cy="27432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48840"/>
            <a:ext cx="34137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86000"/>
            <a:ext cx="64008" cy="306324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148840"/>
            <a:ext cx="3048000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51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 face each other.                         Grasshopper walks down the middle.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06440" y="1463040"/>
            <a:ext cx="548640" cy="548640"/>
          </a:xfrm>
          <a:prstGeom prst="ellipse">
            <a:avLst/>
          </a:prstGeom>
          <a:solidFill>
            <a:srgbClr val="4F7CA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06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851648" y="3680460"/>
            <a:ext cx="283464" cy="27432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6" name="Shape 14"/>
          <p:cNvSpPr/>
          <p:nvPr/>
        </p:nvSpPr>
        <p:spPr>
          <a:xfrm>
            <a:off x="4373880" y="2148840"/>
            <a:ext cx="34137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73880" y="2286000"/>
            <a:ext cx="64008" cy="3063240"/>
          </a:xfrm>
          <a:prstGeom prst="rect">
            <a:avLst/>
          </a:prstGeom>
          <a:solidFill>
            <a:srgbClr val="4F7C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02480" y="2148840"/>
            <a:ext cx="3048000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51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side says why Ant SHOULD help.                       The other says why he should NOT.                        Start with "because".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31680" y="1463040"/>
            <a:ext cx="548640" cy="548640"/>
          </a:xfrm>
          <a:prstGeom prst="ellipse">
            <a:avLst/>
          </a:prstGeom>
          <a:solidFill>
            <a:srgbClr val="C067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31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199120" y="2148840"/>
            <a:ext cx="34137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99120" y="2286000"/>
            <a:ext cx="64008" cy="3063240"/>
          </a:xfrm>
          <a:prstGeom prst="rect">
            <a:avLst/>
          </a:prstGeom>
          <a:solidFill>
            <a:srgbClr val="C067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27720" y="2148840"/>
            <a:ext cx="3048000" cy="33375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51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Grasshopper stops at the end.                            Which side had the strongest evidence?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715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UP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758582" y="57150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Grasshopper and Ant approach life differently.                             Whose side are you on?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5852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· UNIT 1 · STORY FEATURES 1.3 ·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2 · 42–67 MIN · YOU DO · INDEPENDENT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424160" y="25603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4E7D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24160" y="2560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Play: Grasshopper Asks for Help ✏️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535680" cy="3657600"/>
          </a:xfrm>
          <a:prstGeom prst="wedgeRoundRectCallout">
            <a:avLst/>
          </a:prstGeom>
          <a:solidFill>
            <a:srgbClr val="D5EEDD"/>
          </a:solidFill>
          <a:ln w="25400">
            <a:solidFill>
              <a:srgbClr val="4E7D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72768"/>
            <a:ext cx="3169920" cy="352044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Grasshopper say?</a:t>
            </a:r>
            <a:endParaRPr lang="en-US" sz="2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his voice and feelings.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12920" y="1463040"/>
            <a:ext cx="3535680" cy="3657600"/>
          </a:xfrm>
          <a:prstGeom prst="wedgeRoundRectCallout">
            <a:avLst/>
          </a:prstGeom>
          <a:solidFill>
            <a:srgbClr val="FAD9CF"/>
          </a:solidFill>
          <a:ln w="25400">
            <a:solidFill>
              <a:srgbClr val="4F7C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5800" y="1572768"/>
            <a:ext cx="3169920" cy="352044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Ant react?</a:t>
            </a:r>
            <a:endParaRPr lang="en-US" sz="2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his personality.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77200" y="1463040"/>
            <a:ext cx="3535680" cy="3657600"/>
          </a:xfrm>
          <a:prstGeom prst="wedgeRoundRectCallout">
            <a:avLst/>
          </a:prstGeom>
          <a:solidFill>
            <a:srgbClr val="D3E4F4"/>
          </a:solidFill>
          <a:ln w="25400">
            <a:solidFill>
              <a:srgbClr val="C067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60080" y="1572768"/>
            <a:ext cx="3169920" cy="352044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Grasshopper offer in exchange for food?</a:t>
            </a:r>
            <a:endParaRPr lang="en-US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creative!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15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QUESTION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946590" y="5793963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Pairs: plan 2 min, act 3 min, then swap roles.                         Imagine how they speak, not just what they say.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0" y="5852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· UNIT 1 · STORY FEATURES 1.3 ·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2 · REVEAL AFTER STUDENTS ANSWER · YOU DO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424160" y="25603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4E7D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24160" y="2560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Sample Role Play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535680" cy="3657600"/>
          </a:xfrm>
          <a:prstGeom prst="wedgeRoundRectCallout">
            <a:avLst/>
          </a:prstGeom>
          <a:solidFill>
            <a:srgbClr val="D5EEDD"/>
          </a:solidFill>
          <a:ln w="25400">
            <a:solidFill>
              <a:srgbClr val="4E7D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72768"/>
            <a:ext cx="3169920" cy="352044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Grasshopper says</a:t>
            </a:r>
            <a:endParaRPr lang="en-US" sz="2000" b="1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"Please, Ant, I am cold and hungry.                                I should have listened!"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12920" y="1463040"/>
            <a:ext cx="3535680" cy="3657600"/>
          </a:xfrm>
          <a:prstGeom prst="wedgeRoundRectCallout">
            <a:avLst/>
          </a:prstGeom>
          <a:solidFill>
            <a:srgbClr val="FAD9CF"/>
          </a:solidFill>
          <a:ln w="25400">
            <a:solidFill>
              <a:srgbClr val="4E7D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5800" y="1572768"/>
            <a:ext cx="3169920" cy="352044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reacts</a:t>
            </a:r>
            <a:endParaRPr lang="en-US" sz="2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Frowns, then sighs:                   "I warned you.                           But no one should starve."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77200" y="1463040"/>
            <a:ext cx="3535680" cy="3657600"/>
          </a:xfrm>
          <a:prstGeom prst="wedgeRoundRectCallout">
            <a:avLst/>
          </a:prstGeom>
          <a:solidFill>
            <a:srgbClr val="D3E4F4"/>
          </a:solidFill>
          <a:ln w="25400">
            <a:solidFill>
              <a:srgbClr val="4E7D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60080" y="1572768"/>
            <a:ext cx="3169920" cy="352044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Grasshopper offers</a:t>
            </a:r>
            <a:endParaRPr lang="en-US" sz="20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 to cheer the colony                                 · help with chores                        · a promise to prepare next summer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15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TIP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201397" y="5716068"/>
            <a:ext cx="91371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may differ.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best ones match each character's personality!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0" y="5852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· UNIT 1 · STORY FEATURES 1.3 ·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2 · 42–67 MIN · YOU DO · INDEPENDENT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424160" y="25603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4E7D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24160" y="2560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What Would You Do? ✏️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535680" cy="40233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00200"/>
            <a:ext cx="64008" cy="374904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463040"/>
            <a:ext cx="3169920" cy="40233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 paragraph: 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say and do if Grasshopper asked YOU for help? Give reasons.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12920" y="1463040"/>
            <a:ext cx="3535680" cy="40233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2920" y="1600200"/>
            <a:ext cx="64008" cy="3749040"/>
          </a:xfrm>
          <a:prstGeom prst="rect">
            <a:avLst/>
          </a:prstGeom>
          <a:solidFill>
            <a:srgbClr val="4F7CA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76928" y="1463040"/>
            <a:ext cx="3438146" cy="40233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would... because...            This is fair/unfair because...                           The story shows...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77200" y="1463040"/>
            <a:ext cx="3535680" cy="40233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77200" y="1600200"/>
            <a:ext cx="64008" cy="3749040"/>
          </a:xfrm>
          <a:prstGeom prst="rect">
            <a:avLst/>
          </a:prstGeom>
          <a:solidFill>
            <a:srgbClr val="C067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05800" y="1463040"/>
            <a:ext cx="3169920" cy="40233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C0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CHECK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decision                     · two reasons                    · one link to the story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0" y="5852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· UNIT 1 · STORY FEATURES 1.3 ·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2 · 42–67 MIN · YOU DO · INDEPENDENT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424160" y="25603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4E7D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24160" y="2560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Challenge ✏️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535680" cy="40233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63040"/>
            <a:ext cx="3535680" cy="548640"/>
          </a:xfrm>
          <a:prstGeom prst="round2SameRect">
            <a:avLst/>
          </a:prstGeom>
          <a:solidFill>
            <a:srgbClr val="4E7D5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463040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Support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103120"/>
            <a:ext cx="316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would ___ because ___. The story shows ___.”</a:t>
            </a:r>
            <a:endParaRPr lang="en-US" sz="2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bank: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· refuse · fair · prepared · lesson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312920" y="1463040"/>
            <a:ext cx="3535680" cy="40233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12920" y="1463040"/>
            <a:ext cx="3535680" cy="548640"/>
          </a:xfrm>
          <a:prstGeom prst="round2SameRect">
            <a:avLst/>
          </a:prstGeom>
          <a:solidFill>
            <a:srgbClr val="4F7CA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95800" y="1463040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Core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95800" y="2103120"/>
            <a:ext cx="316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3–4 sentences: your decision, two reasons and a link to the story.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077200" y="1463040"/>
            <a:ext cx="3535680" cy="40233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77200" y="1463040"/>
            <a:ext cx="3535680" cy="548640"/>
          </a:xfrm>
          <a:prstGeom prst="round2SameRect">
            <a:avLst/>
          </a:prstGeom>
          <a:solidFill>
            <a:srgbClr val="C067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60080" y="1463040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Extension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182028" y="2080260"/>
            <a:ext cx="3535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as Ant AND as Grasshopper.                 Whose reasons are stronger? Use evidence.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15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049281" y="5577840"/>
            <a:ext cx="85902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box that stretches you, and use your own words.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0" y="5852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· UNIT 1 · STORY FEATURES 1.3 ·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2 · REVEAL AFTER STUDENTS ANSWER · YOU DO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424160" y="25603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4E7D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24160" y="2560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Model Paragraph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4178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63040"/>
            <a:ext cx="5417820" cy="548640"/>
          </a:xfrm>
          <a:prstGeom prst="round2SameRect">
            <a:avLst/>
          </a:prstGeom>
          <a:solidFill>
            <a:srgbClr val="4E7D5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463040"/>
            <a:ext cx="5143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103120"/>
            <a:ext cx="50520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38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share a little food with Grasshopper because nobody deserves to starve. However, I would ask him to help with jobs, because Ant worked hard all summer. This is fair, and the story shows that planning ahead matters.</a:t>
            </a:r>
            <a:endParaRPr lang="en-US" sz="2380" dirty="0"/>
          </a:p>
        </p:txBody>
      </p:sp>
      <p:sp>
        <p:nvSpPr>
          <p:cNvPr id="11" name="Shape 9"/>
          <p:cNvSpPr/>
          <p:nvPr/>
        </p:nvSpPr>
        <p:spPr>
          <a:xfrm>
            <a:off x="6195060" y="1463040"/>
            <a:ext cx="54178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5060" y="1463040"/>
            <a:ext cx="5417820" cy="548640"/>
          </a:xfrm>
          <a:prstGeom prst="round2SameRect">
            <a:avLst/>
          </a:prstGeom>
          <a:solidFill>
            <a:srgbClr val="4E7D5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77940" y="1463040"/>
            <a:ext cx="5143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77940" y="2103120"/>
            <a:ext cx="50520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38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Clear decision</a:t>
            </a:r>
            <a:endParaRPr lang="en-US" sz="238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38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Two reasons with “because”</a:t>
            </a:r>
            <a:endParaRPr lang="en-US" sz="238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38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Link to the story</a:t>
            </a:r>
            <a:endParaRPr lang="en-US" sz="238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38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Connects to the lesson</a:t>
            </a:r>
            <a:endParaRPr lang="en-US" sz="238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715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TIP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459479" y="5741492"/>
            <a:ext cx="80433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decision may differ. Reasons and evidence make it strong.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0" y="5852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· UNIT 1 · STORY FEATURES 1.3 ·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2 · 42–67 MIN · YOU DO · INDEPENDENT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424160" y="25603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4E7D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24160" y="2560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Like a Writer ✏️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4178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00200"/>
            <a:ext cx="64008" cy="374904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463040"/>
            <a:ext cx="5052060" cy="40233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CHECK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clear decision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two reasons using “because”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link to the story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the lesson mentioned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5060" y="1463040"/>
            <a:ext cx="54178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95060" y="1600200"/>
            <a:ext cx="64008" cy="3749040"/>
          </a:xfrm>
          <a:prstGeom prst="rect">
            <a:avLst/>
          </a:prstGeom>
          <a:solidFill>
            <a:srgbClr val="4F7CA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23660" y="1463040"/>
            <a:ext cx="5052060" cy="40233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F7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CONTROL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capital letters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full stops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complete sentences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joining words: because, but, so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15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5698549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ONE thing before you hand in.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0" y="5852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· UNIT 1 · STORY FEATURES 1.3 ·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2 · 67–80 MIN · PLENARY + EXIT TICKET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424160" y="25603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B2A3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24160" y="2560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 Court: Was Ant Fair? 🏁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535680" cy="40233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63040"/>
            <a:ext cx="3535680" cy="548640"/>
          </a:xfrm>
          <a:prstGeom prst="round2SameRect">
            <a:avLst/>
          </a:prstGeom>
          <a:solidFill>
            <a:srgbClr val="4E7D5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463040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with your feet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103120"/>
            <a:ext cx="316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on the Agree, Unsure or Disagree line.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312920" y="1463040"/>
            <a:ext cx="3535680" cy="40233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12920" y="1463040"/>
            <a:ext cx="3535680" cy="548640"/>
          </a:xfrm>
          <a:prstGeom prst="round2SameRect">
            <a:avLst/>
          </a:prstGeom>
          <a:solidFill>
            <a:srgbClr val="4F7CA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95800" y="1463040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95800" y="2103120"/>
            <a:ext cx="316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reason with "because" and evidence.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077200" y="1463040"/>
            <a:ext cx="3535680" cy="40233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77200" y="1463040"/>
            <a:ext cx="3535680" cy="548640"/>
          </a:xfrm>
          <a:prstGeom prst="round2SameRect">
            <a:avLst/>
          </a:prstGeom>
          <a:solidFill>
            <a:srgbClr val="C067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60080" y="1463040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sums up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60080" y="2103120"/>
            <a:ext cx="316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reasons used the story best?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0" y="5852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· UNIT 1 · STORY FEATURES 1.3 ·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3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2 · 67–80 MIN · PLENARY + EXIT TICKET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424160" y="25603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B2A3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24160" y="2560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🏁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 rot="-120000">
            <a:off x="548640" y="1463040"/>
            <a:ext cx="3535680" cy="4023360"/>
          </a:xfrm>
          <a:prstGeom prst="rect">
            <a:avLst/>
          </a:prstGeom>
          <a:solidFill>
            <a:srgbClr val="FFF3B0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15896" y="1371600"/>
            <a:ext cx="201168" cy="201168"/>
          </a:xfrm>
          <a:prstGeom prst="ellipse">
            <a:avLst/>
          </a:prstGeom>
          <a:solidFill>
            <a:srgbClr val="C0674F"/>
          </a:solidFill>
          <a:ln/>
        </p:spPr>
      </p:sp>
      <p:sp>
        <p:nvSpPr>
          <p:cNvPr id="9" name="Text 7"/>
          <p:cNvSpPr txBox="1"/>
          <p:nvPr/>
        </p:nvSpPr>
        <p:spPr>
          <a:xfrm rot="-120000">
            <a:off x="685800" y="1463040"/>
            <a:ext cx="3261360" cy="40233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7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three parts of a fable's structure.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 rot="90000">
            <a:off x="4312920" y="1463040"/>
            <a:ext cx="3535680" cy="4023360"/>
          </a:xfrm>
          <a:prstGeom prst="rect">
            <a:avLst/>
          </a:prstGeom>
          <a:solidFill>
            <a:srgbClr val="D5EEDD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80176" y="1371600"/>
            <a:ext cx="201168" cy="201168"/>
          </a:xfrm>
          <a:prstGeom prst="ellipse">
            <a:avLst/>
          </a:prstGeom>
          <a:solidFill>
            <a:srgbClr val="C0674F"/>
          </a:solidFill>
          <a:ln/>
        </p:spPr>
      </p:sp>
      <p:sp>
        <p:nvSpPr>
          <p:cNvPr id="12" name="Text 10"/>
          <p:cNvSpPr txBox="1"/>
          <p:nvPr/>
        </p:nvSpPr>
        <p:spPr>
          <a:xfrm rot="90000">
            <a:off x="4450080" y="1463040"/>
            <a:ext cx="3261360" cy="40233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7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 in Ant and Grasshopper?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 rot="-60000">
            <a:off x="8077200" y="1463040"/>
            <a:ext cx="3535680" cy="4023360"/>
          </a:xfrm>
          <a:prstGeom prst="rect">
            <a:avLst/>
          </a:prstGeom>
          <a:solidFill>
            <a:srgbClr val="FAD9C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744456" y="1371600"/>
            <a:ext cx="201168" cy="201168"/>
          </a:xfrm>
          <a:prstGeom prst="ellipse">
            <a:avLst/>
          </a:prstGeom>
          <a:solidFill>
            <a:srgbClr val="C0674F"/>
          </a:solidFill>
          <a:ln/>
        </p:spPr>
      </p:sp>
      <p:sp>
        <p:nvSpPr>
          <p:cNvPr id="15" name="Text 13"/>
          <p:cNvSpPr txBox="1"/>
          <p:nvPr/>
        </p:nvSpPr>
        <p:spPr>
          <a:xfrm rot="-60000">
            <a:off x="8214360" y="1463040"/>
            <a:ext cx="3261360" cy="40233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7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lesson does the story teach?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715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QUESTION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587197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 your slip. Then we will self-mark!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0" y="5852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· UNIT 1 · STORY FEATURES 1.3 ·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2 · REVEAL AFTER STUDENTS ANSWER · CHECK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424160" y="256032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4E7D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424160" y="2560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Exit Ticket: Answers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535680" cy="40233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00200"/>
            <a:ext cx="64008" cy="374904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463040"/>
            <a:ext cx="3169920" cy="40233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                                   → Consequence                         → Lesson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12920" y="1463040"/>
            <a:ext cx="3535680" cy="40233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2920" y="1600200"/>
            <a:ext cx="64008" cy="374904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41520" y="1463040"/>
            <a:ext cx="3169920" cy="40233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Grasshopper does not prepare for winter.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77200" y="1463040"/>
            <a:ext cx="3535680" cy="40233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77200" y="1600200"/>
            <a:ext cx="64008" cy="3749040"/>
          </a:xfrm>
          <a:prstGeom prst="rect">
            <a:avLst/>
          </a:prstGeom>
          <a:solidFill>
            <a:srgbClr val="4E7D5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05800" y="1463040"/>
            <a:ext cx="3169920" cy="4023360"/>
          </a:xfrm>
          <a:prstGeom prst="rect">
            <a:avLst/>
          </a:prstGeom>
          <a:noFill/>
          <a:ln/>
        </p:spPr>
        <p:txBody>
          <a:bodyPr wrap="square" lIns="1905" tIns="0" rIns="635" bIns="127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4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ahead:                         work today so you are safe tomorrow.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715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TIP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282440" y="57378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work, fable detectives!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0" y="5852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· UNIT 1 · STORY FEATURES 1.3 ·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1553</Words>
  <Application>Microsoft Office PowerPoint</Application>
  <PresentationFormat>Widescreen</PresentationFormat>
  <Paragraphs>305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 Features 1.3</dc:title>
  <dc:subject>PptxGenJS Presentation</dc:subject>
  <dc:creator>PptxGenJS</dc:creator>
  <cp:lastModifiedBy>pc</cp:lastModifiedBy>
  <cp:revision>2</cp:revision>
  <dcterms:created xsi:type="dcterms:W3CDTF">2026-09-29T10:21:31Z</dcterms:created>
  <dcterms:modified xsi:type="dcterms:W3CDTF">2026-09-29T21:35:27Z</dcterms:modified>
</cp:coreProperties>
</file>