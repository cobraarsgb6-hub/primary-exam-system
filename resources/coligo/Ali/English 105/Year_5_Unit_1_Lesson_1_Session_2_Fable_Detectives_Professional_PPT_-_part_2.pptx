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47" autoAdjust="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09EE4-BAF6-43C5-A013-E9290B285777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8D07E7-7101-4903-B918-212A4E21D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57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8D07E7-7101-4903-B918-212A4E21DB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85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74320" y="548640"/>
            <a:ext cx="1097280" cy="1097280"/>
          </a:xfrm>
          <a:prstGeom prst="ellipse">
            <a:avLst/>
          </a:prstGeom>
          <a:solidFill>
            <a:srgbClr val="99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89920" y="502920"/>
            <a:ext cx="685800" cy="685800"/>
          </a:xfrm>
          <a:prstGeom prst="ellipse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61320" y="5760720"/>
            <a:ext cx="1005840" cy="1005840"/>
          </a:xfrm>
          <a:prstGeom prst="ellipse">
            <a:avLst/>
          </a:prstGeom>
          <a:solidFill>
            <a:srgbClr val="EC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709159"/>
            <a:ext cx="1408176" cy="1024127"/>
          </a:xfrm>
          <a:prstGeom prst="ellipse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827324" y="4389120"/>
            <a:ext cx="704088" cy="704088"/>
          </a:xfrm>
          <a:prstGeom prst="ellipse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sosceles Triangle 6"/>
          <p:cNvSpPr/>
          <p:nvPr/>
        </p:nvSpPr>
        <p:spPr>
          <a:xfrm rot="20400000">
            <a:off x="2878531" y="4235500"/>
            <a:ext cx="281635" cy="358444"/>
          </a:xfrm>
          <a:prstGeom prst="triangle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urved Right Arrow 7"/>
          <p:cNvSpPr/>
          <p:nvPr/>
        </p:nvSpPr>
        <p:spPr>
          <a:xfrm>
            <a:off x="1508760" y="4325112"/>
            <a:ext cx="1024127" cy="1280160"/>
          </a:xfrm>
          <a:prstGeom prst="curvedRightArrow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211372" y="4619548"/>
            <a:ext cx="89611" cy="89611"/>
          </a:xfrm>
          <a:prstGeom prst="ellipse">
            <a:avLst/>
          </a:prstGeom>
          <a:solidFill>
            <a:srgbClr val="2D3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iamond 9"/>
          <p:cNvSpPr/>
          <p:nvPr/>
        </p:nvSpPr>
        <p:spPr>
          <a:xfrm>
            <a:off x="9052560" y="4206240"/>
            <a:ext cx="1165860" cy="1371600"/>
          </a:xfrm>
          <a:prstGeom prst="diamond">
            <a:avLst/>
          </a:prstGeom>
          <a:solidFill>
            <a:srgbClr val="745B91"/>
          </a:solidFill>
          <a:ln>
            <a:solidFill>
              <a:srgbClr val="74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 flipH="1">
            <a:off x="9258300" y="5509259"/>
            <a:ext cx="384048" cy="685800"/>
          </a:xfrm>
          <a:prstGeom prst="line">
            <a:avLst/>
          </a:prstGeom>
          <a:ln>
            <a:solidFill>
              <a:srgbClr val="5C6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10800000">
            <a:off x="9093708" y="5824727"/>
            <a:ext cx="342900" cy="342900"/>
          </a:xfrm>
          <a:prstGeom prst="triangle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1143000"/>
            <a:ext cx="10332720" cy="914400"/>
          </a:xfrm>
          <a:prstGeom prst="rect">
            <a:avLst/>
          </a:prstGeom>
          <a:noFill/>
        </p:spPr>
        <p:txBody>
          <a:bodyPr wrap="none" lIns="109728" tIns="109728" rIns="109728" bIns="109728" anchor="ctr">
            <a:spAutoFit/>
          </a:bodyPr>
          <a:lstStyle/>
          <a:p>
            <a:pPr algn="ctr">
              <a:defRPr sz="3800" b="1">
                <a:solidFill>
                  <a:srgbClr val="538034"/>
                </a:solidFill>
              </a:defRPr>
            </a:pPr>
            <a:r>
              <a:t>FABLE DETECTIVES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148840"/>
            <a:ext cx="9326880" cy="640080"/>
          </a:xfrm>
          <a:prstGeom prst="rect">
            <a:avLst/>
          </a:prstGeom>
          <a:noFill/>
        </p:spPr>
        <p:txBody>
          <a:bodyPr wrap="none" lIns="109728" tIns="109728" rIns="109728" bIns="109728" anchor="ctr">
            <a:spAutoFit/>
          </a:bodyPr>
          <a:lstStyle/>
          <a:p>
            <a:pPr algn="ctr">
              <a:defRPr sz="1900" b="0">
                <a:solidFill>
                  <a:srgbClr val="5C655A"/>
                </a:solidFill>
              </a:defRPr>
            </a:pPr>
            <a:r>
              <a:rPr dirty="0"/>
              <a:t>SESSION 2 • Vocabulary → Evidence → Explanation → Moral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3154680"/>
            <a:ext cx="1920240" cy="384048"/>
          </a:xfrm>
          <a:prstGeom prst="roundRect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READ • THINK • PROVE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3154680"/>
            <a:ext cx="1828800" cy="384048"/>
          </a:xfrm>
          <a:prstGeom prst="round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YEAR 5 ENGLISH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303520"/>
            <a:ext cx="6492240" cy="640080"/>
          </a:xfrm>
          <a:prstGeom prst="rect">
            <a:avLst/>
          </a:prstGeom>
          <a:noFill/>
        </p:spPr>
        <p:txBody>
          <a:bodyPr wrap="none" lIns="109728" tIns="109728" rIns="109728" bIns="109728" anchor="ctr">
            <a:spAutoFit/>
          </a:bodyPr>
          <a:lstStyle/>
          <a:p>
            <a:pPr algn="ctr">
              <a:defRPr sz="1500" b="0">
                <a:solidFill>
                  <a:srgbClr val="2D372A"/>
                </a:solidFill>
              </a:defRPr>
            </a:pPr>
            <a:r>
              <a:t>A teacher-created fable about choices, preparation and consequences.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38034"/>
                </a:solidFill>
              </a:defRPr>
            </a:pPr>
            <a:r>
              <a:t>WARM-UP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C655A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2A"/>
                </a:solidFill>
              </a:defRPr>
            </a:pPr>
            <a:r>
              <a:t>🔁 QUICK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55A"/>
                </a:solidFill>
              </a:defRPr>
            </a:pPr>
            <a:r>
              <a:t>You already know the features. Now use them like a detective.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538034"/>
                </a:solidFill>
              </a:defRPr>
            </a:pPr>
            <a:r>
              <a:rPr sz="2000" dirty="0"/>
              <a:t>1 • REMEMBER</a:t>
            </a:r>
          </a:p>
          <a:p>
            <a:pPr>
              <a:spcBef>
                <a:spcPts val="600"/>
              </a:spcBef>
              <a:defRPr sz="1600">
                <a:solidFill>
                  <a:srgbClr val="2D372A"/>
                </a:solidFill>
              </a:defRPr>
            </a:pPr>
            <a:r>
              <a:rPr sz="2000" dirty="0"/>
              <a:t>Name TWO features of a fable.</a:t>
            </a:r>
            <a:br>
              <a:rPr sz="2000" dirty="0"/>
            </a:br>
            <a:br>
              <a:rPr sz="2000" dirty="0"/>
            </a:br>
            <a:r>
              <a:rPr sz="2000" dirty="0"/>
              <a:t>Think: characters? problem? choices? consequences? moral</a:t>
            </a:r>
            <a:r>
              <a:rPr dirty="0"/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EF8936"/>
                </a:solidFill>
              </a:defRPr>
            </a:pPr>
            <a:r>
              <a:rPr sz="2000" dirty="0"/>
              <a:t>2 • CONNECT</a:t>
            </a:r>
          </a:p>
          <a:p>
            <a:pPr>
              <a:spcBef>
                <a:spcPts val="600"/>
              </a:spcBef>
              <a:defRPr sz="1600">
                <a:solidFill>
                  <a:srgbClr val="2D372A"/>
                </a:solidFill>
              </a:defRPr>
            </a:pPr>
            <a:r>
              <a:rPr sz="2000" dirty="0"/>
              <a:t>Why might a writer use animals to represent people?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745B91"/>
                </a:solidFill>
              </a:defRPr>
            </a:pPr>
            <a:r>
              <a:rPr sz="2000" dirty="0"/>
              <a:t>3 • PREDICT</a:t>
            </a:r>
          </a:p>
          <a:p>
            <a:pPr>
              <a:spcBef>
                <a:spcPts val="600"/>
              </a:spcBef>
              <a:defRPr sz="1600">
                <a:solidFill>
                  <a:srgbClr val="2D372A"/>
                </a:solidFill>
              </a:defRPr>
            </a:pPr>
            <a:r>
              <a:rPr sz="2000" dirty="0"/>
              <a:t>If a character refuses to prepare for a problem, what might happen later?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9966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-113423" y="4572000"/>
            <a:ext cx="12418540" cy="777240"/>
          </a:xfrm>
          <a:prstGeom prst="roundRect">
            <a:avLst/>
          </a:prstGeom>
          <a:solidFill>
            <a:srgbClr val="ECF4E2"/>
          </a:solidFill>
          <a:ln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ctr">
              <a:defRPr sz="1600" b="1">
                <a:solidFill>
                  <a:srgbClr val="2D372A"/>
                </a:solidFill>
              </a:defRPr>
            </a:pPr>
            <a:r>
              <a:rPr sz="2400" dirty="0"/>
              <a:t>PAIR TALK  →  30 seconds thinking  →  60 seconds partner talk  →  share one strong idea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38034"/>
                </a:solidFill>
              </a:defRPr>
            </a:pPr>
            <a:r>
              <a:t>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C655A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2A"/>
                </a:solidFill>
              </a:defRPr>
            </a:pPr>
            <a:r>
              <a:t>🎒 A FAMILIAR 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783849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55A"/>
                </a:solidFill>
              </a:defRPr>
            </a:pPr>
            <a:r>
              <a:rPr sz="2400" dirty="0"/>
              <a:t>Connect the story to something students already understand.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789920" cy="777240"/>
          </a:xfrm>
          <a:prstGeom prst="roundRect">
            <a:avLst/>
          </a:prstGeom>
          <a:solidFill>
            <a:srgbClr val="FFEFDB"/>
          </a:solidFill>
          <a:ln>
            <a:solidFill>
              <a:srgbClr val="E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ctr">
              <a:defRPr sz="2200" b="1">
                <a:solidFill>
                  <a:srgbClr val="2D372A"/>
                </a:solidFill>
              </a:defRPr>
            </a:pPr>
            <a:r>
              <a:t>Your big project is due tomorrow. Your friend invites you to play games all evening.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26080"/>
            <a:ext cx="50292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EF8936"/>
                </a:solidFill>
              </a:defRPr>
            </a:pPr>
            <a:r>
              <a:rPr dirty="0"/>
              <a:t>A</a:t>
            </a:r>
          </a:p>
          <a:p>
            <a:pPr>
              <a:spcBef>
                <a:spcPts val="600"/>
              </a:spcBef>
              <a:defRPr sz="1900">
                <a:solidFill>
                  <a:srgbClr val="2D372A"/>
                </a:solidFill>
              </a:defRPr>
            </a:pPr>
            <a:r>
              <a:rPr sz="2400" dirty="0"/>
              <a:t>Play all evening.</a:t>
            </a:r>
            <a:br>
              <a:rPr sz="2400" dirty="0"/>
            </a:br>
            <a:r>
              <a:rPr sz="2400" dirty="0"/>
              <a:t>Start the project tomorrow.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926080"/>
            <a:ext cx="50292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538034"/>
                </a:solidFill>
              </a:defRPr>
            </a:pPr>
            <a:r>
              <a:rPr dirty="0"/>
              <a:t>B</a:t>
            </a:r>
          </a:p>
          <a:p>
            <a:pPr>
              <a:spcBef>
                <a:spcPts val="600"/>
              </a:spcBef>
              <a:defRPr sz="1900">
                <a:solidFill>
                  <a:srgbClr val="2D372A"/>
                </a:solidFill>
              </a:defRPr>
            </a:pPr>
            <a:r>
              <a:rPr sz="2400" dirty="0"/>
              <a:t>Finish the important work first.</a:t>
            </a:r>
            <a:br>
              <a:rPr sz="2400" dirty="0"/>
            </a:br>
            <a:r>
              <a:rPr sz="2400" dirty="0"/>
              <a:t>Then play.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207" y="5168074"/>
            <a:ext cx="11113107" cy="590931"/>
          </a:xfrm>
          <a:prstGeom prst="rect">
            <a:avLst/>
          </a:prstGeom>
          <a:noFill/>
        </p:spPr>
        <p:txBody>
          <a:bodyPr wrap="none" lIns="109728" tIns="109728" rIns="109728" bIns="109728" anchor="ctr">
            <a:spAutoFit/>
          </a:bodyPr>
          <a:lstStyle/>
          <a:p>
            <a:pPr algn="ctr">
              <a:defRPr sz="1700" b="1">
                <a:solidFill>
                  <a:srgbClr val="2D372A"/>
                </a:solidFill>
              </a:defRPr>
            </a:pPr>
            <a:r>
              <a:rPr sz="2400" dirty="0"/>
              <a:t>DISCUSS: Which choice would you make? What could happen because of that choice?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38034"/>
                </a:solidFill>
              </a:defRPr>
            </a:pPr>
            <a:r>
              <a:t>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C655A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2A"/>
                </a:solidFill>
              </a:defRPr>
            </a:pPr>
            <a:r>
              <a:t>🎯 TODAY'S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596669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55A"/>
                </a:solidFill>
              </a:defRPr>
            </a:pPr>
            <a:r>
              <a:rPr sz="2400" dirty="0"/>
              <a:t>By the end of the session, you will be able to...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538034"/>
                </a:solidFill>
              </a:defRPr>
            </a:pPr>
            <a:r>
              <a:rPr sz="2400" dirty="0"/>
              <a:t>IDENTIFY</a:t>
            </a:r>
          </a:p>
          <a:p>
            <a:pPr>
              <a:spcBef>
                <a:spcPts val="600"/>
              </a:spcBef>
              <a:defRPr sz="1500">
                <a:solidFill>
                  <a:srgbClr val="2D372A"/>
                </a:solidFill>
              </a:defRPr>
            </a:pPr>
            <a:r>
              <a:rPr sz="2400" dirty="0"/>
              <a:t>spot fable features and explain how they work in the 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EF8936"/>
                </a:solidFill>
              </a:defRPr>
            </a:pPr>
            <a:r>
              <a:rPr sz="2400" dirty="0"/>
              <a:t>UNLOCK</a:t>
            </a:r>
          </a:p>
          <a:p>
            <a:pPr>
              <a:spcBef>
                <a:spcPts val="600"/>
              </a:spcBef>
              <a:defRPr sz="1500">
                <a:solidFill>
                  <a:srgbClr val="2D372A"/>
                </a:solidFill>
              </a:defRPr>
            </a:pPr>
            <a:r>
              <a:rPr sz="2400" dirty="0"/>
              <a:t>work out new vocabulary from context and use it accurately.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745B91"/>
                </a:solidFill>
              </a:defRPr>
            </a:pPr>
            <a:r>
              <a:rPr sz="2400" dirty="0"/>
              <a:t>PROVE</a:t>
            </a:r>
          </a:p>
          <a:p>
            <a:pPr>
              <a:spcBef>
                <a:spcPts val="600"/>
              </a:spcBef>
              <a:defRPr sz="1500">
                <a:solidFill>
                  <a:srgbClr val="2D372A"/>
                </a:solidFill>
              </a:defRPr>
            </a:pPr>
            <a:r>
              <a:rPr sz="2400" dirty="0"/>
              <a:t>write a developed response using trait + evidence + explanation + consequence.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9966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12267" y="4782312"/>
            <a:ext cx="11567160" cy="685800"/>
          </a:xfrm>
          <a:prstGeom prst="roundRect">
            <a:avLst/>
          </a:prstGeom>
          <a:solidFill>
            <a:srgbClr val="ECF4E2"/>
          </a:solidFill>
          <a:ln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ctr">
              <a:defRPr sz="1700" b="1">
                <a:solidFill>
                  <a:srgbClr val="538034"/>
                </a:solidFill>
              </a:defRPr>
            </a:pPr>
            <a:r>
              <a:rPr sz="2400" dirty="0"/>
              <a:t>SUCCESS CRITERIA: I can support my idea with accurate evidence — not just a label.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38034"/>
                </a:solidFill>
              </a:defRPr>
            </a:pPr>
            <a:r>
              <a:t>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C655A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1960" y="11475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2A"/>
                </a:solidFill>
              </a:defRPr>
            </a:pPr>
            <a:r>
              <a:rPr dirty="0"/>
              <a:t>📖 READ: THE SQUIRREL AND THE KITE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-307" y="891047"/>
            <a:ext cx="12191695" cy="807502"/>
          </a:xfrm>
          <a:prstGeom prst="roundRect">
            <a:avLst/>
          </a:prstGeom>
          <a:solidFill>
            <a:srgbClr val="FFFFFF"/>
          </a:solidFill>
          <a:ln>
            <a:solidFill>
              <a:srgbClr val="D7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>
              <a:defRPr sz="1130">
                <a:solidFill>
                  <a:srgbClr val="2D372A"/>
                </a:solidFill>
              </a:defRPr>
            </a:pPr>
            <a:r>
              <a:rPr sz="2000" dirty="0"/>
              <a:t>At the beginning of autumn, Milo the Squirrel hurried around the school garden collecting acorns. He was </a:t>
            </a:r>
            <a:r>
              <a:rPr sz="2000" b="1" dirty="0"/>
              <a:t>industrious</a:t>
            </a:r>
            <a:r>
              <a:rPr sz="2000" dirty="0"/>
              <a:t>, carefully carrying each one to a dry hiding place beneath an old tree.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-67006" y="1747045"/>
            <a:ext cx="12325397" cy="1231385"/>
          </a:xfrm>
          <a:prstGeom prst="roundRect">
            <a:avLst/>
          </a:prstGeom>
          <a:solidFill>
            <a:srgbClr val="FFFFFF"/>
          </a:solidFill>
          <a:ln>
            <a:solidFill>
              <a:srgbClr val="D7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000" b="1">
                <a:solidFill>
                  <a:srgbClr val="538034"/>
                </a:solidFill>
              </a:defRPr>
            </a:pPr>
            <a:r>
              <a:rPr sz="2000" dirty="0"/>
              <a:t>Paragraph 2</a:t>
            </a:r>
          </a:p>
          <a:p>
            <a:pPr>
              <a:defRPr sz="1130">
                <a:solidFill>
                  <a:srgbClr val="2D372A"/>
                </a:solidFill>
              </a:defRPr>
            </a:pPr>
            <a:r>
              <a:rPr sz="2000" dirty="0"/>
              <a:t>Nearby, Kiki the Kite watched from the fence. “Why are you working so hard?” she laughed. “There is </a:t>
            </a:r>
            <a:r>
              <a:rPr sz="2000" b="1" dirty="0"/>
              <a:t>plenty</a:t>
            </a:r>
            <a:r>
              <a:rPr sz="2000" dirty="0"/>
              <a:t> </a:t>
            </a:r>
            <a:r>
              <a:rPr sz="2000" b="1" dirty="0"/>
              <a:t>of</a:t>
            </a:r>
            <a:r>
              <a:rPr sz="2000" dirty="0"/>
              <a:t> food everywhere!” Milo continued gathering his </a:t>
            </a:r>
            <a:r>
              <a:rPr sz="2000" b="1" dirty="0"/>
              <a:t>provisions</a:t>
            </a:r>
            <a:r>
              <a:rPr sz="2000" dirty="0"/>
              <a:t>. “I know,” he replied, “but the </a:t>
            </a:r>
            <a:r>
              <a:rPr sz="2000" b="1" dirty="0"/>
              <a:t>cold</a:t>
            </a:r>
            <a:r>
              <a:rPr sz="2000" dirty="0"/>
              <a:t> weather will arrive soon.”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3222431"/>
            <a:ext cx="12192000" cy="413138"/>
          </a:xfrm>
          <a:prstGeom prst="roundRect">
            <a:avLst/>
          </a:prstGeom>
          <a:solidFill>
            <a:srgbClr val="FFFFFF"/>
          </a:solidFill>
          <a:ln>
            <a:solidFill>
              <a:srgbClr val="D7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>
              <a:defRPr sz="1130">
                <a:solidFill>
                  <a:srgbClr val="2D372A"/>
                </a:solidFill>
              </a:defRPr>
            </a:pPr>
            <a:r>
              <a:rPr sz="2000" dirty="0"/>
              <a:t>Kiki ignored him. She spent the warm afternoons flying over the playground and enjoying herself.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0" y="3777824"/>
            <a:ext cx="12192000" cy="1185244"/>
          </a:xfrm>
          <a:prstGeom prst="roundRect">
            <a:avLst/>
          </a:prstGeom>
          <a:solidFill>
            <a:srgbClr val="FFFFFF"/>
          </a:solidFill>
          <a:ln>
            <a:solidFill>
              <a:srgbClr val="D7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000" b="1">
                <a:solidFill>
                  <a:srgbClr val="538034"/>
                </a:solidFill>
              </a:defRPr>
            </a:pPr>
            <a:r>
              <a:rPr sz="2000" dirty="0"/>
              <a:t>Paragraph 4</a:t>
            </a:r>
          </a:p>
          <a:p>
            <a:pPr>
              <a:defRPr sz="1130">
                <a:solidFill>
                  <a:srgbClr val="2D372A"/>
                </a:solidFill>
              </a:defRPr>
            </a:pPr>
            <a:r>
              <a:rPr sz="2000" dirty="0"/>
              <a:t>A few weeks later, dark clouds covered the sky. The wind became fierce, and the garden was covered with frost. Food became </a:t>
            </a:r>
            <a:r>
              <a:rPr lang="en-US" sz="2000" b="1" dirty="0"/>
              <a:t>barren</a:t>
            </a:r>
            <a:r>
              <a:rPr sz="2000" dirty="0"/>
              <a:t>. Kiki searched everywhere, but she could find very little to eat. She looked </a:t>
            </a:r>
            <a:r>
              <a:rPr sz="2000" b="1" dirty="0"/>
              <a:t>wistfully</a:t>
            </a:r>
            <a:r>
              <a:rPr sz="2000" dirty="0"/>
              <a:t> towards Milo’s tree.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308" y="5072283"/>
            <a:ext cx="12191695" cy="1077585"/>
          </a:xfrm>
          <a:prstGeom prst="roundRect">
            <a:avLst/>
          </a:prstGeom>
          <a:solidFill>
            <a:srgbClr val="FFFFFF"/>
          </a:solidFill>
          <a:ln>
            <a:solidFill>
              <a:srgbClr val="D7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000" b="1">
                <a:solidFill>
                  <a:srgbClr val="538034"/>
                </a:solidFill>
              </a:defRPr>
            </a:pPr>
            <a:r>
              <a:rPr sz="2000" dirty="0"/>
              <a:t>Paragraph 5</a:t>
            </a:r>
          </a:p>
          <a:p>
            <a:pPr>
              <a:defRPr sz="1130">
                <a:solidFill>
                  <a:srgbClr val="2D372A"/>
                </a:solidFill>
              </a:defRPr>
            </a:pPr>
            <a:r>
              <a:rPr sz="2000" dirty="0"/>
              <a:t>“I wish I had prepared,” she whispered. Milo shared a little of his food with her. Kiki </a:t>
            </a:r>
            <a:r>
              <a:rPr sz="2000" dirty="0" err="1"/>
              <a:t>realised</a:t>
            </a:r>
            <a:r>
              <a:rPr sz="2000" dirty="0"/>
              <a:t> that enjoying today is important, but preparing for tomorrow matters too.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9432" y="6359018"/>
            <a:ext cx="8572219" cy="529376"/>
          </a:xfrm>
          <a:prstGeom prst="rect">
            <a:avLst/>
          </a:prstGeom>
          <a:noFill/>
        </p:spPr>
        <p:txBody>
          <a:bodyPr wrap="none" lIns="109728" tIns="109728" rIns="109728" bIns="109728" anchor="ctr">
            <a:spAutoFit/>
          </a:bodyPr>
          <a:lstStyle/>
          <a:p>
            <a:pPr algn="ctr">
              <a:defRPr sz="1100" b="1">
                <a:solidFill>
                  <a:srgbClr val="5C655A"/>
                </a:solidFill>
              </a:defRPr>
            </a:pPr>
            <a:r>
              <a:rPr sz="2000" dirty="0"/>
              <a:t>FIRST READ: What happens?  SECOND READ: Which words and actions matter?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78B3F7-DB0F-7296-0692-D4E9AD0DEDB4}"/>
              </a:ext>
            </a:extLst>
          </p:cNvPr>
          <p:cNvSpPr txBox="1"/>
          <p:nvPr/>
        </p:nvSpPr>
        <p:spPr>
          <a:xfrm>
            <a:off x="3125709" y="568412"/>
            <a:ext cx="6142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38034"/>
                </a:solidFill>
              </a:defRPr>
            </a:pPr>
            <a:r>
              <a:rPr lang="en-US" sz="2000" dirty="0"/>
              <a:t>Paragraph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D0056B-3D22-5DC5-4EEF-DFCE34AE1128}"/>
              </a:ext>
            </a:extLst>
          </p:cNvPr>
          <p:cNvSpPr txBox="1"/>
          <p:nvPr/>
        </p:nvSpPr>
        <p:spPr>
          <a:xfrm>
            <a:off x="3063467" y="2951089"/>
            <a:ext cx="62672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38034"/>
                </a:solidFill>
              </a:defRPr>
            </a:pPr>
            <a:r>
              <a:rPr lang="en-US" sz="2000" dirty="0"/>
              <a:t>Paragraph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38034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C655A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2A"/>
                </a:solidFill>
              </a:defRPr>
            </a:pPr>
            <a:r>
              <a:t>🔎 VOCABULARY DETECTIVE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656622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55A"/>
                </a:solidFill>
              </a:defRPr>
            </a:pPr>
            <a:r>
              <a:rPr sz="2400" dirty="0"/>
              <a:t>Use the context — don't guess from the first letter.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79"/>
            <a:ext cx="5486400" cy="189262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538034"/>
                </a:solidFill>
              </a:defRPr>
            </a:pPr>
            <a:r>
              <a:rPr dirty="0"/>
              <a:t>INDUSTRIOUS</a:t>
            </a:r>
          </a:p>
          <a:p>
            <a:pPr>
              <a:spcBef>
                <a:spcPts val="600"/>
              </a:spcBef>
              <a:defRPr sz="1600">
                <a:solidFill>
                  <a:srgbClr val="2D372A"/>
                </a:solidFill>
              </a:defRPr>
            </a:pPr>
            <a:r>
              <a:rPr sz="2000" dirty="0"/>
              <a:t>“He was </a:t>
            </a:r>
            <a:r>
              <a:rPr sz="2000" b="1" dirty="0"/>
              <a:t>industrious</a:t>
            </a:r>
            <a:r>
              <a:rPr sz="2000" dirty="0"/>
              <a:t>, carefully carrying each one to a dry hiding place...”</a:t>
            </a:r>
            <a:br>
              <a:rPr sz="2000" dirty="0"/>
            </a:br>
            <a:br>
              <a:rPr sz="2000" dirty="0"/>
            </a:br>
            <a:r>
              <a:rPr sz="2000" dirty="0"/>
              <a:t>A  lazy   B  hardworking   C  frightened   D  noisy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868456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EF8936"/>
                </a:solidFill>
              </a:defRPr>
            </a:pPr>
            <a:r>
              <a:rPr dirty="0"/>
              <a:t>PROVISIONS</a:t>
            </a:r>
          </a:p>
          <a:p>
            <a:pPr>
              <a:spcBef>
                <a:spcPts val="600"/>
              </a:spcBef>
              <a:defRPr sz="1600">
                <a:solidFill>
                  <a:srgbClr val="2D372A"/>
                </a:solidFill>
              </a:defRPr>
            </a:pPr>
            <a:r>
              <a:rPr sz="2000" dirty="0"/>
              <a:t>“Milo continued gathering his </a:t>
            </a:r>
            <a:r>
              <a:rPr sz="2000" b="1" dirty="0"/>
              <a:t>provisions</a:t>
            </a:r>
            <a:r>
              <a:rPr sz="2000" dirty="0"/>
              <a:t>.”</a:t>
            </a:r>
            <a:br>
              <a:rPr sz="2000" dirty="0"/>
            </a:br>
            <a:br>
              <a:rPr sz="2000" dirty="0"/>
            </a:br>
            <a:r>
              <a:rPr sz="2000" dirty="0"/>
              <a:t>A  games   </a:t>
            </a:r>
            <a:r>
              <a:rPr lang="en-US" sz="2000" dirty="0"/>
              <a:t>                              </a:t>
            </a:r>
            <a:r>
              <a:rPr sz="2000" dirty="0"/>
              <a:t>B  decorations   </a:t>
            </a:r>
            <a:endParaRPr lang="en-US" sz="2000" dirty="0"/>
          </a:p>
          <a:p>
            <a:pPr>
              <a:spcBef>
                <a:spcPts val="600"/>
              </a:spcBef>
              <a:defRPr sz="1600">
                <a:solidFill>
                  <a:srgbClr val="2D372A"/>
                </a:solidFill>
              </a:defRPr>
            </a:pPr>
            <a:r>
              <a:rPr sz="2000" dirty="0"/>
              <a:t>C  supplies saved for later   D  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4160520"/>
            <a:ext cx="10241280" cy="685800"/>
          </a:xfrm>
          <a:prstGeom prst="roundRect">
            <a:avLst/>
          </a:prstGeom>
          <a:solidFill>
            <a:srgbClr val="ECF4E2"/>
          </a:solidFill>
          <a:ln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ctr">
              <a:defRPr sz="1600" b="1">
                <a:solidFill>
                  <a:srgbClr val="2D372A"/>
                </a:solidFill>
              </a:defRPr>
            </a:pPr>
            <a:r>
              <a:rPr sz="2000" dirty="0"/>
              <a:t>PAIR TASK: Circle the best answer. Then point to the exact clue in the passage that helped you.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38034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C655A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2A"/>
                </a:solidFill>
              </a:defRPr>
            </a:pPr>
            <a:r>
              <a:t>🔎 VOCABULARY DETECTIVE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21895"/>
            <a:ext cx="613821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55A"/>
                </a:solidFill>
              </a:defRPr>
            </a:pPr>
            <a:r>
              <a:rPr sz="2400" dirty="0"/>
              <a:t>Now use the new words in your own sentences.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441547"/>
            <a:ext cx="4083112" cy="266164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745B91"/>
                </a:solidFill>
              </a:defRPr>
            </a:pPr>
            <a:endParaRPr lang="en-US" sz="2000" dirty="0"/>
          </a:p>
          <a:p>
            <a:pPr algn="ctr">
              <a:defRPr sz="1600" b="1">
                <a:solidFill>
                  <a:srgbClr val="745B91"/>
                </a:solidFill>
              </a:defRPr>
            </a:pPr>
            <a:r>
              <a:rPr lang="en-US" sz="2000" dirty="0"/>
              <a:t>Barren</a:t>
            </a:r>
            <a:endParaRPr sz="2000" dirty="0"/>
          </a:p>
          <a:p>
            <a:pPr>
              <a:spcBef>
                <a:spcPts val="600"/>
              </a:spcBef>
              <a:defRPr sz="1500">
                <a:solidFill>
                  <a:srgbClr val="2D372A"/>
                </a:solidFill>
              </a:defRPr>
            </a:pPr>
            <a:r>
              <a:rPr sz="2000" dirty="0"/>
              <a:t>“Food became </a:t>
            </a:r>
            <a:r>
              <a:rPr lang="en-US" sz="2000" b="1" dirty="0"/>
              <a:t>barren</a:t>
            </a:r>
            <a:br>
              <a:rPr sz="2000" dirty="0"/>
            </a:br>
            <a:br>
              <a:rPr sz="2000" dirty="0"/>
            </a:br>
            <a:r>
              <a:rPr sz="2000" b="1" dirty="0"/>
              <a:t>A</a:t>
            </a:r>
            <a:r>
              <a:rPr sz="2000" dirty="0"/>
              <a:t>  easy to find</a:t>
            </a:r>
            <a:br>
              <a:rPr sz="2000" dirty="0"/>
            </a:br>
            <a:r>
              <a:rPr sz="2000" b="1" dirty="0"/>
              <a:t>B</a:t>
            </a:r>
            <a:r>
              <a:rPr sz="2000" dirty="0"/>
              <a:t>  difficult to find because there is not much</a:t>
            </a:r>
            <a:br>
              <a:rPr sz="2000" dirty="0"/>
            </a:br>
            <a:r>
              <a:rPr sz="2000" b="1" dirty="0"/>
              <a:t>C</a:t>
            </a:r>
            <a:r>
              <a:rPr sz="2000" dirty="0"/>
              <a:t>  delicious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6203" y="1468970"/>
            <a:ext cx="3801097" cy="266164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EF8936"/>
                </a:solidFill>
              </a:defRPr>
            </a:pPr>
            <a:r>
              <a:rPr sz="2000" dirty="0"/>
              <a:t>WISTFULLY</a:t>
            </a:r>
          </a:p>
          <a:p>
            <a:pPr>
              <a:spcBef>
                <a:spcPts val="600"/>
              </a:spcBef>
              <a:defRPr sz="1500">
                <a:solidFill>
                  <a:srgbClr val="2D372A"/>
                </a:solidFill>
              </a:defRPr>
            </a:pPr>
            <a:r>
              <a:rPr sz="2000" dirty="0"/>
              <a:t>“She looked </a:t>
            </a:r>
            <a:r>
              <a:rPr sz="2000" b="1" dirty="0"/>
              <a:t>wistfully</a:t>
            </a:r>
            <a:r>
              <a:rPr sz="2000" dirty="0"/>
              <a:t> towards Milo’s tree.”</a:t>
            </a:r>
            <a:br>
              <a:rPr sz="2000" dirty="0"/>
            </a:br>
            <a:br>
              <a:rPr sz="2000" dirty="0"/>
            </a:br>
            <a:r>
              <a:rPr sz="2000" b="1" dirty="0"/>
              <a:t>A</a:t>
            </a:r>
            <a:r>
              <a:rPr sz="2000" dirty="0"/>
              <a:t>  angrily</a:t>
            </a:r>
            <a:br>
              <a:rPr sz="2000" dirty="0"/>
            </a:br>
            <a:r>
              <a:rPr sz="2000" b="1" dirty="0"/>
              <a:t>B</a:t>
            </a:r>
            <a:r>
              <a:rPr sz="2000" dirty="0"/>
              <a:t>  excitedly</a:t>
            </a:r>
            <a:br>
              <a:rPr sz="2000" dirty="0"/>
            </a:br>
            <a:r>
              <a:rPr sz="2000" b="1" dirty="0"/>
              <a:t>C</a:t>
            </a:r>
            <a:r>
              <a:rPr sz="2000" dirty="0"/>
              <a:t>  sadly wanting something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0391" y="1723644"/>
            <a:ext cx="4455663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>
              <a:spcBef>
                <a:spcPts val="600"/>
              </a:spcBef>
              <a:defRPr sz="1500">
                <a:solidFill>
                  <a:srgbClr val="2D372A"/>
                </a:solidFill>
              </a:defRPr>
            </a:pPr>
            <a:r>
              <a:rPr sz="2000" b="1" dirty="0"/>
              <a:t>Complete</a:t>
            </a:r>
            <a:r>
              <a:rPr sz="2000" dirty="0"/>
              <a:t>:</a:t>
            </a:r>
            <a:br>
              <a:rPr sz="2000" dirty="0"/>
            </a:br>
            <a:br>
              <a:rPr sz="2000" dirty="0"/>
            </a:br>
            <a:r>
              <a:rPr sz="2000" dirty="0"/>
              <a:t>Food became </a:t>
            </a:r>
            <a:r>
              <a:rPr lang="en-US" sz="2000" dirty="0"/>
              <a:t>barren</a:t>
            </a:r>
            <a:r>
              <a:rPr sz="2000" dirty="0"/>
              <a:t>, so __________.</a:t>
            </a:r>
            <a:br>
              <a:rPr sz="2000" dirty="0"/>
            </a:br>
            <a:br>
              <a:rPr sz="2000" dirty="0"/>
            </a:br>
            <a:r>
              <a:rPr sz="2000" dirty="0"/>
              <a:t>Kiki looked wistfully because __________.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4880" y="4812208"/>
            <a:ext cx="10332720" cy="822960"/>
          </a:xfrm>
          <a:prstGeom prst="roundRect">
            <a:avLst/>
          </a:prstGeom>
          <a:solidFill>
            <a:srgbClr val="FFEFDB"/>
          </a:solidFill>
          <a:ln>
            <a:solidFill>
              <a:srgbClr val="E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ctr">
              <a:defRPr sz="1600" b="1">
                <a:solidFill>
                  <a:srgbClr val="2D372A"/>
                </a:solidFill>
              </a:defRPr>
            </a:pPr>
            <a:r>
              <a:rPr sz="2000" dirty="0"/>
              <a:t>CHALLENGE: Use ONE of the new words to explain a character's feelings or 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38034"/>
                </a:solidFill>
              </a:defRPr>
            </a:pPr>
            <a:r>
              <a:t>VOCABULARY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C655A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2A"/>
                </a:solidFill>
              </a:defRPr>
            </a:pPr>
            <a:r>
              <a:t>✅ CHECK: WHY?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55A"/>
                </a:solidFill>
              </a:defRPr>
            </a:pPr>
            <a:r>
              <a:t>Don't just choose the answer — explain the clue.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290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538034"/>
                </a:solidFill>
              </a:defRPr>
            </a:pPr>
            <a:r>
              <a:rPr sz="2000" dirty="0"/>
              <a:t>INDUSTRIOUS</a:t>
            </a:r>
          </a:p>
          <a:p>
            <a:pPr>
              <a:spcBef>
                <a:spcPts val="600"/>
              </a:spcBef>
              <a:defRPr sz="1500">
                <a:solidFill>
                  <a:srgbClr val="2D372A"/>
                </a:solidFill>
              </a:defRPr>
            </a:pPr>
            <a:r>
              <a:rPr sz="2000" dirty="0"/>
              <a:t>ANSWER: </a:t>
            </a:r>
            <a:r>
              <a:rPr sz="2000" b="1" dirty="0"/>
              <a:t>B</a:t>
            </a:r>
            <a:r>
              <a:rPr sz="2000" dirty="0"/>
              <a:t> — hardworking</a:t>
            </a:r>
            <a:br>
              <a:rPr sz="2000" dirty="0"/>
            </a:br>
            <a:br>
              <a:rPr sz="2000" dirty="0"/>
            </a:br>
            <a:r>
              <a:rPr sz="2000" dirty="0"/>
              <a:t>Clue: Milo repeatedly collects and stores acorns.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4290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EF8936"/>
                </a:solidFill>
              </a:defRPr>
            </a:pPr>
            <a:r>
              <a:rPr sz="2000" dirty="0"/>
              <a:t>PROVISIONS</a:t>
            </a:r>
          </a:p>
          <a:p>
            <a:pPr>
              <a:spcBef>
                <a:spcPts val="600"/>
              </a:spcBef>
              <a:defRPr sz="1500">
                <a:solidFill>
                  <a:srgbClr val="2D372A"/>
                </a:solidFill>
              </a:defRPr>
            </a:pPr>
            <a:r>
              <a:rPr sz="2000" dirty="0"/>
              <a:t>ANSWER: </a:t>
            </a:r>
            <a:r>
              <a:rPr sz="2000" b="1" dirty="0"/>
              <a:t>C</a:t>
            </a:r>
            <a:r>
              <a:rPr sz="2000" dirty="0"/>
              <a:t> — supplies saved for later</a:t>
            </a:r>
            <a:br>
              <a:rPr sz="2000" dirty="0"/>
            </a:br>
            <a:br>
              <a:rPr sz="2000" dirty="0"/>
            </a:br>
            <a:r>
              <a:rPr sz="2000" dirty="0"/>
              <a:t>Clue: Milo gathers them before cold weather.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4290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745B91"/>
                </a:solidFill>
              </a:defRPr>
            </a:pPr>
            <a:r>
              <a:rPr lang="en-US" sz="2000" dirty="0"/>
              <a:t>Barren</a:t>
            </a:r>
            <a:r>
              <a:rPr sz="2000" dirty="0"/>
              <a:t>/ WISTFULLY</a:t>
            </a:r>
          </a:p>
          <a:p>
            <a:pPr>
              <a:spcBef>
                <a:spcPts val="600"/>
              </a:spcBef>
              <a:defRPr sz="1500">
                <a:solidFill>
                  <a:srgbClr val="2D372A"/>
                </a:solidFill>
              </a:defRPr>
            </a:pPr>
            <a:br>
              <a:rPr sz="2000" dirty="0"/>
            </a:br>
            <a:r>
              <a:rPr lang="en-US" sz="2000" b="1" dirty="0"/>
              <a:t>Barren</a:t>
            </a:r>
            <a:r>
              <a:rPr lang="en-US" sz="2000" dirty="0"/>
              <a:t>: there is not much (very little)</a:t>
            </a:r>
            <a:br>
              <a:rPr sz="2000" dirty="0"/>
            </a:br>
            <a:r>
              <a:rPr sz="2000" b="1" dirty="0"/>
              <a:t>WISTFULLY</a:t>
            </a:r>
            <a:r>
              <a:rPr sz="2000" dirty="0"/>
              <a:t> = sadly wanting something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5840" y="4480560"/>
            <a:ext cx="10058400" cy="822960"/>
          </a:xfrm>
          <a:prstGeom prst="roundRect">
            <a:avLst/>
          </a:prstGeom>
          <a:solidFill>
            <a:srgbClr val="ECF4E2"/>
          </a:solidFill>
          <a:ln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ctr">
              <a:defRPr sz="1800" b="1">
                <a:solidFill>
                  <a:srgbClr val="538034"/>
                </a:solidFill>
              </a:defRPr>
            </a:pPr>
            <a:r>
              <a:t>KEY IDEA: Context clues are evidence too.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38034"/>
                </a:solidFill>
              </a:defRPr>
            </a:pPr>
            <a:r>
              <a:t>GENRE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C655A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2A"/>
                </a:solidFill>
              </a:defRPr>
            </a:pPr>
            <a:r>
              <a:t>🕵️ FABLE DETECTIVE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6082"/>
            <a:ext cx="376898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55A"/>
                </a:solidFill>
              </a:defRPr>
            </a:pPr>
            <a:r>
              <a:rPr sz="2000" dirty="0"/>
              <a:t>Find the features in our new story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965960" cy="384048"/>
          </a:xfrm>
          <a:prstGeom prst="round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000" dirty="0"/>
              <a:t>CHARACTERS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71907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80360" y="1719072"/>
            <a:ext cx="82296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500" b="0">
                <a:solidFill>
                  <a:srgbClr val="2D372A"/>
                </a:solidFill>
              </a:defRPr>
            </a:pPr>
            <a:r>
              <a:rPr sz="2000" dirty="0"/>
              <a:t>Milo + Kiki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965960" cy="384048"/>
          </a:xfrm>
          <a:prstGeom prst="roundRect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000" dirty="0"/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5420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80360" y="2542032"/>
            <a:ext cx="82296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500" b="0">
                <a:solidFill>
                  <a:srgbClr val="2D372A"/>
                </a:solidFill>
              </a:defRPr>
            </a:pPr>
            <a:r>
              <a:rPr sz="2000" dirty="0"/>
              <a:t>Cold weather arrives; food becomes </a:t>
            </a:r>
            <a:r>
              <a:rPr lang="en-US" sz="2000" dirty="0"/>
              <a:t>barren</a:t>
            </a:r>
            <a:r>
              <a:rPr sz="2000"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1965960" cy="384048"/>
          </a:xfrm>
          <a:prstGeom prst="roundRect">
            <a:avLst/>
          </a:prstGeom>
          <a:solidFill>
            <a:srgbClr val="7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000" dirty="0"/>
              <a:t>CHOICES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3649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880360" y="3364992"/>
            <a:ext cx="82296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500" b="0">
                <a:solidFill>
                  <a:srgbClr val="2D372A"/>
                </a:solidFill>
              </a:defRPr>
            </a:pPr>
            <a:r>
              <a:rPr sz="2000" dirty="0"/>
              <a:t>Milo prepares. Kiki ignores the warning.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1965960" cy="384048"/>
          </a:xfrm>
          <a:prstGeom prst="roundRect">
            <a:avLst/>
          </a:prstGeom>
          <a:solidFill>
            <a:srgbClr val="BE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000" dirty="0"/>
              <a:t>CONSEQUENCE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18795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880360" y="4187952"/>
            <a:ext cx="82296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500" b="0">
                <a:solidFill>
                  <a:srgbClr val="2D372A"/>
                </a:solidFill>
              </a:defRPr>
            </a:pPr>
            <a:r>
              <a:rPr sz="2400" dirty="0"/>
              <a:t>Kiki struggles to find food.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1965960" cy="384048"/>
          </a:xfrm>
          <a:prstGeom prst="roundRect">
            <a:avLst/>
          </a:prstGeom>
          <a:solidFill>
            <a:srgbClr val="99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400" dirty="0"/>
              <a:t>MORAL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501091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880360" y="5010912"/>
            <a:ext cx="82296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500" b="0">
                <a:solidFill>
                  <a:srgbClr val="2D372A"/>
                </a:solidFill>
              </a:defRPr>
            </a:pPr>
            <a:r>
              <a:rPr sz="2400" dirty="0"/>
              <a:t>Prepare for the future; choices have consequences.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025" y="5808155"/>
            <a:ext cx="10274031" cy="590931"/>
          </a:xfrm>
          <a:prstGeom prst="rect">
            <a:avLst/>
          </a:prstGeom>
          <a:noFill/>
        </p:spPr>
        <p:txBody>
          <a:bodyPr wrap="none" lIns="109728" tIns="109728" rIns="109728" bIns="109728" anchor="ctr">
            <a:spAutoFit/>
          </a:bodyPr>
          <a:lstStyle/>
          <a:p>
            <a:pPr algn="ctr">
              <a:defRPr sz="1300" b="1">
                <a:solidFill>
                  <a:srgbClr val="5C655A"/>
                </a:solidFill>
              </a:defRPr>
            </a:pPr>
            <a:r>
              <a:rPr sz="2400" dirty="0"/>
              <a:t>PAIR TALK: Which feature is easiest to find? Which requires the most thinking?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38034"/>
                </a:solidFill>
              </a:defRPr>
            </a:pPr>
            <a:r>
              <a:t>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C655A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2A"/>
                </a:solidFill>
              </a:defRPr>
            </a:pPr>
            <a:r>
              <a:rPr dirty="0"/>
              <a:t>🔗 CAUSE → CONSEQUENCE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33906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55A"/>
                </a:solidFill>
              </a:defRPr>
            </a:pPr>
            <a:r>
              <a:rPr sz="2400" dirty="0"/>
              <a:t>Track the chain of 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2461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EF8936"/>
                </a:solidFill>
              </a:defRPr>
            </a:pPr>
            <a:r>
              <a:rPr sz="2000" dirty="0"/>
              <a:t>CAUSE</a:t>
            </a:r>
          </a:p>
          <a:p>
            <a:pPr>
              <a:spcBef>
                <a:spcPts val="600"/>
              </a:spcBef>
              <a:defRPr sz="1500">
                <a:solidFill>
                  <a:srgbClr val="2D372A"/>
                </a:solidFill>
              </a:defRPr>
            </a:pPr>
            <a:r>
              <a:rPr sz="2400" dirty="0"/>
              <a:t>Kiki spends the warm afternoons flying and enjoying herself instead of preparing.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331720"/>
            <a:ext cx="914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77639" y="2331720"/>
            <a:ext cx="914400" cy="685800"/>
          </a:xfrm>
          <a:prstGeom prst="roundRect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874519"/>
            <a:ext cx="29718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538034"/>
                </a:solidFill>
              </a:defRPr>
            </a:pPr>
            <a:r>
              <a:rPr sz="2000" dirty="0"/>
              <a:t>EVENT</a:t>
            </a:r>
          </a:p>
          <a:p>
            <a:pPr>
              <a:spcBef>
                <a:spcPts val="600"/>
              </a:spcBef>
              <a:defRPr sz="1500">
                <a:solidFill>
                  <a:srgbClr val="2D372A"/>
                </a:solidFill>
              </a:defRPr>
            </a:pPr>
            <a:r>
              <a:rPr sz="2400" dirty="0"/>
              <a:t>Cold weather arrives and food becomes scarce.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331720"/>
            <a:ext cx="914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0" y="2331720"/>
            <a:ext cx="914400" cy="685800"/>
          </a:xfrm>
          <a:prstGeom prst="round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874519"/>
            <a:ext cx="23317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745B91"/>
                </a:solidFill>
              </a:defRPr>
            </a:pPr>
            <a:r>
              <a:rPr sz="2400" dirty="0"/>
              <a:t>RESULT</a:t>
            </a:r>
          </a:p>
          <a:p>
            <a:pPr>
              <a:spcBef>
                <a:spcPts val="600"/>
              </a:spcBef>
              <a:defRPr sz="1500">
                <a:solidFill>
                  <a:srgbClr val="2D372A"/>
                </a:solidFill>
              </a:defRPr>
            </a:pPr>
            <a:r>
              <a:rPr sz="2400" dirty="0"/>
              <a:t>Kiki cannot find enough food.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0149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4389120"/>
            <a:ext cx="10149840" cy="914400"/>
          </a:xfrm>
          <a:prstGeom prst="roundRect">
            <a:avLst/>
          </a:prstGeom>
          <a:solidFill>
            <a:srgbClr val="ECF4E2"/>
          </a:solidFill>
          <a:ln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ctr">
              <a:defRPr sz="1700" b="1">
                <a:solidFill>
                  <a:srgbClr val="2D372A"/>
                </a:solidFill>
              </a:defRPr>
            </a:pPr>
            <a:r>
              <a:rPr sz="2400" dirty="0"/>
              <a:t>PARTNER TASK: Add one more consequence. Why does this matter to Kiki?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38034"/>
                </a:solidFill>
              </a:defRPr>
            </a:pPr>
            <a:r>
              <a:t>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C655A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2A"/>
                </a:solidFill>
              </a:defRPr>
            </a:pPr>
            <a:r>
              <a:t>🧩 CHARACTER DETECTIVE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490358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55A"/>
                </a:solidFill>
              </a:defRPr>
            </a:pPr>
            <a:r>
              <a:rPr sz="2400" dirty="0"/>
              <a:t>Trait is the idea. Evidence is the proof.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383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538034"/>
                </a:solidFill>
              </a:defRPr>
            </a:pPr>
            <a:r>
              <a:rPr dirty="0"/>
              <a:t>MILO</a:t>
            </a:r>
          </a:p>
          <a:p>
            <a:pPr>
              <a:spcBef>
                <a:spcPts val="600"/>
              </a:spcBef>
              <a:defRPr sz="1600">
                <a:solidFill>
                  <a:srgbClr val="2D372A"/>
                </a:solidFill>
              </a:defRPr>
            </a:pPr>
            <a:r>
              <a:rPr sz="2400" dirty="0"/>
              <a:t>Possible traits:</a:t>
            </a:r>
            <a:br>
              <a:rPr sz="2400" dirty="0"/>
            </a:br>
            <a:r>
              <a:rPr sz="2400" dirty="0"/>
              <a:t>• industrious</a:t>
            </a:r>
            <a:br>
              <a:rPr sz="2400" dirty="0"/>
            </a:br>
            <a:r>
              <a:rPr sz="2400" dirty="0"/>
              <a:t>• responsible</a:t>
            </a:r>
            <a:br>
              <a:rPr sz="2400" dirty="0"/>
            </a:br>
            <a:r>
              <a:rPr sz="2400" dirty="0"/>
              <a:t>• prepared</a:t>
            </a:r>
            <a:br>
              <a:rPr sz="2400" dirty="0"/>
            </a:br>
            <a:r>
              <a:rPr sz="2400" dirty="0"/>
              <a:t>• sensible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EF8936"/>
                </a:solidFill>
              </a:defRPr>
            </a:pPr>
            <a:r>
              <a:rPr dirty="0"/>
              <a:t>KIKI</a:t>
            </a:r>
          </a:p>
          <a:p>
            <a:pPr>
              <a:spcBef>
                <a:spcPts val="600"/>
              </a:spcBef>
              <a:defRPr sz="1600">
                <a:solidFill>
                  <a:srgbClr val="2D372A"/>
                </a:solidFill>
              </a:defRPr>
            </a:pPr>
            <a:r>
              <a:rPr sz="2400" dirty="0"/>
              <a:t>Possible traits at the beginning:</a:t>
            </a:r>
            <a:br>
              <a:rPr sz="2400" dirty="0"/>
            </a:br>
            <a:r>
              <a:rPr sz="2400" dirty="0"/>
              <a:t>• careless</a:t>
            </a:r>
            <a:br>
              <a:rPr sz="2400" dirty="0"/>
            </a:br>
            <a:r>
              <a:rPr sz="2400" dirty="0"/>
              <a:t>• unprepared</a:t>
            </a:r>
            <a:br>
              <a:rPr sz="2400" dirty="0"/>
            </a:br>
            <a:r>
              <a:rPr sz="2400" dirty="0"/>
              <a:t>• carefree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737360"/>
            <a:ext cx="3383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745B91"/>
                </a:solidFill>
              </a:defRPr>
            </a:pPr>
            <a:r>
              <a:rPr dirty="0"/>
              <a:t>PROVE IT</a:t>
            </a:r>
          </a:p>
          <a:p>
            <a:pPr>
              <a:spcBef>
                <a:spcPts val="600"/>
              </a:spcBef>
              <a:defRPr sz="1600">
                <a:solidFill>
                  <a:srgbClr val="2D372A"/>
                </a:solidFill>
              </a:defRPr>
            </a:pPr>
            <a:r>
              <a:rPr sz="2000" dirty="0"/>
              <a:t>Choose ONE trait.</a:t>
            </a:r>
            <a:br>
              <a:rPr sz="2000" dirty="0"/>
            </a:br>
            <a:br>
              <a:rPr sz="2000" dirty="0"/>
            </a:br>
            <a:r>
              <a:rPr sz="2000" dirty="0"/>
              <a:t>Find ONE action from the text that proves it.</a:t>
            </a:r>
            <a:br>
              <a:rPr sz="2000" dirty="0"/>
            </a:br>
            <a:br>
              <a:rPr sz="2000" dirty="0"/>
            </a:br>
            <a:r>
              <a:rPr sz="2000" dirty="0"/>
              <a:t>Then explain what the action shows.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4709160"/>
            <a:ext cx="10241280" cy="731520"/>
          </a:xfrm>
          <a:prstGeom prst="roundRect">
            <a:avLst/>
          </a:prstGeom>
          <a:solidFill>
            <a:srgbClr val="FFEFDB"/>
          </a:solidFill>
          <a:ln>
            <a:solidFill>
              <a:srgbClr val="E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ctr">
              <a:defRPr sz="1800" b="1">
                <a:solidFill>
                  <a:srgbClr val="2D372A"/>
                </a:solidFill>
              </a:defRPr>
            </a:pPr>
            <a:r>
              <a:rPr sz="2400" dirty="0"/>
              <a:t>Sentence frame: “_____ is _____ because _____. This shows _____.”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38034"/>
                </a:solidFill>
              </a:defRPr>
            </a:pPr>
            <a:r>
              <a:t>GUIDED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C655A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2A"/>
                </a:solidFill>
              </a:defRPr>
            </a:pPr>
            <a:r>
              <a:t>🧱 BUILD THE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80104"/>
            <a:ext cx="64800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55A"/>
                </a:solidFill>
              </a:defRPr>
            </a:pPr>
            <a:r>
              <a:rPr sz="2400" dirty="0"/>
              <a:t>Work with a partner before writing independently.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920240" cy="384048"/>
          </a:xfrm>
          <a:prstGeom prst="round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400" dirty="0"/>
              <a:t>1.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581912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26080" y="1581912"/>
            <a:ext cx="8321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500" b="0">
                <a:solidFill>
                  <a:srgbClr val="2D372A"/>
                </a:solidFill>
              </a:defRPr>
            </a:pPr>
            <a:r>
              <a:rPr sz="2000" dirty="0"/>
              <a:t>Milo is ________.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50008"/>
            <a:ext cx="2057400" cy="384048"/>
          </a:xfrm>
          <a:prstGeom prst="roundRect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400" dirty="0"/>
              <a:t>2.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3172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26080" y="2331720"/>
            <a:ext cx="8321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500" b="0">
                <a:solidFill>
                  <a:srgbClr val="2D372A"/>
                </a:solidFill>
              </a:defRPr>
            </a:pPr>
            <a:r>
              <a:rPr sz="2000" dirty="0"/>
              <a:t>The text shows that he ________.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7818" y="3099815"/>
            <a:ext cx="2343942" cy="384048"/>
          </a:xfrm>
          <a:prstGeom prst="roundRect">
            <a:avLst/>
          </a:prstGeom>
          <a:solidFill>
            <a:srgbClr val="7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400" dirty="0"/>
              <a:t>3. EXPLANATION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081527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26080" y="3081527"/>
            <a:ext cx="8321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500" b="0">
                <a:solidFill>
                  <a:srgbClr val="2D372A"/>
                </a:solidFill>
              </a:defRPr>
            </a:pPr>
            <a:r>
              <a:rPr sz="2000" dirty="0"/>
              <a:t>This shows that ________.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5802" y="3849624"/>
            <a:ext cx="2515958" cy="384048"/>
          </a:xfrm>
          <a:prstGeom prst="roundRect">
            <a:avLst/>
          </a:prstGeom>
          <a:solidFill>
            <a:srgbClr val="BE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400" dirty="0"/>
              <a:t>4. CONSEQUENCE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831336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926080" y="3831336"/>
            <a:ext cx="8321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500" b="0">
                <a:solidFill>
                  <a:srgbClr val="2D372A"/>
                </a:solidFill>
              </a:defRPr>
            </a:pPr>
            <a:r>
              <a:rPr sz="2000" dirty="0"/>
              <a:t>As a result, ________.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0" y="4599431"/>
            <a:ext cx="2651760" cy="384048"/>
          </a:xfrm>
          <a:prstGeom prst="roundRect">
            <a:avLst/>
          </a:prstGeom>
          <a:solidFill>
            <a:srgbClr val="99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000" dirty="0"/>
              <a:t>5. WHY IT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581144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926080" y="4581144"/>
            <a:ext cx="8321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500" b="0">
                <a:solidFill>
                  <a:srgbClr val="2D372A"/>
                </a:solidFill>
              </a:defRPr>
            </a:pPr>
            <a:r>
              <a:rPr sz="2000" dirty="0"/>
              <a:t>This matters because ________.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4400" y="5623560"/>
            <a:ext cx="10241280" cy="594360"/>
          </a:xfrm>
          <a:prstGeom prst="roundRect">
            <a:avLst/>
          </a:prstGeom>
          <a:solidFill>
            <a:srgbClr val="ECF4E2"/>
          </a:solidFill>
          <a:ln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ctr">
              <a:defRPr sz="1500" b="1">
                <a:solidFill>
                  <a:srgbClr val="2D372A"/>
                </a:solidFill>
              </a:defRPr>
            </a:pPr>
            <a:r>
              <a:rPr sz="2000" dirty="0"/>
              <a:t>PARTNER RULE: Your partner must ask “How do you know?” before you move to the next box.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38034"/>
                </a:solidFill>
              </a:defRPr>
            </a:pPr>
            <a: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C655A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2A"/>
                </a:solidFill>
              </a:defRPr>
            </a:pPr>
            <a:r>
              <a:t>✍️ MODEL: DEVELOPED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617829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55A"/>
                </a:solidFill>
              </a:defRPr>
            </a:pPr>
            <a:r>
              <a:rPr sz="2000" dirty="0"/>
              <a:t>Watch how a strong answer grows beyond a simple label.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10652760" cy="594360"/>
          </a:xfrm>
          <a:prstGeom prst="roundRect">
            <a:avLst/>
          </a:prstGeom>
          <a:solidFill>
            <a:srgbClr val="538034"/>
          </a:solidFill>
          <a:ln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Question: What does Milo teach us about preparing for the future?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60320"/>
            <a:ext cx="1508760" cy="384048"/>
          </a:xfrm>
          <a:prstGeom prst="round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400" dirty="0"/>
              <a:t>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542032"/>
            <a:ext cx="8778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14600" y="2542032"/>
            <a:ext cx="8778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400" b="0">
                <a:solidFill>
                  <a:srgbClr val="2D372A"/>
                </a:solidFill>
              </a:defRPr>
            </a:pPr>
            <a:r>
              <a:rPr sz="2400" dirty="0"/>
              <a:t>Milo is industrious and responsible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8063" y="3172968"/>
            <a:ext cx="1643657" cy="384048"/>
          </a:xfrm>
          <a:prstGeom prst="roundRect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400" dirty="0"/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154679"/>
            <a:ext cx="8778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514599" y="3154679"/>
            <a:ext cx="9417867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400" b="0">
                <a:solidFill>
                  <a:srgbClr val="2D372A"/>
                </a:solidFill>
              </a:defRPr>
            </a:pPr>
            <a:r>
              <a:rPr sz="2000" dirty="0"/>
              <a:t>because he repeatedly collects acorns and stores them before the cold weather arrives.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85615"/>
            <a:ext cx="1828800" cy="384048"/>
          </a:xfrm>
          <a:prstGeom prst="roundRect">
            <a:avLst/>
          </a:prstGeom>
          <a:solidFill>
            <a:srgbClr val="7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000" dirty="0"/>
              <a:t>EXPLANATION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767328"/>
            <a:ext cx="8778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514600" y="3767328"/>
            <a:ext cx="8778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400" b="0">
                <a:solidFill>
                  <a:srgbClr val="2D372A"/>
                </a:solidFill>
              </a:defRPr>
            </a:pPr>
            <a:r>
              <a:rPr sz="2000" dirty="0"/>
              <a:t>This shows that he thinks ahead instead of only enjoying the present.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8764" y="4398264"/>
            <a:ext cx="2032956" cy="384048"/>
          </a:xfrm>
          <a:prstGeom prst="roundRect">
            <a:avLst/>
          </a:prstGeom>
          <a:solidFill>
            <a:srgbClr val="BE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000" dirty="0"/>
              <a:t>CONSEQUENCE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379976"/>
            <a:ext cx="8778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514600" y="4379976"/>
            <a:ext cx="8778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400" b="0">
                <a:solidFill>
                  <a:srgbClr val="2D372A"/>
                </a:solidFill>
              </a:defRPr>
            </a:pPr>
            <a:r>
              <a:rPr sz="2000" dirty="0"/>
              <a:t>As a result, he has provisions when food becomes </a:t>
            </a:r>
            <a:r>
              <a:rPr lang="en-US" sz="2000" dirty="0"/>
              <a:t>barren</a:t>
            </a:r>
            <a:r>
              <a:rPr sz="2000" dirty="0"/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855" y="5010912"/>
            <a:ext cx="2186865" cy="384048"/>
          </a:xfrm>
          <a:prstGeom prst="roundRect">
            <a:avLst/>
          </a:prstGeom>
          <a:solidFill>
            <a:srgbClr val="99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000" dirty="0"/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992624"/>
            <a:ext cx="8778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514600" y="4992624"/>
            <a:ext cx="8778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400" b="0">
                <a:solidFill>
                  <a:srgbClr val="2D372A"/>
                </a:solidFill>
              </a:defRPr>
            </a:pPr>
            <a:r>
              <a:rPr sz="2000" dirty="0"/>
              <a:t>This matters because preparing early can help us deal with problems later.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7955" y="5693855"/>
            <a:ext cx="8674169" cy="590931"/>
          </a:xfrm>
          <a:prstGeom prst="rect">
            <a:avLst/>
          </a:prstGeom>
          <a:noFill/>
        </p:spPr>
        <p:txBody>
          <a:bodyPr wrap="none" lIns="109728" tIns="109728" rIns="109728" bIns="109728" anchor="ctr">
            <a:spAutoFit/>
          </a:bodyPr>
          <a:lstStyle/>
          <a:p>
            <a:pPr algn="ctr">
              <a:defRPr sz="1400" b="1">
                <a:solidFill>
                  <a:srgbClr val="538034"/>
                </a:solidFill>
              </a:defRPr>
            </a:pPr>
            <a:r>
              <a:rPr sz="2400" dirty="0"/>
              <a:t>NOTICE: trait → evidence → explanation → consequence → lesson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38034"/>
                </a:solidFill>
              </a:defRPr>
            </a:pPr>
            <a:r>
              <a:t>INDEPENDENT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C655A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2A"/>
                </a:solidFill>
              </a:defRPr>
            </a:pPr>
            <a:r>
              <a:t>✍️ YOUR TURN: FABLE DETECTIVE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27687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55A"/>
                </a:solidFill>
              </a:defRPr>
            </a:pPr>
            <a:r>
              <a:rPr sz="2400" dirty="0"/>
              <a:t>Choose Milo OR Kiki.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640080"/>
          </a:xfrm>
          <a:prstGeom prst="roundRect">
            <a:avLst/>
          </a:prstGeom>
          <a:solidFill>
            <a:srgbClr val="FFEFDB"/>
          </a:solidFill>
          <a:ln>
            <a:solidFill>
              <a:srgbClr val="E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ctr">
              <a:defRPr sz="2000" b="1">
                <a:solidFill>
                  <a:srgbClr val="2D372A"/>
                </a:solidFill>
              </a:defRPr>
            </a:pPr>
            <a:r>
              <a:t>What does your chosen character teach us about preparing for the future?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5427"/>
            <a:ext cx="5212080" cy="273949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538034"/>
                </a:solidFill>
              </a:defRPr>
            </a:pPr>
            <a:r>
              <a:rPr sz="2400" dirty="0"/>
              <a:t>WRITE 4 CONNECTED SENTENCES</a:t>
            </a:r>
          </a:p>
          <a:p>
            <a:pPr>
              <a:spcBef>
                <a:spcPts val="600"/>
              </a:spcBef>
              <a:defRPr sz="1500">
                <a:solidFill>
                  <a:srgbClr val="2D372A"/>
                </a:solidFill>
              </a:defRPr>
            </a:pPr>
            <a:r>
              <a:rPr sz="2400" dirty="0"/>
              <a:t>You must include:</a:t>
            </a:r>
            <a:br>
              <a:rPr sz="2400" dirty="0"/>
            </a:br>
            <a:r>
              <a:rPr sz="2400" dirty="0"/>
              <a:t>☐ a clear character trait</a:t>
            </a:r>
            <a:br>
              <a:rPr sz="2400" dirty="0"/>
            </a:br>
            <a:r>
              <a:rPr sz="2400" dirty="0"/>
              <a:t>☐ one accurate piece of evidence</a:t>
            </a:r>
            <a:br>
              <a:rPr sz="2400" dirty="0"/>
            </a:br>
            <a:r>
              <a:rPr sz="2400" dirty="0"/>
              <a:t>☐ an explanation of what it shows</a:t>
            </a:r>
            <a:br>
              <a:rPr sz="2400" dirty="0"/>
            </a:br>
            <a:r>
              <a:rPr sz="2400" dirty="0"/>
              <a:t>☐ a consequence / why it matters</a:t>
            </a:r>
            <a:br>
              <a:rPr sz="2400" dirty="0"/>
            </a:br>
            <a:r>
              <a:rPr sz="2400" dirty="0"/>
              <a:t>☐ ONE new vocabulary 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335427"/>
            <a:ext cx="5212080" cy="273949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EF8936"/>
                </a:solidFill>
              </a:defRPr>
            </a:pPr>
            <a:r>
              <a:rPr sz="2400" dirty="0"/>
              <a:t>HELPFUL STARTERS</a:t>
            </a:r>
          </a:p>
          <a:p>
            <a:pPr>
              <a:spcBef>
                <a:spcPts val="600"/>
              </a:spcBef>
              <a:defRPr sz="1500">
                <a:solidFill>
                  <a:srgbClr val="2D372A"/>
                </a:solidFill>
              </a:defRPr>
            </a:pPr>
            <a:r>
              <a:rPr sz="2400" dirty="0"/>
              <a:t>_____ is _____ because...</a:t>
            </a:r>
            <a:br>
              <a:rPr sz="2400" dirty="0"/>
            </a:br>
            <a:r>
              <a:rPr sz="2400" dirty="0"/>
              <a:t>For example, the text shows...</a:t>
            </a:r>
            <a:br>
              <a:rPr sz="2400" dirty="0"/>
            </a:br>
            <a:r>
              <a:rPr sz="2400" dirty="0"/>
              <a:t>This shows that...</a:t>
            </a:r>
            <a:br>
              <a:rPr sz="2400" dirty="0"/>
            </a:br>
            <a:r>
              <a:rPr sz="2400" dirty="0"/>
              <a:t>As a result...</a:t>
            </a:r>
            <a:br>
              <a:rPr sz="2400" dirty="0"/>
            </a:br>
            <a:r>
              <a:rPr sz="2400" dirty="0"/>
              <a:t>This matters because...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5440680"/>
            <a:ext cx="10241280" cy="640080"/>
          </a:xfrm>
          <a:prstGeom prst="roundRect">
            <a:avLst/>
          </a:prstGeom>
          <a:solidFill>
            <a:srgbClr val="E6F1F7"/>
          </a:solidFill>
          <a:ln>
            <a:solidFill>
              <a:srgbClr val="74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ctr">
              <a:defRPr sz="1500" b="1">
                <a:solidFill>
                  <a:srgbClr val="745B91"/>
                </a:solidFill>
              </a:defRPr>
            </a:pPr>
            <a:r>
              <a:rPr sz="2000" dirty="0"/>
              <a:t>CHALLENGE: Add a second piece of evidence and explain why it strengthens your idea.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38034"/>
                </a:solidFill>
              </a:defRPr>
            </a:pPr>
            <a:r>
              <a:t>SELF-CHECK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C655A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2A"/>
                </a:solidFill>
              </a:defRPr>
            </a:pPr>
            <a:r>
              <a:t>✅ EDIT &amp;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619323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55A"/>
                </a:solidFill>
              </a:defRPr>
            </a:pPr>
            <a:r>
              <a:rPr sz="2400" b="1" dirty="0"/>
              <a:t>Before you hand it in, become your own editor.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5029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2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600" b="0">
                <a:solidFill>
                  <a:srgbClr val="2D372A"/>
                </a:solidFill>
              </a:defRPr>
            </a:pPr>
            <a:r>
              <a:rPr sz="2000" dirty="0"/>
              <a:t>☐ I named a clear character trait.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2788920"/>
            <a:ext cx="5029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2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600" b="0">
                <a:solidFill>
                  <a:srgbClr val="2D372A"/>
                </a:solidFill>
              </a:defRPr>
            </a:pPr>
            <a:r>
              <a:rPr sz="2000" dirty="0"/>
              <a:t>☐ My evidence is accurate and comes from the 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79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3840479"/>
            <a:ext cx="5029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2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600" b="0">
                <a:solidFill>
                  <a:srgbClr val="2D372A"/>
                </a:solidFill>
              </a:defRPr>
            </a:pPr>
            <a:r>
              <a:rPr sz="2000" dirty="0"/>
              <a:t>☐ I explained what the evidence shows.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3736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5029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2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600" b="0">
                <a:solidFill>
                  <a:srgbClr val="2D372A"/>
                </a:solidFill>
              </a:defRPr>
            </a:pPr>
            <a:r>
              <a:rPr sz="2000" dirty="0"/>
              <a:t>☐ I included a consequence or explained why it matters</a:t>
            </a:r>
            <a:r>
              <a:rPr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889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17920" y="2788920"/>
            <a:ext cx="5029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2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600" b="0">
                <a:solidFill>
                  <a:srgbClr val="2D372A"/>
                </a:solidFill>
              </a:defRPr>
            </a:pPr>
            <a:r>
              <a:rPr sz="2000" dirty="0"/>
              <a:t>☐ I used at least ONE new vocabulary word accurately.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840479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79"/>
            <a:ext cx="5029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2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600" b="0">
                <a:solidFill>
                  <a:srgbClr val="2D372A"/>
                </a:solidFill>
              </a:defRPr>
            </a:pPr>
            <a:r>
              <a:rPr sz="2000" dirty="0"/>
              <a:t>☐ My sentences are complete and punctuated.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166360"/>
            <a:ext cx="8503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828800" y="5166360"/>
            <a:ext cx="8503920" cy="685800"/>
          </a:xfrm>
          <a:prstGeom prst="roundRect">
            <a:avLst/>
          </a:prstGeom>
          <a:solidFill>
            <a:srgbClr val="ECF4E2"/>
          </a:solidFill>
          <a:ln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ctr">
              <a:defRPr sz="1800" b="1">
                <a:solidFill>
                  <a:srgbClr val="538034"/>
                </a:solidFill>
              </a:defRPr>
            </a:pPr>
            <a:r>
              <a:t>⭐ GOLDEN RULE: Don't just tell me what happened. Tell me what it shows.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38034"/>
                </a:solidFill>
              </a:defRPr>
            </a:pPr>
            <a:r>
              <a:t>ANSWER /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C655A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2A"/>
                </a:solidFill>
              </a:defRPr>
            </a:pPr>
            <a:r>
              <a:t>🧠 MODEL ANSWER: KIKI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96193"/>
            <a:ext cx="38715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55A"/>
                </a:solidFill>
              </a:defRPr>
            </a:pPr>
            <a:r>
              <a:rPr sz="2400" dirty="0"/>
              <a:t>One possible strong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>
              <a:defRPr sz="1700" b="0">
                <a:solidFill>
                  <a:srgbClr val="2D372A"/>
                </a:solidFill>
              </a:defRPr>
            </a:pPr>
            <a:r>
              <a:rPr sz="2800" dirty="0"/>
              <a:t>Kiki is unprepared because she spends the warm afternoons enjoying herself instead of preparing for colder weather. When food </a:t>
            </a:r>
            <a:r>
              <a:rPr sz="2800"/>
              <a:t>becomes </a:t>
            </a:r>
            <a:r>
              <a:rPr lang="en-US" sz="2800"/>
              <a:t>barren</a:t>
            </a:r>
            <a:r>
              <a:rPr sz="2800"/>
              <a:t>, </a:t>
            </a:r>
            <a:r>
              <a:rPr sz="2800" dirty="0"/>
              <a:t>she searches everywhere but finds very little to eat. This shows that her earlier choice has a consequence. It matters because preparing for a future problem can prevent difficulties later. Kiki's experience teaches us that we should not ignore sensible advice.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9410" y="5155239"/>
            <a:ext cx="1371600" cy="384048"/>
          </a:xfrm>
          <a:prstGeom prst="round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400" dirty="0"/>
              <a:t>TRAIT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74643" y="5143500"/>
            <a:ext cx="1508760" cy="384048"/>
          </a:xfrm>
          <a:prstGeom prst="roundRect">
            <a:avLst/>
          </a:prstGeom>
          <a:solidFill>
            <a:srgbClr val="E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400" dirty="0"/>
              <a:t>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219" y="5155239"/>
            <a:ext cx="1973115" cy="384048"/>
          </a:xfrm>
          <a:prstGeom prst="roundRect">
            <a:avLst/>
          </a:prstGeom>
          <a:solidFill>
            <a:srgbClr val="7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000" dirty="0"/>
              <a:t>EXPLANATION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6967" y="5143500"/>
            <a:ext cx="1973115" cy="429768"/>
          </a:xfrm>
          <a:prstGeom prst="roundRect">
            <a:avLst/>
          </a:prstGeom>
          <a:solidFill>
            <a:srgbClr val="BE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2000" dirty="0"/>
              <a:t>CONSEQUENCE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3715" y="5155239"/>
            <a:ext cx="1828800" cy="384048"/>
          </a:xfrm>
          <a:prstGeom prst="roundRect">
            <a:avLst/>
          </a:prstGeom>
          <a:solidFill>
            <a:srgbClr val="99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372A"/>
                </a:solidFill>
              </a:defRPr>
            </a:pPr>
            <a:r>
              <a:rPr sz="2400" dirty="0"/>
              <a:t>LESSON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3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38034"/>
                </a:solidFill>
              </a:defRPr>
            </a:pPr>
            <a:r>
              <a:t>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C655A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2A"/>
                </a:solidFill>
              </a:defRPr>
            </a:pPr>
            <a:r>
              <a:t>🚪 EXIT TICKET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590668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55A"/>
                </a:solidFill>
              </a:defRPr>
            </a:pPr>
            <a:r>
              <a:rPr sz="2400" dirty="0"/>
              <a:t>One minute. Show what you now understand.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737360"/>
            <a:ext cx="3688576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538034"/>
                </a:solidFill>
              </a:defRPr>
            </a:pPr>
            <a:r>
              <a:rPr dirty="0"/>
              <a:t>1</a:t>
            </a:r>
          </a:p>
          <a:p>
            <a:pPr>
              <a:spcBef>
                <a:spcPts val="600"/>
              </a:spcBef>
              <a:defRPr sz="1800">
                <a:solidFill>
                  <a:srgbClr val="2D372A"/>
                </a:solidFill>
              </a:defRPr>
            </a:pPr>
            <a:r>
              <a:rPr sz="2800" dirty="0"/>
              <a:t>A fable teaches us __________.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88576" y="1737360"/>
            <a:ext cx="4358143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EF8936"/>
                </a:solidFill>
              </a:defRPr>
            </a:pPr>
            <a:r>
              <a:rPr sz="2400" dirty="0"/>
              <a:t>2</a:t>
            </a:r>
          </a:p>
          <a:p>
            <a:pPr>
              <a:spcBef>
                <a:spcPts val="600"/>
              </a:spcBef>
              <a:defRPr sz="1800">
                <a:solidFill>
                  <a:srgbClr val="2D372A"/>
                </a:solidFill>
              </a:defRPr>
            </a:pPr>
            <a:r>
              <a:rPr sz="2400" dirty="0"/>
              <a:t>One new word I learned is __________.</a:t>
            </a:r>
            <a:br>
              <a:rPr sz="2400" dirty="0"/>
            </a:br>
            <a:r>
              <a:rPr sz="2400" dirty="0"/>
              <a:t>It means __________.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41452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defRPr sz="1600" b="1">
                <a:solidFill>
                  <a:srgbClr val="745B91"/>
                </a:solidFill>
              </a:defRPr>
            </a:pPr>
            <a:r>
              <a:rPr sz="2400" dirty="0"/>
              <a:t>3</a:t>
            </a:r>
          </a:p>
          <a:p>
            <a:pPr>
              <a:spcBef>
                <a:spcPts val="600"/>
              </a:spcBef>
              <a:defRPr sz="1800">
                <a:solidFill>
                  <a:srgbClr val="2D372A"/>
                </a:solidFill>
              </a:defRPr>
            </a:pPr>
            <a:r>
              <a:rPr sz="2400" dirty="0"/>
              <a:t>Milo/Kiki teaches us __________ because __________.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4800600"/>
            <a:ext cx="10241280" cy="685800"/>
          </a:xfrm>
          <a:prstGeom prst="roundRect">
            <a:avLst/>
          </a:prstGeom>
          <a:solidFill>
            <a:srgbClr val="ECF4E2"/>
          </a:solidFill>
          <a:ln>
            <a:solidFill>
              <a:srgbClr val="53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ctr">
              <a:defRPr sz="1500" b="1">
                <a:solidFill>
                  <a:srgbClr val="2D372A"/>
                </a:solidFill>
              </a:defRPr>
            </a:pPr>
            <a:r>
              <a:rPr sz="2000" dirty="0"/>
              <a:t>BONUS: Use “so”, “as a result” or “because” to show cause and consequence.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1497</Words>
  <Application>Microsoft Office PowerPoint</Application>
  <PresentationFormat>Widescreen</PresentationFormat>
  <Paragraphs>196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</dc:creator>
  <cp:keywords/>
  <dc:description>generated using python-pptx</dc:description>
  <cp:lastModifiedBy>pc</cp:lastModifiedBy>
  <cp:revision>6</cp:revision>
  <dcterms:created xsi:type="dcterms:W3CDTF">2013-01-27T09:14:16Z</dcterms:created>
  <dcterms:modified xsi:type="dcterms:W3CDTF">2026-09-24T19:12:02Z</dcterms:modified>
  <cp:category/>
</cp:coreProperties>
</file>