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84" r:id="rId12"/>
    <p:sldId id="285" r:id="rId13"/>
    <p:sldId id="286" r:id="rId14"/>
    <p:sldId id="287" r:id="rId15"/>
    <p:sldId id="266" r:id="rId16"/>
    <p:sldId id="288" r:id="rId17"/>
    <p:sldId id="289" r:id="rId18"/>
    <p:sldId id="290" r:id="rId19"/>
    <p:sldId id="291" r:id="rId20"/>
    <p:sldId id="292" r:id="rId21"/>
    <p:sldId id="293" r:id="rId22"/>
    <p:sldId id="294" r:id="rId23"/>
    <p:sldId id="295"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81D2DC63-3FC7-3A6F-DDC9-49B44CDC2208}">
          <p14:sldIdLst>
            <p14:sldId id="256"/>
            <p14:sldId id="257"/>
            <p14:sldId id="258"/>
            <p14:sldId id="259"/>
            <p14:sldId id="260"/>
          </p14:sldIdLst>
        </p14:section>
        <p14:section name="Part 1: Features" id="{818E128F-1168-A42F-B271-CF3508D9C2B7}">
          <p14:sldIdLst>
            <p14:sldId id="261"/>
            <p14:sldId id="262"/>
            <p14:sldId id="263"/>
            <p14:sldId id="264"/>
            <p14:sldId id="265"/>
            <p14:sldId id="284"/>
            <p14:sldId id="285"/>
            <p14:sldId id="286"/>
            <p14:sldId id="287"/>
            <p14:sldId id="266"/>
            <p14:sldId id="288"/>
          </p14:sldIdLst>
        </p14:section>
        <p14:section name="Part 2: Words" id="{5C5693E7-6A98-5671-40FB-BB41142C068B}">
          <p14:sldIdLst>
            <p14:sldId id="289"/>
            <p14:sldId id="290"/>
            <p14:sldId id="291"/>
            <p14:sldId id="292"/>
            <p14:sldId id="293"/>
            <p14:sldId id="294"/>
            <p14:sldId id="295"/>
            <p14:sldId id="267"/>
            <p14:sldId id="268"/>
            <p14:sldId id="269"/>
            <p14:sldId id="270"/>
            <p14:sldId id="271"/>
            <p14:sldId id="272"/>
            <p14:sldId id="273"/>
            <p14:sldId id="274"/>
            <p14:sldId id="275"/>
            <p14:sldId id="276"/>
            <p14:sldId id="277"/>
            <p14:sldId id="278"/>
            <p14:sldId id="279"/>
            <p14:sldId id="280"/>
            <p14:sldId id="281"/>
            <p14:sldId id="282"/>
          </p14:sldIdLst>
        </p14:section>
        <p14:section name="Part 3: Point of view" id="{AFACE0AB-FF96-C969-6613-88034C6333FF}">
          <p14:sldIdLst/>
        </p14:section>
        <p14:section name="Part 4: Scan" id="{7970A93C-9E26-A3F4-A377-40731CAE4A55}">
          <p14:sldIdLst>
            <p14:sldId id="296"/>
            <p14:sldId id="297"/>
            <p14:sldId id="298"/>
            <p14:sldId id="299"/>
            <p14:sldId id="300"/>
            <p14:sldId id="301"/>
            <p14:sldId id="302"/>
            <p14:sldId id="303"/>
            <p14:sldId id="304"/>
          </p14:sldIdLst>
        </p14:section>
        <p14:section name="Wrap-up" id="{801A02CC-2DB4-5724-726C-8788DE38B561}">
          <p14:sldIdLst>
            <p14:sldId id="305"/>
            <p14:sldId id="306"/>
            <p14:sldId id="30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5" d="100"/>
          <a:sy n="115" d="100"/>
        </p:scale>
        <p:origin x="68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9166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2 · Lesson 2.8 'Biographies' (textbook pages 51+). Text: 'Astronaut Samantha Cristoforetti' by Year 5 learners, Hillside School. Flow: Getting started → Part 1 features → Part 2 words → Part 3 point of view → Part 4 scan → exit ticket and homework. Lesson 2.8 Part 2 (a separate deck) covers the extra material: Poorna Malavath, chronological order and time connectives.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 aloud. Students self-assess against these steps at the end of the lesson.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as a class (about 5 minutes). Take feedback and write headings on the board. Link Q2 to the sections used in the biography they are about to read.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sensible answers. Q1: a biography is written by someone else (third person); an autobiography is written by the person themselves (first person). Q2 headings will vary.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from the other book (page 26): 'a record of the events in a person's life from the viewpoint of an author'. Introduce the concept and ALL the features here, before students read Samantha's biography. Students then find these features in the text (Activity 1) and learn which pronouns show the viewpoint (Part 3). In Part 2 they find the same features in a second biography, Poorna Malavath. Note: the photograph in the textbook extract has no visible caption.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Activity 1: skim read the text 'Astronaut Samantha Cristoforetti' and discuss the questions, then decide which statements about biographies are true. Then students learn how the point of view (third or first person) is shown by pronouns (Activity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Skimming = reading quickly to get the main idea, not every word. Give students 2 minutes. They look at the title, author, first line, headings and the photo, then discuss: who is it about, what kind of text is it, how is it organised?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heading to the job that section does. Point out that each section is a paragraph on a different part of Samantha's life, and that the sections follow a logical order: past → present → future.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1a. Pairs discuss and decide, then feedback with a reason from the text.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TRUE (events follow a time order: born 1977, graduated 2001, selected 2009, launched 2014). 2 TRUE (headings). 3 FALSE: past tense for past events (was born, graduated, launched); future tense only in 'Future plans'. 4 TRUE. 5 FALSE: formal language. 6 FALSE: third person (she, her).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Language focus (page 53). Read both boxes together. Stress that the point of view is shown by the pronouns the writer chooses.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of view has two parts. Part 1 (who is telling the story: first or third person) is answered by the pronouns. Part 2 (how the writer feels) is shown through word choice and which facts are included – this is needed for Activity 3f. The wording of this slide is ours.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three kinds with the Samantha examples. Subject pronouns do the action, object pronouns receive it, possessive pronouns show who owns something. The textbook list is: he, she, it, they, him, them, his, hers, theirs; 'her' is also a third-person pronoun. This is needed for Activities 2b and 2c.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 previous slide. First-person pronouns are used in an autobiography, a diary, a blog and social media posts written by the person. Link to Samantha's own post: 'I will miss Aquarius'.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short posts about Samantha's adventures (textbook page 52). Prompt: which post is written by Samantha herself? Answer: the one from Samantha Cristoforetti (21 Jun) – it uses first person: 'I will miss Aquarius'. The others are written by organisations about her, in the third person. This links to the point-of-view work in Part 3 and to Activity 3g (blog).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2a–b. Students re-read the text and answer.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Year 5 learners at Hillside School (stated under the title). b) Examples: 'She was born in Milan'; 'she set the European record'; 'her 38th birthday'; 'she was selected'; 'she launched into space'; 'her current challenge'; 'She believes anything is possible'. 'her' is also a third-person pronoun. There are no first-person pronouns except inside the final quotation, which is Samantha's own words.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2c. Students copy the sentences into their notebooks and fill in the blanks. Answers on the next slide. Check the possessive pronouns (hers, theirs) and the object pronouns (them,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She / hers. 2) his. 3) theirs / they. 4) them / it. 5) it / it. Accept sensible alternatives where the sense is kept (e.g. 'she / hers' for item 1 follows 'her work').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Multiple-choice check. B: 'she' = third person, so this sentence belongs to a biography. A, C and D use first-person pronouns (I, we, my) so they belong to an autobiography.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Multiple-choice check. B: 'she' = third person, so this sentence belongs to a biography. A, C and D use first-person pronouns (I, we, my) so they belong to an autobiography.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Multiple-choice check. C uses the first-person pronoun 'I': it would appear in an autobiography. A, B and D describe Samantha from the outside (third person).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Multiple-choice check. C uses the first-person pronoun 'I': it would appear in an autobiography. A, B and D describe Samantha from the outside (third person).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two glossary words (ESA, aeronautics) and the three Activity 3e words (assign, conduct, launch) with Meet → Discover → Use. Definitions of ESA and aeronautics are the textbook glossary's; for assign, conduct and launch the textbook asks students to work out the meaning from context, so the definitions are ours.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tip box (page 52). Model with 'conducted' in 'she conducted experiments like keeping worms and insects alive'.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words: two glossary words and the three from Activity 3e (work out the meaning in context). Students also record any other new words in their spelling log.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air-uh-NAW-tiks. 'aero' = air; 'naut' = sailor (as in astronaut). Textbook glossary: 'the science of designing, building, and operating aircraft'.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air-uh-NAW-tiks. 'aero' = air; 'naut' = sailor (as in astronaut). Textbook glossary: 'the science of designing, building, and operating aircraft'.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letters: E-S-A. Textbook glossary: 'ESA: European Space Agency'. Compare: NASA = National Aeronautics and Space Administration (USA) – note the word 'Aeronautics' again.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letters: E-S-A. Textbook glossary: 'ESA: European Space Agency'. Compare: NASA = National Aeronautics and Space Administration (USA) – note the word 'Aeronautics' again.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uh-SIGHN (silent g). Word family: assign, assigned, assignment. Our definition (the book asks students to infer it).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uh-SIGHN (silent g). Word family: assign, assigned, assignment. Our definition (the book asks students to infer it).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 con-DUCT; noun: CON-duct (behaviour). Collocations: conduct an experiment / a survey / an interview. Our definition.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 con-DUCT; noun: CON-duct (behaviour). Collocations: conduct an experiment / a survey / an interview. Our definition.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met this word in Lesson 2.1: 'the USSR launched the first artificial satellite'. It can also mean 'to start' (launch a website). Our definition.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met this word in Lesson 2.1: 'the USSR launched the first artificial satellite'. It can also mean 'to start' (launch a website). Our definition.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other new words from the text and posts and add them to their spelling logs (Activity 3e). All definitions here are ours – check them against a dictionary.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each word into their spelling log and highlight the difficult letter groups (as in earlier lessons). Clap the syllables: aer-o-nau-tics (4), as-sign (2), con-duct (2), launch (1), E-S-A (3).</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models, then students write one sentence per word (five sentences). Check: capital letter, full stop, shows the meaning, past tense where needed.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scan the biography for details, then think about the writer's purpose and point of view. 3e (word meanings) was covered in Part 2.</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3a–d. Students scan the biography and answer in full sentences. Remind them to scan for keywords: 'born', dates, capital letters.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Samantha Cristoforetti, an ESA astronaut. She is alive: the text uses the present tense for her current work ('Samantha works at…') and talks about her future plans. b) 26 April 1977 in Milan, Italy. c) Facts: e.g. she graduated in 2001; she joined the Italian Air Force; she was selected as an ESA astronaut in May 2009; she has almost a million followers. Opinion: the conclusion 'Samantha is an inspiration to anyone wanting to follow their dreams' is an opinion (someone thinks it; it cannot be proved). d) Facts can be checked, so readers can trust the text; the purpose of a biography is to inform.</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3f. Pairs decide and find evidence. Model answer on the next slide. Link back to Part 3: point of view = who tells the story + how the writer feels.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a fan (admirer). The point of view is expressed through positive word choice ('dream came true', 'inspiration', 'anything is possible') and by including only achievements, with no criticism. It is written in the third person, so it does not show the writer's own life, but their admiration for Samantha. Accept any reasoned answer with evidence.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3g. Compare the biography with a timeline (see Lesson 2.1) and a blog (see Samantha's own social media post). Students describe the differences in terms of purpose, language and layout. Model answer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table. Accept any accurate comparison. Biography: purpose = inform readers about a person's life; formal, third person, past tense; headings and paragraphs. Timeline: shows key events in order; dates and key words; a line. Blog / social media: share personal experiences and opinions; informal, first person; dated posts.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3h. Students add the biography to their reading log and list other biographies they would like to read. A model entry is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reading-log entry. Students' versions will vary: check facts are accurate, new words are used correctly and the opinion has a reason.</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answer on a sticky note or mini whiteboard. Finish with the traffic-light self-assessment.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accurate answers. Q2: check the pronoun is third person (he, she, they, his, her...).</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homework (20–30 minutes). Tasks 1–3 compulsory; the challenge is optional. Model for task 3: 'I was born in Milan, Italy.' / 'I set the European record in 2015.' / 'I launched into space on 23 November 2014.'</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1"/>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2"/>
          </a:solidFill>
          <a:ln/>
        </p:spPr>
      </p:sp>
      <p:sp>
        <p:nvSpPr>
          <p:cNvPr id="3" name="Text 1"/>
          <p:cNvSpPr/>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chemeClr val="accent4"/>
                </a:solidFill>
              </a:rPr>
              <a:t>Year 5 · Unit 2 · Lesson 2.8 · Part 1 · Biographies</a:t>
            </a:r>
            <a:endParaRPr lang="en-US" sz="1000" dirty="0"/>
          </a:p>
        </p:txBody>
      </p:sp>
      <p:sp>
        <p:nvSpPr>
          <p:cNvPr id="4" name="Text 2"/>
          <p:cNvSpPr>
            <a:spLocks noGrp="1"/>
          </p:cNvSpPr>
          <p:nvPr>
            <p:ph type="title" idx="104" hasCustomPrompt="1"/>
          </p:nvPr>
        </p:nvSpPr>
        <p:spPr>
          <a:xfrm>
            <a:off x="457200" y="274320"/>
            <a:ext cx="694944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NSW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chemeClr val="accent6"/>
                </a:solidFill>
              </a:rPr>
              <a:t>Year 5 · Unit 2 · Lesson 2.8 · Part 1 · Biographies</a:t>
            </a:r>
            <a:endParaRPr lang="en-US" sz="1000" dirty="0"/>
          </a:p>
        </p:txBody>
      </p:sp>
      <p:sp>
        <p:nvSpPr>
          <p:cNvPr id="4" name="Text 2"/>
          <p:cNvSpPr>
            <a:spLocks noGrp="1"/>
          </p:cNvSpPr>
          <p:nvPr>
            <p:ph type="title" idx="104" hasCustomPrompt="1"/>
          </p:nvPr>
        </p:nvSpPr>
        <p:spPr>
          <a:xfrm>
            <a:off x="457200" y="274320"/>
            <a:ext cx="6949440" cy="640080"/>
          </a:xfrm>
          <a:prstGeom prst="rect">
            <a:avLst/>
          </a:prstGeom>
          <a:noFill/>
          <a:ln/>
        </p:spPr>
        <p:txBody>
          <a:bodyPr wrap="square" rtlCol="0"/>
          <a:lstStyle>
            <a:lvl1pPr marL="0" indent="0" algn="l">
              <a:buNone/>
              <a:defRPr lang="en-US" sz="3000" b="1" dirty="0">
                <a:solidFill>
                  <a:schemeClr val="accent5"/>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1"/>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esson chip"/>
          <p:cNvSpPr/>
          <p:nvPr/>
        </p:nvSpPr>
        <p:spPr>
          <a:xfrm>
            <a:off x="640080" y="594360"/>
            <a:ext cx="3566160" cy="347472"/>
          </a:xfrm>
          <a:prstGeom prst="roundRect">
            <a:avLst>
              <a:gd name="adj" fmla="val 31579"/>
            </a:avLst>
          </a:prstGeom>
          <a:solidFill>
            <a:schemeClr val="accent1"/>
          </a:solidFill>
          <a:ln w="9525">
            <a:solidFill>
              <a:schemeClr val="accent1"/>
            </a:solidFill>
            <a:prstDash val="solid"/>
          </a:ln>
        </p:spPr>
      </p:sp>
      <p:sp>
        <p:nvSpPr>
          <p:cNvPr id="3" name="Text 1"/>
          <p:cNvSpPr txBox="1"/>
          <p:nvPr/>
        </p:nvSpPr>
        <p:spPr>
          <a:xfrm>
            <a:off x="640080" y="594360"/>
            <a:ext cx="3566160" cy="347472"/>
          </a:xfrm>
          <a:prstGeom prst="rect">
            <a:avLst/>
          </a:prstGeom>
          <a:noFill/>
          <a:ln/>
        </p:spPr>
        <p:txBody>
          <a:bodyPr wrap="square" lIns="0" tIns="0" rIns="0" bIns="0" rtlCol="0" anchor="ctr"/>
          <a:lstStyle/>
          <a:p>
            <a:pPr marL="0" indent="0" algn="ctr">
              <a:buNone/>
            </a:pPr>
            <a:r>
              <a:rPr lang="en-US" sz="1300" b="1" dirty="0">
                <a:solidFill>
                  <a:schemeClr val="tx1"/>
                </a:solidFill>
              </a:rPr>
              <a:t>YEAR 5 · UNIT 2 · LESSON 2.8 · PART 1</a:t>
            </a:r>
            <a:endParaRPr lang="en-US" sz="1300" dirty="0"/>
          </a:p>
        </p:txBody>
      </p:sp>
      <p:sp>
        <p:nvSpPr>
          <p:cNvPr id="4" name="Text 2"/>
          <p:cNvSpPr txBox="1"/>
          <p:nvPr/>
        </p:nvSpPr>
        <p:spPr>
          <a:xfrm>
            <a:off x="640080" y="1188720"/>
            <a:ext cx="4572000" cy="1097280"/>
          </a:xfrm>
          <a:prstGeom prst="rect">
            <a:avLst/>
          </a:prstGeom>
          <a:noFill/>
          <a:ln/>
        </p:spPr>
        <p:txBody>
          <a:bodyPr wrap="square" lIns="0" tIns="0" rIns="0" bIns="0" rtlCol="0" anchor="t"/>
          <a:lstStyle/>
          <a:p>
            <a:pPr marL="0" indent="0">
              <a:buNone/>
            </a:pPr>
            <a:r>
              <a:rPr lang="en-US" sz="4600" b="1" dirty="0">
                <a:solidFill>
                  <a:schemeClr val="accent5"/>
                </a:solidFill>
                <a:latin typeface="+mj-lt" pitchFamily="34" charset="0"/>
                <a:ea typeface="+mj-lt" pitchFamily="34" charset="-122"/>
                <a:cs typeface="+mj-lt" pitchFamily="34" charset="-120"/>
              </a:rPr>
              <a:t>Biographies</a:t>
            </a:r>
            <a:endParaRPr lang="en-US" sz="4600" dirty="0"/>
          </a:p>
        </p:txBody>
      </p:sp>
      <p:sp>
        <p:nvSpPr>
          <p:cNvPr id="5" name="Text 3"/>
          <p:cNvSpPr txBox="1"/>
          <p:nvPr/>
        </p:nvSpPr>
        <p:spPr>
          <a:xfrm>
            <a:off x="640080" y="2468880"/>
            <a:ext cx="4389120" cy="822960"/>
          </a:xfrm>
          <a:prstGeom prst="rect">
            <a:avLst/>
          </a:prstGeom>
          <a:noFill/>
          <a:ln/>
        </p:spPr>
        <p:txBody>
          <a:bodyPr wrap="square" lIns="0" tIns="0" rIns="0" bIns="0" rtlCol="0" anchor="t"/>
          <a:lstStyle/>
          <a:p>
            <a:pPr marL="0" indent="0">
              <a:buNone/>
            </a:pPr>
            <a:r>
              <a:rPr lang="en-US" sz="1800" i="1" dirty="0">
                <a:solidFill>
                  <a:schemeClr val="bg1"/>
                </a:solidFill>
              </a:rPr>
              <a:t>Features of a biography and the point of view of the writer</a:t>
            </a:r>
            <a:endParaRPr lang="en-US" sz="1800" dirty="0"/>
          </a:p>
        </p:txBody>
      </p:sp>
      <p:sp>
        <p:nvSpPr>
          <p:cNvPr id="6" name="Objectives panel"/>
          <p:cNvSpPr/>
          <p:nvPr/>
        </p:nvSpPr>
        <p:spPr>
          <a:xfrm>
            <a:off x="5577840" y="868680"/>
            <a:ext cx="3108960" cy="3429000"/>
          </a:xfrm>
          <a:prstGeom prst="roundRect">
            <a:avLst>
              <a:gd name="adj" fmla="val 3529"/>
            </a:avLst>
          </a:prstGeom>
          <a:solidFill>
            <a:schemeClr val="accent4"/>
          </a:solidFill>
          <a:ln w="9525">
            <a:solidFill>
              <a:schemeClr val="accent5"/>
            </a:solidFill>
            <a:prstDash val="solid"/>
          </a:ln>
          <a:effectLst>
            <a:outerShdw blurRad="76200" dist="25400" dir="5400000" algn="bl" rotWithShape="0">
              <a:srgbClr val="0E1537">
                <a:alpha val="14000"/>
              </a:srgbClr>
            </a:outerShdw>
          </a:effectLst>
        </p:spPr>
      </p:sp>
      <p:sp>
        <p:nvSpPr>
          <p:cNvPr id="7" name="Text 5"/>
          <p:cNvSpPr txBox="1"/>
          <p:nvPr/>
        </p:nvSpPr>
        <p:spPr>
          <a:xfrm>
            <a:off x="5806440" y="1051560"/>
            <a:ext cx="2743200" cy="411480"/>
          </a:xfrm>
          <a:prstGeom prst="rect">
            <a:avLst/>
          </a:prstGeom>
          <a:noFill/>
          <a:ln/>
        </p:spPr>
        <p:txBody>
          <a:bodyPr wrap="square" lIns="0" tIns="0" rIns="0" bIns="0" rtlCol="0" anchor="ctr"/>
          <a:lstStyle/>
          <a:p>
            <a:pPr marL="0" indent="0">
              <a:buNone/>
            </a:pPr>
            <a:r>
              <a:rPr lang="en-US" sz="2000" b="1" dirty="0">
                <a:solidFill>
                  <a:schemeClr val="accent5"/>
                </a:solidFill>
                <a:latin typeface="+mj-lt" pitchFamily="34" charset="0"/>
                <a:ea typeface="+mj-lt" pitchFamily="34" charset="-122"/>
                <a:cs typeface="+mj-lt" pitchFamily="34" charset="-120"/>
              </a:rPr>
              <a:t>We are going to…</a:t>
            </a:r>
            <a:endParaRPr lang="en-US" sz="2000" dirty="0"/>
          </a:p>
        </p:txBody>
      </p:sp>
      <p:sp>
        <p:nvSpPr>
          <p:cNvPr id="8" name="Text 6"/>
          <p:cNvSpPr txBox="1"/>
          <p:nvPr/>
        </p:nvSpPr>
        <p:spPr>
          <a:xfrm>
            <a:off x="5806440" y="1554480"/>
            <a:ext cx="269748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explore features of a biography</a:t>
            </a:r>
            <a:endParaRPr lang="en-US" sz="1500" dirty="0"/>
          </a:p>
          <a:p>
            <a:pPr marL="342900" indent="-342900">
              <a:spcAft>
                <a:spcPts val="1000"/>
              </a:spcAft>
              <a:buSzPct val="100000"/>
              <a:buChar char="•"/>
            </a:pPr>
            <a:r>
              <a:rPr lang="en-US" sz="1500" dirty="0">
                <a:solidFill>
                  <a:schemeClr val="bg1"/>
                </a:solidFill>
              </a:rPr>
              <a:t>identify the point of view of the writer</a:t>
            </a:r>
            <a:endParaRPr lang="en-US" sz="1500" dirty="0"/>
          </a:p>
          <a:p>
            <a:pPr marL="342900" indent="-342900">
              <a:spcAft>
                <a:spcPts val="1000"/>
              </a:spcAft>
              <a:buSzPct val="100000"/>
              <a:buChar char="•"/>
            </a:pPr>
            <a:r>
              <a:rPr lang="en-US" sz="1500" dirty="0">
                <a:solidFill>
                  <a:schemeClr val="bg1"/>
                </a:solidFill>
              </a:rPr>
              <a:t>learn new words from the text</a:t>
            </a:r>
            <a:endParaRPr lang="en-US" sz="1500" dirty="0"/>
          </a:p>
          <a:p>
            <a:pPr marL="342900" indent="-342900">
              <a:spcAft>
                <a:spcPts val="1000"/>
              </a:spcAft>
              <a:buSzPct val="100000"/>
              <a:buChar char="•"/>
            </a:pPr>
            <a:r>
              <a:rPr lang="en-US" sz="1500" dirty="0">
                <a:solidFill>
                  <a:schemeClr val="bg1"/>
                </a:solidFill>
              </a:rPr>
              <a:t>scan a biography for details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Today’s mission</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Learning objective: I can explore features of a biography and identify the point of view of the writer.</a:t>
            </a:r>
            <a:endParaRPr lang="en-US" sz="1600" dirty="0"/>
          </a:p>
        </p:txBody>
      </p:sp>
      <p:sp>
        <p:nvSpPr>
          <p:cNvPr id="5" name="Row 1"/>
          <p:cNvSpPr/>
          <p:nvPr/>
        </p:nvSpPr>
        <p:spPr>
          <a:xfrm>
            <a:off x="457200" y="1600200"/>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594360" y="1645920"/>
            <a:ext cx="365760" cy="365760"/>
          </a:xfrm>
          <a:prstGeom prst="ellipse">
            <a:avLst/>
          </a:prstGeom>
          <a:solidFill>
            <a:schemeClr val="accent1"/>
          </a:solidFill>
          <a:ln w="6350">
            <a:solidFill>
              <a:schemeClr val="accent1"/>
            </a:solidFill>
            <a:prstDash val="solid"/>
          </a:ln>
        </p:spPr>
      </p:sp>
      <p:sp>
        <p:nvSpPr>
          <p:cNvPr id="7" name="Text 4"/>
          <p:cNvSpPr txBox="1"/>
          <p:nvPr/>
        </p:nvSpPr>
        <p:spPr>
          <a:xfrm>
            <a:off x="594360" y="1645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8" name="Text 5"/>
          <p:cNvSpPr txBox="1"/>
          <p:nvPr/>
        </p:nvSpPr>
        <p:spPr>
          <a:xfrm>
            <a:off x="1143000" y="1600200"/>
            <a:ext cx="7315200" cy="457200"/>
          </a:xfrm>
          <a:prstGeom prst="rect">
            <a:avLst/>
          </a:prstGeom>
          <a:noFill/>
          <a:ln/>
        </p:spPr>
        <p:txBody>
          <a:bodyPr wrap="square" lIns="0" tIns="0" rIns="0" bIns="0" rtlCol="0" anchor="ctr"/>
          <a:lstStyle/>
          <a:p>
            <a:pPr marL="0" indent="0">
              <a:buNone/>
            </a:pPr>
            <a:r>
              <a:rPr lang="en-US" sz="1500" dirty="0">
                <a:solidFill>
                  <a:schemeClr val="tx1"/>
                </a:solidFill>
              </a:rPr>
              <a:t>Discuss the difference between a biography and an autobiography</a:t>
            </a:r>
            <a:endParaRPr lang="en-US" sz="1500" dirty="0"/>
          </a:p>
        </p:txBody>
      </p:sp>
      <p:sp>
        <p:nvSpPr>
          <p:cNvPr id="9" name="Row 2"/>
          <p:cNvSpPr/>
          <p:nvPr/>
        </p:nvSpPr>
        <p:spPr>
          <a:xfrm>
            <a:off x="457200" y="2167128"/>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94360" y="2212848"/>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212848"/>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2167128"/>
            <a:ext cx="7315200" cy="457200"/>
          </a:xfrm>
          <a:prstGeom prst="rect">
            <a:avLst/>
          </a:prstGeom>
          <a:noFill/>
          <a:ln/>
        </p:spPr>
        <p:txBody>
          <a:bodyPr wrap="square" lIns="0" tIns="0" rIns="0" bIns="0" rtlCol="0" anchor="ctr"/>
          <a:lstStyle/>
          <a:p>
            <a:pPr marL="0" indent="0">
              <a:buNone/>
            </a:pPr>
            <a:r>
              <a:rPr lang="en-US" sz="1500" dirty="0">
                <a:solidFill>
                  <a:schemeClr val="tx1"/>
                </a:solidFill>
              </a:rPr>
              <a:t>Skim read the text and find the features of a biography</a:t>
            </a:r>
            <a:endParaRPr lang="en-US" sz="1500" dirty="0"/>
          </a:p>
        </p:txBody>
      </p:sp>
      <p:sp>
        <p:nvSpPr>
          <p:cNvPr id="13" name="Row 3"/>
          <p:cNvSpPr/>
          <p:nvPr/>
        </p:nvSpPr>
        <p:spPr>
          <a:xfrm>
            <a:off x="457200" y="2734056"/>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594360" y="2779776"/>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594360" y="277977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6" name="Text 13"/>
          <p:cNvSpPr txBox="1"/>
          <p:nvPr/>
        </p:nvSpPr>
        <p:spPr>
          <a:xfrm>
            <a:off x="1143000" y="2734056"/>
            <a:ext cx="7315200" cy="457200"/>
          </a:xfrm>
          <a:prstGeom prst="rect">
            <a:avLst/>
          </a:prstGeom>
          <a:noFill/>
          <a:ln/>
        </p:spPr>
        <p:txBody>
          <a:bodyPr wrap="square" lIns="0" tIns="0" rIns="0" bIns="0" rtlCol="0" anchor="ctr"/>
          <a:lstStyle/>
          <a:p>
            <a:pPr marL="0" indent="0">
              <a:buNone/>
            </a:pPr>
            <a:r>
              <a:rPr lang="en-US" sz="1500" dirty="0">
                <a:solidFill>
                  <a:schemeClr val="tx1"/>
                </a:solidFill>
              </a:rPr>
              <a:t>Learn the key words and use them</a:t>
            </a:r>
            <a:endParaRPr lang="en-US" sz="1500" dirty="0"/>
          </a:p>
        </p:txBody>
      </p:sp>
      <p:sp>
        <p:nvSpPr>
          <p:cNvPr id="17" name="Row 4"/>
          <p:cNvSpPr/>
          <p:nvPr/>
        </p:nvSpPr>
        <p:spPr>
          <a:xfrm>
            <a:off x="457200" y="3300984"/>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594360" y="3346704"/>
            <a:ext cx="365760" cy="365760"/>
          </a:xfrm>
          <a:prstGeom prst="ellipse">
            <a:avLst/>
          </a:prstGeom>
          <a:solidFill>
            <a:schemeClr val="accent4"/>
          </a:solidFill>
          <a:ln w="6350">
            <a:solidFill>
              <a:schemeClr val="accent4"/>
            </a:solidFill>
            <a:prstDash val="solid"/>
          </a:ln>
        </p:spPr>
      </p:sp>
      <p:sp>
        <p:nvSpPr>
          <p:cNvPr id="19" name="Text 16"/>
          <p:cNvSpPr txBox="1"/>
          <p:nvPr/>
        </p:nvSpPr>
        <p:spPr>
          <a:xfrm>
            <a:off x="594360" y="3346704"/>
            <a:ext cx="365760" cy="36576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0" name="Text 17"/>
          <p:cNvSpPr txBox="1"/>
          <p:nvPr/>
        </p:nvSpPr>
        <p:spPr>
          <a:xfrm>
            <a:off x="1143000" y="3300984"/>
            <a:ext cx="7315200" cy="457200"/>
          </a:xfrm>
          <a:prstGeom prst="rect">
            <a:avLst/>
          </a:prstGeom>
          <a:noFill/>
          <a:ln/>
        </p:spPr>
        <p:txBody>
          <a:bodyPr wrap="square" lIns="0" tIns="0" rIns="0" bIns="0" rtlCol="0" anchor="ctr"/>
          <a:lstStyle/>
          <a:p>
            <a:pPr marL="0" indent="0">
              <a:buNone/>
            </a:pPr>
            <a:r>
              <a:rPr lang="en-US" sz="1500" dirty="0">
                <a:solidFill>
                  <a:schemeClr val="tx1"/>
                </a:solidFill>
              </a:rPr>
              <a:t>Identify the point of view: third-person pronouns</a:t>
            </a:r>
            <a:endParaRPr lang="en-US" sz="1500" dirty="0"/>
          </a:p>
        </p:txBody>
      </p:sp>
      <p:sp>
        <p:nvSpPr>
          <p:cNvPr id="21" name="Row 5"/>
          <p:cNvSpPr/>
          <p:nvPr/>
        </p:nvSpPr>
        <p:spPr>
          <a:xfrm>
            <a:off x="457200" y="3867912"/>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2" name="Badge"/>
          <p:cNvSpPr/>
          <p:nvPr/>
        </p:nvSpPr>
        <p:spPr>
          <a:xfrm>
            <a:off x="594360" y="3913632"/>
            <a:ext cx="365760" cy="365760"/>
          </a:xfrm>
          <a:prstGeom prst="ellipse">
            <a:avLst/>
          </a:prstGeom>
          <a:solidFill>
            <a:schemeClr val="accent5"/>
          </a:solidFill>
          <a:ln w="6350">
            <a:solidFill>
              <a:schemeClr val="accent5"/>
            </a:solidFill>
            <a:prstDash val="solid"/>
          </a:ln>
        </p:spPr>
      </p:sp>
      <p:sp>
        <p:nvSpPr>
          <p:cNvPr id="23" name="Text 20"/>
          <p:cNvSpPr txBox="1"/>
          <p:nvPr/>
        </p:nvSpPr>
        <p:spPr>
          <a:xfrm>
            <a:off x="594360" y="3913632"/>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4" name="Text 21"/>
          <p:cNvSpPr txBox="1"/>
          <p:nvPr/>
        </p:nvSpPr>
        <p:spPr>
          <a:xfrm>
            <a:off x="1143000" y="3867912"/>
            <a:ext cx="7315200" cy="457200"/>
          </a:xfrm>
          <a:prstGeom prst="rect">
            <a:avLst/>
          </a:prstGeom>
          <a:noFill/>
          <a:ln/>
        </p:spPr>
        <p:txBody>
          <a:bodyPr wrap="square" lIns="0" tIns="0" rIns="0" bIns="0" rtlCol="0" anchor="ctr"/>
          <a:lstStyle/>
          <a:p>
            <a:pPr marL="0" indent="0">
              <a:buNone/>
            </a:pPr>
            <a:r>
              <a:rPr lang="en-US" sz="1500" dirty="0">
                <a:solidFill>
                  <a:schemeClr val="tx1"/>
                </a:solidFill>
              </a:rPr>
              <a:t>Scan for details and give an opinion with evidence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Getting started</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Discuss these questions as a class.</a:t>
            </a:r>
            <a:endParaRPr lang="en-US" sz="1600" dirty="0"/>
          </a:p>
        </p:txBody>
      </p:sp>
      <p:sp>
        <p:nvSpPr>
          <p:cNvPr id="5" name="Row 1"/>
          <p:cNvSpPr/>
          <p:nvPr/>
        </p:nvSpPr>
        <p:spPr>
          <a:xfrm>
            <a:off x="457200" y="1645920"/>
            <a:ext cx="8229600" cy="822960"/>
          </a:xfrm>
          <a:prstGeom prst="roundRect">
            <a:avLst>
              <a:gd name="adj" fmla="val 1333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594360" y="1874520"/>
            <a:ext cx="365760" cy="365760"/>
          </a:xfrm>
          <a:prstGeom prst="ellipse">
            <a:avLst/>
          </a:prstGeom>
          <a:solidFill>
            <a:schemeClr val="accent1"/>
          </a:solidFill>
          <a:ln w="6350">
            <a:solidFill>
              <a:schemeClr val="accent1"/>
            </a:solidFill>
            <a:prstDash val="solid"/>
          </a:ln>
        </p:spPr>
      </p:sp>
      <p:sp>
        <p:nvSpPr>
          <p:cNvPr id="7" name="Text 4"/>
          <p:cNvSpPr txBox="1"/>
          <p:nvPr/>
        </p:nvSpPr>
        <p:spPr>
          <a:xfrm>
            <a:off x="594360" y="18745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8" name="Text 5"/>
          <p:cNvSpPr txBox="1"/>
          <p:nvPr/>
        </p:nvSpPr>
        <p:spPr>
          <a:xfrm>
            <a:off x="1143000" y="1645920"/>
            <a:ext cx="7315200" cy="822960"/>
          </a:xfrm>
          <a:prstGeom prst="rect">
            <a:avLst/>
          </a:prstGeom>
          <a:noFill/>
          <a:ln/>
        </p:spPr>
        <p:txBody>
          <a:bodyPr wrap="square" lIns="0" tIns="0" rIns="0" bIns="0" rtlCol="0" anchor="ctr"/>
          <a:lstStyle/>
          <a:p>
            <a:pPr marL="0" indent="0">
              <a:buNone/>
            </a:pPr>
            <a:r>
              <a:rPr lang="en-US" sz="1800" dirty="0">
                <a:solidFill>
                  <a:schemeClr val="tx1"/>
                </a:solidFill>
              </a:rPr>
              <a:t>What is the difference between a biography and an autobiography?</a:t>
            </a:r>
            <a:endParaRPr lang="en-US" sz="1800" dirty="0"/>
          </a:p>
        </p:txBody>
      </p:sp>
      <p:sp>
        <p:nvSpPr>
          <p:cNvPr id="9" name="Row 2"/>
          <p:cNvSpPr/>
          <p:nvPr/>
        </p:nvSpPr>
        <p:spPr>
          <a:xfrm>
            <a:off x="457200" y="2651760"/>
            <a:ext cx="8229600" cy="822960"/>
          </a:xfrm>
          <a:prstGeom prst="roundRect">
            <a:avLst>
              <a:gd name="adj" fmla="val 1333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94360" y="2880360"/>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88036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2651760"/>
            <a:ext cx="7315200" cy="822960"/>
          </a:xfrm>
          <a:prstGeom prst="rect">
            <a:avLst/>
          </a:prstGeom>
          <a:noFill/>
          <a:ln/>
        </p:spPr>
        <p:txBody>
          <a:bodyPr wrap="square" lIns="0" tIns="0" rIns="0" bIns="0" rtlCol="0" anchor="ctr"/>
          <a:lstStyle/>
          <a:p>
            <a:pPr marL="0" indent="0">
              <a:buNone/>
            </a:pPr>
            <a:r>
              <a:rPr lang="en-US" sz="1800" dirty="0">
                <a:solidFill>
                  <a:schemeClr val="tx1"/>
                </a:solidFill>
              </a:rPr>
              <a:t>What headings would you like to have in a biography about your life?</a:t>
            </a:r>
            <a:endParaRPr lang="en-US" sz="1800" dirty="0"/>
          </a:p>
        </p:txBody>
      </p:sp>
      <p:sp>
        <p:nvSpPr>
          <p:cNvPr id="13" name="Callout"/>
          <p:cNvSpPr/>
          <p:nvPr/>
        </p:nvSpPr>
        <p:spPr>
          <a:xfrm>
            <a:off x="457200" y="3749040"/>
            <a:ext cx="8229600" cy="502920"/>
          </a:xfrm>
          <a:prstGeom prst="roundRect">
            <a:avLst>
              <a:gd name="adj" fmla="val 21818"/>
            </a:avLst>
          </a:prstGeom>
          <a:solidFill>
            <a:schemeClr val="accent5"/>
          </a:solidFill>
          <a:ln w="9525">
            <a:solidFill>
              <a:schemeClr val="accent5"/>
            </a:solidFill>
            <a:prstDash val="solid"/>
          </a:ln>
        </p:spPr>
      </p:sp>
      <p:sp>
        <p:nvSpPr>
          <p:cNvPr id="14" name="Text 11"/>
          <p:cNvSpPr txBox="1"/>
          <p:nvPr/>
        </p:nvSpPr>
        <p:spPr>
          <a:xfrm>
            <a:off x="640080" y="3749040"/>
            <a:ext cx="7863840" cy="502920"/>
          </a:xfrm>
          <a:prstGeom prst="rect">
            <a:avLst/>
          </a:prstGeom>
          <a:noFill/>
          <a:ln/>
        </p:spPr>
        <p:txBody>
          <a:bodyPr wrap="square" lIns="0" tIns="0" rIns="0" bIns="0" rtlCol="0" anchor="ctr"/>
          <a:lstStyle/>
          <a:p>
            <a:pPr marL="0" indent="0" algn="ctr">
              <a:buNone/>
            </a:pPr>
            <a:r>
              <a:rPr lang="en-US" sz="1600" b="1" dirty="0">
                <a:solidFill>
                  <a:schemeClr val="tx1"/>
                </a:solidFill>
              </a:rPr>
              <a:t>Think: who is telling the story?</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Getting started: possible answers</a:t>
            </a:r>
            <a:endParaRPr lang="en-US" sz="3000" dirty="0"/>
          </a:p>
        </p:txBody>
      </p:sp>
      <p:sp>
        <p:nvSpPr>
          <p:cNvPr id="4" name="Q1"/>
          <p:cNvSpPr/>
          <p:nvPr/>
        </p:nvSpPr>
        <p:spPr>
          <a:xfrm>
            <a:off x="457200" y="1051560"/>
            <a:ext cx="8229600" cy="1371600"/>
          </a:xfrm>
          <a:prstGeom prst="roundRect">
            <a:avLst>
              <a:gd name="adj" fmla="val 8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554480"/>
            <a:ext cx="411480" cy="411480"/>
          </a:xfrm>
          <a:prstGeom prst="ellipse">
            <a:avLst/>
          </a:prstGeom>
          <a:solidFill>
            <a:schemeClr val="accent1"/>
          </a:solidFill>
          <a:ln w="6350">
            <a:solidFill>
              <a:schemeClr val="accent1"/>
            </a:solidFill>
            <a:prstDash val="solid"/>
          </a:ln>
        </p:spPr>
      </p:sp>
      <p:sp>
        <p:nvSpPr>
          <p:cNvPr id="6" name="Text 3"/>
          <p:cNvSpPr txBox="1"/>
          <p:nvPr/>
        </p:nvSpPr>
        <p:spPr>
          <a:xfrm>
            <a:off x="594360" y="155448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88720" y="1051560"/>
            <a:ext cx="7223760" cy="1371600"/>
          </a:xfrm>
          <a:prstGeom prst="rect">
            <a:avLst/>
          </a:prstGeom>
          <a:noFill/>
          <a:ln/>
        </p:spPr>
        <p:txBody>
          <a:bodyPr wrap="square" lIns="0" tIns="0" rIns="0" bIns="0" rtlCol="0" anchor="ctr"/>
          <a:lstStyle/>
          <a:p>
            <a:pPr marL="0" indent="0">
              <a:spcAft>
                <a:spcPts val="600"/>
              </a:spcAft>
              <a:buNone/>
            </a:pPr>
            <a:r>
              <a:rPr lang="en-US" sz="1600" b="1" dirty="0">
                <a:solidFill>
                  <a:schemeClr val="accent4"/>
                </a:solidFill>
              </a:rPr>
              <a:t>Biography: </a:t>
            </a:r>
            <a:r>
              <a:rPr lang="en-US" sz="1600" dirty="0">
                <a:solidFill>
                  <a:schemeClr val="tx1"/>
                </a:solidFill>
              </a:rPr>
              <a:t>the story of someone’s life, written by another person.</a:t>
            </a:r>
            <a:endParaRPr lang="en-US" sz="1600" dirty="0"/>
          </a:p>
          <a:p>
            <a:pPr marL="0" indent="0">
              <a:spcAft>
                <a:spcPts val="600"/>
              </a:spcAft>
              <a:buNone/>
            </a:pPr>
            <a:r>
              <a:rPr lang="en-US" sz="1600" b="1" dirty="0">
                <a:solidFill>
                  <a:schemeClr val="accent4"/>
                </a:solidFill>
              </a:rPr>
              <a:t>Autobiography: </a:t>
            </a:r>
            <a:r>
              <a:rPr lang="en-US" sz="1600" dirty="0">
                <a:solidFill>
                  <a:schemeClr val="tx1"/>
                </a:solidFill>
              </a:rPr>
              <a:t>the story of someone’s life, written by that person.</a:t>
            </a:r>
            <a:endParaRPr lang="en-US" sz="1600" dirty="0"/>
          </a:p>
        </p:txBody>
      </p:sp>
      <p:sp>
        <p:nvSpPr>
          <p:cNvPr id="8" name="Q2"/>
          <p:cNvSpPr/>
          <p:nvPr/>
        </p:nvSpPr>
        <p:spPr>
          <a:xfrm>
            <a:off x="457200" y="2606040"/>
            <a:ext cx="8229600" cy="1737360"/>
          </a:xfrm>
          <a:prstGeom prst="roundRect">
            <a:avLst>
              <a:gd name="adj" fmla="val 631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594360" y="3200400"/>
            <a:ext cx="411480" cy="411480"/>
          </a:xfrm>
          <a:prstGeom prst="ellipse">
            <a:avLst/>
          </a:prstGeom>
          <a:solidFill>
            <a:schemeClr val="accent2"/>
          </a:solidFill>
          <a:ln w="6350">
            <a:solidFill>
              <a:schemeClr val="accent2"/>
            </a:solidFill>
            <a:prstDash val="solid"/>
          </a:ln>
        </p:spPr>
      </p:sp>
      <p:sp>
        <p:nvSpPr>
          <p:cNvPr id="10" name="Text 7"/>
          <p:cNvSpPr txBox="1"/>
          <p:nvPr/>
        </p:nvSpPr>
        <p:spPr>
          <a:xfrm>
            <a:off x="594360" y="320040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1" name="Text 8"/>
          <p:cNvSpPr txBox="1"/>
          <p:nvPr/>
        </p:nvSpPr>
        <p:spPr>
          <a:xfrm>
            <a:off x="1188720" y="2697480"/>
            <a:ext cx="7223760" cy="320040"/>
          </a:xfrm>
          <a:prstGeom prst="rect">
            <a:avLst/>
          </a:prstGeom>
          <a:noFill/>
          <a:ln/>
        </p:spPr>
        <p:txBody>
          <a:bodyPr wrap="square" lIns="0" tIns="0" rIns="0" bIns="0" rtlCol="0" anchor="ctr"/>
          <a:lstStyle/>
          <a:p>
            <a:pPr marL="0" indent="0">
              <a:buNone/>
            </a:pPr>
            <a:r>
              <a:rPr lang="en-US" sz="1500" b="1" dirty="0">
                <a:solidFill>
                  <a:schemeClr val="accent4"/>
                </a:solidFill>
              </a:rPr>
              <a:t>Possible headings:</a:t>
            </a:r>
            <a:endParaRPr lang="en-US" sz="1500" dirty="0"/>
          </a:p>
        </p:txBody>
      </p:sp>
      <p:sp>
        <p:nvSpPr>
          <p:cNvPr id="12" name="Heading chip"/>
          <p:cNvSpPr/>
          <p:nvPr/>
        </p:nvSpPr>
        <p:spPr>
          <a:xfrm>
            <a:off x="1188720" y="3108960"/>
            <a:ext cx="2331720" cy="438912"/>
          </a:xfrm>
          <a:prstGeom prst="roundRect">
            <a:avLst>
              <a:gd name="adj" fmla="val 20833"/>
            </a:avLst>
          </a:prstGeom>
          <a:solidFill>
            <a:schemeClr val="accent1"/>
          </a:solidFill>
          <a:ln w="6350">
            <a:solidFill>
              <a:schemeClr val="accent1"/>
            </a:solidFill>
            <a:prstDash val="solid"/>
          </a:ln>
        </p:spPr>
      </p:sp>
      <p:sp>
        <p:nvSpPr>
          <p:cNvPr id="13" name="Text 10"/>
          <p:cNvSpPr txBox="1"/>
          <p:nvPr/>
        </p:nvSpPr>
        <p:spPr>
          <a:xfrm>
            <a:off x="1188720" y="3108960"/>
            <a:ext cx="2331720" cy="438912"/>
          </a:xfrm>
          <a:prstGeom prst="rect">
            <a:avLst/>
          </a:prstGeom>
          <a:noFill/>
          <a:ln/>
        </p:spPr>
        <p:txBody>
          <a:bodyPr wrap="square" lIns="0" tIns="0" rIns="0" bIns="0" rtlCol="0" anchor="ctr"/>
          <a:lstStyle/>
          <a:p>
            <a:pPr marL="0" indent="0" algn="ctr">
              <a:buNone/>
            </a:pPr>
            <a:r>
              <a:rPr lang="en-US" sz="1400" b="1" dirty="0">
                <a:solidFill>
                  <a:schemeClr val="tx1"/>
                </a:solidFill>
              </a:rPr>
              <a:t>Early life</a:t>
            </a:r>
            <a:endParaRPr lang="en-US" sz="1400" dirty="0"/>
          </a:p>
        </p:txBody>
      </p:sp>
      <p:sp>
        <p:nvSpPr>
          <p:cNvPr id="14" name="Heading chip"/>
          <p:cNvSpPr/>
          <p:nvPr/>
        </p:nvSpPr>
        <p:spPr>
          <a:xfrm>
            <a:off x="3657600" y="3108960"/>
            <a:ext cx="2331720" cy="438912"/>
          </a:xfrm>
          <a:prstGeom prst="roundRect">
            <a:avLst>
              <a:gd name="adj" fmla="val 20833"/>
            </a:avLst>
          </a:prstGeom>
          <a:solidFill>
            <a:schemeClr val="accent2"/>
          </a:solidFill>
          <a:ln w="6350">
            <a:solidFill>
              <a:schemeClr val="accent2"/>
            </a:solidFill>
            <a:prstDash val="solid"/>
          </a:ln>
        </p:spPr>
      </p:sp>
      <p:sp>
        <p:nvSpPr>
          <p:cNvPr id="15" name="Text 12"/>
          <p:cNvSpPr txBox="1"/>
          <p:nvPr/>
        </p:nvSpPr>
        <p:spPr>
          <a:xfrm>
            <a:off x="3657600" y="3108960"/>
            <a:ext cx="2331720" cy="438912"/>
          </a:xfrm>
          <a:prstGeom prst="rect">
            <a:avLst/>
          </a:prstGeom>
          <a:noFill/>
          <a:ln/>
        </p:spPr>
        <p:txBody>
          <a:bodyPr wrap="square" lIns="0" tIns="0" rIns="0" bIns="0" rtlCol="0" anchor="ctr"/>
          <a:lstStyle/>
          <a:p>
            <a:pPr marL="0" indent="0" algn="ctr">
              <a:buNone/>
            </a:pPr>
            <a:r>
              <a:rPr lang="en-US" sz="1400" b="1" dirty="0">
                <a:solidFill>
                  <a:schemeClr val="tx1"/>
                </a:solidFill>
              </a:rPr>
              <a:t>My family</a:t>
            </a:r>
            <a:endParaRPr lang="en-US" sz="1400" dirty="0"/>
          </a:p>
        </p:txBody>
      </p:sp>
      <p:sp>
        <p:nvSpPr>
          <p:cNvPr id="16" name="Heading chip"/>
          <p:cNvSpPr/>
          <p:nvPr/>
        </p:nvSpPr>
        <p:spPr>
          <a:xfrm>
            <a:off x="6126480" y="3108960"/>
            <a:ext cx="2331720" cy="438912"/>
          </a:xfrm>
          <a:prstGeom prst="roundRect">
            <a:avLst>
              <a:gd name="adj" fmla="val 20833"/>
            </a:avLst>
          </a:prstGeom>
          <a:solidFill>
            <a:schemeClr val="accent3"/>
          </a:solidFill>
          <a:ln w="6350">
            <a:solidFill>
              <a:schemeClr val="accent3"/>
            </a:solidFill>
            <a:prstDash val="solid"/>
          </a:ln>
        </p:spPr>
      </p:sp>
      <p:sp>
        <p:nvSpPr>
          <p:cNvPr id="17" name="Text 14"/>
          <p:cNvSpPr txBox="1"/>
          <p:nvPr/>
        </p:nvSpPr>
        <p:spPr>
          <a:xfrm>
            <a:off x="6126480" y="3108960"/>
            <a:ext cx="2331720" cy="438912"/>
          </a:xfrm>
          <a:prstGeom prst="rect">
            <a:avLst/>
          </a:prstGeom>
          <a:noFill/>
          <a:ln/>
        </p:spPr>
        <p:txBody>
          <a:bodyPr wrap="square" lIns="0" tIns="0" rIns="0" bIns="0" rtlCol="0" anchor="ctr"/>
          <a:lstStyle/>
          <a:p>
            <a:pPr marL="0" indent="0" algn="ctr">
              <a:buNone/>
            </a:pPr>
            <a:r>
              <a:rPr lang="en-US" sz="1400" b="1" dirty="0">
                <a:solidFill>
                  <a:schemeClr val="tx1"/>
                </a:solidFill>
              </a:rPr>
              <a:t>School</a:t>
            </a:r>
            <a:endParaRPr lang="en-US" sz="1400" dirty="0"/>
          </a:p>
        </p:txBody>
      </p:sp>
      <p:sp>
        <p:nvSpPr>
          <p:cNvPr id="18" name="Heading chip"/>
          <p:cNvSpPr/>
          <p:nvPr/>
        </p:nvSpPr>
        <p:spPr>
          <a:xfrm>
            <a:off x="1188720" y="3657600"/>
            <a:ext cx="2331720" cy="438912"/>
          </a:xfrm>
          <a:prstGeom prst="roundRect">
            <a:avLst>
              <a:gd name="adj" fmla="val 20833"/>
            </a:avLst>
          </a:prstGeom>
          <a:solidFill>
            <a:schemeClr val="accent4"/>
          </a:solidFill>
          <a:ln w="6350">
            <a:solidFill>
              <a:schemeClr val="accent4"/>
            </a:solidFill>
            <a:prstDash val="solid"/>
          </a:ln>
        </p:spPr>
      </p:sp>
      <p:sp>
        <p:nvSpPr>
          <p:cNvPr id="19" name="Text 16"/>
          <p:cNvSpPr txBox="1"/>
          <p:nvPr/>
        </p:nvSpPr>
        <p:spPr>
          <a:xfrm>
            <a:off x="1188720" y="3657600"/>
            <a:ext cx="2331720" cy="438912"/>
          </a:xfrm>
          <a:prstGeom prst="rect">
            <a:avLst/>
          </a:prstGeom>
          <a:noFill/>
          <a:ln/>
        </p:spPr>
        <p:txBody>
          <a:bodyPr wrap="square" lIns="0" tIns="0" rIns="0" bIns="0" rtlCol="0" anchor="ctr"/>
          <a:lstStyle/>
          <a:p>
            <a:pPr marL="0" indent="0" algn="ctr">
              <a:buNone/>
            </a:pPr>
            <a:r>
              <a:rPr lang="en-US" sz="1400" b="1" dirty="0">
                <a:solidFill>
                  <a:schemeClr val="bg1"/>
                </a:solidFill>
              </a:rPr>
              <a:t>Hobbies and interests</a:t>
            </a:r>
            <a:endParaRPr lang="en-US" sz="1400" dirty="0"/>
          </a:p>
        </p:txBody>
      </p:sp>
      <p:sp>
        <p:nvSpPr>
          <p:cNvPr id="20" name="Heading chip"/>
          <p:cNvSpPr/>
          <p:nvPr/>
        </p:nvSpPr>
        <p:spPr>
          <a:xfrm>
            <a:off x="3657600" y="3657600"/>
            <a:ext cx="2331720" cy="438912"/>
          </a:xfrm>
          <a:prstGeom prst="roundRect">
            <a:avLst>
              <a:gd name="adj" fmla="val 20833"/>
            </a:avLst>
          </a:prstGeom>
          <a:solidFill>
            <a:schemeClr val="accent5"/>
          </a:solidFill>
          <a:ln w="6350">
            <a:solidFill>
              <a:schemeClr val="accent5"/>
            </a:solidFill>
            <a:prstDash val="solid"/>
          </a:ln>
        </p:spPr>
      </p:sp>
      <p:sp>
        <p:nvSpPr>
          <p:cNvPr id="21" name="Text 18"/>
          <p:cNvSpPr txBox="1"/>
          <p:nvPr/>
        </p:nvSpPr>
        <p:spPr>
          <a:xfrm>
            <a:off x="3657600" y="3657600"/>
            <a:ext cx="2331720" cy="438912"/>
          </a:xfrm>
          <a:prstGeom prst="rect">
            <a:avLst/>
          </a:prstGeom>
          <a:noFill/>
          <a:ln/>
        </p:spPr>
        <p:txBody>
          <a:bodyPr wrap="square" lIns="0" tIns="0" rIns="0" bIns="0" rtlCol="0" anchor="ctr"/>
          <a:lstStyle/>
          <a:p>
            <a:pPr marL="0" indent="0" algn="ctr">
              <a:buNone/>
            </a:pPr>
            <a:r>
              <a:rPr lang="en-US" sz="1400" b="1" dirty="0">
                <a:solidFill>
                  <a:schemeClr val="tx1"/>
                </a:solidFill>
              </a:rPr>
              <a:t>Achievements</a:t>
            </a:r>
            <a:endParaRPr lang="en-US" sz="1400" dirty="0"/>
          </a:p>
        </p:txBody>
      </p:sp>
      <p:sp>
        <p:nvSpPr>
          <p:cNvPr id="22" name="Heading chip"/>
          <p:cNvSpPr/>
          <p:nvPr/>
        </p:nvSpPr>
        <p:spPr>
          <a:xfrm>
            <a:off x="6126480" y="3657600"/>
            <a:ext cx="2331720" cy="438912"/>
          </a:xfrm>
          <a:prstGeom prst="roundRect">
            <a:avLst>
              <a:gd name="adj" fmla="val 20833"/>
            </a:avLst>
          </a:prstGeom>
          <a:solidFill>
            <a:schemeClr val="accent1"/>
          </a:solidFill>
          <a:ln w="6350">
            <a:solidFill>
              <a:schemeClr val="accent1"/>
            </a:solidFill>
            <a:prstDash val="solid"/>
          </a:ln>
        </p:spPr>
      </p:sp>
      <p:sp>
        <p:nvSpPr>
          <p:cNvPr id="23" name="Text 20"/>
          <p:cNvSpPr txBox="1"/>
          <p:nvPr/>
        </p:nvSpPr>
        <p:spPr>
          <a:xfrm>
            <a:off x="6126480" y="3657600"/>
            <a:ext cx="2331720" cy="438912"/>
          </a:xfrm>
          <a:prstGeom prst="rect">
            <a:avLst/>
          </a:prstGeom>
          <a:noFill/>
          <a:ln/>
        </p:spPr>
        <p:txBody>
          <a:bodyPr wrap="square" lIns="0" tIns="0" rIns="0" bIns="0" rtlCol="0" anchor="ctr"/>
          <a:lstStyle/>
          <a:p>
            <a:pPr marL="0" indent="0" algn="ctr">
              <a:buNone/>
            </a:pPr>
            <a:r>
              <a:rPr lang="en-US" sz="1400" b="1" dirty="0">
                <a:solidFill>
                  <a:schemeClr val="tx1"/>
                </a:solidFill>
              </a:rPr>
              <a:t>Future plans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What is a biography?</a:t>
            </a:r>
            <a:endParaRPr lang="en-US" sz="3000" dirty="0"/>
          </a:p>
        </p:txBody>
      </p:sp>
      <p:sp>
        <p:nvSpPr>
          <p:cNvPr id="4" name="Definition"/>
          <p:cNvSpPr/>
          <p:nvPr/>
        </p:nvSpPr>
        <p:spPr>
          <a:xfrm>
            <a:off x="457200" y="960120"/>
            <a:ext cx="8229600" cy="548640"/>
          </a:xfrm>
          <a:prstGeom prst="roundRect">
            <a:avLst>
              <a:gd name="adj" fmla="val 20000"/>
            </a:avLst>
          </a:prstGeom>
          <a:solidFill>
            <a:schemeClr val="accent5"/>
          </a:solidFill>
          <a:ln w="9525">
            <a:solidFill>
              <a:schemeClr val="accent5"/>
            </a:solidFill>
            <a:prstDash val="solid"/>
          </a:ln>
        </p:spPr>
      </p:sp>
      <p:sp>
        <p:nvSpPr>
          <p:cNvPr id="5" name="Text 2"/>
          <p:cNvSpPr txBox="1"/>
          <p:nvPr/>
        </p:nvSpPr>
        <p:spPr>
          <a:xfrm>
            <a:off x="640080" y="960120"/>
            <a:ext cx="7863840" cy="548640"/>
          </a:xfrm>
          <a:prstGeom prst="rect">
            <a:avLst/>
          </a:prstGeom>
          <a:noFill/>
          <a:ln/>
        </p:spPr>
        <p:txBody>
          <a:bodyPr wrap="square" lIns="0" tIns="0" rIns="0" bIns="0" rtlCol="0" anchor="ctr"/>
          <a:lstStyle/>
          <a:p>
            <a:pPr marL="0" indent="0">
              <a:buNone/>
            </a:pPr>
            <a:r>
              <a:rPr lang="en-US" sz="1500" b="1" dirty="0">
                <a:solidFill>
                  <a:schemeClr val="tx1"/>
                </a:solidFill>
              </a:rPr>
              <a:t>A biography </a:t>
            </a:r>
            <a:r>
              <a:rPr lang="en-US" sz="1500" dirty="0">
                <a:solidFill>
                  <a:schemeClr val="tx1"/>
                </a:solidFill>
              </a:rPr>
              <a:t>is a record of the events in a person’s life from the viewpoint of an author.</a:t>
            </a:r>
            <a:endParaRPr lang="en-US" sz="1500" dirty="0"/>
          </a:p>
        </p:txBody>
      </p:sp>
      <p:sp>
        <p:nvSpPr>
          <p:cNvPr id="6" name="Feature 1"/>
          <p:cNvSpPr/>
          <p:nvPr/>
        </p:nvSpPr>
        <p:spPr>
          <a:xfrm>
            <a:off x="457200" y="1600200"/>
            <a:ext cx="8229600" cy="384048"/>
          </a:xfrm>
          <a:prstGeom prst="roundRect">
            <a:avLst>
              <a:gd name="adj" fmla="val 2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7" name="Badge"/>
          <p:cNvSpPr/>
          <p:nvPr/>
        </p:nvSpPr>
        <p:spPr>
          <a:xfrm>
            <a:off x="548640" y="1636776"/>
            <a:ext cx="310896" cy="310896"/>
          </a:xfrm>
          <a:prstGeom prst="ellipse">
            <a:avLst/>
          </a:prstGeom>
          <a:solidFill>
            <a:schemeClr val="accent1"/>
          </a:solidFill>
          <a:ln w="6350">
            <a:solidFill>
              <a:schemeClr val="accent1"/>
            </a:solidFill>
            <a:prstDash val="solid"/>
          </a:ln>
        </p:spPr>
      </p:sp>
      <p:sp>
        <p:nvSpPr>
          <p:cNvPr id="8" name="Text 5"/>
          <p:cNvSpPr txBox="1"/>
          <p:nvPr/>
        </p:nvSpPr>
        <p:spPr>
          <a:xfrm>
            <a:off x="548640" y="1636776"/>
            <a:ext cx="310896" cy="310896"/>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9" name="Text 6"/>
          <p:cNvSpPr txBox="1"/>
          <p:nvPr/>
        </p:nvSpPr>
        <p:spPr>
          <a:xfrm>
            <a:off x="1005840" y="1600200"/>
            <a:ext cx="2377440" cy="384048"/>
          </a:xfrm>
          <a:prstGeom prst="rect">
            <a:avLst/>
          </a:prstGeom>
          <a:noFill/>
          <a:ln/>
        </p:spPr>
        <p:txBody>
          <a:bodyPr wrap="square" lIns="0" tIns="0" rIns="0" bIns="0" rtlCol="0" anchor="ctr"/>
          <a:lstStyle/>
          <a:p>
            <a:pPr marL="0" indent="0">
              <a:buNone/>
            </a:pPr>
            <a:r>
              <a:rPr lang="en-US" sz="1300" b="1" dirty="0">
                <a:solidFill>
                  <a:schemeClr val="accent4"/>
                </a:solidFill>
              </a:rPr>
              <a:t>Opening statement</a:t>
            </a:r>
            <a:endParaRPr lang="en-US" sz="1300" dirty="0"/>
          </a:p>
        </p:txBody>
      </p:sp>
      <p:sp>
        <p:nvSpPr>
          <p:cNvPr id="10" name="Text 7"/>
          <p:cNvSpPr txBox="1"/>
          <p:nvPr/>
        </p:nvSpPr>
        <p:spPr>
          <a:xfrm>
            <a:off x="3429000" y="1600200"/>
            <a:ext cx="5120640" cy="384048"/>
          </a:xfrm>
          <a:prstGeom prst="rect">
            <a:avLst/>
          </a:prstGeom>
          <a:noFill/>
          <a:ln/>
        </p:spPr>
        <p:txBody>
          <a:bodyPr wrap="square" lIns="0" tIns="0" rIns="0" bIns="0" rtlCol="0" anchor="ctr"/>
          <a:lstStyle/>
          <a:p>
            <a:pPr marL="0" indent="0">
              <a:buNone/>
            </a:pPr>
            <a:r>
              <a:rPr lang="en-US" sz="1200" dirty="0">
                <a:solidFill>
                  <a:schemeClr val="tx1"/>
                </a:solidFill>
              </a:rPr>
              <a:t>‘Samantha Cristoforetti is an ESA astronaut.’</a:t>
            </a:r>
            <a:endParaRPr lang="en-US" sz="1200" dirty="0"/>
          </a:p>
        </p:txBody>
      </p:sp>
      <p:sp>
        <p:nvSpPr>
          <p:cNvPr id="11" name="Feature 2"/>
          <p:cNvSpPr/>
          <p:nvPr/>
        </p:nvSpPr>
        <p:spPr>
          <a:xfrm>
            <a:off x="457200" y="2048256"/>
            <a:ext cx="8229600" cy="384048"/>
          </a:xfrm>
          <a:prstGeom prst="roundRect">
            <a:avLst>
              <a:gd name="adj" fmla="val 2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2" name="Badge"/>
          <p:cNvSpPr/>
          <p:nvPr/>
        </p:nvSpPr>
        <p:spPr>
          <a:xfrm>
            <a:off x="548640" y="2084832"/>
            <a:ext cx="310896" cy="310896"/>
          </a:xfrm>
          <a:prstGeom prst="ellipse">
            <a:avLst/>
          </a:prstGeom>
          <a:solidFill>
            <a:schemeClr val="accent2"/>
          </a:solidFill>
          <a:ln w="6350">
            <a:solidFill>
              <a:schemeClr val="accent2"/>
            </a:solidFill>
            <a:prstDash val="solid"/>
          </a:ln>
        </p:spPr>
      </p:sp>
      <p:sp>
        <p:nvSpPr>
          <p:cNvPr id="13" name="Text 10"/>
          <p:cNvSpPr txBox="1"/>
          <p:nvPr/>
        </p:nvSpPr>
        <p:spPr>
          <a:xfrm>
            <a:off x="548640" y="2084832"/>
            <a:ext cx="310896" cy="310896"/>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4" name="Text 11"/>
          <p:cNvSpPr txBox="1"/>
          <p:nvPr/>
        </p:nvSpPr>
        <p:spPr>
          <a:xfrm>
            <a:off x="1005840" y="2048256"/>
            <a:ext cx="2377440" cy="384048"/>
          </a:xfrm>
          <a:prstGeom prst="rect">
            <a:avLst/>
          </a:prstGeom>
          <a:noFill/>
          <a:ln/>
        </p:spPr>
        <p:txBody>
          <a:bodyPr wrap="square" lIns="0" tIns="0" rIns="0" bIns="0" rtlCol="0" anchor="ctr"/>
          <a:lstStyle/>
          <a:p>
            <a:pPr marL="0" indent="0">
              <a:buNone/>
            </a:pPr>
            <a:r>
              <a:rPr lang="en-US" sz="1300" b="1" dirty="0">
                <a:solidFill>
                  <a:schemeClr val="accent4"/>
                </a:solidFill>
              </a:rPr>
              <a:t>Third person</a:t>
            </a:r>
            <a:endParaRPr lang="en-US" sz="1300" dirty="0"/>
          </a:p>
        </p:txBody>
      </p:sp>
      <p:sp>
        <p:nvSpPr>
          <p:cNvPr id="15" name="Text 12"/>
          <p:cNvSpPr txBox="1"/>
          <p:nvPr/>
        </p:nvSpPr>
        <p:spPr>
          <a:xfrm>
            <a:off x="3429000" y="2048256"/>
            <a:ext cx="5120640" cy="384048"/>
          </a:xfrm>
          <a:prstGeom prst="rect">
            <a:avLst/>
          </a:prstGeom>
          <a:noFill/>
          <a:ln/>
        </p:spPr>
        <p:txBody>
          <a:bodyPr wrap="square" lIns="0" tIns="0" rIns="0" bIns="0" rtlCol="0" anchor="ctr"/>
          <a:lstStyle/>
          <a:p>
            <a:pPr marL="0" indent="0">
              <a:buNone/>
            </a:pPr>
            <a:r>
              <a:rPr lang="en-US" sz="1200" dirty="0">
                <a:solidFill>
                  <a:schemeClr val="tx1"/>
                </a:solidFill>
              </a:rPr>
              <a:t>She was born in Milan, Italy.</a:t>
            </a:r>
            <a:endParaRPr lang="en-US" sz="1200" dirty="0"/>
          </a:p>
        </p:txBody>
      </p:sp>
      <p:sp>
        <p:nvSpPr>
          <p:cNvPr id="16" name="Feature 3"/>
          <p:cNvSpPr/>
          <p:nvPr/>
        </p:nvSpPr>
        <p:spPr>
          <a:xfrm>
            <a:off x="457200" y="2496312"/>
            <a:ext cx="8229600" cy="384048"/>
          </a:xfrm>
          <a:prstGeom prst="roundRect">
            <a:avLst>
              <a:gd name="adj" fmla="val 2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Badge"/>
          <p:cNvSpPr/>
          <p:nvPr/>
        </p:nvSpPr>
        <p:spPr>
          <a:xfrm>
            <a:off x="548640" y="2532888"/>
            <a:ext cx="310896" cy="310896"/>
          </a:xfrm>
          <a:prstGeom prst="ellipse">
            <a:avLst/>
          </a:prstGeom>
          <a:solidFill>
            <a:schemeClr val="accent3"/>
          </a:solidFill>
          <a:ln w="6350">
            <a:solidFill>
              <a:schemeClr val="accent3"/>
            </a:solidFill>
            <a:prstDash val="solid"/>
          </a:ln>
        </p:spPr>
      </p:sp>
      <p:sp>
        <p:nvSpPr>
          <p:cNvPr id="18" name="Text 15"/>
          <p:cNvSpPr txBox="1"/>
          <p:nvPr/>
        </p:nvSpPr>
        <p:spPr>
          <a:xfrm>
            <a:off x="548640" y="2532888"/>
            <a:ext cx="310896" cy="310896"/>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9" name="Text 16"/>
          <p:cNvSpPr txBox="1"/>
          <p:nvPr/>
        </p:nvSpPr>
        <p:spPr>
          <a:xfrm>
            <a:off x="1005840" y="2496312"/>
            <a:ext cx="2377440" cy="384048"/>
          </a:xfrm>
          <a:prstGeom prst="rect">
            <a:avLst/>
          </a:prstGeom>
          <a:noFill/>
          <a:ln/>
        </p:spPr>
        <p:txBody>
          <a:bodyPr wrap="square" lIns="0" tIns="0" rIns="0" bIns="0" rtlCol="0" anchor="ctr"/>
          <a:lstStyle/>
          <a:p>
            <a:pPr marL="0" indent="0">
              <a:buNone/>
            </a:pPr>
            <a:r>
              <a:rPr lang="en-US" sz="1300" b="1" dirty="0">
                <a:solidFill>
                  <a:schemeClr val="accent4"/>
                </a:solidFill>
              </a:rPr>
              <a:t>Chronological order</a:t>
            </a:r>
            <a:endParaRPr lang="en-US" sz="1300" dirty="0"/>
          </a:p>
        </p:txBody>
      </p:sp>
      <p:sp>
        <p:nvSpPr>
          <p:cNvPr id="20" name="Text 17"/>
          <p:cNvSpPr txBox="1"/>
          <p:nvPr/>
        </p:nvSpPr>
        <p:spPr>
          <a:xfrm>
            <a:off x="3429000" y="2496312"/>
            <a:ext cx="5120640" cy="384048"/>
          </a:xfrm>
          <a:prstGeom prst="rect">
            <a:avLst/>
          </a:prstGeom>
          <a:noFill/>
          <a:ln/>
        </p:spPr>
        <p:txBody>
          <a:bodyPr wrap="square" lIns="0" tIns="0" rIns="0" bIns="0" rtlCol="0" anchor="ctr"/>
          <a:lstStyle/>
          <a:p>
            <a:pPr marL="0" indent="0">
              <a:buNone/>
            </a:pPr>
            <a:r>
              <a:rPr lang="en-US" sz="1200" dirty="0">
                <a:solidFill>
                  <a:schemeClr val="tx1"/>
                </a:solidFill>
              </a:rPr>
              <a:t>2001 → 2009 → 2014 → 2015 → future plans</a:t>
            </a:r>
            <a:endParaRPr lang="en-US" sz="1200" dirty="0"/>
          </a:p>
        </p:txBody>
      </p:sp>
      <p:sp>
        <p:nvSpPr>
          <p:cNvPr id="21" name="Feature 4"/>
          <p:cNvSpPr/>
          <p:nvPr/>
        </p:nvSpPr>
        <p:spPr>
          <a:xfrm>
            <a:off x="457200" y="2944368"/>
            <a:ext cx="8229600" cy="384048"/>
          </a:xfrm>
          <a:prstGeom prst="roundRect">
            <a:avLst>
              <a:gd name="adj" fmla="val 2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2" name="Badge"/>
          <p:cNvSpPr/>
          <p:nvPr/>
        </p:nvSpPr>
        <p:spPr>
          <a:xfrm>
            <a:off x="548640" y="2980944"/>
            <a:ext cx="310896" cy="310896"/>
          </a:xfrm>
          <a:prstGeom prst="ellipse">
            <a:avLst/>
          </a:prstGeom>
          <a:solidFill>
            <a:schemeClr val="accent4"/>
          </a:solidFill>
          <a:ln w="6350">
            <a:solidFill>
              <a:schemeClr val="accent4"/>
            </a:solidFill>
            <a:prstDash val="solid"/>
          </a:ln>
        </p:spPr>
      </p:sp>
      <p:sp>
        <p:nvSpPr>
          <p:cNvPr id="23" name="Text 20"/>
          <p:cNvSpPr txBox="1"/>
          <p:nvPr/>
        </p:nvSpPr>
        <p:spPr>
          <a:xfrm>
            <a:off x="548640" y="2980944"/>
            <a:ext cx="310896" cy="310896"/>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4" name="Text 21"/>
          <p:cNvSpPr txBox="1"/>
          <p:nvPr/>
        </p:nvSpPr>
        <p:spPr>
          <a:xfrm>
            <a:off x="1005840" y="2944368"/>
            <a:ext cx="2377440" cy="384048"/>
          </a:xfrm>
          <a:prstGeom prst="rect">
            <a:avLst/>
          </a:prstGeom>
          <a:noFill/>
          <a:ln/>
        </p:spPr>
        <p:txBody>
          <a:bodyPr wrap="square" lIns="0" tIns="0" rIns="0" bIns="0" rtlCol="0" anchor="ctr"/>
          <a:lstStyle/>
          <a:p>
            <a:pPr marL="0" indent="0">
              <a:buNone/>
            </a:pPr>
            <a:r>
              <a:rPr lang="en-US" sz="1300" b="1" dirty="0">
                <a:solidFill>
                  <a:schemeClr val="accent4"/>
                </a:solidFill>
              </a:rPr>
              <a:t>Dates and facts</a:t>
            </a:r>
            <a:endParaRPr lang="en-US" sz="1300" dirty="0"/>
          </a:p>
        </p:txBody>
      </p:sp>
      <p:sp>
        <p:nvSpPr>
          <p:cNvPr id="25" name="Text 22"/>
          <p:cNvSpPr txBox="1"/>
          <p:nvPr/>
        </p:nvSpPr>
        <p:spPr>
          <a:xfrm>
            <a:off x="3429000" y="2944368"/>
            <a:ext cx="5120640" cy="384048"/>
          </a:xfrm>
          <a:prstGeom prst="rect">
            <a:avLst/>
          </a:prstGeom>
          <a:noFill/>
          <a:ln/>
        </p:spPr>
        <p:txBody>
          <a:bodyPr wrap="square" lIns="0" tIns="0" rIns="0" bIns="0" rtlCol="0" anchor="ctr"/>
          <a:lstStyle/>
          <a:p>
            <a:pPr marL="0" indent="0">
              <a:buNone/>
            </a:pPr>
            <a:r>
              <a:rPr lang="en-US" sz="1200" dirty="0">
                <a:solidFill>
                  <a:schemeClr val="tx1"/>
                </a:solidFill>
              </a:rPr>
              <a:t>26 April 1977 · 200 days in space</a:t>
            </a:r>
            <a:endParaRPr lang="en-US" sz="1200" dirty="0"/>
          </a:p>
        </p:txBody>
      </p:sp>
      <p:sp>
        <p:nvSpPr>
          <p:cNvPr id="26" name="Feature 5"/>
          <p:cNvSpPr/>
          <p:nvPr/>
        </p:nvSpPr>
        <p:spPr>
          <a:xfrm>
            <a:off x="457200" y="3392424"/>
            <a:ext cx="8229600" cy="384048"/>
          </a:xfrm>
          <a:prstGeom prst="roundRect">
            <a:avLst>
              <a:gd name="adj" fmla="val 2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7" name="Badge"/>
          <p:cNvSpPr/>
          <p:nvPr/>
        </p:nvSpPr>
        <p:spPr>
          <a:xfrm>
            <a:off x="548640" y="3429000"/>
            <a:ext cx="310896" cy="310896"/>
          </a:xfrm>
          <a:prstGeom prst="ellipse">
            <a:avLst/>
          </a:prstGeom>
          <a:solidFill>
            <a:schemeClr val="accent5"/>
          </a:solidFill>
          <a:ln w="6350">
            <a:solidFill>
              <a:schemeClr val="accent5"/>
            </a:solidFill>
            <a:prstDash val="solid"/>
          </a:ln>
        </p:spPr>
      </p:sp>
      <p:sp>
        <p:nvSpPr>
          <p:cNvPr id="28" name="Text 25"/>
          <p:cNvSpPr txBox="1"/>
          <p:nvPr/>
        </p:nvSpPr>
        <p:spPr>
          <a:xfrm>
            <a:off x="548640" y="3429000"/>
            <a:ext cx="310896" cy="310896"/>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9" name="Text 26"/>
          <p:cNvSpPr txBox="1"/>
          <p:nvPr/>
        </p:nvSpPr>
        <p:spPr>
          <a:xfrm>
            <a:off x="1005840" y="3392424"/>
            <a:ext cx="2377440" cy="384048"/>
          </a:xfrm>
          <a:prstGeom prst="rect">
            <a:avLst/>
          </a:prstGeom>
          <a:noFill/>
          <a:ln/>
        </p:spPr>
        <p:txBody>
          <a:bodyPr wrap="square" lIns="0" tIns="0" rIns="0" bIns="0" rtlCol="0" anchor="ctr"/>
          <a:lstStyle/>
          <a:p>
            <a:pPr marL="0" indent="0">
              <a:buNone/>
            </a:pPr>
            <a:r>
              <a:rPr lang="en-US" sz="1300" b="1" dirty="0">
                <a:solidFill>
                  <a:schemeClr val="accent4"/>
                </a:solidFill>
              </a:rPr>
              <a:t>Paragraphs / sections</a:t>
            </a:r>
            <a:endParaRPr lang="en-US" sz="1300" dirty="0"/>
          </a:p>
        </p:txBody>
      </p:sp>
      <p:sp>
        <p:nvSpPr>
          <p:cNvPr id="30" name="Text 27"/>
          <p:cNvSpPr txBox="1"/>
          <p:nvPr/>
        </p:nvSpPr>
        <p:spPr>
          <a:xfrm>
            <a:off x="3429000" y="3392424"/>
            <a:ext cx="5120640" cy="384048"/>
          </a:xfrm>
          <a:prstGeom prst="rect">
            <a:avLst/>
          </a:prstGeom>
          <a:noFill/>
          <a:ln/>
        </p:spPr>
        <p:txBody>
          <a:bodyPr wrap="square" lIns="0" tIns="0" rIns="0" bIns="0" rtlCol="0" anchor="ctr"/>
          <a:lstStyle/>
          <a:p>
            <a:pPr marL="0" indent="0">
              <a:buNone/>
            </a:pPr>
            <a:r>
              <a:rPr lang="en-US" sz="1200" dirty="0">
                <a:solidFill>
                  <a:schemeClr val="tx1"/>
                </a:solidFill>
              </a:rPr>
              <a:t>Personal background, Education, Training…</a:t>
            </a:r>
            <a:endParaRPr lang="en-US" sz="1200" dirty="0"/>
          </a:p>
        </p:txBody>
      </p:sp>
      <p:sp>
        <p:nvSpPr>
          <p:cNvPr id="31" name="Feature 6"/>
          <p:cNvSpPr/>
          <p:nvPr/>
        </p:nvSpPr>
        <p:spPr>
          <a:xfrm>
            <a:off x="457200" y="3840480"/>
            <a:ext cx="8229600" cy="384048"/>
          </a:xfrm>
          <a:prstGeom prst="roundRect">
            <a:avLst>
              <a:gd name="adj" fmla="val 2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2" name="Badge"/>
          <p:cNvSpPr/>
          <p:nvPr/>
        </p:nvSpPr>
        <p:spPr>
          <a:xfrm>
            <a:off x="548640" y="3877056"/>
            <a:ext cx="310896" cy="310896"/>
          </a:xfrm>
          <a:prstGeom prst="ellipse">
            <a:avLst/>
          </a:prstGeom>
          <a:solidFill>
            <a:schemeClr val="accent1"/>
          </a:solidFill>
          <a:ln w="6350">
            <a:solidFill>
              <a:schemeClr val="accent1"/>
            </a:solidFill>
            <a:prstDash val="solid"/>
          </a:ln>
        </p:spPr>
      </p:sp>
      <p:sp>
        <p:nvSpPr>
          <p:cNvPr id="33" name="Text 30"/>
          <p:cNvSpPr txBox="1"/>
          <p:nvPr/>
        </p:nvSpPr>
        <p:spPr>
          <a:xfrm>
            <a:off x="548640" y="3877056"/>
            <a:ext cx="310896" cy="310896"/>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6</a:t>
            </a:r>
            <a:endParaRPr lang="en-US" sz="1500" dirty="0"/>
          </a:p>
        </p:txBody>
      </p:sp>
      <p:sp>
        <p:nvSpPr>
          <p:cNvPr id="34" name="Text 31"/>
          <p:cNvSpPr txBox="1"/>
          <p:nvPr/>
        </p:nvSpPr>
        <p:spPr>
          <a:xfrm>
            <a:off x="1005840" y="3840480"/>
            <a:ext cx="2377440" cy="384048"/>
          </a:xfrm>
          <a:prstGeom prst="rect">
            <a:avLst/>
          </a:prstGeom>
          <a:noFill/>
          <a:ln/>
        </p:spPr>
        <p:txBody>
          <a:bodyPr wrap="square" lIns="0" tIns="0" rIns="0" bIns="0" rtlCol="0" anchor="ctr"/>
          <a:lstStyle/>
          <a:p>
            <a:pPr marL="0" indent="0">
              <a:buNone/>
            </a:pPr>
            <a:r>
              <a:rPr lang="en-US" sz="1300" b="1" dirty="0">
                <a:solidFill>
                  <a:schemeClr val="accent4"/>
                </a:solidFill>
              </a:rPr>
              <a:t>Pictures and captions</a:t>
            </a:r>
            <a:endParaRPr lang="en-US" sz="1300" dirty="0"/>
          </a:p>
        </p:txBody>
      </p:sp>
      <p:sp>
        <p:nvSpPr>
          <p:cNvPr id="35" name="Text 32"/>
          <p:cNvSpPr txBox="1"/>
          <p:nvPr/>
        </p:nvSpPr>
        <p:spPr>
          <a:xfrm>
            <a:off x="3429000" y="3840480"/>
            <a:ext cx="5120640" cy="384048"/>
          </a:xfrm>
          <a:prstGeom prst="rect">
            <a:avLst/>
          </a:prstGeom>
          <a:noFill/>
          <a:ln/>
        </p:spPr>
        <p:txBody>
          <a:bodyPr wrap="square" lIns="0" tIns="0" rIns="0" bIns="0" rtlCol="0" anchor="ctr"/>
          <a:lstStyle/>
          <a:p>
            <a:pPr marL="0" indent="0">
              <a:buNone/>
            </a:pPr>
            <a:r>
              <a:rPr lang="en-US" sz="1200" dirty="0">
                <a:solidFill>
                  <a:schemeClr val="tx1"/>
                </a:solidFill>
              </a:rPr>
              <a:t>a photograph of Samantha in her flight suit</a:t>
            </a:r>
            <a:endParaRPr lang="en-US" sz="1200" dirty="0"/>
          </a:p>
        </p:txBody>
      </p:sp>
      <p:sp>
        <p:nvSpPr>
          <p:cNvPr id="36" name="Feature 7"/>
          <p:cNvSpPr/>
          <p:nvPr/>
        </p:nvSpPr>
        <p:spPr>
          <a:xfrm>
            <a:off x="457200" y="4288536"/>
            <a:ext cx="8229600" cy="384048"/>
          </a:xfrm>
          <a:prstGeom prst="roundRect">
            <a:avLst>
              <a:gd name="adj" fmla="val 2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7" name="Badge"/>
          <p:cNvSpPr/>
          <p:nvPr/>
        </p:nvSpPr>
        <p:spPr>
          <a:xfrm>
            <a:off x="548640" y="4325112"/>
            <a:ext cx="310896" cy="310896"/>
          </a:xfrm>
          <a:prstGeom prst="ellipse">
            <a:avLst/>
          </a:prstGeom>
          <a:solidFill>
            <a:schemeClr val="accent2"/>
          </a:solidFill>
          <a:ln w="6350">
            <a:solidFill>
              <a:schemeClr val="accent2"/>
            </a:solidFill>
            <a:prstDash val="solid"/>
          </a:ln>
        </p:spPr>
      </p:sp>
      <p:sp>
        <p:nvSpPr>
          <p:cNvPr id="38" name="Text 35"/>
          <p:cNvSpPr txBox="1"/>
          <p:nvPr/>
        </p:nvSpPr>
        <p:spPr>
          <a:xfrm>
            <a:off x="548640" y="4325112"/>
            <a:ext cx="310896" cy="310896"/>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7</a:t>
            </a:r>
            <a:endParaRPr lang="en-US" sz="1500" dirty="0"/>
          </a:p>
        </p:txBody>
      </p:sp>
      <p:sp>
        <p:nvSpPr>
          <p:cNvPr id="39" name="Text 36"/>
          <p:cNvSpPr txBox="1"/>
          <p:nvPr/>
        </p:nvSpPr>
        <p:spPr>
          <a:xfrm>
            <a:off x="1005840" y="4288536"/>
            <a:ext cx="2377440" cy="384048"/>
          </a:xfrm>
          <a:prstGeom prst="rect">
            <a:avLst/>
          </a:prstGeom>
          <a:noFill/>
          <a:ln/>
        </p:spPr>
        <p:txBody>
          <a:bodyPr wrap="square" lIns="0" tIns="0" rIns="0" bIns="0" rtlCol="0" anchor="ctr"/>
          <a:lstStyle/>
          <a:p>
            <a:pPr marL="0" indent="0">
              <a:buNone/>
            </a:pPr>
            <a:r>
              <a:rPr lang="en-US" sz="1300" b="1" dirty="0">
                <a:solidFill>
                  <a:schemeClr val="accent4"/>
                </a:solidFill>
              </a:rPr>
              <a:t>Direct speech</a:t>
            </a:r>
            <a:endParaRPr lang="en-US" sz="1300" dirty="0"/>
          </a:p>
        </p:txBody>
      </p:sp>
      <p:sp>
        <p:nvSpPr>
          <p:cNvPr id="40" name="Text 37"/>
          <p:cNvSpPr txBox="1"/>
          <p:nvPr/>
        </p:nvSpPr>
        <p:spPr>
          <a:xfrm>
            <a:off x="3429000" y="4288536"/>
            <a:ext cx="5120640" cy="384048"/>
          </a:xfrm>
          <a:prstGeom prst="rect">
            <a:avLst/>
          </a:prstGeom>
          <a:noFill/>
          <a:ln/>
        </p:spPr>
        <p:txBody>
          <a:bodyPr wrap="square" lIns="0" tIns="0" rIns="0" bIns="0" rtlCol="0" anchor="ctr"/>
          <a:lstStyle/>
          <a:p>
            <a:pPr marL="0" indent="0">
              <a:buNone/>
            </a:pPr>
            <a:r>
              <a:rPr lang="en-US" sz="1200" dirty="0">
                <a:solidFill>
                  <a:schemeClr val="tx1"/>
                </a:solidFill>
              </a:rPr>
              <a:t>‘The sky is not the limit.’</a:t>
            </a:r>
            <a:endParaRPr lang="en-US" sz="12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art chip"/>
          <p:cNvSpPr/>
          <p:nvPr/>
        </p:nvSpPr>
        <p:spPr>
          <a:xfrm>
            <a:off x="731520" y="1417320"/>
            <a:ext cx="1371600" cy="347472"/>
          </a:xfrm>
          <a:prstGeom prst="roundRect">
            <a:avLst>
              <a:gd name="adj" fmla="val 31579"/>
            </a:avLst>
          </a:prstGeom>
          <a:solidFill>
            <a:schemeClr val="accent1"/>
          </a:solidFill>
          <a:ln w="9525">
            <a:solidFill>
              <a:schemeClr val="accent1"/>
            </a:solidFill>
            <a:prstDash val="solid"/>
          </a:ln>
        </p:spPr>
        <p:txBody>
          <a:bodyPr/>
          <a:lstStyle/>
          <a:p>
            <a:endParaRPr/>
          </a:p>
        </p:txBody>
      </p:sp>
      <p:sp>
        <p:nvSpPr>
          <p:cNvPr id="3" name="Text 1"/>
          <p:cNvSpPr txBox="1"/>
          <p:nvPr/>
        </p:nvSpPr>
        <p:spPr>
          <a:xfrm>
            <a:off x="731520" y="1417320"/>
            <a:ext cx="1371600" cy="347472"/>
          </a:xfrm>
          <a:prstGeom prst="rect">
            <a:avLst/>
          </a:prstGeom>
          <a:noFill/>
          <a:ln/>
        </p:spPr>
        <p:txBody>
          <a:bodyPr wrap="square" lIns="0" tIns="0" rIns="0" bIns="0" rtlCol="0" anchor="ctr"/>
          <a:lstStyle/>
          <a:p>
            <a:pPr marL="0" indent="0" algn="ctr">
              <a:buNone/>
            </a:pPr>
            <a:r>
              <a:rPr lang="en-US" sz="1300" b="1" dirty="0">
                <a:solidFill>
                  <a:schemeClr val="tx1"/>
                </a:solidFill>
              </a:rPr>
              <a:t>PART 1</a:t>
            </a:r>
            <a:endParaRPr lang="en-US" sz="1300" dirty="0"/>
          </a:p>
        </p:txBody>
      </p:sp>
      <p:sp>
        <p:nvSpPr>
          <p:cNvPr id="4" name="Text 2"/>
          <p:cNvSpPr txBox="1"/>
          <p:nvPr/>
        </p:nvSpPr>
        <p:spPr>
          <a:xfrm>
            <a:off x="731520" y="1920240"/>
            <a:ext cx="5486400" cy="1005840"/>
          </a:xfrm>
          <a:prstGeom prst="rect">
            <a:avLst/>
          </a:prstGeom>
          <a:noFill/>
          <a:ln/>
        </p:spPr>
        <p:txBody>
          <a:bodyPr wrap="square" lIns="0" tIns="0" rIns="0" bIns="0" rtlCol="0" anchor="ctr"/>
          <a:lstStyle/>
          <a:p>
            <a:pPr marL="0" indent="0">
              <a:buNone/>
            </a:pPr>
            <a:r>
              <a:rPr lang="en-US" sz="3800" b="1" dirty="0">
                <a:solidFill>
                  <a:schemeClr val="accent5"/>
                </a:solidFill>
                <a:latin typeface="+mj-lt" pitchFamily="34" charset="0"/>
                <a:ea typeface="+mj-lt" pitchFamily="34" charset="-122"/>
                <a:cs typeface="+mj-lt" pitchFamily="34" charset="-120"/>
              </a:rPr>
              <a:t>Features and Point of View</a:t>
            </a:r>
            <a:endParaRPr lang="en-US" sz="3800" dirty="0"/>
          </a:p>
        </p:txBody>
      </p:sp>
      <p:sp>
        <p:nvSpPr>
          <p:cNvPr id="5" name="Text 3"/>
          <p:cNvSpPr txBox="1"/>
          <p:nvPr/>
        </p:nvSpPr>
        <p:spPr>
          <a:xfrm>
            <a:off x="731520" y="3017520"/>
            <a:ext cx="5120640" cy="457200"/>
          </a:xfrm>
          <a:prstGeom prst="rect">
            <a:avLst/>
          </a:prstGeom>
          <a:noFill/>
          <a:ln/>
        </p:spPr>
        <p:txBody>
          <a:bodyPr wrap="square" lIns="0" tIns="0" rIns="0" bIns="0" rtlCol="0" anchor="ctr"/>
          <a:lstStyle/>
          <a:p>
            <a:pPr marL="0" indent="0">
              <a:buNone/>
            </a:pPr>
            <a:r>
              <a:rPr lang="en-US" sz="1800" i="1" dirty="0">
                <a:solidFill>
                  <a:schemeClr val="bg1"/>
                </a:solidFill>
              </a:rPr>
              <a:t>Activities 1 and 2</a:t>
            </a:r>
            <a:endParaRPr lang="en-US" sz="18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1"/>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Skim read the text</a:t>
            </a:r>
            <a:endParaRPr lang="en-US" sz="3000" dirty="0"/>
          </a:p>
        </p:txBody>
      </p:sp>
      <p:sp>
        <p:nvSpPr>
          <p:cNvPr id="4" name="Skim card"/>
          <p:cNvSpPr/>
          <p:nvPr/>
        </p:nvSpPr>
        <p:spPr>
          <a:xfrm>
            <a:off x="457200" y="1051560"/>
            <a:ext cx="4023360" cy="3108960"/>
          </a:xfrm>
          <a:prstGeom prst="roundRect">
            <a:avLst>
              <a:gd name="adj" fmla="val 35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Text 2"/>
          <p:cNvSpPr txBox="1"/>
          <p:nvPr/>
        </p:nvSpPr>
        <p:spPr>
          <a:xfrm>
            <a:off x="685800" y="1143000"/>
            <a:ext cx="3657600" cy="274320"/>
          </a:xfrm>
          <a:prstGeom prst="rect">
            <a:avLst/>
          </a:prstGeom>
          <a:noFill/>
          <a:ln/>
        </p:spPr>
        <p:txBody>
          <a:bodyPr wrap="square" lIns="0" tIns="0" rIns="0" bIns="0" rtlCol="0" anchor="ctr"/>
          <a:lstStyle/>
          <a:p>
            <a:pPr marL="0" indent="0">
              <a:buNone/>
            </a:pPr>
            <a:r>
              <a:rPr lang="en-US" sz="1300" b="1" dirty="0">
                <a:solidFill>
                  <a:schemeClr val="accent4"/>
                </a:solidFill>
              </a:rPr>
              <a:t>SKIM: LOOK AT…</a:t>
            </a:r>
            <a:endParaRPr lang="en-US" sz="1300" dirty="0"/>
          </a:p>
        </p:txBody>
      </p:sp>
      <p:sp>
        <p:nvSpPr>
          <p:cNvPr id="6" name="Text 3"/>
          <p:cNvSpPr txBox="1"/>
          <p:nvPr/>
        </p:nvSpPr>
        <p:spPr>
          <a:xfrm>
            <a:off x="685800" y="1508760"/>
            <a:ext cx="365760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the title: Astronaut Samantha Cristoforetti</a:t>
            </a:r>
            <a:endParaRPr lang="en-US" sz="1400" dirty="0"/>
          </a:p>
          <a:p>
            <a:pPr marL="342900" indent="-342900">
              <a:spcAft>
                <a:spcPts val="800"/>
              </a:spcAft>
              <a:buSzPct val="100000"/>
              <a:buChar char="•"/>
            </a:pPr>
            <a:r>
              <a:rPr lang="en-US" sz="1400" dirty="0">
                <a:solidFill>
                  <a:schemeClr val="tx1"/>
                </a:solidFill>
              </a:rPr>
              <a:t>the author: Year 5 learners, Hillside School</a:t>
            </a:r>
            <a:endParaRPr lang="en-US" sz="1400" dirty="0"/>
          </a:p>
          <a:p>
            <a:pPr marL="342900" indent="-342900">
              <a:spcAft>
                <a:spcPts val="800"/>
              </a:spcAft>
              <a:buSzPct val="100000"/>
              <a:buChar char="•"/>
            </a:pPr>
            <a:r>
              <a:rPr lang="en-US" sz="1400" dirty="0">
                <a:solidFill>
                  <a:schemeClr val="tx1"/>
                </a:solidFill>
              </a:rPr>
              <a:t>the first line: ‘Samantha Cristoforetti is an ESA astronaut.’</a:t>
            </a:r>
            <a:endParaRPr lang="en-US" sz="1400" dirty="0"/>
          </a:p>
          <a:p>
            <a:pPr marL="342900" indent="-342900">
              <a:spcAft>
                <a:spcPts val="800"/>
              </a:spcAft>
              <a:buSzPct val="100000"/>
              <a:buChar char="•"/>
            </a:pPr>
            <a:r>
              <a:rPr lang="en-US" sz="1400" dirty="0">
                <a:solidFill>
                  <a:schemeClr val="tx1"/>
                </a:solidFill>
              </a:rPr>
              <a:t>the headings</a:t>
            </a:r>
            <a:endParaRPr lang="en-US" sz="1400" dirty="0"/>
          </a:p>
          <a:p>
            <a:pPr marL="342900" indent="-342900">
              <a:spcAft>
                <a:spcPts val="800"/>
              </a:spcAft>
              <a:buSzPct val="100000"/>
              <a:buChar char="•"/>
            </a:pPr>
            <a:r>
              <a:rPr lang="en-US" sz="1400" dirty="0">
                <a:solidFill>
                  <a:schemeClr val="tx1"/>
                </a:solidFill>
              </a:rPr>
              <a:t>the photograph</a:t>
            </a:r>
            <a:endParaRPr lang="en-US" sz="1400" dirty="0"/>
          </a:p>
        </p:txBody>
      </p:sp>
      <p:sp>
        <p:nvSpPr>
          <p:cNvPr id="7" name="Discuss card"/>
          <p:cNvSpPr/>
          <p:nvPr/>
        </p:nvSpPr>
        <p:spPr>
          <a:xfrm>
            <a:off x="4663440" y="1051560"/>
            <a:ext cx="4023360" cy="3108960"/>
          </a:xfrm>
          <a:prstGeom prst="roundRect">
            <a:avLst>
              <a:gd name="adj" fmla="val 3529"/>
            </a:avLst>
          </a:prstGeom>
          <a:solidFill>
            <a:schemeClr val="accent4"/>
          </a:solidFill>
          <a:ln w="9525">
            <a:solidFill>
              <a:schemeClr val="accent4"/>
            </a:solidFill>
            <a:prstDash val="solid"/>
          </a:ln>
        </p:spPr>
      </p:sp>
      <p:sp>
        <p:nvSpPr>
          <p:cNvPr id="8" name="Text 5"/>
          <p:cNvSpPr txBox="1"/>
          <p:nvPr/>
        </p:nvSpPr>
        <p:spPr>
          <a:xfrm>
            <a:off x="4892040" y="1143000"/>
            <a:ext cx="3657600" cy="274320"/>
          </a:xfrm>
          <a:prstGeom prst="rect">
            <a:avLst/>
          </a:prstGeom>
          <a:noFill/>
          <a:ln/>
        </p:spPr>
        <p:txBody>
          <a:bodyPr wrap="square" lIns="0" tIns="0" rIns="0" bIns="0" rtlCol="0" anchor="ctr"/>
          <a:lstStyle/>
          <a:p>
            <a:pPr marL="0" indent="0">
              <a:buNone/>
            </a:pPr>
            <a:r>
              <a:rPr lang="en-US" sz="1300" b="1" dirty="0">
                <a:solidFill>
                  <a:schemeClr val="accent5"/>
                </a:solidFill>
              </a:rPr>
              <a:t>THEN DISCUSS</a:t>
            </a:r>
            <a:endParaRPr lang="en-US" sz="1300" dirty="0"/>
          </a:p>
        </p:txBody>
      </p:sp>
      <p:sp>
        <p:nvSpPr>
          <p:cNvPr id="9" name="Text 6"/>
          <p:cNvSpPr txBox="1"/>
          <p:nvPr/>
        </p:nvSpPr>
        <p:spPr>
          <a:xfrm>
            <a:off x="4892040" y="1508760"/>
            <a:ext cx="3611880"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Who is the text about?</a:t>
            </a:r>
            <a:endParaRPr lang="en-US" sz="1600" dirty="0"/>
          </a:p>
          <a:p>
            <a:pPr marL="342900" indent="-342900">
              <a:spcAft>
                <a:spcPts val="1000"/>
              </a:spcAft>
              <a:buSzPct val="100000"/>
              <a:buChar char="•"/>
            </a:pPr>
            <a:r>
              <a:rPr lang="en-US" sz="1600" dirty="0">
                <a:solidFill>
                  <a:schemeClr val="bg1"/>
                </a:solidFill>
              </a:rPr>
              <a:t>What kind of text is it?</a:t>
            </a:r>
            <a:endParaRPr lang="en-US" sz="1600" dirty="0"/>
          </a:p>
          <a:p>
            <a:pPr marL="342900" indent="-342900">
              <a:spcAft>
                <a:spcPts val="1000"/>
              </a:spcAft>
              <a:buSzPct val="100000"/>
              <a:buChar char="•"/>
            </a:pPr>
            <a:r>
              <a:rPr lang="en-US" sz="1600" dirty="0">
                <a:solidFill>
                  <a:schemeClr val="bg1"/>
                </a:solidFill>
              </a:rPr>
              <a:t>How is it organised?</a:t>
            </a:r>
            <a:endParaRPr lang="en-US" sz="1600" dirty="0"/>
          </a:p>
          <a:p>
            <a:pPr marL="342900" indent="-342900">
              <a:spcAft>
                <a:spcPts val="1000"/>
              </a:spcAft>
              <a:buSzPct val="100000"/>
              <a:buChar char="•"/>
            </a:pPr>
            <a:r>
              <a:rPr lang="en-US" sz="1600" dirty="0">
                <a:solidFill>
                  <a:schemeClr val="bg1"/>
                </a:solidFill>
              </a:rPr>
              <a:t>What do the headings tell you?</a:t>
            </a:r>
            <a:endParaRPr lang="en-US" sz="1600" dirty="0"/>
          </a:p>
        </p:txBody>
      </p:sp>
      <p:sp>
        <p:nvSpPr>
          <p:cNvPr id="10" name="Callout"/>
          <p:cNvSpPr/>
          <p:nvPr/>
        </p:nvSpPr>
        <p:spPr>
          <a:xfrm>
            <a:off x="457200" y="4297680"/>
            <a:ext cx="8229600" cy="365760"/>
          </a:xfrm>
          <a:prstGeom prst="roundRect">
            <a:avLst>
              <a:gd name="adj" fmla="val 30000"/>
            </a:avLst>
          </a:prstGeom>
          <a:solidFill>
            <a:schemeClr val="accent5"/>
          </a:solidFill>
          <a:ln w="9525">
            <a:solidFill>
              <a:schemeClr val="accent5"/>
            </a:solidFill>
            <a:prstDash val="solid"/>
          </a:ln>
        </p:spPr>
      </p:sp>
      <p:sp>
        <p:nvSpPr>
          <p:cNvPr id="11" name="Text 8"/>
          <p:cNvSpPr txBox="1"/>
          <p:nvPr/>
        </p:nvSpPr>
        <p:spPr>
          <a:xfrm>
            <a:off x="640080" y="4297680"/>
            <a:ext cx="7863840" cy="365760"/>
          </a:xfrm>
          <a:prstGeom prst="rect">
            <a:avLst/>
          </a:prstGeom>
          <a:noFill/>
          <a:ln/>
        </p:spPr>
        <p:txBody>
          <a:bodyPr wrap="square" lIns="0" tIns="0" rIns="0" bIns="0" rtlCol="0" anchor="ctr"/>
          <a:lstStyle/>
          <a:p>
            <a:pPr marL="0" indent="0" algn="ctr">
              <a:buNone/>
            </a:pPr>
            <a:r>
              <a:rPr lang="en-US" sz="1600" b="1" dirty="0">
                <a:solidFill>
                  <a:schemeClr val="tx1"/>
                </a:solidFill>
              </a:rPr>
              <a:t>Skimming = a quick read for the main idea</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Sections of the biography</a:t>
            </a:r>
            <a:endParaRPr lang="en-US" sz="3000" dirty="0"/>
          </a:p>
        </p:txBody>
      </p:sp>
      <p:sp>
        <p:nvSpPr>
          <p:cNvPr id="4" name="Section Personal background"/>
          <p:cNvSpPr/>
          <p:nvPr/>
        </p:nvSpPr>
        <p:spPr>
          <a:xfrm>
            <a:off x="457200" y="1051560"/>
            <a:ext cx="402336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66928" y="1234440"/>
            <a:ext cx="411480" cy="411480"/>
          </a:xfrm>
          <a:prstGeom prst="ellipse">
            <a:avLst/>
          </a:prstGeom>
          <a:solidFill>
            <a:schemeClr val="accent1"/>
          </a:solidFill>
          <a:ln w="6350">
            <a:solidFill>
              <a:schemeClr val="accent1"/>
            </a:solidFill>
            <a:prstDash val="solid"/>
          </a:ln>
        </p:spPr>
      </p:sp>
      <p:sp>
        <p:nvSpPr>
          <p:cNvPr id="6" name="Text 3"/>
          <p:cNvSpPr txBox="1"/>
          <p:nvPr/>
        </p:nvSpPr>
        <p:spPr>
          <a:xfrm>
            <a:off x="566928" y="123444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097280" y="1097280"/>
            <a:ext cx="3291840" cy="347472"/>
          </a:xfrm>
          <a:prstGeom prst="rect">
            <a:avLst/>
          </a:prstGeom>
          <a:noFill/>
          <a:ln/>
        </p:spPr>
        <p:txBody>
          <a:bodyPr wrap="square" lIns="0" tIns="0" rIns="0" bIns="0" rtlCol="0" anchor="ctr"/>
          <a:lstStyle/>
          <a:p>
            <a:pPr marL="0" indent="0">
              <a:buNone/>
            </a:pPr>
            <a:r>
              <a:rPr lang="en-US" sz="1500" b="1" dirty="0">
                <a:solidFill>
                  <a:schemeClr val="accent4"/>
                </a:solidFill>
                <a:latin typeface="+mj-lt" pitchFamily="34" charset="0"/>
                <a:ea typeface="+mj-lt" pitchFamily="34" charset="-122"/>
                <a:cs typeface="+mj-lt" pitchFamily="34" charset="-120"/>
              </a:rPr>
              <a:t>Personal background</a:t>
            </a:r>
            <a:endParaRPr lang="en-US" sz="1500" dirty="0"/>
          </a:p>
        </p:txBody>
      </p:sp>
      <p:sp>
        <p:nvSpPr>
          <p:cNvPr id="8" name="Text 5"/>
          <p:cNvSpPr txBox="1"/>
          <p:nvPr/>
        </p:nvSpPr>
        <p:spPr>
          <a:xfrm>
            <a:off x="1097280" y="1435608"/>
            <a:ext cx="3291840" cy="384048"/>
          </a:xfrm>
          <a:prstGeom prst="rect">
            <a:avLst/>
          </a:prstGeom>
          <a:noFill/>
          <a:ln/>
        </p:spPr>
        <p:txBody>
          <a:bodyPr wrap="square" lIns="0" tIns="0" rIns="0" bIns="0" rtlCol="0" anchor="t"/>
          <a:lstStyle/>
          <a:p>
            <a:pPr marL="0" indent="0">
              <a:buNone/>
            </a:pPr>
            <a:r>
              <a:rPr lang="en-US" sz="1200" dirty="0">
                <a:solidFill>
                  <a:schemeClr val="tx1"/>
                </a:solidFill>
              </a:rPr>
              <a:t>introduces her: where and when she was born</a:t>
            </a:r>
            <a:endParaRPr lang="en-US" sz="1200" dirty="0"/>
          </a:p>
        </p:txBody>
      </p:sp>
      <p:sp>
        <p:nvSpPr>
          <p:cNvPr id="9" name="Section Education"/>
          <p:cNvSpPr/>
          <p:nvPr/>
        </p:nvSpPr>
        <p:spPr>
          <a:xfrm>
            <a:off x="4663440" y="1051560"/>
            <a:ext cx="402336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4773168" y="1234440"/>
            <a:ext cx="411480" cy="411480"/>
          </a:xfrm>
          <a:prstGeom prst="ellipse">
            <a:avLst/>
          </a:prstGeom>
          <a:solidFill>
            <a:schemeClr val="accent2"/>
          </a:solidFill>
          <a:ln w="6350">
            <a:solidFill>
              <a:schemeClr val="accent2"/>
            </a:solidFill>
            <a:prstDash val="solid"/>
          </a:ln>
        </p:spPr>
      </p:sp>
      <p:sp>
        <p:nvSpPr>
          <p:cNvPr id="11" name="Text 8"/>
          <p:cNvSpPr txBox="1"/>
          <p:nvPr/>
        </p:nvSpPr>
        <p:spPr>
          <a:xfrm>
            <a:off x="4773168" y="123444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5303520" y="1097280"/>
            <a:ext cx="3291840" cy="347472"/>
          </a:xfrm>
          <a:prstGeom prst="rect">
            <a:avLst/>
          </a:prstGeom>
          <a:noFill/>
          <a:ln/>
        </p:spPr>
        <p:txBody>
          <a:bodyPr wrap="square" lIns="0" tIns="0" rIns="0" bIns="0" rtlCol="0" anchor="ctr"/>
          <a:lstStyle/>
          <a:p>
            <a:pPr marL="0" indent="0">
              <a:buNone/>
            </a:pPr>
            <a:r>
              <a:rPr lang="en-US" sz="1500" b="1" dirty="0">
                <a:solidFill>
                  <a:schemeClr val="accent4"/>
                </a:solidFill>
                <a:latin typeface="+mj-lt" pitchFamily="34" charset="0"/>
                <a:ea typeface="+mj-lt" pitchFamily="34" charset="-122"/>
                <a:cs typeface="+mj-lt" pitchFamily="34" charset="-120"/>
              </a:rPr>
              <a:t>Education</a:t>
            </a:r>
            <a:endParaRPr lang="en-US" sz="1500" dirty="0"/>
          </a:p>
        </p:txBody>
      </p:sp>
      <p:sp>
        <p:nvSpPr>
          <p:cNvPr id="13" name="Text 10"/>
          <p:cNvSpPr txBox="1"/>
          <p:nvPr/>
        </p:nvSpPr>
        <p:spPr>
          <a:xfrm>
            <a:off x="5303520" y="1435608"/>
            <a:ext cx="3291840" cy="384048"/>
          </a:xfrm>
          <a:prstGeom prst="rect">
            <a:avLst/>
          </a:prstGeom>
          <a:noFill/>
          <a:ln/>
        </p:spPr>
        <p:txBody>
          <a:bodyPr wrap="square" lIns="0" tIns="0" rIns="0" bIns="0" rtlCol="0" anchor="t"/>
          <a:lstStyle/>
          <a:p>
            <a:pPr marL="0" indent="0">
              <a:buNone/>
            </a:pPr>
            <a:r>
              <a:rPr lang="en-US" sz="1200" dirty="0">
                <a:solidFill>
                  <a:schemeClr val="tx1"/>
                </a:solidFill>
              </a:rPr>
              <a:t>what she studied</a:t>
            </a:r>
            <a:endParaRPr lang="en-US" sz="1200" dirty="0"/>
          </a:p>
        </p:txBody>
      </p:sp>
      <p:sp>
        <p:nvSpPr>
          <p:cNvPr id="14" name="Section Training"/>
          <p:cNvSpPr/>
          <p:nvPr/>
        </p:nvSpPr>
        <p:spPr>
          <a:xfrm>
            <a:off x="457200" y="1965960"/>
            <a:ext cx="402336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566928" y="2148840"/>
            <a:ext cx="411480" cy="411480"/>
          </a:xfrm>
          <a:prstGeom prst="ellipse">
            <a:avLst/>
          </a:prstGeom>
          <a:solidFill>
            <a:schemeClr val="accent3"/>
          </a:solidFill>
          <a:ln w="6350">
            <a:solidFill>
              <a:schemeClr val="accent3"/>
            </a:solidFill>
            <a:prstDash val="solid"/>
          </a:ln>
        </p:spPr>
      </p:sp>
      <p:sp>
        <p:nvSpPr>
          <p:cNvPr id="16" name="Text 13"/>
          <p:cNvSpPr txBox="1"/>
          <p:nvPr/>
        </p:nvSpPr>
        <p:spPr>
          <a:xfrm>
            <a:off x="566928" y="214884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097280" y="2011680"/>
            <a:ext cx="3291840" cy="347472"/>
          </a:xfrm>
          <a:prstGeom prst="rect">
            <a:avLst/>
          </a:prstGeom>
          <a:noFill/>
          <a:ln/>
        </p:spPr>
        <p:txBody>
          <a:bodyPr wrap="square" lIns="0" tIns="0" rIns="0" bIns="0" rtlCol="0" anchor="ctr"/>
          <a:lstStyle/>
          <a:p>
            <a:pPr marL="0" indent="0">
              <a:buNone/>
            </a:pPr>
            <a:r>
              <a:rPr lang="en-US" sz="1500" b="1" dirty="0">
                <a:solidFill>
                  <a:schemeClr val="accent4"/>
                </a:solidFill>
                <a:latin typeface="+mj-lt" pitchFamily="34" charset="0"/>
                <a:ea typeface="+mj-lt" pitchFamily="34" charset="-122"/>
                <a:cs typeface="+mj-lt" pitchFamily="34" charset="-120"/>
              </a:rPr>
              <a:t>Training</a:t>
            </a:r>
            <a:endParaRPr lang="en-US" sz="1500" dirty="0"/>
          </a:p>
        </p:txBody>
      </p:sp>
      <p:sp>
        <p:nvSpPr>
          <p:cNvPr id="18" name="Text 15"/>
          <p:cNvSpPr txBox="1"/>
          <p:nvPr/>
        </p:nvSpPr>
        <p:spPr>
          <a:xfrm>
            <a:off x="1097280" y="2350008"/>
            <a:ext cx="3291840" cy="384048"/>
          </a:xfrm>
          <a:prstGeom prst="rect">
            <a:avLst/>
          </a:prstGeom>
          <a:noFill/>
          <a:ln/>
        </p:spPr>
        <p:txBody>
          <a:bodyPr wrap="square" lIns="0" tIns="0" rIns="0" bIns="0" rtlCol="0" anchor="t"/>
          <a:lstStyle/>
          <a:p>
            <a:pPr marL="0" indent="0">
              <a:buNone/>
            </a:pPr>
            <a:r>
              <a:rPr lang="en-US" sz="1200" dirty="0">
                <a:solidFill>
                  <a:schemeClr val="tx1"/>
                </a:solidFill>
              </a:rPr>
              <a:t>how she became an astronaut</a:t>
            </a:r>
            <a:endParaRPr lang="en-US" sz="1200" dirty="0"/>
          </a:p>
        </p:txBody>
      </p:sp>
      <p:sp>
        <p:nvSpPr>
          <p:cNvPr id="19" name="Section The Futura Mission"/>
          <p:cNvSpPr/>
          <p:nvPr/>
        </p:nvSpPr>
        <p:spPr>
          <a:xfrm>
            <a:off x="4663440" y="1965960"/>
            <a:ext cx="402336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0" name="Badge"/>
          <p:cNvSpPr/>
          <p:nvPr/>
        </p:nvSpPr>
        <p:spPr>
          <a:xfrm>
            <a:off x="4773168" y="2148840"/>
            <a:ext cx="411480" cy="411480"/>
          </a:xfrm>
          <a:prstGeom prst="ellipse">
            <a:avLst/>
          </a:prstGeom>
          <a:solidFill>
            <a:schemeClr val="accent4"/>
          </a:solidFill>
          <a:ln w="6350">
            <a:solidFill>
              <a:schemeClr val="accent4"/>
            </a:solidFill>
            <a:prstDash val="solid"/>
          </a:ln>
        </p:spPr>
      </p:sp>
      <p:sp>
        <p:nvSpPr>
          <p:cNvPr id="21" name="Text 18"/>
          <p:cNvSpPr txBox="1"/>
          <p:nvPr/>
        </p:nvSpPr>
        <p:spPr>
          <a:xfrm>
            <a:off x="4773168" y="214884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2" name="Text 19"/>
          <p:cNvSpPr txBox="1"/>
          <p:nvPr/>
        </p:nvSpPr>
        <p:spPr>
          <a:xfrm>
            <a:off x="5303520" y="2011680"/>
            <a:ext cx="3291840" cy="347472"/>
          </a:xfrm>
          <a:prstGeom prst="rect">
            <a:avLst/>
          </a:prstGeom>
          <a:noFill/>
          <a:ln/>
        </p:spPr>
        <p:txBody>
          <a:bodyPr wrap="square" lIns="0" tIns="0" rIns="0" bIns="0" rtlCol="0" anchor="ctr"/>
          <a:lstStyle/>
          <a:p>
            <a:pPr marL="0" indent="0">
              <a:buNone/>
            </a:pPr>
            <a:r>
              <a:rPr lang="en-US" sz="1500" b="1" dirty="0">
                <a:solidFill>
                  <a:schemeClr val="accent4"/>
                </a:solidFill>
                <a:latin typeface="+mj-lt" pitchFamily="34" charset="0"/>
                <a:ea typeface="+mj-lt" pitchFamily="34" charset="-122"/>
                <a:cs typeface="+mj-lt" pitchFamily="34" charset="-120"/>
              </a:rPr>
              <a:t>The Futura Mission</a:t>
            </a:r>
            <a:endParaRPr lang="en-US" sz="1500" dirty="0"/>
          </a:p>
        </p:txBody>
      </p:sp>
      <p:sp>
        <p:nvSpPr>
          <p:cNvPr id="23" name="Text 20"/>
          <p:cNvSpPr txBox="1"/>
          <p:nvPr/>
        </p:nvSpPr>
        <p:spPr>
          <a:xfrm>
            <a:off x="5303520" y="2350008"/>
            <a:ext cx="3291840" cy="384048"/>
          </a:xfrm>
          <a:prstGeom prst="rect">
            <a:avLst/>
          </a:prstGeom>
          <a:noFill/>
          <a:ln/>
        </p:spPr>
        <p:txBody>
          <a:bodyPr wrap="square" lIns="0" tIns="0" rIns="0" bIns="0" rtlCol="0" anchor="t"/>
          <a:lstStyle/>
          <a:p>
            <a:pPr marL="0" indent="0">
              <a:buNone/>
            </a:pPr>
            <a:r>
              <a:rPr lang="en-US" sz="1200" dirty="0">
                <a:solidFill>
                  <a:schemeClr val="tx1"/>
                </a:solidFill>
              </a:rPr>
              <a:t>her time in space</a:t>
            </a:r>
            <a:endParaRPr lang="en-US" sz="1200" dirty="0"/>
          </a:p>
        </p:txBody>
      </p:sp>
      <p:sp>
        <p:nvSpPr>
          <p:cNvPr id="24" name="Section Current work"/>
          <p:cNvSpPr/>
          <p:nvPr/>
        </p:nvSpPr>
        <p:spPr>
          <a:xfrm>
            <a:off x="457200" y="2880360"/>
            <a:ext cx="402336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5" name="Badge"/>
          <p:cNvSpPr/>
          <p:nvPr/>
        </p:nvSpPr>
        <p:spPr>
          <a:xfrm>
            <a:off x="566928" y="3063240"/>
            <a:ext cx="411480" cy="411480"/>
          </a:xfrm>
          <a:prstGeom prst="ellipse">
            <a:avLst/>
          </a:prstGeom>
          <a:solidFill>
            <a:schemeClr val="accent5"/>
          </a:solidFill>
          <a:ln w="6350">
            <a:solidFill>
              <a:schemeClr val="accent5"/>
            </a:solidFill>
            <a:prstDash val="solid"/>
          </a:ln>
        </p:spPr>
      </p:sp>
      <p:sp>
        <p:nvSpPr>
          <p:cNvPr id="26" name="Text 23"/>
          <p:cNvSpPr txBox="1"/>
          <p:nvPr/>
        </p:nvSpPr>
        <p:spPr>
          <a:xfrm>
            <a:off x="566928" y="306324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7" name="Text 24"/>
          <p:cNvSpPr txBox="1"/>
          <p:nvPr/>
        </p:nvSpPr>
        <p:spPr>
          <a:xfrm>
            <a:off x="1097280" y="2926080"/>
            <a:ext cx="3291840" cy="347472"/>
          </a:xfrm>
          <a:prstGeom prst="rect">
            <a:avLst/>
          </a:prstGeom>
          <a:noFill/>
          <a:ln/>
        </p:spPr>
        <p:txBody>
          <a:bodyPr wrap="square" lIns="0" tIns="0" rIns="0" bIns="0" rtlCol="0" anchor="ctr"/>
          <a:lstStyle/>
          <a:p>
            <a:pPr marL="0" indent="0">
              <a:buNone/>
            </a:pPr>
            <a:r>
              <a:rPr lang="en-US" sz="1500" b="1" dirty="0">
                <a:solidFill>
                  <a:schemeClr val="accent4"/>
                </a:solidFill>
                <a:latin typeface="+mj-lt" pitchFamily="34" charset="0"/>
                <a:ea typeface="+mj-lt" pitchFamily="34" charset="-122"/>
                <a:cs typeface="+mj-lt" pitchFamily="34" charset="-120"/>
              </a:rPr>
              <a:t>Current work</a:t>
            </a:r>
            <a:endParaRPr lang="en-US" sz="1500" dirty="0"/>
          </a:p>
        </p:txBody>
      </p:sp>
      <p:sp>
        <p:nvSpPr>
          <p:cNvPr id="28" name="Text 25"/>
          <p:cNvSpPr txBox="1"/>
          <p:nvPr/>
        </p:nvSpPr>
        <p:spPr>
          <a:xfrm>
            <a:off x="1097280" y="3264408"/>
            <a:ext cx="3291840" cy="384048"/>
          </a:xfrm>
          <a:prstGeom prst="rect">
            <a:avLst/>
          </a:prstGeom>
          <a:noFill/>
          <a:ln/>
        </p:spPr>
        <p:txBody>
          <a:bodyPr wrap="square" lIns="0" tIns="0" rIns="0" bIns="0" rtlCol="0" anchor="t"/>
          <a:lstStyle/>
          <a:p>
            <a:pPr marL="0" indent="0">
              <a:buNone/>
            </a:pPr>
            <a:r>
              <a:rPr lang="en-US" sz="1200" dirty="0">
                <a:solidFill>
                  <a:schemeClr val="tx1"/>
                </a:solidFill>
              </a:rPr>
              <a:t>what she does now</a:t>
            </a:r>
            <a:endParaRPr lang="en-US" sz="1200" dirty="0"/>
          </a:p>
        </p:txBody>
      </p:sp>
      <p:sp>
        <p:nvSpPr>
          <p:cNvPr id="29" name="Section Future plans"/>
          <p:cNvSpPr/>
          <p:nvPr/>
        </p:nvSpPr>
        <p:spPr>
          <a:xfrm>
            <a:off x="4663440" y="2880360"/>
            <a:ext cx="402336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0" name="Badge"/>
          <p:cNvSpPr/>
          <p:nvPr/>
        </p:nvSpPr>
        <p:spPr>
          <a:xfrm>
            <a:off x="4773168" y="3063240"/>
            <a:ext cx="411480" cy="411480"/>
          </a:xfrm>
          <a:prstGeom prst="ellipse">
            <a:avLst/>
          </a:prstGeom>
          <a:solidFill>
            <a:schemeClr val="accent1"/>
          </a:solidFill>
          <a:ln w="6350">
            <a:solidFill>
              <a:schemeClr val="accent1"/>
            </a:solidFill>
            <a:prstDash val="solid"/>
          </a:ln>
        </p:spPr>
      </p:sp>
      <p:sp>
        <p:nvSpPr>
          <p:cNvPr id="31" name="Text 28"/>
          <p:cNvSpPr txBox="1"/>
          <p:nvPr/>
        </p:nvSpPr>
        <p:spPr>
          <a:xfrm>
            <a:off x="4773168" y="306324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6</a:t>
            </a:r>
            <a:endParaRPr lang="en-US" sz="1500" dirty="0"/>
          </a:p>
        </p:txBody>
      </p:sp>
      <p:sp>
        <p:nvSpPr>
          <p:cNvPr id="32" name="Text 29"/>
          <p:cNvSpPr txBox="1"/>
          <p:nvPr/>
        </p:nvSpPr>
        <p:spPr>
          <a:xfrm>
            <a:off x="5303520" y="2926080"/>
            <a:ext cx="3291840" cy="347472"/>
          </a:xfrm>
          <a:prstGeom prst="rect">
            <a:avLst/>
          </a:prstGeom>
          <a:noFill/>
          <a:ln/>
        </p:spPr>
        <p:txBody>
          <a:bodyPr wrap="square" lIns="0" tIns="0" rIns="0" bIns="0" rtlCol="0" anchor="ctr"/>
          <a:lstStyle/>
          <a:p>
            <a:pPr marL="0" indent="0">
              <a:buNone/>
            </a:pPr>
            <a:r>
              <a:rPr lang="en-US" sz="1500" b="1" dirty="0">
                <a:solidFill>
                  <a:schemeClr val="accent4"/>
                </a:solidFill>
                <a:latin typeface="+mj-lt" pitchFamily="34" charset="0"/>
                <a:ea typeface="+mj-lt" pitchFamily="34" charset="-122"/>
                <a:cs typeface="+mj-lt" pitchFamily="34" charset="-120"/>
              </a:rPr>
              <a:t>Future plans</a:t>
            </a:r>
            <a:endParaRPr lang="en-US" sz="1500" dirty="0"/>
          </a:p>
        </p:txBody>
      </p:sp>
      <p:sp>
        <p:nvSpPr>
          <p:cNvPr id="33" name="Text 30"/>
          <p:cNvSpPr txBox="1"/>
          <p:nvPr/>
        </p:nvSpPr>
        <p:spPr>
          <a:xfrm>
            <a:off x="5303520" y="3264408"/>
            <a:ext cx="3291840" cy="384048"/>
          </a:xfrm>
          <a:prstGeom prst="rect">
            <a:avLst/>
          </a:prstGeom>
          <a:noFill/>
          <a:ln/>
        </p:spPr>
        <p:txBody>
          <a:bodyPr wrap="square" lIns="0" tIns="0" rIns="0" bIns="0" rtlCol="0" anchor="t"/>
          <a:lstStyle/>
          <a:p>
            <a:pPr marL="0" indent="0">
              <a:buNone/>
            </a:pPr>
            <a:r>
              <a:rPr lang="en-US" sz="1200" dirty="0">
                <a:solidFill>
                  <a:schemeClr val="tx1"/>
                </a:solidFill>
              </a:rPr>
              <a:t>what she will do next</a:t>
            </a:r>
            <a:endParaRPr lang="en-US" sz="1200" dirty="0"/>
          </a:p>
        </p:txBody>
      </p:sp>
      <p:sp>
        <p:nvSpPr>
          <p:cNvPr id="34" name="Section Interests"/>
          <p:cNvSpPr/>
          <p:nvPr/>
        </p:nvSpPr>
        <p:spPr>
          <a:xfrm>
            <a:off x="457200" y="3794760"/>
            <a:ext cx="402336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5" name="Badge"/>
          <p:cNvSpPr/>
          <p:nvPr/>
        </p:nvSpPr>
        <p:spPr>
          <a:xfrm>
            <a:off x="566928" y="3977640"/>
            <a:ext cx="411480" cy="411480"/>
          </a:xfrm>
          <a:prstGeom prst="ellipse">
            <a:avLst/>
          </a:prstGeom>
          <a:solidFill>
            <a:schemeClr val="accent2"/>
          </a:solidFill>
          <a:ln w="6350">
            <a:solidFill>
              <a:schemeClr val="accent2"/>
            </a:solidFill>
            <a:prstDash val="solid"/>
          </a:ln>
        </p:spPr>
      </p:sp>
      <p:sp>
        <p:nvSpPr>
          <p:cNvPr id="36" name="Text 33"/>
          <p:cNvSpPr txBox="1"/>
          <p:nvPr/>
        </p:nvSpPr>
        <p:spPr>
          <a:xfrm>
            <a:off x="566928" y="397764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7</a:t>
            </a:r>
            <a:endParaRPr lang="en-US" sz="1500" dirty="0"/>
          </a:p>
        </p:txBody>
      </p:sp>
      <p:sp>
        <p:nvSpPr>
          <p:cNvPr id="37" name="Text 34"/>
          <p:cNvSpPr txBox="1"/>
          <p:nvPr/>
        </p:nvSpPr>
        <p:spPr>
          <a:xfrm>
            <a:off x="1097280" y="3840480"/>
            <a:ext cx="3291840" cy="347472"/>
          </a:xfrm>
          <a:prstGeom prst="rect">
            <a:avLst/>
          </a:prstGeom>
          <a:noFill/>
          <a:ln/>
        </p:spPr>
        <p:txBody>
          <a:bodyPr wrap="square" lIns="0" tIns="0" rIns="0" bIns="0" rtlCol="0" anchor="ctr"/>
          <a:lstStyle/>
          <a:p>
            <a:pPr marL="0" indent="0">
              <a:buNone/>
            </a:pPr>
            <a:r>
              <a:rPr lang="en-US" sz="1500" b="1" dirty="0">
                <a:solidFill>
                  <a:schemeClr val="accent4"/>
                </a:solidFill>
                <a:latin typeface="+mj-lt" pitchFamily="34" charset="0"/>
                <a:ea typeface="+mj-lt" pitchFamily="34" charset="-122"/>
                <a:cs typeface="+mj-lt" pitchFamily="34" charset="-120"/>
              </a:rPr>
              <a:t>Interests</a:t>
            </a:r>
            <a:endParaRPr lang="en-US" sz="1500" dirty="0"/>
          </a:p>
        </p:txBody>
      </p:sp>
      <p:sp>
        <p:nvSpPr>
          <p:cNvPr id="38" name="Text 35"/>
          <p:cNvSpPr txBox="1"/>
          <p:nvPr/>
        </p:nvSpPr>
        <p:spPr>
          <a:xfrm>
            <a:off x="1097280" y="4178808"/>
            <a:ext cx="3291840" cy="384048"/>
          </a:xfrm>
          <a:prstGeom prst="rect">
            <a:avLst/>
          </a:prstGeom>
          <a:noFill/>
          <a:ln/>
        </p:spPr>
        <p:txBody>
          <a:bodyPr wrap="square" lIns="0" tIns="0" rIns="0" bIns="0" rtlCol="0" anchor="t"/>
          <a:lstStyle/>
          <a:p>
            <a:pPr marL="0" indent="0">
              <a:buNone/>
            </a:pPr>
            <a:r>
              <a:rPr lang="en-US" sz="1200" dirty="0">
                <a:solidFill>
                  <a:schemeClr val="tx1"/>
                </a:solidFill>
              </a:rPr>
              <a:t>what she enjoys outside work</a:t>
            </a:r>
            <a:endParaRPr lang="en-US" sz="1200" dirty="0"/>
          </a:p>
        </p:txBody>
      </p:sp>
      <p:sp>
        <p:nvSpPr>
          <p:cNvPr id="39" name="Section Conclusion"/>
          <p:cNvSpPr/>
          <p:nvPr/>
        </p:nvSpPr>
        <p:spPr>
          <a:xfrm>
            <a:off x="4663440" y="3794760"/>
            <a:ext cx="402336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40" name="Badge"/>
          <p:cNvSpPr/>
          <p:nvPr/>
        </p:nvSpPr>
        <p:spPr>
          <a:xfrm>
            <a:off x="4773168" y="3977640"/>
            <a:ext cx="411480" cy="411480"/>
          </a:xfrm>
          <a:prstGeom prst="ellipse">
            <a:avLst/>
          </a:prstGeom>
          <a:solidFill>
            <a:schemeClr val="accent3"/>
          </a:solidFill>
          <a:ln w="6350">
            <a:solidFill>
              <a:schemeClr val="accent3"/>
            </a:solidFill>
            <a:prstDash val="solid"/>
          </a:ln>
        </p:spPr>
      </p:sp>
      <p:sp>
        <p:nvSpPr>
          <p:cNvPr id="41" name="Text 38"/>
          <p:cNvSpPr txBox="1"/>
          <p:nvPr/>
        </p:nvSpPr>
        <p:spPr>
          <a:xfrm>
            <a:off x="4773168" y="397764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8</a:t>
            </a:r>
            <a:endParaRPr lang="en-US" sz="1500" dirty="0"/>
          </a:p>
        </p:txBody>
      </p:sp>
      <p:sp>
        <p:nvSpPr>
          <p:cNvPr id="42" name="Text 39"/>
          <p:cNvSpPr txBox="1"/>
          <p:nvPr/>
        </p:nvSpPr>
        <p:spPr>
          <a:xfrm>
            <a:off x="5303520" y="3840480"/>
            <a:ext cx="3291840" cy="347472"/>
          </a:xfrm>
          <a:prstGeom prst="rect">
            <a:avLst/>
          </a:prstGeom>
          <a:noFill/>
          <a:ln/>
        </p:spPr>
        <p:txBody>
          <a:bodyPr wrap="square" lIns="0" tIns="0" rIns="0" bIns="0" rtlCol="0" anchor="ctr"/>
          <a:lstStyle/>
          <a:p>
            <a:pPr marL="0" indent="0">
              <a:buNone/>
            </a:pPr>
            <a:r>
              <a:rPr lang="en-US" sz="1500" b="1" dirty="0">
                <a:solidFill>
                  <a:schemeClr val="accent4"/>
                </a:solidFill>
                <a:latin typeface="+mj-lt" pitchFamily="34" charset="0"/>
                <a:ea typeface="+mj-lt" pitchFamily="34" charset="-122"/>
                <a:cs typeface="+mj-lt" pitchFamily="34" charset="-120"/>
              </a:rPr>
              <a:t>Conclusion</a:t>
            </a:r>
            <a:endParaRPr lang="en-US" sz="1500" dirty="0"/>
          </a:p>
        </p:txBody>
      </p:sp>
      <p:sp>
        <p:nvSpPr>
          <p:cNvPr id="43" name="Text 40"/>
          <p:cNvSpPr txBox="1"/>
          <p:nvPr/>
        </p:nvSpPr>
        <p:spPr>
          <a:xfrm>
            <a:off x="5303520" y="4178808"/>
            <a:ext cx="3291840" cy="384048"/>
          </a:xfrm>
          <a:prstGeom prst="rect">
            <a:avLst/>
          </a:prstGeom>
          <a:noFill/>
          <a:ln/>
        </p:spPr>
        <p:txBody>
          <a:bodyPr wrap="square" lIns="0" tIns="0" rIns="0" bIns="0" rtlCol="0" anchor="t"/>
          <a:lstStyle/>
          <a:p>
            <a:pPr marL="0" indent="0">
              <a:buNone/>
            </a:pPr>
            <a:r>
              <a:rPr lang="en-US" sz="1200" dirty="0">
                <a:solidFill>
                  <a:schemeClr val="tx1"/>
                </a:solidFill>
              </a:rPr>
              <a:t>sums her up, with a quotation</a:t>
            </a:r>
            <a:endParaRPr lang="en-US" sz="12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1a: true or false?</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Discuss and answer true or false. A biography usually…</a:t>
            </a:r>
            <a:endParaRPr lang="en-US" sz="1600" dirty="0"/>
          </a:p>
        </p:txBody>
      </p:sp>
      <p:sp>
        <p:nvSpPr>
          <p:cNvPr id="5" name="Statement 1"/>
          <p:cNvSpPr/>
          <p:nvPr/>
        </p:nvSpPr>
        <p:spPr>
          <a:xfrm>
            <a:off x="457200" y="1417320"/>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548640" y="1472184"/>
            <a:ext cx="347472" cy="347472"/>
          </a:xfrm>
          <a:prstGeom prst="ellipse">
            <a:avLst/>
          </a:prstGeom>
          <a:solidFill>
            <a:schemeClr val="accent1"/>
          </a:solidFill>
          <a:ln w="6350">
            <a:solidFill>
              <a:schemeClr val="accent1"/>
            </a:solidFill>
            <a:prstDash val="solid"/>
          </a:ln>
        </p:spPr>
      </p:sp>
      <p:sp>
        <p:nvSpPr>
          <p:cNvPr id="7" name="Text 4"/>
          <p:cNvSpPr txBox="1"/>
          <p:nvPr/>
        </p:nvSpPr>
        <p:spPr>
          <a:xfrm>
            <a:off x="548640" y="1472184"/>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8" name="Text 5"/>
          <p:cNvSpPr txBox="1"/>
          <p:nvPr/>
        </p:nvSpPr>
        <p:spPr>
          <a:xfrm>
            <a:off x="1051560" y="1417320"/>
            <a:ext cx="5760720" cy="457200"/>
          </a:xfrm>
          <a:prstGeom prst="rect">
            <a:avLst/>
          </a:prstGeom>
          <a:noFill/>
          <a:ln/>
        </p:spPr>
        <p:txBody>
          <a:bodyPr wrap="square" lIns="0" tIns="0" rIns="0" bIns="0" rtlCol="0" anchor="ctr"/>
          <a:lstStyle/>
          <a:p>
            <a:pPr marL="0" indent="0">
              <a:buNone/>
            </a:pPr>
            <a:r>
              <a:rPr lang="en-US" sz="1600" dirty="0">
                <a:solidFill>
                  <a:schemeClr val="tx1"/>
                </a:solidFill>
              </a:rPr>
              <a:t>is written in sequence</a:t>
            </a:r>
            <a:endParaRPr lang="en-US" sz="1600" dirty="0"/>
          </a:p>
        </p:txBody>
      </p:sp>
      <p:sp>
        <p:nvSpPr>
          <p:cNvPr id="9" name="T box"/>
          <p:cNvSpPr/>
          <p:nvPr/>
        </p:nvSpPr>
        <p:spPr>
          <a:xfrm>
            <a:off x="7040880" y="1481328"/>
            <a:ext cx="640080" cy="329184"/>
          </a:xfrm>
          <a:prstGeom prst="roundRect">
            <a:avLst>
              <a:gd name="adj" fmla="val 27778"/>
            </a:avLst>
          </a:prstGeom>
          <a:solidFill>
            <a:schemeClr val="bg2"/>
          </a:solidFill>
          <a:ln w="12700">
            <a:solidFill>
              <a:schemeClr val="accent4"/>
            </a:solidFill>
            <a:prstDash val="solid"/>
          </a:ln>
        </p:spPr>
      </p:sp>
      <p:sp>
        <p:nvSpPr>
          <p:cNvPr id="10" name="Text 7"/>
          <p:cNvSpPr txBox="1"/>
          <p:nvPr/>
        </p:nvSpPr>
        <p:spPr>
          <a:xfrm>
            <a:off x="7040880" y="1481328"/>
            <a:ext cx="640080" cy="329184"/>
          </a:xfrm>
          <a:prstGeom prst="rect">
            <a:avLst/>
          </a:prstGeom>
          <a:noFill/>
          <a:ln/>
        </p:spPr>
        <p:txBody>
          <a:bodyPr wrap="square" lIns="0" tIns="0" rIns="0" bIns="0" rtlCol="0" anchor="ctr"/>
          <a:lstStyle/>
          <a:p>
            <a:pPr marL="0" indent="0" algn="ctr">
              <a:buNone/>
            </a:pPr>
            <a:r>
              <a:rPr lang="en-US" sz="1400" b="1" dirty="0">
                <a:solidFill>
                  <a:schemeClr val="accent4"/>
                </a:solidFill>
              </a:rPr>
              <a:t>T</a:t>
            </a:r>
            <a:endParaRPr lang="en-US" sz="1400" dirty="0"/>
          </a:p>
        </p:txBody>
      </p:sp>
      <p:sp>
        <p:nvSpPr>
          <p:cNvPr id="11" name="F box"/>
          <p:cNvSpPr/>
          <p:nvPr/>
        </p:nvSpPr>
        <p:spPr>
          <a:xfrm>
            <a:off x="7818120" y="1481328"/>
            <a:ext cx="640080" cy="329184"/>
          </a:xfrm>
          <a:prstGeom prst="roundRect">
            <a:avLst>
              <a:gd name="adj" fmla="val 27778"/>
            </a:avLst>
          </a:prstGeom>
          <a:solidFill>
            <a:schemeClr val="bg2"/>
          </a:solidFill>
          <a:ln w="12700">
            <a:solidFill>
              <a:schemeClr val="accent4"/>
            </a:solidFill>
            <a:prstDash val="solid"/>
          </a:ln>
        </p:spPr>
      </p:sp>
      <p:sp>
        <p:nvSpPr>
          <p:cNvPr id="12" name="Text 9"/>
          <p:cNvSpPr txBox="1"/>
          <p:nvPr/>
        </p:nvSpPr>
        <p:spPr>
          <a:xfrm>
            <a:off x="7818120" y="1481328"/>
            <a:ext cx="640080" cy="329184"/>
          </a:xfrm>
          <a:prstGeom prst="rect">
            <a:avLst/>
          </a:prstGeom>
          <a:noFill/>
          <a:ln/>
        </p:spPr>
        <p:txBody>
          <a:bodyPr wrap="square" lIns="0" tIns="0" rIns="0" bIns="0" rtlCol="0" anchor="ctr"/>
          <a:lstStyle/>
          <a:p>
            <a:pPr marL="0" indent="0" algn="ctr">
              <a:buNone/>
            </a:pPr>
            <a:r>
              <a:rPr lang="en-US" sz="1400" b="1" dirty="0">
                <a:solidFill>
                  <a:schemeClr val="accent4"/>
                </a:solidFill>
              </a:rPr>
              <a:t>F</a:t>
            </a:r>
            <a:endParaRPr lang="en-US" sz="1400" dirty="0"/>
          </a:p>
        </p:txBody>
      </p:sp>
      <p:sp>
        <p:nvSpPr>
          <p:cNvPr id="13" name="Statement 2"/>
          <p:cNvSpPr/>
          <p:nvPr/>
        </p:nvSpPr>
        <p:spPr>
          <a:xfrm>
            <a:off x="457200" y="1947672"/>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548640" y="2002536"/>
            <a:ext cx="347472" cy="347472"/>
          </a:xfrm>
          <a:prstGeom prst="ellipse">
            <a:avLst/>
          </a:prstGeom>
          <a:solidFill>
            <a:schemeClr val="accent2"/>
          </a:solidFill>
          <a:ln w="6350">
            <a:solidFill>
              <a:schemeClr val="accent2"/>
            </a:solidFill>
            <a:prstDash val="solid"/>
          </a:ln>
        </p:spPr>
      </p:sp>
      <p:sp>
        <p:nvSpPr>
          <p:cNvPr id="15" name="Text 12"/>
          <p:cNvSpPr txBox="1"/>
          <p:nvPr/>
        </p:nvSpPr>
        <p:spPr>
          <a:xfrm>
            <a:off x="548640" y="2002536"/>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1051560" y="1947672"/>
            <a:ext cx="5760720" cy="457200"/>
          </a:xfrm>
          <a:prstGeom prst="rect">
            <a:avLst/>
          </a:prstGeom>
          <a:noFill/>
          <a:ln/>
        </p:spPr>
        <p:txBody>
          <a:bodyPr wrap="square" lIns="0" tIns="0" rIns="0" bIns="0" rtlCol="0" anchor="ctr"/>
          <a:lstStyle/>
          <a:p>
            <a:pPr marL="0" indent="0">
              <a:buNone/>
            </a:pPr>
            <a:r>
              <a:rPr lang="en-US" sz="1600" dirty="0">
                <a:solidFill>
                  <a:schemeClr val="tx1"/>
                </a:solidFill>
              </a:rPr>
              <a:t>is organised into sections</a:t>
            </a:r>
            <a:endParaRPr lang="en-US" sz="1600" dirty="0"/>
          </a:p>
        </p:txBody>
      </p:sp>
      <p:sp>
        <p:nvSpPr>
          <p:cNvPr id="17" name="T box"/>
          <p:cNvSpPr/>
          <p:nvPr/>
        </p:nvSpPr>
        <p:spPr>
          <a:xfrm>
            <a:off x="7040880" y="2011680"/>
            <a:ext cx="640080" cy="329184"/>
          </a:xfrm>
          <a:prstGeom prst="roundRect">
            <a:avLst>
              <a:gd name="adj" fmla="val 27778"/>
            </a:avLst>
          </a:prstGeom>
          <a:solidFill>
            <a:schemeClr val="bg2"/>
          </a:solidFill>
          <a:ln w="12700">
            <a:solidFill>
              <a:schemeClr val="accent4"/>
            </a:solidFill>
            <a:prstDash val="solid"/>
          </a:ln>
        </p:spPr>
      </p:sp>
      <p:sp>
        <p:nvSpPr>
          <p:cNvPr id="18" name="Text 15"/>
          <p:cNvSpPr txBox="1"/>
          <p:nvPr/>
        </p:nvSpPr>
        <p:spPr>
          <a:xfrm>
            <a:off x="7040880" y="2011680"/>
            <a:ext cx="640080" cy="329184"/>
          </a:xfrm>
          <a:prstGeom prst="rect">
            <a:avLst/>
          </a:prstGeom>
          <a:noFill/>
          <a:ln/>
        </p:spPr>
        <p:txBody>
          <a:bodyPr wrap="square" lIns="0" tIns="0" rIns="0" bIns="0" rtlCol="0" anchor="ctr"/>
          <a:lstStyle/>
          <a:p>
            <a:pPr marL="0" indent="0" algn="ctr">
              <a:buNone/>
            </a:pPr>
            <a:r>
              <a:rPr lang="en-US" sz="1400" b="1" dirty="0">
                <a:solidFill>
                  <a:schemeClr val="accent4"/>
                </a:solidFill>
              </a:rPr>
              <a:t>T</a:t>
            </a:r>
            <a:endParaRPr lang="en-US" sz="1400" dirty="0"/>
          </a:p>
        </p:txBody>
      </p:sp>
      <p:sp>
        <p:nvSpPr>
          <p:cNvPr id="19" name="F box"/>
          <p:cNvSpPr/>
          <p:nvPr/>
        </p:nvSpPr>
        <p:spPr>
          <a:xfrm>
            <a:off x="7818120" y="2011680"/>
            <a:ext cx="640080" cy="329184"/>
          </a:xfrm>
          <a:prstGeom prst="roundRect">
            <a:avLst>
              <a:gd name="adj" fmla="val 27778"/>
            </a:avLst>
          </a:prstGeom>
          <a:solidFill>
            <a:schemeClr val="bg2"/>
          </a:solidFill>
          <a:ln w="12700">
            <a:solidFill>
              <a:schemeClr val="accent4"/>
            </a:solidFill>
            <a:prstDash val="solid"/>
          </a:ln>
        </p:spPr>
      </p:sp>
      <p:sp>
        <p:nvSpPr>
          <p:cNvPr id="20" name="Text 17"/>
          <p:cNvSpPr txBox="1"/>
          <p:nvPr/>
        </p:nvSpPr>
        <p:spPr>
          <a:xfrm>
            <a:off x="7818120" y="2011680"/>
            <a:ext cx="640080" cy="329184"/>
          </a:xfrm>
          <a:prstGeom prst="rect">
            <a:avLst/>
          </a:prstGeom>
          <a:noFill/>
          <a:ln/>
        </p:spPr>
        <p:txBody>
          <a:bodyPr wrap="square" lIns="0" tIns="0" rIns="0" bIns="0" rtlCol="0" anchor="ctr"/>
          <a:lstStyle/>
          <a:p>
            <a:pPr marL="0" indent="0" algn="ctr">
              <a:buNone/>
            </a:pPr>
            <a:r>
              <a:rPr lang="en-US" sz="1400" b="1" dirty="0">
                <a:solidFill>
                  <a:schemeClr val="accent4"/>
                </a:solidFill>
              </a:rPr>
              <a:t>F</a:t>
            </a:r>
            <a:endParaRPr lang="en-US" sz="1400" dirty="0"/>
          </a:p>
        </p:txBody>
      </p:sp>
      <p:sp>
        <p:nvSpPr>
          <p:cNvPr id="21" name="Statement 3"/>
          <p:cNvSpPr/>
          <p:nvPr/>
        </p:nvSpPr>
        <p:spPr>
          <a:xfrm>
            <a:off x="457200" y="2478024"/>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2" name="Badge"/>
          <p:cNvSpPr/>
          <p:nvPr/>
        </p:nvSpPr>
        <p:spPr>
          <a:xfrm>
            <a:off x="548640" y="2532888"/>
            <a:ext cx="347472" cy="347472"/>
          </a:xfrm>
          <a:prstGeom prst="ellipse">
            <a:avLst/>
          </a:prstGeom>
          <a:solidFill>
            <a:schemeClr val="accent3"/>
          </a:solidFill>
          <a:ln w="6350">
            <a:solidFill>
              <a:schemeClr val="accent3"/>
            </a:solidFill>
            <a:prstDash val="solid"/>
          </a:ln>
        </p:spPr>
      </p:sp>
      <p:sp>
        <p:nvSpPr>
          <p:cNvPr id="23" name="Text 20"/>
          <p:cNvSpPr txBox="1"/>
          <p:nvPr/>
        </p:nvSpPr>
        <p:spPr>
          <a:xfrm>
            <a:off x="548640" y="2532888"/>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24" name="Text 21"/>
          <p:cNvSpPr txBox="1"/>
          <p:nvPr/>
        </p:nvSpPr>
        <p:spPr>
          <a:xfrm>
            <a:off x="1051560" y="2478024"/>
            <a:ext cx="5760720" cy="457200"/>
          </a:xfrm>
          <a:prstGeom prst="rect">
            <a:avLst/>
          </a:prstGeom>
          <a:noFill/>
          <a:ln/>
        </p:spPr>
        <p:txBody>
          <a:bodyPr wrap="square" lIns="0" tIns="0" rIns="0" bIns="0" rtlCol="0" anchor="ctr"/>
          <a:lstStyle/>
          <a:p>
            <a:pPr marL="0" indent="0">
              <a:buNone/>
            </a:pPr>
            <a:r>
              <a:rPr lang="en-US" sz="1600" dirty="0">
                <a:solidFill>
                  <a:schemeClr val="tx1"/>
                </a:solidFill>
              </a:rPr>
              <a:t>is written mostly in the future tense</a:t>
            </a:r>
            <a:endParaRPr lang="en-US" sz="1600" dirty="0"/>
          </a:p>
        </p:txBody>
      </p:sp>
      <p:sp>
        <p:nvSpPr>
          <p:cNvPr id="25" name="T box"/>
          <p:cNvSpPr/>
          <p:nvPr/>
        </p:nvSpPr>
        <p:spPr>
          <a:xfrm>
            <a:off x="7040880" y="2542032"/>
            <a:ext cx="640080" cy="329184"/>
          </a:xfrm>
          <a:prstGeom prst="roundRect">
            <a:avLst>
              <a:gd name="adj" fmla="val 27778"/>
            </a:avLst>
          </a:prstGeom>
          <a:solidFill>
            <a:schemeClr val="bg2"/>
          </a:solidFill>
          <a:ln w="12700">
            <a:solidFill>
              <a:schemeClr val="accent4"/>
            </a:solidFill>
            <a:prstDash val="solid"/>
          </a:ln>
        </p:spPr>
      </p:sp>
      <p:sp>
        <p:nvSpPr>
          <p:cNvPr id="26" name="Text 23"/>
          <p:cNvSpPr txBox="1"/>
          <p:nvPr/>
        </p:nvSpPr>
        <p:spPr>
          <a:xfrm>
            <a:off x="7040880" y="2542032"/>
            <a:ext cx="640080" cy="329184"/>
          </a:xfrm>
          <a:prstGeom prst="rect">
            <a:avLst/>
          </a:prstGeom>
          <a:noFill/>
          <a:ln/>
        </p:spPr>
        <p:txBody>
          <a:bodyPr wrap="square" lIns="0" tIns="0" rIns="0" bIns="0" rtlCol="0" anchor="ctr"/>
          <a:lstStyle/>
          <a:p>
            <a:pPr marL="0" indent="0" algn="ctr">
              <a:buNone/>
            </a:pPr>
            <a:r>
              <a:rPr lang="en-US" sz="1400" b="1" dirty="0">
                <a:solidFill>
                  <a:schemeClr val="accent4"/>
                </a:solidFill>
              </a:rPr>
              <a:t>T</a:t>
            </a:r>
            <a:endParaRPr lang="en-US" sz="1400" dirty="0"/>
          </a:p>
        </p:txBody>
      </p:sp>
      <p:sp>
        <p:nvSpPr>
          <p:cNvPr id="27" name="F box"/>
          <p:cNvSpPr/>
          <p:nvPr/>
        </p:nvSpPr>
        <p:spPr>
          <a:xfrm>
            <a:off x="7818120" y="2542032"/>
            <a:ext cx="640080" cy="329184"/>
          </a:xfrm>
          <a:prstGeom prst="roundRect">
            <a:avLst>
              <a:gd name="adj" fmla="val 27778"/>
            </a:avLst>
          </a:prstGeom>
          <a:solidFill>
            <a:schemeClr val="bg2"/>
          </a:solidFill>
          <a:ln w="12700">
            <a:solidFill>
              <a:schemeClr val="accent4"/>
            </a:solidFill>
            <a:prstDash val="solid"/>
          </a:ln>
        </p:spPr>
      </p:sp>
      <p:sp>
        <p:nvSpPr>
          <p:cNvPr id="28" name="Text 25"/>
          <p:cNvSpPr txBox="1"/>
          <p:nvPr/>
        </p:nvSpPr>
        <p:spPr>
          <a:xfrm>
            <a:off x="7818120" y="2542032"/>
            <a:ext cx="640080" cy="329184"/>
          </a:xfrm>
          <a:prstGeom prst="rect">
            <a:avLst/>
          </a:prstGeom>
          <a:noFill/>
          <a:ln/>
        </p:spPr>
        <p:txBody>
          <a:bodyPr wrap="square" lIns="0" tIns="0" rIns="0" bIns="0" rtlCol="0" anchor="ctr"/>
          <a:lstStyle/>
          <a:p>
            <a:pPr marL="0" indent="0" algn="ctr">
              <a:buNone/>
            </a:pPr>
            <a:r>
              <a:rPr lang="en-US" sz="1400" b="1" dirty="0">
                <a:solidFill>
                  <a:schemeClr val="accent4"/>
                </a:solidFill>
              </a:rPr>
              <a:t>F</a:t>
            </a:r>
            <a:endParaRPr lang="en-US" sz="1400" dirty="0"/>
          </a:p>
        </p:txBody>
      </p:sp>
      <p:sp>
        <p:nvSpPr>
          <p:cNvPr id="29" name="Statement 4"/>
          <p:cNvSpPr/>
          <p:nvPr/>
        </p:nvSpPr>
        <p:spPr>
          <a:xfrm>
            <a:off x="457200" y="3008376"/>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0" name="Badge"/>
          <p:cNvSpPr/>
          <p:nvPr/>
        </p:nvSpPr>
        <p:spPr>
          <a:xfrm>
            <a:off x="548640" y="3063240"/>
            <a:ext cx="347472" cy="347472"/>
          </a:xfrm>
          <a:prstGeom prst="ellipse">
            <a:avLst/>
          </a:prstGeom>
          <a:solidFill>
            <a:schemeClr val="accent4"/>
          </a:solidFill>
          <a:ln w="6350">
            <a:solidFill>
              <a:schemeClr val="accent4"/>
            </a:solidFill>
            <a:prstDash val="solid"/>
          </a:ln>
        </p:spPr>
      </p:sp>
      <p:sp>
        <p:nvSpPr>
          <p:cNvPr id="31" name="Text 28"/>
          <p:cNvSpPr txBox="1"/>
          <p:nvPr/>
        </p:nvSpPr>
        <p:spPr>
          <a:xfrm>
            <a:off x="548640" y="3063240"/>
            <a:ext cx="347472" cy="347472"/>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32" name="Text 29"/>
          <p:cNvSpPr txBox="1"/>
          <p:nvPr/>
        </p:nvSpPr>
        <p:spPr>
          <a:xfrm>
            <a:off x="1051560" y="3008376"/>
            <a:ext cx="5760720" cy="457200"/>
          </a:xfrm>
          <a:prstGeom prst="rect">
            <a:avLst/>
          </a:prstGeom>
          <a:noFill/>
          <a:ln/>
        </p:spPr>
        <p:txBody>
          <a:bodyPr wrap="square" lIns="0" tIns="0" rIns="0" bIns="0" rtlCol="0" anchor="ctr"/>
          <a:lstStyle/>
          <a:p>
            <a:pPr marL="0" indent="0">
              <a:buNone/>
            </a:pPr>
            <a:r>
              <a:rPr lang="en-US" sz="1600" dirty="0">
                <a:solidFill>
                  <a:schemeClr val="tx1"/>
                </a:solidFill>
              </a:rPr>
              <a:t>contains facts about a person’s life</a:t>
            </a:r>
            <a:endParaRPr lang="en-US" sz="1600" dirty="0"/>
          </a:p>
        </p:txBody>
      </p:sp>
      <p:sp>
        <p:nvSpPr>
          <p:cNvPr id="33" name="T box"/>
          <p:cNvSpPr/>
          <p:nvPr/>
        </p:nvSpPr>
        <p:spPr>
          <a:xfrm>
            <a:off x="7040880" y="3072384"/>
            <a:ext cx="640080" cy="329184"/>
          </a:xfrm>
          <a:prstGeom prst="roundRect">
            <a:avLst>
              <a:gd name="adj" fmla="val 27778"/>
            </a:avLst>
          </a:prstGeom>
          <a:solidFill>
            <a:schemeClr val="bg2"/>
          </a:solidFill>
          <a:ln w="12700">
            <a:solidFill>
              <a:schemeClr val="accent4"/>
            </a:solidFill>
            <a:prstDash val="solid"/>
          </a:ln>
        </p:spPr>
      </p:sp>
      <p:sp>
        <p:nvSpPr>
          <p:cNvPr id="34" name="Text 31"/>
          <p:cNvSpPr txBox="1"/>
          <p:nvPr/>
        </p:nvSpPr>
        <p:spPr>
          <a:xfrm>
            <a:off x="7040880" y="3072384"/>
            <a:ext cx="640080" cy="329184"/>
          </a:xfrm>
          <a:prstGeom prst="rect">
            <a:avLst/>
          </a:prstGeom>
          <a:noFill/>
          <a:ln/>
        </p:spPr>
        <p:txBody>
          <a:bodyPr wrap="square" lIns="0" tIns="0" rIns="0" bIns="0" rtlCol="0" anchor="ctr"/>
          <a:lstStyle/>
          <a:p>
            <a:pPr marL="0" indent="0" algn="ctr">
              <a:buNone/>
            </a:pPr>
            <a:r>
              <a:rPr lang="en-US" sz="1400" b="1" dirty="0">
                <a:solidFill>
                  <a:schemeClr val="accent4"/>
                </a:solidFill>
              </a:rPr>
              <a:t>T</a:t>
            </a:r>
            <a:endParaRPr lang="en-US" sz="1400" dirty="0"/>
          </a:p>
        </p:txBody>
      </p:sp>
      <p:sp>
        <p:nvSpPr>
          <p:cNvPr id="35" name="F box"/>
          <p:cNvSpPr/>
          <p:nvPr/>
        </p:nvSpPr>
        <p:spPr>
          <a:xfrm>
            <a:off x="7818120" y="3072384"/>
            <a:ext cx="640080" cy="329184"/>
          </a:xfrm>
          <a:prstGeom prst="roundRect">
            <a:avLst>
              <a:gd name="adj" fmla="val 27778"/>
            </a:avLst>
          </a:prstGeom>
          <a:solidFill>
            <a:schemeClr val="bg2"/>
          </a:solidFill>
          <a:ln w="12700">
            <a:solidFill>
              <a:schemeClr val="accent4"/>
            </a:solidFill>
            <a:prstDash val="solid"/>
          </a:ln>
        </p:spPr>
      </p:sp>
      <p:sp>
        <p:nvSpPr>
          <p:cNvPr id="36" name="Text 33"/>
          <p:cNvSpPr txBox="1"/>
          <p:nvPr/>
        </p:nvSpPr>
        <p:spPr>
          <a:xfrm>
            <a:off x="7818120" y="3072384"/>
            <a:ext cx="640080" cy="329184"/>
          </a:xfrm>
          <a:prstGeom prst="rect">
            <a:avLst/>
          </a:prstGeom>
          <a:noFill/>
          <a:ln/>
        </p:spPr>
        <p:txBody>
          <a:bodyPr wrap="square" lIns="0" tIns="0" rIns="0" bIns="0" rtlCol="0" anchor="ctr"/>
          <a:lstStyle/>
          <a:p>
            <a:pPr marL="0" indent="0" algn="ctr">
              <a:buNone/>
            </a:pPr>
            <a:r>
              <a:rPr lang="en-US" sz="1400" b="1" dirty="0">
                <a:solidFill>
                  <a:schemeClr val="accent4"/>
                </a:solidFill>
              </a:rPr>
              <a:t>F</a:t>
            </a:r>
            <a:endParaRPr lang="en-US" sz="1400" dirty="0"/>
          </a:p>
        </p:txBody>
      </p:sp>
      <p:sp>
        <p:nvSpPr>
          <p:cNvPr id="37" name="Statement 5"/>
          <p:cNvSpPr/>
          <p:nvPr/>
        </p:nvSpPr>
        <p:spPr>
          <a:xfrm>
            <a:off x="457200" y="3538728"/>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8" name="Badge"/>
          <p:cNvSpPr/>
          <p:nvPr/>
        </p:nvSpPr>
        <p:spPr>
          <a:xfrm>
            <a:off x="548640" y="3593592"/>
            <a:ext cx="347472" cy="347472"/>
          </a:xfrm>
          <a:prstGeom prst="ellipse">
            <a:avLst/>
          </a:prstGeom>
          <a:solidFill>
            <a:schemeClr val="accent5"/>
          </a:solidFill>
          <a:ln w="6350">
            <a:solidFill>
              <a:schemeClr val="accent5"/>
            </a:solidFill>
            <a:prstDash val="solid"/>
          </a:ln>
        </p:spPr>
      </p:sp>
      <p:sp>
        <p:nvSpPr>
          <p:cNvPr id="39" name="Text 36"/>
          <p:cNvSpPr txBox="1"/>
          <p:nvPr/>
        </p:nvSpPr>
        <p:spPr>
          <a:xfrm>
            <a:off x="548640" y="3593592"/>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40" name="Text 37"/>
          <p:cNvSpPr txBox="1"/>
          <p:nvPr/>
        </p:nvSpPr>
        <p:spPr>
          <a:xfrm>
            <a:off x="1051560" y="3538728"/>
            <a:ext cx="5760720" cy="457200"/>
          </a:xfrm>
          <a:prstGeom prst="rect">
            <a:avLst/>
          </a:prstGeom>
          <a:noFill/>
          <a:ln/>
        </p:spPr>
        <p:txBody>
          <a:bodyPr wrap="square" lIns="0" tIns="0" rIns="0" bIns="0" rtlCol="0" anchor="ctr"/>
          <a:lstStyle/>
          <a:p>
            <a:pPr marL="0" indent="0">
              <a:buNone/>
            </a:pPr>
            <a:r>
              <a:rPr lang="en-US" sz="1600" dirty="0">
                <a:solidFill>
                  <a:schemeClr val="tx1"/>
                </a:solidFill>
              </a:rPr>
              <a:t>uses mostly informal language and vocabulary</a:t>
            </a:r>
            <a:endParaRPr lang="en-US" sz="1600" dirty="0"/>
          </a:p>
        </p:txBody>
      </p:sp>
      <p:sp>
        <p:nvSpPr>
          <p:cNvPr id="41" name="T box"/>
          <p:cNvSpPr/>
          <p:nvPr/>
        </p:nvSpPr>
        <p:spPr>
          <a:xfrm>
            <a:off x="7040880" y="3602736"/>
            <a:ext cx="640080" cy="329184"/>
          </a:xfrm>
          <a:prstGeom prst="roundRect">
            <a:avLst>
              <a:gd name="adj" fmla="val 27778"/>
            </a:avLst>
          </a:prstGeom>
          <a:solidFill>
            <a:schemeClr val="bg2"/>
          </a:solidFill>
          <a:ln w="12700">
            <a:solidFill>
              <a:schemeClr val="accent4"/>
            </a:solidFill>
            <a:prstDash val="solid"/>
          </a:ln>
        </p:spPr>
      </p:sp>
      <p:sp>
        <p:nvSpPr>
          <p:cNvPr id="42" name="Text 39"/>
          <p:cNvSpPr txBox="1"/>
          <p:nvPr/>
        </p:nvSpPr>
        <p:spPr>
          <a:xfrm>
            <a:off x="7040880" y="3602736"/>
            <a:ext cx="640080" cy="329184"/>
          </a:xfrm>
          <a:prstGeom prst="rect">
            <a:avLst/>
          </a:prstGeom>
          <a:noFill/>
          <a:ln/>
        </p:spPr>
        <p:txBody>
          <a:bodyPr wrap="square" lIns="0" tIns="0" rIns="0" bIns="0" rtlCol="0" anchor="ctr"/>
          <a:lstStyle/>
          <a:p>
            <a:pPr marL="0" indent="0" algn="ctr">
              <a:buNone/>
            </a:pPr>
            <a:r>
              <a:rPr lang="en-US" sz="1400" b="1" dirty="0">
                <a:solidFill>
                  <a:schemeClr val="accent4"/>
                </a:solidFill>
              </a:rPr>
              <a:t>T</a:t>
            </a:r>
            <a:endParaRPr lang="en-US" sz="1400" dirty="0"/>
          </a:p>
        </p:txBody>
      </p:sp>
      <p:sp>
        <p:nvSpPr>
          <p:cNvPr id="43" name="F box"/>
          <p:cNvSpPr/>
          <p:nvPr/>
        </p:nvSpPr>
        <p:spPr>
          <a:xfrm>
            <a:off x="7818120" y="3602736"/>
            <a:ext cx="640080" cy="329184"/>
          </a:xfrm>
          <a:prstGeom prst="roundRect">
            <a:avLst>
              <a:gd name="adj" fmla="val 27778"/>
            </a:avLst>
          </a:prstGeom>
          <a:solidFill>
            <a:schemeClr val="bg2"/>
          </a:solidFill>
          <a:ln w="12700">
            <a:solidFill>
              <a:schemeClr val="accent4"/>
            </a:solidFill>
            <a:prstDash val="solid"/>
          </a:ln>
        </p:spPr>
      </p:sp>
      <p:sp>
        <p:nvSpPr>
          <p:cNvPr id="44" name="Text 41"/>
          <p:cNvSpPr txBox="1"/>
          <p:nvPr/>
        </p:nvSpPr>
        <p:spPr>
          <a:xfrm>
            <a:off x="7818120" y="3602736"/>
            <a:ext cx="640080" cy="329184"/>
          </a:xfrm>
          <a:prstGeom prst="rect">
            <a:avLst/>
          </a:prstGeom>
          <a:noFill/>
          <a:ln/>
        </p:spPr>
        <p:txBody>
          <a:bodyPr wrap="square" lIns="0" tIns="0" rIns="0" bIns="0" rtlCol="0" anchor="ctr"/>
          <a:lstStyle/>
          <a:p>
            <a:pPr marL="0" indent="0" algn="ctr">
              <a:buNone/>
            </a:pPr>
            <a:r>
              <a:rPr lang="en-US" sz="1400" b="1" dirty="0">
                <a:solidFill>
                  <a:schemeClr val="accent4"/>
                </a:solidFill>
              </a:rPr>
              <a:t>F</a:t>
            </a:r>
            <a:endParaRPr lang="en-US" sz="1400" dirty="0"/>
          </a:p>
        </p:txBody>
      </p:sp>
      <p:sp>
        <p:nvSpPr>
          <p:cNvPr id="45" name="Statement 6"/>
          <p:cNvSpPr/>
          <p:nvPr/>
        </p:nvSpPr>
        <p:spPr>
          <a:xfrm>
            <a:off x="457200" y="4069080"/>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46" name="Badge"/>
          <p:cNvSpPr/>
          <p:nvPr/>
        </p:nvSpPr>
        <p:spPr>
          <a:xfrm>
            <a:off x="548640" y="4123944"/>
            <a:ext cx="347472" cy="347472"/>
          </a:xfrm>
          <a:prstGeom prst="ellipse">
            <a:avLst/>
          </a:prstGeom>
          <a:solidFill>
            <a:schemeClr val="accent1"/>
          </a:solidFill>
          <a:ln w="6350">
            <a:solidFill>
              <a:schemeClr val="accent1"/>
            </a:solidFill>
            <a:prstDash val="solid"/>
          </a:ln>
        </p:spPr>
      </p:sp>
      <p:sp>
        <p:nvSpPr>
          <p:cNvPr id="47" name="Text 44"/>
          <p:cNvSpPr txBox="1"/>
          <p:nvPr/>
        </p:nvSpPr>
        <p:spPr>
          <a:xfrm>
            <a:off x="548640" y="4123944"/>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6</a:t>
            </a:r>
            <a:endParaRPr lang="en-US" sz="1500" dirty="0"/>
          </a:p>
        </p:txBody>
      </p:sp>
      <p:sp>
        <p:nvSpPr>
          <p:cNvPr id="48" name="Text 45"/>
          <p:cNvSpPr txBox="1"/>
          <p:nvPr/>
        </p:nvSpPr>
        <p:spPr>
          <a:xfrm>
            <a:off x="1051560" y="4069080"/>
            <a:ext cx="5760720" cy="457200"/>
          </a:xfrm>
          <a:prstGeom prst="rect">
            <a:avLst/>
          </a:prstGeom>
          <a:noFill/>
          <a:ln/>
        </p:spPr>
        <p:txBody>
          <a:bodyPr wrap="square" lIns="0" tIns="0" rIns="0" bIns="0" rtlCol="0" anchor="ctr"/>
          <a:lstStyle/>
          <a:p>
            <a:pPr marL="0" indent="0">
              <a:buNone/>
            </a:pPr>
            <a:r>
              <a:rPr lang="en-US" sz="1600" dirty="0">
                <a:solidFill>
                  <a:schemeClr val="tx1"/>
                </a:solidFill>
              </a:rPr>
              <a:t>uses first-person narrative (I, me, we)</a:t>
            </a:r>
            <a:endParaRPr lang="en-US" sz="1600" dirty="0"/>
          </a:p>
        </p:txBody>
      </p:sp>
      <p:sp>
        <p:nvSpPr>
          <p:cNvPr id="49" name="T box"/>
          <p:cNvSpPr/>
          <p:nvPr/>
        </p:nvSpPr>
        <p:spPr>
          <a:xfrm>
            <a:off x="7040880" y="4133088"/>
            <a:ext cx="640080" cy="329184"/>
          </a:xfrm>
          <a:prstGeom prst="roundRect">
            <a:avLst>
              <a:gd name="adj" fmla="val 27778"/>
            </a:avLst>
          </a:prstGeom>
          <a:solidFill>
            <a:schemeClr val="bg2"/>
          </a:solidFill>
          <a:ln w="12700">
            <a:solidFill>
              <a:schemeClr val="accent4"/>
            </a:solidFill>
            <a:prstDash val="solid"/>
          </a:ln>
        </p:spPr>
      </p:sp>
      <p:sp>
        <p:nvSpPr>
          <p:cNvPr id="50" name="Text 47"/>
          <p:cNvSpPr txBox="1"/>
          <p:nvPr/>
        </p:nvSpPr>
        <p:spPr>
          <a:xfrm>
            <a:off x="7040880" y="4133088"/>
            <a:ext cx="640080" cy="329184"/>
          </a:xfrm>
          <a:prstGeom prst="rect">
            <a:avLst/>
          </a:prstGeom>
          <a:noFill/>
          <a:ln/>
        </p:spPr>
        <p:txBody>
          <a:bodyPr wrap="square" lIns="0" tIns="0" rIns="0" bIns="0" rtlCol="0" anchor="ctr"/>
          <a:lstStyle/>
          <a:p>
            <a:pPr marL="0" indent="0" algn="ctr">
              <a:buNone/>
            </a:pPr>
            <a:r>
              <a:rPr lang="en-US" sz="1400" b="1" dirty="0">
                <a:solidFill>
                  <a:schemeClr val="accent4"/>
                </a:solidFill>
              </a:rPr>
              <a:t>T</a:t>
            </a:r>
            <a:endParaRPr lang="en-US" sz="1400" dirty="0"/>
          </a:p>
        </p:txBody>
      </p:sp>
      <p:sp>
        <p:nvSpPr>
          <p:cNvPr id="51" name="F box"/>
          <p:cNvSpPr/>
          <p:nvPr/>
        </p:nvSpPr>
        <p:spPr>
          <a:xfrm>
            <a:off x="7818120" y="4133088"/>
            <a:ext cx="640080" cy="329184"/>
          </a:xfrm>
          <a:prstGeom prst="roundRect">
            <a:avLst>
              <a:gd name="adj" fmla="val 27778"/>
            </a:avLst>
          </a:prstGeom>
          <a:solidFill>
            <a:schemeClr val="bg2"/>
          </a:solidFill>
          <a:ln w="12700">
            <a:solidFill>
              <a:schemeClr val="accent4"/>
            </a:solidFill>
            <a:prstDash val="solid"/>
          </a:ln>
        </p:spPr>
      </p:sp>
      <p:sp>
        <p:nvSpPr>
          <p:cNvPr id="52" name="Text 49"/>
          <p:cNvSpPr txBox="1"/>
          <p:nvPr/>
        </p:nvSpPr>
        <p:spPr>
          <a:xfrm>
            <a:off x="7818120" y="4133088"/>
            <a:ext cx="640080" cy="329184"/>
          </a:xfrm>
          <a:prstGeom prst="rect">
            <a:avLst/>
          </a:prstGeom>
          <a:noFill/>
          <a:ln/>
        </p:spPr>
        <p:txBody>
          <a:bodyPr wrap="square" lIns="0" tIns="0" rIns="0" bIns="0" rtlCol="0" anchor="ctr"/>
          <a:lstStyle/>
          <a:p>
            <a:pPr marL="0" indent="0" algn="ctr">
              <a:buNone/>
            </a:pPr>
            <a:r>
              <a:rPr lang="en-US" sz="1400" b="1" dirty="0">
                <a:solidFill>
                  <a:schemeClr val="accent4"/>
                </a:solidFill>
              </a:rPr>
              <a:t>F</a:t>
            </a:r>
            <a:endParaRPr lang="en-US" sz="14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1a: answers</a:t>
            </a:r>
            <a:endParaRPr lang="en-US" sz="3000" dirty="0"/>
          </a:p>
        </p:txBody>
      </p:sp>
      <p:sp>
        <p:nvSpPr>
          <p:cNvPr id="4" name="Answer 1"/>
          <p:cNvSpPr/>
          <p:nvPr/>
        </p:nvSpPr>
        <p:spPr>
          <a:xfrm>
            <a:off x="457200" y="1005840"/>
            <a:ext cx="8229600" cy="521208"/>
          </a:xfrm>
          <a:prstGeom prst="roundRect">
            <a:avLst>
              <a:gd name="adj" fmla="val 2105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Verdict"/>
          <p:cNvSpPr/>
          <p:nvPr/>
        </p:nvSpPr>
        <p:spPr>
          <a:xfrm>
            <a:off x="548640" y="1078992"/>
            <a:ext cx="960120" cy="374904"/>
          </a:xfrm>
          <a:prstGeom prst="roundRect">
            <a:avLst>
              <a:gd name="adj" fmla="val 24390"/>
            </a:avLst>
          </a:prstGeom>
          <a:solidFill>
            <a:schemeClr val="accent2"/>
          </a:solidFill>
          <a:ln w="6350">
            <a:solidFill>
              <a:schemeClr val="accent2"/>
            </a:solidFill>
            <a:prstDash val="solid"/>
          </a:ln>
        </p:spPr>
      </p:sp>
      <p:sp>
        <p:nvSpPr>
          <p:cNvPr id="6" name="Text 3"/>
          <p:cNvSpPr txBox="1"/>
          <p:nvPr/>
        </p:nvSpPr>
        <p:spPr>
          <a:xfrm>
            <a:off x="548640" y="1078992"/>
            <a:ext cx="960120" cy="374904"/>
          </a:xfrm>
          <a:prstGeom prst="rect">
            <a:avLst/>
          </a:prstGeom>
          <a:noFill/>
          <a:ln/>
        </p:spPr>
        <p:txBody>
          <a:bodyPr wrap="square" lIns="0" tIns="0" rIns="0" bIns="0" rtlCol="0" anchor="ctr"/>
          <a:lstStyle/>
          <a:p>
            <a:pPr marL="0" indent="0" algn="ctr">
              <a:buNone/>
            </a:pPr>
            <a:r>
              <a:rPr lang="en-US" sz="1300" b="1" dirty="0">
                <a:solidFill>
                  <a:schemeClr val="tx1"/>
                </a:solidFill>
              </a:rPr>
              <a:t>TRUE</a:t>
            </a:r>
            <a:endParaRPr lang="en-US" sz="1300" dirty="0"/>
          </a:p>
        </p:txBody>
      </p:sp>
      <p:sp>
        <p:nvSpPr>
          <p:cNvPr id="7" name="Text 4"/>
          <p:cNvSpPr txBox="1"/>
          <p:nvPr/>
        </p:nvSpPr>
        <p:spPr>
          <a:xfrm>
            <a:off x="1645920" y="1005840"/>
            <a:ext cx="2286000" cy="521208"/>
          </a:xfrm>
          <a:prstGeom prst="rect">
            <a:avLst/>
          </a:prstGeom>
          <a:noFill/>
          <a:ln/>
        </p:spPr>
        <p:txBody>
          <a:bodyPr wrap="square" lIns="0" tIns="0" rIns="0" bIns="0" rtlCol="0" anchor="ctr"/>
          <a:lstStyle/>
          <a:p>
            <a:pPr marL="0" indent="0">
              <a:buNone/>
            </a:pPr>
            <a:r>
              <a:rPr lang="en-US" sz="1300" b="1" dirty="0">
                <a:solidFill>
                  <a:schemeClr val="accent4"/>
                </a:solidFill>
              </a:rPr>
              <a:t>in sequence</a:t>
            </a:r>
            <a:endParaRPr lang="en-US" sz="1300" dirty="0"/>
          </a:p>
        </p:txBody>
      </p:sp>
      <p:sp>
        <p:nvSpPr>
          <p:cNvPr id="8" name="Text 5"/>
          <p:cNvSpPr txBox="1"/>
          <p:nvPr/>
        </p:nvSpPr>
        <p:spPr>
          <a:xfrm>
            <a:off x="3931920" y="1005840"/>
            <a:ext cx="4572000" cy="521208"/>
          </a:xfrm>
          <a:prstGeom prst="rect">
            <a:avLst/>
          </a:prstGeom>
          <a:noFill/>
          <a:ln/>
        </p:spPr>
        <p:txBody>
          <a:bodyPr wrap="square" lIns="0" tIns="0" rIns="0" bIns="0" rtlCol="0" anchor="ctr"/>
          <a:lstStyle/>
          <a:p>
            <a:pPr marL="0" indent="0">
              <a:buNone/>
            </a:pPr>
            <a:r>
              <a:rPr lang="en-US" sz="1200" dirty="0">
                <a:solidFill>
                  <a:schemeClr val="tx1"/>
                </a:solidFill>
              </a:rPr>
              <a:t>events follow a time order: 1977 → 2001 → 2009 → 2014 → 2015</a:t>
            </a:r>
            <a:endParaRPr lang="en-US" sz="1200" dirty="0"/>
          </a:p>
        </p:txBody>
      </p:sp>
      <p:sp>
        <p:nvSpPr>
          <p:cNvPr id="9" name="Answer 2"/>
          <p:cNvSpPr/>
          <p:nvPr/>
        </p:nvSpPr>
        <p:spPr>
          <a:xfrm>
            <a:off x="457200" y="1600200"/>
            <a:ext cx="8229600" cy="521208"/>
          </a:xfrm>
          <a:prstGeom prst="roundRect">
            <a:avLst>
              <a:gd name="adj" fmla="val 2105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Verdict"/>
          <p:cNvSpPr/>
          <p:nvPr/>
        </p:nvSpPr>
        <p:spPr>
          <a:xfrm>
            <a:off x="548640" y="1673352"/>
            <a:ext cx="960120" cy="374904"/>
          </a:xfrm>
          <a:prstGeom prst="roundRect">
            <a:avLst>
              <a:gd name="adj" fmla="val 24390"/>
            </a:avLst>
          </a:prstGeom>
          <a:solidFill>
            <a:schemeClr val="accent2"/>
          </a:solidFill>
          <a:ln w="6350">
            <a:solidFill>
              <a:schemeClr val="accent2"/>
            </a:solidFill>
            <a:prstDash val="solid"/>
          </a:ln>
        </p:spPr>
      </p:sp>
      <p:sp>
        <p:nvSpPr>
          <p:cNvPr id="11" name="Text 8"/>
          <p:cNvSpPr txBox="1"/>
          <p:nvPr/>
        </p:nvSpPr>
        <p:spPr>
          <a:xfrm>
            <a:off x="548640" y="1673352"/>
            <a:ext cx="960120" cy="374904"/>
          </a:xfrm>
          <a:prstGeom prst="rect">
            <a:avLst/>
          </a:prstGeom>
          <a:noFill/>
          <a:ln/>
        </p:spPr>
        <p:txBody>
          <a:bodyPr wrap="square" lIns="0" tIns="0" rIns="0" bIns="0" rtlCol="0" anchor="ctr"/>
          <a:lstStyle/>
          <a:p>
            <a:pPr marL="0" indent="0" algn="ctr">
              <a:buNone/>
            </a:pPr>
            <a:r>
              <a:rPr lang="en-US" sz="1300" b="1" dirty="0">
                <a:solidFill>
                  <a:schemeClr val="tx1"/>
                </a:solidFill>
              </a:rPr>
              <a:t>TRUE</a:t>
            </a:r>
            <a:endParaRPr lang="en-US" sz="1300" dirty="0"/>
          </a:p>
        </p:txBody>
      </p:sp>
      <p:sp>
        <p:nvSpPr>
          <p:cNvPr id="12" name="Text 9"/>
          <p:cNvSpPr txBox="1"/>
          <p:nvPr/>
        </p:nvSpPr>
        <p:spPr>
          <a:xfrm>
            <a:off x="1645920" y="1600200"/>
            <a:ext cx="2286000" cy="521208"/>
          </a:xfrm>
          <a:prstGeom prst="rect">
            <a:avLst/>
          </a:prstGeom>
          <a:noFill/>
          <a:ln/>
        </p:spPr>
        <p:txBody>
          <a:bodyPr wrap="square" lIns="0" tIns="0" rIns="0" bIns="0" rtlCol="0" anchor="ctr"/>
          <a:lstStyle/>
          <a:p>
            <a:pPr marL="0" indent="0">
              <a:buNone/>
            </a:pPr>
            <a:r>
              <a:rPr lang="en-US" sz="1300" b="1" dirty="0">
                <a:solidFill>
                  <a:schemeClr val="accent4"/>
                </a:solidFill>
              </a:rPr>
              <a:t>in sections</a:t>
            </a:r>
            <a:endParaRPr lang="en-US" sz="1300" dirty="0"/>
          </a:p>
        </p:txBody>
      </p:sp>
      <p:sp>
        <p:nvSpPr>
          <p:cNvPr id="13" name="Text 10"/>
          <p:cNvSpPr txBox="1"/>
          <p:nvPr/>
        </p:nvSpPr>
        <p:spPr>
          <a:xfrm>
            <a:off x="3931920" y="1600200"/>
            <a:ext cx="4572000" cy="521208"/>
          </a:xfrm>
          <a:prstGeom prst="rect">
            <a:avLst/>
          </a:prstGeom>
          <a:noFill/>
          <a:ln/>
        </p:spPr>
        <p:txBody>
          <a:bodyPr wrap="square" lIns="0" tIns="0" rIns="0" bIns="0" rtlCol="0" anchor="ctr"/>
          <a:lstStyle/>
          <a:p>
            <a:pPr marL="0" indent="0">
              <a:buNone/>
            </a:pPr>
            <a:r>
              <a:rPr lang="en-US" sz="1200" dirty="0">
                <a:solidFill>
                  <a:schemeClr val="tx1"/>
                </a:solidFill>
              </a:rPr>
              <a:t>each heading starts a new section, e.g. Education, Training</a:t>
            </a:r>
            <a:endParaRPr lang="en-US" sz="1200" dirty="0"/>
          </a:p>
        </p:txBody>
      </p:sp>
      <p:sp>
        <p:nvSpPr>
          <p:cNvPr id="14" name="Answer 3"/>
          <p:cNvSpPr/>
          <p:nvPr/>
        </p:nvSpPr>
        <p:spPr>
          <a:xfrm>
            <a:off x="457200" y="2194560"/>
            <a:ext cx="8229600" cy="521208"/>
          </a:xfrm>
          <a:prstGeom prst="roundRect">
            <a:avLst>
              <a:gd name="adj" fmla="val 2105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Verdict"/>
          <p:cNvSpPr/>
          <p:nvPr/>
        </p:nvSpPr>
        <p:spPr>
          <a:xfrm>
            <a:off x="548640" y="2267712"/>
            <a:ext cx="960120" cy="374904"/>
          </a:xfrm>
          <a:prstGeom prst="roundRect">
            <a:avLst>
              <a:gd name="adj" fmla="val 24390"/>
            </a:avLst>
          </a:prstGeom>
          <a:solidFill>
            <a:schemeClr val="accent3"/>
          </a:solidFill>
          <a:ln w="6350">
            <a:solidFill>
              <a:schemeClr val="accent3"/>
            </a:solidFill>
            <a:prstDash val="solid"/>
          </a:ln>
        </p:spPr>
      </p:sp>
      <p:sp>
        <p:nvSpPr>
          <p:cNvPr id="16" name="Text 13"/>
          <p:cNvSpPr txBox="1"/>
          <p:nvPr/>
        </p:nvSpPr>
        <p:spPr>
          <a:xfrm>
            <a:off x="548640" y="2267712"/>
            <a:ext cx="960120" cy="374904"/>
          </a:xfrm>
          <a:prstGeom prst="rect">
            <a:avLst/>
          </a:prstGeom>
          <a:noFill/>
          <a:ln/>
        </p:spPr>
        <p:txBody>
          <a:bodyPr wrap="square" lIns="0" tIns="0" rIns="0" bIns="0" rtlCol="0" anchor="ctr"/>
          <a:lstStyle/>
          <a:p>
            <a:pPr marL="0" indent="0" algn="ctr">
              <a:buNone/>
            </a:pPr>
            <a:r>
              <a:rPr lang="en-US" sz="1300" b="1" dirty="0">
                <a:solidFill>
                  <a:schemeClr val="tx1"/>
                </a:solidFill>
              </a:rPr>
              <a:t>FALSE</a:t>
            </a:r>
            <a:endParaRPr lang="en-US" sz="1300" dirty="0"/>
          </a:p>
        </p:txBody>
      </p:sp>
      <p:sp>
        <p:nvSpPr>
          <p:cNvPr id="17" name="Text 14"/>
          <p:cNvSpPr txBox="1"/>
          <p:nvPr/>
        </p:nvSpPr>
        <p:spPr>
          <a:xfrm>
            <a:off x="1645920" y="2194560"/>
            <a:ext cx="2286000" cy="521208"/>
          </a:xfrm>
          <a:prstGeom prst="rect">
            <a:avLst/>
          </a:prstGeom>
          <a:noFill/>
          <a:ln/>
        </p:spPr>
        <p:txBody>
          <a:bodyPr wrap="square" lIns="0" tIns="0" rIns="0" bIns="0" rtlCol="0" anchor="ctr"/>
          <a:lstStyle/>
          <a:p>
            <a:pPr marL="0" indent="0">
              <a:buNone/>
            </a:pPr>
            <a:r>
              <a:rPr lang="en-US" sz="1300" b="1" dirty="0">
                <a:solidFill>
                  <a:schemeClr val="accent4"/>
                </a:solidFill>
              </a:rPr>
              <a:t>mostly future tense</a:t>
            </a:r>
            <a:endParaRPr lang="en-US" sz="1300" dirty="0"/>
          </a:p>
        </p:txBody>
      </p:sp>
      <p:sp>
        <p:nvSpPr>
          <p:cNvPr id="18" name="Text 15"/>
          <p:cNvSpPr txBox="1"/>
          <p:nvPr/>
        </p:nvSpPr>
        <p:spPr>
          <a:xfrm>
            <a:off x="3931920" y="2194560"/>
            <a:ext cx="4572000" cy="521208"/>
          </a:xfrm>
          <a:prstGeom prst="rect">
            <a:avLst/>
          </a:prstGeom>
          <a:noFill/>
          <a:ln/>
        </p:spPr>
        <p:txBody>
          <a:bodyPr wrap="square" lIns="0" tIns="0" rIns="0" bIns="0" rtlCol="0" anchor="ctr"/>
          <a:lstStyle/>
          <a:p>
            <a:pPr marL="0" indent="0">
              <a:buNone/>
            </a:pPr>
            <a:r>
              <a:rPr lang="en-US" sz="1200" dirty="0">
                <a:solidFill>
                  <a:schemeClr val="tx1"/>
                </a:solidFill>
              </a:rPr>
              <a:t>mostly past tense: ‘was born’, ‘graduated’, ‘launched’</a:t>
            </a:r>
            <a:endParaRPr lang="en-US" sz="1200" dirty="0"/>
          </a:p>
        </p:txBody>
      </p:sp>
      <p:sp>
        <p:nvSpPr>
          <p:cNvPr id="19" name="Answer 4"/>
          <p:cNvSpPr/>
          <p:nvPr/>
        </p:nvSpPr>
        <p:spPr>
          <a:xfrm>
            <a:off x="457200" y="2788920"/>
            <a:ext cx="8229600" cy="521208"/>
          </a:xfrm>
          <a:prstGeom prst="roundRect">
            <a:avLst>
              <a:gd name="adj" fmla="val 2105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0" name="Verdict"/>
          <p:cNvSpPr/>
          <p:nvPr/>
        </p:nvSpPr>
        <p:spPr>
          <a:xfrm>
            <a:off x="548640" y="2862072"/>
            <a:ext cx="960120" cy="374904"/>
          </a:xfrm>
          <a:prstGeom prst="roundRect">
            <a:avLst>
              <a:gd name="adj" fmla="val 24390"/>
            </a:avLst>
          </a:prstGeom>
          <a:solidFill>
            <a:schemeClr val="accent2"/>
          </a:solidFill>
          <a:ln w="6350">
            <a:solidFill>
              <a:schemeClr val="accent2"/>
            </a:solidFill>
            <a:prstDash val="solid"/>
          </a:ln>
        </p:spPr>
      </p:sp>
      <p:sp>
        <p:nvSpPr>
          <p:cNvPr id="21" name="Text 18"/>
          <p:cNvSpPr txBox="1"/>
          <p:nvPr/>
        </p:nvSpPr>
        <p:spPr>
          <a:xfrm>
            <a:off x="548640" y="2862072"/>
            <a:ext cx="960120" cy="374904"/>
          </a:xfrm>
          <a:prstGeom prst="rect">
            <a:avLst/>
          </a:prstGeom>
          <a:noFill/>
          <a:ln/>
        </p:spPr>
        <p:txBody>
          <a:bodyPr wrap="square" lIns="0" tIns="0" rIns="0" bIns="0" rtlCol="0" anchor="ctr"/>
          <a:lstStyle/>
          <a:p>
            <a:pPr marL="0" indent="0" algn="ctr">
              <a:buNone/>
            </a:pPr>
            <a:r>
              <a:rPr lang="en-US" sz="1300" b="1" dirty="0">
                <a:solidFill>
                  <a:schemeClr val="tx1"/>
                </a:solidFill>
              </a:rPr>
              <a:t>TRUE</a:t>
            </a:r>
            <a:endParaRPr lang="en-US" sz="1300" dirty="0"/>
          </a:p>
        </p:txBody>
      </p:sp>
      <p:sp>
        <p:nvSpPr>
          <p:cNvPr id="22" name="Text 19"/>
          <p:cNvSpPr txBox="1"/>
          <p:nvPr/>
        </p:nvSpPr>
        <p:spPr>
          <a:xfrm>
            <a:off x="1645920" y="2788920"/>
            <a:ext cx="2286000" cy="521208"/>
          </a:xfrm>
          <a:prstGeom prst="rect">
            <a:avLst/>
          </a:prstGeom>
          <a:noFill/>
          <a:ln/>
        </p:spPr>
        <p:txBody>
          <a:bodyPr wrap="square" lIns="0" tIns="0" rIns="0" bIns="0" rtlCol="0" anchor="ctr"/>
          <a:lstStyle/>
          <a:p>
            <a:pPr marL="0" indent="0">
              <a:buNone/>
            </a:pPr>
            <a:r>
              <a:rPr lang="en-US" sz="1300" b="1" dirty="0">
                <a:solidFill>
                  <a:schemeClr val="accent4"/>
                </a:solidFill>
              </a:rPr>
              <a:t>facts about a life</a:t>
            </a:r>
            <a:endParaRPr lang="en-US" sz="1300" dirty="0"/>
          </a:p>
        </p:txBody>
      </p:sp>
      <p:sp>
        <p:nvSpPr>
          <p:cNvPr id="23" name="Text 20"/>
          <p:cNvSpPr txBox="1"/>
          <p:nvPr/>
        </p:nvSpPr>
        <p:spPr>
          <a:xfrm>
            <a:off x="3931920" y="2788920"/>
            <a:ext cx="4572000" cy="521208"/>
          </a:xfrm>
          <a:prstGeom prst="rect">
            <a:avLst/>
          </a:prstGeom>
          <a:noFill/>
          <a:ln/>
        </p:spPr>
        <p:txBody>
          <a:bodyPr wrap="square" lIns="0" tIns="0" rIns="0" bIns="0" rtlCol="0" anchor="ctr"/>
          <a:lstStyle/>
          <a:p>
            <a:pPr marL="0" indent="0">
              <a:buNone/>
            </a:pPr>
            <a:r>
              <a:rPr lang="en-US" sz="1200" dirty="0">
                <a:solidFill>
                  <a:schemeClr val="tx1"/>
                </a:solidFill>
              </a:rPr>
              <a:t>dates, places and events: 26 April 1977, Milan, 200 days</a:t>
            </a:r>
            <a:endParaRPr lang="en-US" sz="1200" dirty="0"/>
          </a:p>
        </p:txBody>
      </p:sp>
      <p:sp>
        <p:nvSpPr>
          <p:cNvPr id="24" name="Answer 5"/>
          <p:cNvSpPr/>
          <p:nvPr/>
        </p:nvSpPr>
        <p:spPr>
          <a:xfrm>
            <a:off x="457200" y="3383280"/>
            <a:ext cx="8229600" cy="521208"/>
          </a:xfrm>
          <a:prstGeom prst="roundRect">
            <a:avLst>
              <a:gd name="adj" fmla="val 2105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5" name="Verdict"/>
          <p:cNvSpPr/>
          <p:nvPr/>
        </p:nvSpPr>
        <p:spPr>
          <a:xfrm>
            <a:off x="548640" y="3456432"/>
            <a:ext cx="960120" cy="374904"/>
          </a:xfrm>
          <a:prstGeom prst="roundRect">
            <a:avLst>
              <a:gd name="adj" fmla="val 24390"/>
            </a:avLst>
          </a:prstGeom>
          <a:solidFill>
            <a:schemeClr val="accent3"/>
          </a:solidFill>
          <a:ln w="6350">
            <a:solidFill>
              <a:schemeClr val="accent3"/>
            </a:solidFill>
            <a:prstDash val="solid"/>
          </a:ln>
        </p:spPr>
      </p:sp>
      <p:sp>
        <p:nvSpPr>
          <p:cNvPr id="26" name="Text 23"/>
          <p:cNvSpPr txBox="1"/>
          <p:nvPr/>
        </p:nvSpPr>
        <p:spPr>
          <a:xfrm>
            <a:off x="548640" y="3456432"/>
            <a:ext cx="960120" cy="374904"/>
          </a:xfrm>
          <a:prstGeom prst="rect">
            <a:avLst/>
          </a:prstGeom>
          <a:noFill/>
          <a:ln/>
        </p:spPr>
        <p:txBody>
          <a:bodyPr wrap="square" lIns="0" tIns="0" rIns="0" bIns="0" rtlCol="0" anchor="ctr"/>
          <a:lstStyle/>
          <a:p>
            <a:pPr marL="0" indent="0" algn="ctr">
              <a:buNone/>
            </a:pPr>
            <a:r>
              <a:rPr lang="en-US" sz="1300" b="1" dirty="0">
                <a:solidFill>
                  <a:schemeClr val="tx1"/>
                </a:solidFill>
              </a:rPr>
              <a:t>FALSE</a:t>
            </a:r>
            <a:endParaRPr lang="en-US" sz="1300" dirty="0"/>
          </a:p>
        </p:txBody>
      </p:sp>
      <p:sp>
        <p:nvSpPr>
          <p:cNvPr id="27" name="Text 24"/>
          <p:cNvSpPr txBox="1"/>
          <p:nvPr/>
        </p:nvSpPr>
        <p:spPr>
          <a:xfrm>
            <a:off x="1645920" y="3383280"/>
            <a:ext cx="2286000" cy="521208"/>
          </a:xfrm>
          <a:prstGeom prst="rect">
            <a:avLst/>
          </a:prstGeom>
          <a:noFill/>
          <a:ln/>
        </p:spPr>
        <p:txBody>
          <a:bodyPr wrap="square" lIns="0" tIns="0" rIns="0" bIns="0" rtlCol="0" anchor="ctr"/>
          <a:lstStyle/>
          <a:p>
            <a:pPr marL="0" indent="0">
              <a:buNone/>
            </a:pPr>
            <a:r>
              <a:rPr lang="en-US" sz="1300" b="1" dirty="0">
                <a:solidFill>
                  <a:schemeClr val="accent4"/>
                </a:solidFill>
              </a:rPr>
              <a:t>mostly informal</a:t>
            </a:r>
            <a:endParaRPr lang="en-US" sz="1300" dirty="0"/>
          </a:p>
        </p:txBody>
      </p:sp>
      <p:sp>
        <p:nvSpPr>
          <p:cNvPr id="28" name="Text 25"/>
          <p:cNvSpPr txBox="1"/>
          <p:nvPr/>
        </p:nvSpPr>
        <p:spPr>
          <a:xfrm>
            <a:off x="3931920" y="3383280"/>
            <a:ext cx="4572000" cy="521208"/>
          </a:xfrm>
          <a:prstGeom prst="rect">
            <a:avLst/>
          </a:prstGeom>
          <a:noFill/>
          <a:ln/>
        </p:spPr>
        <p:txBody>
          <a:bodyPr wrap="square" lIns="0" tIns="0" rIns="0" bIns="0" rtlCol="0" anchor="ctr"/>
          <a:lstStyle/>
          <a:p>
            <a:pPr marL="0" indent="0">
              <a:buNone/>
            </a:pPr>
            <a:r>
              <a:rPr lang="en-US" sz="1200" dirty="0">
                <a:solidFill>
                  <a:schemeClr val="tx1"/>
                </a:solidFill>
              </a:rPr>
              <a:t>formal language: ‘conducted experiments’, ‘was assigned’</a:t>
            </a:r>
            <a:endParaRPr lang="en-US" sz="1200" dirty="0"/>
          </a:p>
        </p:txBody>
      </p:sp>
      <p:sp>
        <p:nvSpPr>
          <p:cNvPr id="29" name="Answer 6"/>
          <p:cNvSpPr/>
          <p:nvPr/>
        </p:nvSpPr>
        <p:spPr>
          <a:xfrm>
            <a:off x="457200" y="3977640"/>
            <a:ext cx="8229600" cy="521208"/>
          </a:xfrm>
          <a:prstGeom prst="roundRect">
            <a:avLst>
              <a:gd name="adj" fmla="val 2105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0" name="Verdict"/>
          <p:cNvSpPr/>
          <p:nvPr/>
        </p:nvSpPr>
        <p:spPr>
          <a:xfrm>
            <a:off x="548640" y="4050792"/>
            <a:ext cx="960120" cy="374904"/>
          </a:xfrm>
          <a:prstGeom prst="roundRect">
            <a:avLst>
              <a:gd name="adj" fmla="val 24390"/>
            </a:avLst>
          </a:prstGeom>
          <a:solidFill>
            <a:schemeClr val="accent3"/>
          </a:solidFill>
          <a:ln w="6350">
            <a:solidFill>
              <a:schemeClr val="accent3"/>
            </a:solidFill>
            <a:prstDash val="solid"/>
          </a:ln>
        </p:spPr>
      </p:sp>
      <p:sp>
        <p:nvSpPr>
          <p:cNvPr id="31" name="Text 28"/>
          <p:cNvSpPr txBox="1"/>
          <p:nvPr/>
        </p:nvSpPr>
        <p:spPr>
          <a:xfrm>
            <a:off x="548640" y="4050792"/>
            <a:ext cx="960120" cy="374904"/>
          </a:xfrm>
          <a:prstGeom prst="rect">
            <a:avLst/>
          </a:prstGeom>
          <a:noFill/>
          <a:ln/>
        </p:spPr>
        <p:txBody>
          <a:bodyPr wrap="square" lIns="0" tIns="0" rIns="0" bIns="0" rtlCol="0" anchor="ctr"/>
          <a:lstStyle/>
          <a:p>
            <a:pPr marL="0" indent="0" algn="ctr">
              <a:buNone/>
            </a:pPr>
            <a:r>
              <a:rPr lang="en-US" sz="1300" b="1" dirty="0">
                <a:solidFill>
                  <a:schemeClr val="tx1"/>
                </a:solidFill>
              </a:rPr>
              <a:t>FALSE</a:t>
            </a:r>
            <a:endParaRPr lang="en-US" sz="1300" dirty="0"/>
          </a:p>
        </p:txBody>
      </p:sp>
      <p:sp>
        <p:nvSpPr>
          <p:cNvPr id="32" name="Text 29"/>
          <p:cNvSpPr txBox="1"/>
          <p:nvPr/>
        </p:nvSpPr>
        <p:spPr>
          <a:xfrm>
            <a:off x="1645920" y="3977640"/>
            <a:ext cx="2286000" cy="521208"/>
          </a:xfrm>
          <a:prstGeom prst="rect">
            <a:avLst/>
          </a:prstGeom>
          <a:noFill/>
          <a:ln/>
        </p:spPr>
        <p:txBody>
          <a:bodyPr wrap="square" lIns="0" tIns="0" rIns="0" bIns="0" rtlCol="0" anchor="ctr"/>
          <a:lstStyle/>
          <a:p>
            <a:pPr marL="0" indent="0">
              <a:buNone/>
            </a:pPr>
            <a:r>
              <a:rPr lang="en-US" sz="1300" b="1" dirty="0">
                <a:solidFill>
                  <a:schemeClr val="accent4"/>
                </a:solidFill>
              </a:rPr>
              <a:t>first-person (I, me, we)</a:t>
            </a:r>
            <a:endParaRPr lang="en-US" sz="1300" dirty="0"/>
          </a:p>
        </p:txBody>
      </p:sp>
      <p:sp>
        <p:nvSpPr>
          <p:cNvPr id="33" name="Text 30"/>
          <p:cNvSpPr txBox="1"/>
          <p:nvPr/>
        </p:nvSpPr>
        <p:spPr>
          <a:xfrm>
            <a:off x="3931920" y="3977640"/>
            <a:ext cx="4572000" cy="521208"/>
          </a:xfrm>
          <a:prstGeom prst="rect">
            <a:avLst/>
          </a:prstGeom>
          <a:noFill/>
          <a:ln/>
        </p:spPr>
        <p:txBody>
          <a:bodyPr wrap="square" lIns="0" tIns="0" rIns="0" bIns="0" rtlCol="0" anchor="ctr"/>
          <a:lstStyle/>
          <a:p>
            <a:pPr marL="0" indent="0">
              <a:buNone/>
            </a:pPr>
            <a:r>
              <a:rPr lang="en-US" sz="1200" dirty="0">
                <a:solidFill>
                  <a:schemeClr val="tx1"/>
                </a:solidFill>
              </a:rPr>
              <a:t>third person: ‘she’, ‘her’, ‘Samantha’</a:t>
            </a:r>
            <a:endParaRPr lang="en-US" sz="12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Biography or autobiography?</a:t>
            </a:r>
            <a:endParaRPr lang="en-US" sz="3000" dirty="0"/>
          </a:p>
        </p:txBody>
      </p:sp>
      <p:sp>
        <p:nvSpPr>
          <p:cNvPr id="4" name="BIOGRAPHY card"/>
          <p:cNvSpPr/>
          <p:nvPr/>
        </p:nvSpPr>
        <p:spPr>
          <a:xfrm>
            <a:off x="457200" y="1005840"/>
            <a:ext cx="4023360" cy="3383280"/>
          </a:xfrm>
          <a:prstGeom prst="roundRect">
            <a:avLst>
              <a:gd name="adj" fmla="val 324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Header"/>
          <p:cNvSpPr/>
          <p:nvPr/>
        </p:nvSpPr>
        <p:spPr>
          <a:xfrm>
            <a:off x="594360" y="1115568"/>
            <a:ext cx="3749040" cy="502920"/>
          </a:xfrm>
          <a:prstGeom prst="roundRect">
            <a:avLst>
              <a:gd name="adj" fmla="val 18182"/>
            </a:avLst>
          </a:prstGeom>
          <a:solidFill>
            <a:schemeClr val="accent3"/>
          </a:solidFill>
          <a:ln w="6350">
            <a:solidFill>
              <a:schemeClr val="accent3"/>
            </a:solidFill>
            <a:prstDash val="solid"/>
          </a:ln>
        </p:spPr>
      </p:sp>
      <p:sp>
        <p:nvSpPr>
          <p:cNvPr id="6" name="Text 3"/>
          <p:cNvSpPr txBox="1"/>
          <p:nvPr/>
        </p:nvSpPr>
        <p:spPr>
          <a:xfrm>
            <a:off x="594360" y="1115568"/>
            <a:ext cx="3749040" cy="502920"/>
          </a:xfrm>
          <a:prstGeom prst="rect">
            <a:avLst/>
          </a:prstGeom>
          <a:noFill/>
          <a:ln/>
        </p:spPr>
        <p:txBody>
          <a:bodyPr wrap="square" lIns="0" tIns="0" rIns="0" bIns="0" rtlCol="0" anchor="ctr"/>
          <a:lstStyle/>
          <a:p>
            <a:pPr marL="0" indent="0" algn="ctr">
              <a:buNone/>
            </a:pPr>
            <a:r>
              <a:rPr lang="en-US" sz="1600" b="1" dirty="0">
                <a:solidFill>
                  <a:schemeClr val="tx1"/>
                </a:solidFill>
              </a:rPr>
              <a:t>BIOGRAPHY  </a:t>
            </a:r>
            <a:r>
              <a:rPr lang="en-US" sz="1300" dirty="0">
                <a:solidFill>
                  <a:schemeClr val="tx1"/>
                </a:solidFill>
              </a:rPr>
              <a:t>Third-person narrative</a:t>
            </a:r>
            <a:endParaRPr lang="en-US" sz="1600" dirty="0"/>
          </a:p>
        </p:txBody>
      </p:sp>
      <p:sp>
        <p:nvSpPr>
          <p:cNvPr id="7" name="Text 4"/>
          <p:cNvSpPr txBox="1"/>
          <p:nvPr/>
        </p:nvSpPr>
        <p:spPr>
          <a:xfrm>
            <a:off x="731520" y="1737360"/>
            <a:ext cx="352044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Another person gives an account of someone else’s life.</a:t>
            </a:r>
            <a:endParaRPr lang="en-US" sz="1300" dirty="0"/>
          </a:p>
          <a:p>
            <a:pPr marL="342900" indent="-342900">
              <a:spcAft>
                <a:spcPts val="600"/>
              </a:spcAft>
              <a:buSzPct val="100000"/>
              <a:buChar char="•"/>
            </a:pPr>
            <a:r>
              <a:rPr lang="en-US" sz="1300" dirty="0">
                <a:solidFill>
                  <a:schemeClr val="tx1"/>
                </a:solidFill>
              </a:rPr>
              <a:t>The language may be positive or negative.</a:t>
            </a:r>
            <a:endParaRPr lang="en-US" sz="1300" dirty="0"/>
          </a:p>
          <a:p>
            <a:pPr marL="342900" indent="-342900">
              <a:spcAft>
                <a:spcPts val="600"/>
              </a:spcAft>
              <a:buSzPct val="100000"/>
              <a:buChar char="•"/>
            </a:pPr>
            <a:r>
              <a:rPr lang="en-US" sz="1300" dirty="0">
                <a:solidFill>
                  <a:schemeClr val="tx1"/>
                </a:solidFill>
              </a:rPr>
              <a:t>Pronouns: he, she, it, they, him, them, his, hers, theirs</a:t>
            </a:r>
            <a:endParaRPr lang="en-US" sz="1300" dirty="0"/>
          </a:p>
        </p:txBody>
      </p:sp>
      <p:sp>
        <p:nvSpPr>
          <p:cNvPr id="8" name="Example"/>
          <p:cNvSpPr/>
          <p:nvPr/>
        </p:nvSpPr>
        <p:spPr>
          <a:xfrm>
            <a:off x="640080" y="3611880"/>
            <a:ext cx="3657600" cy="640080"/>
          </a:xfrm>
          <a:prstGeom prst="roundRect">
            <a:avLst>
              <a:gd name="adj" fmla="val 17143"/>
            </a:avLst>
          </a:prstGeom>
          <a:solidFill>
            <a:schemeClr val="accent5"/>
          </a:solidFill>
          <a:ln w="9525">
            <a:solidFill>
              <a:schemeClr val="accent5"/>
            </a:solidFill>
            <a:prstDash val="solid"/>
          </a:ln>
        </p:spPr>
      </p:sp>
      <p:sp>
        <p:nvSpPr>
          <p:cNvPr id="9" name="Text 6"/>
          <p:cNvSpPr txBox="1"/>
          <p:nvPr/>
        </p:nvSpPr>
        <p:spPr>
          <a:xfrm>
            <a:off x="777240" y="3611880"/>
            <a:ext cx="3383280" cy="640080"/>
          </a:xfrm>
          <a:prstGeom prst="rect">
            <a:avLst/>
          </a:prstGeom>
          <a:noFill/>
          <a:ln/>
        </p:spPr>
        <p:txBody>
          <a:bodyPr wrap="square" lIns="0" tIns="0" rIns="0" bIns="0" rtlCol="0" anchor="ctr"/>
          <a:lstStyle/>
          <a:p>
            <a:pPr marL="0" indent="0">
              <a:buNone/>
            </a:pPr>
            <a:r>
              <a:rPr lang="en-US" sz="1400" b="1" dirty="0">
                <a:solidFill>
                  <a:schemeClr val="tx1"/>
                </a:solidFill>
              </a:rPr>
              <a:t>Example: </a:t>
            </a:r>
            <a:r>
              <a:rPr lang="en-US" sz="1400" i="1" dirty="0">
                <a:solidFill>
                  <a:schemeClr val="tx1"/>
                </a:solidFill>
              </a:rPr>
              <a:t>She was born in Milan, Italy.</a:t>
            </a:r>
            <a:endParaRPr lang="en-US" sz="1400" dirty="0"/>
          </a:p>
        </p:txBody>
      </p:sp>
      <p:sp>
        <p:nvSpPr>
          <p:cNvPr id="10" name="AUTOBIOGRAPHY card"/>
          <p:cNvSpPr/>
          <p:nvPr/>
        </p:nvSpPr>
        <p:spPr>
          <a:xfrm>
            <a:off x="4663440" y="1005840"/>
            <a:ext cx="4023360" cy="3383280"/>
          </a:xfrm>
          <a:prstGeom prst="roundRect">
            <a:avLst>
              <a:gd name="adj" fmla="val 324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1" name="Header"/>
          <p:cNvSpPr/>
          <p:nvPr/>
        </p:nvSpPr>
        <p:spPr>
          <a:xfrm>
            <a:off x="4800600" y="1115568"/>
            <a:ext cx="3749040" cy="502920"/>
          </a:xfrm>
          <a:prstGeom prst="roundRect">
            <a:avLst>
              <a:gd name="adj" fmla="val 18182"/>
            </a:avLst>
          </a:prstGeom>
          <a:solidFill>
            <a:schemeClr val="accent6"/>
          </a:solidFill>
          <a:ln w="6350">
            <a:solidFill>
              <a:schemeClr val="accent6"/>
            </a:solidFill>
            <a:prstDash val="solid"/>
          </a:ln>
        </p:spPr>
      </p:sp>
      <p:sp>
        <p:nvSpPr>
          <p:cNvPr id="12" name="Text 9"/>
          <p:cNvSpPr txBox="1"/>
          <p:nvPr/>
        </p:nvSpPr>
        <p:spPr>
          <a:xfrm>
            <a:off x="4800600" y="1115568"/>
            <a:ext cx="3749040" cy="502920"/>
          </a:xfrm>
          <a:prstGeom prst="rect">
            <a:avLst/>
          </a:prstGeom>
          <a:noFill/>
          <a:ln/>
        </p:spPr>
        <p:txBody>
          <a:bodyPr wrap="square" lIns="0" tIns="0" rIns="0" bIns="0" rtlCol="0" anchor="ctr"/>
          <a:lstStyle/>
          <a:p>
            <a:pPr marL="0" indent="0" algn="ctr">
              <a:buNone/>
            </a:pPr>
            <a:r>
              <a:rPr lang="en-US" sz="1600" b="1" dirty="0">
                <a:solidFill>
                  <a:schemeClr val="tx1"/>
                </a:solidFill>
              </a:rPr>
              <a:t>AUTOBIOGRAPHY  </a:t>
            </a:r>
            <a:r>
              <a:rPr lang="en-US" sz="1300" dirty="0">
                <a:solidFill>
                  <a:schemeClr val="tx1"/>
                </a:solidFill>
              </a:rPr>
              <a:t>First-person narrative</a:t>
            </a:r>
            <a:endParaRPr lang="en-US" sz="1600" dirty="0"/>
          </a:p>
        </p:txBody>
      </p:sp>
      <p:sp>
        <p:nvSpPr>
          <p:cNvPr id="13" name="Text 10"/>
          <p:cNvSpPr txBox="1"/>
          <p:nvPr/>
        </p:nvSpPr>
        <p:spPr>
          <a:xfrm>
            <a:off x="4937760" y="1737360"/>
            <a:ext cx="352044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Someone gives a personal account of their own life.</a:t>
            </a:r>
            <a:endParaRPr lang="en-US" sz="1300" dirty="0"/>
          </a:p>
          <a:p>
            <a:pPr marL="342900" indent="-342900">
              <a:spcAft>
                <a:spcPts val="600"/>
              </a:spcAft>
              <a:buSzPct val="100000"/>
              <a:buChar char="•"/>
            </a:pPr>
            <a:r>
              <a:rPr lang="en-US" sz="1300" dirty="0">
                <a:solidFill>
                  <a:schemeClr val="tx1"/>
                </a:solidFill>
              </a:rPr>
              <a:t>The language is likely to be positive.</a:t>
            </a:r>
            <a:endParaRPr lang="en-US" sz="1300" dirty="0"/>
          </a:p>
          <a:p>
            <a:pPr marL="342900" indent="-342900">
              <a:spcAft>
                <a:spcPts val="600"/>
              </a:spcAft>
              <a:buSzPct val="100000"/>
              <a:buChar char="•"/>
            </a:pPr>
            <a:r>
              <a:rPr lang="en-US" sz="1300" dirty="0">
                <a:solidFill>
                  <a:schemeClr val="tx1"/>
                </a:solidFill>
              </a:rPr>
              <a:t>Pronouns: I, we, me, us, mine, ours</a:t>
            </a:r>
            <a:endParaRPr lang="en-US" sz="1300" dirty="0"/>
          </a:p>
        </p:txBody>
      </p:sp>
      <p:sp>
        <p:nvSpPr>
          <p:cNvPr id="14" name="Example"/>
          <p:cNvSpPr/>
          <p:nvPr/>
        </p:nvSpPr>
        <p:spPr>
          <a:xfrm>
            <a:off x="4846320" y="3611880"/>
            <a:ext cx="3657600" cy="640080"/>
          </a:xfrm>
          <a:prstGeom prst="roundRect">
            <a:avLst>
              <a:gd name="adj" fmla="val 17143"/>
            </a:avLst>
          </a:prstGeom>
          <a:solidFill>
            <a:schemeClr val="accent5"/>
          </a:solidFill>
          <a:ln w="9525">
            <a:solidFill>
              <a:schemeClr val="accent5"/>
            </a:solidFill>
            <a:prstDash val="solid"/>
          </a:ln>
        </p:spPr>
      </p:sp>
      <p:sp>
        <p:nvSpPr>
          <p:cNvPr id="15" name="Text 12"/>
          <p:cNvSpPr txBox="1"/>
          <p:nvPr/>
        </p:nvSpPr>
        <p:spPr>
          <a:xfrm>
            <a:off x="4983480" y="3611880"/>
            <a:ext cx="3383280" cy="640080"/>
          </a:xfrm>
          <a:prstGeom prst="rect">
            <a:avLst/>
          </a:prstGeom>
          <a:noFill/>
          <a:ln/>
        </p:spPr>
        <p:txBody>
          <a:bodyPr wrap="square" lIns="0" tIns="0" rIns="0" bIns="0" rtlCol="0" anchor="ctr"/>
          <a:lstStyle/>
          <a:p>
            <a:pPr marL="0" indent="0">
              <a:buNone/>
            </a:pPr>
            <a:r>
              <a:rPr lang="en-US" sz="1400" b="1" dirty="0">
                <a:solidFill>
                  <a:schemeClr val="tx1"/>
                </a:solidFill>
              </a:rPr>
              <a:t>Example: </a:t>
            </a:r>
            <a:r>
              <a:rPr lang="en-US" sz="1400" i="1" dirty="0">
                <a:solidFill>
                  <a:schemeClr val="tx1"/>
                </a:solidFill>
              </a:rPr>
              <a:t>I was born in Milan, Italy.</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Point of view: two questions</a:t>
            </a:r>
            <a:endParaRPr lang="en-US" sz="3000" dirty="0"/>
          </a:p>
        </p:txBody>
      </p:sp>
      <p:sp>
        <p:nvSpPr>
          <p:cNvPr id="4" name="POV 1"/>
          <p:cNvSpPr/>
          <p:nvPr/>
        </p:nvSpPr>
        <p:spPr>
          <a:xfrm>
            <a:off x="457200" y="1051560"/>
            <a:ext cx="4023360" cy="2743200"/>
          </a:xfrm>
          <a:prstGeom prst="roundRect">
            <a:avLst>
              <a:gd name="adj" fmla="val 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640080" y="1188720"/>
            <a:ext cx="457200" cy="457200"/>
          </a:xfrm>
          <a:prstGeom prst="ellipse">
            <a:avLst/>
          </a:prstGeom>
          <a:solidFill>
            <a:schemeClr val="accent1"/>
          </a:solidFill>
          <a:ln w="6350">
            <a:solidFill>
              <a:schemeClr val="accent1"/>
            </a:solidFill>
            <a:prstDash val="solid"/>
          </a:ln>
        </p:spPr>
      </p:sp>
      <p:sp>
        <p:nvSpPr>
          <p:cNvPr id="6" name="Text 3"/>
          <p:cNvSpPr txBox="1"/>
          <p:nvPr/>
        </p:nvSpPr>
        <p:spPr>
          <a:xfrm>
            <a:off x="640080" y="118872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640080" y="1783080"/>
            <a:ext cx="3657600" cy="457200"/>
          </a:xfrm>
          <a:prstGeom prst="rect">
            <a:avLst/>
          </a:prstGeom>
          <a:noFill/>
          <a:ln/>
        </p:spPr>
        <p:txBody>
          <a:bodyPr wrap="square" lIns="0" tIns="0" rIns="0" bIns="0" rtlCol="0" anchor="ctr"/>
          <a:lstStyle/>
          <a:p>
            <a:pPr marL="0" indent="0">
              <a:buNone/>
            </a:pPr>
            <a:r>
              <a:rPr lang="en-US" sz="1900" b="1" dirty="0">
                <a:solidFill>
                  <a:schemeClr val="tx1"/>
                </a:solidFill>
                <a:latin typeface="+mj-lt" pitchFamily="34" charset="0"/>
                <a:ea typeface="+mj-lt" pitchFamily="34" charset="-122"/>
                <a:cs typeface="+mj-lt" pitchFamily="34" charset="-120"/>
              </a:rPr>
              <a:t>WHO is telling the story?</a:t>
            </a:r>
            <a:endParaRPr lang="en-US" sz="1900" dirty="0"/>
          </a:p>
        </p:txBody>
      </p:sp>
      <p:sp>
        <p:nvSpPr>
          <p:cNvPr id="8" name="Text 5"/>
          <p:cNvSpPr txBox="1"/>
          <p:nvPr/>
        </p:nvSpPr>
        <p:spPr>
          <a:xfrm>
            <a:off x="640080" y="2286000"/>
            <a:ext cx="3657600" cy="777240"/>
          </a:xfrm>
          <a:prstGeom prst="rect">
            <a:avLst/>
          </a:prstGeom>
          <a:noFill/>
          <a:ln/>
        </p:spPr>
        <p:txBody>
          <a:bodyPr wrap="square" lIns="0" tIns="0" rIns="0" bIns="0" rtlCol="0" anchor="t"/>
          <a:lstStyle/>
          <a:p>
            <a:pPr marL="0" indent="0">
              <a:buNone/>
            </a:pPr>
            <a:r>
              <a:rPr lang="en-US" sz="1400" dirty="0">
                <a:solidFill>
                  <a:schemeClr val="tx1"/>
                </a:solidFill>
              </a:rPr>
              <a:t>First person (I, we) or third person (he, she, they)? Look at the pronouns.</a:t>
            </a:r>
            <a:endParaRPr lang="en-US" sz="1400" dirty="0"/>
          </a:p>
        </p:txBody>
      </p:sp>
      <p:sp>
        <p:nvSpPr>
          <p:cNvPr id="9" name="Example"/>
          <p:cNvSpPr/>
          <p:nvPr/>
        </p:nvSpPr>
        <p:spPr>
          <a:xfrm>
            <a:off x="640080" y="3063240"/>
            <a:ext cx="3657600" cy="594360"/>
          </a:xfrm>
          <a:prstGeom prst="roundRect">
            <a:avLst>
              <a:gd name="adj" fmla="val 18462"/>
            </a:avLst>
          </a:prstGeom>
          <a:solidFill>
            <a:schemeClr val="accent5"/>
          </a:solidFill>
          <a:ln w="9525">
            <a:solidFill>
              <a:schemeClr val="accent5"/>
            </a:solidFill>
            <a:prstDash val="solid"/>
          </a:ln>
        </p:spPr>
      </p:sp>
      <p:sp>
        <p:nvSpPr>
          <p:cNvPr id="10" name="Text 7"/>
          <p:cNvSpPr txBox="1"/>
          <p:nvPr/>
        </p:nvSpPr>
        <p:spPr>
          <a:xfrm>
            <a:off x="731520" y="3063240"/>
            <a:ext cx="3474720" cy="594360"/>
          </a:xfrm>
          <a:prstGeom prst="rect">
            <a:avLst/>
          </a:prstGeom>
          <a:noFill/>
          <a:ln/>
        </p:spPr>
        <p:txBody>
          <a:bodyPr wrap="square" lIns="0" tIns="0" rIns="0" bIns="0" rtlCol="0" anchor="ctr"/>
          <a:lstStyle/>
          <a:p>
            <a:pPr marL="0" indent="0">
              <a:buNone/>
            </a:pPr>
            <a:r>
              <a:rPr lang="en-US" sz="1300" i="1" dirty="0">
                <a:solidFill>
                  <a:schemeClr val="tx1"/>
                </a:solidFill>
              </a:rPr>
              <a:t>I launched into space.  /  She launched into space.</a:t>
            </a:r>
            <a:endParaRPr lang="en-US" sz="1300" dirty="0"/>
          </a:p>
        </p:txBody>
      </p:sp>
      <p:sp>
        <p:nvSpPr>
          <p:cNvPr id="11" name="POV 2"/>
          <p:cNvSpPr/>
          <p:nvPr/>
        </p:nvSpPr>
        <p:spPr>
          <a:xfrm>
            <a:off x="4663440" y="1051560"/>
            <a:ext cx="4023360" cy="2743200"/>
          </a:xfrm>
          <a:prstGeom prst="roundRect">
            <a:avLst>
              <a:gd name="adj" fmla="val 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2" name="Badge"/>
          <p:cNvSpPr/>
          <p:nvPr/>
        </p:nvSpPr>
        <p:spPr>
          <a:xfrm>
            <a:off x="4846320" y="1188720"/>
            <a:ext cx="457200" cy="457200"/>
          </a:xfrm>
          <a:prstGeom prst="ellipse">
            <a:avLst/>
          </a:prstGeom>
          <a:solidFill>
            <a:schemeClr val="accent2"/>
          </a:solidFill>
          <a:ln w="6350">
            <a:solidFill>
              <a:schemeClr val="accent2"/>
            </a:solidFill>
            <a:prstDash val="solid"/>
          </a:ln>
        </p:spPr>
      </p:sp>
      <p:sp>
        <p:nvSpPr>
          <p:cNvPr id="13" name="Text 10"/>
          <p:cNvSpPr txBox="1"/>
          <p:nvPr/>
        </p:nvSpPr>
        <p:spPr>
          <a:xfrm>
            <a:off x="4846320" y="118872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4" name="Text 11"/>
          <p:cNvSpPr txBox="1"/>
          <p:nvPr/>
        </p:nvSpPr>
        <p:spPr>
          <a:xfrm>
            <a:off x="4846320" y="1783080"/>
            <a:ext cx="3657600" cy="457200"/>
          </a:xfrm>
          <a:prstGeom prst="rect">
            <a:avLst/>
          </a:prstGeom>
          <a:noFill/>
          <a:ln/>
        </p:spPr>
        <p:txBody>
          <a:bodyPr wrap="square" lIns="0" tIns="0" rIns="0" bIns="0" rtlCol="0" anchor="ctr"/>
          <a:lstStyle/>
          <a:p>
            <a:pPr marL="0" indent="0">
              <a:buNone/>
            </a:pPr>
            <a:r>
              <a:rPr lang="en-US" sz="1900" b="1" dirty="0">
                <a:solidFill>
                  <a:schemeClr val="tx1"/>
                </a:solidFill>
                <a:latin typeface="+mj-lt" pitchFamily="34" charset="0"/>
                <a:ea typeface="+mj-lt" pitchFamily="34" charset="-122"/>
                <a:cs typeface="+mj-lt" pitchFamily="34" charset="-120"/>
              </a:rPr>
              <a:t>HOW does the writer feel?</a:t>
            </a:r>
            <a:endParaRPr lang="en-US" sz="1900" dirty="0"/>
          </a:p>
        </p:txBody>
      </p:sp>
      <p:sp>
        <p:nvSpPr>
          <p:cNvPr id="15" name="Text 12"/>
          <p:cNvSpPr txBox="1"/>
          <p:nvPr/>
        </p:nvSpPr>
        <p:spPr>
          <a:xfrm>
            <a:off x="4846320" y="2286000"/>
            <a:ext cx="3657600" cy="777240"/>
          </a:xfrm>
          <a:prstGeom prst="rect">
            <a:avLst/>
          </a:prstGeom>
          <a:noFill/>
          <a:ln/>
        </p:spPr>
        <p:txBody>
          <a:bodyPr wrap="square" lIns="0" tIns="0" rIns="0" bIns="0" rtlCol="0" anchor="t"/>
          <a:lstStyle/>
          <a:p>
            <a:pPr marL="0" indent="0">
              <a:buNone/>
            </a:pPr>
            <a:r>
              <a:rPr lang="en-US" sz="1400" dirty="0">
                <a:solidFill>
                  <a:schemeClr val="tx1"/>
                </a:solidFill>
              </a:rPr>
              <a:t>Positive, negative or neutral? Look at the word choice.</a:t>
            </a:r>
            <a:endParaRPr lang="en-US" sz="1400" dirty="0"/>
          </a:p>
        </p:txBody>
      </p:sp>
      <p:sp>
        <p:nvSpPr>
          <p:cNvPr id="16" name="Example"/>
          <p:cNvSpPr/>
          <p:nvPr/>
        </p:nvSpPr>
        <p:spPr>
          <a:xfrm>
            <a:off x="4846320" y="3063240"/>
            <a:ext cx="3657600" cy="594360"/>
          </a:xfrm>
          <a:prstGeom prst="roundRect">
            <a:avLst>
              <a:gd name="adj" fmla="val 18462"/>
            </a:avLst>
          </a:prstGeom>
          <a:solidFill>
            <a:schemeClr val="accent5"/>
          </a:solidFill>
          <a:ln w="9525">
            <a:solidFill>
              <a:schemeClr val="accent5"/>
            </a:solidFill>
            <a:prstDash val="solid"/>
          </a:ln>
        </p:spPr>
      </p:sp>
      <p:sp>
        <p:nvSpPr>
          <p:cNvPr id="17" name="Text 14"/>
          <p:cNvSpPr txBox="1"/>
          <p:nvPr/>
        </p:nvSpPr>
        <p:spPr>
          <a:xfrm>
            <a:off x="4937760" y="3063240"/>
            <a:ext cx="3474720" cy="594360"/>
          </a:xfrm>
          <a:prstGeom prst="rect">
            <a:avLst/>
          </a:prstGeom>
          <a:noFill/>
          <a:ln/>
        </p:spPr>
        <p:txBody>
          <a:bodyPr wrap="square" lIns="0" tIns="0" rIns="0" bIns="0" rtlCol="0" anchor="ctr"/>
          <a:lstStyle/>
          <a:p>
            <a:pPr marL="0" indent="0">
              <a:buNone/>
            </a:pPr>
            <a:r>
              <a:rPr lang="en-US" sz="1300" i="1" dirty="0">
                <a:solidFill>
                  <a:schemeClr val="tx1"/>
                </a:solidFill>
              </a:rPr>
              <a:t>‘Samantha is an inspiration.’  →  positive</a:t>
            </a:r>
            <a:endParaRPr lang="en-US" sz="1300" dirty="0"/>
          </a:p>
        </p:txBody>
      </p:sp>
      <p:sp>
        <p:nvSpPr>
          <p:cNvPr id="18" name="Callout"/>
          <p:cNvSpPr/>
          <p:nvPr/>
        </p:nvSpPr>
        <p:spPr>
          <a:xfrm>
            <a:off x="457200" y="4023360"/>
            <a:ext cx="8229600" cy="502920"/>
          </a:xfrm>
          <a:prstGeom prst="roundRect">
            <a:avLst>
              <a:gd name="adj" fmla="val 21818"/>
            </a:avLst>
          </a:prstGeom>
          <a:solidFill>
            <a:schemeClr val="accent5"/>
          </a:solidFill>
          <a:ln w="9525">
            <a:solidFill>
              <a:schemeClr val="accent5"/>
            </a:solidFill>
            <a:prstDash val="solid"/>
          </a:ln>
        </p:spPr>
      </p:sp>
      <p:sp>
        <p:nvSpPr>
          <p:cNvPr id="19" name="Text 16"/>
          <p:cNvSpPr txBox="1"/>
          <p:nvPr/>
        </p:nvSpPr>
        <p:spPr>
          <a:xfrm>
            <a:off x="640080" y="4023360"/>
            <a:ext cx="7863840" cy="502920"/>
          </a:xfrm>
          <a:prstGeom prst="rect">
            <a:avLst/>
          </a:prstGeom>
          <a:noFill/>
          <a:ln/>
        </p:spPr>
        <p:txBody>
          <a:bodyPr wrap="square" lIns="0" tIns="0" rIns="0" bIns="0" rtlCol="0" anchor="ctr"/>
          <a:lstStyle/>
          <a:p>
            <a:pPr marL="0" indent="0" algn="ctr">
              <a:buNone/>
            </a:pPr>
            <a:r>
              <a:rPr lang="en-US" sz="1600" b="1" dirty="0">
                <a:solidFill>
                  <a:schemeClr val="tx1"/>
                </a:solidFill>
              </a:rPr>
              <a:t>Point of view = who tells the story + how the writer feels</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Third-person pronouns in action</a:t>
            </a:r>
            <a:endParaRPr lang="en-US" sz="3000" dirty="0"/>
          </a:p>
        </p:txBody>
      </p:sp>
      <p:sp>
        <p:nvSpPr>
          <p:cNvPr id="4" name="SUBJECT card"/>
          <p:cNvSpPr/>
          <p:nvPr/>
        </p:nvSpPr>
        <p:spPr>
          <a:xfrm>
            <a:off x="457200" y="1051560"/>
            <a:ext cx="2651760" cy="3108960"/>
          </a:xfrm>
          <a:prstGeom prst="roundRect">
            <a:avLst>
              <a:gd name="adj" fmla="val 413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Header"/>
          <p:cNvSpPr/>
          <p:nvPr/>
        </p:nvSpPr>
        <p:spPr>
          <a:xfrm>
            <a:off x="594360" y="1170432"/>
            <a:ext cx="2377440" cy="457200"/>
          </a:xfrm>
          <a:prstGeom prst="roundRect">
            <a:avLst>
              <a:gd name="adj" fmla="val 20000"/>
            </a:avLst>
          </a:prstGeom>
          <a:solidFill>
            <a:schemeClr val="accent1"/>
          </a:solidFill>
          <a:ln w="6350">
            <a:solidFill>
              <a:schemeClr val="accent1"/>
            </a:solidFill>
            <a:prstDash val="solid"/>
          </a:ln>
        </p:spPr>
      </p:sp>
      <p:sp>
        <p:nvSpPr>
          <p:cNvPr id="6" name="Text 3"/>
          <p:cNvSpPr txBox="1"/>
          <p:nvPr/>
        </p:nvSpPr>
        <p:spPr>
          <a:xfrm>
            <a:off x="594360" y="1170432"/>
            <a:ext cx="237744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SUBJECT</a:t>
            </a:r>
            <a:endParaRPr lang="en-US" sz="1600" dirty="0"/>
          </a:p>
        </p:txBody>
      </p:sp>
      <p:sp>
        <p:nvSpPr>
          <p:cNvPr id="7" name="Text 4"/>
          <p:cNvSpPr txBox="1"/>
          <p:nvPr/>
        </p:nvSpPr>
        <p:spPr>
          <a:xfrm>
            <a:off x="594360" y="1691640"/>
            <a:ext cx="2377440" cy="274320"/>
          </a:xfrm>
          <a:prstGeom prst="rect">
            <a:avLst/>
          </a:prstGeom>
          <a:noFill/>
          <a:ln/>
        </p:spPr>
        <p:txBody>
          <a:bodyPr wrap="square" lIns="0" tIns="0" rIns="0" bIns="0" rtlCol="0" anchor="ctr"/>
          <a:lstStyle/>
          <a:p>
            <a:pPr marL="0" indent="0" algn="ctr">
              <a:buNone/>
            </a:pPr>
            <a:r>
              <a:rPr lang="en-US" sz="1200" i="1" dirty="0">
                <a:solidFill>
                  <a:schemeClr val="tx2"/>
                </a:solidFill>
              </a:rPr>
              <a:t>does the action</a:t>
            </a:r>
            <a:endParaRPr lang="en-US" sz="1200" dirty="0"/>
          </a:p>
        </p:txBody>
      </p:sp>
      <p:sp>
        <p:nvSpPr>
          <p:cNvPr id="8" name="Text 5"/>
          <p:cNvSpPr txBox="1"/>
          <p:nvPr/>
        </p:nvSpPr>
        <p:spPr>
          <a:xfrm>
            <a:off x="594360" y="2057400"/>
            <a:ext cx="2377440" cy="640080"/>
          </a:xfrm>
          <a:prstGeom prst="rect">
            <a:avLst/>
          </a:prstGeom>
          <a:noFill/>
          <a:ln/>
        </p:spPr>
        <p:txBody>
          <a:bodyPr wrap="square" lIns="0" tIns="0" rIns="0" bIns="0" rtlCol="0" anchor="ctr"/>
          <a:lstStyle/>
          <a:p>
            <a:pPr marL="0" indent="0" algn="ctr">
              <a:buNone/>
            </a:pPr>
            <a:r>
              <a:rPr lang="en-US" sz="1500" b="1" dirty="0">
                <a:solidFill>
                  <a:schemeClr val="accent4"/>
                </a:solidFill>
                <a:latin typeface="+mj-lt" pitchFamily="34" charset="0"/>
                <a:ea typeface="+mj-lt" pitchFamily="34" charset="-122"/>
                <a:cs typeface="+mj-lt" pitchFamily="34" charset="-120"/>
              </a:rPr>
              <a:t>he  ·  she  ·  it  ·  they</a:t>
            </a:r>
            <a:endParaRPr lang="en-US" sz="1500" dirty="0"/>
          </a:p>
        </p:txBody>
      </p:sp>
      <p:sp>
        <p:nvSpPr>
          <p:cNvPr id="9" name="Example"/>
          <p:cNvSpPr/>
          <p:nvPr/>
        </p:nvSpPr>
        <p:spPr>
          <a:xfrm>
            <a:off x="594360" y="2880360"/>
            <a:ext cx="2377440" cy="1097280"/>
          </a:xfrm>
          <a:prstGeom prst="roundRect">
            <a:avLst>
              <a:gd name="adj" fmla="val 10000"/>
            </a:avLst>
          </a:prstGeom>
          <a:solidFill>
            <a:schemeClr val="accent5"/>
          </a:solidFill>
          <a:ln w="9525">
            <a:solidFill>
              <a:schemeClr val="accent5"/>
            </a:solidFill>
            <a:prstDash val="solid"/>
          </a:ln>
        </p:spPr>
      </p:sp>
      <p:sp>
        <p:nvSpPr>
          <p:cNvPr id="10" name="Text 7"/>
          <p:cNvSpPr txBox="1"/>
          <p:nvPr/>
        </p:nvSpPr>
        <p:spPr>
          <a:xfrm>
            <a:off x="685800" y="2880360"/>
            <a:ext cx="2194560" cy="1097280"/>
          </a:xfrm>
          <a:prstGeom prst="rect">
            <a:avLst/>
          </a:prstGeom>
          <a:noFill/>
          <a:ln/>
        </p:spPr>
        <p:txBody>
          <a:bodyPr wrap="square" lIns="0" tIns="0" rIns="0" bIns="0" rtlCol="0" anchor="ctr"/>
          <a:lstStyle/>
          <a:p>
            <a:pPr marL="0" indent="0" algn="ctr">
              <a:buNone/>
            </a:pPr>
            <a:r>
              <a:rPr lang="en-US" sz="1400" b="1" dirty="0">
                <a:solidFill>
                  <a:schemeClr val="tx1"/>
                </a:solidFill>
                <a:highlight>
                  <a:srgbClr val="FFD166"/>
                </a:highlight>
              </a:rPr>
              <a:t>She</a:t>
            </a:r>
            <a:r>
              <a:rPr lang="en-US" sz="1400" dirty="0">
                <a:solidFill>
                  <a:schemeClr val="tx1"/>
                </a:solidFill>
              </a:rPr>
              <a:t> launched into space.</a:t>
            </a:r>
            <a:endParaRPr lang="en-US" sz="1400" dirty="0"/>
          </a:p>
        </p:txBody>
      </p:sp>
      <p:sp>
        <p:nvSpPr>
          <p:cNvPr id="11" name="OBJECT card"/>
          <p:cNvSpPr/>
          <p:nvPr/>
        </p:nvSpPr>
        <p:spPr>
          <a:xfrm>
            <a:off x="3246120" y="1051560"/>
            <a:ext cx="2651760" cy="3108960"/>
          </a:xfrm>
          <a:prstGeom prst="roundRect">
            <a:avLst>
              <a:gd name="adj" fmla="val 413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2" name="Header"/>
          <p:cNvSpPr/>
          <p:nvPr/>
        </p:nvSpPr>
        <p:spPr>
          <a:xfrm>
            <a:off x="3383280" y="1170432"/>
            <a:ext cx="2377440" cy="457200"/>
          </a:xfrm>
          <a:prstGeom prst="roundRect">
            <a:avLst>
              <a:gd name="adj" fmla="val 20000"/>
            </a:avLst>
          </a:prstGeom>
          <a:solidFill>
            <a:schemeClr val="accent2"/>
          </a:solidFill>
          <a:ln w="6350">
            <a:solidFill>
              <a:schemeClr val="accent2"/>
            </a:solidFill>
            <a:prstDash val="solid"/>
          </a:ln>
        </p:spPr>
      </p:sp>
      <p:sp>
        <p:nvSpPr>
          <p:cNvPr id="13" name="Text 10"/>
          <p:cNvSpPr txBox="1"/>
          <p:nvPr/>
        </p:nvSpPr>
        <p:spPr>
          <a:xfrm>
            <a:off x="3383280" y="1170432"/>
            <a:ext cx="237744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OBJECT</a:t>
            </a:r>
            <a:endParaRPr lang="en-US" sz="1600" dirty="0"/>
          </a:p>
        </p:txBody>
      </p:sp>
      <p:sp>
        <p:nvSpPr>
          <p:cNvPr id="14" name="Text 11"/>
          <p:cNvSpPr txBox="1"/>
          <p:nvPr/>
        </p:nvSpPr>
        <p:spPr>
          <a:xfrm>
            <a:off x="3383280" y="1691640"/>
            <a:ext cx="2377440" cy="274320"/>
          </a:xfrm>
          <a:prstGeom prst="rect">
            <a:avLst/>
          </a:prstGeom>
          <a:noFill/>
          <a:ln/>
        </p:spPr>
        <p:txBody>
          <a:bodyPr wrap="square" lIns="0" tIns="0" rIns="0" bIns="0" rtlCol="0" anchor="ctr"/>
          <a:lstStyle/>
          <a:p>
            <a:pPr marL="0" indent="0" algn="ctr">
              <a:buNone/>
            </a:pPr>
            <a:r>
              <a:rPr lang="en-US" sz="1200" i="1" dirty="0">
                <a:solidFill>
                  <a:schemeClr val="tx2"/>
                </a:solidFill>
              </a:rPr>
              <a:t>receives the action</a:t>
            </a:r>
            <a:endParaRPr lang="en-US" sz="1200" dirty="0"/>
          </a:p>
        </p:txBody>
      </p:sp>
      <p:sp>
        <p:nvSpPr>
          <p:cNvPr id="15" name="Text 12"/>
          <p:cNvSpPr txBox="1"/>
          <p:nvPr/>
        </p:nvSpPr>
        <p:spPr>
          <a:xfrm>
            <a:off x="3383280" y="2057400"/>
            <a:ext cx="2377440" cy="640080"/>
          </a:xfrm>
          <a:prstGeom prst="rect">
            <a:avLst/>
          </a:prstGeom>
          <a:noFill/>
          <a:ln/>
        </p:spPr>
        <p:txBody>
          <a:bodyPr wrap="square" lIns="0" tIns="0" rIns="0" bIns="0" rtlCol="0" anchor="ctr"/>
          <a:lstStyle/>
          <a:p>
            <a:pPr marL="0" indent="0" algn="ctr">
              <a:buNone/>
            </a:pPr>
            <a:r>
              <a:rPr lang="en-US" sz="1500" b="1" dirty="0">
                <a:solidFill>
                  <a:schemeClr val="accent4"/>
                </a:solidFill>
                <a:latin typeface="+mj-lt" pitchFamily="34" charset="0"/>
                <a:ea typeface="+mj-lt" pitchFamily="34" charset="-122"/>
                <a:cs typeface="+mj-lt" pitchFamily="34" charset="-120"/>
              </a:rPr>
              <a:t>him  ·  her  ·  it  ·  them</a:t>
            </a:r>
            <a:endParaRPr lang="en-US" sz="1500" dirty="0"/>
          </a:p>
        </p:txBody>
      </p:sp>
      <p:sp>
        <p:nvSpPr>
          <p:cNvPr id="16" name="Example"/>
          <p:cNvSpPr/>
          <p:nvPr/>
        </p:nvSpPr>
        <p:spPr>
          <a:xfrm>
            <a:off x="3383280" y="2880360"/>
            <a:ext cx="2377440" cy="1097280"/>
          </a:xfrm>
          <a:prstGeom prst="roundRect">
            <a:avLst>
              <a:gd name="adj" fmla="val 10000"/>
            </a:avLst>
          </a:prstGeom>
          <a:solidFill>
            <a:schemeClr val="accent5"/>
          </a:solidFill>
          <a:ln w="9525">
            <a:solidFill>
              <a:schemeClr val="accent5"/>
            </a:solidFill>
            <a:prstDash val="solid"/>
          </a:ln>
        </p:spPr>
      </p:sp>
      <p:sp>
        <p:nvSpPr>
          <p:cNvPr id="17" name="Text 14"/>
          <p:cNvSpPr txBox="1"/>
          <p:nvPr/>
        </p:nvSpPr>
        <p:spPr>
          <a:xfrm>
            <a:off x="3474720" y="2880360"/>
            <a:ext cx="2194560" cy="1097280"/>
          </a:xfrm>
          <a:prstGeom prst="rect">
            <a:avLst/>
          </a:prstGeom>
          <a:noFill/>
          <a:ln/>
        </p:spPr>
        <p:txBody>
          <a:bodyPr wrap="square" lIns="0" tIns="0" rIns="0" bIns="0" rtlCol="0" anchor="ctr"/>
          <a:lstStyle/>
          <a:p>
            <a:pPr marL="0" indent="0" algn="ctr">
              <a:buNone/>
            </a:pPr>
            <a:r>
              <a:rPr lang="en-US" sz="1400" dirty="0">
                <a:solidFill>
                  <a:schemeClr val="tx1"/>
                </a:solidFill>
              </a:rPr>
              <a:t>ESA selected </a:t>
            </a:r>
            <a:r>
              <a:rPr lang="en-US" sz="1400" b="1" dirty="0">
                <a:solidFill>
                  <a:schemeClr val="tx1"/>
                </a:solidFill>
                <a:highlight>
                  <a:srgbClr val="FFD166"/>
                </a:highlight>
              </a:rPr>
              <a:t>her</a:t>
            </a:r>
            <a:r>
              <a:rPr lang="en-US" sz="1400" dirty="0">
                <a:solidFill>
                  <a:schemeClr val="tx1"/>
                </a:solidFill>
              </a:rPr>
              <a:t> as an astronaut.</a:t>
            </a:r>
            <a:endParaRPr lang="en-US" sz="1400" dirty="0"/>
          </a:p>
        </p:txBody>
      </p:sp>
      <p:sp>
        <p:nvSpPr>
          <p:cNvPr id="18" name="POSSESSIVE card"/>
          <p:cNvSpPr/>
          <p:nvPr/>
        </p:nvSpPr>
        <p:spPr>
          <a:xfrm>
            <a:off x="6035040" y="1051560"/>
            <a:ext cx="2651760" cy="3108960"/>
          </a:xfrm>
          <a:prstGeom prst="roundRect">
            <a:avLst>
              <a:gd name="adj" fmla="val 413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9" name="Header"/>
          <p:cNvSpPr/>
          <p:nvPr/>
        </p:nvSpPr>
        <p:spPr>
          <a:xfrm>
            <a:off x="6172200" y="1170432"/>
            <a:ext cx="2377440" cy="457200"/>
          </a:xfrm>
          <a:prstGeom prst="roundRect">
            <a:avLst>
              <a:gd name="adj" fmla="val 20000"/>
            </a:avLst>
          </a:prstGeom>
          <a:solidFill>
            <a:schemeClr val="accent3"/>
          </a:solidFill>
          <a:ln w="6350">
            <a:solidFill>
              <a:schemeClr val="accent3"/>
            </a:solidFill>
            <a:prstDash val="solid"/>
          </a:ln>
        </p:spPr>
      </p:sp>
      <p:sp>
        <p:nvSpPr>
          <p:cNvPr id="20" name="Text 17"/>
          <p:cNvSpPr txBox="1"/>
          <p:nvPr/>
        </p:nvSpPr>
        <p:spPr>
          <a:xfrm>
            <a:off x="6172200" y="1170432"/>
            <a:ext cx="237744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POSSESSIVE</a:t>
            </a:r>
            <a:endParaRPr lang="en-US" sz="1600" dirty="0"/>
          </a:p>
        </p:txBody>
      </p:sp>
      <p:sp>
        <p:nvSpPr>
          <p:cNvPr id="21" name="Text 18"/>
          <p:cNvSpPr txBox="1"/>
          <p:nvPr/>
        </p:nvSpPr>
        <p:spPr>
          <a:xfrm>
            <a:off x="6172200" y="1691640"/>
            <a:ext cx="2377440" cy="274320"/>
          </a:xfrm>
          <a:prstGeom prst="rect">
            <a:avLst/>
          </a:prstGeom>
          <a:noFill/>
          <a:ln/>
        </p:spPr>
        <p:txBody>
          <a:bodyPr wrap="square" lIns="0" tIns="0" rIns="0" bIns="0" rtlCol="0" anchor="ctr"/>
          <a:lstStyle/>
          <a:p>
            <a:pPr marL="0" indent="0" algn="ctr">
              <a:buNone/>
            </a:pPr>
            <a:r>
              <a:rPr lang="en-US" sz="1200" i="1" dirty="0">
                <a:solidFill>
                  <a:schemeClr val="tx2"/>
                </a:solidFill>
              </a:rPr>
              <a:t>shows who owns it</a:t>
            </a:r>
            <a:endParaRPr lang="en-US" sz="1200" dirty="0"/>
          </a:p>
        </p:txBody>
      </p:sp>
      <p:sp>
        <p:nvSpPr>
          <p:cNvPr id="22" name="Text 19"/>
          <p:cNvSpPr txBox="1"/>
          <p:nvPr/>
        </p:nvSpPr>
        <p:spPr>
          <a:xfrm>
            <a:off x="6172200" y="2057400"/>
            <a:ext cx="2377440" cy="640080"/>
          </a:xfrm>
          <a:prstGeom prst="rect">
            <a:avLst/>
          </a:prstGeom>
          <a:noFill/>
          <a:ln/>
        </p:spPr>
        <p:txBody>
          <a:bodyPr wrap="square" lIns="0" tIns="0" rIns="0" bIns="0" rtlCol="0" anchor="ctr"/>
          <a:lstStyle/>
          <a:p>
            <a:pPr marL="0" indent="0" algn="ctr">
              <a:buNone/>
            </a:pPr>
            <a:r>
              <a:rPr lang="en-US" sz="1500" b="1" dirty="0">
                <a:solidFill>
                  <a:schemeClr val="accent4"/>
                </a:solidFill>
                <a:latin typeface="+mj-lt" pitchFamily="34" charset="0"/>
                <a:ea typeface="+mj-lt" pitchFamily="34" charset="-122"/>
                <a:cs typeface="+mj-lt" pitchFamily="34" charset="-120"/>
              </a:rPr>
              <a:t>his  ·  hers  ·  theirs</a:t>
            </a:r>
            <a:endParaRPr lang="en-US" sz="1500" dirty="0"/>
          </a:p>
        </p:txBody>
      </p:sp>
      <p:sp>
        <p:nvSpPr>
          <p:cNvPr id="23" name="Example"/>
          <p:cNvSpPr/>
          <p:nvPr/>
        </p:nvSpPr>
        <p:spPr>
          <a:xfrm>
            <a:off x="6172200" y="2880360"/>
            <a:ext cx="2377440" cy="1097280"/>
          </a:xfrm>
          <a:prstGeom prst="roundRect">
            <a:avLst>
              <a:gd name="adj" fmla="val 10000"/>
            </a:avLst>
          </a:prstGeom>
          <a:solidFill>
            <a:schemeClr val="accent5"/>
          </a:solidFill>
          <a:ln w="9525">
            <a:solidFill>
              <a:schemeClr val="accent5"/>
            </a:solidFill>
            <a:prstDash val="solid"/>
          </a:ln>
        </p:spPr>
      </p:sp>
      <p:sp>
        <p:nvSpPr>
          <p:cNvPr id="24" name="Text 21"/>
          <p:cNvSpPr txBox="1"/>
          <p:nvPr/>
        </p:nvSpPr>
        <p:spPr>
          <a:xfrm>
            <a:off x="6263640" y="2880360"/>
            <a:ext cx="2194560" cy="1097280"/>
          </a:xfrm>
          <a:prstGeom prst="rect">
            <a:avLst/>
          </a:prstGeom>
          <a:noFill/>
          <a:ln/>
        </p:spPr>
        <p:txBody>
          <a:bodyPr wrap="square" lIns="0" tIns="0" rIns="0" bIns="0" rtlCol="0" anchor="ctr"/>
          <a:lstStyle/>
          <a:p>
            <a:pPr marL="0" indent="0" algn="ctr">
              <a:buNone/>
            </a:pPr>
            <a:r>
              <a:rPr lang="en-US" sz="1400" dirty="0">
                <a:solidFill>
                  <a:schemeClr val="tx1"/>
                </a:solidFill>
              </a:rPr>
              <a:t>Those results are </a:t>
            </a:r>
            <a:r>
              <a:rPr lang="en-US" sz="1400" b="1" dirty="0">
                <a:solidFill>
                  <a:schemeClr val="tx1"/>
                </a:solidFill>
                <a:highlight>
                  <a:srgbClr val="FFD166"/>
                </a:highlight>
              </a:rPr>
              <a:t>hers</a:t>
            </a:r>
            <a:r>
              <a:rPr lang="en-US" sz="1400" dirty="0">
                <a:solidFill>
                  <a:schemeClr val="tx1"/>
                </a:solidFill>
              </a:rPr>
              <a:t>.</a:t>
            </a:r>
            <a:endParaRPr lang="en-US" sz="1400" dirty="0"/>
          </a:p>
        </p:txBody>
      </p:sp>
      <p:sp>
        <p:nvSpPr>
          <p:cNvPr id="25" name="Callout"/>
          <p:cNvSpPr/>
          <p:nvPr/>
        </p:nvSpPr>
        <p:spPr>
          <a:xfrm>
            <a:off x="457200" y="4297680"/>
            <a:ext cx="8229600" cy="365760"/>
          </a:xfrm>
          <a:prstGeom prst="roundRect">
            <a:avLst>
              <a:gd name="adj" fmla="val 30000"/>
            </a:avLst>
          </a:prstGeom>
          <a:solidFill>
            <a:schemeClr val="accent5"/>
          </a:solidFill>
          <a:ln w="9525">
            <a:solidFill>
              <a:schemeClr val="accent5"/>
            </a:solidFill>
            <a:prstDash val="solid"/>
          </a:ln>
        </p:spPr>
      </p:sp>
      <p:sp>
        <p:nvSpPr>
          <p:cNvPr id="26" name="Text 23"/>
          <p:cNvSpPr txBox="1"/>
          <p:nvPr/>
        </p:nvSpPr>
        <p:spPr>
          <a:xfrm>
            <a:off x="640080" y="4297680"/>
            <a:ext cx="7863840" cy="365760"/>
          </a:xfrm>
          <a:prstGeom prst="rect">
            <a:avLst/>
          </a:prstGeom>
          <a:noFill/>
          <a:ln/>
        </p:spPr>
        <p:txBody>
          <a:bodyPr wrap="square" lIns="0" tIns="0" rIns="0" bIns="0" rtlCol="0" anchor="ctr"/>
          <a:lstStyle/>
          <a:p>
            <a:pPr marL="0" indent="0" algn="ctr">
              <a:buNone/>
            </a:pPr>
            <a:r>
              <a:rPr lang="en-US" sz="1600" b="1" dirty="0">
                <a:solidFill>
                  <a:schemeClr val="tx1"/>
                </a:solidFill>
              </a:rPr>
              <a:t>Third person = he · she · it · they  (and him, her, them, his, hers, theirs)</a:t>
            </a:r>
            <a:endParaRPr lang="en-US" sz="16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First-person pronouns in action</a:t>
            </a:r>
            <a:endParaRPr lang="en-US" sz="3000" dirty="0"/>
          </a:p>
        </p:txBody>
      </p:sp>
      <p:sp>
        <p:nvSpPr>
          <p:cNvPr id="4" name="SUBJECT card"/>
          <p:cNvSpPr/>
          <p:nvPr/>
        </p:nvSpPr>
        <p:spPr>
          <a:xfrm>
            <a:off x="457200" y="1051560"/>
            <a:ext cx="2651760" cy="3108960"/>
          </a:xfrm>
          <a:prstGeom prst="roundRect">
            <a:avLst>
              <a:gd name="adj" fmla="val 413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Header"/>
          <p:cNvSpPr/>
          <p:nvPr/>
        </p:nvSpPr>
        <p:spPr>
          <a:xfrm>
            <a:off x="594360" y="1170432"/>
            <a:ext cx="2377440" cy="457200"/>
          </a:xfrm>
          <a:prstGeom prst="roundRect">
            <a:avLst>
              <a:gd name="adj" fmla="val 20000"/>
            </a:avLst>
          </a:prstGeom>
          <a:solidFill>
            <a:schemeClr val="accent2"/>
          </a:solidFill>
          <a:ln w="6350">
            <a:solidFill>
              <a:schemeClr val="accent2"/>
            </a:solidFill>
            <a:prstDash val="solid"/>
          </a:ln>
        </p:spPr>
      </p:sp>
      <p:sp>
        <p:nvSpPr>
          <p:cNvPr id="6" name="Text 3"/>
          <p:cNvSpPr txBox="1"/>
          <p:nvPr/>
        </p:nvSpPr>
        <p:spPr>
          <a:xfrm>
            <a:off x="594360" y="1170432"/>
            <a:ext cx="237744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SUBJECT</a:t>
            </a:r>
            <a:endParaRPr lang="en-US" sz="1600" dirty="0"/>
          </a:p>
        </p:txBody>
      </p:sp>
      <p:sp>
        <p:nvSpPr>
          <p:cNvPr id="7" name="Text 4"/>
          <p:cNvSpPr txBox="1"/>
          <p:nvPr/>
        </p:nvSpPr>
        <p:spPr>
          <a:xfrm>
            <a:off x="594360" y="1691640"/>
            <a:ext cx="2377440" cy="274320"/>
          </a:xfrm>
          <a:prstGeom prst="rect">
            <a:avLst/>
          </a:prstGeom>
          <a:noFill/>
          <a:ln/>
        </p:spPr>
        <p:txBody>
          <a:bodyPr wrap="square" lIns="0" tIns="0" rIns="0" bIns="0" rtlCol="0" anchor="ctr"/>
          <a:lstStyle/>
          <a:p>
            <a:pPr marL="0" indent="0" algn="ctr">
              <a:buNone/>
            </a:pPr>
            <a:r>
              <a:rPr lang="en-US" sz="1200" i="1" dirty="0">
                <a:solidFill>
                  <a:schemeClr val="tx2"/>
                </a:solidFill>
              </a:rPr>
              <a:t>does the action</a:t>
            </a:r>
            <a:endParaRPr lang="en-US" sz="1200" dirty="0"/>
          </a:p>
        </p:txBody>
      </p:sp>
      <p:sp>
        <p:nvSpPr>
          <p:cNvPr id="8" name="Text 5"/>
          <p:cNvSpPr txBox="1"/>
          <p:nvPr/>
        </p:nvSpPr>
        <p:spPr>
          <a:xfrm>
            <a:off x="594360" y="2057400"/>
            <a:ext cx="2377440" cy="640080"/>
          </a:xfrm>
          <a:prstGeom prst="rect">
            <a:avLst/>
          </a:prstGeom>
          <a:noFill/>
          <a:ln/>
        </p:spPr>
        <p:txBody>
          <a:bodyPr wrap="square" lIns="0" tIns="0" rIns="0" bIns="0" rtlCol="0" anchor="ctr"/>
          <a:lstStyle/>
          <a:p>
            <a:pPr marL="0" indent="0" algn="ctr">
              <a:buNone/>
            </a:pPr>
            <a:r>
              <a:rPr lang="en-US" sz="2200" b="1" dirty="0">
                <a:solidFill>
                  <a:schemeClr val="accent4"/>
                </a:solidFill>
                <a:latin typeface="+mj-lt" pitchFamily="34" charset="0"/>
                <a:ea typeface="+mj-lt" pitchFamily="34" charset="-122"/>
                <a:cs typeface="+mj-lt" pitchFamily="34" charset="-120"/>
              </a:rPr>
              <a:t>I   ·   we</a:t>
            </a:r>
            <a:endParaRPr lang="en-US" sz="2200" dirty="0"/>
          </a:p>
        </p:txBody>
      </p:sp>
      <p:sp>
        <p:nvSpPr>
          <p:cNvPr id="9" name="Example"/>
          <p:cNvSpPr/>
          <p:nvPr/>
        </p:nvSpPr>
        <p:spPr>
          <a:xfrm>
            <a:off x="594360" y="2880360"/>
            <a:ext cx="2377440" cy="1097280"/>
          </a:xfrm>
          <a:prstGeom prst="roundRect">
            <a:avLst>
              <a:gd name="adj" fmla="val 10000"/>
            </a:avLst>
          </a:prstGeom>
          <a:solidFill>
            <a:schemeClr val="accent5"/>
          </a:solidFill>
          <a:ln w="9525">
            <a:solidFill>
              <a:schemeClr val="accent5"/>
            </a:solidFill>
            <a:prstDash val="solid"/>
          </a:ln>
        </p:spPr>
      </p:sp>
      <p:sp>
        <p:nvSpPr>
          <p:cNvPr id="10" name="Text 7"/>
          <p:cNvSpPr txBox="1"/>
          <p:nvPr/>
        </p:nvSpPr>
        <p:spPr>
          <a:xfrm>
            <a:off x="685800" y="2880360"/>
            <a:ext cx="2194560" cy="1097280"/>
          </a:xfrm>
          <a:prstGeom prst="rect">
            <a:avLst/>
          </a:prstGeom>
          <a:noFill/>
          <a:ln/>
        </p:spPr>
        <p:txBody>
          <a:bodyPr wrap="square" lIns="0" tIns="0" rIns="0" bIns="0" rtlCol="0" anchor="ctr"/>
          <a:lstStyle/>
          <a:p>
            <a:pPr marL="0" indent="0" algn="ctr">
              <a:buNone/>
            </a:pPr>
            <a:r>
              <a:rPr lang="en-US" sz="1400" b="1" dirty="0">
                <a:solidFill>
                  <a:schemeClr val="tx1"/>
                </a:solidFill>
                <a:highlight>
                  <a:srgbClr val="FFD166"/>
                </a:highlight>
              </a:rPr>
              <a:t>I</a:t>
            </a:r>
            <a:r>
              <a:rPr lang="en-US" sz="1400" dirty="0">
                <a:solidFill>
                  <a:schemeClr val="tx1"/>
                </a:solidFill>
              </a:rPr>
              <a:t> launched into space.</a:t>
            </a:r>
            <a:endParaRPr lang="en-US" sz="1400" dirty="0"/>
          </a:p>
        </p:txBody>
      </p:sp>
      <p:sp>
        <p:nvSpPr>
          <p:cNvPr id="11" name="OBJECT card"/>
          <p:cNvSpPr/>
          <p:nvPr/>
        </p:nvSpPr>
        <p:spPr>
          <a:xfrm>
            <a:off x="3246120" y="1051560"/>
            <a:ext cx="2651760" cy="3108960"/>
          </a:xfrm>
          <a:prstGeom prst="roundRect">
            <a:avLst>
              <a:gd name="adj" fmla="val 413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2" name="Header"/>
          <p:cNvSpPr/>
          <p:nvPr/>
        </p:nvSpPr>
        <p:spPr>
          <a:xfrm>
            <a:off x="3383280" y="1170432"/>
            <a:ext cx="2377440" cy="457200"/>
          </a:xfrm>
          <a:prstGeom prst="roundRect">
            <a:avLst>
              <a:gd name="adj" fmla="val 20000"/>
            </a:avLst>
          </a:prstGeom>
          <a:solidFill>
            <a:schemeClr val="accent3"/>
          </a:solidFill>
          <a:ln w="6350">
            <a:solidFill>
              <a:schemeClr val="accent3"/>
            </a:solidFill>
            <a:prstDash val="solid"/>
          </a:ln>
        </p:spPr>
      </p:sp>
      <p:sp>
        <p:nvSpPr>
          <p:cNvPr id="13" name="Text 10"/>
          <p:cNvSpPr txBox="1"/>
          <p:nvPr/>
        </p:nvSpPr>
        <p:spPr>
          <a:xfrm>
            <a:off x="3383280" y="1170432"/>
            <a:ext cx="237744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OBJECT</a:t>
            </a:r>
            <a:endParaRPr lang="en-US" sz="1600" dirty="0"/>
          </a:p>
        </p:txBody>
      </p:sp>
      <p:sp>
        <p:nvSpPr>
          <p:cNvPr id="14" name="Text 11"/>
          <p:cNvSpPr txBox="1"/>
          <p:nvPr/>
        </p:nvSpPr>
        <p:spPr>
          <a:xfrm>
            <a:off x="3383280" y="1691640"/>
            <a:ext cx="2377440" cy="274320"/>
          </a:xfrm>
          <a:prstGeom prst="rect">
            <a:avLst/>
          </a:prstGeom>
          <a:noFill/>
          <a:ln/>
        </p:spPr>
        <p:txBody>
          <a:bodyPr wrap="square" lIns="0" tIns="0" rIns="0" bIns="0" rtlCol="0" anchor="ctr"/>
          <a:lstStyle/>
          <a:p>
            <a:pPr marL="0" indent="0" algn="ctr">
              <a:buNone/>
            </a:pPr>
            <a:r>
              <a:rPr lang="en-US" sz="1200" i="1" dirty="0">
                <a:solidFill>
                  <a:schemeClr val="tx2"/>
                </a:solidFill>
              </a:rPr>
              <a:t>receives the action</a:t>
            </a:r>
            <a:endParaRPr lang="en-US" sz="1200" dirty="0"/>
          </a:p>
        </p:txBody>
      </p:sp>
      <p:sp>
        <p:nvSpPr>
          <p:cNvPr id="15" name="Text 12"/>
          <p:cNvSpPr txBox="1"/>
          <p:nvPr/>
        </p:nvSpPr>
        <p:spPr>
          <a:xfrm>
            <a:off x="3383280" y="2057400"/>
            <a:ext cx="2377440" cy="640080"/>
          </a:xfrm>
          <a:prstGeom prst="rect">
            <a:avLst/>
          </a:prstGeom>
          <a:noFill/>
          <a:ln/>
        </p:spPr>
        <p:txBody>
          <a:bodyPr wrap="square" lIns="0" tIns="0" rIns="0" bIns="0" rtlCol="0" anchor="ctr"/>
          <a:lstStyle/>
          <a:p>
            <a:pPr marL="0" indent="0" algn="ctr">
              <a:buNone/>
            </a:pPr>
            <a:r>
              <a:rPr lang="en-US" sz="2200" b="1" dirty="0">
                <a:solidFill>
                  <a:schemeClr val="accent4"/>
                </a:solidFill>
                <a:latin typeface="+mj-lt" pitchFamily="34" charset="0"/>
                <a:ea typeface="+mj-lt" pitchFamily="34" charset="-122"/>
                <a:cs typeface="+mj-lt" pitchFamily="34" charset="-120"/>
              </a:rPr>
              <a:t>me   ·   us</a:t>
            </a:r>
            <a:endParaRPr lang="en-US" sz="2200" dirty="0"/>
          </a:p>
        </p:txBody>
      </p:sp>
      <p:sp>
        <p:nvSpPr>
          <p:cNvPr id="16" name="Example"/>
          <p:cNvSpPr/>
          <p:nvPr/>
        </p:nvSpPr>
        <p:spPr>
          <a:xfrm>
            <a:off x="3383280" y="2880360"/>
            <a:ext cx="2377440" cy="1097280"/>
          </a:xfrm>
          <a:prstGeom prst="roundRect">
            <a:avLst>
              <a:gd name="adj" fmla="val 10000"/>
            </a:avLst>
          </a:prstGeom>
          <a:solidFill>
            <a:schemeClr val="accent5"/>
          </a:solidFill>
          <a:ln w="9525">
            <a:solidFill>
              <a:schemeClr val="accent5"/>
            </a:solidFill>
            <a:prstDash val="solid"/>
          </a:ln>
        </p:spPr>
      </p:sp>
      <p:sp>
        <p:nvSpPr>
          <p:cNvPr id="17" name="Text 14"/>
          <p:cNvSpPr txBox="1"/>
          <p:nvPr/>
        </p:nvSpPr>
        <p:spPr>
          <a:xfrm>
            <a:off x="3474720" y="2880360"/>
            <a:ext cx="2194560" cy="1097280"/>
          </a:xfrm>
          <a:prstGeom prst="rect">
            <a:avLst/>
          </a:prstGeom>
          <a:noFill/>
          <a:ln/>
        </p:spPr>
        <p:txBody>
          <a:bodyPr wrap="square" lIns="0" tIns="0" rIns="0" bIns="0" rtlCol="0" anchor="ctr"/>
          <a:lstStyle/>
          <a:p>
            <a:pPr marL="0" indent="0" algn="ctr">
              <a:buNone/>
            </a:pPr>
            <a:r>
              <a:rPr lang="en-US" sz="1400" dirty="0">
                <a:solidFill>
                  <a:schemeClr val="tx1"/>
                </a:solidFill>
              </a:rPr>
              <a:t>ESA selected </a:t>
            </a:r>
            <a:r>
              <a:rPr lang="en-US" sz="1400" b="1" dirty="0">
                <a:solidFill>
                  <a:schemeClr val="tx1"/>
                </a:solidFill>
                <a:highlight>
                  <a:srgbClr val="FFD166"/>
                </a:highlight>
              </a:rPr>
              <a:t>me</a:t>
            </a:r>
            <a:r>
              <a:rPr lang="en-US" sz="1400" dirty="0">
                <a:solidFill>
                  <a:schemeClr val="tx1"/>
                </a:solidFill>
              </a:rPr>
              <a:t>.</a:t>
            </a:r>
            <a:endParaRPr lang="en-US" sz="1400" dirty="0"/>
          </a:p>
        </p:txBody>
      </p:sp>
      <p:sp>
        <p:nvSpPr>
          <p:cNvPr id="18" name="POSSESSIVE card"/>
          <p:cNvSpPr/>
          <p:nvPr/>
        </p:nvSpPr>
        <p:spPr>
          <a:xfrm>
            <a:off x="6035040" y="1051560"/>
            <a:ext cx="2651760" cy="3108960"/>
          </a:xfrm>
          <a:prstGeom prst="roundRect">
            <a:avLst>
              <a:gd name="adj" fmla="val 413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9" name="Header"/>
          <p:cNvSpPr/>
          <p:nvPr/>
        </p:nvSpPr>
        <p:spPr>
          <a:xfrm>
            <a:off x="6172200" y="1170432"/>
            <a:ext cx="2377440" cy="457200"/>
          </a:xfrm>
          <a:prstGeom prst="roundRect">
            <a:avLst>
              <a:gd name="adj" fmla="val 20000"/>
            </a:avLst>
          </a:prstGeom>
          <a:solidFill>
            <a:schemeClr val="accent4"/>
          </a:solidFill>
          <a:ln w="6350">
            <a:solidFill>
              <a:schemeClr val="accent4"/>
            </a:solidFill>
            <a:prstDash val="solid"/>
          </a:ln>
        </p:spPr>
      </p:sp>
      <p:sp>
        <p:nvSpPr>
          <p:cNvPr id="20" name="Text 17"/>
          <p:cNvSpPr txBox="1"/>
          <p:nvPr/>
        </p:nvSpPr>
        <p:spPr>
          <a:xfrm>
            <a:off x="6172200" y="1170432"/>
            <a:ext cx="237744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mj-lt" pitchFamily="34" charset="0"/>
                <a:ea typeface="+mj-lt" pitchFamily="34" charset="-122"/>
                <a:cs typeface="+mj-lt" pitchFamily="34" charset="-120"/>
              </a:rPr>
              <a:t>POSSESSIVE</a:t>
            </a:r>
            <a:endParaRPr lang="en-US" sz="1600" dirty="0"/>
          </a:p>
        </p:txBody>
      </p:sp>
      <p:sp>
        <p:nvSpPr>
          <p:cNvPr id="21" name="Text 18"/>
          <p:cNvSpPr txBox="1"/>
          <p:nvPr/>
        </p:nvSpPr>
        <p:spPr>
          <a:xfrm>
            <a:off x="6172200" y="1691640"/>
            <a:ext cx="2377440" cy="274320"/>
          </a:xfrm>
          <a:prstGeom prst="rect">
            <a:avLst/>
          </a:prstGeom>
          <a:noFill/>
          <a:ln/>
        </p:spPr>
        <p:txBody>
          <a:bodyPr wrap="square" lIns="0" tIns="0" rIns="0" bIns="0" rtlCol="0" anchor="ctr"/>
          <a:lstStyle/>
          <a:p>
            <a:pPr marL="0" indent="0" algn="ctr">
              <a:buNone/>
            </a:pPr>
            <a:r>
              <a:rPr lang="en-US" sz="1200" i="1" dirty="0">
                <a:solidFill>
                  <a:schemeClr val="tx2"/>
                </a:solidFill>
              </a:rPr>
              <a:t>shows who owns it</a:t>
            </a:r>
            <a:endParaRPr lang="en-US" sz="1200" dirty="0"/>
          </a:p>
        </p:txBody>
      </p:sp>
      <p:sp>
        <p:nvSpPr>
          <p:cNvPr id="22" name="Text 19"/>
          <p:cNvSpPr txBox="1"/>
          <p:nvPr/>
        </p:nvSpPr>
        <p:spPr>
          <a:xfrm>
            <a:off x="6172200" y="2057400"/>
            <a:ext cx="2377440" cy="640080"/>
          </a:xfrm>
          <a:prstGeom prst="rect">
            <a:avLst/>
          </a:prstGeom>
          <a:noFill/>
          <a:ln/>
        </p:spPr>
        <p:txBody>
          <a:bodyPr wrap="square" lIns="0" tIns="0" rIns="0" bIns="0" rtlCol="0" anchor="ctr"/>
          <a:lstStyle/>
          <a:p>
            <a:pPr marL="0" indent="0" algn="ctr">
              <a:buNone/>
            </a:pPr>
            <a:r>
              <a:rPr lang="en-US" sz="2200" b="1" dirty="0">
                <a:solidFill>
                  <a:schemeClr val="accent4"/>
                </a:solidFill>
                <a:latin typeface="+mj-lt" pitchFamily="34" charset="0"/>
                <a:ea typeface="+mj-lt" pitchFamily="34" charset="-122"/>
                <a:cs typeface="+mj-lt" pitchFamily="34" charset="-120"/>
              </a:rPr>
              <a:t>mine   ·   ours</a:t>
            </a:r>
            <a:endParaRPr lang="en-US" sz="2200" dirty="0"/>
          </a:p>
        </p:txBody>
      </p:sp>
      <p:sp>
        <p:nvSpPr>
          <p:cNvPr id="23" name="Example"/>
          <p:cNvSpPr/>
          <p:nvPr/>
        </p:nvSpPr>
        <p:spPr>
          <a:xfrm>
            <a:off x="6172200" y="2880360"/>
            <a:ext cx="2377440" cy="1097280"/>
          </a:xfrm>
          <a:prstGeom prst="roundRect">
            <a:avLst>
              <a:gd name="adj" fmla="val 10000"/>
            </a:avLst>
          </a:prstGeom>
          <a:solidFill>
            <a:schemeClr val="accent5"/>
          </a:solidFill>
          <a:ln w="9525">
            <a:solidFill>
              <a:schemeClr val="accent5"/>
            </a:solidFill>
            <a:prstDash val="solid"/>
          </a:ln>
        </p:spPr>
      </p:sp>
      <p:sp>
        <p:nvSpPr>
          <p:cNvPr id="24" name="Text 21"/>
          <p:cNvSpPr txBox="1"/>
          <p:nvPr/>
        </p:nvSpPr>
        <p:spPr>
          <a:xfrm>
            <a:off x="6263640" y="2880360"/>
            <a:ext cx="2194560" cy="1097280"/>
          </a:xfrm>
          <a:prstGeom prst="rect">
            <a:avLst/>
          </a:prstGeom>
          <a:noFill/>
          <a:ln/>
        </p:spPr>
        <p:txBody>
          <a:bodyPr wrap="square" lIns="0" tIns="0" rIns="0" bIns="0" rtlCol="0" anchor="ctr"/>
          <a:lstStyle/>
          <a:p>
            <a:pPr marL="0" indent="0" algn="ctr">
              <a:buNone/>
            </a:pPr>
            <a:r>
              <a:rPr lang="en-US" sz="1400" dirty="0">
                <a:solidFill>
                  <a:schemeClr val="tx1"/>
                </a:solidFill>
              </a:rPr>
              <a:t>The dream was </a:t>
            </a:r>
            <a:r>
              <a:rPr lang="en-US" sz="1400" b="1" dirty="0">
                <a:solidFill>
                  <a:schemeClr val="tx1"/>
                </a:solidFill>
                <a:highlight>
                  <a:srgbClr val="FFD166"/>
                </a:highlight>
              </a:rPr>
              <a:t>mine</a:t>
            </a:r>
            <a:r>
              <a:rPr lang="en-US" sz="1400" dirty="0">
                <a:solidFill>
                  <a:schemeClr val="tx1"/>
                </a:solidFill>
              </a:rPr>
              <a:t>.</a:t>
            </a:r>
            <a:endParaRPr lang="en-US" sz="1400" dirty="0"/>
          </a:p>
        </p:txBody>
      </p:sp>
      <p:sp>
        <p:nvSpPr>
          <p:cNvPr id="25" name="Callout"/>
          <p:cNvSpPr/>
          <p:nvPr/>
        </p:nvSpPr>
        <p:spPr>
          <a:xfrm>
            <a:off x="457200" y="4297680"/>
            <a:ext cx="8229600" cy="365760"/>
          </a:xfrm>
          <a:prstGeom prst="roundRect">
            <a:avLst>
              <a:gd name="adj" fmla="val 30000"/>
            </a:avLst>
          </a:prstGeom>
          <a:solidFill>
            <a:schemeClr val="accent5"/>
          </a:solidFill>
          <a:ln w="9525">
            <a:solidFill>
              <a:schemeClr val="accent5"/>
            </a:solidFill>
            <a:prstDash val="solid"/>
          </a:ln>
        </p:spPr>
      </p:sp>
      <p:sp>
        <p:nvSpPr>
          <p:cNvPr id="26" name="Text 23"/>
          <p:cNvSpPr txBox="1"/>
          <p:nvPr/>
        </p:nvSpPr>
        <p:spPr>
          <a:xfrm>
            <a:off x="640080" y="4297680"/>
            <a:ext cx="7863840" cy="365760"/>
          </a:xfrm>
          <a:prstGeom prst="rect">
            <a:avLst/>
          </a:prstGeom>
          <a:noFill/>
          <a:ln/>
        </p:spPr>
        <p:txBody>
          <a:bodyPr wrap="square" lIns="0" tIns="0" rIns="0" bIns="0" rtlCol="0" anchor="ctr"/>
          <a:lstStyle/>
          <a:p>
            <a:pPr marL="0" indent="0" algn="ctr">
              <a:buNone/>
            </a:pPr>
            <a:r>
              <a:rPr lang="en-US" sz="1600" b="1" dirty="0">
                <a:solidFill>
                  <a:schemeClr val="tx1"/>
                </a:solidFill>
              </a:rPr>
              <a:t>Samantha’s own post: ‘…but I will miss Aquarius.’ (first person)</a:t>
            </a:r>
            <a:endParaRPr lang="en-US" sz="16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Social media posts about Samantha</a:t>
            </a:r>
            <a:endParaRPr lang="en-US" sz="3000" dirty="0"/>
          </a:p>
        </p:txBody>
      </p:sp>
      <p:sp>
        <p:nvSpPr>
          <p:cNvPr id="4" name="Post 1"/>
          <p:cNvSpPr/>
          <p:nvPr/>
        </p:nvSpPr>
        <p:spPr>
          <a:xfrm>
            <a:off x="457200" y="1051560"/>
            <a:ext cx="4023360" cy="1371600"/>
          </a:xfrm>
          <a:prstGeom prst="roundRect">
            <a:avLst>
              <a:gd name="adj" fmla="val 8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Text 2"/>
          <p:cNvSpPr txBox="1"/>
          <p:nvPr/>
        </p:nvSpPr>
        <p:spPr>
          <a:xfrm>
            <a:off x="640080" y="1124712"/>
            <a:ext cx="3657600" cy="274320"/>
          </a:xfrm>
          <a:prstGeom prst="rect">
            <a:avLst/>
          </a:prstGeom>
          <a:noFill/>
          <a:ln/>
        </p:spPr>
        <p:txBody>
          <a:bodyPr wrap="square" lIns="0" tIns="0" rIns="0" bIns="0" rtlCol="0" anchor="ctr"/>
          <a:lstStyle/>
          <a:p>
            <a:pPr marL="0" indent="0">
              <a:buNone/>
            </a:pPr>
            <a:r>
              <a:rPr lang="en-US" sz="1200" b="1" dirty="0">
                <a:solidFill>
                  <a:schemeClr val="accent4"/>
                </a:solidFill>
              </a:rPr>
              <a:t>ESA · 11 Jun</a:t>
            </a:r>
            <a:endParaRPr lang="en-US" sz="1200" dirty="0"/>
          </a:p>
        </p:txBody>
      </p:sp>
      <p:sp>
        <p:nvSpPr>
          <p:cNvPr id="6" name="Text 3"/>
          <p:cNvSpPr txBox="1"/>
          <p:nvPr/>
        </p:nvSpPr>
        <p:spPr>
          <a:xfrm>
            <a:off x="640080" y="1435608"/>
            <a:ext cx="3657600" cy="914400"/>
          </a:xfrm>
          <a:prstGeom prst="rect">
            <a:avLst/>
          </a:prstGeom>
          <a:noFill/>
          <a:ln/>
        </p:spPr>
        <p:txBody>
          <a:bodyPr wrap="square" lIns="0" tIns="0" rIns="0" bIns="0" rtlCol="0" anchor="t"/>
          <a:lstStyle/>
          <a:p>
            <a:pPr marL="0" indent="0">
              <a:buNone/>
            </a:pPr>
            <a:r>
              <a:rPr lang="en-US" sz="1200" i="1" dirty="0">
                <a:solidFill>
                  <a:schemeClr val="tx1"/>
                </a:solidFill>
              </a:rPr>
              <a:t>“…will swap her spacesuit for dive gear this month as commander of a 10-day … mission to the Atlantic Ocean floor.”</a:t>
            </a:r>
            <a:endParaRPr lang="en-US" sz="1200" dirty="0"/>
          </a:p>
        </p:txBody>
      </p:sp>
      <p:sp>
        <p:nvSpPr>
          <p:cNvPr id="7" name="Post 2"/>
          <p:cNvSpPr/>
          <p:nvPr/>
        </p:nvSpPr>
        <p:spPr>
          <a:xfrm>
            <a:off x="4663440" y="1051560"/>
            <a:ext cx="4023360" cy="1371600"/>
          </a:xfrm>
          <a:prstGeom prst="roundRect">
            <a:avLst>
              <a:gd name="adj" fmla="val 8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8" name="Text 5"/>
          <p:cNvSpPr txBox="1"/>
          <p:nvPr/>
        </p:nvSpPr>
        <p:spPr>
          <a:xfrm>
            <a:off x="4846320" y="1124712"/>
            <a:ext cx="3657600" cy="274320"/>
          </a:xfrm>
          <a:prstGeom prst="rect">
            <a:avLst/>
          </a:prstGeom>
          <a:noFill/>
          <a:ln/>
        </p:spPr>
        <p:txBody>
          <a:bodyPr wrap="square" lIns="0" tIns="0" rIns="0" bIns="0" rtlCol="0" anchor="ctr"/>
          <a:lstStyle/>
          <a:p>
            <a:pPr marL="0" indent="0">
              <a:buNone/>
            </a:pPr>
            <a:r>
              <a:rPr lang="en-US" sz="1200" b="1" dirty="0">
                <a:solidFill>
                  <a:schemeClr val="accent4"/>
                </a:solidFill>
              </a:rPr>
              <a:t>Samantha Cristoforetti · 21 Jun</a:t>
            </a:r>
            <a:endParaRPr lang="en-US" sz="1200" dirty="0"/>
          </a:p>
        </p:txBody>
      </p:sp>
      <p:sp>
        <p:nvSpPr>
          <p:cNvPr id="9" name="Text 6"/>
          <p:cNvSpPr txBox="1"/>
          <p:nvPr/>
        </p:nvSpPr>
        <p:spPr>
          <a:xfrm>
            <a:off x="4846320" y="1435608"/>
            <a:ext cx="3657600" cy="914400"/>
          </a:xfrm>
          <a:prstGeom prst="rect">
            <a:avLst/>
          </a:prstGeom>
          <a:noFill/>
          <a:ln/>
        </p:spPr>
        <p:txBody>
          <a:bodyPr wrap="square" lIns="0" tIns="0" rIns="0" bIns="0" rtlCol="0" anchor="t"/>
          <a:lstStyle/>
          <a:p>
            <a:pPr marL="0" indent="0">
              <a:buNone/>
            </a:pPr>
            <a:r>
              <a:rPr lang="en-US" sz="1200" i="1" dirty="0">
                <a:solidFill>
                  <a:schemeClr val="tx1"/>
                </a:solidFill>
              </a:rPr>
              <a:t>“Less than an hour to splash-up … Looking forward to seeing the sunlight … but I will miss Aquarius.”</a:t>
            </a:r>
            <a:endParaRPr lang="en-US" sz="1200" dirty="0"/>
          </a:p>
        </p:txBody>
      </p:sp>
      <p:sp>
        <p:nvSpPr>
          <p:cNvPr id="10" name="Post 3"/>
          <p:cNvSpPr/>
          <p:nvPr/>
        </p:nvSpPr>
        <p:spPr>
          <a:xfrm>
            <a:off x="457200" y="2560320"/>
            <a:ext cx="4023360" cy="1371600"/>
          </a:xfrm>
          <a:prstGeom prst="roundRect">
            <a:avLst>
              <a:gd name="adj" fmla="val 8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1" name="Text 8"/>
          <p:cNvSpPr txBox="1"/>
          <p:nvPr/>
        </p:nvSpPr>
        <p:spPr>
          <a:xfrm>
            <a:off x="640080" y="2633472"/>
            <a:ext cx="3657600" cy="274320"/>
          </a:xfrm>
          <a:prstGeom prst="rect">
            <a:avLst/>
          </a:prstGeom>
          <a:noFill/>
          <a:ln/>
        </p:spPr>
        <p:txBody>
          <a:bodyPr wrap="square" lIns="0" tIns="0" rIns="0" bIns="0" rtlCol="0" anchor="ctr"/>
          <a:lstStyle/>
          <a:p>
            <a:pPr marL="0" indent="0">
              <a:buNone/>
            </a:pPr>
            <a:r>
              <a:rPr lang="en-US" sz="1200" b="1" dirty="0">
                <a:solidFill>
                  <a:schemeClr val="accent4"/>
                </a:solidFill>
              </a:rPr>
              <a:t>NASA_NEEMO · 21 Jun</a:t>
            </a:r>
            <a:endParaRPr lang="en-US" sz="1200" dirty="0"/>
          </a:p>
        </p:txBody>
      </p:sp>
      <p:sp>
        <p:nvSpPr>
          <p:cNvPr id="12" name="Text 9"/>
          <p:cNvSpPr txBox="1"/>
          <p:nvPr/>
        </p:nvSpPr>
        <p:spPr>
          <a:xfrm>
            <a:off x="640080" y="2944368"/>
            <a:ext cx="3657600" cy="914400"/>
          </a:xfrm>
          <a:prstGeom prst="rect">
            <a:avLst/>
          </a:prstGeom>
          <a:noFill/>
          <a:ln/>
        </p:spPr>
        <p:txBody>
          <a:bodyPr wrap="square" lIns="0" tIns="0" rIns="0" bIns="0" rtlCol="0" anchor="t"/>
          <a:lstStyle/>
          <a:p>
            <a:pPr marL="0" indent="0">
              <a:buNone/>
            </a:pPr>
            <a:r>
              <a:rPr lang="en-US" sz="1200" i="1" dirty="0">
                <a:solidFill>
                  <a:schemeClr val="tx1"/>
                </a:solidFill>
              </a:rPr>
              <a:t>“Our aquanauts have called it home for a little over a week, living and working underwater…”</a:t>
            </a:r>
            <a:endParaRPr lang="en-US" sz="1200" dirty="0"/>
          </a:p>
        </p:txBody>
      </p:sp>
      <p:sp>
        <p:nvSpPr>
          <p:cNvPr id="13" name="Post 4"/>
          <p:cNvSpPr/>
          <p:nvPr/>
        </p:nvSpPr>
        <p:spPr>
          <a:xfrm>
            <a:off x="4663440" y="2560320"/>
            <a:ext cx="4023360" cy="1371600"/>
          </a:xfrm>
          <a:prstGeom prst="roundRect">
            <a:avLst>
              <a:gd name="adj" fmla="val 8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Text 11"/>
          <p:cNvSpPr txBox="1"/>
          <p:nvPr/>
        </p:nvSpPr>
        <p:spPr>
          <a:xfrm>
            <a:off x="4846320" y="2633472"/>
            <a:ext cx="3657600" cy="274320"/>
          </a:xfrm>
          <a:prstGeom prst="rect">
            <a:avLst/>
          </a:prstGeom>
          <a:noFill/>
          <a:ln/>
        </p:spPr>
        <p:txBody>
          <a:bodyPr wrap="square" lIns="0" tIns="0" rIns="0" bIns="0" rtlCol="0" anchor="ctr"/>
          <a:lstStyle/>
          <a:p>
            <a:pPr marL="0" indent="0">
              <a:buNone/>
            </a:pPr>
            <a:r>
              <a:rPr lang="en-US" sz="1200" b="1" dirty="0">
                <a:solidFill>
                  <a:schemeClr val="accent4"/>
                </a:solidFill>
              </a:rPr>
              <a:t>ESA space history · 26 Apr</a:t>
            </a:r>
            <a:endParaRPr lang="en-US" sz="1200" dirty="0"/>
          </a:p>
        </p:txBody>
      </p:sp>
      <p:sp>
        <p:nvSpPr>
          <p:cNvPr id="15" name="Text 12"/>
          <p:cNvSpPr txBox="1"/>
          <p:nvPr/>
        </p:nvSpPr>
        <p:spPr>
          <a:xfrm>
            <a:off x="4846320" y="2944368"/>
            <a:ext cx="3657600" cy="914400"/>
          </a:xfrm>
          <a:prstGeom prst="rect">
            <a:avLst/>
          </a:prstGeom>
          <a:noFill/>
          <a:ln/>
        </p:spPr>
        <p:txBody>
          <a:bodyPr wrap="square" lIns="0" tIns="0" rIns="0" bIns="0" rtlCol="0" anchor="t"/>
          <a:lstStyle/>
          <a:p>
            <a:pPr marL="0" indent="0">
              <a:buNone/>
            </a:pPr>
            <a:r>
              <a:rPr lang="en-US" sz="1200" i="1" dirty="0">
                <a:solidFill>
                  <a:schemeClr val="tx1"/>
                </a:solidFill>
              </a:rPr>
              <a:t>“Samantha spent almost 200 days on @Space_Station … She holds the record for the longest uninterrupted spaceflight of a European astronaut.”</a:t>
            </a:r>
            <a:endParaRPr lang="en-US" sz="1200" dirty="0"/>
          </a:p>
        </p:txBody>
      </p:sp>
      <p:sp>
        <p:nvSpPr>
          <p:cNvPr id="16" name="Callout"/>
          <p:cNvSpPr/>
          <p:nvPr/>
        </p:nvSpPr>
        <p:spPr>
          <a:xfrm>
            <a:off x="457200" y="4114800"/>
            <a:ext cx="8229600" cy="457200"/>
          </a:xfrm>
          <a:prstGeom prst="roundRect">
            <a:avLst>
              <a:gd name="adj" fmla="val 24000"/>
            </a:avLst>
          </a:prstGeom>
          <a:solidFill>
            <a:schemeClr val="accent5"/>
          </a:solidFill>
          <a:ln w="9525">
            <a:solidFill>
              <a:schemeClr val="accent5"/>
            </a:solidFill>
            <a:prstDash val="solid"/>
          </a:ln>
        </p:spPr>
      </p:sp>
      <p:sp>
        <p:nvSpPr>
          <p:cNvPr id="17" name="Text 14"/>
          <p:cNvSpPr txBox="1"/>
          <p:nvPr/>
        </p:nvSpPr>
        <p:spPr>
          <a:xfrm>
            <a:off x="640080" y="4114800"/>
            <a:ext cx="7863840" cy="457200"/>
          </a:xfrm>
          <a:prstGeom prst="rect">
            <a:avLst/>
          </a:prstGeom>
          <a:noFill/>
          <a:ln/>
        </p:spPr>
        <p:txBody>
          <a:bodyPr wrap="square" lIns="0" tIns="0" rIns="0" bIns="0" rtlCol="0" anchor="ctr"/>
          <a:lstStyle/>
          <a:p>
            <a:pPr marL="0" indent="0" algn="ctr">
              <a:buNone/>
            </a:pPr>
            <a:r>
              <a:rPr lang="en-US" sz="1600" b="1" dirty="0">
                <a:solidFill>
                  <a:schemeClr val="tx1"/>
                </a:solidFill>
              </a:rPr>
              <a:t>Which post is written by Samantha herself? How do you know?</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2a and 2b: who wrote it?</a:t>
            </a:r>
            <a:endParaRPr lang="en-US" sz="3000" dirty="0"/>
          </a:p>
        </p:txBody>
      </p:sp>
      <p:sp>
        <p:nvSpPr>
          <p:cNvPr id="4" name="Row 1"/>
          <p:cNvSpPr/>
          <p:nvPr/>
        </p:nvSpPr>
        <p:spPr>
          <a:xfrm>
            <a:off x="457200" y="1371600"/>
            <a:ext cx="822960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645920"/>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94360" y="1645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43000" y="1371600"/>
            <a:ext cx="7315200" cy="914400"/>
          </a:xfrm>
          <a:prstGeom prst="rect">
            <a:avLst/>
          </a:prstGeom>
          <a:noFill/>
          <a:ln/>
        </p:spPr>
        <p:txBody>
          <a:bodyPr wrap="square" lIns="0" tIns="0" rIns="0" bIns="0" rtlCol="0" anchor="ctr"/>
          <a:lstStyle/>
          <a:p>
            <a:pPr marL="0" indent="0">
              <a:buNone/>
            </a:pPr>
            <a:r>
              <a:rPr lang="en-US" sz="2000" dirty="0">
                <a:solidFill>
                  <a:schemeClr val="tx1"/>
                </a:solidFill>
              </a:rPr>
              <a:t>Who wrote this biography?</a:t>
            </a:r>
            <a:endParaRPr lang="en-US" sz="2000" dirty="0"/>
          </a:p>
        </p:txBody>
      </p:sp>
      <p:sp>
        <p:nvSpPr>
          <p:cNvPr id="8" name="Row 2"/>
          <p:cNvSpPr/>
          <p:nvPr/>
        </p:nvSpPr>
        <p:spPr>
          <a:xfrm>
            <a:off x="457200" y="2514600"/>
            <a:ext cx="822960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59436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59436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1" name="Text 8"/>
          <p:cNvSpPr txBox="1"/>
          <p:nvPr/>
        </p:nvSpPr>
        <p:spPr>
          <a:xfrm>
            <a:off x="1143000" y="2514600"/>
            <a:ext cx="7315200" cy="914400"/>
          </a:xfrm>
          <a:prstGeom prst="rect">
            <a:avLst/>
          </a:prstGeom>
          <a:noFill/>
          <a:ln/>
        </p:spPr>
        <p:txBody>
          <a:bodyPr wrap="square" lIns="0" tIns="0" rIns="0" bIns="0" rtlCol="0" anchor="ctr"/>
          <a:lstStyle/>
          <a:p>
            <a:pPr marL="0" indent="0">
              <a:buNone/>
            </a:pPr>
            <a:r>
              <a:rPr lang="en-US" sz="2000" dirty="0">
                <a:solidFill>
                  <a:schemeClr val="tx1"/>
                </a:solidFill>
              </a:rPr>
              <a:t>Find examples of the use of third-person pronouns in the biography.</a:t>
            </a:r>
            <a:endParaRPr lang="en-US" sz="2000" dirty="0"/>
          </a:p>
        </p:txBody>
      </p:sp>
      <p:sp>
        <p:nvSpPr>
          <p:cNvPr id="12" name="Callout"/>
          <p:cNvSpPr/>
          <p:nvPr/>
        </p:nvSpPr>
        <p:spPr>
          <a:xfrm>
            <a:off x="457200" y="3657600"/>
            <a:ext cx="8229600" cy="502920"/>
          </a:xfrm>
          <a:prstGeom prst="roundRect">
            <a:avLst>
              <a:gd name="adj" fmla="val 21818"/>
            </a:avLst>
          </a:prstGeom>
          <a:solidFill>
            <a:schemeClr val="accent5"/>
          </a:solidFill>
          <a:ln w="9525">
            <a:solidFill>
              <a:schemeClr val="accent5"/>
            </a:solidFill>
            <a:prstDash val="solid"/>
          </a:ln>
        </p:spPr>
      </p:sp>
      <p:sp>
        <p:nvSpPr>
          <p:cNvPr id="13" name="Text 10"/>
          <p:cNvSpPr txBox="1"/>
          <p:nvPr/>
        </p:nvSpPr>
        <p:spPr>
          <a:xfrm>
            <a:off x="640080" y="3657600"/>
            <a:ext cx="7863840" cy="502920"/>
          </a:xfrm>
          <a:prstGeom prst="rect">
            <a:avLst/>
          </a:prstGeom>
          <a:noFill/>
          <a:ln/>
        </p:spPr>
        <p:txBody>
          <a:bodyPr wrap="square" lIns="0" tIns="0" rIns="0" bIns="0" rtlCol="0" anchor="ctr"/>
          <a:lstStyle/>
          <a:p>
            <a:pPr marL="0" indent="0" algn="ctr">
              <a:buNone/>
            </a:pPr>
            <a:r>
              <a:rPr lang="en-US" sz="1600" b="1" dirty="0">
                <a:solidFill>
                  <a:schemeClr val="tx1"/>
                </a:solidFill>
              </a:rPr>
              <a:t>Tip: check under the title, then look for she, her, he, they…</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2a and 2b: answers</a:t>
            </a:r>
            <a:endParaRPr lang="en-US" sz="3000" dirty="0"/>
          </a:p>
        </p:txBody>
      </p:sp>
      <p:sp>
        <p:nvSpPr>
          <p:cNvPr id="4" name="Answer a"/>
          <p:cNvSpPr/>
          <p:nvPr/>
        </p:nvSpPr>
        <p:spPr>
          <a:xfrm>
            <a:off x="457200" y="1051560"/>
            <a:ext cx="822960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303020"/>
            <a:ext cx="411480" cy="411480"/>
          </a:xfrm>
          <a:prstGeom prst="ellipse">
            <a:avLst/>
          </a:prstGeom>
          <a:solidFill>
            <a:schemeClr val="accent1"/>
          </a:solidFill>
          <a:ln w="6350">
            <a:solidFill>
              <a:schemeClr val="accent1"/>
            </a:solidFill>
            <a:prstDash val="solid"/>
          </a:ln>
        </p:spPr>
      </p:sp>
      <p:sp>
        <p:nvSpPr>
          <p:cNvPr id="6" name="Text 3"/>
          <p:cNvSpPr txBox="1"/>
          <p:nvPr/>
        </p:nvSpPr>
        <p:spPr>
          <a:xfrm>
            <a:off x="594360" y="130302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7" name="Text 4"/>
          <p:cNvSpPr txBox="1"/>
          <p:nvPr/>
        </p:nvSpPr>
        <p:spPr>
          <a:xfrm>
            <a:off x="1188720" y="1051560"/>
            <a:ext cx="7315200" cy="914400"/>
          </a:xfrm>
          <a:prstGeom prst="rect">
            <a:avLst/>
          </a:prstGeom>
          <a:noFill/>
          <a:ln/>
        </p:spPr>
        <p:txBody>
          <a:bodyPr wrap="square" lIns="0" tIns="0" rIns="0" bIns="0" rtlCol="0" anchor="ctr"/>
          <a:lstStyle/>
          <a:p>
            <a:pPr marL="0" indent="0">
              <a:buNone/>
            </a:pPr>
            <a:r>
              <a:rPr lang="en-US" sz="1500" b="1" u="sng" dirty="0">
                <a:solidFill>
                  <a:schemeClr val="tx1"/>
                </a:solidFill>
              </a:rPr>
              <a:t>Year 5 learners at Hillside School</a:t>
            </a:r>
            <a:r>
              <a:rPr lang="en-US" sz="1500" dirty="0">
                <a:solidFill>
                  <a:schemeClr val="tx1"/>
                </a:solidFill>
              </a:rPr>
              <a:t> wrote it (see the line under the title).</a:t>
            </a:r>
            <a:endParaRPr lang="en-US" sz="1500" dirty="0"/>
          </a:p>
        </p:txBody>
      </p:sp>
      <p:sp>
        <p:nvSpPr>
          <p:cNvPr id="8" name="Answer b"/>
          <p:cNvSpPr/>
          <p:nvPr/>
        </p:nvSpPr>
        <p:spPr>
          <a:xfrm>
            <a:off x="457200" y="2057400"/>
            <a:ext cx="822960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594360" y="2308860"/>
            <a:ext cx="411480" cy="411480"/>
          </a:xfrm>
          <a:prstGeom prst="ellipse">
            <a:avLst/>
          </a:prstGeom>
          <a:solidFill>
            <a:schemeClr val="accent2"/>
          </a:solidFill>
          <a:ln w="6350">
            <a:solidFill>
              <a:schemeClr val="accent2"/>
            </a:solidFill>
            <a:prstDash val="solid"/>
          </a:ln>
        </p:spPr>
      </p:sp>
      <p:sp>
        <p:nvSpPr>
          <p:cNvPr id="10" name="Text 7"/>
          <p:cNvSpPr txBox="1"/>
          <p:nvPr/>
        </p:nvSpPr>
        <p:spPr>
          <a:xfrm>
            <a:off x="594360" y="230886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1" name="Text 8"/>
          <p:cNvSpPr txBox="1"/>
          <p:nvPr/>
        </p:nvSpPr>
        <p:spPr>
          <a:xfrm>
            <a:off x="1188720" y="2057400"/>
            <a:ext cx="7315200" cy="914400"/>
          </a:xfrm>
          <a:prstGeom prst="rect">
            <a:avLst/>
          </a:prstGeom>
          <a:noFill/>
          <a:ln/>
        </p:spPr>
        <p:txBody>
          <a:bodyPr wrap="square" lIns="0" tIns="0" rIns="0" bIns="0" rtlCol="0" anchor="ctr"/>
          <a:lstStyle/>
          <a:p>
            <a:pPr marL="0" indent="0">
              <a:buNone/>
            </a:pPr>
            <a:r>
              <a:rPr lang="en-US" sz="1500" b="1" dirty="0">
                <a:solidFill>
                  <a:schemeClr val="tx1"/>
                </a:solidFill>
                <a:highlight>
                  <a:srgbClr val="FFD166"/>
                </a:highlight>
              </a:rPr>
              <a:t>she</a:t>
            </a:r>
            <a:r>
              <a:rPr lang="en-US" sz="1500" dirty="0">
                <a:solidFill>
                  <a:schemeClr val="tx1"/>
                </a:solidFill>
              </a:rPr>
              <a:t> was born… · </a:t>
            </a:r>
            <a:r>
              <a:rPr lang="en-US" sz="1500" b="1" dirty="0">
                <a:solidFill>
                  <a:schemeClr val="tx1"/>
                </a:solidFill>
                <a:highlight>
                  <a:srgbClr val="FFD166"/>
                </a:highlight>
              </a:rPr>
              <a:t>she</a:t>
            </a:r>
            <a:r>
              <a:rPr lang="en-US" sz="1500" dirty="0">
                <a:solidFill>
                  <a:schemeClr val="tx1"/>
                </a:solidFill>
              </a:rPr>
              <a:t> set the European record · </a:t>
            </a:r>
            <a:r>
              <a:rPr lang="en-US" sz="1500" b="1" dirty="0">
                <a:solidFill>
                  <a:schemeClr val="tx1"/>
                </a:solidFill>
                <a:highlight>
                  <a:srgbClr val="FFD166"/>
                </a:highlight>
              </a:rPr>
              <a:t>her</a:t>
            </a:r>
            <a:r>
              <a:rPr lang="en-US" sz="1500" dirty="0">
                <a:solidFill>
                  <a:schemeClr val="tx1"/>
                </a:solidFill>
              </a:rPr>
              <a:t> 38th birthday · </a:t>
            </a:r>
            <a:r>
              <a:rPr lang="en-US" sz="1500" b="1" dirty="0">
                <a:solidFill>
                  <a:schemeClr val="tx1"/>
                </a:solidFill>
                <a:highlight>
                  <a:srgbClr val="FFD166"/>
                </a:highlight>
              </a:rPr>
              <a:t>her</a:t>
            </a:r>
            <a:r>
              <a:rPr lang="en-US" sz="1500" dirty="0">
                <a:solidFill>
                  <a:schemeClr val="tx1"/>
                </a:solidFill>
              </a:rPr>
              <a:t> fighter pilot wings</a:t>
            </a:r>
            <a:endParaRPr lang="en-US" sz="1500" dirty="0"/>
          </a:p>
        </p:txBody>
      </p:sp>
      <p:sp>
        <p:nvSpPr>
          <p:cNvPr id="12" name="Answer b"/>
          <p:cNvSpPr/>
          <p:nvPr/>
        </p:nvSpPr>
        <p:spPr>
          <a:xfrm>
            <a:off x="457200" y="3063240"/>
            <a:ext cx="822960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Badge"/>
          <p:cNvSpPr/>
          <p:nvPr/>
        </p:nvSpPr>
        <p:spPr>
          <a:xfrm>
            <a:off x="594360" y="3314700"/>
            <a:ext cx="411480" cy="411480"/>
          </a:xfrm>
          <a:prstGeom prst="ellipse">
            <a:avLst/>
          </a:prstGeom>
          <a:solidFill>
            <a:schemeClr val="accent3"/>
          </a:solidFill>
          <a:ln w="6350">
            <a:solidFill>
              <a:schemeClr val="accent3"/>
            </a:solidFill>
            <a:prstDash val="solid"/>
          </a:ln>
        </p:spPr>
      </p:sp>
      <p:sp>
        <p:nvSpPr>
          <p:cNvPr id="14" name="Text 11"/>
          <p:cNvSpPr txBox="1"/>
          <p:nvPr/>
        </p:nvSpPr>
        <p:spPr>
          <a:xfrm>
            <a:off x="594360" y="331470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5" name="Text 12"/>
          <p:cNvSpPr txBox="1"/>
          <p:nvPr/>
        </p:nvSpPr>
        <p:spPr>
          <a:xfrm>
            <a:off x="1188720" y="3063240"/>
            <a:ext cx="7315200" cy="914400"/>
          </a:xfrm>
          <a:prstGeom prst="rect">
            <a:avLst/>
          </a:prstGeom>
          <a:noFill/>
          <a:ln/>
        </p:spPr>
        <p:txBody>
          <a:bodyPr wrap="square" lIns="0" tIns="0" rIns="0" bIns="0" rtlCol="0" anchor="ctr"/>
          <a:lstStyle/>
          <a:p>
            <a:pPr marL="0" indent="0">
              <a:buNone/>
            </a:pPr>
            <a:r>
              <a:rPr lang="en-US" sz="1500" b="1" dirty="0">
                <a:solidFill>
                  <a:schemeClr val="tx1"/>
                </a:solidFill>
                <a:highlight>
                  <a:srgbClr val="FFD166"/>
                </a:highlight>
              </a:rPr>
              <a:t>she</a:t>
            </a:r>
            <a:r>
              <a:rPr lang="en-US" sz="1500" dirty="0">
                <a:solidFill>
                  <a:schemeClr val="tx1"/>
                </a:solidFill>
              </a:rPr>
              <a:t> launched into space · </a:t>
            </a:r>
            <a:r>
              <a:rPr lang="en-US" sz="1500" b="1" dirty="0">
                <a:solidFill>
                  <a:schemeClr val="tx1"/>
                </a:solidFill>
                <a:highlight>
                  <a:srgbClr val="FFD166"/>
                </a:highlight>
              </a:rPr>
              <a:t>she</a:t>
            </a:r>
            <a:r>
              <a:rPr lang="en-US" sz="1500" dirty="0">
                <a:solidFill>
                  <a:schemeClr val="tx1"/>
                </a:solidFill>
              </a:rPr>
              <a:t> conducted experiments · </a:t>
            </a:r>
            <a:r>
              <a:rPr lang="en-US" sz="1500" b="1" dirty="0">
                <a:solidFill>
                  <a:schemeClr val="tx1"/>
                </a:solidFill>
                <a:highlight>
                  <a:srgbClr val="FFD166"/>
                </a:highlight>
              </a:rPr>
              <a:t>her</a:t>
            </a:r>
            <a:r>
              <a:rPr lang="en-US" sz="1500" dirty="0">
                <a:solidFill>
                  <a:schemeClr val="tx1"/>
                </a:solidFill>
              </a:rPr>
              <a:t> current challenge · </a:t>
            </a:r>
            <a:r>
              <a:rPr lang="en-US" sz="1500" b="1" dirty="0">
                <a:solidFill>
                  <a:schemeClr val="tx1"/>
                </a:solidFill>
                <a:highlight>
                  <a:srgbClr val="FFD166"/>
                </a:highlight>
              </a:rPr>
              <a:t>She</a:t>
            </a:r>
            <a:r>
              <a:rPr lang="en-US" sz="1500" dirty="0">
                <a:solidFill>
                  <a:schemeClr val="tx1"/>
                </a:solidFill>
              </a:rPr>
              <a:t> believes anything is possible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2c: fill in the third-person pronouns</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Copy the sentences. Fill in the blanks with the correct third-person pronouns.</a:t>
            </a:r>
            <a:endParaRPr lang="en-US" sz="1600" dirty="0"/>
          </a:p>
        </p:txBody>
      </p:sp>
      <p:sp>
        <p:nvSpPr>
          <p:cNvPr id="5" name="Sentence 1"/>
          <p:cNvSpPr/>
          <p:nvPr/>
        </p:nvSpPr>
        <p:spPr>
          <a:xfrm>
            <a:off x="457200" y="1417320"/>
            <a:ext cx="8229600" cy="530352"/>
          </a:xfrm>
          <a:prstGeom prst="roundRect">
            <a:avLst>
              <a:gd name="adj" fmla="val 2069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548640" y="1499616"/>
            <a:ext cx="365760" cy="365760"/>
          </a:xfrm>
          <a:prstGeom prst="ellipse">
            <a:avLst/>
          </a:prstGeom>
          <a:solidFill>
            <a:schemeClr val="accent1"/>
          </a:solidFill>
          <a:ln w="6350">
            <a:solidFill>
              <a:schemeClr val="accent1"/>
            </a:solidFill>
            <a:prstDash val="solid"/>
          </a:ln>
        </p:spPr>
      </p:sp>
      <p:sp>
        <p:nvSpPr>
          <p:cNvPr id="7" name="Text 4"/>
          <p:cNvSpPr txBox="1"/>
          <p:nvPr/>
        </p:nvSpPr>
        <p:spPr>
          <a:xfrm>
            <a:off x="548640" y="149961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8" name="Text 5"/>
          <p:cNvSpPr txBox="1"/>
          <p:nvPr/>
        </p:nvSpPr>
        <p:spPr>
          <a:xfrm>
            <a:off x="1097280" y="1417320"/>
            <a:ext cx="7406640" cy="530352"/>
          </a:xfrm>
          <a:prstGeom prst="rect">
            <a:avLst/>
          </a:prstGeom>
          <a:noFill/>
          <a:ln/>
        </p:spPr>
        <p:txBody>
          <a:bodyPr wrap="square" lIns="0" tIns="0" rIns="0" bIns="0" rtlCol="0" anchor="ctr"/>
          <a:lstStyle/>
          <a:p>
            <a:pPr marL="0" indent="0">
              <a:buNone/>
            </a:pPr>
            <a:r>
              <a:rPr lang="en-US" sz="1500" dirty="0">
                <a:solidFill>
                  <a:schemeClr val="tx1"/>
                </a:solidFill>
              </a:rPr>
              <a:t>______ enjoys her work. Those good results are ______.</a:t>
            </a:r>
            <a:endParaRPr lang="en-US" sz="1500" dirty="0"/>
          </a:p>
        </p:txBody>
      </p:sp>
      <p:sp>
        <p:nvSpPr>
          <p:cNvPr id="9" name="Sentence 2"/>
          <p:cNvSpPr/>
          <p:nvPr/>
        </p:nvSpPr>
        <p:spPr>
          <a:xfrm>
            <a:off x="457200" y="2039112"/>
            <a:ext cx="8229600" cy="530352"/>
          </a:xfrm>
          <a:prstGeom prst="roundRect">
            <a:avLst>
              <a:gd name="adj" fmla="val 2069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48640" y="2121408"/>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48640" y="2121408"/>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097280" y="2039112"/>
            <a:ext cx="7406640" cy="530352"/>
          </a:xfrm>
          <a:prstGeom prst="rect">
            <a:avLst/>
          </a:prstGeom>
          <a:noFill/>
          <a:ln/>
        </p:spPr>
        <p:txBody>
          <a:bodyPr wrap="square" lIns="0" tIns="0" rIns="0" bIns="0" rtlCol="0" anchor="ctr"/>
          <a:lstStyle/>
          <a:p>
            <a:pPr marL="0" indent="0">
              <a:buNone/>
            </a:pPr>
            <a:r>
              <a:rPr lang="en-US" sz="1500" dirty="0">
                <a:solidFill>
                  <a:schemeClr val="tx1"/>
                </a:solidFill>
              </a:rPr>
              <a:t>He loved the experience. The memories are ______ forever.</a:t>
            </a:r>
            <a:endParaRPr lang="en-US" sz="1500" dirty="0"/>
          </a:p>
        </p:txBody>
      </p:sp>
      <p:sp>
        <p:nvSpPr>
          <p:cNvPr id="13" name="Sentence 3"/>
          <p:cNvSpPr/>
          <p:nvPr/>
        </p:nvSpPr>
        <p:spPr>
          <a:xfrm>
            <a:off x="457200" y="2660904"/>
            <a:ext cx="8229600" cy="530352"/>
          </a:xfrm>
          <a:prstGeom prst="roundRect">
            <a:avLst>
              <a:gd name="adj" fmla="val 2069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548640" y="274320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548640" y="274320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6" name="Text 13"/>
          <p:cNvSpPr txBox="1"/>
          <p:nvPr/>
        </p:nvSpPr>
        <p:spPr>
          <a:xfrm>
            <a:off x="1097280" y="2660904"/>
            <a:ext cx="7406640" cy="530352"/>
          </a:xfrm>
          <a:prstGeom prst="rect">
            <a:avLst/>
          </a:prstGeom>
          <a:noFill/>
          <a:ln/>
        </p:spPr>
        <p:txBody>
          <a:bodyPr wrap="square" lIns="0" tIns="0" rIns="0" bIns="0" rtlCol="0" anchor="ctr"/>
          <a:lstStyle/>
          <a:p>
            <a:pPr marL="0" indent="0">
              <a:buNone/>
            </a:pPr>
            <a:r>
              <a:rPr lang="en-US" sz="1500" dirty="0">
                <a:solidFill>
                  <a:schemeClr val="tx1"/>
                </a:solidFill>
              </a:rPr>
              <a:t>The crew knew the spacecraft was ______ because ______ trained in it.</a:t>
            </a:r>
            <a:endParaRPr lang="en-US" sz="1500" dirty="0"/>
          </a:p>
        </p:txBody>
      </p:sp>
      <p:sp>
        <p:nvSpPr>
          <p:cNvPr id="17" name="Sentence 4"/>
          <p:cNvSpPr/>
          <p:nvPr/>
        </p:nvSpPr>
        <p:spPr>
          <a:xfrm>
            <a:off x="457200" y="3282696"/>
            <a:ext cx="8229600" cy="530352"/>
          </a:xfrm>
          <a:prstGeom prst="roundRect">
            <a:avLst>
              <a:gd name="adj" fmla="val 2069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548640" y="3364992"/>
            <a:ext cx="365760" cy="365760"/>
          </a:xfrm>
          <a:prstGeom prst="ellipse">
            <a:avLst/>
          </a:prstGeom>
          <a:solidFill>
            <a:schemeClr val="accent4"/>
          </a:solidFill>
          <a:ln w="6350">
            <a:solidFill>
              <a:schemeClr val="accent4"/>
            </a:solidFill>
            <a:prstDash val="solid"/>
          </a:ln>
        </p:spPr>
      </p:sp>
      <p:sp>
        <p:nvSpPr>
          <p:cNvPr id="19" name="Text 16"/>
          <p:cNvSpPr txBox="1"/>
          <p:nvPr/>
        </p:nvSpPr>
        <p:spPr>
          <a:xfrm>
            <a:off x="548640" y="3364992"/>
            <a:ext cx="365760" cy="36576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0" name="Text 17"/>
          <p:cNvSpPr txBox="1"/>
          <p:nvPr/>
        </p:nvSpPr>
        <p:spPr>
          <a:xfrm>
            <a:off x="1097280" y="3282696"/>
            <a:ext cx="7406640" cy="530352"/>
          </a:xfrm>
          <a:prstGeom prst="rect">
            <a:avLst/>
          </a:prstGeom>
          <a:noFill/>
          <a:ln/>
        </p:spPr>
        <p:txBody>
          <a:bodyPr wrap="square" lIns="0" tIns="0" rIns="0" bIns="0" rtlCol="0" anchor="ctr"/>
          <a:lstStyle/>
          <a:p>
            <a:pPr marL="0" indent="0">
              <a:buNone/>
            </a:pPr>
            <a:r>
              <a:rPr lang="en-US" sz="1500" dirty="0">
                <a:solidFill>
                  <a:schemeClr val="tx1"/>
                </a:solidFill>
              </a:rPr>
              <a:t>My friends are going to watch a film about space. I’d love to go with ______ to watch ______.</a:t>
            </a:r>
            <a:endParaRPr lang="en-US" sz="1500" dirty="0"/>
          </a:p>
        </p:txBody>
      </p:sp>
      <p:sp>
        <p:nvSpPr>
          <p:cNvPr id="21" name="Sentence 5"/>
          <p:cNvSpPr/>
          <p:nvPr/>
        </p:nvSpPr>
        <p:spPr>
          <a:xfrm>
            <a:off x="457200" y="3904488"/>
            <a:ext cx="8229600" cy="530352"/>
          </a:xfrm>
          <a:prstGeom prst="roundRect">
            <a:avLst>
              <a:gd name="adj" fmla="val 2069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2" name="Badge"/>
          <p:cNvSpPr/>
          <p:nvPr/>
        </p:nvSpPr>
        <p:spPr>
          <a:xfrm>
            <a:off x="548640" y="3986784"/>
            <a:ext cx="365760" cy="365760"/>
          </a:xfrm>
          <a:prstGeom prst="ellipse">
            <a:avLst/>
          </a:prstGeom>
          <a:solidFill>
            <a:schemeClr val="accent5"/>
          </a:solidFill>
          <a:ln w="6350">
            <a:solidFill>
              <a:schemeClr val="accent5"/>
            </a:solidFill>
            <a:prstDash val="solid"/>
          </a:ln>
        </p:spPr>
      </p:sp>
      <p:sp>
        <p:nvSpPr>
          <p:cNvPr id="23" name="Text 20"/>
          <p:cNvSpPr txBox="1"/>
          <p:nvPr/>
        </p:nvSpPr>
        <p:spPr>
          <a:xfrm>
            <a:off x="548640" y="398678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4" name="Text 21"/>
          <p:cNvSpPr txBox="1"/>
          <p:nvPr/>
        </p:nvSpPr>
        <p:spPr>
          <a:xfrm>
            <a:off x="1097280" y="3904488"/>
            <a:ext cx="7406640" cy="530352"/>
          </a:xfrm>
          <a:prstGeom prst="rect">
            <a:avLst/>
          </a:prstGeom>
          <a:noFill/>
          <a:ln/>
        </p:spPr>
        <p:txBody>
          <a:bodyPr wrap="square" lIns="0" tIns="0" rIns="0" bIns="0" rtlCol="0" anchor="ctr"/>
          <a:lstStyle/>
          <a:p>
            <a:pPr marL="0" indent="0">
              <a:buNone/>
            </a:pPr>
            <a:r>
              <a:rPr lang="en-US" sz="1500" dirty="0">
                <a:solidFill>
                  <a:schemeClr val="tx1"/>
                </a:solidFill>
              </a:rPr>
              <a:t>The rocket powered up, then ______ blasted into space and ______ disappeared.</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2c: answers</a:t>
            </a:r>
            <a:endParaRPr lang="en-US" sz="3000" dirty="0"/>
          </a:p>
        </p:txBody>
      </p:sp>
      <p:sp>
        <p:nvSpPr>
          <p:cNvPr id="4" name="Answer 1"/>
          <p:cNvSpPr/>
          <p:nvPr/>
        </p:nvSpPr>
        <p:spPr>
          <a:xfrm>
            <a:off x="457200" y="1051560"/>
            <a:ext cx="8229600" cy="658368"/>
          </a:xfrm>
          <a:prstGeom prst="roundRect">
            <a:avLst>
              <a:gd name="adj" fmla="val 16667"/>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175004"/>
            <a:ext cx="411480" cy="411480"/>
          </a:xfrm>
          <a:prstGeom prst="ellipse">
            <a:avLst/>
          </a:prstGeom>
          <a:solidFill>
            <a:schemeClr val="accent1"/>
          </a:solidFill>
          <a:ln w="6350">
            <a:solidFill>
              <a:schemeClr val="accent1"/>
            </a:solidFill>
            <a:prstDash val="solid"/>
          </a:ln>
        </p:spPr>
      </p:sp>
      <p:sp>
        <p:nvSpPr>
          <p:cNvPr id="6" name="Text 3"/>
          <p:cNvSpPr txBox="1"/>
          <p:nvPr/>
        </p:nvSpPr>
        <p:spPr>
          <a:xfrm>
            <a:off x="594360" y="1175004"/>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88720" y="1051560"/>
            <a:ext cx="7315200" cy="658368"/>
          </a:xfrm>
          <a:prstGeom prst="rect">
            <a:avLst/>
          </a:prstGeom>
          <a:noFill/>
          <a:ln/>
        </p:spPr>
        <p:txBody>
          <a:bodyPr wrap="square" lIns="0" tIns="0" rIns="0" bIns="0" rtlCol="0" anchor="ctr"/>
          <a:lstStyle/>
          <a:p>
            <a:pPr marL="0" indent="0">
              <a:buNone/>
            </a:pPr>
            <a:r>
              <a:rPr lang="en-US" sz="1600" b="1" dirty="0">
                <a:solidFill>
                  <a:schemeClr val="tx1"/>
                </a:solidFill>
                <a:highlight>
                  <a:srgbClr val="FFD166"/>
                </a:highlight>
              </a:rPr>
              <a:t>She</a:t>
            </a:r>
            <a:r>
              <a:rPr lang="en-US" sz="1600" dirty="0">
                <a:solidFill>
                  <a:schemeClr val="tx1"/>
                </a:solidFill>
              </a:rPr>
              <a:t> enjoys her work. Those good results are </a:t>
            </a:r>
            <a:r>
              <a:rPr lang="en-US" sz="1600" b="1" dirty="0">
                <a:solidFill>
                  <a:schemeClr val="tx1"/>
                </a:solidFill>
                <a:highlight>
                  <a:srgbClr val="FFD166"/>
                </a:highlight>
              </a:rPr>
              <a:t>hers</a:t>
            </a:r>
            <a:r>
              <a:rPr lang="en-US" sz="1600" dirty="0">
                <a:solidFill>
                  <a:schemeClr val="tx1"/>
                </a:solidFill>
              </a:rPr>
              <a:t>.</a:t>
            </a:r>
            <a:endParaRPr lang="en-US" sz="1600" dirty="0"/>
          </a:p>
        </p:txBody>
      </p:sp>
      <p:sp>
        <p:nvSpPr>
          <p:cNvPr id="8" name="Answer 2"/>
          <p:cNvSpPr/>
          <p:nvPr/>
        </p:nvSpPr>
        <p:spPr>
          <a:xfrm>
            <a:off x="457200" y="1801368"/>
            <a:ext cx="8229600" cy="658368"/>
          </a:xfrm>
          <a:prstGeom prst="roundRect">
            <a:avLst>
              <a:gd name="adj" fmla="val 16667"/>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594360" y="1924812"/>
            <a:ext cx="411480" cy="411480"/>
          </a:xfrm>
          <a:prstGeom prst="ellipse">
            <a:avLst/>
          </a:prstGeom>
          <a:solidFill>
            <a:schemeClr val="accent2"/>
          </a:solidFill>
          <a:ln w="6350">
            <a:solidFill>
              <a:schemeClr val="accent2"/>
            </a:solidFill>
            <a:prstDash val="solid"/>
          </a:ln>
        </p:spPr>
      </p:sp>
      <p:sp>
        <p:nvSpPr>
          <p:cNvPr id="10" name="Text 7"/>
          <p:cNvSpPr txBox="1"/>
          <p:nvPr/>
        </p:nvSpPr>
        <p:spPr>
          <a:xfrm>
            <a:off x="594360" y="1924812"/>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1" name="Text 8"/>
          <p:cNvSpPr txBox="1"/>
          <p:nvPr/>
        </p:nvSpPr>
        <p:spPr>
          <a:xfrm>
            <a:off x="1188720" y="1801368"/>
            <a:ext cx="7315200" cy="658368"/>
          </a:xfrm>
          <a:prstGeom prst="rect">
            <a:avLst/>
          </a:prstGeom>
          <a:noFill/>
          <a:ln/>
        </p:spPr>
        <p:txBody>
          <a:bodyPr wrap="square" lIns="0" tIns="0" rIns="0" bIns="0" rtlCol="0" anchor="ctr"/>
          <a:lstStyle/>
          <a:p>
            <a:pPr marL="0" indent="0">
              <a:buNone/>
            </a:pPr>
            <a:r>
              <a:rPr lang="en-US" sz="1600" dirty="0">
                <a:solidFill>
                  <a:schemeClr val="tx1"/>
                </a:solidFill>
              </a:rPr>
              <a:t>He loved the experience. The memories are </a:t>
            </a:r>
            <a:r>
              <a:rPr lang="en-US" sz="1600" b="1" dirty="0">
                <a:solidFill>
                  <a:schemeClr val="tx1"/>
                </a:solidFill>
                <a:highlight>
                  <a:srgbClr val="FFD166"/>
                </a:highlight>
              </a:rPr>
              <a:t>his</a:t>
            </a:r>
            <a:r>
              <a:rPr lang="en-US" sz="1600" dirty="0">
                <a:solidFill>
                  <a:schemeClr val="tx1"/>
                </a:solidFill>
              </a:rPr>
              <a:t> forever.</a:t>
            </a:r>
            <a:endParaRPr lang="en-US" sz="1600" dirty="0"/>
          </a:p>
        </p:txBody>
      </p:sp>
      <p:sp>
        <p:nvSpPr>
          <p:cNvPr id="12" name="Answer 3"/>
          <p:cNvSpPr/>
          <p:nvPr/>
        </p:nvSpPr>
        <p:spPr>
          <a:xfrm>
            <a:off x="457200" y="2551176"/>
            <a:ext cx="8229600" cy="658368"/>
          </a:xfrm>
          <a:prstGeom prst="roundRect">
            <a:avLst>
              <a:gd name="adj" fmla="val 16667"/>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Badge"/>
          <p:cNvSpPr/>
          <p:nvPr/>
        </p:nvSpPr>
        <p:spPr>
          <a:xfrm>
            <a:off x="594360" y="2674620"/>
            <a:ext cx="411480" cy="411480"/>
          </a:xfrm>
          <a:prstGeom prst="ellipse">
            <a:avLst/>
          </a:prstGeom>
          <a:solidFill>
            <a:schemeClr val="accent3"/>
          </a:solidFill>
          <a:ln w="6350">
            <a:solidFill>
              <a:schemeClr val="accent3"/>
            </a:solidFill>
            <a:prstDash val="solid"/>
          </a:ln>
        </p:spPr>
      </p:sp>
      <p:sp>
        <p:nvSpPr>
          <p:cNvPr id="14" name="Text 11"/>
          <p:cNvSpPr txBox="1"/>
          <p:nvPr/>
        </p:nvSpPr>
        <p:spPr>
          <a:xfrm>
            <a:off x="594360" y="267462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5" name="Text 12"/>
          <p:cNvSpPr txBox="1"/>
          <p:nvPr/>
        </p:nvSpPr>
        <p:spPr>
          <a:xfrm>
            <a:off x="1188720" y="2551176"/>
            <a:ext cx="7315200" cy="658368"/>
          </a:xfrm>
          <a:prstGeom prst="rect">
            <a:avLst/>
          </a:prstGeom>
          <a:noFill/>
          <a:ln/>
        </p:spPr>
        <p:txBody>
          <a:bodyPr wrap="square" lIns="0" tIns="0" rIns="0" bIns="0" rtlCol="0" anchor="ctr"/>
          <a:lstStyle/>
          <a:p>
            <a:pPr marL="0" indent="0">
              <a:buNone/>
            </a:pPr>
            <a:r>
              <a:rPr lang="en-US" sz="1600" dirty="0">
                <a:solidFill>
                  <a:schemeClr val="tx1"/>
                </a:solidFill>
              </a:rPr>
              <a:t>The crew knew the spacecraft was </a:t>
            </a:r>
            <a:r>
              <a:rPr lang="en-US" sz="1600" b="1" dirty="0">
                <a:solidFill>
                  <a:schemeClr val="tx1"/>
                </a:solidFill>
                <a:highlight>
                  <a:srgbClr val="FFD166"/>
                </a:highlight>
              </a:rPr>
              <a:t>theirs</a:t>
            </a:r>
            <a:r>
              <a:rPr lang="en-US" sz="1600" dirty="0">
                <a:solidFill>
                  <a:schemeClr val="tx1"/>
                </a:solidFill>
              </a:rPr>
              <a:t> because </a:t>
            </a:r>
            <a:r>
              <a:rPr lang="en-US" sz="1600" b="1" dirty="0">
                <a:solidFill>
                  <a:schemeClr val="tx1"/>
                </a:solidFill>
                <a:highlight>
                  <a:srgbClr val="FFD166"/>
                </a:highlight>
              </a:rPr>
              <a:t>they</a:t>
            </a:r>
            <a:r>
              <a:rPr lang="en-US" sz="1600" dirty="0">
                <a:solidFill>
                  <a:schemeClr val="tx1"/>
                </a:solidFill>
              </a:rPr>
              <a:t> trained in it.</a:t>
            </a:r>
            <a:endParaRPr lang="en-US" sz="1600" dirty="0"/>
          </a:p>
        </p:txBody>
      </p:sp>
      <p:sp>
        <p:nvSpPr>
          <p:cNvPr id="16" name="Answer 4"/>
          <p:cNvSpPr/>
          <p:nvPr/>
        </p:nvSpPr>
        <p:spPr>
          <a:xfrm>
            <a:off x="457200" y="3300984"/>
            <a:ext cx="8229600" cy="658368"/>
          </a:xfrm>
          <a:prstGeom prst="roundRect">
            <a:avLst>
              <a:gd name="adj" fmla="val 16667"/>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Badge"/>
          <p:cNvSpPr/>
          <p:nvPr/>
        </p:nvSpPr>
        <p:spPr>
          <a:xfrm>
            <a:off x="594360" y="3424428"/>
            <a:ext cx="411480" cy="411480"/>
          </a:xfrm>
          <a:prstGeom prst="ellipse">
            <a:avLst/>
          </a:prstGeom>
          <a:solidFill>
            <a:schemeClr val="accent4"/>
          </a:solidFill>
          <a:ln w="6350">
            <a:solidFill>
              <a:schemeClr val="accent4"/>
            </a:solidFill>
            <a:prstDash val="solid"/>
          </a:ln>
        </p:spPr>
      </p:sp>
      <p:sp>
        <p:nvSpPr>
          <p:cNvPr id="18" name="Text 15"/>
          <p:cNvSpPr txBox="1"/>
          <p:nvPr/>
        </p:nvSpPr>
        <p:spPr>
          <a:xfrm>
            <a:off x="594360" y="3424428"/>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19" name="Text 16"/>
          <p:cNvSpPr txBox="1"/>
          <p:nvPr/>
        </p:nvSpPr>
        <p:spPr>
          <a:xfrm>
            <a:off x="1188720" y="3300984"/>
            <a:ext cx="7315200" cy="658368"/>
          </a:xfrm>
          <a:prstGeom prst="rect">
            <a:avLst/>
          </a:prstGeom>
          <a:noFill/>
          <a:ln/>
        </p:spPr>
        <p:txBody>
          <a:bodyPr wrap="square" lIns="0" tIns="0" rIns="0" bIns="0" rtlCol="0" anchor="ctr"/>
          <a:lstStyle/>
          <a:p>
            <a:pPr marL="0" indent="0">
              <a:buNone/>
            </a:pPr>
            <a:r>
              <a:rPr lang="en-US" sz="1600" dirty="0">
                <a:solidFill>
                  <a:schemeClr val="tx1"/>
                </a:solidFill>
              </a:rPr>
              <a:t>I’d love to go with </a:t>
            </a:r>
            <a:r>
              <a:rPr lang="en-US" sz="1600" b="1" dirty="0">
                <a:solidFill>
                  <a:schemeClr val="tx1"/>
                </a:solidFill>
                <a:highlight>
                  <a:srgbClr val="FFD166"/>
                </a:highlight>
              </a:rPr>
              <a:t>them</a:t>
            </a:r>
            <a:r>
              <a:rPr lang="en-US" sz="1600" dirty="0">
                <a:solidFill>
                  <a:schemeClr val="tx1"/>
                </a:solidFill>
              </a:rPr>
              <a:t> to watch </a:t>
            </a:r>
            <a:r>
              <a:rPr lang="en-US" sz="1600" b="1" dirty="0">
                <a:solidFill>
                  <a:schemeClr val="tx1"/>
                </a:solidFill>
                <a:highlight>
                  <a:srgbClr val="FFD166"/>
                </a:highlight>
              </a:rPr>
              <a:t>it</a:t>
            </a:r>
            <a:r>
              <a:rPr lang="en-US" sz="1600" dirty="0">
                <a:solidFill>
                  <a:schemeClr val="tx1"/>
                </a:solidFill>
              </a:rPr>
              <a:t>.</a:t>
            </a:r>
            <a:endParaRPr lang="en-US" sz="1600" dirty="0"/>
          </a:p>
        </p:txBody>
      </p:sp>
      <p:sp>
        <p:nvSpPr>
          <p:cNvPr id="20" name="Answer 5"/>
          <p:cNvSpPr/>
          <p:nvPr/>
        </p:nvSpPr>
        <p:spPr>
          <a:xfrm>
            <a:off x="457200" y="4050792"/>
            <a:ext cx="8229600" cy="658368"/>
          </a:xfrm>
          <a:prstGeom prst="roundRect">
            <a:avLst>
              <a:gd name="adj" fmla="val 16667"/>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1" name="Badge"/>
          <p:cNvSpPr/>
          <p:nvPr/>
        </p:nvSpPr>
        <p:spPr>
          <a:xfrm>
            <a:off x="594360" y="4174236"/>
            <a:ext cx="411480" cy="411480"/>
          </a:xfrm>
          <a:prstGeom prst="ellipse">
            <a:avLst/>
          </a:prstGeom>
          <a:solidFill>
            <a:schemeClr val="accent5"/>
          </a:solidFill>
          <a:ln w="6350">
            <a:solidFill>
              <a:schemeClr val="accent5"/>
            </a:solidFill>
            <a:prstDash val="solid"/>
          </a:ln>
        </p:spPr>
      </p:sp>
      <p:sp>
        <p:nvSpPr>
          <p:cNvPr id="22" name="Text 19"/>
          <p:cNvSpPr txBox="1"/>
          <p:nvPr/>
        </p:nvSpPr>
        <p:spPr>
          <a:xfrm>
            <a:off x="594360" y="4174236"/>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3" name="Text 20"/>
          <p:cNvSpPr txBox="1"/>
          <p:nvPr/>
        </p:nvSpPr>
        <p:spPr>
          <a:xfrm>
            <a:off x="1188720" y="4050792"/>
            <a:ext cx="7315200" cy="658368"/>
          </a:xfrm>
          <a:prstGeom prst="rect">
            <a:avLst/>
          </a:prstGeom>
          <a:noFill/>
          <a:ln/>
        </p:spPr>
        <p:txBody>
          <a:bodyPr wrap="square" lIns="0" tIns="0" rIns="0" bIns="0" rtlCol="0" anchor="ctr"/>
          <a:lstStyle/>
          <a:p>
            <a:pPr marL="0" indent="0">
              <a:buNone/>
            </a:pPr>
            <a:r>
              <a:rPr lang="en-US" sz="1600" dirty="0">
                <a:solidFill>
                  <a:schemeClr val="tx1"/>
                </a:solidFill>
              </a:rPr>
              <a:t>The rocket powered up, then </a:t>
            </a:r>
            <a:r>
              <a:rPr lang="en-US" sz="1600" b="1" dirty="0">
                <a:solidFill>
                  <a:schemeClr val="tx1"/>
                </a:solidFill>
                <a:highlight>
                  <a:srgbClr val="FFD166"/>
                </a:highlight>
              </a:rPr>
              <a:t>it</a:t>
            </a:r>
            <a:r>
              <a:rPr lang="en-US" sz="1600" dirty="0">
                <a:solidFill>
                  <a:schemeClr val="tx1"/>
                </a:solidFill>
              </a:rPr>
              <a:t> blasted into space and </a:t>
            </a:r>
            <a:r>
              <a:rPr lang="en-US" sz="1600" b="1" dirty="0">
                <a:solidFill>
                  <a:schemeClr val="tx1"/>
                </a:solidFill>
                <a:highlight>
                  <a:srgbClr val="FFD166"/>
                </a:highlight>
              </a:rPr>
              <a:t>it</a:t>
            </a:r>
            <a:r>
              <a:rPr lang="en-US" sz="1600" dirty="0">
                <a:solidFill>
                  <a:schemeClr val="tx1"/>
                </a:solidFill>
              </a:rPr>
              <a:t> disappeared.</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Choose the biography sentence</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Choose the correct answer.</a:t>
            </a:r>
            <a:endParaRPr lang="en-US" sz="1600" dirty="0"/>
          </a:p>
        </p:txBody>
      </p:sp>
      <p:sp>
        <p:nvSpPr>
          <p:cNvPr id="5" name="Option A"/>
          <p:cNvSpPr/>
          <p:nvPr/>
        </p:nvSpPr>
        <p:spPr>
          <a:xfrm>
            <a:off x="457200" y="1463040"/>
            <a:ext cx="4023360" cy="1188720"/>
          </a:xfrm>
          <a:prstGeom prst="roundRect">
            <a:avLst>
              <a:gd name="adj" fmla="val 923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640080" y="1801368"/>
            <a:ext cx="502920" cy="502920"/>
          </a:xfrm>
          <a:prstGeom prst="ellipse">
            <a:avLst/>
          </a:prstGeom>
          <a:solidFill>
            <a:schemeClr val="accent1"/>
          </a:solidFill>
          <a:ln w="6350">
            <a:solidFill>
              <a:schemeClr val="accent1"/>
            </a:solidFill>
            <a:prstDash val="solid"/>
          </a:ln>
        </p:spPr>
      </p:sp>
      <p:sp>
        <p:nvSpPr>
          <p:cNvPr id="7" name="Text 4"/>
          <p:cNvSpPr txBox="1"/>
          <p:nvPr/>
        </p:nvSpPr>
        <p:spPr>
          <a:xfrm>
            <a:off x="640080" y="1801368"/>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8" name="Text 5"/>
          <p:cNvSpPr txBox="1"/>
          <p:nvPr/>
        </p:nvSpPr>
        <p:spPr>
          <a:xfrm>
            <a:off x="1325880" y="1463040"/>
            <a:ext cx="3017520" cy="1188720"/>
          </a:xfrm>
          <a:prstGeom prst="rect">
            <a:avLst/>
          </a:prstGeom>
          <a:noFill/>
          <a:ln/>
        </p:spPr>
        <p:txBody>
          <a:bodyPr wrap="square" lIns="0" tIns="0" rIns="0" bIns="0" rtlCol="0" anchor="ctr"/>
          <a:lstStyle/>
          <a:p>
            <a:pPr marL="0" indent="0">
              <a:buNone/>
            </a:pPr>
            <a:r>
              <a:rPr lang="en-US" sz="1500" dirty="0">
                <a:solidFill>
                  <a:schemeClr val="tx1"/>
                </a:solidFill>
              </a:rPr>
              <a:t>I was born in Milan, Italy.</a:t>
            </a:r>
            <a:endParaRPr lang="en-US" sz="1500" dirty="0"/>
          </a:p>
        </p:txBody>
      </p:sp>
      <p:sp>
        <p:nvSpPr>
          <p:cNvPr id="9" name="Option B"/>
          <p:cNvSpPr/>
          <p:nvPr/>
        </p:nvSpPr>
        <p:spPr>
          <a:xfrm>
            <a:off x="4663440" y="1463040"/>
            <a:ext cx="4023360" cy="1188720"/>
          </a:xfrm>
          <a:prstGeom prst="roundRect">
            <a:avLst>
              <a:gd name="adj" fmla="val 923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4846320" y="1801368"/>
            <a:ext cx="502920" cy="502920"/>
          </a:xfrm>
          <a:prstGeom prst="ellipse">
            <a:avLst/>
          </a:prstGeom>
          <a:solidFill>
            <a:schemeClr val="accent2"/>
          </a:solidFill>
          <a:ln w="6350">
            <a:solidFill>
              <a:schemeClr val="accent2"/>
            </a:solidFill>
            <a:prstDash val="solid"/>
          </a:ln>
        </p:spPr>
      </p:sp>
      <p:sp>
        <p:nvSpPr>
          <p:cNvPr id="11" name="Text 8"/>
          <p:cNvSpPr txBox="1"/>
          <p:nvPr/>
        </p:nvSpPr>
        <p:spPr>
          <a:xfrm>
            <a:off x="4846320" y="1801368"/>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2" name="Text 9"/>
          <p:cNvSpPr txBox="1"/>
          <p:nvPr/>
        </p:nvSpPr>
        <p:spPr>
          <a:xfrm>
            <a:off x="5532120" y="1463040"/>
            <a:ext cx="3017520" cy="1188720"/>
          </a:xfrm>
          <a:prstGeom prst="rect">
            <a:avLst/>
          </a:prstGeom>
          <a:noFill/>
          <a:ln/>
        </p:spPr>
        <p:txBody>
          <a:bodyPr wrap="square" lIns="0" tIns="0" rIns="0" bIns="0" rtlCol="0" anchor="ctr"/>
          <a:lstStyle/>
          <a:p>
            <a:pPr marL="0" indent="0">
              <a:buNone/>
            </a:pPr>
            <a:r>
              <a:rPr lang="en-US" sz="1500" dirty="0">
                <a:solidFill>
                  <a:schemeClr val="tx1"/>
                </a:solidFill>
              </a:rPr>
              <a:t>She was born in Milan, Italy.</a:t>
            </a:r>
            <a:endParaRPr lang="en-US" sz="1500" dirty="0"/>
          </a:p>
        </p:txBody>
      </p:sp>
      <p:sp>
        <p:nvSpPr>
          <p:cNvPr id="13" name="Option C"/>
          <p:cNvSpPr/>
          <p:nvPr/>
        </p:nvSpPr>
        <p:spPr>
          <a:xfrm>
            <a:off x="457200" y="2788920"/>
            <a:ext cx="4023360" cy="1188720"/>
          </a:xfrm>
          <a:prstGeom prst="roundRect">
            <a:avLst>
              <a:gd name="adj" fmla="val 923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640080" y="3127248"/>
            <a:ext cx="502920" cy="502920"/>
          </a:xfrm>
          <a:prstGeom prst="ellipse">
            <a:avLst/>
          </a:prstGeom>
          <a:solidFill>
            <a:schemeClr val="accent3"/>
          </a:solidFill>
          <a:ln w="6350">
            <a:solidFill>
              <a:schemeClr val="accent3"/>
            </a:solidFill>
            <a:prstDash val="solid"/>
          </a:ln>
        </p:spPr>
      </p:sp>
      <p:sp>
        <p:nvSpPr>
          <p:cNvPr id="15" name="Text 12"/>
          <p:cNvSpPr txBox="1"/>
          <p:nvPr/>
        </p:nvSpPr>
        <p:spPr>
          <a:xfrm>
            <a:off x="640080" y="3127248"/>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6" name="Text 13"/>
          <p:cNvSpPr txBox="1"/>
          <p:nvPr/>
        </p:nvSpPr>
        <p:spPr>
          <a:xfrm>
            <a:off x="1325880" y="2788920"/>
            <a:ext cx="3017520" cy="1188720"/>
          </a:xfrm>
          <a:prstGeom prst="rect">
            <a:avLst/>
          </a:prstGeom>
          <a:noFill/>
          <a:ln/>
        </p:spPr>
        <p:txBody>
          <a:bodyPr wrap="square" lIns="0" tIns="0" rIns="0" bIns="0" rtlCol="0" anchor="ctr"/>
          <a:lstStyle/>
          <a:p>
            <a:pPr marL="0" indent="0">
              <a:buNone/>
            </a:pPr>
            <a:r>
              <a:rPr lang="en-US" sz="1500" dirty="0">
                <a:solidFill>
                  <a:schemeClr val="tx1"/>
                </a:solidFill>
              </a:rPr>
              <a:t>We launched into space together.</a:t>
            </a:r>
            <a:endParaRPr lang="en-US" sz="1500" dirty="0"/>
          </a:p>
        </p:txBody>
      </p:sp>
      <p:sp>
        <p:nvSpPr>
          <p:cNvPr id="17" name="Option D"/>
          <p:cNvSpPr/>
          <p:nvPr/>
        </p:nvSpPr>
        <p:spPr>
          <a:xfrm>
            <a:off x="4663440" y="2788920"/>
            <a:ext cx="4023360" cy="1188720"/>
          </a:xfrm>
          <a:prstGeom prst="roundRect">
            <a:avLst>
              <a:gd name="adj" fmla="val 923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4846320" y="3127248"/>
            <a:ext cx="502920" cy="502920"/>
          </a:xfrm>
          <a:prstGeom prst="ellipse">
            <a:avLst/>
          </a:prstGeom>
          <a:solidFill>
            <a:schemeClr val="accent4"/>
          </a:solidFill>
          <a:ln w="6350">
            <a:solidFill>
              <a:schemeClr val="accent4"/>
            </a:solidFill>
            <a:prstDash val="solid"/>
          </a:ln>
        </p:spPr>
      </p:sp>
      <p:sp>
        <p:nvSpPr>
          <p:cNvPr id="19" name="Text 16"/>
          <p:cNvSpPr txBox="1"/>
          <p:nvPr/>
        </p:nvSpPr>
        <p:spPr>
          <a:xfrm>
            <a:off x="4846320" y="3127248"/>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D</a:t>
            </a:r>
            <a:endParaRPr lang="en-US" sz="1500" dirty="0"/>
          </a:p>
        </p:txBody>
      </p:sp>
      <p:sp>
        <p:nvSpPr>
          <p:cNvPr id="20" name="Text 17"/>
          <p:cNvSpPr txBox="1"/>
          <p:nvPr/>
        </p:nvSpPr>
        <p:spPr>
          <a:xfrm>
            <a:off x="5532120" y="2788920"/>
            <a:ext cx="3017520" cy="1188720"/>
          </a:xfrm>
          <a:prstGeom prst="rect">
            <a:avLst/>
          </a:prstGeom>
          <a:noFill/>
          <a:ln/>
        </p:spPr>
        <p:txBody>
          <a:bodyPr wrap="square" lIns="0" tIns="0" rIns="0" bIns="0" rtlCol="0" anchor="ctr"/>
          <a:lstStyle/>
          <a:p>
            <a:pPr marL="0" indent="0">
              <a:buNone/>
            </a:pPr>
            <a:r>
              <a:rPr lang="en-US" sz="1500" dirty="0">
                <a:solidFill>
                  <a:schemeClr val="tx1"/>
                </a:solidFill>
              </a:rPr>
              <a:t>My dream came true.</a:t>
            </a:r>
            <a:endParaRPr lang="en-US" sz="1500" dirty="0"/>
          </a:p>
        </p:txBody>
      </p:sp>
      <p:sp>
        <p:nvSpPr>
          <p:cNvPr id="21" name="Callout"/>
          <p:cNvSpPr/>
          <p:nvPr/>
        </p:nvSpPr>
        <p:spPr>
          <a:xfrm>
            <a:off x="457200" y="4160520"/>
            <a:ext cx="8229600" cy="411480"/>
          </a:xfrm>
          <a:prstGeom prst="roundRect">
            <a:avLst>
              <a:gd name="adj" fmla="val 26667"/>
            </a:avLst>
          </a:prstGeom>
          <a:solidFill>
            <a:schemeClr val="accent5"/>
          </a:solidFill>
          <a:ln w="9525">
            <a:solidFill>
              <a:schemeClr val="accent5"/>
            </a:solidFill>
            <a:prstDash val="solid"/>
          </a:ln>
        </p:spPr>
      </p:sp>
      <p:sp>
        <p:nvSpPr>
          <p:cNvPr id="22" name="Text 19"/>
          <p:cNvSpPr txBox="1"/>
          <p:nvPr/>
        </p:nvSpPr>
        <p:spPr>
          <a:xfrm>
            <a:off x="640080" y="4160520"/>
            <a:ext cx="7863840" cy="411480"/>
          </a:xfrm>
          <a:prstGeom prst="rect">
            <a:avLst/>
          </a:prstGeom>
          <a:noFill/>
          <a:ln/>
        </p:spPr>
        <p:txBody>
          <a:bodyPr wrap="square" lIns="0" tIns="0" rIns="0" bIns="0" rtlCol="0" anchor="ctr"/>
          <a:lstStyle/>
          <a:p>
            <a:pPr marL="0" indent="0" algn="ctr">
              <a:buNone/>
            </a:pPr>
            <a:r>
              <a:rPr lang="en-US" sz="1600" b="1" dirty="0">
                <a:solidFill>
                  <a:schemeClr val="tx1"/>
                </a:solidFill>
              </a:rPr>
              <a:t>Think: who is telling the story?</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Answer: the biography sentence</a:t>
            </a:r>
            <a:endParaRPr lang="en-US" sz="3000" dirty="0"/>
          </a:p>
        </p:txBody>
      </p:sp>
      <p:sp>
        <p:nvSpPr>
          <p:cNvPr id="4" name="Correct answer"/>
          <p:cNvSpPr/>
          <p:nvPr/>
        </p:nvSpPr>
        <p:spPr>
          <a:xfrm>
            <a:off x="457200" y="1051560"/>
            <a:ext cx="8229600" cy="1280160"/>
          </a:xfrm>
          <a:prstGeom prst="roundRect">
            <a:avLst>
              <a:gd name="adj" fmla="val 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640080" y="1325880"/>
            <a:ext cx="594360" cy="594360"/>
          </a:xfrm>
          <a:prstGeom prst="ellipse">
            <a:avLst/>
          </a:prstGeom>
          <a:solidFill>
            <a:schemeClr val="accent2"/>
          </a:solidFill>
          <a:ln w="6350">
            <a:solidFill>
              <a:schemeClr val="accent2"/>
            </a:solidFill>
            <a:prstDash val="solid"/>
          </a:ln>
        </p:spPr>
      </p:sp>
      <p:sp>
        <p:nvSpPr>
          <p:cNvPr id="6" name="Text 3"/>
          <p:cNvSpPr txBox="1"/>
          <p:nvPr/>
        </p:nvSpPr>
        <p:spPr>
          <a:xfrm>
            <a:off x="640080" y="1325880"/>
            <a:ext cx="594360" cy="594360"/>
          </a:xfrm>
          <a:prstGeom prst="rect">
            <a:avLst/>
          </a:prstGeom>
          <a:noFill/>
          <a:ln/>
        </p:spPr>
        <p:txBody>
          <a:bodyPr wrap="square" lIns="0" tIns="0" rIns="0" bIns="0" rtlCol="0" anchor="ctr"/>
          <a:lstStyle/>
          <a:p>
            <a:pPr marL="0" indent="0" algn="ctr">
              <a:buNone/>
            </a:pPr>
            <a:r>
              <a:rPr lang="en-US" sz="2600" b="1" dirty="0">
                <a:solidFill>
                  <a:schemeClr val="tx1"/>
                </a:solidFill>
                <a:latin typeface="+mj-lt" pitchFamily="34" charset="0"/>
                <a:ea typeface="+mj-lt" pitchFamily="34" charset="-122"/>
                <a:cs typeface="+mj-lt" pitchFamily="34" charset="-120"/>
              </a:rPr>
              <a:t>B</a:t>
            </a:r>
            <a:endParaRPr lang="en-US" sz="2600" dirty="0"/>
          </a:p>
        </p:txBody>
      </p:sp>
      <p:sp>
        <p:nvSpPr>
          <p:cNvPr id="7" name="Text 4"/>
          <p:cNvSpPr txBox="1"/>
          <p:nvPr/>
        </p:nvSpPr>
        <p:spPr>
          <a:xfrm>
            <a:off x="1463040" y="1097280"/>
            <a:ext cx="7040880" cy="685800"/>
          </a:xfrm>
          <a:prstGeom prst="rect">
            <a:avLst/>
          </a:prstGeom>
          <a:noFill/>
          <a:ln/>
        </p:spPr>
        <p:txBody>
          <a:bodyPr wrap="square" lIns="0" tIns="0" rIns="0" bIns="0" rtlCol="0" anchor="ctr"/>
          <a:lstStyle/>
          <a:p>
            <a:pPr marL="0" indent="0">
              <a:buNone/>
            </a:pPr>
            <a:r>
              <a:rPr lang="en-US" sz="1700" b="1" dirty="0">
                <a:solidFill>
                  <a:schemeClr val="tx1"/>
                </a:solidFill>
                <a:highlight>
                  <a:srgbClr val="FFD166"/>
                </a:highlight>
              </a:rPr>
              <a:t>She</a:t>
            </a:r>
            <a:r>
              <a:rPr lang="en-US" sz="1700" dirty="0">
                <a:solidFill>
                  <a:schemeClr val="tx1"/>
                </a:solidFill>
              </a:rPr>
              <a:t> was born in Milan, Italy.</a:t>
            </a:r>
            <a:endParaRPr lang="en-US" sz="1700" dirty="0"/>
          </a:p>
        </p:txBody>
      </p:sp>
      <p:sp>
        <p:nvSpPr>
          <p:cNvPr id="8" name="Text 5"/>
          <p:cNvSpPr txBox="1"/>
          <p:nvPr/>
        </p:nvSpPr>
        <p:spPr>
          <a:xfrm>
            <a:off x="1463040" y="1783080"/>
            <a:ext cx="7040880" cy="457200"/>
          </a:xfrm>
          <a:prstGeom prst="rect">
            <a:avLst/>
          </a:prstGeom>
          <a:noFill/>
          <a:ln/>
        </p:spPr>
        <p:txBody>
          <a:bodyPr wrap="square" lIns="0" tIns="0" rIns="0" bIns="0" rtlCol="0" anchor="t"/>
          <a:lstStyle/>
          <a:p>
            <a:pPr marL="0" indent="0">
              <a:buNone/>
            </a:pPr>
            <a:r>
              <a:rPr lang="en-US" sz="1400" i="1" dirty="0">
                <a:solidFill>
                  <a:schemeClr val="accent4"/>
                </a:solidFill>
              </a:rPr>
              <a:t>Third-person pronoun ‘she’: another person is telling the story.</a:t>
            </a:r>
            <a:endParaRPr lang="en-US" sz="1400" dirty="0"/>
          </a:p>
        </p:txBody>
      </p:sp>
      <p:sp>
        <p:nvSpPr>
          <p:cNvPr id="9" name="Why not A"/>
          <p:cNvSpPr/>
          <p:nvPr/>
        </p:nvSpPr>
        <p:spPr>
          <a:xfrm>
            <a:off x="457200" y="251460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48640" y="2606040"/>
            <a:ext cx="365760" cy="365760"/>
          </a:xfrm>
          <a:prstGeom prst="ellipse">
            <a:avLst/>
          </a:prstGeom>
          <a:solidFill>
            <a:schemeClr val="bg2"/>
          </a:solidFill>
          <a:ln w="6350">
            <a:solidFill>
              <a:schemeClr val="bg2"/>
            </a:solidFill>
            <a:prstDash val="solid"/>
          </a:ln>
        </p:spPr>
      </p:sp>
      <p:sp>
        <p:nvSpPr>
          <p:cNvPr id="11" name="Text 8"/>
          <p:cNvSpPr txBox="1"/>
          <p:nvPr/>
        </p:nvSpPr>
        <p:spPr>
          <a:xfrm>
            <a:off x="548640" y="260604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12" name="Text 9"/>
          <p:cNvSpPr txBox="1"/>
          <p:nvPr/>
        </p:nvSpPr>
        <p:spPr>
          <a:xfrm>
            <a:off x="1097280" y="2514600"/>
            <a:ext cx="7406640" cy="548640"/>
          </a:xfrm>
          <a:prstGeom prst="rect">
            <a:avLst/>
          </a:prstGeom>
          <a:noFill/>
          <a:ln/>
        </p:spPr>
        <p:txBody>
          <a:bodyPr wrap="square" lIns="0" tIns="0" rIns="0" bIns="0" rtlCol="0" anchor="ctr"/>
          <a:lstStyle/>
          <a:p>
            <a:pPr marL="0" indent="0">
              <a:buNone/>
            </a:pPr>
            <a:r>
              <a:rPr lang="en-US" sz="1300" dirty="0">
                <a:solidFill>
                  <a:schemeClr val="tx1"/>
                </a:solidFill>
              </a:rPr>
              <a:t>‘I’ is first person: an autobiography</a:t>
            </a:r>
            <a:endParaRPr lang="en-US" sz="1300" dirty="0"/>
          </a:p>
        </p:txBody>
      </p:sp>
      <p:sp>
        <p:nvSpPr>
          <p:cNvPr id="13" name="Why not C"/>
          <p:cNvSpPr/>
          <p:nvPr/>
        </p:nvSpPr>
        <p:spPr>
          <a:xfrm>
            <a:off x="457200" y="315468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548640" y="3246120"/>
            <a:ext cx="365760" cy="365760"/>
          </a:xfrm>
          <a:prstGeom prst="ellipse">
            <a:avLst/>
          </a:prstGeom>
          <a:solidFill>
            <a:schemeClr val="bg2"/>
          </a:solidFill>
          <a:ln w="6350">
            <a:solidFill>
              <a:schemeClr val="bg2"/>
            </a:solidFill>
            <a:prstDash val="solid"/>
          </a:ln>
        </p:spPr>
      </p:sp>
      <p:sp>
        <p:nvSpPr>
          <p:cNvPr id="15" name="Text 12"/>
          <p:cNvSpPr txBox="1"/>
          <p:nvPr/>
        </p:nvSpPr>
        <p:spPr>
          <a:xfrm>
            <a:off x="548640" y="32461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6" name="Text 13"/>
          <p:cNvSpPr txBox="1"/>
          <p:nvPr/>
        </p:nvSpPr>
        <p:spPr>
          <a:xfrm>
            <a:off x="1097280" y="3154680"/>
            <a:ext cx="7406640" cy="548640"/>
          </a:xfrm>
          <a:prstGeom prst="rect">
            <a:avLst/>
          </a:prstGeom>
          <a:noFill/>
          <a:ln/>
        </p:spPr>
        <p:txBody>
          <a:bodyPr wrap="square" lIns="0" tIns="0" rIns="0" bIns="0" rtlCol="0" anchor="ctr"/>
          <a:lstStyle/>
          <a:p>
            <a:pPr marL="0" indent="0">
              <a:buNone/>
            </a:pPr>
            <a:r>
              <a:rPr lang="en-US" sz="1300" dirty="0">
                <a:solidFill>
                  <a:schemeClr val="tx1"/>
                </a:solidFill>
              </a:rPr>
              <a:t>‘We’ is first person</a:t>
            </a:r>
            <a:endParaRPr lang="en-US" sz="1300" dirty="0"/>
          </a:p>
        </p:txBody>
      </p:sp>
      <p:sp>
        <p:nvSpPr>
          <p:cNvPr id="17" name="Why not D"/>
          <p:cNvSpPr/>
          <p:nvPr/>
        </p:nvSpPr>
        <p:spPr>
          <a:xfrm>
            <a:off x="457200" y="379476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548640" y="3886200"/>
            <a:ext cx="365760" cy="365760"/>
          </a:xfrm>
          <a:prstGeom prst="ellipse">
            <a:avLst/>
          </a:prstGeom>
          <a:solidFill>
            <a:schemeClr val="bg2"/>
          </a:solidFill>
          <a:ln w="6350">
            <a:solidFill>
              <a:schemeClr val="bg2"/>
            </a:solidFill>
            <a:prstDash val="solid"/>
          </a:ln>
        </p:spPr>
      </p:sp>
      <p:sp>
        <p:nvSpPr>
          <p:cNvPr id="19" name="Text 16"/>
          <p:cNvSpPr txBox="1"/>
          <p:nvPr/>
        </p:nvSpPr>
        <p:spPr>
          <a:xfrm>
            <a:off x="548640" y="388620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D</a:t>
            </a:r>
            <a:endParaRPr lang="en-US" sz="1500" dirty="0"/>
          </a:p>
        </p:txBody>
      </p:sp>
      <p:sp>
        <p:nvSpPr>
          <p:cNvPr id="20" name="Text 17"/>
          <p:cNvSpPr txBox="1"/>
          <p:nvPr/>
        </p:nvSpPr>
        <p:spPr>
          <a:xfrm>
            <a:off x="1097280" y="3794760"/>
            <a:ext cx="7406640" cy="548640"/>
          </a:xfrm>
          <a:prstGeom prst="rect">
            <a:avLst/>
          </a:prstGeom>
          <a:noFill/>
          <a:ln/>
        </p:spPr>
        <p:txBody>
          <a:bodyPr wrap="square" lIns="0" tIns="0" rIns="0" bIns="0" rtlCol="0" anchor="ctr"/>
          <a:lstStyle/>
          <a:p>
            <a:pPr marL="0" indent="0">
              <a:buNone/>
            </a:pPr>
            <a:r>
              <a:rPr lang="en-US" sz="1300" dirty="0">
                <a:solidFill>
                  <a:schemeClr val="tx1"/>
                </a:solidFill>
              </a:rPr>
              <a:t>‘My’ is first person</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Choose the autobiography sentence</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Choose the correct answer.</a:t>
            </a:r>
            <a:endParaRPr lang="en-US" sz="1600" dirty="0"/>
          </a:p>
        </p:txBody>
      </p:sp>
      <p:sp>
        <p:nvSpPr>
          <p:cNvPr id="5" name="Option A"/>
          <p:cNvSpPr/>
          <p:nvPr/>
        </p:nvSpPr>
        <p:spPr>
          <a:xfrm>
            <a:off x="457200" y="1463040"/>
            <a:ext cx="4023360" cy="1188720"/>
          </a:xfrm>
          <a:prstGeom prst="roundRect">
            <a:avLst>
              <a:gd name="adj" fmla="val 923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640080" y="1801368"/>
            <a:ext cx="502920" cy="502920"/>
          </a:xfrm>
          <a:prstGeom prst="ellipse">
            <a:avLst/>
          </a:prstGeom>
          <a:solidFill>
            <a:schemeClr val="accent1"/>
          </a:solidFill>
          <a:ln w="6350">
            <a:solidFill>
              <a:schemeClr val="accent1"/>
            </a:solidFill>
            <a:prstDash val="solid"/>
          </a:ln>
        </p:spPr>
      </p:sp>
      <p:sp>
        <p:nvSpPr>
          <p:cNvPr id="7" name="Text 4"/>
          <p:cNvSpPr txBox="1"/>
          <p:nvPr/>
        </p:nvSpPr>
        <p:spPr>
          <a:xfrm>
            <a:off x="640080" y="1801368"/>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8" name="Text 5"/>
          <p:cNvSpPr txBox="1"/>
          <p:nvPr/>
        </p:nvSpPr>
        <p:spPr>
          <a:xfrm>
            <a:off x="1325880" y="1463040"/>
            <a:ext cx="3017520" cy="1188720"/>
          </a:xfrm>
          <a:prstGeom prst="rect">
            <a:avLst/>
          </a:prstGeom>
          <a:noFill/>
          <a:ln/>
        </p:spPr>
        <p:txBody>
          <a:bodyPr wrap="square" lIns="0" tIns="0" rIns="0" bIns="0" rtlCol="0" anchor="ctr"/>
          <a:lstStyle/>
          <a:p>
            <a:pPr marL="0" indent="0">
              <a:buNone/>
            </a:pPr>
            <a:r>
              <a:rPr lang="en-US" sz="1500" dirty="0">
                <a:solidFill>
                  <a:schemeClr val="tx1"/>
                </a:solidFill>
              </a:rPr>
              <a:t>Samantha enjoys learning foreign languages.</a:t>
            </a:r>
            <a:endParaRPr lang="en-US" sz="1500" dirty="0"/>
          </a:p>
        </p:txBody>
      </p:sp>
      <p:sp>
        <p:nvSpPr>
          <p:cNvPr id="9" name="Option B"/>
          <p:cNvSpPr/>
          <p:nvPr/>
        </p:nvSpPr>
        <p:spPr>
          <a:xfrm>
            <a:off x="4663440" y="1463040"/>
            <a:ext cx="4023360" cy="1188720"/>
          </a:xfrm>
          <a:prstGeom prst="roundRect">
            <a:avLst>
              <a:gd name="adj" fmla="val 923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4846320" y="1801368"/>
            <a:ext cx="502920" cy="502920"/>
          </a:xfrm>
          <a:prstGeom prst="ellipse">
            <a:avLst/>
          </a:prstGeom>
          <a:solidFill>
            <a:schemeClr val="accent2"/>
          </a:solidFill>
          <a:ln w="6350">
            <a:solidFill>
              <a:schemeClr val="accent2"/>
            </a:solidFill>
            <a:prstDash val="solid"/>
          </a:ln>
        </p:spPr>
      </p:sp>
      <p:sp>
        <p:nvSpPr>
          <p:cNvPr id="11" name="Text 8"/>
          <p:cNvSpPr txBox="1"/>
          <p:nvPr/>
        </p:nvSpPr>
        <p:spPr>
          <a:xfrm>
            <a:off x="4846320" y="1801368"/>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2" name="Text 9"/>
          <p:cNvSpPr txBox="1"/>
          <p:nvPr/>
        </p:nvSpPr>
        <p:spPr>
          <a:xfrm>
            <a:off x="5532120" y="1463040"/>
            <a:ext cx="3017520" cy="1188720"/>
          </a:xfrm>
          <a:prstGeom prst="rect">
            <a:avLst/>
          </a:prstGeom>
          <a:noFill/>
          <a:ln/>
        </p:spPr>
        <p:txBody>
          <a:bodyPr wrap="square" lIns="0" tIns="0" rIns="0" bIns="0" rtlCol="0" anchor="ctr"/>
          <a:lstStyle/>
          <a:p>
            <a:pPr marL="0" indent="0">
              <a:buNone/>
            </a:pPr>
            <a:r>
              <a:rPr lang="en-US" sz="1500" dirty="0">
                <a:solidFill>
                  <a:schemeClr val="tx1"/>
                </a:solidFill>
              </a:rPr>
              <a:t>She believes anything is possible.</a:t>
            </a:r>
            <a:endParaRPr lang="en-US" sz="1500" dirty="0"/>
          </a:p>
        </p:txBody>
      </p:sp>
      <p:sp>
        <p:nvSpPr>
          <p:cNvPr id="13" name="Option C"/>
          <p:cNvSpPr/>
          <p:nvPr/>
        </p:nvSpPr>
        <p:spPr>
          <a:xfrm>
            <a:off x="457200" y="2788920"/>
            <a:ext cx="4023360" cy="1188720"/>
          </a:xfrm>
          <a:prstGeom prst="roundRect">
            <a:avLst>
              <a:gd name="adj" fmla="val 923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640080" y="3127248"/>
            <a:ext cx="502920" cy="502920"/>
          </a:xfrm>
          <a:prstGeom prst="ellipse">
            <a:avLst/>
          </a:prstGeom>
          <a:solidFill>
            <a:schemeClr val="accent3"/>
          </a:solidFill>
          <a:ln w="6350">
            <a:solidFill>
              <a:schemeClr val="accent3"/>
            </a:solidFill>
            <a:prstDash val="solid"/>
          </a:ln>
        </p:spPr>
      </p:sp>
      <p:sp>
        <p:nvSpPr>
          <p:cNvPr id="15" name="Text 12"/>
          <p:cNvSpPr txBox="1"/>
          <p:nvPr/>
        </p:nvSpPr>
        <p:spPr>
          <a:xfrm>
            <a:off x="640080" y="3127248"/>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6" name="Text 13"/>
          <p:cNvSpPr txBox="1"/>
          <p:nvPr/>
        </p:nvSpPr>
        <p:spPr>
          <a:xfrm>
            <a:off x="1325880" y="2788920"/>
            <a:ext cx="3017520" cy="1188720"/>
          </a:xfrm>
          <a:prstGeom prst="rect">
            <a:avLst/>
          </a:prstGeom>
          <a:noFill/>
          <a:ln/>
        </p:spPr>
        <p:txBody>
          <a:bodyPr wrap="square" lIns="0" tIns="0" rIns="0" bIns="0" rtlCol="0" anchor="ctr"/>
          <a:lstStyle/>
          <a:p>
            <a:pPr marL="0" indent="0">
              <a:buNone/>
            </a:pPr>
            <a:r>
              <a:rPr lang="en-US" sz="1500" dirty="0">
                <a:solidFill>
                  <a:schemeClr val="tx1"/>
                </a:solidFill>
              </a:rPr>
              <a:t>I enjoy learning foreign languages.</a:t>
            </a:r>
            <a:endParaRPr lang="en-US" sz="1500" dirty="0"/>
          </a:p>
        </p:txBody>
      </p:sp>
      <p:sp>
        <p:nvSpPr>
          <p:cNvPr id="17" name="Option D"/>
          <p:cNvSpPr/>
          <p:nvPr/>
        </p:nvSpPr>
        <p:spPr>
          <a:xfrm>
            <a:off x="4663440" y="2788920"/>
            <a:ext cx="4023360" cy="1188720"/>
          </a:xfrm>
          <a:prstGeom prst="roundRect">
            <a:avLst>
              <a:gd name="adj" fmla="val 923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4846320" y="3127248"/>
            <a:ext cx="502920" cy="502920"/>
          </a:xfrm>
          <a:prstGeom prst="ellipse">
            <a:avLst/>
          </a:prstGeom>
          <a:solidFill>
            <a:schemeClr val="accent4"/>
          </a:solidFill>
          <a:ln w="6350">
            <a:solidFill>
              <a:schemeClr val="accent4"/>
            </a:solidFill>
            <a:prstDash val="solid"/>
          </a:ln>
        </p:spPr>
      </p:sp>
      <p:sp>
        <p:nvSpPr>
          <p:cNvPr id="19" name="Text 16"/>
          <p:cNvSpPr txBox="1"/>
          <p:nvPr/>
        </p:nvSpPr>
        <p:spPr>
          <a:xfrm>
            <a:off x="4846320" y="3127248"/>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D</a:t>
            </a:r>
            <a:endParaRPr lang="en-US" sz="1500" dirty="0"/>
          </a:p>
        </p:txBody>
      </p:sp>
      <p:sp>
        <p:nvSpPr>
          <p:cNvPr id="20" name="Text 17"/>
          <p:cNvSpPr txBox="1"/>
          <p:nvPr/>
        </p:nvSpPr>
        <p:spPr>
          <a:xfrm>
            <a:off x="5532120" y="2788920"/>
            <a:ext cx="3017520" cy="1188720"/>
          </a:xfrm>
          <a:prstGeom prst="rect">
            <a:avLst/>
          </a:prstGeom>
          <a:noFill/>
          <a:ln/>
        </p:spPr>
        <p:txBody>
          <a:bodyPr wrap="square" lIns="0" tIns="0" rIns="0" bIns="0" rtlCol="0" anchor="ctr"/>
          <a:lstStyle/>
          <a:p>
            <a:pPr marL="0" indent="0">
              <a:buNone/>
            </a:pPr>
            <a:r>
              <a:rPr lang="en-US" sz="1500" dirty="0">
                <a:solidFill>
                  <a:schemeClr val="tx1"/>
                </a:solidFill>
              </a:rPr>
              <a:t>Her current challenge is Chinese.</a:t>
            </a:r>
            <a:endParaRPr lang="en-US" sz="1500" dirty="0"/>
          </a:p>
        </p:txBody>
      </p:sp>
      <p:sp>
        <p:nvSpPr>
          <p:cNvPr id="21" name="Callout"/>
          <p:cNvSpPr/>
          <p:nvPr/>
        </p:nvSpPr>
        <p:spPr>
          <a:xfrm>
            <a:off x="457200" y="4160520"/>
            <a:ext cx="8229600" cy="411480"/>
          </a:xfrm>
          <a:prstGeom prst="roundRect">
            <a:avLst>
              <a:gd name="adj" fmla="val 26667"/>
            </a:avLst>
          </a:prstGeom>
          <a:solidFill>
            <a:schemeClr val="accent5"/>
          </a:solidFill>
          <a:ln w="9525">
            <a:solidFill>
              <a:schemeClr val="accent5"/>
            </a:solidFill>
            <a:prstDash val="solid"/>
          </a:ln>
        </p:spPr>
      </p:sp>
      <p:sp>
        <p:nvSpPr>
          <p:cNvPr id="22" name="Text 19"/>
          <p:cNvSpPr txBox="1"/>
          <p:nvPr/>
        </p:nvSpPr>
        <p:spPr>
          <a:xfrm>
            <a:off x="640080" y="4160520"/>
            <a:ext cx="7863840" cy="411480"/>
          </a:xfrm>
          <a:prstGeom prst="rect">
            <a:avLst/>
          </a:prstGeom>
          <a:noFill/>
          <a:ln/>
        </p:spPr>
        <p:txBody>
          <a:bodyPr wrap="square" lIns="0" tIns="0" rIns="0" bIns="0" rtlCol="0" anchor="ctr"/>
          <a:lstStyle/>
          <a:p>
            <a:pPr marL="0" indent="0" algn="ctr">
              <a:buNone/>
            </a:pPr>
            <a:r>
              <a:rPr lang="en-US" sz="1600" b="1" dirty="0">
                <a:solidFill>
                  <a:schemeClr val="tx1"/>
                </a:solidFill>
              </a:rPr>
              <a:t>Think: which pronoun is the writer using?</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Answer: the autobiography sentence</a:t>
            </a:r>
            <a:endParaRPr lang="en-US" sz="3000" dirty="0"/>
          </a:p>
        </p:txBody>
      </p:sp>
      <p:sp>
        <p:nvSpPr>
          <p:cNvPr id="4" name="Correct answer"/>
          <p:cNvSpPr/>
          <p:nvPr/>
        </p:nvSpPr>
        <p:spPr>
          <a:xfrm>
            <a:off x="457200" y="1051560"/>
            <a:ext cx="8229600" cy="1280160"/>
          </a:xfrm>
          <a:prstGeom prst="roundRect">
            <a:avLst>
              <a:gd name="adj" fmla="val 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640080" y="1325880"/>
            <a:ext cx="594360" cy="594360"/>
          </a:xfrm>
          <a:prstGeom prst="ellipse">
            <a:avLst/>
          </a:prstGeom>
          <a:solidFill>
            <a:schemeClr val="accent2"/>
          </a:solidFill>
          <a:ln w="6350">
            <a:solidFill>
              <a:schemeClr val="accent2"/>
            </a:solidFill>
            <a:prstDash val="solid"/>
          </a:ln>
        </p:spPr>
      </p:sp>
      <p:sp>
        <p:nvSpPr>
          <p:cNvPr id="6" name="Text 3"/>
          <p:cNvSpPr txBox="1"/>
          <p:nvPr/>
        </p:nvSpPr>
        <p:spPr>
          <a:xfrm>
            <a:off x="640080" y="1325880"/>
            <a:ext cx="594360" cy="594360"/>
          </a:xfrm>
          <a:prstGeom prst="rect">
            <a:avLst/>
          </a:prstGeom>
          <a:noFill/>
          <a:ln/>
        </p:spPr>
        <p:txBody>
          <a:bodyPr wrap="square" lIns="0" tIns="0" rIns="0" bIns="0" rtlCol="0" anchor="ctr"/>
          <a:lstStyle/>
          <a:p>
            <a:pPr marL="0" indent="0" algn="ctr">
              <a:buNone/>
            </a:pPr>
            <a:r>
              <a:rPr lang="en-US" sz="2600" b="1" dirty="0">
                <a:solidFill>
                  <a:schemeClr val="tx1"/>
                </a:solidFill>
                <a:latin typeface="+mj-lt" pitchFamily="34" charset="0"/>
                <a:ea typeface="+mj-lt" pitchFamily="34" charset="-122"/>
                <a:cs typeface="+mj-lt" pitchFamily="34" charset="-120"/>
              </a:rPr>
              <a:t>C</a:t>
            </a:r>
            <a:endParaRPr lang="en-US" sz="2600" dirty="0"/>
          </a:p>
        </p:txBody>
      </p:sp>
      <p:sp>
        <p:nvSpPr>
          <p:cNvPr id="7" name="Text 4"/>
          <p:cNvSpPr txBox="1"/>
          <p:nvPr/>
        </p:nvSpPr>
        <p:spPr>
          <a:xfrm>
            <a:off x="1463040" y="1097280"/>
            <a:ext cx="7040880" cy="685800"/>
          </a:xfrm>
          <a:prstGeom prst="rect">
            <a:avLst/>
          </a:prstGeom>
          <a:noFill/>
          <a:ln/>
        </p:spPr>
        <p:txBody>
          <a:bodyPr wrap="square" lIns="0" tIns="0" rIns="0" bIns="0" rtlCol="0" anchor="ctr"/>
          <a:lstStyle/>
          <a:p>
            <a:pPr marL="0" indent="0">
              <a:buNone/>
            </a:pPr>
            <a:r>
              <a:rPr lang="en-US" sz="1700" b="1" dirty="0">
                <a:solidFill>
                  <a:schemeClr val="tx1"/>
                </a:solidFill>
                <a:highlight>
                  <a:srgbClr val="FFD166"/>
                </a:highlight>
              </a:rPr>
              <a:t>I</a:t>
            </a:r>
            <a:r>
              <a:rPr lang="en-US" sz="1700" dirty="0">
                <a:solidFill>
                  <a:schemeClr val="tx1"/>
                </a:solidFill>
              </a:rPr>
              <a:t> enjoy learning foreign languages.</a:t>
            </a:r>
            <a:endParaRPr lang="en-US" sz="1700" dirty="0"/>
          </a:p>
        </p:txBody>
      </p:sp>
      <p:sp>
        <p:nvSpPr>
          <p:cNvPr id="8" name="Text 5"/>
          <p:cNvSpPr txBox="1"/>
          <p:nvPr/>
        </p:nvSpPr>
        <p:spPr>
          <a:xfrm>
            <a:off x="1463040" y="1783080"/>
            <a:ext cx="7040880" cy="457200"/>
          </a:xfrm>
          <a:prstGeom prst="rect">
            <a:avLst/>
          </a:prstGeom>
          <a:noFill/>
          <a:ln/>
        </p:spPr>
        <p:txBody>
          <a:bodyPr wrap="square" lIns="0" tIns="0" rIns="0" bIns="0" rtlCol="0" anchor="t"/>
          <a:lstStyle/>
          <a:p>
            <a:pPr marL="0" indent="0">
              <a:buNone/>
            </a:pPr>
            <a:r>
              <a:rPr lang="en-US" sz="1400" i="1" dirty="0">
                <a:solidFill>
                  <a:schemeClr val="accent4"/>
                </a:solidFill>
              </a:rPr>
              <a:t>First-person pronoun ‘I’: the writer is telling their own story.</a:t>
            </a:r>
            <a:endParaRPr lang="en-US" sz="1400" dirty="0"/>
          </a:p>
        </p:txBody>
      </p:sp>
      <p:sp>
        <p:nvSpPr>
          <p:cNvPr id="9" name="Why not A"/>
          <p:cNvSpPr/>
          <p:nvPr/>
        </p:nvSpPr>
        <p:spPr>
          <a:xfrm>
            <a:off x="457200" y="251460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48640" y="2606040"/>
            <a:ext cx="365760" cy="365760"/>
          </a:xfrm>
          <a:prstGeom prst="ellipse">
            <a:avLst/>
          </a:prstGeom>
          <a:solidFill>
            <a:schemeClr val="bg2"/>
          </a:solidFill>
          <a:ln w="6350">
            <a:solidFill>
              <a:schemeClr val="bg2"/>
            </a:solidFill>
            <a:prstDash val="solid"/>
          </a:ln>
        </p:spPr>
      </p:sp>
      <p:sp>
        <p:nvSpPr>
          <p:cNvPr id="11" name="Text 8"/>
          <p:cNvSpPr txBox="1"/>
          <p:nvPr/>
        </p:nvSpPr>
        <p:spPr>
          <a:xfrm>
            <a:off x="548640" y="260604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12" name="Text 9"/>
          <p:cNvSpPr txBox="1"/>
          <p:nvPr/>
        </p:nvSpPr>
        <p:spPr>
          <a:xfrm>
            <a:off x="1097280" y="2514600"/>
            <a:ext cx="7406640" cy="548640"/>
          </a:xfrm>
          <a:prstGeom prst="rect">
            <a:avLst/>
          </a:prstGeom>
          <a:noFill/>
          <a:ln/>
        </p:spPr>
        <p:txBody>
          <a:bodyPr wrap="square" lIns="0" tIns="0" rIns="0" bIns="0" rtlCol="0" anchor="ctr"/>
          <a:lstStyle/>
          <a:p>
            <a:pPr marL="0" indent="0">
              <a:buNone/>
            </a:pPr>
            <a:r>
              <a:rPr lang="en-US" sz="1300" dirty="0">
                <a:solidFill>
                  <a:schemeClr val="tx1"/>
                </a:solidFill>
              </a:rPr>
              <a:t>uses the name ‘Samantha’: third person</a:t>
            </a:r>
            <a:endParaRPr lang="en-US" sz="1300" dirty="0"/>
          </a:p>
        </p:txBody>
      </p:sp>
      <p:sp>
        <p:nvSpPr>
          <p:cNvPr id="13" name="Why not B"/>
          <p:cNvSpPr/>
          <p:nvPr/>
        </p:nvSpPr>
        <p:spPr>
          <a:xfrm>
            <a:off x="457200" y="315468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548640" y="3246120"/>
            <a:ext cx="365760" cy="365760"/>
          </a:xfrm>
          <a:prstGeom prst="ellipse">
            <a:avLst/>
          </a:prstGeom>
          <a:solidFill>
            <a:schemeClr val="bg2"/>
          </a:solidFill>
          <a:ln w="6350">
            <a:solidFill>
              <a:schemeClr val="bg2"/>
            </a:solidFill>
            <a:prstDash val="solid"/>
          </a:ln>
        </p:spPr>
      </p:sp>
      <p:sp>
        <p:nvSpPr>
          <p:cNvPr id="15" name="Text 12"/>
          <p:cNvSpPr txBox="1"/>
          <p:nvPr/>
        </p:nvSpPr>
        <p:spPr>
          <a:xfrm>
            <a:off x="548640" y="32461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6" name="Text 13"/>
          <p:cNvSpPr txBox="1"/>
          <p:nvPr/>
        </p:nvSpPr>
        <p:spPr>
          <a:xfrm>
            <a:off x="1097280" y="3154680"/>
            <a:ext cx="7406640" cy="548640"/>
          </a:xfrm>
          <a:prstGeom prst="rect">
            <a:avLst/>
          </a:prstGeom>
          <a:noFill/>
          <a:ln/>
        </p:spPr>
        <p:txBody>
          <a:bodyPr wrap="square" lIns="0" tIns="0" rIns="0" bIns="0" rtlCol="0" anchor="ctr"/>
          <a:lstStyle/>
          <a:p>
            <a:pPr marL="0" indent="0">
              <a:buNone/>
            </a:pPr>
            <a:r>
              <a:rPr lang="en-US" sz="1300" dirty="0">
                <a:solidFill>
                  <a:schemeClr val="tx1"/>
                </a:solidFill>
              </a:rPr>
              <a:t>‘She’ is third person</a:t>
            </a:r>
            <a:endParaRPr lang="en-US" sz="1300" dirty="0"/>
          </a:p>
        </p:txBody>
      </p:sp>
      <p:sp>
        <p:nvSpPr>
          <p:cNvPr id="17" name="Why not D"/>
          <p:cNvSpPr/>
          <p:nvPr/>
        </p:nvSpPr>
        <p:spPr>
          <a:xfrm>
            <a:off x="457200" y="379476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548640" y="3886200"/>
            <a:ext cx="365760" cy="365760"/>
          </a:xfrm>
          <a:prstGeom prst="ellipse">
            <a:avLst/>
          </a:prstGeom>
          <a:solidFill>
            <a:schemeClr val="bg2"/>
          </a:solidFill>
          <a:ln w="6350">
            <a:solidFill>
              <a:schemeClr val="bg2"/>
            </a:solidFill>
            <a:prstDash val="solid"/>
          </a:ln>
        </p:spPr>
      </p:sp>
      <p:sp>
        <p:nvSpPr>
          <p:cNvPr id="19" name="Text 16"/>
          <p:cNvSpPr txBox="1"/>
          <p:nvPr/>
        </p:nvSpPr>
        <p:spPr>
          <a:xfrm>
            <a:off x="548640" y="388620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D</a:t>
            </a:r>
            <a:endParaRPr lang="en-US" sz="1500" dirty="0"/>
          </a:p>
        </p:txBody>
      </p:sp>
      <p:sp>
        <p:nvSpPr>
          <p:cNvPr id="20" name="Text 17"/>
          <p:cNvSpPr txBox="1"/>
          <p:nvPr/>
        </p:nvSpPr>
        <p:spPr>
          <a:xfrm>
            <a:off x="1097280" y="3794760"/>
            <a:ext cx="7406640" cy="548640"/>
          </a:xfrm>
          <a:prstGeom prst="rect">
            <a:avLst/>
          </a:prstGeom>
          <a:noFill/>
          <a:ln/>
        </p:spPr>
        <p:txBody>
          <a:bodyPr wrap="square" lIns="0" tIns="0" rIns="0" bIns="0" rtlCol="0" anchor="ctr"/>
          <a:lstStyle/>
          <a:p>
            <a:pPr marL="0" indent="0">
              <a:buNone/>
            </a:pPr>
            <a:r>
              <a:rPr lang="en-US" sz="1300" dirty="0">
                <a:solidFill>
                  <a:schemeClr val="tx1"/>
                </a:solidFill>
              </a:rPr>
              <a:t>‘Her’ is third person</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art chip"/>
          <p:cNvSpPr/>
          <p:nvPr/>
        </p:nvSpPr>
        <p:spPr>
          <a:xfrm>
            <a:off x="731520" y="1417320"/>
            <a:ext cx="1371600" cy="347472"/>
          </a:xfrm>
          <a:prstGeom prst="roundRect">
            <a:avLst>
              <a:gd name="adj" fmla="val 31579"/>
            </a:avLst>
          </a:prstGeom>
          <a:solidFill>
            <a:schemeClr val="accent1"/>
          </a:solidFill>
          <a:ln w="9525">
            <a:solidFill>
              <a:schemeClr val="accent1"/>
            </a:solidFill>
            <a:prstDash val="solid"/>
          </a:ln>
        </p:spPr>
      </p:sp>
      <p:sp>
        <p:nvSpPr>
          <p:cNvPr id="3" name="Text 1"/>
          <p:cNvSpPr txBox="1"/>
          <p:nvPr/>
        </p:nvSpPr>
        <p:spPr>
          <a:xfrm>
            <a:off x="731520" y="1417320"/>
            <a:ext cx="1371600" cy="347472"/>
          </a:xfrm>
          <a:prstGeom prst="rect">
            <a:avLst/>
          </a:prstGeom>
          <a:noFill/>
          <a:ln/>
        </p:spPr>
        <p:txBody>
          <a:bodyPr wrap="square" lIns="0" tIns="0" rIns="0" bIns="0" rtlCol="0" anchor="ctr"/>
          <a:lstStyle/>
          <a:p>
            <a:pPr marL="0" indent="0" algn="ctr">
              <a:buNone/>
            </a:pPr>
            <a:r>
              <a:rPr lang="en-US" sz="1300" b="1" dirty="0">
                <a:solidFill>
                  <a:schemeClr val="tx1"/>
                </a:solidFill>
              </a:rPr>
              <a:t>PART 2</a:t>
            </a:r>
            <a:endParaRPr lang="en-US" sz="1300" dirty="0"/>
          </a:p>
        </p:txBody>
      </p:sp>
      <p:sp>
        <p:nvSpPr>
          <p:cNvPr id="4" name="Text 2"/>
          <p:cNvSpPr txBox="1"/>
          <p:nvPr/>
        </p:nvSpPr>
        <p:spPr>
          <a:xfrm>
            <a:off x="731520" y="1920240"/>
            <a:ext cx="5486400" cy="1005840"/>
          </a:xfrm>
          <a:prstGeom prst="rect">
            <a:avLst/>
          </a:prstGeom>
          <a:noFill/>
          <a:ln/>
        </p:spPr>
        <p:txBody>
          <a:bodyPr wrap="square" lIns="0" tIns="0" rIns="0" bIns="0" rtlCol="0" anchor="ctr"/>
          <a:lstStyle/>
          <a:p>
            <a:pPr marL="0" indent="0">
              <a:buNone/>
            </a:pPr>
            <a:r>
              <a:rPr lang="en-US" sz="3800" b="1" dirty="0">
                <a:solidFill>
                  <a:schemeClr val="accent5"/>
                </a:solidFill>
                <a:latin typeface="+mj-lt" pitchFamily="34" charset="0"/>
                <a:ea typeface="+mj-lt" pitchFamily="34" charset="-122"/>
                <a:cs typeface="+mj-lt" pitchFamily="34" charset="-120"/>
              </a:rPr>
              <a:t>Words to Know</a:t>
            </a:r>
            <a:endParaRPr lang="en-US" sz="3800" dirty="0"/>
          </a:p>
        </p:txBody>
      </p:sp>
      <p:sp>
        <p:nvSpPr>
          <p:cNvPr id="5" name="Text 3"/>
          <p:cNvSpPr txBox="1"/>
          <p:nvPr/>
        </p:nvSpPr>
        <p:spPr>
          <a:xfrm>
            <a:off x="731520" y="3017520"/>
            <a:ext cx="5120640" cy="457200"/>
          </a:xfrm>
          <a:prstGeom prst="rect">
            <a:avLst/>
          </a:prstGeom>
          <a:noFill/>
          <a:ln/>
        </p:spPr>
        <p:txBody>
          <a:bodyPr wrap="square" lIns="0" tIns="0" rIns="0" bIns="0" rtlCol="0" anchor="ctr"/>
          <a:lstStyle/>
          <a:p>
            <a:pPr marL="0" indent="0">
              <a:buNone/>
            </a:pPr>
            <a:r>
              <a:rPr lang="en-US" sz="1800" i="1" dirty="0">
                <a:solidFill>
                  <a:schemeClr val="bg1"/>
                </a:solidFill>
              </a:rPr>
              <a:t>Glossary words + Activity 3e</a:t>
            </a:r>
            <a:endParaRPr lang="en-US" sz="18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1"/>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context to work out a word</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Remember to use the context of a word to work out its meaning. Ask yourself:</a:t>
            </a:r>
            <a:endParaRPr lang="en-US" sz="1600" dirty="0"/>
          </a:p>
        </p:txBody>
      </p:sp>
      <p:sp>
        <p:nvSpPr>
          <p:cNvPr id="5" name="Clue 1"/>
          <p:cNvSpPr/>
          <p:nvPr/>
        </p:nvSpPr>
        <p:spPr>
          <a:xfrm>
            <a:off x="457200" y="1508760"/>
            <a:ext cx="2651760" cy="2286000"/>
          </a:xfrm>
          <a:prstGeom prst="roundRect">
            <a:avLst>
              <a:gd name="adj" fmla="val 48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640080" y="1645920"/>
            <a:ext cx="457200" cy="457200"/>
          </a:xfrm>
          <a:prstGeom prst="ellipse">
            <a:avLst/>
          </a:prstGeom>
          <a:solidFill>
            <a:schemeClr val="accent1"/>
          </a:solidFill>
          <a:ln w="6350">
            <a:solidFill>
              <a:schemeClr val="accent1"/>
            </a:solidFill>
            <a:prstDash val="solid"/>
          </a:ln>
        </p:spPr>
      </p:sp>
      <p:sp>
        <p:nvSpPr>
          <p:cNvPr id="7" name="Text 4"/>
          <p:cNvSpPr txBox="1"/>
          <p:nvPr/>
        </p:nvSpPr>
        <p:spPr>
          <a:xfrm>
            <a:off x="640080" y="164592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8" name="Text 5"/>
          <p:cNvSpPr txBox="1"/>
          <p:nvPr/>
        </p:nvSpPr>
        <p:spPr>
          <a:xfrm>
            <a:off x="640080" y="2240280"/>
            <a:ext cx="2286000" cy="73152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How does it fit into the sentence?</a:t>
            </a:r>
            <a:endParaRPr lang="en-US" sz="1600" dirty="0"/>
          </a:p>
        </p:txBody>
      </p:sp>
      <p:sp>
        <p:nvSpPr>
          <p:cNvPr id="9" name="Text 6"/>
          <p:cNvSpPr txBox="1"/>
          <p:nvPr/>
        </p:nvSpPr>
        <p:spPr>
          <a:xfrm>
            <a:off x="640080" y="3017520"/>
            <a:ext cx="2286000" cy="731520"/>
          </a:xfrm>
          <a:prstGeom prst="rect">
            <a:avLst/>
          </a:prstGeom>
          <a:noFill/>
          <a:ln/>
        </p:spPr>
        <p:txBody>
          <a:bodyPr wrap="square" lIns="0" tIns="0" rIns="0" bIns="0" rtlCol="0" anchor="t"/>
          <a:lstStyle/>
          <a:p>
            <a:pPr marL="0" indent="0">
              <a:buNone/>
            </a:pPr>
            <a:r>
              <a:rPr lang="en-US" sz="1300" i="1" dirty="0">
                <a:solidFill>
                  <a:schemeClr val="tx2"/>
                </a:solidFill>
              </a:rPr>
              <a:t>‘she ______ experiments’: it is a verb, an action</a:t>
            </a:r>
            <a:endParaRPr lang="en-US" sz="1300" dirty="0"/>
          </a:p>
        </p:txBody>
      </p:sp>
      <p:sp>
        <p:nvSpPr>
          <p:cNvPr id="10" name="Clue 2"/>
          <p:cNvSpPr/>
          <p:nvPr/>
        </p:nvSpPr>
        <p:spPr>
          <a:xfrm>
            <a:off x="3246120" y="1508760"/>
            <a:ext cx="2651760" cy="2286000"/>
          </a:xfrm>
          <a:prstGeom prst="roundRect">
            <a:avLst>
              <a:gd name="adj" fmla="val 48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1" name="Badge"/>
          <p:cNvSpPr/>
          <p:nvPr/>
        </p:nvSpPr>
        <p:spPr>
          <a:xfrm>
            <a:off x="3429000" y="1645920"/>
            <a:ext cx="457200" cy="457200"/>
          </a:xfrm>
          <a:prstGeom prst="ellipse">
            <a:avLst/>
          </a:prstGeom>
          <a:solidFill>
            <a:schemeClr val="accent2"/>
          </a:solidFill>
          <a:ln w="6350">
            <a:solidFill>
              <a:schemeClr val="accent2"/>
            </a:solidFill>
            <a:prstDash val="solid"/>
          </a:ln>
        </p:spPr>
      </p:sp>
      <p:sp>
        <p:nvSpPr>
          <p:cNvPr id="12" name="Text 9"/>
          <p:cNvSpPr txBox="1"/>
          <p:nvPr/>
        </p:nvSpPr>
        <p:spPr>
          <a:xfrm>
            <a:off x="3429000" y="164592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3" name="Text 10"/>
          <p:cNvSpPr txBox="1"/>
          <p:nvPr/>
        </p:nvSpPr>
        <p:spPr>
          <a:xfrm>
            <a:off x="3429000" y="2240280"/>
            <a:ext cx="2286000" cy="73152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How does the sentence fit the topic?</a:t>
            </a:r>
            <a:endParaRPr lang="en-US" sz="1600" dirty="0"/>
          </a:p>
        </p:txBody>
      </p:sp>
      <p:sp>
        <p:nvSpPr>
          <p:cNvPr id="14" name="Text 11"/>
          <p:cNvSpPr txBox="1"/>
          <p:nvPr/>
        </p:nvSpPr>
        <p:spPr>
          <a:xfrm>
            <a:off x="3429000" y="3017520"/>
            <a:ext cx="2286000" cy="731520"/>
          </a:xfrm>
          <a:prstGeom prst="rect">
            <a:avLst/>
          </a:prstGeom>
          <a:noFill/>
          <a:ln/>
        </p:spPr>
        <p:txBody>
          <a:bodyPr wrap="square" lIns="0" tIns="0" rIns="0" bIns="0" rtlCol="0" anchor="t"/>
          <a:lstStyle/>
          <a:p>
            <a:pPr marL="0" indent="0">
              <a:buNone/>
            </a:pPr>
            <a:r>
              <a:rPr lang="en-US" sz="1300" i="1" dirty="0">
                <a:solidFill>
                  <a:schemeClr val="tx2"/>
                </a:solidFill>
              </a:rPr>
              <a:t>the topic is life on the ISS: scientists do experiments</a:t>
            </a:r>
            <a:endParaRPr lang="en-US" sz="1300" dirty="0"/>
          </a:p>
        </p:txBody>
      </p:sp>
      <p:sp>
        <p:nvSpPr>
          <p:cNvPr id="15" name="Clue 3"/>
          <p:cNvSpPr/>
          <p:nvPr/>
        </p:nvSpPr>
        <p:spPr>
          <a:xfrm>
            <a:off x="6035040" y="1508760"/>
            <a:ext cx="2651760" cy="2286000"/>
          </a:xfrm>
          <a:prstGeom prst="roundRect">
            <a:avLst>
              <a:gd name="adj" fmla="val 48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6" name="Badge"/>
          <p:cNvSpPr/>
          <p:nvPr/>
        </p:nvSpPr>
        <p:spPr>
          <a:xfrm>
            <a:off x="6217920" y="1645920"/>
            <a:ext cx="457200" cy="457200"/>
          </a:xfrm>
          <a:prstGeom prst="ellipse">
            <a:avLst/>
          </a:prstGeom>
          <a:solidFill>
            <a:schemeClr val="accent3"/>
          </a:solidFill>
          <a:ln w="6350">
            <a:solidFill>
              <a:schemeClr val="accent3"/>
            </a:solidFill>
            <a:prstDash val="solid"/>
          </a:ln>
        </p:spPr>
      </p:sp>
      <p:sp>
        <p:nvSpPr>
          <p:cNvPr id="17" name="Text 14"/>
          <p:cNvSpPr txBox="1"/>
          <p:nvPr/>
        </p:nvSpPr>
        <p:spPr>
          <a:xfrm>
            <a:off x="6217920" y="164592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8" name="Text 15"/>
          <p:cNvSpPr txBox="1"/>
          <p:nvPr/>
        </p:nvSpPr>
        <p:spPr>
          <a:xfrm>
            <a:off x="6217920" y="2240280"/>
            <a:ext cx="2286000" cy="73152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What could it mean?</a:t>
            </a:r>
            <a:endParaRPr lang="en-US" sz="1600" dirty="0"/>
          </a:p>
        </p:txBody>
      </p:sp>
      <p:sp>
        <p:nvSpPr>
          <p:cNvPr id="19" name="Text 16"/>
          <p:cNvSpPr txBox="1"/>
          <p:nvPr/>
        </p:nvSpPr>
        <p:spPr>
          <a:xfrm>
            <a:off x="6217920" y="3017520"/>
            <a:ext cx="2286000" cy="731520"/>
          </a:xfrm>
          <a:prstGeom prst="rect">
            <a:avLst/>
          </a:prstGeom>
          <a:noFill/>
          <a:ln/>
        </p:spPr>
        <p:txBody>
          <a:bodyPr wrap="square" lIns="0" tIns="0" rIns="0" bIns="0" rtlCol="0" anchor="t"/>
          <a:lstStyle/>
          <a:p>
            <a:pPr marL="0" indent="0">
              <a:buNone/>
            </a:pPr>
            <a:r>
              <a:rPr lang="en-US" sz="1300" i="1" dirty="0">
                <a:solidFill>
                  <a:schemeClr val="tx2"/>
                </a:solidFill>
              </a:rPr>
              <a:t>do / carry out: ‘conducted’ = carried out</a:t>
            </a:r>
            <a:endParaRPr lang="en-US" sz="1300" dirty="0"/>
          </a:p>
        </p:txBody>
      </p:sp>
      <p:sp>
        <p:nvSpPr>
          <p:cNvPr id="20" name="Callout"/>
          <p:cNvSpPr/>
          <p:nvPr/>
        </p:nvSpPr>
        <p:spPr>
          <a:xfrm>
            <a:off x="457200" y="4023360"/>
            <a:ext cx="8229600" cy="457200"/>
          </a:xfrm>
          <a:prstGeom prst="roundRect">
            <a:avLst>
              <a:gd name="adj" fmla="val 24000"/>
            </a:avLst>
          </a:prstGeom>
          <a:solidFill>
            <a:schemeClr val="accent5"/>
          </a:solidFill>
          <a:ln w="9525">
            <a:solidFill>
              <a:schemeClr val="accent5"/>
            </a:solidFill>
            <a:prstDash val="solid"/>
          </a:ln>
        </p:spPr>
      </p:sp>
      <p:sp>
        <p:nvSpPr>
          <p:cNvPr id="21" name="Text 18"/>
          <p:cNvSpPr txBox="1"/>
          <p:nvPr/>
        </p:nvSpPr>
        <p:spPr>
          <a:xfrm>
            <a:off x="640080" y="4023360"/>
            <a:ext cx="7863840" cy="457200"/>
          </a:xfrm>
          <a:prstGeom prst="rect">
            <a:avLst/>
          </a:prstGeom>
          <a:noFill/>
          <a:ln/>
        </p:spPr>
        <p:txBody>
          <a:bodyPr wrap="square" lIns="0" tIns="0" rIns="0" bIns="0" rtlCol="0" anchor="ctr"/>
          <a:lstStyle/>
          <a:p>
            <a:pPr marL="0" indent="0" algn="ctr">
              <a:buNone/>
            </a:pPr>
            <a:r>
              <a:rPr lang="en-US" sz="1600" b="1" dirty="0">
                <a:solidFill>
                  <a:schemeClr val="tx1"/>
                </a:solidFill>
              </a:rPr>
              <a:t>Try it: ‘Samantha was assigned to fly on the Soyuz.’</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Words in the text</a:t>
            </a:r>
            <a:endParaRPr lang="en-US" sz="3000" dirty="0"/>
          </a:p>
        </p:txBody>
      </p:sp>
      <p:sp>
        <p:nvSpPr>
          <p:cNvPr id="4" name="Glossary words"/>
          <p:cNvSpPr/>
          <p:nvPr/>
        </p:nvSpPr>
        <p:spPr>
          <a:xfrm>
            <a:off x="457200" y="1097280"/>
            <a:ext cx="4023360" cy="2651760"/>
          </a:xfrm>
          <a:prstGeom prst="roundRect">
            <a:avLst>
              <a:gd name="adj" fmla="val 413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Text 2"/>
          <p:cNvSpPr txBox="1"/>
          <p:nvPr/>
        </p:nvSpPr>
        <p:spPr>
          <a:xfrm>
            <a:off x="640080" y="1188720"/>
            <a:ext cx="3657600" cy="274320"/>
          </a:xfrm>
          <a:prstGeom prst="rect">
            <a:avLst/>
          </a:prstGeom>
          <a:noFill/>
          <a:ln/>
        </p:spPr>
        <p:txBody>
          <a:bodyPr wrap="square" lIns="0" tIns="0" rIns="0" bIns="0" rtlCol="0" anchor="ctr"/>
          <a:lstStyle/>
          <a:p>
            <a:pPr marL="0" indent="0">
              <a:buNone/>
            </a:pPr>
            <a:r>
              <a:rPr lang="en-US" sz="1300" b="1" dirty="0">
                <a:solidFill>
                  <a:schemeClr val="accent4"/>
                </a:solidFill>
              </a:rPr>
              <a:t>GLOSSARY WORDS</a:t>
            </a:r>
            <a:endParaRPr lang="en-US" sz="1300" dirty="0"/>
          </a:p>
        </p:txBody>
      </p:sp>
      <p:sp>
        <p:nvSpPr>
          <p:cNvPr id="6" name="Word chip"/>
          <p:cNvSpPr/>
          <p:nvPr/>
        </p:nvSpPr>
        <p:spPr>
          <a:xfrm>
            <a:off x="640080" y="1645920"/>
            <a:ext cx="3657600" cy="685800"/>
          </a:xfrm>
          <a:prstGeom prst="roundRect">
            <a:avLst>
              <a:gd name="adj" fmla="val 13333"/>
            </a:avLst>
          </a:prstGeom>
          <a:solidFill>
            <a:schemeClr val="accent1"/>
          </a:solidFill>
          <a:ln w="6350">
            <a:solidFill>
              <a:schemeClr val="accent1"/>
            </a:solidFill>
            <a:prstDash val="solid"/>
          </a:ln>
        </p:spPr>
      </p:sp>
      <p:sp>
        <p:nvSpPr>
          <p:cNvPr id="7" name="Text 4"/>
          <p:cNvSpPr txBox="1"/>
          <p:nvPr/>
        </p:nvSpPr>
        <p:spPr>
          <a:xfrm>
            <a:off x="640080" y="1645920"/>
            <a:ext cx="3657600" cy="685800"/>
          </a:xfrm>
          <a:prstGeom prst="rect">
            <a:avLst/>
          </a:prstGeom>
          <a:noFill/>
          <a:ln/>
        </p:spPr>
        <p:txBody>
          <a:bodyPr wrap="square" lIns="0" tIns="0" rIns="0" bIns="0" rtlCol="0" anchor="ctr"/>
          <a:lstStyle/>
          <a:p>
            <a:pPr marL="0" indent="0" algn="ctr">
              <a:buNone/>
            </a:pPr>
            <a:r>
              <a:rPr lang="en-US" sz="2200" b="1" dirty="0">
                <a:solidFill>
                  <a:schemeClr val="tx1"/>
                </a:solidFill>
                <a:latin typeface="+mj-lt" pitchFamily="34" charset="0"/>
                <a:ea typeface="+mj-lt" pitchFamily="34" charset="-122"/>
                <a:cs typeface="+mj-lt" pitchFamily="34" charset="-120"/>
              </a:rPr>
              <a:t>aeronautics</a:t>
            </a:r>
            <a:endParaRPr lang="en-US" sz="2200" dirty="0"/>
          </a:p>
        </p:txBody>
      </p:sp>
      <p:sp>
        <p:nvSpPr>
          <p:cNvPr id="8" name="Word chip"/>
          <p:cNvSpPr/>
          <p:nvPr/>
        </p:nvSpPr>
        <p:spPr>
          <a:xfrm>
            <a:off x="640080" y="2468880"/>
            <a:ext cx="3657600" cy="685800"/>
          </a:xfrm>
          <a:prstGeom prst="roundRect">
            <a:avLst>
              <a:gd name="adj" fmla="val 13333"/>
            </a:avLst>
          </a:prstGeom>
          <a:solidFill>
            <a:schemeClr val="accent2"/>
          </a:solidFill>
          <a:ln w="6350">
            <a:solidFill>
              <a:schemeClr val="accent2"/>
            </a:solidFill>
            <a:prstDash val="solid"/>
          </a:ln>
        </p:spPr>
      </p:sp>
      <p:sp>
        <p:nvSpPr>
          <p:cNvPr id="9" name="Text 6"/>
          <p:cNvSpPr txBox="1"/>
          <p:nvPr/>
        </p:nvSpPr>
        <p:spPr>
          <a:xfrm>
            <a:off x="640080" y="2468880"/>
            <a:ext cx="3657600" cy="685800"/>
          </a:xfrm>
          <a:prstGeom prst="rect">
            <a:avLst/>
          </a:prstGeom>
          <a:noFill/>
          <a:ln/>
        </p:spPr>
        <p:txBody>
          <a:bodyPr wrap="square" lIns="0" tIns="0" rIns="0" bIns="0" rtlCol="0" anchor="ctr"/>
          <a:lstStyle/>
          <a:p>
            <a:pPr marL="0" indent="0" algn="ctr">
              <a:buNone/>
            </a:pPr>
            <a:r>
              <a:rPr lang="en-US" sz="2200" b="1" dirty="0">
                <a:solidFill>
                  <a:schemeClr val="tx1"/>
                </a:solidFill>
                <a:latin typeface="+mj-lt" pitchFamily="34" charset="0"/>
                <a:ea typeface="+mj-lt" pitchFamily="34" charset="-122"/>
                <a:cs typeface="+mj-lt" pitchFamily="34" charset="-120"/>
              </a:rPr>
              <a:t>ESA</a:t>
            </a:r>
            <a:endParaRPr lang="en-US" sz="2200" dirty="0"/>
          </a:p>
        </p:txBody>
      </p:sp>
      <p:sp>
        <p:nvSpPr>
          <p:cNvPr id="10" name="Activity 3e words"/>
          <p:cNvSpPr/>
          <p:nvPr/>
        </p:nvSpPr>
        <p:spPr>
          <a:xfrm>
            <a:off x="4663440" y="1097280"/>
            <a:ext cx="4023360" cy="2651760"/>
          </a:xfrm>
          <a:prstGeom prst="roundRect">
            <a:avLst>
              <a:gd name="adj" fmla="val 413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1" name="Text 8"/>
          <p:cNvSpPr txBox="1"/>
          <p:nvPr/>
        </p:nvSpPr>
        <p:spPr>
          <a:xfrm>
            <a:off x="4846320" y="1188720"/>
            <a:ext cx="3657600" cy="274320"/>
          </a:xfrm>
          <a:prstGeom prst="rect">
            <a:avLst/>
          </a:prstGeom>
          <a:noFill/>
          <a:ln/>
        </p:spPr>
        <p:txBody>
          <a:bodyPr wrap="square" lIns="0" tIns="0" rIns="0" bIns="0" rtlCol="0" anchor="ctr"/>
          <a:lstStyle/>
          <a:p>
            <a:pPr marL="0" indent="0">
              <a:buNone/>
            </a:pPr>
            <a:r>
              <a:rPr lang="en-US" sz="1300" b="1" dirty="0">
                <a:solidFill>
                  <a:schemeClr val="accent4"/>
                </a:solidFill>
              </a:rPr>
              <a:t>ACTIVITY 3e WORDS</a:t>
            </a:r>
            <a:endParaRPr lang="en-US" sz="1300" dirty="0"/>
          </a:p>
        </p:txBody>
      </p:sp>
      <p:sp>
        <p:nvSpPr>
          <p:cNvPr id="12" name="Word chip"/>
          <p:cNvSpPr/>
          <p:nvPr/>
        </p:nvSpPr>
        <p:spPr>
          <a:xfrm>
            <a:off x="4846320" y="1600200"/>
            <a:ext cx="3657600" cy="594360"/>
          </a:xfrm>
          <a:prstGeom prst="roundRect">
            <a:avLst>
              <a:gd name="adj" fmla="val 15385"/>
            </a:avLst>
          </a:prstGeom>
          <a:solidFill>
            <a:schemeClr val="accent3"/>
          </a:solidFill>
          <a:ln w="6350">
            <a:solidFill>
              <a:schemeClr val="accent3"/>
            </a:solidFill>
            <a:prstDash val="solid"/>
          </a:ln>
        </p:spPr>
      </p:sp>
      <p:sp>
        <p:nvSpPr>
          <p:cNvPr id="13" name="Text 10"/>
          <p:cNvSpPr txBox="1"/>
          <p:nvPr/>
        </p:nvSpPr>
        <p:spPr>
          <a:xfrm>
            <a:off x="4846320" y="1600200"/>
            <a:ext cx="3657600" cy="594360"/>
          </a:xfrm>
          <a:prstGeom prst="rect">
            <a:avLst/>
          </a:prstGeom>
          <a:noFill/>
          <a:ln/>
        </p:spPr>
        <p:txBody>
          <a:bodyPr wrap="square" lIns="0" tIns="0" rIns="0" bIns="0" rtlCol="0" anchor="ctr"/>
          <a:lstStyle/>
          <a:p>
            <a:pPr marL="0" indent="0" algn="ctr">
              <a:buNone/>
            </a:pPr>
            <a:r>
              <a:rPr lang="en-US" sz="2000" b="1" dirty="0">
                <a:solidFill>
                  <a:schemeClr val="tx1"/>
                </a:solidFill>
                <a:latin typeface="+mj-lt" pitchFamily="34" charset="0"/>
                <a:ea typeface="+mj-lt" pitchFamily="34" charset="-122"/>
                <a:cs typeface="+mj-lt" pitchFamily="34" charset="-120"/>
              </a:rPr>
              <a:t>assign</a:t>
            </a:r>
            <a:endParaRPr lang="en-US" sz="2000" dirty="0"/>
          </a:p>
        </p:txBody>
      </p:sp>
      <p:sp>
        <p:nvSpPr>
          <p:cNvPr id="14" name="Word chip"/>
          <p:cNvSpPr/>
          <p:nvPr/>
        </p:nvSpPr>
        <p:spPr>
          <a:xfrm>
            <a:off x="4846320" y="2313432"/>
            <a:ext cx="3657600" cy="594360"/>
          </a:xfrm>
          <a:prstGeom prst="roundRect">
            <a:avLst>
              <a:gd name="adj" fmla="val 15385"/>
            </a:avLst>
          </a:prstGeom>
          <a:solidFill>
            <a:schemeClr val="accent4"/>
          </a:solidFill>
          <a:ln w="6350">
            <a:solidFill>
              <a:schemeClr val="accent4"/>
            </a:solidFill>
            <a:prstDash val="solid"/>
          </a:ln>
        </p:spPr>
      </p:sp>
      <p:sp>
        <p:nvSpPr>
          <p:cNvPr id="15" name="Text 12"/>
          <p:cNvSpPr txBox="1"/>
          <p:nvPr/>
        </p:nvSpPr>
        <p:spPr>
          <a:xfrm>
            <a:off x="4846320" y="2313432"/>
            <a:ext cx="3657600" cy="594360"/>
          </a:xfrm>
          <a:prstGeom prst="rect">
            <a:avLst/>
          </a:prstGeom>
          <a:noFill/>
          <a:ln/>
        </p:spPr>
        <p:txBody>
          <a:bodyPr wrap="square" lIns="0" tIns="0" rIns="0" bIns="0" rtlCol="0" anchor="ctr"/>
          <a:lstStyle/>
          <a:p>
            <a:pPr marL="0" indent="0" algn="ctr">
              <a:buNone/>
            </a:pPr>
            <a:r>
              <a:rPr lang="en-US" sz="2000" b="1" dirty="0">
                <a:solidFill>
                  <a:schemeClr val="bg1"/>
                </a:solidFill>
                <a:latin typeface="+mj-lt" pitchFamily="34" charset="0"/>
                <a:ea typeface="+mj-lt" pitchFamily="34" charset="-122"/>
                <a:cs typeface="+mj-lt" pitchFamily="34" charset="-120"/>
              </a:rPr>
              <a:t>conduct</a:t>
            </a:r>
            <a:endParaRPr lang="en-US" sz="2000" dirty="0"/>
          </a:p>
        </p:txBody>
      </p:sp>
      <p:sp>
        <p:nvSpPr>
          <p:cNvPr id="16" name="Word chip"/>
          <p:cNvSpPr/>
          <p:nvPr/>
        </p:nvSpPr>
        <p:spPr>
          <a:xfrm>
            <a:off x="4846320" y="3026664"/>
            <a:ext cx="3657600" cy="594360"/>
          </a:xfrm>
          <a:prstGeom prst="roundRect">
            <a:avLst>
              <a:gd name="adj" fmla="val 15385"/>
            </a:avLst>
          </a:prstGeom>
          <a:solidFill>
            <a:schemeClr val="accent5"/>
          </a:solidFill>
          <a:ln w="6350">
            <a:solidFill>
              <a:schemeClr val="accent5"/>
            </a:solidFill>
            <a:prstDash val="solid"/>
          </a:ln>
        </p:spPr>
      </p:sp>
      <p:sp>
        <p:nvSpPr>
          <p:cNvPr id="17" name="Text 14"/>
          <p:cNvSpPr txBox="1"/>
          <p:nvPr/>
        </p:nvSpPr>
        <p:spPr>
          <a:xfrm>
            <a:off x="4846320" y="3026664"/>
            <a:ext cx="3657600" cy="594360"/>
          </a:xfrm>
          <a:prstGeom prst="rect">
            <a:avLst/>
          </a:prstGeom>
          <a:noFill/>
          <a:ln/>
        </p:spPr>
        <p:txBody>
          <a:bodyPr wrap="square" lIns="0" tIns="0" rIns="0" bIns="0" rtlCol="0" anchor="ctr"/>
          <a:lstStyle/>
          <a:p>
            <a:pPr marL="0" indent="0" algn="ctr">
              <a:buNone/>
            </a:pPr>
            <a:r>
              <a:rPr lang="en-US" sz="2000" b="1" dirty="0">
                <a:solidFill>
                  <a:schemeClr val="tx1"/>
                </a:solidFill>
                <a:latin typeface="+mj-lt" pitchFamily="34" charset="0"/>
                <a:ea typeface="+mj-lt" pitchFamily="34" charset="-122"/>
                <a:cs typeface="+mj-lt" pitchFamily="34" charset="-120"/>
              </a:rPr>
              <a:t>launch</a:t>
            </a:r>
            <a:endParaRPr lang="en-US" sz="2000" dirty="0"/>
          </a:p>
        </p:txBody>
      </p:sp>
      <p:sp>
        <p:nvSpPr>
          <p:cNvPr id="18" name="Callout"/>
          <p:cNvSpPr/>
          <p:nvPr/>
        </p:nvSpPr>
        <p:spPr>
          <a:xfrm>
            <a:off x="457200" y="4023360"/>
            <a:ext cx="8229600" cy="502920"/>
          </a:xfrm>
          <a:prstGeom prst="roundRect">
            <a:avLst>
              <a:gd name="adj" fmla="val 21818"/>
            </a:avLst>
          </a:prstGeom>
          <a:solidFill>
            <a:schemeClr val="accent5"/>
          </a:solidFill>
          <a:ln w="9525">
            <a:solidFill>
              <a:schemeClr val="accent5"/>
            </a:solidFill>
            <a:prstDash val="solid"/>
          </a:ln>
        </p:spPr>
      </p:sp>
      <p:sp>
        <p:nvSpPr>
          <p:cNvPr id="19" name="Text 16"/>
          <p:cNvSpPr txBox="1"/>
          <p:nvPr/>
        </p:nvSpPr>
        <p:spPr>
          <a:xfrm>
            <a:off x="640080" y="4023360"/>
            <a:ext cx="7863840" cy="502920"/>
          </a:xfrm>
          <a:prstGeom prst="rect">
            <a:avLst/>
          </a:prstGeom>
          <a:noFill/>
          <a:ln/>
        </p:spPr>
        <p:txBody>
          <a:bodyPr wrap="square" lIns="0" tIns="0" rIns="0" bIns="0" rtlCol="0" anchor="ctr"/>
          <a:lstStyle/>
          <a:p>
            <a:pPr marL="0" indent="0" algn="ctr">
              <a:buNone/>
            </a:pPr>
            <a:r>
              <a:rPr lang="en-US" sz="1600" b="1" dirty="0">
                <a:solidFill>
                  <a:schemeClr val="tx1"/>
                </a:solidFill>
              </a:rPr>
              <a:t>Record these words and any other new words in your spelling log</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1: AERONAUTICS</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…she completed a bachelor’s degree in </a:t>
            </a:r>
            <a:r>
              <a:rPr lang="en-US" sz="2000" b="1" u="sng" dirty="0">
                <a:solidFill>
                  <a:schemeClr val="tx1"/>
                </a:solidFill>
              </a:rPr>
              <a:t>aeronautics</a:t>
            </a:r>
            <a:r>
              <a:rPr lang="en-US" sz="2000" dirty="0">
                <a:solidFill>
                  <a:schemeClr val="tx1"/>
                </a:solidFill>
              </a:rPr>
              <a:t>.</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Think of aeroplane and aerial. Why would a future astronaut study this? What might aeronautics be?</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aeronautics</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Aeronautics = the science of designing, building and operating aircraft.</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A person who studies aeronautics might build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aircraft: aeroplanes, helicopters, gliders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2: ESA</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Samantha Cristoforetti is an </a:t>
            </a:r>
            <a:r>
              <a:rPr lang="en-US" sz="2000" b="1" u="sng" dirty="0">
                <a:solidFill>
                  <a:schemeClr val="tx1"/>
                </a:solidFill>
              </a:rPr>
              <a:t>ESA</a:t>
            </a:r>
            <a:r>
              <a:rPr lang="en-US" sz="2000" dirty="0">
                <a:solidFill>
                  <a:schemeClr val="tx1"/>
                </a:solidFill>
              </a:rPr>
              <a:t> astronaut.</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ESA is an abbreviation: each letter stands for a word. What might E, S and A stand for? Hint: Samantha is Italian and works in Europe.</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ESA</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ESA = European Space Agency.</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An ESA astronaut works for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the European Space Agency (a space agency in Europe)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3: ASSIGN</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…she was </a:t>
            </a:r>
            <a:r>
              <a:rPr lang="en-US" sz="2000" b="1" u="sng" dirty="0">
                <a:solidFill>
                  <a:schemeClr val="tx1"/>
                </a:solidFill>
              </a:rPr>
              <a:t>assigned</a:t>
            </a:r>
            <a:r>
              <a:rPr lang="en-US" sz="2000" dirty="0">
                <a:solidFill>
                  <a:schemeClr val="tx1"/>
                </a:solidFill>
              </a:rPr>
              <a:t> to fly on the Soyuz TMA-15M, as part of the crew of Expedition 42/43.</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Someone chose Samantha for this job. What might assigned mean? Who gives out jobs in your class?</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assign</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Assign = to give someone a particular job or task.</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The teacher assigned me to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give a job or task; e.g. class monitor, tidy the books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4: CONDUCT</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…she </a:t>
            </a:r>
            <a:r>
              <a:rPr lang="en-US" sz="2000" b="1" u="sng" dirty="0">
                <a:solidFill>
                  <a:schemeClr val="tx1"/>
                </a:solidFill>
              </a:rPr>
              <a:t>conducted</a:t>
            </a:r>
            <a:r>
              <a:rPr lang="en-US" sz="2000" dirty="0">
                <a:solidFill>
                  <a:schemeClr val="tx1"/>
                </a:solidFill>
              </a:rPr>
              <a:t> experiments like keeping worms and insects alive and growing plants.</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What do scientists do with an experiment? What might conducted mean here? (It is not about an orchestra!)</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conduct</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Conduct = to carry out an activity, such as an experiment or a survey.</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We conducted an experiment to find out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carry out / do; e.g. whether plants grow in the dark</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5: LAUNCH</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…Samantha’s dream came true as she </a:t>
            </a:r>
            <a:r>
              <a:rPr lang="en-US" sz="2000" b="1" u="sng" dirty="0">
                <a:solidFill>
                  <a:schemeClr val="tx1"/>
                </a:solidFill>
              </a:rPr>
              <a:t>launched</a:t>
            </a:r>
            <a:r>
              <a:rPr lang="en-US" sz="2000" dirty="0">
                <a:solidFill>
                  <a:schemeClr val="tx1"/>
                </a:solidFill>
              </a:rPr>
              <a:t> into space.</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Where did Samantha go? How does a rocket begin its journey? What might launch mean?</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launch</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Launch = to send a rocket or spacecraft up into space.</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A rocket launches when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it blasts off / is sent into space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Other new words for your spelling log</a:t>
            </a:r>
            <a:endParaRPr lang="en-US" sz="3000" dirty="0"/>
          </a:p>
        </p:txBody>
      </p:sp>
      <p:sp>
        <p:nvSpPr>
          <p:cNvPr id="4" name="Word graduated"/>
          <p:cNvSpPr/>
          <p:nvPr/>
        </p:nvSpPr>
        <p:spPr>
          <a:xfrm>
            <a:off x="457200" y="1051560"/>
            <a:ext cx="402336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Word tag"/>
          <p:cNvSpPr/>
          <p:nvPr/>
        </p:nvSpPr>
        <p:spPr>
          <a:xfrm>
            <a:off x="594360" y="1161288"/>
            <a:ext cx="1600200" cy="384048"/>
          </a:xfrm>
          <a:prstGeom prst="roundRect">
            <a:avLst>
              <a:gd name="adj" fmla="val 23810"/>
            </a:avLst>
          </a:prstGeom>
          <a:solidFill>
            <a:schemeClr val="accent1"/>
          </a:solidFill>
          <a:ln w="6350">
            <a:solidFill>
              <a:schemeClr val="accent1"/>
            </a:solidFill>
            <a:prstDash val="solid"/>
          </a:ln>
        </p:spPr>
      </p:sp>
      <p:sp>
        <p:nvSpPr>
          <p:cNvPr id="6" name="Text 3"/>
          <p:cNvSpPr txBox="1"/>
          <p:nvPr/>
        </p:nvSpPr>
        <p:spPr>
          <a:xfrm>
            <a:off x="594360" y="1161288"/>
            <a:ext cx="1600200" cy="384048"/>
          </a:xfrm>
          <a:prstGeom prst="rect">
            <a:avLst/>
          </a:prstGeom>
          <a:noFill/>
          <a:ln/>
        </p:spPr>
        <p:txBody>
          <a:bodyPr wrap="square" lIns="0" tIns="0" rIns="0" bIns="0" rtlCol="0" anchor="ctr"/>
          <a:lstStyle/>
          <a:p>
            <a:pPr marL="0" indent="0" algn="ctr">
              <a:buNone/>
            </a:pPr>
            <a:r>
              <a:rPr lang="en-US" sz="1400" b="1" dirty="0">
                <a:solidFill>
                  <a:schemeClr val="tx1"/>
                </a:solidFill>
                <a:latin typeface="+mj-lt" pitchFamily="34" charset="0"/>
                <a:ea typeface="+mj-lt" pitchFamily="34" charset="-122"/>
                <a:cs typeface="+mj-lt" pitchFamily="34" charset="-120"/>
              </a:rPr>
              <a:t>graduated</a:t>
            </a:r>
            <a:endParaRPr lang="en-US" sz="1400" dirty="0"/>
          </a:p>
        </p:txBody>
      </p:sp>
      <p:sp>
        <p:nvSpPr>
          <p:cNvPr id="7" name="Text 4"/>
          <p:cNvSpPr txBox="1"/>
          <p:nvPr/>
        </p:nvSpPr>
        <p:spPr>
          <a:xfrm>
            <a:off x="640080" y="1581912"/>
            <a:ext cx="3657600" cy="365760"/>
          </a:xfrm>
          <a:prstGeom prst="rect">
            <a:avLst/>
          </a:prstGeom>
          <a:noFill/>
          <a:ln/>
        </p:spPr>
        <p:txBody>
          <a:bodyPr wrap="square" lIns="0" tIns="0" rIns="0" bIns="0" rtlCol="0" anchor="t"/>
          <a:lstStyle/>
          <a:p>
            <a:pPr marL="0" indent="0">
              <a:buNone/>
            </a:pPr>
            <a:r>
              <a:rPr lang="en-US" sz="1200" dirty="0">
                <a:solidFill>
                  <a:schemeClr val="tx1"/>
                </a:solidFill>
              </a:rPr>
              <a:t>finished a course of study and received a degree</a:t>
            </a:r>
            <a:endParaRPr lang="en-US" sz="1200" dirty="0"/>
          </a:p>
        </p:txBody>
      </p:sp>
      <p:sp>
        <p:nvSpPr>
          <p:cNvPr id="8" name="Word degree"/>
          <p:cNvSpPr/>
          <p:nvPr/>
        </p:nvSpPr>
        <p:spPr>
          <a:xfrm>
            <a:off x="4663440" y="1051560"/>
            <a:ext cx="402336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Word tag"/>
          <p:cNvSpPr/>
          <p:nvPr/>
        </p:nvSpPr>
        <p:spPr>
          <a:xfrm>
            <a:off x="4800600" y="1161288"/>
            <a:ext cx="1600200" cy="384048"/>
          </a:xfrm>
          <a:prstGeom prst="roundRect">
            <a:avLst>
              <a:gd name="adj" fmla="val 23810"/>
            </a:avLst>
          </a:prstGeom>
          <a:solidFill>
            <a:schemeClr val="accent2"/>
          </a:solidFill>
          <a:ln w="6350">
            <a:solidFill>
              <a:schemeClr val="accent2"/>
            </a:solidFill>
            <a:prstDash val="solid"/>
          </a:ln>
        </p:spPr>
      </p:sp>
      <p:sp>
        <p:nvSpPr>
          <p:cNvPr id="10" name="Text 7"/>
          <p:cNvSpPr txBox="1"/>
          <p:nvPr/>
        </p:nvSpPr>
        <p:spPr>
          <a:xfrm>
            <a:off x="4800600" y="1161288"/>
            <a:ext cx="1600200" cy="384048"/>
          </a:xfrm>
          <a:prstGeom prst="rect">
            <a:avLst/>
          </a:prstGeom>
          <a:noFill/>
          <a:ln/>
        </p:spPr>
        <p:txBody>
          <a:bodyPr wrap="square" lIns="0" tIns="0" rIns="0" bIns="0" rtlCol="0" anchor="ctr"/>
          <a:lstStyle/>
          <a:p>
            <a:pPr marL="0" indent="0" algn="ctr">
              <a:buNone/>
            </a:pPr>
            <a:r>
              <a:rPr lang="en-US" sz="1400" b="1" dirty="0">
                <a:solidFill>
                  <a:schemeClr val="tx1"/>
                </a:solidFill>
                <a:latin typeface="+mj-lt" pitchFamily="34" charset="0"/>
                <a:ea typeface="+mj-lt" pitchFamily="34" charset="-122"/>
                <a:cs typeface="+mj-lt" pitchFamily="34" charset="-120"/>
              </a:rPr>
              <a:t>degree</a:t>
            </a:r>
            <a:endParaRPr lang="en-US" sz="1400" dirty="0"/>
          </a:p>
        </p:txBody>
      </p:sp>
      <p:sp>
        <p:nvSpPr>
          <p:cNvPr id="11" name="Text 8"/>
          <p:cNvSpPr txBox="1"/>
          <p:nvPr/>
        </p:nvSpPr>
        <p:spPr>
          <a:xfrm>
            <a:off x="4846320" y="1581912"/>
            <a:ext cx="3657600" cy="365760"/>
          </a:xfrm>
          <a:prstGeom prst="rect">
            <a:avLst/>
          </a:prstGeom>
          <a:noFill/>
          <a:ln/>
        </p:spPr>
        <p:txBody>
          <a:bodyPr wrap="square" lIns="0" tIns="0" rIns="0" bIns="0" rtlCol="0" anchor="t"/>
          <a:lstStyle/>
          <a:p>
            <a:pPr marL="0" indent="0">
              <a:buNone/>
            </a:pPr>
            <a:r>
              <a:rPr lang="en-US" sz="1200" dirty="0">
                <a:solidFill>
                  <a:schemeClr val="tx1"/>
                </a:solidFill>
              </a:rPr>
              <a:t>a qualification from a university after a course of study</a:t>
            </a:r>
            <a:endParaRPr lang="en-US" sz="1200" dirty="0"/>
          </a:p>
        </p:txBody>
      </p:sp>
      <p:sp>
        <p:nvSpPr>
          <p:cNvPr id="12" name="Word commander"/>
          <p:cNvSpPr/>
          <p:nvPr/>
        </p:nvSpPr>
        <p:spPr>
          <a:xfrm>
            <a:off x="457200" y="2103120"/>
            <a:ext cx="402336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Word tag"/>
          <p:cNvSpPr/>
          <p:nvPr/>
        </p:nvSpPr>
        <p:spPr>
          <a:xfrm>
            <a:off x="594360" y="2212848"/>
            <a:ext cx="1600200" cy="384048"/>
          </a:xfrm>
          <a:prstGeom prst="roundRect">
            <a:avLst>
              <a:gd name="adj" fmla="val 23810"/>
            </a:avLst>
          </a:prstGeom>
          <a:solidFill>
            <a:schemeClr val="accent3"/>
          </a:solidFill>
          <a:ln w="6350">
            <a:solidFill>
              <a:schemeClr val="accent3"/>
            </a:solidFill>
            <a:prstDash val="solid"/>
          </a:ln>
        </p:spPr>
      </p:sp>
      <p:sp>
        <p:nvSpPr>
          <p:cNvPr id="14" name="Text 11"/>
          <p:cNvSpPr txBox="1"/>
          <p:nvPr/>
        </p:nvSpPr>
        <p:spPr>
          <a:xfrm>
            <a:off x="594360" y="2212848"/>
            <a:ext cx="1600200" cy="384048"/>
          </a:xfrm>
          <a:prstGeom prst="rect">
            <a:avLst/>
          </a:prstGeom>
          <a:noFill/>
          <a:ln/>
        </p:spPr>
        <p:txBody>
          <a:bodyPr wrap="square" lIns="0" tIns="0" rIns="0" bIns="0" rtlCol="0" anchor="ctr"/>
          <a:lstStyle/>
          <a:p>
            <a:pPr marL="0" indent="0" algn="ctr">
              <a:buNone/>
            </a:pPr>
            <a:r>
              <a:rPr lang="en-US" sz="1400" b="1" dirty="0">
                <a:solidFill>
                  <a:schemeClr val="tx1"/>
                </a:solidFill>
                <a:latin typeface="+mj-lt" pitchFamily="34" charset="0"/>
                <a:ea typeface="+mj-lt" pitchFamily="34" charset="-122"/>
                <a:cs typeface="+mj-lt" pitchFamily="34" charset="-120"/>
              </a:rPr>
              <a:t>commander</a:t>
            </a:r>
            <a:endParaRPr lang="en-US" sz="1400" dirty="0"/>
          </a:p>
        </p:txBody>
      </p:sp>
      <p:sp>
        <p:nvSpPr>
          <p:cNvPr id="15" name="Text 12"/>
          <p:cNvSpPr txBox="1"/>
          <p:nvPr/>
        </p:nvSpPr>
        <p:spPr>
          <a:xfrm>
            <a:off x="640080" y="2633472"/>
            <a:ext cx="3657600" cy="365760"/>
          </a:xfrm>
          <a:prstGeom prst="rect">
            <a:avLst/>
          </a:prstGeom>
          <a:noFill/>
          <a:ln/>
        </p:spPr>
        <p:txBody>
          <a:bodyPr wrap="square" lIns="0" tIns="0" rIns="0" bIns="0" rtlCol="0" anchor="t"/>
          <a:lstStyle/>
          <a:p>
            <a:pPr marL="0" indent="0">
              <a:buNone/>
            </a:pPr>
            <a:r>
              <a:rPr lang="en-US" sz="1200" dirty="0">
                <a:solidFill>
                  <a:schemeClr val="tx1"/>
                </a:solidFill>
              </a:rPr>
              <a:t>the person in charge of a mission</a:t>
            </a:r>
            <a:endParaRPr lang="en-US" sz="1200" dirty="0"/>
          </a:p>
        </p:txBody>
      </p:sp>
      <p:sp>
        <p:nvSpPr>
          <p:cNvPr id="16" name="Word aquanaut"/>
          <p:cNvSpPr/>
          <p:nvPr/>
        </p:nvSpPr>
        <p:spPr>
          <a:xfrm>
            <a:off x="4663440" y="2103120"/>
            <a:ext cx="402336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Word tag"/>
          <p:cNvSpPr/>
          <p:nvPr/>
        </p:nvSpPr>
        <p:spPr>
          <a:xfrm>
            <a:off x="4800600" y="2212848"/>
            <a:ext cx="1600200" cy="384048"/>
          </a:xfrm>
          <a:prstGeom prst="roundRect">
            <a:avLst>
              <a:gd name="adj" fmla="val 23810"/>
            </a:avLst>
          </a:prstGeom>
          <a:solidFill>
            <a:schemeClr val="accent4"/>
          </a:solidFill>
          <a:ln w="6350">
            <a:solidFill>
              <a:schemeClr val="accent4"/>
            </a:solidFill>
            <a:prstDash val="solid"/>
          </a:ln>
        </p:spPr>
      </p:sp>
      <p:sp>
        <p:nvSpPr>
          <p:cNvPr id="18" name="Text 15"/>
          <p:cNvSpPr txBox="1"/>
          <p:nvPr/>
        </p:nvSpPr>
        <p:spPr>
          <a:xfrm>
            <a:off x="4800600" y="2212848"/>
            <a:ext cx="1600200"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mj-lt" pitchFamily="34" charset="0"/>
                <a:ea typeface="+mj-lt" pitchFamily="34" charset="-122"/>
                <a:cs typeface="+mj-lt" pitchFamily="34" charset="-120"/>
              </a:rPr>
              <a:t>aquanaut</a:t>
            </a:r>
            <a:endParaRPr lang="en-US" sz="1400" dirty="0"/>
          </a:p>
        </p:txBody>
      </p:sp>
      <p:sp>
        <p:nvSpPr>
          <p:cNvPr id="19" name="Text 16"/>
          <p:cNvSpPr txBox="1"/>
          <p:nvPr/>
        </p:nvSpPr>
        <p:spPr>
          <a:xfrm>
            <a:off x="4846320" y="2633472"/>
            <a:ext cx="3657600" cy="365760"/>
          </a:xfrm>
          <a:prstGeom prst="rect">
            <a:avLst/>
          </a:prstGeom>
          <a:noFill/>
          <a:ln/>
        </p:spPr>
        <p:txBody>
          <a:bodyPr wrap="square" lIns="0" tIns="0" rIns="0" bIns="0" rtlCol="0" anchor="t"/>
          <a:lstStyle/>
          <a:p>
            <a:pPr marL="0" indent="0">
              <a:buNone/>
            </a:pPr>
            <a:r>
              <a:rPr lang="en-US" sz="1200" dirty="0">
                <a:solidFill>
                  <a:schemeClr val="tx1"/>
                </a:solidFill>
              </a:rPr>
              <a:t>a person who lives and works underwater (aqua = water)</a:t>
            </a:r>
            <a:endParaRPr lang="en-US" sz="1200" dirty="0"/>
          </a:p>
        </p:txBody>
      </p:sp>
      <p:sp>
        <p:nvSpPr>
          <p:cNvPr id="20" name="Word uninterrupted"/>
          <p:cNvSpPr/>
          <p:nvPr/>
        </p:nvSpPr>
        <p:spPr>
          <a:xfrm>
            <a:off x="457200" y="3154680"/>
            <a:ext cx="402336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1" name="Word tag"/>
          <p:cNvSpPr/>
          <p:nvPr/>
        </p:nvSpPr>
        <p:spPr>
          <a:xfrm>
            <a:off x="594360" y="3264408"/>
            <a:ext cx="1600200" cy="384048"/>
          </a:xfrm>
          <a:prstGeom prst="roundRect">
            <a:avLst>
              <a:gd name="adj" fmla="val 23810"/>
            </a:avLst>
          </a:prstGeom>
          <a:solidFill>
            <a:schemeClr val="accent5"/>
          </a:solidFill>
          <a:ln w="6350">
            <a:solidFill>
              <a:schemeClr val="accent5"/>
            </a:solidFill>
            <a:prstDash val="solid"/>
          </a:ln>
        </p:spPr>
      </p:sp>
      <p:sp>
        <p:nvSpPr>
          <p:cNvPr id="22" name="Text 19"/>
          <p:cNvSpPr txBox="1"/>
          <p:nvPr/>
        </p:nvSpPr>
        <p:spPr>
          <a:xfrm>
            <a:off x="594360" y="3264408"/>
            <a:ext cx="1600200" cy="384048"/>
          </a:xfrm>
          <a:prstGeom prst="rect">
            <a:avLst/>
          </a:prstGeom>
          <a:noFill/>
          <a:ln/>
        </p:spPr>
        <p:txBody>
          <a:bodyPr wrap="square" lIns="0" tIns="0" rIns="0" bIns="0" rtlCol="0" anchor="ctr"/>
          <a:lstStyle/>
          <a:p>
            <a:pPr marL="0" indent="0" algn="ctr">
              <a:buNone/>
            </a:pPr>
            <a:r>
              <a:rPr lang="en-US" sz="1400" b="1" dirty="0">
                <a:solidFill>
                  <a:schemeClr val="tx1"/>
                </a:solidFill>
                <a:latin typeface="+mj-lt" pitchFamily="34" charset="0"/>
                <a:ea typeface="+mj-lt" pitchFamily="34" charset="-122"/>
                <a:cs typeface="+mj-lt" pitchFamily="34" charset="-120"/>
              </a:rPr>
              <a:t>uninterrupted</a:t>
            </a:r>
            <a:endParaRPr lang="en-US" sz="1400" dirty="0"/>
          </a:p>
        </p:txBody>
      </p:sp>
      <p:sp>
        <p:nvSpPr>
          <p:cNvPr id="23" name="Text 20"/>
          <p:cNvSpPr txBox="1"/>
          <p:nvPr/>
        </p:nvSpPr>
        <p:spPr>
          <a:xfrm>
            <a:off x="640080" y="3685032"/>
            <a:ext cx="3657600" cy="365760"/>
          </a:xfrm>
          <a:prstGeom prst="rect">
            <a:avLst/>
          </a:prstGeom>
          <a:noFill/>
          <a:ln/>
        </p:spPr>
        <p:txBody>
          <a:bodyPr wrap="square" lIns="0" tIns="0" rIns="0" bIns="0" rtlCol="0" anchor="t"/>
          <a:lstStyle/>
          <a:p>
            <a:pPr marL="0" indent="0">
              <a:buNone/>
            </a:pPr>
            <a:r>
              <a:rPr lang="en-US" sz="1200" dirty="0">
                <a:solidFill>
                  <a:schemeClr val="tx1"/>
                </a:solidFill>
              </a:rPr>
              <a:t>without any breaks</a:t>
            </a:r>
            <a:endParaRPr lang="en-US" sz="1200" dirty="0"/>
          </a:p>
        </p:txBody>
      </p:sp>
      <p:sp>
        <p:nvSpPr>
          <p:cNvPr id="24" name="Word inspiration"/>
          <p:cNvSpPr/>
          <p:nvPr/>
        </p:nvSpPr>
        <p:spPr>
          <a:xfrm>
            <a:off x="4663440" y="3154680"/>
            <a:ext cx="402336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5" name="Word tag"/>
          <p:cNvSpPr/>
          <p:nvPr/>
        </p:nvSpPr>
        <p:spPr>
          <a:xfrm>
            <a:off x="4800600" y="3264408"/>
            <a:ext cx="1600200" cy="384048"/>
          </a:xfrm>
          <a:prstGeom prst="roundRect">
            <a:avLst>
              <a:gd name="adj" fmla="val 23810"/>
            </a:avLst>
          </a:prstGeom>
          <a:solidFill>
            <a:schemeClr val="accent1"/>
          </a:solidFill>
          <a:ln w="6350">
            <a:solidFill>
              <a:schemeClr val="accent1"/>
            </a:solidFill>
            <a:prstDash val="solid"/>
          </a:ln>
        </p:spPr>
      </p:sp>
      <p:sp>
        <p:nvSpPr>
          <p:cNvPr id="26" name="Text 23"/>
          <p:cNvSpPr txBox="1"/>
          <p:nvPr/>
        </p:nvSpPr>
        <p:spPr>
          <a:xfrm>
            <a:off x="4800600" y="3264408"/>
            <a:ext cx="1600200" cy="384048"/>
          </a:xfrm>
          <a:prstGeom prst="rect">
            <a:avLst/>
          </a:prstGeom>
          <a:noFill/>
          <a:ln/>
        </p:spPr>
        <p:txBody>
          <a:bodyPr wrap="square" lIns="0" tIns="0" rIns="0" bIns="0" rtlCol="0" anchor="ctr"/>
          <a:lstStyle/>
          <a:p>
            <a:pPr marL="0" indent="0" algn="ctr">
              <a:buNone/>
            </a:pPr>
            <a:r>
              <a:rPr lang="en-US" sz="1400" b="1" dirty="0">
                <a:solidFill>
                  <a:schemeClr val="tx1"/>
                </a:solidFill>
                <a:latin typeface="+mj-lt" pitchFamily="34" charset="0"/>
                <a:ea typeface="+mj-lt" pitchFamily="34" charset="-122"/>
                <a:cs typeface="+mj-lt" pitchFamily="34" charset="-120"/>
              </a:rPr>
              <a:t>inspiration</a:t>
            </a:r>
            <a:endParaRPr lang="en-US" sz="1400" dirty="0"/>
          </a:p>
        </p:txBody>
      </p:sp>
      <p:sp>
        <p:nvSpPr>
          <p:cNvPr id="27" name="Text 24"/>
          <p:cNvSpPr txBox="1"/>
          <p:nvPr/>
        </p:nvSpPr>
        <p:spPr>
          <a:xfrm>
            <a:off x="4846320" y="3685032"/>
            <a:ext cx="3657600" cy="365760"/>
          </a:xfrm>
          <a:prstGeom prst="rect">
            <a:avLst/>
          </a:prstGeom>
          <a:noFill/>
          <a:ln/>
        </p:spPr>
        <p:txBody>
          <a:bodyPr wrap="square" lIns="0" tIns="0" rIns="0" bIns="0" rtlCol="0" anchor="t"/>
          <a:lstStyle/>
          <a:p>
            <a:pPr marL="0" indent="0">
              <a:buNone/>
            </a:pPr>
            <a:r>
              <a:rPr lang="en-US" sz="1200" dirty="0">
                <a:solidFill>
                  <a:schemeClr val="tx1"/>
                </a:solidFill>
              </a:rPr>
              <a:t>a person who makes others want to do their best</a:t>
            </a:r>
            <a:endParaRPr lang="en-US" sz="1200" dirty="0"/>
          </a:p>
        </p:txBody>
      </p:sp>
      <p:sp>
        <p:nvSpPr>
          <p:cNvPr id="28" name="Text 25"/>
          <p:cNvSpPr txBox="1"/>
          <p:nvPr/>
        </p:nvSpPr>
        <p:spPr>
          <a:xfrm>
            <a:off x="457200" y="4297680"/>
            <a:ext cx="8229600" cy="274320"/>
          </a:xfrm>
          <a:prstGeom prst="rect">
            <a:avLst/>
          </a:prstGeom>
          <a:noFill/>
          <a:ln/>
        </p:spPr>
        <p:txBody>
          <a:bodyPr wrap="square" lIns="0" tIns="0" rIns="0" bIns="0" rtlCol="0" anchor="ctr"/>
          <a:lstStyle/>
          <a:p>
            <a:pPr marL="0" indent="0" algn="ctr">
              <a:buNone/>
            </a:pPr>
            <a:r>
              <a:rPr lang="en-US" sz="1400" i="1" dirty="0">
                <a:solidFill>
                  <a:schemeClr val="tx2"/>
                </a:solidFill>
              </a:rPr>
              <a:t>Where did you find each word? Check the context clues!</a:t>
            </a:r>
            <a:endParaRPr lang="en-US" sz="14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Spelling log: highlight the tricky letters</a:t>
            </a:r>
            <a:endParaRPr lang="en-US" sz="3000" dirty="0"/>
          </a:p>
        </p:txBody>
      </p:sp>
      <p:sp>
        <p:nvSpPr>
          <p:cNvPr id="4" name="Spelling row 1"/>
          <p:cNvSpPr/>
          <p:nvPr/>
        </p:nvSpPr>
        <p:spPr>
          <a:xfrm>
            <a:off x="457200" y="1051560"/>
            <a:ext cx="8229600" cy="566928"/>
          </a:xfrm>
          <a:prstGeom prst="roundRect">
            <a:avLst>
              <a:gd name="adj" fmla="val 1935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48640" y="1152144"/>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48640" y="115214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097280" y="1051560"/>
            <a:ext cx="2926080" cy="566928"/>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aer</a:t>
            </a:r>
            <a:r>
              <a:rPr lang="en-US" sz="2200" b="1" dirty="0">
                <a:solidFill>
                  <a:schemeClr val="tx1"/>
                </a:solidFill>
                <a:highlight>
                  <a:srgbClr val="FFD166"/>
                </a:highlight>
                <a:latin typeface="+mj-lt" pitchFamily="34" charset="0"/>
                <a:ea typeface="+mj-lt" pitchFamily="34" charset="-122"/>
                <a:cs typeface="+mj-lt" pitchFamily="34" charset="-120"/>
              </a:rPr>
              <a:t>o</a:t>
            </a:r>
            <a:r>
              <a:rPr lang="en-US" sz="2200" b="1" dirty="0">
                <a:solidFill>
                  <a:schemeClr val="tx1"/>
                </a:solidFill>
                <a:latin typeface="+mj-lt" pitchFamily="34" charset="0"/>
                <a:ea typeface="+mj-lt" pitchFamily="34" charset="-122"/>
                <a:cs typeface="+mj-lt" pitchFamily="34" charset="-120"/>
              </a:rPr>
              <a:t>n</a:t>
            </a:r>
            <a:r>
              <a:rPr lang="en-US" sz="2200" b="1" dirty="0">
                <a:solidFill>
                  <a:schemeClr val="tx1"/>
                </a:solidFill>
                <a:highlight>
                  <a:srgbClr val="FFD166"/>
                </a:highlight>
                <a:latin typeface="+mj-lt" pitchFamily="34" charset="0"/>
                <a:ea typeface="+mj-lt" pitchFamily="34" charset="-122"/>
                <a:cs typeface="+mj-lt" pitchFamily="34" charset="-120"/>
              </a:rPr>
              <a:t>au</a:t>
            </a:r>
            <a:r>
              <a:rPr lang="en-US" sz="2200" b="1" dirty="0">
                <a:solidFill>
                  <a:schemeClr val="tx1"/>
                </a:solidFill>
                <a:latin typeface="+mj-lt" pitchFamily="34" charset="0"/>
                <a:ea typeface="+mj-lt" pitchFamily="34" charset="-122"/>
                <a:cs typeface="+mj-lt" pitchFamily="34" charset="-120"/>
              </a:rPr>
              <a:t>tics</a:t>
            </a:r>
            <a:endParaRPr lang="en-US" sz="2200" dirty="0"/>
          </a:p>
        </p:txBody>
      </p:sp>
      <p:sp>
        <p:nvSpPr>
          <p:cNvPr id="8" name="Text 5"/>
          <p:cNvSpPr txBox="1"/>
          <p:nvPr/>
        </p:nvSpPr>
        <p:spPr>
          <a:xfrm>
            <a:off x="4114800" y="1051560"/>
            <a:ext cx="4389120" cy="566928"/>
          </a:xfrm>
          <a:prstGeom prst="rect">
            <a:avLst/>
          </a:prstGeom>
          <a:noFill/>
          <a:ln/>
        </p:spPr>
        <p:txBody>
          <a:bodyPr wrap="square" lIns="0" tIns="0" rIns="0" bIns="0" rtlCol="0" anchor="ctr"/>
          <a:lstStyle/>
          <a:p>
            <a:pPr marL="0" indent="0">
              <a:buNone/>
            </a:pPr>
            <a:r>
              <a:rPr lang="en-US" sz="1400" i="1" dirty="0">
                <a:solidFill>
                  <a:schemeClr val="tx2"/>
                </a:solidFill>
              </a:rPr>
              <a:t>aero (air) + naut (sailor); ‘au’ sounds like ‘or’</a:t>
            </a:r>
            <a:endParaRPr lang="en-US" sz="1400" dirty="0"/>
          </a:p>
        </p:txBody>
      </p:sp>
      <p:sp>
        <p:nvSpPr>
          <p:cNvPr id="9" name="Spelling row 2"/>
          <p:cNvSpPr/>
          <p:nvPr/>
        </p:nvSpPr>
        <p:spPr>
          <a:xfrm>
            <a:off x="457200" y="1709928"/>
            <a:ext cx="8229600" cy="566928"/>
          </a:xfrm>
          <a:prstGeom prst="roundRect">
            <a:avLst>
              <a:gd name="adj" fmla="val 1935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48640" y="1810512"/>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48640" y="1810512"/>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097280" y="1709928"/>
            <a:ext cx="2926080" cy="566928"/>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a</a:t>
            </a:r>
            <a:r>
              <a:rPr lang="en-US" sz="2200" b="1" dirty="0">
                <a:solidFill>
                  <a:schemeClr val="tx1"/>
                </a:solidFill>
                <a:highlight>
                  <a:srgbClr val="FFD166"/>
                </a:highlight>
                <a:latin typeface="+mj-lt" pitchFamily="34" charset="0"/>
                <a:ea typeface="+mj-lt" pitchFamily="34" charset="-122"/>
                <a:cs typeface="+mj-lt" pitchFamily="34" charset="-120"/>
              </a:rPr>
              <a:t>ss</a:t>
            </a:r>
            <a:r>
              <a:rPr lang="en-US" sz="2200" b="1" dirty="0">
                <a:solidFill>
                  <a:schemeClr val="tx1"/>
                </a:solidFill>
                <a:latin typeface="+mj-lt" pitchFamily="34" charset="0"/>
                <a:ea typeface="+mj-lt" pitchFamily="34" charset="-122"/>
                <a:cs typeface="+mj-lt" pitchFamily="34" charset="-120"/>
              </a:rPr>
              <a:t>i</a:t>
            </a:r>
            <a:r>
              <a:rPr lang="en-US" sz="2200" b="1" dirty="0">
                <a:solidFill>
                  <a:schemeClr val="tx1"/>
                </a:solidFill>
                <a:highlight>
                  <a:srgbClr val="FFD166"/>
                </a:highlight>
                <a:latin typeface="+mj-lt" pitchFamily="34" charset="0"/>
                <a:ea typeface="+mj-lt" pitchFamily="34" charset="-122"/>
                <a:cs typeface="+mj-lt" pitchFamily="34" charset="-120"/>
              </a:rPr>
              <a:t>gn</a:t>
            </a:r>
            <a:endParaRPr lang="en-US" sz="2200" dirty="0"/>
          </a:p>
        </p:txBody>
      </p:sp>
      <p:sp>
        <p:nvSpPr>
          <p:cNvPr id="13" name="Text 10"/>
          <p:cNvSpPr txBox="1"/>
          <p:nvPr/>
        </p:nvSpPr>
        <p:spPr>
          <a:xfrm>
            <a:off x="4114800" y="1709928"/>
            <a:ext cx="4389120" cy="566928"/>
          </a:xfrm>
          <a:prstGeom prst="rect">
            <a:avLst/>
          </a:prstGeom>
          <a:noFill/>
          <a:ln/>
        </p:spPr>
        <p:txBody>
          <a:bodyPr wrap="square" lIns="0" tIns="0" rIns="0" bIns="0" rtlCol="0" anchor="ctr"/>
          <a:lstStyle/>
          <a:p>
            <a:pPr marL="0" indent="0">
              <a:buNone/>
            </a:pPr>
            <a:r>
              <a:rPr lang="en-US" sz="1400" i="1" dirty="0">
                <a:solidFill>
                  <a:schemeClr val="tx2"/>
                </a:solidFill>
              </a:rPr>
              <a:t>double s, and a silent g</a:t>
            </a:r>
            <a:endParaRPr lang="en-US" sz="1400" dirty="0"/>
          </a:p>
        </p:txBody>
      </p:sp>
      <p:sp>
        <p:nvSpPr>
          <p:cNvPr id="14" name="Spelling row 3"/>
          <p:cNvSpPr/>
          <p:nvPr/>
        </p:nvSpPr>
        <p:spPr>
          <a:xfrm>
            <a:off x="457200" y="2368296"/>
            <a:ext cx="8229600" cy="566928"/>
          </a:xfrm>
          <a:prstGeom prst="roundRect">
            <a:avLst>
              <a:gd name="adj" fmla="val 1935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548640" y="2468880"/>
            <a:ext cx="365760" cy="365760"/>
          </a:xfrm>
          <a:prstGeom prst="ellipse">
            <a:avLst/>
          </a:prstGeom>
          <a:solidFill>
            <a:schemeClr val="accent3"/>
          </a:solidFill>
          <a:ln w="6350">
            <a:solidFill>
              <a:schemeClr val="accent3"/>
            </a:solidFill>
            <a:prstDash val="solid"/>
          </a:ln>
        </p:spPr>
      </p:sp>
      <p:sp>
        <p:nvSpPr>
          <p:cNvPr id="16" name="Text 13"/>
          <p:cNvSpPr txBox="1"/>
          <p:nvPr/>
        </p:nvSpPr>
        <p:spPr>
          <a:xfrm>
            <a:off x="548640" y="246888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097280" y="2368296"/>
            <a:ext cx="2926080" cy="566928"/>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con</a:t>
            </a:r>
            <a:r>
              <a:rPr lang="en-US" sz="2200" b="1" dirty="0">
                <a:solidFill>
                  <a:schemeClr val="tx1"/>
                </a:solidFill>
                <a:highlight>
                  <a:srgbClr val="FFD166"/>
                </a:highlight>
                <a:latin typeface="+mj-lt" pitchFamily="34" charset="0"/>
                <a:ea typeface="+mj-lt" pitchFamily="34" charset="-122"/>
                <a:cs typeface="+mj-lt" pitchFamily="34" charset="-120"/>
              </a:rPr>
              <a:t>duct</a:t>
            </a:r>
            <a:endParaRPr lang="en-US" sz="2200" dirty="0"/>
          </a:p>
        </p:txBody>
      </p:sp>
      <p:sp>
        <p:nvSpPr>
          <p:cNvPr id="18" name="Text 15"/>
          <p:cNvSpPr txBox="1"/>
          <p:nvPr/>
        </p:nvSpPr>
        <p:spPr>
          <a:xfrm>
            <a:off x="4114800" y="2368296"/>
            <a:ext cx="4389120" cy="566928"/>
          </a:xfrm>
          <a:prstGeom prst="rect">
            <a:avLst/>
          </a:prstGeom>
          <a:noFill/>
          <a:ln/>
        </p:spPr>
        <p:txBody>
          <a:bodyPr wrap="square" lIns="0" tIns="0" rIns="0" bIns="0" rtlCol="0" anchor="ctr"/>
          <a:lstStyle/>
          <a:p>
            <a:pPr marL="0" indent="0">
              <a:buNone/>
            </a:pPr>
            <a:r>
              <a:rPr lang="en-US" sz="1400" i="1" dirty="0">
                <a:solidFill>
                  <a:schemeClr val="tx2"/>
                </a:solidFill>
              </a:rPr>
              <a:t>‘duct’: think of ‘product’ and ‘conductor’</a:t>
            </a:r>
            <a:endParaRPr lang="en-US" sz="1400" dirty="0"/>
          </a:p>
        </p:txBody>
      </p:sp>
      <p:sp>
        <p:nvSpPr>
          <p:cNvPr id="19" name="Spelling row 4"/>
          <p:cNvSpPr/>
          <p:nvPr/>
        </p:nvSpPr>
        <p:spPr>
          <a:xfrm>
            <a:off x="457200" y="3026664"/>
            <a:ext cx="8229600" cy="566928"/>
          </a:xfrm>
          <a:prstGeom prst="roundRect">
            <a:avLst>
              <a:gd name="adj" fmla="val 1935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0" name="Badge"/>
          <p:cNvSpPr/>
          <p:nvPr/>
        </p:nvSpPr>
        <p:spPr>
          <a:xfrm>
            <a:off x="548640" y="3127248"/>
            <a:ext cx="365760" cy="365760"/>
          </a:xfrm>
          <a:prstGeom prst="ellipse">
            <a:avLst/>
          </a:prstGeom>
          <a:solidFill>
            <a:schemeClr val="accent4"/>
          </a:solidFill>
          <a:ln w="6350">
            <a:solidFill>
              <a:schemeClr val="accent4"/>
            </a:solidFill>
            <a:prstDash val="solid"/>
          </a:ln>
        </p:spPr>
      </p:sp>
      <p:sp>
        <p:nvSpPr>
          <p:cNvPr id="21" name="Text 18"/>
          <p:cNvSpPr txBox="1"/>
          <p:nvPr/>
        </p:nvSpPr>
        <p:spPr>
          <a:xfrm>
            <a:off x="548640" y="3127248"/>
            <a:ext cx="365760" cy="36576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2" name="Text 19"/>
          <p:cNvSpPr txBox="1"/>
          <p:nvPr/>
        </p:nvSpPr>
        <p:spPr>
          <a:xfrm>
            <a:off x="1097280" y="3026664"/>
            <a:ext cx="2926080" cy="566928"/>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l</a:t>
            </a:r>
            <a:r>
              <a:rPr lang="en-US" sz="2200" b="1" dirty="0">
                <a:solidFill>
                  <a:schemeClr val="tx1"/>
                </a:solidFill>
                <a:highlight>
                  <a:srgbClr val="FFD166"/>
                </a:highlight>
                <a:latin typeface="+mj-lt" pitchFamily="34" charset="0"/>
                <a:ea typeface="+mj-lt" pitchFamily="34" charset="-122"/>
                <a:cs typeface="+mj-lt" pitchFamily="34" charset="-120"/>
              </a:rPr>
              <a:t>au</a:t>
            </a:r>
            <a:r>
              <a:rPr lang="en-US" sz="2200" b="1" dirty="0">
                <a:solidFill>
                  <a:schemeClr val="tx1"/>
                </a:solidFill>
                <a:latin typeface="+mj-lt" pitchFamily="34" charset="0"/>
                <a:ea typeface="+mj-lt" pitchFamily="34" charset="-122"/>
                <a:cs typeface="+mj-lt" pitchFamily="34" charset="-120"/>
              </a:rPr>
              <a:t>n</a:t>
            </a:r>
            <a:r>
              <a:rPr lang="en-US" sz="2200" b="1" dirty="0">
                <a:solidFill>
                  <a:schemeClr val="tx1"/>
                </a:solidFill>
                <a:highlight>
                  <a:srgbClr val="FFD166"/>
                </a:highlight>
                <a:latin typeface="+mj-lt" pitchFamily="34" charset="0"/>
                <a:ea typeface="+mj-lt" pitchFamily="34" charset="-122"/>
                <a:cs typeface="+mj-lt" pitchFamily="34" charset="-120"/>
              </a:rPr>
              <a:t>ch</a:t>
            </a:r>
            <a:endParaRPr lang="en-US" sz="2200" dirty="0"/>
          </a:p>
        </p:txBody>
      </p:sp>
      <p:sp>
        <p:nvSpPr>
          <p:cNvPr id="23" name="Text 20"/>
          <p:cNvSpPr txBox="1"/>
          <p:nvPr/>
        </p:nvSpPr>
        <p:spPr>
          <a:xfrm>
            <a:off x="4114800" y="3026664"/>
            <a:ext cx="4389120" cy="566928"/>
          </a:xfrm>
          <a:prstGeom prst="rect">
            <a:avLst/>
          </a:prstGeom>
          <a:noFill/>
          <a:ln/>
        </p:spPr>
        <p:txBody>
          <a:bodyPr wrap="square" lIns="0" tIns="0" rIns="0" bIns="0" rtlCol="0" anchor="ctr"/>
          <a:lstStyle/>
          <a:p>
            <a:pPr marL="0" indent="0">
              <a:buNone/>
            </a:pPr>
            <a:r>
              <a:rPr lang="en-US" sz="1400" i="1" dirty="0">
                <a:solidFill>
                  <a:schemeClr val="tx2"/>
                </a:solidFill>
              </a:rPr>
              <a:t>‘au’ sounds like ‘or’; ends in ‘ch’</a:t>
            </a:r>
            <a:endParaRPr lang="en-US" sz="1400" dirty="0"/>
          </a:p>
        </p:txBody>
      </p:sp>
      <p:sp>
        <p:nvSpPr>
          <p:cNvPr id="24" name="Spelling row 5"/>
          <p:cNvSpPr/>
          <p:nvPr/>
        </p:nvSpPr>
        <p:spPr>
          <a:xfrm>
            <a:off x="457200" y="3685032"/>
            <a:ext cx="8229600" cy="566928"/>
          </a:xfrm>
          <a:prstGeom prst="roundRect">
            <a:avLst>
              <a:gd name="adj" fmla="val 1935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5" name="Badge"/>
          <p:cNvSpPr/>
          <p:nvPr/>
        </p:nvSpPr>
        <p:spPr>
          <a:xfrm>
            <a:off x="548640" y="3785616"/>
            <a:ext cx="365760" cy="365760"/>
          </a:xfrm>
          <a:prstGeom prst="ellipse">
            <a:avLst/>
          </a:prstGeom>
          <a:solidFill>
            <a:schemeClr val="accent5"/>
          </a:solidFill>
          <a:ln w="6350">
            <a:solidFill>
              <a:schemeClr val="accent5"/>
            </a:solidFill>
            <a:prstDash val="solid"/>
          </a:ln>
        </p:spPr>
      </p:sp>
      <p:sp>
        <p:nvSpPr>
          <p:cNvPr id="26" name="Text 23"/>
          <p:cNvSpPr txBox="1"/>
          <p:nvPr/>
        </p:nvSpPr>
        <p:spPr>
          <a:xfrm>
            <a:off x="548640" y="378561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7" name="Text 24"/>
          <p:cNvSpPr txBox="1"/>
          <p:nvPr/>
        </p:nvSpPr>
        <p:spPr>
          <a:xfrm>
            <a:off x="1097280" y="3685032"/>
            <a:ext cx="2926080" cy="566928"/>
          </a:xfrm>
          <a:prstGeom prst="rect">
            <a:avLst/>
          </a:prstGeom>
          <a:noFill/>
          <a:ln/>
        </p:spPr>
        <p:txBody>
          <a:bodyPr wrap="square" lIns="0" tIns="0" rIns="0" bIns="0" rtlCol="0" anchor="ctr"/>
          <a:lstStyle/>
          <a:p>
            <a:pPr marL="0" indent="0">
              <a:buNone/>
            </a:pPr>
            <a:r>
              <a:rPr lang="en-US" sz="2200" b="1" dirty="0">
                <a:solidFill>
                  <a:schemeClr val="tx1"/>
                </a:solidFill>
                <a:highlight>
                  <a:srgbClr val="FFD166"/>
                </a:highlight>
                <a:latin typeface="+mj-lt" pitchFamily="34" charset="0"/>
                <a:ea typeface="+mj-lt" pitchFamily="34" charset="-122"/>
                <a:cs typeface="+mj-lt" pitchFamily="34" charset="-120"/>
              </a:rPr>
              <a:t>ESA</a:t>
            </a:r>
            <a:endParaRPr lang="en-US" sz="2200" dirty="0"/>
          </a:p>
        </p:txBody>
      </p:sp>
      <p:sp>
        <p:nvSpPr>
          <p:cNvPr id="28" name="Text 25"/>
          <p:cNvSpPr txBox="1"/>
          <p:nvPr/>
        </p:nvSpPr>
        <p:spPr>
          <a:xfrm>
            <a:off x="4114800" y="3685032"/>
            <a:ext cx="4389120" cy="566928"/>
          </a:xfrm>
          <a:prstGeom prst="rect">
            <a:avLst/>
          </a:prstGeom>
          <a:noFill/>
          <a:ln/>
        </p:spPr>
        <p:txBody>
          <a:bodyPr wrap="square" lIns="0" tIns="0" rIns="0" bIns="0" rtlCol="0" anchor="ctr"/>
          <a:lstStyle/>
          <a:p>
            <a:pPr marL="0" indent="0">
              <a:buNone/>
            </a:pPr>
            <a:r>
              <a:rPr lang="en-US" sz="1400" i="1" dirty="0">
                <a:solidFill>
                  <a:schemeClr val="tx2"/>
                </a:solidFill>
              </a:rPr>
              <a:t>all capital letters: an abbreviation</a:t>
            </a:r>
            <a:endParaRPr lang="en-US" sz="14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the words in sentences</a:t>
            </a:r>
            <a:endParaRPr lang="en-US" sz="3000" dirty="0"/>
          </a:p>
        </p:txBody>
      </p:sp>
      <p:sp>
        <p:nvSpPr>
          <p:cNvPr id="4" name="Models card"/>
          <p:cNvSpPr/>
          <p:nvPr/>
        </p:nvSpPr>
        <p:spPr>
          <a:xfrm>
            <a:off x="457200" y="1097280"/>
            <a:ext cx="5120640" cy="3291840"/>
          </a:xfrm>
          <a:prstGeom prst="roundRect">
            <a:avLst>
              <a:gd name="adj" fmla="val 333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Text 2"/>
          <p:cNvSpPr txBox="1"/>
          <p:nvPr/>
        </p:nvSpPr>
        <p:spPr>
          <a:xfrm>
            <a:off x="685800" y="1188720"/>
            <a:ext cx="2743200" cy="365760"/>
          </a:xfrm>
          <a:prstGeom prst="rect">
            <a:avLst/>
          </a:prstGeom>
          <a:noFill/>
          <a:ln/>
        </p:spPr>
        <p:txBody>
          <a:bodyPr wrap="square" lIns="0" tIns="0" rIns="0" bIns="0" rtlCol="0" anchor="ctr"/>
          <a:lstStyle/>
          <a:p>
            <a:pPr marL="0" indent="0">
              <a:buNone/>
            </a:pPr>
            <a:r>
              <a:rPr lang="en-US" sz="1800" b="1" dirty="0">
                <a:solidFill>
                  <a:schemeClr val="accent4"/>
                </a:solidFill>
                <a:latin typeface="+mj-lt" pitchFamily="34" charset="0"/>
                <a:ea typeface="+mj-lt" pitchFamily="34" charset="-122"/>
                <a:cs typeface="+mj-lt" pitchFamily="34" charset="-120"/>
              </a:rPr>
              <a:t>Models</a:t>
            </a:r>
            <a:endParaRPr lang="en-US" sz="1800" dirty="0"/>
          </a:p>
        </p:txBody>
      </p:sp>
      <p:sp>
        <p:nvSpPr>
          <p:cNvPr id="6" name="Text 3"/>
          <p:cNvSpPr txBox="1"/>
          <p:nvPr/>
        </p:nvSpPr>
        <p:spPr>
          <a:xfrm>
            <a:off x="685800" y="1600200"/>
            <a:ext cx="4663440" cy="2697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She studied </a:t>
            </a:r>
            <a:r>
              <a:rPr lang="en-US" sz="1500" b="1" dirty="0">
                <a:solidFill>
                  <a:schemeClr val="accent4"/>
                </a:solidFill>
              </a:rPr>
              <a:t>aeronautics</a:t>
            </a:r>
            <a:r>
              <a:rPr lang="en-US" sz="1500" dirty="0">
                <a:solidFill>
                  <a:schemeClr val="tx1"/>
                </a:solidFill>
              </a:rPr>
              <a:t> to learn about aircraft.</a:t>
            </a:r>
            <a:endParaRPr lang="en-US" sz="1500" dirty="0"/>
          </a:p>
          <a:p>
            <a:pPr marL="342900" indent="-342900">
              <a:spcAft>
                <a:spcPts val="800"/>
              </a:spcAft>
              <a:buSzPct val="100000"/>
              <a:buChar char="•"/>
            </a:pPr>
            <a:r>
              <a:rPr lang="en-US" sz="1500" dirty="0">
                <a:solidFill>
                  <a:schemeClr val="tx1"/>
                </a:solidFill>
              </a:rPr>
              <a:t>An </a:t>
            </a:r>
            <a:r>
              <a:rPr lang="en-US" sz="1500" b="1" dirty="0">
                <a:solidFill>
                  <a:schemeClr val="accent4"/>
                </a:solidFill>
              </a:rPr>
              <a:t>ESA</a:t>
            </a:r>
            <a:r>
              <a:rPr lang="en-US" sz="1500" dirty="0">
                <a:solidFill>
                  <a:schemeClr val="tx1"/>
                </a:solidFill>
              </a:rPr>
              <a:t> astronaut works for the European Space Agency.</a:t>
            </a:r>
            <a:endParaRPr lang="en-US" sz="1500" dirty="0"/>
          </a:p>
          <a:p>
            <a:pPr marL="342900" indent="-342900">
              <a:spcAft>
                <a:spcPts val="800"/>
              </a:spcAft>
              <a:buSzPct val="100000"/>
              <a:buChar char="•"/>
            </a:pPr>
            <a:r>
              <a:rPr lang="en-US" sz="1500" dirty="0">
                <a:solidFill>
                  <a:schemeClr val="tx1"/>
                </a:solidFill>
              </a:rPr>
              <a:t>The crew was </a:t>
            </a:r>
            <a:r>
              <a:rPr lang="en-US" sz="1500" b="1" dirty="0">
                <a:solidFill>
                  <a:schemeClr val="accent4"/>
                </a:solidFill>
              </a:rPr>
              <a:t>assigned</a:t>
            </a:r>
            <a:r>
              <a:rPr lang="en-US" sz="1500" dirty="0">
                <a:solidFill>
                  <a:schemeClr val="tx1"/>
                </a:solidFill>
              </a:rPr>
              <a:t> to fly to the ISS.</a:t>
            </a:r>
            <a:endParaRPr lang="en-US" sz="1500" dirty="0"/>
          </a:p>
          <a:p>
            <a:pPr marL="342900" indent="-342900">
              <a:spcAft>
                <a:spcPts val="800"/>
              </a:spcAft>
              <a:buSzPct val="100000"/>
              <a:buChar char="•"/>
            </a:pPr>
            <a:r>
              <a:rPr lang="en-US" sz="1500" dirty="0">
                <a:solidFill>
                  <a:schemeClr val="tx1"/>
                </a:solidFill>
              </a:rPr>
              <a:t>Astronauts </a:t>
            </a:r>
            <a:r>
              <a:rPr lang="en-US" sz="1500" b="1" dirty="0">
                <a:solidFill>
                  <a:schemeClr val="accent4"/>
                </a:solidFill>
              </a:rPr>
              <a:t>conduct</a:t>
            </a:r>
            <a:r>
              <a:rPr lang="en-US" sz="1500" dirty="0">
                <a:solidFill>
                  <a:schemeClr val="tx1"/>
                </a:solidFill>
              </a:rPr>
              <a:t> experiments in space.</a:t>
            </a:r>
            <a:endParaRPr lang="en-US" sz="1500" dirty="0"/>
          </a:p>
          <a:p>
            <a:pPr marL="342900" indent="-342900">
              <a:spcAft>
                <a:spcPts val="800"/>
              </a:spcAft>
              <a:buSzPct val="100000"/>
              <a:buChar char="•"/>
            </a:pPr>
            <a:r>
              <a:rPr lang="en-US" sz="1500" dirty="0">
                <a:solidFill>
                  <a:schemeClr val="tx1"/>
                </a:solidFill>
              </a:rPr>
              <a:t>The rocket will </a:t>
            </a:r>
            <a:r>
              <a:rPr lang="en-US" sz="1500" b="1" dirty="0">
                <a:solidFill>
                  <a:schemeClr val="accent4"/>
                </a:solidFill>
              </a:rPr>
              <a:t>launch</a:t>
            </a:r>
            <a:r>
              <a:rPr lang="en-US" sz="1500" dirty="0">
                <a:solidFill>
                  <a:schemeClr val="tx1"/>
                </a:solidFill>
              </a:rPr>
              <a:t> tomorrow morning.</a:t>
            </a:r>
            <a:endParaRPr lang="en-US" sz="1500" dirty="0"/>
          </a:p>
        </p:txBody>
      </p:sp>
      <p:sp>
        <p:nvSpPr>
          <p:cNvPr id="7" name="Checklist"/>
          <p:cNvSpPr/>
          <p:nvPr/>
        </p:nvSpPr>
        <p:spPr>
          <a:xfrm>
            <a:off x="5760720" y="1097280"/>
            <a:ext cx="2926080" cy="3291840"/>
          </a:xfrm>
          <a:prstGeom prst="roundRect">
            <a:avLst>
              <a:gd name="adj" fmla="val 3750"/>
            </a:avLst>
          </a:prstGeom>
          <a:solidFill>
            <a:schemeClr val="accent5"/>
          </a:solidFill>
          <a:ln w="9525">
            <a:solidFill>
              <a:schemeClr val="accent5"/>
            </a:solidFill>
            <a:prstDash val="solid"/>
          </a:ln>
          <a:effectLst>
            <a:outerShdw blurRad="76200" dist="25400" dir="5400000" algn="bl" rotWithShape="0">
              <a:srgbClr val="0E1537">
                <a:alpha val="14000"/>
              </a:srgbClr>
            </a:outerShdw>
          </a:effectLst>
        </p:spPr>
      </p:sp>
      <p:sp>
        <p:nvSpPr>
          <p:cNvPr id="8" name="Text 5"/>
          <p:cNvSpPr txBox="1"/>
          <p:nvPr/>
        </p:nvSpPr>
        <p:spPr>
          <a:xfrm>
            <a:off x="5943600" y="1188720"/>
            <a:ext cx="2560320" cy="411480"/>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A great sentence…</a:t>
            </a:r>
            <a:endParaRPr lang="en-US" sz="1800" dirty="0"/>
          </a:p>
        </p:txBody>
      </p:sp>
      <p:sp>
        <p:nvSpPr>
          <p:cNvPr id="9" name="Text 6"/>
          <p:cNvSpPr txBox="1"/>
          <p:nvPr/>
        </p:nvSpPr>
        <p:spPr>
          <a:xfrm>
            <a:off x="5943600" y="1645920"/>
            <a:ext cx="256032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shows what the word means</a:t>
            </a:r>
            <a:endParaRPr lang="en-US" sz="1500" dirty="0"/>
          </a:p>
          <a:p>
            <a:pPr marL="342900" indent="-342900">
              <a:spcAft>
                <a:spcPts val="800"/>
              </a:spcAft>
              <a:buSzPct val="100000"/>
              <a:buChar char="•"/>
            </a:pPr>
            <a:r>
              <a:rPr lang="en-US" sz="1500" dirty="0">
                <a:solidFill>
                  <a:schemeClr val="tx1"/>
                </a:solidFill>
              </a:rPr>
              <a:t>starts with a capital letter</a:t>
            </a:r>
            <a:endParaRPr lang="en-US" sz="1500" dirty="0"/>
          </a:p>
          <a:p>
            <a:pPr marL="342900" indent="-342900">
              <a:spcAft>
                <a:spcPts val="800"/>
              </a:spcAft>
              <a:buSzPct val="100000"/>
              <a:buChar char="•"/>
            </a:pPr>
            <a:r>
              <a:rPr lang="en-US" sz="1500" dirty="0">
                <a:solidFill>
                  <a:schemeClr val="tx1"/>
                </a:solidFill>
              </a:rPr>
              <a:t>ends with a full stop</a:t>
            </a:r>
            <a:endParaRPr lang="en-US" sz="1500" dirty="0"/>
          </a:p>
          <a:p>
            <a:pPr marL="342900" indent="-342900">
              <a:spcAft>
                <a:spcPts val="800"/>
              </a:spcAft>
              <a:buSzPct val="100000"/>
              <a:buChar char="•"/>
            </a:pPr>
            <a:r>
              <a:rPr lang="en-US" sz="1500" dirty="0">
                <a:solidFill>
                  <a:schemeClr val="tx1"/>
                </a:solidFill>
              </a:rPr>
              <a:t>is about space or a person’s life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Part chip"/>
          <p:cNvSpPr/>
          <p:nvPr/>
        </p:nvSpPr>
        <p:spPr>
          <a:xfrm>
            <a:off x="731520" y="1417320"/>
            <a:ext cx="1371600" cy="347472"/>
          </a:xfrm>
          <a:prstGeom prst="roundRect">
            <a:avLst>
              <a:gd name="adj" fmla="val 31579"/>
            </a:avLst>
          </a:prstGeom>
          <a:solidFill>
            <a:schemeClr val="accent1"/>
          </a:solidFill>
          <a:ln w="9525">
            <a:solidFill>
              <a:schemeClr val="accent1"/>
            </a:solidFill>
            <a:prstDash val="solid"/>
          </a:ln>
        </p:spPr>
        <p:txBody>
          <a:bodyPr/>
          <a:lstStyle/>
          <a:p>
            <a:endParaRPr/>
          </a:p>
        </p:txBody>
      </p:sp>
      <p:sp>
        <p:nvSpPr>
          <p:cNvPr id="3" name="Text 1"/>
          <p:cNvSpPr txBox="1"/>
          <p:nvPr/>
        </p:nvSpPr>
        <p:spPr>
          <a:xfrm>
            <a:off x="731520" y="1417320"/>
            <a:ext cx="1371600" cy="347472"/>
          </a:xfrm>
          <a:prstGeom prst="rect">
            <a:avLst/>
          </a:prstGeom>
          <a:noFill/>
          <a:ln/>
        </p:spPr>
        <p:txBody>
          <a:bodyPr wrap="square" lIns="0" tIns="0" rIns="0" bIns="0" rtlCol="0" anchor="ctr"/>
          <a:lstStyle/>
          <a:p>
            <a:pPr marL="0" indent="0" algn="ctr">
              <a:buNone/>
            </a:pPr>
            <a:r>
              <a:rPr lang="en-US" sz="1300" b="1" dirty="0">
                <a:solidFill>
                  <a:schemeClr val="tx1"/>
                </a:solidFill>
              </a:rPr>
              <a:t>PART 3</a:t>
            </a:r>
            <a:endParaRPr lang="en-US" sz="1300" dirty="0"/>
          </a:p>
        </p:txBody>
      </p:sp>
      <p:sp>
        <p:nvSpPr>
          <p:cNvPr id="4" name="Text 2"/>
          <p:cNvSpPr txBox="1"/>
          <p:nvPr/>
        </p:nvSpPr>
        <p:spPr>
          <a:xfrm>
            <a:off x="731520" y="1920240"/>
            <a:ext cx="5486400" cy="1005840"/>
          </a:xfrm>
          <a:prstGeom prst="rect">
            <a:avLst/>
          </a:prstGeom>
          <a:noFill/>
          <a:ln/>
        </p:spPr>
        <p:txBody>
          <a:bodyPr wrap="square" lIns="0" tIns="0" rIns="0" bIns="0" rtlCol="0" anchor="ctr"/>
          <a:lstStyle/>
          <a:p>
            <a:pPr marL="0" indent="0">
              <a:buNone/>
            </a:pPr>
            <a:r>
              <a:rPr lang="en-US" sz="3800" b="1" dirty="0">
                <a:solidFill>
                  <a:schemeClr val="accent5"/>
                </a:solidFill>
                <a:latin typeface="+mj-lt" pitchFamily="34" charset="0"/>
                <a:ea typeface="+mj-lt" pitchFamily="34" charset="-122"/>
                <a:cs typeface="+mj-lt" pitchFamily="34" charset="-120"/>
              </a:rPr>
              <a:t>Scan for Details</a:t>
            </a:r>
            <a:endParaRPr lang="en-US" sz="3800" dirty="0"/>
          </a:p>
        </p:txBody>
      </p:sp>
      <p:sp>
        <p:nvSpPr>
          <p:cNvPr id="5" name="Text 3"/>
          <p:cNvSpPr txBox="1"/>
          <p:nvPr/>
        </p:nvSpPr>
        <p:spPr>
          <a:xfrm>
            <a:off x="731520" y="3017520"/>
            <a:ext cx="5120640" cy="457200"/>
          </a:xfrm>
          <a:prstGeom prst="rect">
            <a:avLst/>
          </a:prstGeom>
          <a:noFill/>
          <a:ln/>
        </p:spPr>
        <p:txBody>
          <a:bodyPr wrap="square" lIns="0" tIns="0" rIns="0" bIns="0" rtlCol="0" anchor="ctr"/>
          <a:lstStyle/>
          <a:p>
            <a:pPr marL="0" indent="0">
              <a:buNone/>
            </a:pPr>
            <a:r>
              <a:rPr lang="en-US" sz="1800" i="1" dirty="0">
                <a:solidFill>
                  <a:schemeClr val="bg1"/>
                </a:solidFill>
              </a:rPr>
              <a:t>Activity 3 · a to h</a:t>
            </a:r>
            <a:endParaRPr lang="en-US" sz="18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1"/>
                </a:solidFill>
              </a:defRPr>
            </a:lvl1pPr>
          </a:lstStyle>
          <a:p>
            <a:pPr algn="l"/>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3a to 3d: scan for details</a:t>
            </a:r>
            <a:endParaRPr lang="en-US" sz="3000" dirty="0"/>
          </a:p>
        </p:txBody>
      </p:sp>
      <p:sp>
        <p:nvSpPr>
          <p:cNvPr id="4" name="Question a"/>
          <p:cNvSpPr/>
          <p:nvPr/>
        </p:nvSpPr>
        <p:spPr>
          <a:xfrm>
            <a:off x="457200" y="1051560"/>
            <a:ext cx="8229600" cy="713232"/>
          </a:xfrm>
          <a:prstGeom prst="roundRect">
            <a:avLst>
              <a:gd name="adj" fmla="val 1538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179576"/>
            <a:ext cx="457200" cy="457200"/>
          </a:xfrm>
          <a:prstGeom prst="ellipse">
            <a:avLst/>
          </a:prstGeom>
          <a:solidFill>
            <a:schemeClr val="accent1"/>
          </a:solidFill>
          <a:ln w="6350">
            <a:solidFill>
              <a:schemeClr val="accent1"/>
            </a:solidFill>
            <a:prstDash val="solid"/>
          </a:ln>
        </p:spPr>
      </p:sp>
      <p:sp>
        <p:nvSpPr>
          <p:cNvPr id="6" name="Text 3"/>
          <p:cNvSpPr txBox="1"/>
          <p:nvPr/>
        </p:nvSpPr>
        <p:spPr>
          <a:xfrm>
            <a:off x="594360" y="1179576"/>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7" name="Text 4"/>
          <p:cNvSpPr txBox="1"/>
          <p:nvPr/>
        </p:nvSpPr>
        <p:spPr>
          <a:xfrm>
            <a:off x="1280160" y="1051560"/>
            <a:ext cx="7223760" cy="713232"/>
          </a:xfrm>
          <a:prstGeom prst="rect">
            <a:avLst/>
          </a:prstGeom>
          <a:noFill/>
          <a:ln/>
        </p:spPr>
        <p:txBody>
          <a:bodyPr wrap="square" lIns="0" tIns="0" rIns="0" bIns="0" rtlCol="0" anchor="ctr"/>
          <a:lstStyle/>
          <a:p>
            <a:pPr marL="0" indent="0">
              <a:buNone/>
            </a:pPr>
            <a:r>
              <a:rPr lang="en-US" sz="1700" dirty="0">
                <a:solidFill>
                  <a:schemeClr val="tx1"/>
                </a:solidFill>
              </a:rPr>
              <a:t>Who is the biography about? Is this person still alive?</a:t>
            </a:r>
            <a:endParaRPr lang="en-US" sz="1700" dirty="0"/>
          </a:p>
        </p:txBody>
      </p:sp>
      <p:sp>
        <p:nvSpPr>
          <p:cNvPr id="8" name="Question b"/>
          <p:cNvSpPr/>
          <p:nvPr/>
        </p:nvSpPr>
        <p:spPr>
          <a:xfrm>
            <a:off x="457200" y="1874520"/>
            <a:ext cx="8229600" cy="713232"/>
          </a:xfrm>
          <a:prstGeom prst="roundRect">
            <a:avLst>
              <a:gd name="adj" fmla="val 1538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594360" y="2002536"/>
            <a:ext cx="457200" cy="457200"/>
          </a:xfrm>
          <a:prstGeom prst="ellipse">
            <a:avLst/>
          </a:prstGeom>
          <a:solidFill>
            <a:schemeClr val="accent2"/>
          </a:solidFill>
          <a:ln w="6350">
            <a:solidFill>
              <a:schemeClr val="accent2"/>
            </a:solidFill>
            <a:prstDash val="solid"/>
          </a:ln>
        </p:spPr>
      </p:sp>
      <p:sp>
        <p:nvSpPr>
          <p:cNvPr id="10" name="Text 7"/>
          <p:cNvSpPr txBox="1"/>
          <p:nvPr/>
        </p:nvSpPr>
        <p:spPr>
          <a:xfrm>
            <a:off x="594360" y="2002536"/>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1" name="Text 8"/>
          <p:cNvSpPr txBox="1"/>
          <p:nvPr/>
        </p:nvSpPr>
        <p:spPr>
          <a:xfrm>
            <a:off x="1280160" y="1874520"/>
            <a:ext cx="7223760" cy="713232"/>
          </a:xfrm>
          <a:prstGeom prst="rect">
            <a:avLst/>
          </a:prstGeom>
          <a:noFill/>
          <a:ln/>
        </p:spPr>
        <p:txBody>
          <a:bodyPr wrap="square" lIns="0" tIns="0" rIns="0" bIns="0" rtlCol="0" anchor="ctr"/>
          <a:lstStyle/>
          <a:p>
            <a:pPr marL="0" indent="0">
              <a:buNone/>
            </a:pPr>
            <a:r>
              <a:rPr lang="en-US" sz="1700" dirty="0">
                <a:solidFill>
                  <a:schemeClr val="tx1"/>
                </a:solidFill>
              </a:rPr>
              <a:t>When and where was this person born?</a:t>
            </a:r>
            <a:endParaRPr lang="en-US" sz="1700" dirty="0"/>
          </a:p>
        </p:txBody>
      </p:sp>
      <p:sp>
        <p:nvSpPr>
          <p:cNvPr id="12" name="Question c"/>
          <p:cNvSpPr/>
          <p:nvPr/>
        </p:nvSpPr>
        <p:spPr>
          <a:xfrm>
            <a:off x="457200" y="2697480"/>
            <a:ext cx="8229600" cy="713232"/>
          </a:xfrm>
          <a:prstGeom prst="roundRect">
            <a:avLst>
              <a:gd name="adj" fmla="val 1538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Badge"/>
          <p:cNvSpPr/>
          <p:nvPr/>
        </p:nvSpPr>
        <p:spPr>
          <a:xfrm>
            <a:off x="594360" y="2825496"/>
            <a:ext cx="457200" cy="457200"/>
          </a:xfrm>
          <a:prstGeom prst="ellipse">
            <a:avLst/>
          </a:prstGeom>
          <a:solidFill>
            <a:schemeClr val="accent3"/>
          </a:solidFill>
          <a:ln w="6350">
            <a:solidFill>
              <a:schemeClr val="accent3"/>
            </a:solidFill>
            <a:prstDash val="solid"/>
          </a:ln>
        </p:spPr>
      </p:sp>
      <p:sp>
        <p:nvSpPr>
          <p:cNvPr id="14" name="Text 11"/>
          <p:cNvSpPr txBox="1"/>
          <p:nvPr/>
        </p:nvSpPr>
        <p:spPr>
          <a:xfrm>
            <a:off x="594360" y="2825496"/>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5" name="Text 12"/>
          <p:cNvSpPr txBox="1"/>
          <p:nvPr/>
        </p:nvSpPr>
        <p:spPr>
          <a:xfrm>
            <a:off x="1280160" y="2697480"/>
            <a:ext cx="7223760" cy="713232"/>
          </a:xfrm>
          <a:prstGeom prst="rect">
            <a:avLst/>
          </a:prstGeom>
          <a:noFill/>
          <a:ln/>
        </p:spPr>
        <p:txBody>
          <a:bodyPr wrap="square" lIns="0" tIns="0" rIns="0" bIns="0" rtlCol="0" anchor="ctr"/>
          <a:lstStyle/>
          <a:p>
            <a:pPr marL="0" indent="0">
              <a:buNone/>
            </a:pPr>
            <a:r>
              <a:rPr lang="en-US" sz="1700" dirty="0">
                <a:solidFill>
                  <a:schemeClr val="tx1"/>
                </a:solidFill>
              </a:rPr>
              <a:t>Identify three other facts in the text. Are there any opinions?</a:t>
            </a:r>
            <a:endParaRPr lang="en-US" sz="1700" dirty="0"/>
          </a:p>
        </p:txBody>
      </p:sp>
      <p:sp>
        <p:nvSpPr>
          <p:cNvPr id="16" name="Question d"/>
          <p:cNvSpPr/>
          <p:nvPr/>
        </p:nvSpPr>
        <p:spPr>
          <a:xfrm>
            <a:off x="457200" y="3520440"/>
            <a:ext cx="8229600" cy="713232"/>
          </a:xfrm>
          <a:prstGeom prst="roundRect">
            <a:avLst>
              <a:gd name="adj" fmla="val 1538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Badge"/>
          <p:cNvSpPr/>
          <p:nvPr/>
        </p:nvSpPr>
        <p:spPr>
          <a:xfrm>
            <a:off x="594360" y="3648456"/>
            <a:ext cx="457200" cy="457200"/>
          </a:xfrm>
          <a:prstGeom prst="ellipse">
            <a:avLst/>
          </a:prstGeom>
          <a:solidFill>
            <a:schemeClr val="accent4"/>
          </a:solidFill>
          <a:ln w="6350">
            <a:solidFill>
              <a:schemeClr val="accent4"/>
            </a:solidFill>
            <a:prstDash val="solid"/>
          </a:ln>
        </p:spPr>
      </p:sp>
      <p:sp>
        <p:nvSpPr>
          <p:cNvPr id="18" name="Text 15"/>
          <p:cNvSpPr txBox="1"/>
          <p:nvPr/>
        </p:nvSpPr>
        <p:spPr>
          <a:xfrm>
            <a:off x="594360" y="3648456"/>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d</a:t>
            </a:r>
            <a:endParaRPr lang="en-US" sz="1500" dirty="0"/>
          </a:p>
        </p:txBody>
      </p:sp>
      <p:sp>
        <p:nvSpPr>
          <p:cNvPr id="19" name="Text 16"/>
          <p:cNvSpPr txBox="1"/>
          <p:nvPr/>
        </p:nvSpPr>
        <p:spPr>
          <a:xfrm>
            <a:off x="1280160" y="3520440"/>
            <a:ext cx="7223760" cy="713232"/>
          </a:xfrm>
          <a:prstGeom prst="rect">
            <a:avLst/>
          </a:prstGeom>
          <a:noFill/>
          <a:ln/>
        </p:spPr>
        <p:txBody>
          <a:bodyPr wrap="square" lIns="0" tIns="0" rIns="0" bIns="0" rtlCol="0" anchor="ctr"/>
          <a:lstStyle/>
          <a:p>
            <a:pPr marL="0" indent="0">
              <a:buNone/>
            </a:pPr>
            <a:r>
              <a:rPr lang="en-US" sz="1700" dirty="0">
                <a:solidFill>
                  <a:schemeClr val="tx1"/>
                </a:solidFill>
              </a:rPr>
              <a:t>Why did the writer choose to include mainly facts?</a:t>
            </a:r>
            <a:endParaRPr lang="en-US" sz="1700" dirty="0"/>
          </a:p>
        </p:txBody>
      </p:sp>
      <p:sp>
        <p:nvSpPr>
          <p:cNvPr id="20" name="Text 17"/>
          <p:cNvSpPr txBox="1"/>
          <p:nvPr/>
        </p:nvSpPr>
        <p:spPr>
          <a:xfrm>
            <a:off x="457200" y="4434840"/>
            <a:ext cx="8229600" cy="228600"/>
          </a:xfrm>
          <a:prstGeom prst="rect">
            <a:avLst/>
          </a:prstGeom>
          <a:noFill/>
          <a:ln/>
        </p:spPr>
        <p:txBody>
          <a:bodyPr wrap="square" lIns="0" tIns="0" rIns="0" bIns="0" rtlCol="0" anchor="ctr"/>
          <a:lstStyle/>
          <a:p>
            <a:pPr marL="0" indent="0" algn="ctr">
              <a:buNone/>
            </a:pPr>
            <a:r>
              <a:rPr lang="en-US" sz="1300" i="1" dirty="0">
                <a:solidFill>
                  <a:schemeClr val="tx2"/>
                </a:solidFill>
              </a:rPr>
              <a:t>Tip: scan for keywords such as ‘born’, dates and capital letters.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3a to 3d: model answers</a:t>
            </a:r>
            <a:endParaRPr lang="en-US" sz="3000" dirty="0"/>
          </a:p>
        </p:txBody>
      </p:sp>
      <p:sp>
        <p:nvSpPr>
          <p:cNvPr id="4" name="Answer a"/>
          <p:cNvSpPr/>
          <p:nvPr/>
        </p:nvSpPr>
        <p:spPr>
          <a:xfrm>
            <a:off x="457200" y="1051560"/>
            <a:ext cx="8229600" cy="845820"/>
          </a:xfrm>
          <a:prstGeom prst="roundRect">
            <a:avLst>
              <a:gd name="adj" fmla="val 1297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268730"/>
            <a:ext cx="411480" cy="411480"/>
          </a:xfrm>
          <a:prstGeom prst="ellipse">
            <a:avLst/>
          </a:prstGeom>
          <a:solidFill>
            <a:schemeClr val="accent1"/>
          </a:solidFill>
          <a:ln w="6350">
            <a:solidFill>
              <a:schemeClr val="accent1"/>
            </a:solidFill>
            <a:prstDash val="solid"/>
          </a:ln>
        </p:spPr>
      </p:sp>
      <p:sp>
        <p:nvSpPr>
          <p:cNvPr id="6" name="Text 3"/>
          <p:cNvSpPr txBox="1"/>
          <p:nvPr/>
        </p:nvSpPr>
        <p:spPr>
          <a:xfrm>
            <a:off x="594360" y="126873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7" name="Text 4"/>
          <p:cNvSpPr txBox="1"/>
          <p:nvPr/>
        </p:nvSpPr>
        <p:spPr>
          <a:xfrm>
            <a:off x="1188720" y="1051560"/>
            <a:ext cx="7315200" cy="845820"/>
          </a:xfrm>
          <a:prstGeom prst="rect">
            <a:avLst/>
          </a:prstGeom>
          <a:noFill/>
          <a:ln/>
        </p:spPr>
        <p:txBody>
          <a:bodyPr wrap="square" lIns="0" tIns="0" rIns="0" bIns="0" rtlCol="0" anchor="ctr"/>
          <a:lstStyle/>
          <a:p>
            <a:pPr marL="0" indent="0">
              <a:buNone/>
            </a:pPr>
            <a:r>
              <a:rPr lang="en-US" sz="1300" dirty="0">
                <a:solidFill>
                  <a:schemeClr val="tx1"/>
                </a:solidFill>
              </a:rPr>
              <a:t>Samantha Cristoforetti, an ESA astronaut. She is still alive: the text says she “works” and has “future plans”.</a:t>
            </a:r>
            <a:endParaRPr lang="en-US" sz="1300" dirty="0"/>
          </a:p>
        </p:txBody>
      </p:sp>
      <p:sp>
        <p:nvSpPr>
          <p:cNvPr id="8" name="Answer b"/>
          <p:cNvSpPr/>
          <p:nvPr/>
        </p:nvSpPr>
        <p:spPr>
          <a:xfrm>
            <a:off x="457200" y="1988820"/>
            <a:ext cx="8229600" cy="845820"/>
          </a:xfrm>
          <a:prstGeom prst="roundRect">
            <a:avLst>
              <a:gd name="adj" fmla="val 1297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594360" y="2205990"/>
            <a:ext cx="411480" cy="411480"/>
          </a:xfrm>
          <a:prstGeom prst="ellipse">
            <a:avLst/>
          </a:prstGeom>
          <a:solidFill>
            <a:schemeClr val="accent2"/>
          </a:solidFill>
          <a:ln w="6350">
            <a:solidFill>
              <a:schemeClr val="accent2"/>
            </a:solidFill>
            <a:prstDash val="solid"/>
          </a:ln>
        </p:spPr>
      </p:sp>
      <p:sp>
        <p:nvSpPr>
          <p:cNvPr id="10" name="Text 7"/>
          <p:cNvSpPr txBox="1"/>
          <p:nvPr/>
        </p:nvSpPr>
        <p:spPr>
          <a:xfrm>
            <a:off x="594360" y="220599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1" name="Text 8"/>
          <p:cNvSpPr txBox="1"/>
          <p:nvPr/>
        </p:nvSpPr>
        <p:spPr>
          <a:xfrm>
            <a:off x="1188720" y="1988820"/>
            <a:ext cx="7315200" cy="845820"/>
          </a:xfrm>
          <a:prstGeom prst="rect">
            <a:avLst/>
          </a:prstGeom>
          <a:noFill/>
          <a:ln/>
        </p:spPr>
        <p:txBody>
          <a:bodyPr wrap="square" lIns="0" tIns="0" rIns="0" bIns="0" rtlCol="0" anchor="ctr"/>
          <a:lstStyle/>
          <a:p>
            <a:pPr marL="0" indent="0">
              <a:buNone/>
            </a:pPr>
            <a:r>
              <a:rPr lang="en-US" sz="1300" b="1" dirty="0">
                <a:solidFill>
                  <a:schemeClr val="tx1"/>
                </a:solidFill>
                <a:highlight>
                  <a:srgbClr val="FFD166"/>
                </a:highlight>
              </a:rPr>
              <a:t>26 April 1977</a:t>
            </a:r>
            <a:r>
              <a:rPr lang="en-US" sz="1300" dirty="0">
                <a:solidFill>
                  <a:schemeClr val="tx1"/>
                </a:solidFill>
              </a:rPr>
              <a:t> in </a:t>
            </a:r>
            <a:r>
              <a:rPr lang="en-US" sz="1300" b="1" dirty="0">
                <a:solidFill>
                  <a:schemeClr val="tx1"/>
                </a:solidFill>
                <a:highlight>
                  <a:srgbClr val="FFD166"/>
                </a:highlight>
              </a:rPr>
              <a:t>Milan, Italy</a:t>
            </a:r>
            <a:r>
              <a:rPr lang="en-US" sz="1300" dirty="0">
                <a:solidFill>
                  <a:schemeClr val="tx1"/>
                </a:solidFill>
              </a:rPr>
              <a:t>.</a:t>
            </a:r>
            <a:endParaRPr lang="en-US" sz="1300" dirty="0"/>
          </a:p>
        </p:txBody>
      </p:sp>
      <p:sp>
        <p:nvSpPr>
          <p:cNvPr id="12" name="Answer c"/>
          <p:cNvSpPr/>
          <p:nvPr/>
        </p:nvSpPr>
        <p:spPr>
          <a:xfrm>
            <a:off x="457200" y="2926080"/>
            <a:ext cx="8229600" cy="845820"/>
          </a:xfrm>
          <a:prstGeom prst="roundRect">
            <a:avLst>
              <a:gd name="adj" fmla="val 1297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Badge"/>
          <p:cNvSpPr/>
          <p:nvPr/>
        </p:nvSpPr>
        <p:spPr>
          <a:xfrm>
            <a:off x="594360" y="3143250"/>
            <a:ext cx="411480" cy="411480"/>
          </a:xfrm>
          <a:prstGeom prst="ellipse">
            <a:avLst/>
          </a:prstGeom>
          <a:solidFill>
            <a:schemeClr val="accent3"/>
          </a:solidFill>
          <a:ln w="6350">
            <a:solidFill>
              <a:schemeClr val="accent3"/>
            </a:solidFill>
            <a:prstDash val="solid"/>
          </a:ln>
        </p:spPr>
      </p:sp>
      <p:sp>
        <p:nvSpPr>
          <p:cNvPr id="14" name="Text 11"/>
          <p:cNvSpPr txBox="1"/>
          <p:nvPr/>
        </p:nvSpPr>
        <p:spPr>
          <a:xfrm>
            <a:off x="594360" y="314325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5" name="Text 12"/>
          <p:cNvSpPr txBox="1"/>
          <p:nvPr/>
        </p:nvSpPr>
        <p:spPr>
          <a:xfrm>
            <a:off x="1188720" y="2926080"/>
            <a:ext cx="7315200" cy="845820"/>
          </a:xfrm>
          <a:prstGeom prst="rect">
            <a:avLst/>
          </a:prstGeom>
          <a:noFill/>
          <a:ln/>
        </p:spPr>
        <p:txBody>
          <a:bodyPr wrap="square" lIns="0" tIns="0" rIns="0" bIns="0" rtlCol="0" anchor="ctr"/>
          <a:lstStyle/>
          <a:p>
            <a:pPr marL="0" indent="0">
              <a:buNone/>
            </a:pPr>
            <a:r>
              <a:rPr lang="en-US" sz="1300" dirty="0">
                <a:solidFill>
                  <a:schemeClr val="tx1"/>
                </a:solidFill>
              </a:rPr>
              <a:t>Facts: she graduated in 2001 · joined the Italian Air Force · was selected as an ESA astronaut in May 2009. Opinion: “Samantha is an inspiration to anyone wanting to follow their dreams.”</a:t>
            </a:r>
            <a:endParaRPr lang="en-US" sz="1300" dirty="0"/>
          </a:p>
        </p:txBody>
      </p:sp>
      <p:sp>
        <p:nvSpPr>
          <p:cNvPr id="16" name="Answer d"/>
          <p:cNvSpPr/>
          <p:nvPr/>
        </p:nvSpPr>
        <p:spPr>
          <a:xfrm>
            <a:off x="457200" y="3863340"/>
            <a:ext cx="8229600" cy="845820"/>
          </a:xfrm>
          <a:prstGeom prst="roundRect">
            <a:avLst>
              <a:gd name="adj" fmla="val 1297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Badge"/>
          <p:cNvSpPr/>
          <p:nvPr/>
        </p:nvSpPr>
        <p:spPr>
          <a:xfrm>
            <a:off x="594360" y="4080510"/>
            <a:ext cx="411480" cy="411480"/>
          </a:xfrm>
          <a:prstGeom prst="ellipse">
            <a:avLst/>
          </a:prstGeom>
          <a:solidFill>
            <a:schemeClr val="accent4"/>
          </a:solidFill>
          <a:ln w="6350">
            <a:solidFill>
              <a:schemeClr val="accent4"/>
            </a:solidFill>
            <a:prstDash val="solid"/>
          </a:ln>
        </p:spPr>
      </p:sp>
      <p:sp>
        <p:nvSpPr>
          <p:cNvPr id="18" name="Text 15"/>
          <p:cNvSpPr txBox="1"/>
          <p:nvPr/>
        </p:nvSpPr>
        <p:spPr>
          <a:xfrm>
            <a:off x="594360" y="408051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d</a:t>
            </a:r>
            <a:endParaRPr lang="en-US" sz="1500" dirty="0"/>
          </a:p>
        </p:txBody>
      </p:sp>
      <p:sp>
        <p:nvSpPr>
          <p:cNvPr id="19" name="Text 16"/>
          <p:cNvSpPr txBox="1"/>
          <p:nvPr/>
        </p:nvSpPr>
        <p:spPr>
          <a:xfrm>
            <a:off x="1188720" y="3863340"/>
            <a:ext cx="7315200" cy="845820"/>
          </a:xfrm>
          <a:prstGeom prst="rect">
            <a:avLst/>
          </a:prstGeom>
          <a:noFill/>
          <a:ln/>
        </p:spPr>
        <p:txBody>
          <a:bodyPr wrap="square" lIns="0" tIns="0" rIns="0" bIns="0" rtlCol="0" anchor="ctr"/>
          <a:lstStyle/>
          <a:p>
            <a:pPr marL="0" indent="0">
              <a:buNone/>
            </a:pPr>
            <a:r>
              <a:rPr lang="en-US" sz="1300" dirty="0">
                <a:solidFill>
                  <a:schemeClr val="tx1"/>
                </a:solidFill>
              </a:rPr>
              <a:t>Facts can be checked and proved, so readers can trust the text. The purpose of a biography is to inform.</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3f: fan or enemy?</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Who do you think wrote this biography: a fan or an enemy of the person?</a:t>
            </a:r>
            <a:endParaRPr lang="en-US" sz="1600" dirty="0"/>
          </a:p>
        </p:txBody>
      </p:sp>
      <p:sp>
        <p:nvSpPr>
          <p:cNvPr id="5" name="Question"/>
          <p:cNvSpPr/>
          <p:nvPr/>
        </p:nvSpPr>
        <p:spPr>
          <a:xfrm>
            <a:off x="457200" y="1508760"/>
            <a:ext cx="822960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731520" y="1508760"/>
            <a:ext cx="7955280" cy="1097280"/>
          </a:xfrm>
          <a:prstGeom prst="rect">
            <a:avLst/>
          </a:prstGeom>
          <a:noFill/>
          <a:ln/>
        </p:spPr>
        <p:txBody>
          <a:bodyPr wrap="square" lIns="0" tIns="0" rIns="0" bIns="0" rtlCol="0" anchor="ctr"/>
          <a:lstStyle/>
          <a:p>
            <a:pPr marL="0" indent="0">
              <a:buNone/>
            </a:pPr>
            <a:r>
              <a:rPr lang="en-US" sz="2000" b="1" dirty="0">
                <a:solidFill>
                  <a:schemeClr val="tx1"/>
                </a:solidFill>
              </a:rPr>
              <a:t>Explain how the point of view of the writer is expressed in this biography.</a:t>
            </a:r>
            <a:endParaRPr lang="en-US" sz="2000" dirty="0"/>
          </a:p>
        </p:txBody>
      </p:sp>
      <p:sp>
        <p:nvSpPr>
          <p:cNvPr id="7" name="Hint 1"/>
          <p:cNvSpPr/>
          <p:nvPr/>
        </p:nvSpPr>
        <p:spPr>
          <a:xfrm>
            <a:off x="457200" y="2788920"/>
            <a:ext cx="4023360" cy="1371600"/>
          </a:xfrm>
          <a:prstGeom prst="roundRect">
            <a:avLst>
              <a:gd name="adj" fmla="val 8000"/>
            </a:avLst>
          </a:prstGeom>
          <a:solidFill>
            <a:schemeClr val="accent2"/>
          </a:solidFill>
          <a:ln w="9525">
            <a:solidFill>
              <a:schemeClr val="accent2"/>
            </a:solidFill>
            <a:prstDash val="solid"/>
          </a:ln>
        </p:spPr>
      </p:sp>
      <p:sp>
        <p:nvSpPr>
          <p:cNvPr id="8" name="Text 5"/>
          <p:cNvSpPr txBox="1"/>
          <p:nvPr/>
        </p:nvSpPr>
        <p:spPr>
          <a:xfrm>
            <a:off x="640080" y="2788920"/>
            <a:ext cx="3657600" cy="1371600"/>
          </a:xfrm>
          <a:prstGeom prst="rect">
            <a:avLst/>
          </a:prstGeom>
          <a:noFill/>
          <a:ln/>
        </p:spPr>
        <p:txBody>
          <a:bodyPr wrap="square" lIns="0" tIns="0" rIns="0" bIns="0" rtlCol="0" anchor="ctr"/>
          <a:lstStyle/>
          <a:p>
            <a:pPr marL="0" indent="0">
              <a:buNone/>
            </a:pPr>
            <a:r>
              <a:rPr lang="en-US" sz="1600" b="1" dirty="0">
                <a:solidFill>
                  <a:schemeClr val="tx1"/>
                </a:solidFill>
              </a:rPr>
              <a:t>Look at the WORDS the writer chooses: positive or negative?</a:t>
            </a:r>
            <a:endParaRPr lang="en-US" sz="1600" dirty="0"/>
          </a:p>
        </p:txBody>
      </p:sp>
      <p:sp>
        <p:nvSpPr>
          <p:cNvPr id="9" name="Hint 2"/>
          <p:cNvSpPr/>
          <p:nvPr/>
        </p:nvSpPr>
        <p:spPr>
          <a:xfrm>
            <a:off x="4663440" y="2788920"/>
            <a:ext cx="4023360" cy="1371600"/>
          </a:xfrm>
          <a:prstGeom prst="roundRect">
            <a:avLst>
              <a:gd name="adj" fmla="val 8000"/>
            </a:avLst>
          </a:prstGeom>
          <a:solidFill>
            <a:schemeClr val="accent5"/>
          </a:solidFill>
          <a:ln w="9525">
            <a:solidFill>
              <a:schemeClr val="accent5"/>
            </a:solidFill>
            <a:prstDash val="solid"/>
          </a:ln>
        </p:spPr>
      </p:sp>
      <p:sp>
        <p:nvSpPr>
          <p:cNvPr id="10" name="Text 7"/>
          <p:cNvSpPr txBox="1"/>
          <p:nvPr/>
        </p:nvSpPr>
        <p:spPr>
          <a:xfrm>
            <a:off x="4846320" y="2788920"/>
            <a:ext cx="3657600" cy="1371600"/>
          </a:xfrm>
          <a:prstGeom prst="rect">
            <a:avLst/>
          </a:prstGeom>
          <a:noFill/>
          <a:ln/>
        </p:spPr>
        <p:txBody>
          <a:bodyPr wrap="square" lIns="0" tIns="0" rIns="0" bIns="0" rtlCol="0" anchor="ctr"/>
          <a:lstStyle/>
          <a:p>
            <a:pPr marL="0" indent="0">
              <a:buNone/>
            </a:pPr>
            <a:r>
              <a:rPr lang="en-US" sz="1600" b="1" dirty="0">
                <a:solidFill>
                  <a:schemeClr val="tx1"/>
                </a:solidFill>
              </a:rPr>
              <a:t>Look at WHICH facts the writer includes: achievements or mistakes?</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3f: model answer</a:t>
            </a:r>
            <a:endParaRPr lang="en-US" sz="3000" dirty="0"/>
          </a:p>
        </p:txBody>
      </p:sp>
      <p:sp>
        <p:nvSpPr>
          <p:cNvPr id="4" name="Verdict"/>
          <p:cNvSpPr/>
          <p:nvPr/>
        </p:nvSpPr>
        <p:spPr>
          <a:xfrm>
            <a:off x="457200" y="1051560"/>
            <a:ext cx="8229600" cy="822960"/>
          </a:xfrm>
          <a:prstGeom prst="roundRect">
            <a:avLst>
              <a:gd name="adj" fmla="val 13333"/>
            </a:avLst>
          </a:prstGeom>
          <a:solidFill>
            <a:schemeClr val="accent4"/>
          </a:solidFill>
          <a:ln w="9525">
            <a:solidFill>
              <a:schemeClr val="accent4"/>
            </a:solidFill>
            <a:prstDash val="solid"/>
          </a:ln>
        </p:spPr>
      </p:sp>
      <p:sp>
        <p:nvSpPr>
          <p:cNvPr id="5" name="Text 2"/>
          <p:cNvSpPr txBox="1"/>
          <p:nvPr/>
        </p:nvSpPr>
        <p:spPr>
          <a:xfrm>
            <a:off x="731520" y="1051560"/>
            <a:ext cx="7680960" cy="822960"/>
          </a:xfrm>
          <a:prstGeom prst="rect">
            <a:avLst/>
          </a:prstGeom>
          <a:noFill/>
          <a:ln/>
        </p:spPr>
        <p:txBody>
          <a:bodyPr wrap="square" lIns="0" tIns="0" rIns="0" bIns="0" rtlCol="0" anchor="ctr"/>
          <a:lstStyle/>
          <a:p>
            <a:pPr marL="0" indent="0">
              <a:buNone/>
            </a:pPr>
            <a:r>
              <a:rPr lang="en-US" sz="2200" b="1" dirty="0">
                <a:solidFill>
                  <a:schemeClr val="accent5"/>
                </a:solidFill>
                <a:latin typeface="+mj-lt" pitchFamily="34" charset="0"/>
                <a:ea typeface="+mj-lt" pitchFamily="34" charset="-122"/>
                <a:cs typeface="+mj-lt" pitchFamily="34" charset="-120"/>
              </a:rPr>
              <a:t>The writer is a fan. </a:t>
            </a:r>
            <a:r>
              <a:rPr lang="en-US" sz="1600" dirty="0">
                <a:solidFill>
                  <a:schemeClr val="bg1"/>
                </a:solidFill>
                <a:latin typeface="+mj-lt" pitchFamily="34" charset="0"/>
                <a:ea typeface="+mj-lt" pitchFamily="34" charset="-122"/>
                <a:cs typeface="+mj-lt" pitchFamily="34" charset="-120"/>
              </a:rPr>
              <a:t>The writer admires Samantha.</a:t>
            </a:r>
            <a:endParaRPr lang="en-US" sz="2200" dirty="0"/>
          </a:p>
        </p:txBody>
      </p:sp>
      <p:sp>
        <p:nvSpPr>
          <p:cNvPr id="6" name="Positive words"/>
          <p:cNvSpPr/>
          <p:nvPr/>
        </p:nvSpPr>
        <p:spPr>
          <a:xfrm>
            <a:off x="457200" y="2103120"/>
            <a:ext cx="2651760" cy="2331720"/>
          </a:xfrm>
          <a:prstGeom prst="roundRect">
            <a:avLst>
              <a:gd name="adj" fmla="val 470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7" name="Text 4"/>
          <p:cNvSpPr txBox="1"/>
          <p:nvPr/>
        </p:nvSpPr>
        <p:spPr>
          <a:xfrm>
            <a:off x="594360" y="2194560"/>
            <a:ext cx="2377440" cy="365760"/>
          </a:xfrm>
          <a:prstGeom prst="rect">
            <a:avLst/>
          </a:prstGeom>
          <a:noFill/>
          <a:ln/>
        </p:spPr>
        <p:txBody>
          <a:bodyPr wrap="square" lIns="0" tIns="0" rIns="0" bIns="0" rtlCol="0" anchor="ctr"/>
          <a:lstStyle/>
          <a:p>
            <a:pPr marL="0" indent="0">
              <a:buNone/>
            </a:pPr>
            <a:r>
              <a:rPr lang="en-US" sz="1600" b="1" dirty="0">
                <a:solidFill>
                  <a:schemeClr val="accent4"/>
                </a:solidFill>
                <a:latin typeface="+mj-lt" pitchFamily="34" charset="0"/>
                <a:ea typeface="+mj-lt" pitchFamily="34" charset="-122"/>
                <a:cs typeface="+mj-lt" pitchFamily="34" charset="-120"/>
              </a:rPr>
              <a:t>Positive words</a:t>
            </a:r>
            <a:endParaRPr lang="en-US" sz="1600" dirty="0"/>
          </a:p>
        </p:txBody>
      </p:sp>
      <p:sp>
        <p:nvSpPr>
          <p:cNvPr id="8" name="Text 5"/>
          <p:cNvSpPr txBox="1"/>
          <p:nvPr/>
        </p:nvSpPr>
        <p:spPr>
          <a:xfrm>
            <a:off x="594360" y="2606040"/>
            <a:ext cx="2423160" cy="1783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“Samantha’s dream came true”</a:t>
            </a:r>
            <a:endParaRPr lang="en-US" sz="1300" dirty="0"/>
          </a:p>
          <a:p>
            <a:pPr marL="342900" indent="-342900">
              <a:spcAft>
                <a:spcPts val="600"/>
              </a:spcAft>
              <a:buSzPct val="100000"/>
              <a:buChar char="•"/>
            </a:pPr>
            <a:r>
              <a:rPr lang="en-US" sz="1300" dirty="0">
                <a:solidFill>
                  <a:schemeClr val="tx1"/>
                </a:solidFill>
              </a:rPr>
              <a:t>“an inspiration”</a:t>
            </a:r>
            <a:endParaRPr lang="en-US" sz="1300" dirty="0"/>
          </a:p>
          <a:p>
            <a:pPr marL="342900" indent="-342900">
              <a:spcAft>
                <a:spcPts val="600"/>
              </a:spcAft>
              <a:buSzPct val="100000"/>
              <a:buChar char="•"/>
            </a:pPr>
            <a:r>
              <a:rPr lang="en-US" sz="1300" dirty="0">
                <a:solidFill>
                  <a:schemeClr val="tx1"/>
                </a:solidFill>
              </a:rPr>
              <a:t>“anything is possible”</a:t>
            </a:r>
            <a:endParaRPr lang="en-US" sz="1300" dirty="0"/>
          </a:p>
        </p:txBody>
      </p:sp>
      <p:sp>
        <p:nvSpPr>
          <p:cNvPr id="9" name="Only good facts"/>
          <p:cNvSpPr/>
          <p:nvPr/>
        </p:nvSpPr>
        <p:spPr>
          <a:xfrm>
            <a:off x="3246120" y="2103120"/>
            <a:ext cx="2651760" cy="2331720"/>
          </a:xfrm>
          <a:prstGeom prst="roundRect">
            <a:avLst>
              <a:gd name="adj" fmla="val 470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Text 7"/>
          <p:cNvSpPr txBox="1"/>
          <p:nvPr/>
        </p:nvSpPr>
        <p:spPr>
          <a:xfrm>
            <a:off x="3383280" y="2194560"/>
            <a:ext cx="2377440" cy="365760"/>
          </a:xfrm>
          <a:prstGeom prst="rect">
            <a:avLst/>
          </a:prstGeom>
          <a:noFill/>
          <a:ln/>
        </p:spPr>
        <p:txBody>
          <a:bodyPr wrap="square" lIns="0" tIns="0" rIns="0" bIns="0" rtlCol="0" anchor="ctr"/>
          <a:lstStyle/>
          <a:p>
            <a:pPr marL="0" indent="0">
              <a:buNone/>
            </a:pPr>
            <a:r>
              <a:rPr lang="en-US" sz="1600" b="1" dirty="0">
                <a:solidFill>
                  <a:schemeClr val="accent4"/>
                </a:solidFill>
                <a:latin typeface="+mj-lt" pitchFamily="34" charset="0"/>
                <a:ea typeface="+mj-lt" pitchFamily="34" charset="-122"/>
                <a:cs typeface="+mj-lt" pitchFamily="34" charset="-120"/>
              </a:rPr>
              <a:t>Only good facts</a:t>
            </a:r>
            <a:endParaRPr lang="en-US" sz="1600" dirty="0"/>
          </a:p>
        </p:txBody>
      </p:sp>
      <p:sp>
        <p:nvSpPr>
          <p:cNvPr id="11" name="Text 8"/>
          <p:cNvSpPr txBox="1"/>
          <p:nvPr/>
        </p:nvSpPr>
        <p:spPr>
          <a:xfrm>
            <a:off x="3383280" y="2606040"/>
            <a:ext cx="2423160" cy="1783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records and achievements</a:t>
            </a:r>
            <a:endParaRPr lang="en-US" sz="1300" dirty="0"/>
          </a:p>
          <a:p>
            <a:pPr marL="342900" indent="-342900">
              <a:spcAft>
                <a:spcPts val="600"/>
              </a:spcAft>
              <a:buSzPct val="100000"/>
              <a:buChar char="•"/>
            </a:pPr>
            <a:r>
              <a:rPr lang="en-US" sz="1300" dirty="0">
                <a:solidFill>
                  <a:schemeClr val="tx1"/>
                </a:solidFill>
              </a:rPr>
              <a:t>no mistakes or problems</a:t>
            </a:r>
            <a:endParaRPr lang="en-US" sz="1300" dirty="0"/>
          </a:p>
          <a:p>
            <a:pPr marL="342900" indent="-342900">
              <a:spcAft>
                <a:spcPts val="600"/>
              </a:spcAft>
              <a:buSzPct val="100000"/>
              <a:buChar char="•"/>
            </a:pPr>
            <a:r>
              <a:rPr lang="en-US" sz="1300" dirty="0">
                <a:solidFill>
                  <a:schemeClr val="tx1"/>
                </a:solidFill>
              </a:rPr>
              <a:t>no criticism at all</a:t>
            </a:r>
            <a:endParaRPr lang="en-US" sz="1300" dirty="0"/>
          </a:p>
        </p:txBody>
      </p:sp>
      <p:sp>
        <p:nvSpPr>
          <p:cNvPr id="12" name="Third person"/>
          <p:cNvSpPr/>
          <p:nvPr/>
        </p:nvSpPr>
        <p:spPr>
          <a:xfrm>
            <a:off x="6035040" y="2103120"/>
            <a:ext cx="2651760" cy="2331720"/>
          </a:xfrm>
          <a:prstGeom prst="roundRect">
            <a:avLst>
              <a:gd name="adj" fmla="val 470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Text 10"/>
          <p:cNvSpPr txBox="1"/>
          <p:nvPr/>
        </p:nvSpPr>
        <p:spPr>
          <a:xfrm>
            <a:off x="6172200" y="2194560"/>
            <a:ext cx="2377440" cy="365760"/>
          </a:xfrm>
          <a:prstGeom prst="rect">
            <a:avLst/>
          </a:prstGeom>
          <a:noFill/>
          <a:ln/>
        </p:spPr>
        <p:txBody>
          <a:bodyPr wrap="square" lIns="0" tIns="0" rIns="0" bIns="0" rtlCol="0" anchor="ctr"/>
          <a:lstStyle/>
          <a:p>
            <a:pPr marL="0" indent="0">
              <a:buNone/>
            </a:pPr>
            <a:r>
              <a:rPr lang="en-US" sz="1600" b="1" dirty="0">
                <a:solidFill>
                  <a:schemeClr val="accent4"/>
                </a:solidFill>
                <a:latin typeface="+mj-lt" pitchFamily="34" charset="0"/>
                <a:ea typeface="+mj-lt" pitchFamily="34" charset="-122"/>
                <a:cs typeface="+mj-lt" pitchFamily="34" charset="-120"/>
              </a:rPr>
              <a:t>Third person</a:t>
            </a:r>
            <a:endParaRPr lang="en-US" sz="1600" dirty="0"/>
          </a:p>
        </p:txBody>
      </p:sp>
      <p:sp>
        <p:nvSpPr>
          <p:cNvPr id="14" name="Text 11"/>
          <p:cNvSpPr txBox="1"/>
          <p:nvPr/>
        </p:nvSpPr>
        <p:spPr>
          <a:xfrm>
            <a:off x="6172200" y="2606040"/>
            <a:ext cx="2423160" cy="1783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‘she’ and ‘her’: the writer stays outside the story</a:t>
            </a:r>
            <a:endParaRPr lang="en-US" sz="1300" dirty="0"/>
          </a:p>
          <a:p>
            <a:pPr marL="342900" indent="-342900">
              <a:spcAft>
                <a:spcPts val="600"/>
              </a:spcAft>
              <a:buSzPct val="100000"/>
              <a:buChar char="•"/>
            </a:pPr>
            <a:r>
              <a:rPr lang="en-US" sz="1300" dirty="0">
                <a:solidFill>
                  <a:schemeClr val="tx1"/>
                </a:solidFill>
              </a:rPr>
              <a:t>the writer’s admiration shows in the word choice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3g: biography, timeline?</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How is this text different to a timeline or a blog? Describe the difference in terms of:</a:t>
            </a:r>
            <a:endParaRPr lang="en-US" sz="1600" dirty="0"/>
          </a:p>
        </p:txBody>
      </p:sp>
      <p:sp>
        <p:nvSpPr>
          <p:cNvPr id="5" name="purpose"/>
          <p:cNvSpPr/>
          <p:nvPr/>
        </p:nvSpPr>
        <p:spPr>
          <a:xfrm>
            <a:off x="457200" y="1645920"/>
            <a:ext cx="26517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640080" y="1783080"/>
            <a:ext cx="457200" cy="457200"/>
          </a:xfrm>
          <a:prstGeom prst="ellipse">
            <a:avLst/>
          </a:prstGeom>
          <a:solidFill>
            <a:schemeClr val="accent1"/>
          </a:solidFill>
          <a:ln w="6350">
            <a:solidFill>
              <a:schemeClr val="accent1"/>
            </a:solidFill>
            <a:prstDash val="solid"/>
          </a:ln>
        </p:spPr>
      </p:sp>
      <p:sp>
        <p:nvSpPr>
          <p:cNvPr id="7" name="Text 4"/>
          <p:cNvSpPr txBox="1"/>
          <p:nvPr/>
        </p:nvSpPr>
        <p:spPr>
          <a:xfrm>
            <a:off x="640080" y="178308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8" name="Text 5"/>
          <p:cNvSpPr txBox="1"/>
          <p:nvPr/>
        </p:nvSpPr>
        <p:spPr>
          <a:xfrm>
            <a:off x="640080" y="2377440"/>
            <a:ext cx="2286000" cy="45720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PURPOSE</a:t>
            </a:r>
            <a:endParaRPr lang="en-US" sz="2200" dirty="0"/>
          </a:p>
        </p:txBody>
      </p:sp>
      <p:sp>
        <p:nvSpPr>
          <p:cNvPr id="9" name="Text 6"/>
          <p:cNvSpPr txBox="1"/>
          <p:nvPr/>
        </p:nvSpPr>
        <p:spPr>
          <a:xfrm>
            <a:off x="640080" y="2880360"/>
            <a:ext cx="2286000" cy="457200"/>
          </a:xfrm>
          <a:prstGeom prst="rect">
            <a:avLst/>
          </a:prstGeom>
          <a:noFill/>
          <a:ln/>
        </p:spPr>
        <p:txBody>
          <a:bodyPr wrap="square" lIns="0" tIns="0" rIns="0" bIns="0" rtlCol="0" anchor="ctr"/>
          <a:lstStyle/>
          <a:p>
            <a:pPr marL="0" indent="0">
              <a:buNone/>
            </a:pPr>
            <a:r>
              <a:rPr lang="en-US" sz="1500" i="1" dirty="0">
                <a:solidFill>
                  <a:schemeClr val="tx2"/>
                </a:solidFill>
              </a:rPr>
              <a:t>why was it written?</a:t>
            </a:r>
            <a:endParaRPr lang="en-US" sz="1500" dirty="0"/>
          </a:p>
        </p:txBody>
      </p:sp>
      <p:sp>
        <p:nvSpPr>
          <p:cNvPr id="10" name="language"/>
          <p:cNvSpPr/>
          <p:nvPr/>
        </p:nvSpPr>
        <p:spPr>
          <a:xfrm>
            <a:off x="3246120" y="1645920"/>
            <a:ext cx="26517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1" name="Badge"/>
          <p:cNvSpPr/>
          <p:nvPr/>
        </p:nvSpPr>
        <p:spPr>
          <a:xfrm>
            <a:off x="3429000" y="1783080"/>
            <a:ext cx="457200" cy="457200"/>
          </a:xfrm>
          <a:prstGeom prst="ellipse">
            <a:avLst/>
          </a:prstGeom>
          <a:solidFill>
            <a:schemeClr val="accent2"/>
          </a:solidFill>
          <a:ln w="6350">
            <a:solidFill>
              <a:schemeClr val="accent2"/>
            </a:solidFill>
            <a:prstDash val="solid"/>
          </a:ln>
        </p:spPr>
      </p:sp>
      <p:sp>
        <p:nvSpPr>
          <p:cNvPr id="12" name="Text 9"/>
          <p:cNvSpPr txBox="1"/>
          <p:nvPr/>
        </p:nvSpPr>
        <p:spPr>
          <a:xfrm>
            <a:off x="3429000" y="178308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3" name="Text 10"/>
          <p:cNvSpPr txBox="1"/>
          <p:nvPr/>
        </p:nvSpPr>
        <p:spPr>
          <a:xfrm>
            <a:off x="3429000" y="2377440"/>
            <a:ext cx="2286000" cy="45720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LANGUAGE</a:t>
            </a:r>
            <a:endParaRPr lang="en-US" sz="2200" dirty="0"/>
          </a:p>
        </p:txBody>
      </p:sp>
      <p:sp>
        <p:nvSpPr>
          <p:cNvPr id="14" name="Text 11"/>
          <p:cNvSpPr txBox="1"/>
          <p:nvPr/>
        </p:nvSpPr>
        <p:spPr>
          <a:xfrm>
            <a:off x="3429000" y="2880360"/>
            <a:ext cx="2286000" cy="457200"/>
          </a:xfrm>
          <a:prstGeom prst="rect">
            <a:avLst/>
          </a:prstGeom>
          <a:noFill/>
          <a:ln/>
        </p:spPr>
        <p:txBody>
          <a:bodyPr wrap="square" lIns="0" tIns="0" rIns="0" bIns="0" rtlCol="0" anchor="ctr"/>
          <a:lstStyle/>
          <a:p>
            <a:pPr marL="0" indent="0">
              <a:buNone/>
            </a:pPr>
            <a:r>
              <a:rPr lang="en-US" sz="1500" i="1" dirty="0">
                <a:solidFill>
                  <a:schemeClr val="tx2"/>
                </a:solidFill>
              </a:rPr>
              <a:t>how is it written?</a:t>
            </a:r>
            <a:endParaRPr lang="en-US" sz="1500" dirty="0"/>
          </a:p>
        </p:txBody>
      </p:sp>
      <p:sp>
        <p:nvSpPr>
          <p:cNvPr id="15" name="layout"/>
          <p:cNvSpPr/>
          <p:nvPr/>
        </p:nvSpPr>
        <p:spPr>
          <a:xfrm>
            <a:off x="6035040" y="1645920"/>
            <a:ext cx="26517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6" name="Badge"/>
          <p:cNvSpPr/>
          <p:nvPr/>
        </p:nvSpPr>
        <p:spPr>
          <a:xfrm>
            <a:off x="6217920" y="1783080"/>
            <a:ext cx="457200" cy="457200"/>
          </a:xfrm>
          <a:prstGeom prst="ellipse">
            <a:avLst/>
          </a:prstGeom>
          <a:solidFill>
            <a:schemeClr val="accent3"/>
          </a:solidFill>
          <a:ln w="6350">
            <a:solidFill>
              <a:schemeClr val="accent3"/>
            </a:solidFill>
            <a:prstDash val="solid"/>
          </a:ln>
        </p:spPr>
      </p:sp>
      <p:sp>
        <p:nvSpPr>
          <p:cNvPr id="17" name="Text 14"/>
          <p:cNvSpPr txBox="1"/>
          <p:nvPr/>
        </p:nvSpPr>
        <p:spPr>
          <a:xfrm>
            <a:off x="6217920" y="178308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8" name="Text 15"/>
          <p:cNvSpPr txBox="1"/>
          <p:nvPr/>
        </p:nvSpPr>
        <p:spPr>
          <a:xfrm>
            <a:off x="6217920" y="2377440"/>
            <a:ext cx="2286000" cy="45720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LAYOUT</a:t>
            </a:r>
            <a:endParaRPr lang="en-US" sz="2200" dirty="0"/>
          </a:p>
        </p:txBody>
      </p:sp>
      <p:sp>
        <p:nvSpPr>
          <p:cNvPr id="19" name="Text 16"/>
          <p:cNvSpPr txBox="1"/>
          <p:nvPr/>
        </p:nvSpPr>
        <p:spPr>
          <a:xfrm>
            <a:off x="6217920" y="2880360"/>
            <a:ext cx="2286000" cy="457200"/>
          </a:xfrm>
          <a:prstGeom prst="rect">
            <a:avLst/>
          </a:prstGeom>
          <a:noFill/>
          <a:ln/>
        </p:spPr>
        <p:txBody>
          <a:bodyPr wrap="square" lIns="0" tIns="0" rIns="0" bIns="0" rtlCol="0" anchor="ctr"/>
          <a:lstStyle/>
          <a:p>
            <a:pPr marL="0" indent="0">
              <a:buNone/>
            </a:pPr>
            <a:r>
              <a:rPr lang="en-US" sz="1500" i="1" dirty="0">
                <a:solidFill>
                  <a:schemeClr val="tx2"/>
                </a:solidFill>
              </a:rPr>
              <a:t>how does it look?</a:t>
            </a:r>
            <a:endParaRPr lang="en-US" sz="1500" dirty="0"/>
          </a:p>
        </p:txBody>
      </p:sp>
      <p:sp>
        <p:nvSpPr>
          <p:cNvPr id="20" name="Callout"/>
          <p:cNvSpPr/>
          <p:nvPr/>
        </p:nvSpPr>
        <p:spPr>
          <a:xfrm>
            <a:off x="457200" y="3749040"/>
            <a:ext cx="8229600" cy="502920"/>
          </a:xfrm>
          <a:prstGeom prst="roundRect">
            <a:avLst>
              <a:gd name="adj" fmla="val 21818"/>
            </a:avLst>
          </a:prstGeom>
          <a:solidFill>
            <a:schemeClr val="accent5"/>
          </a:solidFill>
          <a:ln w="9525">
            <a:solidFill>
              <a:schemeClr val="accent5"/>
            </a:solidFill>
            <a:prstDash val="solid"/>
          </a:ln>
        </p:spPr>
      </p:sp>
      <p:sp>
        <p:nvSpPr>
          <p:cNvPr id="21" name="Text 18"/>
          <p:cNvSpPr txBox="1"/>
          <p:nvPr/>
        </p:nvSpPr>
        <p:spPr>
          <a:xfrm>
            <a:off x="640080" y="3749040"/>
            <a:ext cx="7863840" cy="502920"/>
          </a:xfrm>
          <a:prstGeom prst="rect">
            <a:avLst/>
          </a:prstGeom>
          <a:noFill/>
          <a:ln/>
        </p:spPr>
        <p:txBody>
          <a:bodyPr wrap="square" lIns="0" tIns="0" rIns="0" bIns="0" rtlCol="0" anchor="ctr"/>
          <a:lstStyle/>
          <a:p>
            <a:pPr marL="0" indent="0" algn="ctr">
              <a:buNone/>
            </a:pPr>
            <a:r>
              <a:rPr lang="en-US" sz="1600" b="1" dirty="0">
                <a:solidFill>
                  <a:schemeClr val="tx1"/>
                </a:solidFill>
              </a:rPr>
              <a:t>Compare: the biography · the timeline from Lesson 2.1 · Samantha’s social media posts</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3g: model answer</a:t>
            </a:r>
            <a:endParaRPr lang="en-US" sz="3000" dirty="0"/>
          </a:p>
        </p:txBody>
      </p:sp>
      <p:sp>
        <p:nvSpPr>
          <p:cNvPr id="4" name="Header"/>
          <p:cNvSpPr/>
          <p:nvPr/>
        </p:nvSpPr>
        <p:spPr>
          <a:xfrm>
            <a:off x="1737360" y="1051560"/>
            <a:ext cx="2240280" cy="457200"/>
          </a:xfrm>
          <a:prstGeom prst="roundRect">
            <a:avLst>
              <a:gd name="adj" fmla="val 24000"/>
            </a:avLst>
          </a:prstGeom>
          <a:solidFill>
            <a:schemeClr val="accent1"/>
          </a:solidFill>
          <a:ln w="9525">
            <a:solidFill>
              <a:schemeClr val="accent1"/>
            </a:solidFill>
            <a:prstDash val="solid"/>
          </a:ln>
        </p:spPr>
      </p:sp>
      <p:sp>
        <p:nvSpPr>
          <p:cNvPr id="5" name="Text 2"/>
          <p:cNvSpPr txBox="1"/>
          <p:nvPr/>
        </p:nvSpPr>
        <p:spPr>
          <a:xfrm>
            <a:off x="1737360" y="1051560"/>
            <a:ext cx="2240280" cy="457200"/>
          </a:xfrm>
          <a:prstGeom prst="rect">
            <a:avLst/>
          </a:prstGeom>
          <a:noFill/>
          <a:ln/>
        </p:spPr>
        <p:txBody>
          <a:bodyPr wrap="square" lIns="0" tIns="0" rIns="0" bIns="0" rtlCol="0" anchor="ctr"/>
          <a:lstStyle/>
          <a:p>
            <a:pPr marL="0" indent="0" algn="ctr">
              <a:buNone/>
            </a:pPr>
            <a:r>
              <a:rPr lang="en-US" sz="1400" b="1" dirty="0">
                <a:solidFill>
                  <a:schemeClr val="tx1"/>
                </a:solidFill>
              </a:rPr>
              <a:t>BIOGRAPHY</a:t>
            </a:r>
            <a:endParaRPr lang="en-US" sz="1400" dirty="0"/>
          </a:p>
        </p:txBody>
      </p:sp>
      <p:sp>
        <p:nvSpPr>
          <p:cNvPr id="6" name="Header"/>
          <p:cNvSpPr/>
          <p:nvPr/>
        </p:nvSpPr>
        <p:spPr>
          <a:xfrm>
            <a:off x="4069080" y="1051560"/>
            <a:ext cx="2240280" cy="457200"/>
          </a:xfrm>
          <a:prstGeom prst="roundRect">
            <a:avLst>
              <a:gd name="adj" fmla="val 24000"/>
            </a:avLst>
          </a:prstGeom>
          <a:solidFill>
            <a:schemeClr val="accent2"/>
          </a:solidFill>
          <a:ln w="9525">
            <a:solidFill>
              <a:schemeClr val="accent2"/>
            </a:solidFill>
            <a:prstDash val="solid"/>
          </a:ln>
        </p:spPr>
      </p:sp>
      <p:sp>
        <p:nvSpPr>
          <p:cNvPr id="7" name="Text 4"/>
          <p:cNvSpPr txBox="1"/>
          <p:nvPr/>
        </p:nvSpPr>
        <p:spPr>
          <a:xfrm>
            <a:off x="4069080" y="1051560"/>
            <a:ext cx="2240280" cy="457200"/>
          </a:xfrm>
          <a:prstGeom prst="rect">
            <a:avLst/>
          </a:prstGeom>
          <a:noFill/>
          <a:ln/>
        </p:spPr>
        <p:txBody>
          <a:bodyPr wrap="square" lIns="0" tIns="0" rIns="0" bIns="0" rtlCol="0" anchor="ctr"/>
          <a:lstStyle/>
          <a:p>
            <a:pPr marL="0" indent="0" algn="ctr">
              <a:buNone/>
            </a:pPr>
            <a:r>
              <a:rPr lang="en-US" sz="1400" b="1" dirty="0">
                <a:solidFill>
                  <a:schemeClr val="tx1"/>
                </a:solidFill>
              </a:rPr>
              <a:t>TIMELINE</a:t>
            </a:r>
            <a:endParaRPr lang="en-US" sz="1400" dirty="0"/>
          </a:p>
        </p:txBody>
      </p:sp>
      <p:sp>
        <p:nvSpPr>
          <p:cNvPr id="9" name="Text 6"/>
          <p:cNvSpPr txBox="1"/>
          <p:nvPr/>
        </p:nvSpPr>
        <p:spPr>
          <a:xfrm>
            <a:off x="6400800" y="1051560"/>
            <a:ext cx="2240280" cy="457200"/>
          </a:xfrm>
          <a:prstGeom prst="rect">
            <a:avLst/>
          </a:prstGeom>
          <a:noFill/>
          <a:ln/>
        </p:spPr>
        <p:txBody>
          <a:bodyPr wrap="square" lIns="0" tIns="0" rIns="0" bIns="0" rtlCol="0" anchor="ctr"/>
          <a:lstStyle/>
          <a:p>
            <a:pPr marL="0" indent="0" algn="ctr">
              <a:buNone/>
            </a:pPr>
            <a:r>
              <a:rPr lang="en-US" sz="1400" b="1" dirty="0">
                <a:solidFill>
                  <a:schemeClr val="tx1"/>
                </a:solidFill>
              </a:rPr>
              <a:t>BLOG / POST</a:t>
            </a:r>
            <a:endParaRPr lang="en-US" sz="1400" dirty="0"/>
          </a:p>
        </p:txBody>
      </p:sp>
      <p:sp>
        <p:nvSpPr>
          <p:cNvPr id="10" name="Row label"/>
          <p:cNvSpPr/>
          <p:nvPr/>
        </p:nvSpPr>
        <p:spPr>
          <a:xfrm>
            <a:off x="457200" y="1600200"/>
            <a:ext cx="1188720" cy="822960"/>
          </a:xfrm>
          <a:prstGeom prst="roundRect">
            <a:avLst>
              <a:gd name="adj" fmla="val 13333"/>
            </a:avLst>
          </a:prstGeom>
          <a:solidFill>
            <a:schemeClr val="accent4"/>
          </a:solidFill>
          <a:ln w="9525">
            <a:solidFill>
              <a:schemeClr val="accent4"/>
            </a:solidFill>
            <a:prstDash val="solid"/>
          </a:ln>
        </p:spPr>
      </p:sp>
      <p:sp>
        <p:nvSpPr>
          <p:cNvPr id="11" name="Text 8"/>
          <p:cNvSpPr txBox="1"/>
          <p:nvPr/>
        </p:nvSpPr>
        <p:spPr>
          <a:xfrm>
            <a:off x="457200" y="1600200"/>
            <a:ext cx="1188720" cy="822960"/>
          </a:xfrm>
          <a:prstGeom prst="rect">
            <a:avLst/>
          </a:prstGeom>
          <a:noFill/>
          <a:ln/>
        </p:spPr>
        <p:txBody>
          <a:bodyPr wrap="square" lIns="0" tIns="0" rIns="0" bIns="0" rtlCol="0" anchor="ctr"/>
          <a:lstStyle/>
          <a:p>
            <a:pPr marL="0" indent="0" algn="ctr">
              <a:buNone/>
            </a:pPr>
            <a:r>
              <a:rPr lang="en-US" sz="1400" b="1" dirty="0">
                <a:solidFill>
                  <a:schemeClr val="bg1"/>
                </a:solidFill>
              </a:rPr>
              <a:t>Purpose</a:t>
            </a:r>
            <a:endParaRPr lang="en-US" sz="1400" dirty="0"/>
          </a:p>
        </p:txBody>
      </p:sp>
      <p:sp>
        <p:nvSpPr>
          <p:cNvPr id="12" name="Cell"/>
          <p:cNvSpPr/>
          <p:nvPr/>
        </p:nvSpPr>
        <p:spPr>
          <a:xfrm>
            <a:off x="1737360" y="1600200"/>
            <a:ext cx="2240280" cy="822960"/>
          </a:xfrm>
          <a:prstGeom prst="roundRect">
            <a:avLst>
              <a:gd name="adj" fmla="val 1333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Text 10"/>
          <p:cNvSpPr txBox="1"/>
          <p:nvPr/>
        </p:nvSpPr>
        <p:spPr>
          <a:xfrm>
            <a:off x="1828800" y="1600200"/>
            <a:ext cx="2057400" cy="822960"/>
          </a:xfrm>
          <a:prstGeom prst="rect">
            <a:avLst/>
          </a:prstGeom>
          <a:noFill/>
          <a:ln/>
        </p:spPr>
        <p:txBody>
          <a:bodyPr wrap="square" lIns="0" tIns="0" rIns="0" bIns="0" rtlCol="0" anchor="ctr"/>
          <a:lstStyle/>
          <a:p>
            <a:pPr marL="0" indent="0" algn="ctr">
              <a:buNone/>
            </a:pPr>
            <a:r>
              <a:rPr lang="en-US" sz="1200" dirty="0">
                <a:solidFill>
                  <a:schemeClr val="tx1"/>
                </a:solidFill>
              </a:rPr>
              <a:t>to inform about a person’s life</a:t>
            </a:r>
            <a:endParaRPr lang="en-US" sz="1200" dirty="0"/>
          </a:p>
        </p:txBody>
      </p:sp>
      <p:sp>
        <p:nvSpPr>
          <p:cNvPr id="14" name="Cell"/>
          <p:cNvSpPr/>
          <p:nvPr/>
        </p:nvSpPr>
        <p:spPr>
          <a:xfrm>
            <a:off x="4069080" y="1600200"/>
            <a:ext cx="2240280" cy="822960"/>
          </a:xfrm>
          <a:prstGeom prst="roundRect">
            <a:avLst>
              <a:gd name="adj" fmla="val 1333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Text 12"/>
          <p:cNvSpPr txBox="1"/>
          <p:nvPr/>
        </p:nvSpPr>
        <p:spPr>
          <a:xfrm>
            <a:off x="4160520" y="1600200"/>
            <a:ext cx="2057400" cy="822960"/>
          </a:xfrm>
          <a:prstGeom prst="rect">
            <a:avLst/>
          </a:prstGeom>
          <a:noFill/>
          <a:ln/>
        </p:spPr>
        <p:txBody>
          <a:bodyPr wrap="square" lIns="0" tIns="0" rIns="0" bIns="0" rtlCol="0" anchor="ctr"/>
          <a:lstStyle/>
          <a:p>
            <a:pPr marL="0" indent="0" algn="ctr">
              <a:buNone/>
            </a:pPr>
            <a:r>
              <a:rPr lang="en-US" sz="1200" dirty="0">
                <a:solidFill>
                  <a:schemeClr val="tx1"/>
                </a:solidFill>
              </a:rPr>
              <a:t>to show key events in order</a:t>
            </a:r>
            <a:endParaRPr lang="en-US" sz="1200" dirty="0"/>
          </a:p>
        </p:txBody>
      </p:sp>
      <p:sp>
        <p:nvSpPr>
          <p:cNvPr id="18" name="Row label"/>
          <p:cNvSpPr/>
          <p:nvPr/>
        </p:nvSpPr>
        <p:spPr>
          <a:xfrm>
            <a:off x="457200" y="2514600"/>
            <a:ext cx="1188720" cy="822960"/>
          </a:xfrm>
          <a:prstGeom prst="roundRect">
            <a:avLst>
              <a:gd name="adj" fmla="val 13333"/>
            </a:avLst>
          </a:prstGeom>
          <a:solidFill>
            <a:schemeClr val="accent4"/>
          </a:solidFill>
          <a:ln w="9525">
            <a:solidFill>
              <a:schemeClr val="accent4"/>
            </a:solidFill>
            <a:prstDash val="solid"/>
          </a:ln>
        </p:spPr>
      </p:sp>
      <p:sp>
        <p:nvSpPr>
          <p:cNvPr id="19" name="Text 16"/>
          <p:cNvSpPr txBox="1"/>
          <p:nvPr/>
        </p:nvSpPr>
        <p:spPr>
          <a:xfrm>
            <a:off x="457200" y="2514600"/>
            <a:ext cx="1188720" cy="822960"/>
          </a:xfrm>
          <a:prstGeom prst="rect">
            <a:avLst/>
          </a:prstGeom>
          <a:noFill/>
          <a:ln/>
        </p:spPr>
        <p:txBody>
          <a:bodyPr wrap="square" lIns="0" tIns="0" rIns="0" bIns="0" rtlCol="0" anchor="ctr"/>
          <a:lstStyle/>
          <a:p>
            <a:pPr marL="0" indent="0" algn="ctr">
              <a:buNone/>
            </a:pPr>
            <a:r>
              <a:rPr lang="en-US" sz="1400" b="1" dirty="0">
                <a:solidFill>
                  <a:schemeClr val="bg1"/>
                </a:solidFill>
              </a:rPr>
              <a:t>Language</a:t>
            </a:r>
            <a:endParaRPr lang="en-US" sz="1400" dirty="0"/>
          </a:p>
        </p:txBody>
      </p:sp>
      <p:sp>
        <p:nvSpPr>
          <p:cNvPr id="20" name="Cell"/>
          <p:cNvSpPr/>
          <p:nvPr/>
        </p:nvSpPr>
        <p:spPr>
          <a:xfrm>
            <a:off x="1737360" y="2514600"/>
            <a:ext cx="2240280" cy="822960"/>
          </a:xfrm>
          <a:prstGeom prst="roundRect">
            <a:avLst>
              <a:gd name="adj" fmla="val 1333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1" name="Text 18"/>
          <p:cNvSpPr txBox="1"/>
          <p:nvPr/>
        </p:nvSpPr>
        <p:spPr>
          <a:xfrm>
            <a:off x="1828800" y="2514600"/>
            <a:ext cx="2057400" cy="822960"/>
          </a:xfrm>
          <a:prstGeom prst="rect">
            <a:avLst/>
          </a:prstGeom>
          <a:noFill/>
          <a:ln/>
        </p:spPr>
        <p:txBody>
          <a:bodyPr wrap="square" lIns="0" tIns="0" rIns="0" bIns="0" rtlCol="0" anchor="ctr"/>
          <a:lstStyle/>
          <a:p>
            <a:pPr marL="0" indent="0" algn="ctr">
              <a:buNone/>
            </a:pPr>
            <a:r>
              <a:rPr lang="en-US" sz="1200" dirty="0">
                <a:solidFill>
                  <a:schemeClr val="tx1"/>
                </a:solidFill>
              </a:rPr>
              <a:t>formal; third person; past tense; full sentences</a:t>
            </a:r>
            <a:endParaRPr lang="en-US" sz="1200" dirty="0"/>
          </a:p>
        </p:txBody>
      </p:sp>
      <p:sp>
        <p:nvSpPr>
          <p:cNvPr id="22" name="Cell"/>
          <p:cNvSpPr/>
          <p:nvPr/>
        </p:nvSpPr>
        <p:spPr>
          <a:xfrm>
            <a:off x="4069080" y="2514600"/>
            <a:ext cx="2240280" cy="822960"/>
          </a:xfrm>
          <a:prstGeom prst="roundRect">
            <a:avLst>
              <a:gd name="adj" fmla="val 1333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3" name="Text 20"/>
          <p:cNvSpPr txBox="1"/>
          <p:nvPr/>
        </p:nvSpPr>
        <p:spPr>
          <a:xfrm>
            <a:off x="4160520" y="2514600"/>
            <a:ext cx="2057400" cy="822960"/>
          </a:xfrm>
          <a:prstGeom prst="rect">
            <a:avLst/>
          </a:prstGeom>
          <a:noFill/>
          <a:ln/>
        </p:spPr>
        <p:txBody>
          <a:bodyPr wrap="square" lIns="0" tIns="0" rIns="0" bIns="0" rtlCol="0" anchor="ctr"/>
          <a:lstStyle/>
          <a:p>
            <a:pPr marL="0" indent="0" algn="ctr">
              <a:buNone/>
            </a:pPr>
            <a:r>
              <a:rPr lang="en-US" sz="1200" dirty="0">
                <a:solidFill>
                  <a:schemeClr val="tx1"/>
                </a:solidFill>
              </a:rPr>
              <a:t>dates and key words only</a:t>
            </a:r>
            <a:endParaRPr lang="en-US" sz="1200" dirty="0"/>
          </a:p>
        </p:txBody>
      </p:sp>
      <p:sp>
        <p:nvSpPr>
          <p:cNvPr id="26" name="Row label"/>
          <p:cNvSpPr/>
          <p:nvPr/>
        </p:nvSpPr>
        <p:spPr>
          <a:xfrm>
            <a:off x="457200" y="3429000"/>
            <a:ext cx="1188720" cy="822960"/>
          </a:xfrm>
          <a:prstGeom prst="roundRect">
            <a:avLst>
              <a:gd name="adj" fmla="val 13333"/>
            </a:avLst>
          </a:prstGeom>
          <a:solidFill>
            <a:schemeClr val="accent4"/>
          </a:solidFill>
          <a:ln w="9525">
            <a:solidFill>
              <a:schemeClr val="accent4"/>
            </a:solidFill>
            <a:prstDash val="solid"/>
          </a:ln>
        </p:spPr>
      </p:sp>
      <p:sp>
        <p:nvSpPr>
          <p:cNvPr id="27" name="Text 24"/>
          <p:cNvSpPr txBox="1"/>
          <p:nvPr/>
        </p:nvSpPr>
        <p:spPr>
          <a:xfrm>
            <a:off x="457200" y="3429000"/>
            <a:ext cx="1188720" cy="822960"/>
          </a:xfrm>
          <a:prstGeom prst="rect">
            <a:avLst/>
          </a:prstGeom>
          <a:noFill/>
          <a:ln/>
        </p:spPr>
        <p:txBody>
          <a:bodyPr wrap="square" lIns="0" tIns="0" rIns="0" bIns="0" rtlCol="0" anchor="ctr"/>
          <a:lstStyle/>
          <a:p>
            <a:pPr marL="0" indent="0" algn="ctr">
              <a:buNone/>
            </a:pPr>
            <a:r>
              <a:rPr lang="en-US" sz="1400" b="1" dirty="0">
                <a:solidFill>
                  <a:schemeClr val="bg1"/>
                </a:solidFill>
              </a:rPr>
              <a:t>Layout</a:t>
            </a:r>
            <a:endParaRPr lang="en-US" sz="1400" dirty="0"/>
          </a:p>
        </p:txBody>
      </p:sp>
      <p:sp>
        <p:nvSpPr>
          <p:cNvPr id="28" name="Cell"/>
          <p:cNvSpPr/>
          <p:nvPr/>
        </p:nvSpPr>
        <p:spPr>
          <a:xfrm>
            <a:off x="1737360" y="3429000"/>
            <a:ext cx="2240280" cy="822960"/>
          </a:xfrm>
          <a:prstGeom prst="roundRect">
            <a:avLst>
              <a:gd name="adj" fmla="val 1333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9" name="Text 26"/>
          <p:cNvSpPr txBox="1"/>
          <p:nvPr/>
        </p:nvSpPr>
        <p:spPr>
          <a:xfrm>
            <a:off x="1828800" y="3429000"/>
            <a:ext cx="2057400" cy="822960"/>
          </a:xfrm>
          <a:prstGeom prst="rect">
            <a:avLst/>
          </a:prstGeom>
          <a:noFill/>
          <a:ln/>
        </p:spPr>
        <p:txBody>
          <a:bodyPr wrap="square" lIns="0" tIns="0" rIns="0" bIns="0" rtlCol="0" anchor="ctr"/>
          <a:lstStyle/>
          <a:p>
            <a:pPr marL="0" indent="0" algn="ctr">
              <a:buNone/>
            </a:pPr>
            <a:r>
              <a:rPr lang="en-US" sz="1200" dirty="0">
                <a:solidFill>
                  <a:schemeClr val="tx1"/>
                </a:solidFill>
              </a:rPr>
              <a:t>title, headings and paragraphs, photos</a:t>
            </a:r>
            <a:endParaRPr lang="en-US" sz="1200" dirty="0"/>
          </a:p>
        </p:txBody>
      </p:sp>
      <p:sp>
        <p:nvSpPr>
          <p:cNvPr id="30" name="Cell"/>
          <p:cNvSpPr/>
          <p:nvPr/>
        </p:nvSpPr>
        <p:spPr>
          <a:xfrm>
            <a:off x="4069080" y="3429000"/>
            <a:ext cx="2240280" cy="822960"/>
          </a:xfrm>
          <a:prstGeom prst="roundRect">
            <a:avLst>
              <a:gd name="adj" fmla="val 1333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1" name="Text 28"/>
          <p:cNvSpPr txBox="1"/>
          <p:nvPr/>
        </p:nvSpPr>
        <p:spPr>
          <a:xfrm>
            <a:off x="4160520" y="3429000"/>
            <a:ext cx="2057400" cy="822960"/>
          </a:xfrm>
          <a:prstGeom prst="rect">
            <a:avLst/>
          </a:prstGeom>
          <a:noFill/>
          <a:ln/>
        </p:spPr>
        <p:txBody>
          <a:bodyPr wrap="square" lIns="0" tIns="0" rIns="0" bIns="0" rtlCol="0" anchor="ctr"/>
          <a:lstStyle/>
          <a:p>
            <a:pPr marL="0" indent="0" algn="ctr">
              <a:buNone/>
            </a:pPr>
            <a:r>
              <a:rPr lang="en-US" sz="1200" dirty="0">
                <a:solidFill>
                  <a:schemeClr val="tx1"/>
                </a:solidFill>
              </a:rPr>
              <a:t>a line with dates and short notes</a:t>
            </a:r>
            <a:endParaRPr lang="en-US" sz="12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3h: add it to your reading log</a:t>
            </a:r>
            <a:endParaRPr lang="en-US" sz="3000" dirty="0"/>
          </a:p>
        </p:txBody>
      </p:sp>
      <p:sp>
        <p:nvSpPr>
          <p:cNvPr id="4" name="Row 1"/>
          <p:cNvSpPr/>
          <p:nvPr/>
        </p:nvSpPr>
        <p:spPr>
          <a:xfrm>
            <a:off x="457200" y="1371600"/>
            <a:ext cx="822960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645920"/>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94360" y="1645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43000" y="1371600"/>
            <a:ext cx="7315200" cy="914400"/>
          </a:xfrm>
          <a:prstGeom prst="rect">
            <a:avLst/>
          </a:prstGeom>
          <a:noFill/>
          <a:ln/>
        </p:spPr>
        <p:txBody>
          <a:bodyPr wrap="square" lIns="0" tIns="0" rIns="0" bIns="0" rtlCol="0" anchor="ctr"/>
          <a:lstStyle/>
          <a:p>
            <a:pPr marL="0" indent="0">
              <a:buNone/>
            </a:pPr>
            <a:r>
              <a:rPr lang="en-US" sz="2000" dirty="0">
                <a:solidFill>
                  <a:schemeClr val="tx1"/>
                </a:solidFill>
              </a:rPr>
              <a:t>Add this biography to your reading log.</a:t>
            </a:r>
            <a:endParaRPr lang="en-US" sz="2000" dirty="0"/>
          </a:p>
        </p:txBody>
      </p:sp>
      <p:sp>
        <p:nvSpPr>
          <p:cNvPr id="8" name="Row 2"/>
          <p:cNvSpPr/>
          <p:nvPr/>
        </p:nvSpPr>
        <p:spPr>
          <a:xfrm>
            <a:off x="457200" y="2514600"/>
            <a:ext cx="822960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59436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59436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1" name="Text 8"/>
          <p:cNvSpPr txBox="1"/>
          <p:nvPr/>
        </p:nvSpPr>
        <p:spPr>
          <a:xfrm>
            <a:off x="1143000" y="2514600"/>
            <a:ext cx="7315200" cy="914400"/>
          </a:xfrm>
          <a:prstGeom prst="rect">
            <a:avLst/>
          </a:prstGeom>
          <a:noFill/>
          <a:ln/>
        </p:spPr>
        <p:txBody>
          <a:bodyPr wrap="square" lIns="0" tIns="0" rIns="0" bIns="0" rtlCol="0" anchor="ctr"/>
          <a:lstStyle/>
          <a:p>
            <a:pPr marL="0" indent="0">
              <a:buNone/>
            </a:pPr>
            <a:r>
              <a:rPr lang="en-US" sz="2000" dirty="0">
                <a:solidFill>
                  <a:schemeClr val="tx1"/>
                </a:solidFill>
              </a:rPr>
              <a:t>List other biographies you would like to read.</a:t>
            </a:r>
            <a:endParaRPr lang="en-US" sz="2000" dirty="0"/>
          </a:p>
        </p:txBody>
      </p:sp>
      <p:sp>
        <p:nvSpPr>
          <p:cNvPr id="12" name="Callout"/>
          <p:cNvSpPr/>
          <p:nvPr/>
        </p:nvSpPr>
        <p:spPr>
          <a:xfrm>
            <a:off x="457200" y="3657600"/>
            <a:ext cx="8229600" cy="502920"/>
          </a:xfrm>
          <a:prstGeom prst="roundRect">
            <a:avLst>
              <a:gd name="adj" fmla="val 21818"/>
            </a:avLst>
          </a:prstGeom>
          <a:solidFill>
            <a:schemeClr val="accent5"/>
          </a:solidFill>
          <a:ln w="9525">
            <a:solidFill>
              <a:schemeClr val="accent5"/>
            </a:solidFill>
            <a:prstDash val="solid"/>
          </a:ln>
        </p:spPr>
      </p:sp>
      <p:sp>
        <p:nvSpPr>
          <p:cNvPr id="13" name="Text 10"/>
          <p:cNvSpPr txBox="1"/>
          <p:nvPr/>
        </p:nvSpPr>
        <p:spPr>
          <a:xfrm>
            <a:off x="640080" y="3657600"/>
            <a:ext cx="7863840" cy="502920"/>
          </a:xfrm>
          <a:prstGeom prst="rect">
            <a:avLst/>
          </a:prstGeom>
          <a:noFill/>
          <a:ln/>
        </p:spPr>
        <p:txBody>
          <a:bodyPr wrap="square" lIns="0" tIns="0" rIns="0" bIns="0" rtlCol="0" anchor="ctr"/>
          <a:lstStyle/>
          <a:p>
            <a:pPr marL="0" indent="0" algn="ctr">
              <a:buNone/>
            </a:pPr>
            <a:r>
              <a:rPr lang="en-US" sz="1600" b="1" dirty="0">
                <a:solidFill>
                  <a:schemeClr val="tx1"/>
                </a:solidFill>
              </a:rPr>
              <a:t>Think: whose life story would you like to read? Why?</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3h: model reading log</a:t>
            </a:r>
            <a:endParaRPr lang="en-US" sz="3000" dirty="0"/>
          </a:p>
        </p:txBody>
      </p:sp>
      <p:sp>
        <p:nvSpPr>
          <p:cNvPr id="4" name="Log 1"/>
          <p:cNvSpPr/>
          <p:nvPr/>
        </p:nvSpPr>
        <p:spPr>
          <a:xfrm>
            <a:off x="457200" y="1051560"/>
            <a:ext cx="4023360" cy="1051560"/>
          </a:xfrm>
          <a:prstGeom prst="roundRect">
            <a:avLst>
              <a:gd name="adj" fmla="val 1043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Text 2"/>
          <p:cNvSpPr txBox="1"/>
          <p:nvPr/>
        </p:nvSpPr>
        <p:spPr>
          <a:xfrm>
            <a:off x="640080" y="1124712"/>
            <a:ext cx="3657600" cy="274320"/>
          </a:xfrm>
          <a:prstGeom prst="rect">
            <a:avLst/>
          </a:prstGeom>
          <a:noFill/>
          <a:ln/>
        </p:spPr>
        <p:txBody>
          <a:bodyPr wrap="square" lIns="0" tIns="0" rIns="0" bIns="0" rtlCol="0" anchor="ctr"/>
          <a:lstStyle/>
          <a:p>
            <a:pPr marL="0" indent="0">
              <a:buNone/>
            </a:pPr>
            <a:r>
              <a:rPr lang="en-US" sz="1300" b="1" dirty="0">
                <a:solidFill>
                  <a:schemeClr val="accent4"/>
                </a:solidFill>
              </a:rPr>
              <a:t>Title and text type</a:t>
            </a:r>
            <a:endParaRPr lang="en-US" sz="1300" dirty="0"/>
          </a:p>
        </p:txBody>
      </p:sp>
      <p:sp>
        <p:nvSpPr>
          <p:cNvPr id="6" name="Text 3"/>
          <p:cNvSpPr txBox="1"/>
          <p:nvPr/>
        </p:nvSpPr>
        <p:spPr>
          <a:xfrm>
            <a:off x="640080" y="1417320"/>
            <a:ext cx="3657600" cy="640080"/>
          </a:xfrm>
          <a:prstGeom prst="rect">
            <a:avLst/>
          </a:prstGeom>
          <a:noFill/>
          <a:ln/>
        </p:spPr>
        <p:txBody>
          <a:bodyPr wrap="square" lIns="0" tIns="0" rIns="0" bIns="0" rtlCol="0" anchor="t"/>
          <a:lstStyle/>
          <a:p>
            <a:pPr marL="0" indent="0">
              <a:buNone/>
            </a:pPr>
            <a:r>
              <a:rPr lang="en-US" sz="1300" dirty="0">
                <a:solidFill>
                  <a:schemeClr val="tx1"/>
                </a:solidFill>
              </a:rPr>
              <a:t>‘Astronaut Samantha Cristoforetti’: a biography (third person).</a:t>
            </a:r>
            <a:endParaRPr lang="en-US" sz="1300" dirty="0"/>
          </a:p>
        </p:txBody>
      </p:sp>
      <p:sp>
        <p:nvSpPr>
          <p:cNvPr id="7" name="Log 2"/>
          <p:cNvSpPr/>
          <p:nvPr/>
        </p:nvSpPr>
        <p:spPr>
          <a:xfrm>
            <a:off x="4663440" y="1051560"/>
            <a:ext cx="4023360" cy="1051560"/>
          </a:xfrm>
          <a:prstGeom prst="roundRect">
            <a:avLst>
              <a:gd name="adj" fmla="val 1043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8" name="Text 5"/>
          <p:cNvSpPr txBox="1"/>
          <p:nvPr/>
        </p:nvSpPr>
        <p:spPr>
          <a:xfrm>
            <a:off x="4846320" y="1124712"/>
            <a:ext cx="3657600" cy="274320"/>
          </a:xfrm>
          <a:prstGeom prst="rect">
            <a:avLst/>
          </a:prstGeom>
          <a:noFill/>
          <a:ln/>
        </p:spPr>
        <p:txBody>
          <a:bodyPr wrap="square" lIns="0" tIns="0" rIns="0" bIns="0" rtlCol="0" anchor="ctr"/>
          <a:lstStyle/>
          <a:p>
            <a:pPr marL="0" indent="0">
              <a:buNone/>
            </a:pPr>
            <a:r>
              <a:rPr lang="en-US" sz="1300" b="1" dirty="0">
                <a:solidFill>
                  <a:schemeClr val="accent4"/>
                </a:solidFill>
              </a:rPr>
              <a:t>Three facts I learned</a:t>
            </a:r>
            <a:endParaRPr lang="en-US" sz="1300" dirty="0"/>
          </a:p>
        </p:txBody>
      </p:sp>
      <p:sp>
        <p:nvSpPr>
          <p:cNvPr id="9" name="Text 6"/>
          <p:cNvSpPr txBox="1"/>
          <p:nvPr/>
        </p:nvSpPr>
        <p:spPr>
          <a:xfrm>
            <a:off x="4846320" y="1417320"/>
            <a:ext cx="3657600" cy="640080"/>
          </a:xfrm>
          <a:prstGeom prst="rect">
            <a:avLst/>
          </a:prstGeom>
          <a:noFill/>
          <a:ln/>
        </p:spPr>
        <p:txBody>
          <a:bodyPr wrap="square" lIns="0" tIns="0" rIns="0" bIns="0" rtlCol="0" anchor="t"/>
          <a:lstStyle/>
          <a:p>
            <a:pPr marL="0" indent="0">
              <a:buNone/>
            </a:pPr>
            <a:r>
              <a:rPr lang="en-US" sz="1300" dirty="0">
                <a:solidFill>
                  <a:schemeClr val="tx1"/>
                </a:solidFill>
              </a:rPr>
              <a:t>Born 26 April 1977 · launched 23 Nov 2014 · back on Earth 11 June 2015</a:t>
            </a:r>
            <a:endParaRPr lang="en-US" sz="1300" dirty="0"/>
          </a:p>
        </p:txBody>
      </p:sp>
      <p:sp>
        <p:nvSpPr>
          <p:cNvPr id="10" name="Log 3"/>
          <p:cNvSpPr/>
          <p:nvPr/>
        </p:nvSpPr>
        <p:spPr>
          <a:xfrm>
            <a:off x="457200" y="2221992"/>
            <a:ext cx="4023360" cy="1051560"/>
          </a:xfrm>
          <a:prstGeom prst="roundRect">
            <a:avLst>
              <a:gd name="adj" fmla="val 1043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1" name="Text 8"/>
          <p:cNvSpPr txBox="1"/>
          <p:nvPr/>
        </p:nvSpPr>
        <p:spPr>
          <a:xfrm>
            <a:off x="640080" y="2295144"/>
            <a:ext cx="3657600" cy="274320"/>
          </a:xfrm>
          <a:prstGeom prst="rect">
            <a:avLst/>
          </a:prstGeom>
          <a:noFill/>
          <a:ln/>
        </p:spPr>
        <p:txBody>
          <a:bodyPr wrap="square" lIns="0" tIns="0" rIns="0" bIns="0" rtlCol="0" anchor="ctr"/>
          <a:lstStyle/>
          <a:p>
            <a:pPr marL="0" indent="0">
              <a:buNone/>
            </a:pPr>
            <a:r>
              <a:rPr lang="en-US" sz="1300" b="1" dirty="0">
                <a:solidFill>
                  <a:schemeClr val="accent4"/>
                </a:solidFill>
              </a:rPr>
              <a:t>New words I used</a:t>
            </a:r>
            <a:endParaRPr lang="en-US" sz="1300" dirty="0"/>
          </a:p>
        </p:txBody>
      </p:sp>
      <p:sp>
        <p:nvSpPr>
          <p:cNvPr id="12" name="Text 9"/>
          <p:cNvSpPr txBox="1"/>
          <p:nvPr/>
        </p:nvSpPr>
        <p:spPr>
          <a:xfrm>
            <a:off x="640080" y="2587752"/>
            <a:ext cx="3657600" cy="640080"/>
          </a:xfrm>
          <a:prstGeom prst="rect">
            <a:avLst/>
          </a:prstGeom>
          <a:noFill/>
          <a:ln/>
        </p:spPr>
        <p:txBody>
          <a:bodyPr wrap="square" lIns="0" tIns="0" rIns="0" bIns="0" rtlCol="0" anchor="t"/>
          <a:lstStyle/>
          <a:p>
            <a:pPr marL="0" indent="0">
              <a:buNone/>
            </a:pPr>
            <a:r>
              <a:rPr lang="en-US" sz="1300" dirty="0">
                <a:solidFill>
                  <a:schemeClr val="tx1"/>
                </a:solidFill>
              </a:rPr>
              <a:t>aeronautics · assign · conduct · launch</a:t>
            </a:r>
            <a:endParaRPr lang="en-US" sz="1300" dirty="0"/>
          </a:p>
        </p:txBody>
      </p:sp>
      <p:sp>
        <p:nvSpPr>
          <p:cNvPr id="13" name="Log 4"/>
          <p:cNvSpPr/>
          <p:nvPr/>
        </p:nvSpPr>
        <p:spPr>
          <a:xfrm>
            <a:off x="4663440" y="2221992"/>
            <a:ext cx="4023360" cy="1051560"/>
          </a:xfrm>
          <a:prstGeom prst="roundRect">
            <a:avLst>
              <a:gd name="adj" fmla="val 1043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Text 11"/>
          <p:cNvSpPr txBox="1"/>
          <p:nvPr/>
        </p:nvSpPr>
        <p:spPr>
          <a:xfrm>
            <a:off x="4846320" y="2295144"/>
            <a:ext cx="3657600" cy="274320"/>
          </a:xfrm>
          <a:prstGeom prst="rect">
            <a:avLst/>
          </a:prstGeom>
          <a:noFill/>
          <a:ln/>
        </p:spPr>
        <p:txBody>
          <a:bodyPr wrap="square" lIns="0" tIns="0" rIns="0" bIns="0" rtlCol="0" anchor="ctr"/>
          <a:lstStyle/>
          <a:p>
            <a:pPr marL="0" indent="0">
              <a:buNone/>
            </a:pPr>
            <a:r>
              <a:rPr lang="en-US" sz="1300" b="1" dirty="0">
                <a:solidFill>
                  <a:schemeClr val="accent4"/>
                </a:solidFill>
              </a:rPr>
              <a:t>Point of view</a:t>
            </a:r>
            <a:endParaRPr lang="en-US" sz="1300" dirty="0"/>
          </a:p>
        </p:txBody>
      </p:sp>
      <p:sp>
        <p:nvSpPr>
          <p:cNvPr id="15" name="Text 12"/>
          <p:cNvSpPr txBox="1"/>
          <p:nvPr/>
        </p:nvSpPr>
        <p:spPr>
          <a:xfrm>
            <a:off x="4846320" y="2587752"/>
            <a:ext cx="3657600" cy="640080"/>
          </a:xfrm>
          <a:prstGeom prst="rect">
            <a:avLst/>
          </a:prstGeom>
          <a:noFill/>
          <a:ln/>
        </p:spPr>
        <p:txBody>
          <a:bodyPr wrap="square" lIns="0" tIns="0" rIns="0" bIns="0" rtlCol="0" anchor="t"/>
          <a:lstStyle/>
          <a:p>
            <a:pPr marL="0" indent="0">
              <a:buNone/>
            </a:pPr>
            <a:r>
              <a:rPr lang="en-US" sz="1300" dirty="0">
                <a:solidFill>
                  <a:schemeClr val="tx1"/>
                </a:solidFill>
              </a:rPr>
              <a:t>Third person; the writer is a fan: positive words.</a:t>
            </a:r>
            <a:endParaRPr lang="en-US" sz="1300" dirty="0"/>
          </a:p>
        </p:txBody>
      </p:sp>
      <p:sp>
        <p:nvSpPr>
          <p:cNvPr id="16" name="Log 5"/>
          <p:cNvSpPr/>
          <p:nvPr/>
        </p:nvSpPr>
        <p:spPr>
          <a:xfrm>
            <a:off x="457200" y="3392424"/>
            <a:ext cx="4023360" cy="1051560"/>
          </a:xfrm>
          <a:prstGeom prst="roundRect">
            <a:avLst>
              <a:gd name="adj" fmla="val 1043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Text 14"/>
          <p:cNvSpPr txBox="1"/>
          <p:nvPr/>
        </p:nvSpPr>
        <p:spPr>
          <a:xfrm>
            <a:off x="640080" y="3465576"/>
            <a:ext cx="3657600" cy="274320"/>
          </a:xfrm>
          <a:prstGeom prst="rect">
            <a:avLst/>
          </a:prstGeom>
          <a:noFill/>
          <a:ln/>
        </p:spPr>
        <p:txBody>
          <a:bodyPr wrap="square" lIns="0" tIns="0" rIns="0" bIns="0" rtlCol="0" anchor="ctr"/>
          <a:lstStyle/>
          <a:p>
            <a:pPr marL="0" indent="0">
              <a:buNone/>
            </a:pPr>
            <a:r>
              <a:rPr lang="en-US" sz="1300" b="1" dirty="0">
                <a:solidFill>
                  <a:schemeClr val="accent4"/>
                </a:solidFill>
              </a:rPr>
              <a:t>My opinion</a:t>
            </a:r>
            <a:endParaRPr lang="en-US" sz="1300" dirty="0"/>
          </a:p>
        </p:txBody>
      </p:sp>
      <p:sp>
        <p:nvSpPr>
          <p:cNvPr id="18" name="Text 15"/>
          <p:cNvSpPr txBox="1"/>
          <p:nvPr/>
        </p:nvSpPr>
        <p:spPr>
          <a:xfrm>
            <a:off x="640080" y="3758184"/>
            <a:ext cx="3657600" cy="640080"/>
          </a:xfrm>
          <a:prstGeom prst="rect">
            <a:avLst/>
          </a:prstGeom>
          <a:noFill/>
          <a:ln/>
        </p:spPr>
        <p:txBody>
          <a:bodyPr wrap="square" lIns="0" tIns="0" rIns="0" bIns="0" rtlCol="0" anchor="t"/>
          <a:lstStyle/>
          <a:p>
            <a:pPr marL="0" indent="0">
              <a:buNone/>
            </a:pPr>
            <a:r>
              <a:rPr lang="en-US" sz="1300" dirty="0">
                <a:solidFill>
                  <a:schemeClr val="tx1"/>
                </a:solidFill>
              </a:rPr>
              <a:t>I think she is brave because she trained for years to reach her dream.</a:t>
            </a:r>
            <a:endParaRPr lang="en-US" sz="1300" dirty="0"/>
          </a:p>
        </p:txBody>
      </p:sp>
      <p:sp>
        <p:nvSpPr>
          <p:cNvPr id="19" name="Log 6"/>
          <p:cNvSpPr/>
          <p:nvPr/>
        </p:nvSpPr>
        <p:spPr>
          <a:xfrm>
            <a:off x="4663440" y="3392424"/>
            <a:ext cx="4023360" cy="1051560"/>
          </a:xfrm>
          <a:prstGeom prst="roundRect">
            <a:avLst>
              <a:gd name="adj" fmla="val 1043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0" name="Text 17"/>
          <p:cNvSpPr txBox="1"/>
          <p:nvPr/>
        </p:nvSpPr>
        <p:spPr>
          <a:xfrm>
            <a:off x="4846320" y="3465576"/>
            <a:ext cx="3657600" cy="274320"/>
          </a:xfrm>
          <a:prstGeom prst="rect">
            <a:avLst/>
          </a:prstGeom>
          <a:noFill/>
          <a:ln/>
        </p:spPr>
        <p:txBody>
          <a:bodyPr wrap="square" lIns="0" tIns="0" rIns="0" bIns="0" rtlCol="0" anchor="ctr"/>
          <a:lstStyle/>
          <a:p>
            <a:pPr marL="0" indent="0">
              <a:buNone/>
            </a:pPr>
            <a:r>
              <a:rPr lang="en-US" sz="1300" b="1" dirty="0">
                <a:solidFill>
                  <a:schemeClr val="accent4"/>
                </a:solidFill>
              </a:rPr>
              <a:t>Biographies I would like to read</a:t>
            </a:r>
            <a:endParaRPr lang="en-US" sz="1300" dirty="0"/>
          </a:p>
        </p:txBody>
      </p:sp>
      <p:sp>
        <p:nvSpPr>
          <p:cNvPr id="21" name="Text 18"/>
          <p:cNvSpPr txBox="1"/>
          <p:nvPr/>
        </p:nvSpPr>
        <p:spPr>
          <a:xfrm>
            <a:off x="4846320" y="3758184"/>
            <a:ext cx="3657600" cy="640080"/>
          </a:xfrm>
          <a:prstGeom prst="rect">
            <a:avLst/>
          </a:prstGeom>
          <a:noFill/>
          <a:ln/>
        </p:spPr>
        <p:txBody>
          <a:bodyPr wrap="square" lIns="0" tIns="0" rIns="0" bIns="0" rtlCol="0" anchor="t"/>
          <a:lstStyle/>
          <a:p>
            <a:pPr marL="0" indent="0">
              <a:buNone/>
            </a:pPr>
            <a:r>
              <a:rPr lang="en-US" sz="1300" dirty="0">
                <a:solidFill>
                  <a:schemeClr val="tx1"/>
                </a:solidFill>
              </a:rPr>
              <a:t>Neil Armstrong · Valentina Tereshkova · Poorna Malavath</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Exit ticket</a:t>
            </a:r>
            <a:endParaRPr lang="en-US" sz="3000" dirty="0"/>
          </a:p>
        </p:txBody>
      </p:sp>
      <p:sp>
        <p:nvSpPr>
          <p:cNvPr id="4" name="Exit question 1"/>
          <p:cNvSpPr/>
          <p:nvPr/>
        </p:nvSpPr>
        <p:spPr>
          <a:xfrm>
            <a:off x="457200" y="1097280"/>
            <a:ext cx="8229600" cy="658368"/>
          </a:xfrm>
          <a:prstGeom prst="roundRect">
            <a:avLst>
              <a:gd name="adj" fmla="val 16667"/>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243584"/>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94360" y="124358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43000" y="1097280"/>
            <a:ext cx="7406640" cy="658368"/>
          </a:xfrm>
          <a:prstGeom prst="rect">
            <a:avLst/>
          </a:prstGeom>
          <a:noFill/>
          <a:ln/>
        </p:spPr>
        <p:txBody>
          <a:bodyPr wrap="square" lIns="0" tIns="0" rIns="0" bIns="0" rtlCol="0" anchor="ctr"/>
          <a:lstStyle/>
          <a:p>
            <a:pPr marL="0" indent="0">
              <a:buNone/>
            </a:pPr>
            <a:r>
              <a:rPr lang="en-US" sz="1600" dirty="0">
                <a:solidFill>
                  <a:schemeClr val="tx1"/>
                </a:solidFill>
              </a:rPr>
              <a:t>What is the difference between a biography and an autobiography?</a:t>
            </a:r>
            <a:endParaRPr lang="en-US" sz="1600" dirty="0"/>
          </a:p>
        </p:txBody>
      </p:sp>
      <p:sp>
        <p:nvSpPr>
          <p:cNvPr id="8" name="Exit question 2"/>
          <p:cNvSpPr/>
          <p:nvPr/>
        </p:nvSpPr>
        <p:spPr>
          <a:xfrm>
            <a:off x="457200" y="1874520"/>
            <a:ext cx="8229600" cy="658368"/>
          </a:xfrm>
          <a:prstGeom prst="roundRect">
            <a:avLst>
              <a:gd name="adj" fmla="val 16667"/>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594360" y="2020824"/>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594360" y="202082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1" name="Text 8"/>
          <p:cNvSpPr txBox="1"/>
          <p:nvPr/>
        </p:nvSpPr>
        <p:spPr>
          <a:xfrm>
            <a:off x="1143000" y="1874520"/>
            <a:ext cx="7406640" cy="658368"/>
          </a:xfrm>
          <a:prstGeom prst="rect">
            <a:avLst/>
          </a:prstGeom>
          <a:noFill/>
          <a:ln/>
        </p:spPr>
        <p:txBody>
          <a:bodyPr wrap="square" lIns="0" tIns="0" rIns="0" bIns="0" rtlCol="0" anchor="ctr"/>
          <a:lstStyle/>
          <a:p>
            <a:pPr marL="0" indent="0">
              <a:buNone/>
            </a:pPr>
            <a:r>
              <a:rPr lang="en-US" sz="1600" dirty="0">
                <a:solidFill>
                  <a:schemeClr val="tx1"/>
                </a:solidFill>
              </a:rPr>
              <a:t>Write a sentence about an astronaut using a third-person pronoun.</a:t>
            </a:r>
            <a:endParaRPr lang="en-US" sz="1600" dirty="0"/>
          </a:p>
        </p:txBody>
      </p:sp>
      <p:sp>
        <p:nvSpPr>
          <p:cNvPr id="12" name="Exit question 3"/>
          <p:cNvSpPr/>
          <p:nvPr/>
        </p:nvSpPr>
        <p:spPr>
          <a:xfrm>
            <a:off x="457200" y="2651760"/>
            <a:ext cx="8229600" cy="658368"/>
          </a:xfrm>
          <a:prstGeom prst="roundRect">
            <a:avLst>
              <a:gd name="adj" fmla="val 16667"/>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Badge"/>
          <p:cNvSpPr/>
          <p:nvPr/>
        </p:nvSpPr>
        <p:spPr>
          <a:xfrm>
            <a:off x="594360" y="2798064"/>
            <a:ext cx="365760" cy="365760"/>
          </a:xfrm>
          <a:prstGeom prst="ellipse">
            <a:avLst/>
          </a:prstGeom>
          <a:solidFill>
            <a:schemeClr val="accent3"/>
          </a:solidFill>
          <a:ln w="6350">
            <a:solidFill>
              <a:schemeClr val="accent3"/>
            </a:solidFill>
            <a:prstDash val="solid"/>
          </a:ln>
        </p:spPr>
      </p:sp>
      <p:sp>
        <p:nvSpPr>
          <p:cNvPr id="14" name="Text 11"/>
          <p:cNvSpPr txBox="1"/>
          <p:nvPr/>
        </p:nvSpPr>
        <p:spPr>
          <a:xfrm>
            <a:off x="594360" y="279806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5" name="Text 12"/>
          <p:cNvSpPr txBox="1"/>
          <p:nvPr/>
        </p:nvSpPr>
        <p:spPr>
          <a:xfrm>
            <a:off x="1143000" y="2651760"/>
            <a:ext cx="7406640" cy="658368"/>
          </a:xfrm>
          <a:prstGeom prst="rect">
            <a:avLst/>
          </a:prstGeom>
          <a:noFill/>
          <a:ln/>
        </p:spPr>
        <p:txBody>
          <a:bodyPr wrap="square" lIns="0" tIns="0" rIns="0" bIns="0" rtlCol="0" anchor="ctr"/>
          <a:lstStyle/>
          <a:p>
            <a:pPr marL="0" indent="0">
              <a:buNone/>
            </a:pPr>
            <a:r>
              <a:rPr lang="en-US" sz="1600" dirty="0">
                <a:solidFill>
                  <a:schemeClr val="tx1"/>
                </a:solidFill>
              </a:rPr>
              <a:t>Use ‘conduct’ or ‘launch’ in a sentence of your own.</a:t>
            </a:r>
            <a:endParaRPr lang="en-US" sz="1600" dirty="0"/>
          </a:p>
        </p:txBody>
      </p:sp>
      <p:sp>
        <p:nvSpPr>
          <p:cNvPr id="16" name="Text 13"/>
          <p:cNvSpPr txBox="1"/>
          <p:nvPr/>
        </p:nvSpPr>
        <p:spPr>
          <a:xfrm>
            <a:off x="457200" y="3520440"/>
            <a:ext cx="5029200" cy="640080"/>
          </a:xfrm>
          <a:prstGeom prst="rect">
            <a:avLst/>
          </a:prstGeom>
          <a:noFill/>
          <a:ln/>
        </p:spPr>
        <p:txBody>
          <a:bodyPr wrap="square" lIns="0" tIns="0" rIns="0" bIns="0" rtlCol="0" anchor="ctr"/>
          <a:lstStyle/>
          <a:p>
            <a:pPr marL="0" indent="0">
              <a:buNone/>
            </a:pPr>
            <a:r>
              <a:rPr lang="en-US" sz="1700" b="1" dirty="0">
                <a:solidFill>
                  <a:schemeClr val="bg1"/>
                </a:solidFill>
              </a:rPr>
              <a:t>How confident do you feel about point of view?</a:t>
            </a:r>
            <a:endParaRPr lang="en-US" sz="1700" dirty="0"/>
          </a:p>
        </p:txBody>
      </p:sp>
      <p:sp>
        <p:nvSpPr>
          <p:cNvPr id="17" name="Traffic light"/>
          <p:cNvSpPr/>
          <p:nvPr/>
        </p:nvSpPr>
        <p:spPr>
          <a:xfrm>
            <a:off x="5669280" y="3474720"/>
            <a:ext cx="548640" cy="548640"/>
          </a:xfrm>
          <a:prstGeom prst="ellipse">
            <a:avLst/>
          </a:prstGeom>
          <a:solidFill>
            <a:schemeClr val="accent2"/>
          </a:solidFill>
          <a:ln w="6350">
            <a:solidFill>
              <a:schemeClr val="accent2"/>
            </a:solidFill>
            <a:prstDash val="solid"/>
          </a:ln>
        </p:spPr>
      </p:sp>
      <p:sp>
        <p:nvSpPr>
          <p:cNvPr id="18" name="Text 15"/>
          <p:cNvSpPr txBox="1"/>
          <p:nvPr/>
        </p:nvSpPr>
        <p:spPr>
          <a:xfrm>
            <a:off x="5486400" y="4069080"/>
            <a:ext cx="914400" cy="274320"/>
          </a:xfrm>
          <a:prstGeom prst="rect">
            <a:avLst/>
          </a:prstGeom>
          <a:noFill/>
          <a:ln/>
        </p:spPr>
        <p:txBody>
          <a:bodyPr wrap="square" lIns="0" tIns="0" rIns="0" bIns="0" rtlCol="0" anchor="ctr"/>
          <a:lstStyle/>
          <a:p>
            <a:pPr marL="0" indent="0" algn="ctr">
              <a:buNone/>
            </a:pPr>
            <a:r>
              <a:rPr lang="en-US" sz="1200" dirty="0">
                <a:solidFill>
                  <a:schemeClr val="bg1"/>
                </a:solidFill>
              </a:rPr>
              <a:t>Got it!</a:t>
            </a:r>
            <a:endParaRPr lang="en-US" sz="1200" dirty="0"/>
          </a:p>
        </p:txBody>
      </p:sp>
      <p:sp>
        <p:nvSpPr>
          <p:cNvPr id="19" name="Traffic light"/>
          <p:cNvSpPr/>
          <p:nvPr/>
        </p:nvSpPr>
        <p:spPr>
          <a:xfrm>
            <a:off x="6766560" y="3474720"/>
            <a:ext cx="548640" cy="548640"/>
          </a:xfrm>
          <a:prstGeom prst="ellipse">
            <a:avLst/>
          </a:prstGeom>
          <a:solidFill>
            <a:schemeClr val="accent5"/>
          </a:solidFill>
          <a:ln w="6350">
            <a:solidFill>
              <a:schemeClr val="accent5"/>
            </a:solidFill>
            <a:prstDash val="solid"/>
          </a:ln>
        </p:spPr>
      </p:sp>
      <p:sp>
        <p:nvSpPr>
          <p:cNvPr id="20" name="Text 17"/>
          <p:cNvSpPr txBox="1"/>
          <p:nvPr/>
        </p:nvSpPr>
        <p:spPr>
          <a:xfrm>
            <a:off x="6583680" y="4069080"/>
            <a:ext cx="914400" cy="274320"/>
          </a:xfrm>
          <a:prstGeom prst="rect">
            <a:avLst/>
          </a:prstGeom>
          <a:noFill/>
          <a:ln/>
        </p:spPr>
        <p:txBody>
          <a:bodyPr wrap="square" lIns="0" tIns="0" rIns="0" bIns="0" rtlCol="0" anchor="ctr"/>
          <a:lstStyle/>
          <a:p>
            <a:pPr marL="0" indent="0" algn="ctr">
              <a:buNone/>
            </a:pPr>
            <a:r>
              <a:rPr lang="en-US" sz="1200" dirty="0">
                <a:solidFill>
                  <a:schemeClr val="bg1"/>
                </a:solidFill>
              </a:rPr>
              <a:t>Nearly</a:t>
            </a:r>
            <a:endParaRPr lang="en-US" sz="1200" dirty="0"/>
          </a:p>
        </p:txBody>
      </p:sp>
      <p:sp>
        <p:nvSpPr>
          <p:cNvPr id="21" name="Traffic light"/>
          <p:cNvSpPr/>
          <p:nvPr/>
        </p:nvSpPr>
        <p:spPr>
          <a:xfrm>
            <a:off x="7863840" y="3474720"/>
            <a:ext cx="548640" cy="548640"/>
          </a:xfrm>
          <a:prstGeom prst="ellipse">
            <a:avLst/>
          </a:prstGeom>
          <a:solidFill>
            <a:schemeClr val="accent3"/>
          </a:solidFill>
          <a:ln w="6350">
            <a:solidFill>
              <a:schemeClr val="accent3"/>
            </a:solidFill>
            <a:prstDash val="solid"/>
          </a:ln>
        </p:spPr>
      </p:sp>
      <p:sp>
        <p:nvSpPr>
          <p:cNvPr id="22" name="Text 19"/>
          <p:cNvSpPr txBox="1"/>
          <p:nvPr/>
        </p:nvSpPr>
        <p:spPr>
          <a:xfrm>
            <a:off x="7680960" y="4069080"/>
            <a:ext cx="914400" cy="274320"/>
          </a:xfrm>
          <a:prstGeom prst="rect">
            <a:avLst/>
          </a:prstGeom>
          <a:noFill/>
          <a:ln/>
        </p:spPr>
        <p:txBody>
          <a:bodyPr wrap="square" lIns="0" tIns="0" rIns="0" bIns="0" rtlCol="0" anchor="ctr"/>
          <a:lstStyle/>
          <a:p>
            <a:pPr marL="0" indent="0" algn="ctr">
              <a:buNone/>
            </a:pPr>
            <a:r>
              <a:rPr lang="en-US" sz="1200" dirty="0">
                <a:solidFill>
                  <a:schemeClr val="bg1"/>
                </a:solidFill>
              </a:rPr>
              <a:t>Need help</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Model answers: exit ticket</a:t>
            </a:r>
            <a:endParaRPr lang="en-US" sz="3000" dirty="0"/>
          </a:p>
        </p:txBody>
      </p:sp>
      <p:sp>
        <p:nvSpPr>
          <p:cNvPr id="4" name="Exit model 1"/>
          <p:cNvSpPr/>
          <p:nvPr/>
        </p:nvSpPr>
        <p:spPr>
          <a:xfrm>
            <a:off x="457200" y="1097280"/>
            <a:ext cx="822960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389888"/>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94360" y="1389888"/>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43000" y="1097280"/>
            <a:ext cx="2468880" cy="960120"/>
          </a:xfrm>
          <a:prstGeom prst="rect">
            <a:avLst/>
          </a:prstGeom>
          <a:noFill/>
          <a:ln/>
        </p:spPr>
        <p:txBody>
          <a:bodyPr wrap="square" lIns="0" tIns="0" rIns="0" bIns="0" rtlCol="0" anchor="ctr"/>
          <a:lstStyle/>
          <a:p>
            <a:pPr marL="0" indent="0">
              <a:buNone/>
            </a:pPr>
            <a:r>
              <a:rPr lang="en-US" sz="1500" b="1" dirty="0">
                <a:solidFill>
                  <a:schemeClr val="accent4"/>
                </a:solidFill>
              </a:rPr>
              <a:t>Biography or autobiography</a:t>
            </a:r>
            <a:endParaRPr lang="en-US" sz="1500" dirty="0"/>
          </a:p>
        </p:txBody>
      </p:sp>
      <p:sp>
        <p:nvSpPr>
          <p:cNvPr id="8" name="Text 5"/>
          <p:cNvSpPr txBox="1"/>
          <p:nvPr/>
        </p:nvSpPr>
        <p:spPr>
          <a:xfrm>
            <a:off x="3657600" y="1097280"/>
            <a:ext cx="4846320" cy="960120"/>
          </a:xfrm>
          <a:prstGeom prst="rect">
            <a:avLst/>
          </a:prstGeom>
          <a:noFill/>
          <a:ln/>
        </p:spPr>
        <p:txBody>
          <a:bodyPr wrap="square" lIns="0" tIns="0" rIns="0" bIns="0" rtlCol="0" anchor="ctr"/>
          <a:lstStyle/>
          <a:p>
            <a:pPr marL="0" indent="0">
              <a:buNone/>
            </a:pPr>
            <a:r>
              <a:rPr lang="en-US" sz="1400" dirty="0">
                <a:solidFill>
                  <a:schemeClr val="tx1"/>
                </a:solidFill>
              </a:rPr>
              <a:t>A biography is written by someone else about a person (third person). An autobiography is written by the person about their own life (first person).</a:t>
            </a:r>
            <a:endParaRPr lang="en-US" sz="1400" dirty="0"/>
          </a:p>
        </p:txBody>
      </p:sp>
      <p:sp>
        <p:nvSpPr>
          <p:cNvPr id="9" name="Exit model 2"/>
          <p:cNvSpPr/>
          <p:nvPr/>
        </p:nvSpPr>
        <p:spPr>
          <a:xfrm>
            <a:off x="457200" y="2194560"/>
            <a:ext cx="822960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94360" y="2487168"/>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487168"/>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2194560"/>
            <a:ext cx="2468880" cy="960120"/>
          </a:xfrm>
          <a:prstGeom prst="rect">
            <a:avLst/>
          </a:prstGeom>
          <a:noFill/>
          <a:ln/>
        </p:spPr>
        <p:txBody>
          <a:bodyPr wrap="square" lIns="0" tIns="0" rIns="0" bIns="0" rtlCol="0" anchor="ctr"/>
          <a:lstStyle/>
          <a:p>
            <a:pPr marL="0" indent="0">
              <a:buNone/>
            </a:pPr>
            <a:r>
              <a:rPr lang="en-US" sz="1500" b="1" dirty="0">
                <a:solidFill>
                  <a:schemeClr val="accent4"/>
                </a:solidFill>
              </a:rPr>
              <a:t>A sentence</a:t>
            </a:r>
            <a:endParaRPr lang="en-US" sz="1500" dirty="0"/>
          </a:p>
        </p:txBody>
      </p:sp>
      <p:sp>
        <p:nvSpPr>
          <p:cNvPr id="13" name="Text 10"/>
          <p:cNvSpPr txBox="1"/>
          <p:nvPr/>
        </p:nvSpPr>
        <p:spPr>
          <a:xfrm>
            <a:off x="3657600" y="2194560"/>
            <a:ext cx="4846320" cy="960120"/>
          </a:xfrm>
          <a:prstGeom prst="rect">
            <a:avLst/>
          </a:prstGeom>
          <a:noFill/>
          <a:ln/>
        </p:spPr>
        <p:txBody>
          <a:bodyPr wrap="square" lIns="0" tIns="0" rIns="0" bIns="0" rtlCol="0" anchor="ctr"/>
          <a:lstStyle/>
          <a:p>
            <a:pPr marL="0" indent="0">
              <a:buNone/>
            </a:pPr>
            <a:r>
              <a:rPr lang="en-US" sz="1400" dirty="0">
                <a:solidFill>
                  <a:schemeClr val="tx1"/>
                </a:solidFill>
              </a:rPr>
              <a:t>She launched into space on 23 November 2014.</a:t>
            </a:r>
            <a:endParaRPr lang="en-US" sz="1400" dirty="0"/>
          </a:p>
        </p:txBody>
      </p:sp>
      <p:sp>
        <p:nvSpPr>
          <p:cNvPr id="14" name="Exit model 3"/>
          <p:cNvSpPr/>
          <p:nvPr/>
        </p:nvSpPr>
        <p:spPr>
          <a:xfrm>
            <a:off x="457200" y="3291840"/>
            <a:ext cx="822960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594360" y="3584448"/>
            <a:ext cx="365760" cy="365760"/>
          </a:xfrm>
          <a:prstGeom prst="ellipse">
            <a:avLst/>
          </a:prstGeom>
          <a:solidFill>
            <a:schemeClr val="accent3"/>
          </a:solidFill>
          <a:ln w="6350">
            <a:solidFill>
              <a:schemeClr val="accent3"/>
            </a:solidFill>
            <a:prstDash val="solid"/>
          </a:ln>
        </p:spPr>
      </p:sp>
      <p:sp>
        <p:nvSpPr>
          <p:cNvPr id="16" name="Text 13"/>
          <p:cNvSpPr txBox="1"/>
          <p:nvPr/>
        </p:nvSpPr>
        <p:spPr>
          <a:xfrm>
            <a:off x="594360" y="3584448"/>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143000" y="3291840"/>
            <a:ext cx="2468880" cy="960120"/>
          </a:xfrm>
          <a:prstGeom prst="rect">
            <a:avLst/>
          </a:prstGeom>
          <a:noFill/>
          <a:ln/>
        </p:spPr>
        <p:txBody>
          <a:bodyPr wrap="square" lIns="0" tIns="0" rIns="0" bIns="0" rtlCol="0" anchor="ctr"/>
          <a:lstStyle/>
          <a:p>
            <a:pPr marL="0" indent="0">
              <a:buNone/>
            </a:pPr>
            <a:r>
              <a:rPr lang="en-US" sz="1500" b="1" dirty="0">
                <a:solidFill>
                  <a:schemeClr val="accent4"/>
                </a:solidFill>
              </a:rPr>
              <a:t>conduct or launch</a:t>
            </a:r>
            <a:endParaRPr lang="en-US" sz="1500" dirty="0"/>
          </a:p>
        </p:txBody>
      </p:sp>
      <p:sp>
        <p:nvSpPr>
          <p:cNvPr id="18" name="Text 15"/>
          <p:cNvSpPr txBox="1"/>
          <p:nvPr/>
        </p:nvSpPr>
        <p:spPr>
          <a:xfrm>
            <a:off x="3657600" y="3291840"/>
            <a:ext cx="4846320" cy="960120"/>
          </a:xfrm>
          <a:prstGeom prst="rect">
            <a:avLst/>
          </a:prstGeom>
          <a:noFill/>
          <a:ln/>
        </p:spPr>
        <p:txBody>
          <a:bodyPr wrap="square" lIns="0" tIns="0" rIns="0" bIns="0" rtlCol="0" anchor="ctr"/>
          <a:lstStyle/>
          <a:p>
            <a:pPr marL="0" indent="0">
              <a:buNone/>
            </a:pPr>
            <a:r>
              <a:rPr lang="en-US" sz="1400" dirty="0">
                <a:solidFill>
                  <a:schemeClr val="tx1"/>
                </a:solidFill>
              </a:rPr>
              <a:t>Astronauts conduct experiments on the ISS.  /  The rocket will launch tomorrow.</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Homework</a:t>
            </a:r>
            <a:endParaRPr lang="en-US" sz="3000" dirty="0"/>
          </a:p>
        </p:txBody>
      </p:sp>
      <p:sp>
        <p:nvSpPr>
          <p:cNvPr id="4" name="Homework task 1"/>
          <p:cNvSpPr/>
          <p:nvPr/>
        </p:nvSpPr>
        <p:spPr>
          <a:xfrm>
            <a:off x="457200" y="1051560"/>
            <a:ext cx="822960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271016"/>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94360" y="127101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43000" y="1051560"/>
            <a:ext cx="2011680" cy="804672"/>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Reading log</a:t>
            </a:r>
            <a:endParaRPr lang="en-US" sz="1600" dirty="0"/>
          </a:p>
        </p:txBody>
      </p:sp>
      <p:sp>
        <p:nvSpPr>
          <p:cNvPr id="8" name="Text 5"/>
          <p:cNvSpPr txBox="1"/>
          <p:nvPr/>
        </p:nvSpPr>
        <p:spPr>
          <a:xfrm>
            <a:off x="3154680" y="1051560"/>
            <a:ext cx="5394960" cy="804672"/>
          </a:xfrm>
          <a:prstGeom prst="rect">
            <a:avLst/>
          </a:prstGeom>
          <a:noFill/>
          <a:ln/>
        </p:spPr>
        <p:txBody>
          <a:bodyPr wrap="square" lIns="0" tIns="0" rIns="0" bIns="0" rtlCol="0" anchor="ctr"/>
          <a:lstStyle/>
          <a:p>
            <a:pPr marL="0" indent="0">
              <a:buNone/>
            </a:pPr>
            <a:r>
              <a:rPr lang="en-US" sz="1300" dirty="0">
                <a:solidFill>
                  <a:schemeClr val="tx1"/>
                </a:solidFill>
              </a:rPr>
              <a:t>Add ‘Astronaut Samantha Cristoforetti’ to your reading log. List two other biographies you would like to read.</a:t>
            </a:r>
            <a:endParaRPr lang="en-US" sz="1300" dirty="0"/>
          </a:p>
        </p:txBody>
      </p:sp>
      <p:sp>
        <p:nvSpPr>
          <p:cNvPr id="9" name="Homework task 2"/>
          <p:cNvSpPr/>
          <p:nvPr/>
        </p:nvSpPr>
        <p:spPr>
          <a:xfrm>
            <a:off x="457200" y="1965960"/>
            <a:ext cx="822960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94360" y="2185416"/>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18541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1965960"/>
            <a:ext cx="2011680" cy="804672"/>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Spelling</a:t>
            </a:r>
            <a:endParaRPr lang="en-US" sz="1600" dirty="0"/>
          </a:p>
        </p:txBody>
      </p:sp>
      <p:sp>
        <p:nvSpPr>
          <p:cNvPr id="13" name="Text 10"/>
          <p:cNvSpPr txBox="1"/>
          <p:nvPr/>
        </p:nvSpPr>
        <p:spPr>
          <a:xfrm>
            <a:off x="3154680" y="1965960"/>
            <a:ext cx="5394960" cy="804672"/>
          </a:xfrm>
          <a:prstGeom prst="rect">
            <a:avLst/>
          </a:prstGeom>
          <a:noFill/>
          <a:ln/>
        </p:spPr>
        <p:txBody>
          <a:bodyPr wrap="square" lIns="0" tIns="0" rIns="0" bIns="0" rtlCol="0" anchor="ctr"/>
          <a:lstStyle/>
          <a:p>
            <a:pPr marL="0" indent="0">
              <a:buNone/>
            </a:pPr>
            <a:r>
              <a:rPr lang="en-US" sz="1300" dirty="0">
                <a:solidFill>
                  <a:schemeClr val="tx1"/>
                </a:solidFill>
              </a:rPr>
              <a:t>Look, cover, write, check: aeronautics, assign, conduct, launch. Write one sentence for each.</a:t>
            </a:r>
            <a:endParaRPr lang="en-US" sz="1300" dirty="0"/>
          </a:p>
        </p:txBody>
      </p:sp>
      <p:sp>
        <p:nvSpPr>
          <p:cNvPr id="14" name="Homework task 3"/>
          <p:cNvSpPr/>
          <p:nvPr/>
        </p:nvSpPr>
        <p:spPr>
          <a:xfrm>
            <a:off x="457200" y="2880360"/>
            <a:ext cx="822960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594360" y="3099816"/>
            <a:ext cx="365760" cy="365760"/>
          </a:xfrm>
          <a:prstGeom prst="ellipse">
            <a:avLst/>
          </a:prstGeom>
          <a:solidFill>
            <a:schemeClr val="accent3"/>
          </a:solidFill>
          <a:ln w="6350">
            <a:solidFill>
              <a:schemeClr val="accent3"/>
            </a:solidFill>
            <a:prstDash val="solid"/>
          </a:ln>
        </p:spPr>
      </p:sp>
      <p:sp>
        <p:nvSpPr>
          <p:cNvPr id="16" name="Text 13"/>
          <p:cNvSpPr txBox="1"/>
          <p:nvPr/>
        </p:nvSpPr>
        <p:spPr>
          <a:xfrm>
            <a:off x="594360" y="309981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143000" y="2880360"/>
            <a:ext cx="2011680" cy="804672"/>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Autobiography</a:t>
            </a:r>
            <a:endParaRPr lang="en-US" sz="1600" dirty="0"/>
          </a:p>
        </p:txBody>
      </p:sp>
      <p:sp>
        <p:nvSpPr>
          <p:cNvPr id="18" name="Text 15"/>
          <p:cNvSpPr txBox="1"/>
          <p:nvPr/>
        </p:nvSpPr>
        <p:spPr>
          <a:xfrm>
            <a:off x="3154680" y="2880360"/>
            <a:ext cx="5394960" cy="804672"/>
          </a:xfrm>
          <a:prstGeom prst="rect">
            <a:avLst/>
          </a:prstGeom>
          <a:noFill/>
          <a:ln/>
        </p:spPr>
        <p:txBody>
          <a:bodyPr wrap="square" lIns="0" tIns="0" rIns="0" bIns="0" rtlCol="0" anchor="ctr"/>
          <a:lstStyle/>
          <a:p>
            <a:pPr marL="0" indent="0">
              <a:buNone/>
            </a:pPr>
            <a:r>
              <a:rPr lang="en-US" sz="1300" dirty="0">
                <a:solidFill>
                  <a:schemeClr val="tx1"/>
                </a:solidFill>
              </a:rPr>
              <a:t>Rewrite four sentences from the biography in the first person, as if Samantha wrote them. Example: ‘She was born in Milan.’ → ‘I was born in Milan.’</a:t>
            </a:r>
            <a:endParaRPr lang="en-US" sz="1300" dirty="0"/>
          </a:p>
        </p:txBody>
      </p:sp>
      <p:sp>
        <p:nvSpPr>
          <p:cNvPr id="19" name="Challenge"/>
          <p:cNvSpPr/>
          <p:nvPr/>
        </p:nvSpPr>
        <p:spPr>
          <a:xfrm>
            <a:off x="457200" y="3886200"/>
            <a:ext cx="8229600" cy="731520"/>
          </a:xfrm>
          <a:prstGeom prst="roundRect">
            <a:avLst>
              <a:gd name="adj" fmla="val 15000"/>
            </a:avLst>
          </a:prstGeom>
          <a:solidFill>
            <a:schemeClr val="accent5"/>
          </a:solidFill>
          <a:ln w="9525">
            <a:solidFill>
              <a:schemeClr val="accent5"/>
            </a:solidFill>
            <a:prstDash val="solid"/>
          </a:ln>
        </p:spPr>
      </p:sp>
      <p:sp>
        <p:nvSpPr>
          <p:cNvPr id="20" name="Text 17"/>
          <p:cNvSpPr txBox="1"/>
          <p:nvPr/>
        </p:nvSpPr>
        <p:spPr>
          <a:xfrm>
            <a:off x="640080" y="3886200"/>
            <a:ext cx="7863840" cy="731520"/>
          </a:xfrm>
          <a:prstGeom prst="rect">
            <a:avLst/>
          </a:prstGeom>
          <a:noFill/>
          <a:ln/>
        </p:spPr>
        <p:txBody>
          <a:bodyPr wrap="square" lIns="0" tIns="0" rIns="0" bIns="0" rtlCol="0" anchor="ctr"/>
          <a:lstStyle/>
          <a:p>
            <a:pPr marL="0" indent="0">
              <a:buNone/>
            </a:pPr>
            <a:r>
              <a:rPr lang="en-US" sz="1400" b="1" dirty="0">
                <a:solidFill>
                  <a:schemeClr val="tx1"/>
                </a:solidFill>
              </a:rPr>
              <a:t>CHALLENGE: </a:t>
            </a:r>
            <a:r>
              <a:rPr lang="en-US" sz="1400" dirty="0">
                <a:solidFill>
                  <a:schemeClr val="tx1"/>
                </a:solidFill>
              </a:rPr>
              <a:t>Write a short biography of someone you admire. Use the third person, three dates in order and two time connectives.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51</a:t>
            </a:fld>
            <a:endParaRPr lang="en-US"/>
          </a:p>
        </p:txBody>
      </p:sp>
    </p:spTree>
  </p:cSld>
  <p:clrMapOvr>
    <a:masterClrMapping/>
  </p:clrMapOvr>
</p:sld>
</file>

<file path=ppt/theme/theme1.xml><?xml version="1.0" encoding="utf-8"?>
<a:theme xmlns:a="http://schemas.openxmlformats.org/drawingml/2006/main" name="Space Explorers">
  <a:themeElements>
    <a:clrScheme name="Space Explorers">
      <a:dk1>
        <a:srgbClr val="0E1537"/>
      </a:dk1>
      <a:lt1>
        <a:srgbClr val="FFFFFF"/>
      </a:lt1>
      <a:dk2>
        <a:srgbClr val="3A3F85"/>
      </a:dk2>
      <a:lt2>
        <a:srgbClr val="F1F3FF"/>
      </a:lt2>
      <a:accent1>
        <a:srgbClr val="FF8A3D"/>
      </a:accent1>
      <a:accent2>
        <a:srgbClr val="2EC4B6"/>
      </a:accent2>
      <a:accent3>
        <a:srgbClr val="FF6B8B"/>
      </a:accent3>
      <a:accent4>
        <a:srgbClr val="7B5CE0"/>
      </a:accent4>
      <a:accent5>
        <a:srgbClr val="FFD166"/>
      </a:accent5>
      <a:accent6>
        <a:srgbClr val="4CC9F0"/>
      </a:accent6>
      <a:hlink>
        <a:srgbClr val="4CC9F0"/>
      </a:hlink>
      <a:folHlink>
        <a:srgbClr val="7B5CE0"/>
      </a:folHlink>
    </a:clrScheme>
    <a:fontScheme name="Space Explore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5808</Words>
  <Application>Microsoft Office PowerPoint</Application>
  <PresentationFormat>On-screen Show (16:9)</PresentationFormat>
  <Paragraphs>724</Paragraphs>
  <Slides>51</Slides>
  <Notes>51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Calibri</vt:lpstr>
      <vt:lpstr>Cambria</vt:lpstr>
      <vt:lpstr>Space Explorers</vt:lpstr>
      <vt:lpstr>PowerPoint Presentation</vt:lpstr>
      <vt:lpstr>Today’s mission</vt:lpstr>
      <vt:lpstr>Getting started</vt:lpstr>
      <vt:lpstr>Getting started: possible answers</vt:lpstr>
      <vt:lpstr>What is a biography?</vt:lpstr>
      <vt:lpstr>PowerPoint Presentation</vt:lpstr>
      <vt:lpstr>Skim read the text</vt:lpstr>
      <vt:lpstr>Sections of the biography</vt:lpstr>
      <vt:lpstr>1a: true or false?</vt:lpstr>
      <vt:lpstr>1a: answers</vt:lpstr>
      <vt:lpstr>Biography or autobiography?</vt:lpstr>
      <vt:lpstr>Point of view: two questions</vt:lpstr>
      <vt:lpstr>Third-person pronouns in action</vt:lpstr>
      <vt:lpstr>First-person pronouns in action</vt:lpstr>
      <vt:lpstr>Social media posts about Samantha</vt:lpstr>
      <vt:lpstr>2a and 2b: who wrote it?</vt:lpstr>
      <vt:lpstr>2a and 2b: answers</vt:lpstr>
      <vt:lpstr>2c: fill in the third-person pronouns</vt:lpstr>
      <vt:lpstr>2c: answers</vt:lpstr>
      <vt:lpstr>Choose the biography sentence</vt:lpstr>
      <vt:lpstr>Answer: the biography sentence</vt:lpstr>
      <vt:lpstr>Choose the autobiography sentence</vt:lpstr>
      <vt:lpstr>Answer: the autobiography sentence</vt:lpstr>
      <vt:lpstr>PowerPoint Presentation</vt:lpstr>
      <vt:lpstr>Use context to work out a word</vt:lpstr>
      <vt:lpstr>Words in the text</vt:lpstr>
      <vt:lpstr>Word 1: AERONAUTICS</vt:lpstr>
      <vt:lpstr>Use &amp; check: aeronautics</vt:lpstr>
      <vt:lpstr>Word 2: ESA</vt:lpstr>
      <vt:lpstr>Use &amp; check: ESA</vt:lpstr>
      <vt:lpstr>Word 3: ASSIGN</vt:lpstr>
      <vt:lpstr>Use &amp; check: assign</vt:lpstr>
      <vt:lpstr>Word 4: CONDUCT</vt:lpstr>
      <vt:lpstr>Use &amp; check: conduct</vt:lpstr>
      <vt:lpstr>Word 5: LAUNCH</vt:lpstr>
      <vt:lpstr>Use &amp; check: launch</vt:lpstr>
      <vt:lpstr>Other new words for your spelling log</vt:lpstr>
      <vt:lpstr>Spelling log: highlight the tricky letters</vt:lpstr>
      <vt:lpstr>Use the words in sentences</vt:lpstr>
      <vt:lpstr>PowerPoint Presentation</vt:lpstr>
      <vt:lpstr>3a to 3d: scan for details</vt:lpstr>
      <vt:lpstr>3a to 3d: model answers</vt:lpstr>
      <vt:lpstr>3f: fan or enemy?</vt:lpstr>
      <vt:lpstr>3f: model answer</vt:lpstr>
      <vt:lpstr>3g: biography, timeline?</vt:lpstr>
      <vt:lpstr>3g: model answer</vt:lpstr>
      <vt:lpstr>3h: add it to your reading log</vt:lpstr>
      <vt:lpstr>3h: model reading log</vt:lpstr>
      <vt:lpstr>Exit ticket</vt:lpstr>
      <vt:lpstr>Model answers: exit ticket</vt:lpstr>
      <vt:lpstr>Homework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Biographies – Year 5 Unit 2 Lesson 2.8 Part 1</dc:title>
  <dc:subject>PptxGenJS Presentation</dc:subject>
  <dc:creator>Year 5 English</dc:creator>
  <cp:lastModifiedBy>Rozan Zakaria@meis-eg.com</cp:lastModifiedBy>
  <cp:revision>2</cp:revision>
  <dcterms:created xsi:type="dcterms:W3CDTF">2026-10-26T23:59:08Z</dcterms:created>
  <dcterms:modified xsi:type="dcterms:W3CDTF">2026-10-27T05:26:14Z</dcterms:modified>
</cp:coreProperties>
</file>