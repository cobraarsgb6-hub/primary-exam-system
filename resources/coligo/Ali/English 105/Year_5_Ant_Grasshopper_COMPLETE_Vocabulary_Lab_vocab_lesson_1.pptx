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5" r:id="rId7"/>
    <p:sldId id="266" r:id="rId8"/>
    <p:sldId id="267" r:id="rId9"/>
    <p:sldId id="268" r:id="rId10"/>
    <p:sldId id="269" r:id="rId11"/>
    <p:sldId id="270" r:id="rId12"/>
    <p:sldId id="271" r:id="rId13"/>
    <p:sldId id="272" r:id="rId14"/>
    <p:sldId id="273" r:id="rId15"/>
    <p:sldId id="274" r:id="rId16"/>
    <p:sldId id="275" r:id="rId17"/>
    <p:sldId id="276" r:id="rId18"/>
    <p:sldId id="277" r:id="rId19"/>
    <p:sldId id="278" r:id="rId20"/>
    <p:sldId id="281" r:id="rId21"/>
    <p:sldId id="282" r:id="rId22"/>
    <p:sldId id="283" r:id="rId23"/>
    <p:sldId id="284" r:id="rId24"/>
    <p:sldId id="285" r:id="rId25"/>
    <p:sldId id="286" r:id="rId26"/>
    <p:sldId id="287" r:id="rId27"/>
    <p:sldId id="288" r:id="rId28"/>
    <p:sldId id="289" r:id="rId29"/>
    <p:sldId id="290" r:id="rId30"/>
    <p:sldId id="291" r:id="rId31"/>
    <p:sldId id="292" r:id="rId32"/>
    <p:sldId id="293" r:id="rId33"/>
    <p:sldId id="294" r:id="rId34"/>
    <p:sldId id="295" r:id="rId35"/>
    <p:sldId id="296" r:id="rId36"/>
    <p:sldId id="297" r:id="rId37"/>
    <p:sldId id="298" r:id="rId38"/>
    <p:sldId id="299" r:id="rId39"/>
    <p:sldId id="300" r:id="rId4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6" d="100"/>
          <a:sy n="106" d="100"/>
        </p:scale>
        <p:origin x="756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24/09/2026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24/09/2026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24/09/2026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24/09/2026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24/09/2026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24/09/2026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24/09/2026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24/09/2026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24/09/2026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24/09/2026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24/09/2026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24/09/2026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60120" y="1051560"/>
            <a:ext cx="10287000" cy="960120"/>
          </a:xfrm>
          <a:prstGeom prst="roundRect">
            <a:avLst/>
          </a:prstGeom>
          <a:solidFill>
            <a:srgbClr val="FAF7EE"/>
          </a:solidFill>
          <a:ln>
            <a:solidFill>
              <a:srgbClr val="FAF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ctr">
              <a:defRPr sz="3400" b="1">
                <a:solidFill>
                  <a:srgbClr val="4B7D32"/>
                </a:solidFill>
              </a:defRPr>
            </a:pPr>
            <a:r>
              <a:t>THE ANT &amp; THE GRASSHOPPER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783080" y="2240280"/>
            <a:ext cx="8595360" cy="731520"/>
          </a:xfrm>
          <a:prstGeom prst="roundRect">
            <a:avLst/>
          </a:prstGeom>
          <a:solidFill>
            <a:srgbClr val="FFEED8"/>
          </a:solidFill>
          <a:ln>
            <a:solidFill>
              <a:srgbClr val="EB8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ctr">
              <a:defRPr sz="2500" b="1">
                <a:solidFill>
                  <a:srgbClr val="2B3428"/>
                </a:solidFill>
              </a:defRPr>
            </a:pPr>
            <a:r>
              <a:t>🔎 COMPLETE VOCABULARY LAB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920240" y="3246120"/>
            <a:ext cx="83210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4B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ctr">
              <a:defRPr sz="1800" b="1">
                <a:solidFill>
                  <a:srgbClr val="2B3428"/>
                </a:solidFill>
              </a:defRPr>
            </a:pPr>
            <a:r>
              <a:rPr dirty="0"/>
              <a:t>1</a:t>
            </a:r>
            <a:r>
              <a:rPr lang="en-US" dirty="0"/>
              <a:t>4</a:t>
            </a:r>
            <a:r>
              <a:rPr dirty="0"/>
              <a:t> key words from our Lesson 1 vocabulary work</a:t>
            </a:r>
            <a:br>
              <a:rPr dirty="0"/>
            </a:br>
            <a:r>
              <a:rPr dirty="0"/>
              <a:t>Meet → Discover → Explain → Use → Check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0" y="4846320"/>
            <a:ext cx="667512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A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ctr">
              <a:defRPr sz="1500" b="1">
                <a:solidFill>
                  <a:srgbClr val="5C6459"/>
                </a:solidFill>
              </a:defRPr>
            </a:pPr>
            <a:r>
              <a:t>Year 5 • separate vocabulary session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B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B7D32"/>
                </a:solidFill>
              </a:defRPr>
            </a:pPr>
            <a:r>
              <a:t>LAUNCH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21031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C6459"/>
                </a:solidFill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30352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B3428"/>
                </a:solidFill>
              </a:defRPr>
            </a:pPr>
            <a:r>
              <a:t>🎯 WHY ARE WE DOING A VOCABULARY SESSION?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115568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C6459"/>
                </a:solidFill>
              </a:defRPr>
            </a:pPr>
            <a:r>
              <a:t>This is not a dictionary lesson. Students need the words to understand the fable and explain their ideas.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91640"/>
            <a:ext cx="3429000" cy="2240280"/>
          </a:xfrm>
          <a:prstGeom prst="roundRect">
            <a:avLst/>
          </a:prstGeom>
          <a:solidFill>
            <a:srgbClr val="EBF4E1"/>
          </a:solidFill>
          <a:ln>
            <a:solidFill>
              <a:srgbClr val="4B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ctr">
              <a:defRPr sz="1600" b="1">
                <a:solidFill>
                  <a:srgbClr val="2B3428"/>
                </a:solidFill>
              </a:defRPr>
            </a:pPr>
            <a:r>
              <a:t>MEET</a:t>
            </a:r>
            <a:br/>
            <a:br/>
            <a:r>
              <a:t>Hear the word in context.</a:t>
            </a:r>
            <a:br/>
            <a:r>
              <a:t>Say it correctly.</a:t>
            </a:r>
            <a:br/>
            <a:r>
              <a:t>Notice what is happening.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91640"/>
            <a:ext cx="3429000" cy="2240280"/>
          </a:xfrm>
          <a:prstGeom prst="roundRect">
            <a:avLst/>
          </a:prstGeom>
          <a:solidFill>
            <a:srgbClr val="FFEED8"/>
          </a:solidFill>
          <a:ln>
            <a:solidFill>
              <a:srgbClr val="EB8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ctr">
              <a:defRPr sz="1600" b="1">
                <a:solidFill>
                  <a:srgbClr val="2B3428"/>
                </a:solidFill>
              </a:defRPr>
            </a:pPr>
            <a:r>
              <a:t>DISCOVER</a:t>
            </a:r>
            <a:br/>
            <a:br/>
            <a:r>
              <a:t>Predict the meaning.</a:t>
            </a:r>
            <a:br/>
            <a:r>
              <a:t>Find a clue.</a:t>
            </a:r>
            <a:br/>
            <a:r>
              <a:t>Check the precise meaning.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2440" y="1691640"/>
            <a:ext cx="3429000" cy="2240280"/>
          </a:xfrm>
          <a:prstGeom prst="roundRect">
            <a:avLst/>
          </a:prstGeom>
          <a:solidFill>
            <a:srgbClr val="E5F0F7"/>
          </a:solidFill>
          <a:ln>
            <a:solidFill>
              <a:srgbClr val="4373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ctr">
              <a:defRPr sz="1600" b="1">
                <a:solidFill>
                  <a:srgbClr val="2B3428"/>
                </a:solidFill>
              </a:defRPr>
            </a:pPr>
            <a:r>
              <a:t>USE</a:t>
            </a:r>
            <a:br/>
            <a:br/>
            <a:r>
              <a:t>Say it.</a:t>
            </a:r>
            <a:br/>
            <a:r>
              <a:t>Write it.</a:t>
            </a:r>
            <a:br/>
            <a:r>
              <a:t>Use it to explain the fable.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4572000"/>
            <a:ext cx="1033272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B9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ctr">
              <a:defRPr sz="1600" b="1">
                <a:solidFill>
                  <a:srgbClr val="2B3428"/>
                </a:solidFill>
              </a:defRPr>
            </a:pPr>
            <a:r>
              <a:t>Important: Do not reveal the definition before students have had a chance to infer 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B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B7D32"/>
                </a:solidFill>
              </a:defRPr>
            </a:pPr>
            <a:r>
              <a:t>VOCABULARY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21031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C6459"/>
                </a:solidFill>
              </a:defRPr>
            </a:pPr>
            <a: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30352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B3428"/>
                </a:solidFill>
              </a:defRPr>
            </a:pPr>
            <a:r>
              <a:t>🗺️ THE 17 WORDS WE WILL LEARN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115568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C6459"/>
                </a:solidFill>
              </a:defRPr>
            </a:pPr>
            <a:r>
              <a:t>We will not give every word the same amount of time.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00200"/>
            <a:ext cx="53035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4B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ctr">
              <a:defRPr sz="1600" b="1">
                <a:solidFill>
                  <a:srgbClr val="2B3428"/>
                </a:solidFill>
              </a:defRPr>
            </a:pPr>
            <a:r>
              <a:t>TEXT &amp; ACTION</a:t>
            </a:r>
            <a:br/>
            <a:br/>
            <a:r>
              <a:t>grains • stored • prepared • provision • fare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600200"/>
            <a:ext cx="53035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B8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ctr">
              <a:defRPr sz="1600" b="1">
                <a:solidFill>
                  <a:srgbClr val="2B3428"/>
                </a:solidFill>
              </a:defRPr>
            </a:pPr>
            <a:r>
              <a:t>CHARACTER</a:t>
            </a:r>
            <a:br/>
            <a:br/>
            <a:r>
              <a:t>fathom • industrious • guffawed • wistfully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429000"/>
            <a:ext cx="53035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7053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ctr">
              <a:defRPr sz="1600" b="1">
                <a:solidFill>
                  <a:srgbClr val="2B3428"/>
                </a:solidFill>
              </a:defRPr>
            </a:pPr>
            <a:r>
              <a:t>AMOUNT / AVAILABILITY</a:t>
            </a:r>
            <a:br/>
            <a:br/>
            <a:r>
              <a:t>bountiful • plentiful • liberally • enormous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3429000"/>
            <a:ext cx="53035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4373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ctr">
              <a:defRPr sz="1600" b="1">
                <a:solidFill>
                  <a:srgbClr val="2B3428"/>
                </a:solidFill>
              </a:defRPr>
            </a:pPr>
            <a:r>
              <a:t>WINTER / SURVIVAL</a:t>
            </a:r>
            <a:br/>
            <a:br/>
            <a:r>
              <a:t>frosty • sustenance • shelter • barren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5394960"/>
            <a:ext cx="10332720" cy="502920"/>
          </a:xfrm>
          <a:prstGeom prst="roundRect">
            <a:avLst/>
          </a:prstGeom>
          <a:solidFill>
            <a:srgbClr val="EBF4E1"/>
          </a:solidFill>
          <a:ln>
            <a:solidFill>
              <a:srgbClr val="4B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ctr">
              <a:defRPr sz="1400" b="1">
                <a:solidFill>
                  <a:srgbClr val="2B3428"/>
                </a:solidFill>
              </a:defRPr>
            </a:pPr>
            <a:r>
              <a:t>Core idea: vocabulary → character → problem → consequence → moral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B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B7D32"/>
                </a:solidFill>
              </a:defRPr>
            </a:pPr>
            <a:r>
              <a:t>VOCABULARY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21031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C6459"/>
                </a:solidFill>
              </a:defRPr>
            </a:pPr>
            <a: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30352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B3428"/>
                </a:solidFill>
              </a:defRPr>
            </a:pPr>
            <a:r>
              <a:t>🔎 WORD 1: GRAINS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115568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C6459"/>
                </a:solidFill>
              </a:defRPr>
            </a:pPr>
            <a:r>
              <a:t>Teacher routine: say it → students repeat → context clue → prediction → reveal meaning.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45920"/>
            <a:ext cx="10835640" cy="1051560"/>
          </a:xfrm>
          <a:prstGeom prst="roundRect">
            <a:avLst/>
          </a:prstGeom>
          <a:solidFill>
            <a:srgbClr val="FFEED8"/>
          </a:solidFill>
          <a:ln>
            <a:solidFill>
              <a:srgbClr val="EB8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ctr">
              <a:defRPr sz="2100" b="1">
                <a:solidFill>
                  <a:srgbClr val="2B3428"/>
                </a:solidFill>
              </a:defRPr>
            </a:pPr>
            <a:r>
              <a:t>CONTEXT</a:t>
            </a:r>
            <a:br/>
            <a:r>
              <a:t>The Ant carried grains to her nest.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971800"/>
            <a:ext cx="5074920" cy="1737360"/>
          </a:xfrm>
          <a:prstGeom prst="roundRect">
            <a:avLst/>
          </a:prstGeom>
          <a:solidFill>
            <a:srgbClr val="EBF4E1"/>
          </a:solidFill>
          <a:ln>
            <a:solidFill>
              <a:srgbClr val="4B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l">
              <a:defRPr sz="1600" b="1">
                <a:solidFill>
                  <a:srgbClr val="2B3428"/>
                </a:solidFill>
              </a:defRPr>
            </a:pPr>
            <a:r>
              <a:t>STEP 1 — HEAR &amp; SAY</a:t>
            </a:r>
            <a:br/>
            <a:br/>
            <a:r>
              <a:t>Teacher reads the context.</a:t>
            </a:r>
            <a:br/>
            <a:r>
              <a:t>Students repeat the target word twice.</a:t>
            </a:r>
            <a:br/>
            <a:r>
              <a:t>Ask: “What do you notice?”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971800"/>
            <a:ext cx="5074920" cy="1737360"/>
          </a:xfrm>
          <a:prstGeom prst="roundRect">
            <a:avLst/>
          </a:prstGeom>
          <a:solidFill>
            <a:srgbClr val="E5F0F7"/>
          </a:solidFill>
          <a:ln>
            <a:solidFill>
              <a:srgbClr val="4373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l">
              <a:defRPr sz="1500" b="1">
                <a:solidFill>
                  <a:srgbClr val="2B3428"/>
                </a:solidFill>
              </a:defRPr>
            </a:pPr>
            <a:r>
              <a:t>STEP 2 — DISCOVER</a:t>
            </a:r>
            <a:br/>
            <a:br/>
            <a:r>
              <a:t>What could the Ant be carrying if she is collecting food for winter?</a:t>
            </a:r>
            <a:br/>
            <a:br/>
            <a:r>
              <a:t>Take 2–3 guesses before revealing.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B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B7D32"/>
                </a:solidFill>
              </a:defRPr>
            </a:pPr>
            <a:r>
              <a:t>VOCABULARY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21031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C6459"/>
                </a:solidFill>
              </a:defRPr>
            </a:pPr>
            <a: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30352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B3428"/>
                </a:solidFill>
              </a:defRPr>
            </a:pPr>
            <a:r>
              <a:t>🗣️ USE &amp; CHECK: GRAINS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115568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C6459"/>
                </a:solidFill>
              </a:defRPr>
            </a:pPr>
            <a:r>
              <a:t>Now students must prove they understand the word.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45920"/>
            <a:ext cx="5166360" cy="1828800"/>
          </a:xfrm>
          <a:prstGeom prst="roundRect">
            <a:avLst/>
          </a:prstGeom>
          <a:solidFill>
            <a:srgbClr val="EBF4E1"/>
          </a:solidFill>
          <a:ln>
            <a:solidFill>
              <a:srgbClr val="4B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ctr">
              <a:defRPr sz="1600" b="1">
                <a:solidFill>
                  <a:srgbClr val="2B3428"/>
                </a:solidFill>
              </a:defRPr>
            </a:pPr>
            <a:r>
              <a:t>TEACHER MODEL</a:t>
            </a:r>
            <a:br/>
            <a:br/>
            <a:r>
              <a:t>Think of rice or wheat: each tiny piece is a grain.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166360" cy="1828800"/>
          </a:xfrm>
          <a:prstGeom prst="roundRect">
            <a:avLst/>
          </a:prstGeom>
          <a:solidFill>
            <a:srgbClr val="FFEED8"/>
          </a:solidFill>
          <a:ln>
            <a:solidFill>
              <a:srgbClr val="EB8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ctr">
              <a:defRPr sz="1700" b="1">
                <a:solidFill>
                  <a:srgbClr val="2B3428"/>
                </a:solidFill>
              </a:defRPr>
            </a:pPr>
            <a:r>
              <a:t>STUDENT USE</a:t>
            </a:r>
            <a:br/>
            <a:br/>
            <a:r>
              <a:t>Which is more likely to be grains: rice or a chair?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3886200"/>
            <a:ext cx="104698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7053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ctr">
              <a:defRPr sz="1500" b="1">
                <a:solidFill>
                  <a:srgbClr val="2B3428"/>
                </a:solidFill>
              </a:defRPr>
            </a:pPr>
            <a:r>
              <a:t>PAIR CHECK → Partner must explain why the word fits. Do not accept a sentence that only copies the model.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5257800"/>
            <a:ext cx="9966960" cy="685800"/>
          </a:xfrm>
          <a:prstGeom prst="roundRect">
            <a:avLst/>
          </a:prstGeom>
          <a:solidFill>
            <a:srgbClr val="E5F0F7"/>
          </a:solidFill>
          <a:ln>
            <a:solidFill>
              <a:srgbClr val="4373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ctr">
              <a:defRPr sz="1500" b="1">
                <a:solidFill>
                  <a:srgbClr val="2B3428"/>
                </a:solidFill>
              </a:defRPr>
            </a:pPr>
            <a:r>
              <a:t>QUICK ANSWER / LOOK-FOR: rice/wheat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B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B7D32"/>
                </a:solidFill>
              </a:defRPr>
            </a:pPr>
            <a:r>
              <a:t>VOCABULARY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21031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C6459"/>
                </a:solidFill>
              </a:defRPr>
            </a:pPr>
            <a: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30352"/>
            <a:ext cx="3414717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B3428"/>
                </a:solidFill>
              </a:defRPr>
            </a:pPr>
            <a:r>
              <a:rPr dirty="0"/>
              <a:t>🔎 WORD </a:t>
            </a:r>
            <a:r>
              <a:rPr lang="en-US" dirty="0"/>
              <a:t>2</a:t>
            </a:r>
            <a:r>
              <a:rPr dirty="0"/>
              <a:t>: FATHOM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115568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C6459"/>
                </a:solidFill>
              </a:defRPr>
            </a:pPr>
            <a:r>
              <a:t>Teacher routine: say it → students repeat → context clue → prediction → reveal meaning.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45920"/>
            <a:ext cx="10835640" cy="1051560"/>
          </a:xfrm>
          <a:prstGeom prst="roundRect">
            <a:avLst/>
          </a:prstGeom>
          <a:solidFill>
            <a:srgbClr val="FFEED8"/>
          </a:solidFill>
          <a:ln>
            <a:solidFill>
              <a:srgbClr val="EB8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ctr">
              <a:defRPr sz="2100" b="1">
                <a:solidFill>
                  <a:srgbClr val="2B3428"/>
                </a:solidFill>
              </a:defRPr>
            </a:pPr>
            <a:r>
              <a:t>CONTEXT</a:t>
            </a:r>
            <a:br/>
            <a:r>
              <a:t>The Grasshopper could not fathom why the Ant worked so hard.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971800"/>
            <a:ext cx="5074920" cy="1737360"/>
          </a:xfrm>
          <a:prstGeom prst="roundRect">
            <a:avLst/>
          </a:prstGeom>
          <a:solidFill>
            <a:srgbClr val="EBF4E1"/>
          </a:solidFill>
          <a:ln>
            <a:solidFill>
              <a:srgbClr val="4B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l">
              <a:defRPr sz="1600" b="1">
                <a:solidFill>
                  <a:srgbClr val="2B3428"/>
                </a:solidFill>
              </a:defRPr>
            </a:pPr>
            <a:r>
              <a:rPr dirty="0"/>
              <a:t>STEP 1 — HEAR &amp; SAY</a:t>
            </a:r>
            <a:br>
              <a:rPr dirty="0"/>
            </a:br>
            <a:br>
              <a:rPr dirty="0"/>
            </a:br>
            <a:r>
              <a:rPr dirty="0"/>
              <a:t>Teacher reads the context.</a:t>
            </a:r>
            <a:br>
              <a:rPr dirty="0"/>
            </a:br>
            <a:r>
              <a:rPr dirty="0"/>
              <a:t>Students repeat the target word twice.</a:t>
            </a:r>
            <a:br>
              <a:rPr dirty="0"/>
            </a:br>
            <a:r>
              <a:rPr dirty="0"/>
              <a:t>“What do you notice?”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971800"/>
            <a:ext cx="5074920" cy="1737360"/>
          </a:xfrm>
          <a:prstGeom prst="roundRect">
            <a:avLst/>
          </a:prstGeom>
          <a:solidFill>
            <a:srgbClr val="E5F0F7"/>
          </a:solidFill>
          <a:ln>
            <a:solidFill>
              <a:srgbClr val="4373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l">
              <a:defRPr sz="1500" b="1">
                <a:solidFill>
                  <a:srgbClr val="2B3428"/>
                </a:solidFill>
              </a:defRPr>
            </a:pPr>
            <a:r>
              <a:t>STEP 2 — DISCOVER</a:t>
            </a:r>
            <a:br/>
            <a:br/>
            <a:r>
              <a:t>If you cannot fathom something, can you understand it easily?</a:t>
            </a:r>
            <a:br/>
            <a:br/>
            <a:r>
              <a:t>Take 2–3 guesses before revealing.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B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B7D32"/>
                </a:solidFill>
              </a:defRPr>
            </a:pPr>
            <a:r>
              <a:t>VOCABULARY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21031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C6459"/>
                </a:solidFill>
              </a:defRPr>
            </a:pPr>
            <a: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30352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B3428"/>
                </a:solidFill>
              </a:defRPr>
            </a:pPr>
            <a:r>
              <a:t>🗣️ USE &amp; CHECK: FATHOM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115568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C6459"/>
                </a:solidFill>
              </a:defRPr>
            </a:pPr>
            <a:r>
              <a:t>Now students must prove they understand the word.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45920"/>
            <a:ext cx="5166360" cy="1828800"/>
          </a:xfrm>
          <a:prstGeom prst="roundRect">
            <a:avLst/>
          </a:prstGeom>
          <a:solidFill>
            <a:srgbClr val="EBF4E1"/>
          </a:solidFill>
          <a:ln>
            <a:solidFill>
              <a:srgbClr val="4B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ctr">
              <a:defRPr sz="1600" b="1">
                <a:solidFill>
                  <a:srgbClr val="2B3428"/>
                </a:solidFill>
              </a:defRPr>
            </a:pPr>
            <a:r>
              <a:t>TEACHER MODEL</a:t>
            </a:r>
            <a:br/>
            <a:br/>
            <a:r>
              <a:t>Fathom = understand deeply.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166360" cy="1828800"/>
          </a:xfrm>
          <a:prstGeom prst="roundRect">
            <a:avLst/>
          </a:prstGeom>
          <a:solidFill>
            <a:srgbClr val="FFEED8"/>
          </a:solidFill>
          <a:ln>
            <a:solidFill>
              <a:srgbClr val="EB8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ctr">
              <a:defRPr sz="1700" b="1">
                <a:solidFill>
                  <a:srgbClr val="2B3428"/>
                </a:solidFill>
              </a:defRPr>
            </a:pPr>
            <a:r>
              <a:t>STUDENT USE</a:t>
            </a:r>
            <a:br/>
            <a:br/>
            <a:r>
              <a:t>I couldn't fathom why ______.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3886200"/>
            <a:ext cx="104698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7053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ctr">
              <a:defRPr sz="1500" b="1">
                <a:solidFill>
                  <a:srgbClr val="2B3428"/>
                </a:solidFill>
              </a:defRPr>
            </a:pPr>
            <a:r>
              <a:t>PAIR CHECK → Partner must explain why the word fits. Do not accept a sentence that only copies the model.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5257800"/>
            <a:ext cx="9966960" cy="685800"/>
          </a:xfrm>
          <a:prstGeom prst="roundRect">
            <a:avLst/>
          </a:prstGeom>
          <a:solidFill>
            <a:srgbClr val="E5F0F7"/>
          </a:solidFill>
          <a:ln>
            <a:solidFill>
              <a:srgbClr val="4373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ctr">
              <a:defRPr sz="1500" b="1">
                <a:solidFill>
                  <a:srgbClr val="2B3428"/>
                </a:solidFill>
              </a:defRPr>
            </a:pPr>
            <a:r>
              <a:t>QUICK ANSWER / LOOK-FOR: understand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B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B7D32"/>
                </a:solidFill>
              </a:defRPr>
            </a:pPr>
            <a:r>
              <a:t>VOCABULARY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21031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C6459"/>
                </a:solidFill>
              </a:defRPr>
            </a:pPr>
            <a: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30352"/>
            <a:ext cx="4131259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B3428"/>
                </a:solidFill>
              </a:defRPr>
            </a:pPr>
            <a:r>
              <a:rPr dirty="0"/>
              <a:t>🔎 WORD </a:t>
            </a:r>
            <a:r>
              <a:rPr lang="en-US" dirty="0"/>
              <a:t>3</a:t>
            </a:r>
            <a:r>
              <a:rPr dirty="0"/>
              <a:t>: INDUSTRIOUS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115568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C6459"/>
                </a:solidFill>
              </a:defRPr>
            </a:pPr>
            <a:r>
              <a:t>Teacher routine: say it → students repeat → context clue → prediction → reveal meaning.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45920"/>
            <a:ext cx="10835640" cy="1051560"/>
          </a:xfrm>
          <a:prstGeom prst="roundRect">
            <a:avLst/>
          </a:prstGeom>
          <a:solidFill>
            <a:srgbClr val="FFEED8"/>
          </a:solidFill>
          <a:ln>
            <a:solidFill>
              <a:srgbClr val="EB8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ctr">
              <a:defRPr sz="2100" b="1">
                <a:solidFill>
                  <a:srgbClr val="2B3428"/>
                </a:solidFill>
              </a:defRPr>
            </a:pPr>
            <a:r>
              <a:t>CONTEXT</a:t>
            </a:r>
            <a:br/>
            <a:r>
              <a:t>The Ant was industrious because she kept working.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971800"/>
            <a:ext cx="5074920" cy="1737360"/>
          </a:xfrm>
          <a:prstGeom prst="roundRect">
            <a:avLst/>
          </a:prstGeom>
          <a:solidFill>
            <a:srgbClr val="EBF4E1"/>
          </a:solidFill>
          <a:ln>
            <a:solidFill>
              <a:srgbClr val="4B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l">
              <a:defRPr sz="1600" b="1">
                <a:solidFill>
                  <a:srgbClr val="2B3428"/>
                </a:solidFill>
              </a:defRPr>
            </a:pPr>
            <a:r>
              <a:rPr dirty="0"/>
              <a:t>STEP 1 — HEAR &amp; SAY</a:t>
            </a:r>
            <a:br>
              <a:rPr dirty="0"/>
            </a:br>
            <a:br>
              <a:rPr dirty="0"/>
            </a:br>
            <a:r>
              <a:rPr dirty="0"/>
              <a:t>Teacher reads the context.</a:t>
            </a:r>
            <a:br>
              <a:rPr dirty="0"/>
            </a:br>
            <a:r>
              <a:rPr dirty="0"/>
              <a:t>Students repeat the target word twice.</a:t>
            </a:r>
            <a:br>
              <a:rPr dirty="0"/>
            </a:br>
            <a:r>
              <a:rPr dirty="0"/>
              <a:t>“What do you notice?”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971800"/>
            <a:ext cx="5074920" cy="1737360"/>
          </a:xfrm>
          <a:prstGeom prst="roundRect">
            <a:avLst/>
          </a:prstGeom>
          <a:solidFill>
            <a:srgbClr val="E5F0F7"/>
          </a:solidFill>
          <a:ln>
            <a:solidFill>
              <a:srgbClr val="4373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l">
              <a:defRPr sz="1500" b="1">
                <a:solidFill>
                  <a:srgbClr val="2B3428"/>
                </a:solidFill>
              </a:defRPr>
            </a:pPr>
            <a:r>
              <a:t>STEP 2 — DISCOVER</a:t>
            </a:r>
            <a:br/>
            <a:br/>
            <a:r>
              <a:t>Which character's actions show this trait?</a:t>
            </a:r>
            <a:br/>
            <a:br/>
            <a:r>
              <a:t>Take 2–3 guesses before revealing.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B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B7D32"/>
                </a:solidFill>
              </a:defRPr>
            </a:pPr>
            <a:r>
              <a:t>VOCABULARY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21031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C6459"/>
                </a:solidFill>
              </a:defRPr>
            </a:pPr>
            <a: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30352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B3428"/>
                </a:solidFill>
              </a:defRPr>
            </a:pPr>
            <a:r>
              <a:t>🗣️ USE &amp; CHECK: INDUSTRIOUS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115568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C6459"/>
                </a:solidFill>
              </a:defRPr>
            </a:pPr>
            <a:r>
              <a:t>Now students must prove they understand the word.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45920"/>
            <a:ext cx="5166360" cy="1828800"/>
          </a:xfrm>
          <a:prstGeom prst="roundRect">
            <a:avLst/>
          </a:prstGeom>
          <a:solidFill>
            <a:srgbClr val="EBF4E1"/>
          </a:solidFill>
          <a:ln>
            <a:solidFill>
              <a:srgbClr val="4B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ctr">
              <a:defRPr sz="1600" b="1">
                <a:solidFill>
                  <a:srgbClr val="2B3428"/>
                </a:solidFill>
              </a:defRPr>
            </a:pPr>
            <a:r>
              <a:t>TEACHER MODEL</a:t>
            </a:r>
            <a:br/>
            <a:br/>
            <a:r>
              <a:t>Industrious describes someone who works hard and uses time well.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166360" cy="1828800"/>
          </a:xfrm>
          <a:prstGeom prst="roundRect">
            <a:avLst/>
          </a:prstGeom>
          <a:solidFill>
            <a:srgbClr val="FFEED8"/>
          </a:solidFill>
          <a:ln>
            <a:solidFill>
              <a:srgbClr val="EB8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ctr">
              <a:defRPr sz="1700" b="1">
                <a:solidFill>
                  <a:srgbClr val="2B3428"/>
                </a:solidFill>
              </a:defRPr>
            </a:pPr>
            <a:r>
              <a:t>STUDENT USE</a:t>
            </a:r>
            <a:br/>
            <a:br/>
            <a:r>
              <a:t>An industrious student ______.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3886200"/>
            <a:ext cx="104698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7053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ctr">
              <a:defRPr sz="1500" b="1">
                <a:solidFill>
                  <a:srgbClr val="2B3428"/>
                </a:solidFill>
              </a:defRPr>
            </a:pPr>
            <a:r>
              <a:t>PAIR CHECK → Partner must explain why the word fits. Do not accept a sentence that only copies the model.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5257800"/>
            <a:ext cx="9966960" cy="685800"/>
          </a:xfrm>
          <a:prstGeom prst="roundRect">
            <a:avLst/>
          </a:prstGeom>
          <a:solidFill>
            <a:srgbClr val="E5F0F7"/>
          </a:solidFill>
          <a:ln>
            <a:solidFill>
              <a:srgbClr val="4373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ctr">
              <a:defRPr sz="1500" b="1">
                <a:solidFill>
                  <a:srgbClr val="2B3428"/>
                </a:solidFill>
              </a:defRPr>
            </a:pPr>
            <a:r>
              <a:t>QUICK ANSWER / LOOK-FOR: hard-working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B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B7D32"/>
                </a:solidFill>
              </a:defRPr>
            </a:pPr>
            <a:r>
              <a:t>VOCABULARY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21031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C6459"/>
                </a:solidFill>
              </a:defRPr>
            </a:pPr>
            <a: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30352"/>
            <a:ext cx="3796232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B3428"/>
                </a:solidFill>
              </a:defRPr>
            </a:pPr>
            <a:r>
              <a:rPr dirty="0"/>
              <a:t>🔎 WORD </a:t>
            </a:r>
            <a:r>
              <a:rPr lang="en-US" dirty="0"/>
              <a:t>4</a:t>
            </a:r>
            <a:r>
              <a:rPr dirty="0"/>
              <a:t>: BOUNTIFUL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115568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C6459"/>
                </a:solidFill>
              </a:defRPr>
            </a:pPr>
            <a:r>
              <a:t>Teacher routine: say it → students repeat → context clue → prediction → reveal meaning.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45920"/>
            <a:ext cx="10835640" cy="1051560"/>
          </a:xfrm>
          <a:prstGeom prst="roundRect">
            <a:avLst/>
          </a:prstGeom>
          <a:solidFill>
            <a:srgbClr val="FFEED8"/>
          </a:solidFill>
          <a:ln>
            <a:solidFill>
              <a:srgbClr val="EB8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ctr">
              <a:defRPr sz="2100" b="1">
                <a:solidFill>
                  <a:srgbClr val="2B3428"/>
                </a:solidFill>
              </a:defRPr>
            </a:pPr>
            <a:r>
              <a:t>CONTEXT</a:t>
            </a:r>
            <a:br/>
            <a:r>
              <a:t>Summer was bountiful, with plenty of food available.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971800"/>
            <a:ext cx="5074920" cy="1737360"/>
          </a:xfrm>
          <a:prstGeom prst="roundRect">
            <a:avLst/>
          </a:prstGeom>
          <a:solidFill>
            <a:srgbClr val="EBF4E1"/>
          </a:solidFill>
          <a:ln>
            <a:solidFill>
              <a:srgbClr val="4B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l">
              <a:defRPr sz="1600" b="1">
                <a:solidFill>
                  <a:srgbClr val="2B3428"/>
                </a:solidFill>
              </a:defRPr>
            </a:pPr>
            <a:r>
              <a:rPr dirty="0"/>
              <a:t>STEP 1 — HEAR &amp; SAY</a:t>
            </a:r>
            <a:br>
              <a:rPr dirty="0"/>
            </a:br>
            <a:br>
              <a:rPr dirty="0"/>
            </a:br>
            <a:r>
              <a:rPr dirty="0"/>
              <a:t>Teacher reads the context.</a:t>
            </a:r>
            <a:br>
              <a:rPr dirty="0"/>
            </a:br>
            <a:r>
              <a:rPr dirty="0"/>
              <a:t>Students repeat the target word twice.</a:t>
            </a:r>
            <a:br>
              <a:rPr dirty="0"/>
            </a:br>
            <a:r>
              <a:rPr dirty="0"/>
              <a:t>“What do you notice?”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971800"/>
            <a:ext cx="5074920" cy="1737360"/>
          </a:xfrm>
          <a:prstGeom prst="roundRect">
            <a:avLst/>
          </a:prstGeom>
          <a:solidFill>
            <a:srgbClr val="E5F0F7"/>
          </a:solidFill>
          <a:ln>
            <a:solidFill>
              <a:srgbClr val="4373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l">
              <a:defRPr sz="1500" b="1">
                <a:solidFill>
                  <a:srgbClr val="2B3428"/>
                </a:solidFill>
              </a:defRPr>
            </a:pPr>
            <a:r>
              <a:t>STEP 2 — DISCOVER</a:t>
            </a:r>
            <a:br/>
            <a:br/>
            <a:r>
              <a:t>Would a bountiful harvest have a lot of food or very little?</a:t>
            </a:r>
            <a:br/>
            <a:br/>
            <a:r>
              <a:t>Take 2–3 guesses before revealing.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B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B7D32"/>
                </a:solidFill>
              </a:defRPr>
            </a:pPr>
            <a:r>
              <a:t>VOCABULARY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21031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C6459"/>
                </a:solidFill>
              </a:defRPr>
            </a:pPr>
            <a: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30352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B3428"/>
                </a:solidFill>
              </a:defRPr>
            </a:pPr>
            <a:r>
              <a:t>🗣️ USE &amp; CHECK: BOUNTIFUL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115568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C6459"/>
                </a:solidFill>
              </a:defRPr>
            </a:pPr>
            <a:r>
              <a:t>Now students must prove they understand the word.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45920"/>
            <a:ext cx="5166360" cy="1828800"/>
          </a:xfrm>
          <a:prstGeom prst="roundRect">
            <a:avLst/>
          </a:prstGeom>
          <a:solidFill>
            <a:srgbClr val="EBF4E1"/>
          </a:solidFill>
          <a:ln>
            <a:solidFill>
              <a:srgbClr val="4B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ctr">
              <a:defRPr sz="1600" b="1">
                <a:solidFill>
                  <a:srgbClr val="2B3428"/>
                </a:solidFill>
              </a:defRPr>
            </a:pPr>
            <a:r>
              <a:t>TEACHER MODEL</a:t>
            </a:r>
            <a:br/>
            <a:br/>
            <a:r>
              <a:t>Bountiful = abundant; there is plenty.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166360" cy="1828800"/>
          </a:xfrm>
          <a:prstGeom prst="roundRect">
            <a:avLst/>
          </a:prstGeom>
          <a:solidFill>
            <a:srgbClr val="FFEED8"/>
          </a:solidFill>
          <a:ln>
            <a:solidFill>
              <a:srgbClr val="EB8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ctr">
              <a:defRPr sz="1700" b="1">
                <a:solidFill>
                  <a:srgbClr val="2B3428"/>
                </a:solidFill>
              </a:defRPr>
            </a:pPr>
            <a:r>
              <a:t>STUDENT USE</a:t>
            </a:r>
            <a:br/>
            <a:br/>
            <a:r>
              <a:t>The garden was bountiful because ______.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3886200"/>
            <a:ext cx="104698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7053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ctr">
              <a:defRPr sz="1500" b="1">
                <a:solidFill>
                  <a:srgbClr val="2B3428"/>
                </a:solidFill>
              </a:defRPr>
            </a:pPr>
            <a:r>
              <a:t>PAIR CHECK → Partner must explain why the word fits. Do not accept a sentence that only copies the model.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5257800"/>
            <a:ext cx="9966960" cy="685800"/>
          </a:xfrm>
          <a:prstGeom prst="roundRect">
            <a:avLst/>
          </a:prstGeom>
          <a:solidFill>
            <a:srgbClr val="E5F0F7"/>
          </a:solidFill>
          <a:ln>
            <a:solidFill>
              <a:srgbClr val="4373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ctr">
              <a:defRPr sz="1500" b="1">
                <a:solidFill>
                  <a:srgbClr val="2B3428"/>
                </a:solidFill>
              </a:defRPr>
            </a:pPr>
            <a:r>
              <a:t>QUICK ANSWER / LOOK-FOR: full of plenty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B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B7D32"/>
                </a:solidFill>
              </a:defRPr>
            </a:pPr>
            <a:r>
              <a:t>VOCABULARY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21031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C6459"/>
                </a:solidFill>
              </a:defRPr>
            </a:pPr>
            <a: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30352"/>
            <a:ext cx="3640740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B3428"/>
                </a:solidFill>
              </a:defRPr>
            </a:pPr>
            <a:r>
              <a:rPr dirty="0"/>
              <a:t>🔎 WORD </a:t>
            </a:r>
            <a:r>
              <a:rPr lang="en-US" dirty="0"/>
              <a:t>5</a:t>
            </a:r>
            <a:r>
              <a:rPr dirty="0"/>
              <a:t>: PLENTIFUL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115568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C6459"/>
                </a:solidFill>
              </a:defRPr>
            </a:pPr>
            <a:r>
              <a:t>Teacher routine: say it → students repeat → context clue → prediction → reveal meaning.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45920"/>
            <a:ext cx="10835640" cy="1051560"/>
          </a:xfrm>
          <a:prstGeom prst="roundRect">
            <a:avLst/>
          </a:prstGeom>
          <a:solidFill>
            <a:srgbClr val="FFEED8"/>
          </a:solidFill>
          <a:ln>
            <a:solidFill>
              <a:srgbClr val="EB8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ctr">
              <a:defRPr sz="2100" b="1">
                <a:solidFill>
                  <a:srgbClr val="2B3428"/>
                </a:solidFill>
              </a:defRPr>
            </a:pPr>
            <a:r>
              <a:t>CONTEXT</a:t>
            </a:r>
            <a:br/>
            <a:r>
              <a:t>Food was plentiful during the warm months.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971800"/>
            <a:ext cx="5074920" cy="1737360"/>
          </a:xfrm>
          <a:prstGeom prst="roundRect">
            <a:avLst/>
          </a:prstGeom>
          <a:solidFill>
            <a:srgbClr val="EBF4E1"/>
          </a:solidFill>
          <a:ln>
            <a:solidFill>
              <a:srgbClr val="4B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l">
              <a:defRPr sz="1600" b="1">
                <a:solidFill>
                  <a:srgbClr val="2B3428"/>
                </a:solidFill>
              </a:defRPr>
            </a:pPr>
            <a:r>
              <a:rPr dirty="0"/>
              <a:t>STEP 1 — HEAR &amp; SAY</a:t>
            </a:r>
            <a:br>
              <a:rPr dirty="0"/>
            </a:br>
            <a:br>
              <a:rPr dirty="0"/>
            </a:br>
            <a:r>
              <a:rPr dirty="0"/>
              <a:t>Teacher reads the context.</a:t>
            </a:r>
            <a:br>
              <a:rPr dirty="0"/>
            </a:br>
            <a:r>
              <a:rPr dirty="0"/>
              <a:t>Students repeat the target word twice.</a:t>
            </a:r>
            <a:br>
              <a:rPr dirty="0"/>
            </a:br>
            <a:r>
              <a:rPr dirty="0"/>
              <a:t>“What do you notice?”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971800"/>
            <a:ext cx="5074920" cy="1737360"/>
          </a:xfrm>
          <a:prstGeom prst="roundRect">
            <a:avLst/>
          </a:prstGeom>
          <a:solidFill>
            <a:srgbClr val="E5F0F7"/>
          </a:solidFill>
          <a:ln>
            <a:solidFill>
              <a:srgbClr val="4373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l">
              <a:defRPr sz="1500" b="1">
                <a:solidFill>
                  <a:srgbClr val="2B3428"/>
                </a:solidFill>
              </a:defRPr>
            </a:pPr>
            <a:r>
              <a:t>STEP 2 — DISCOVER</a:t>
            </a:r>
            <a:br/>
            <a:br/>
            <a:r>
              <a:t>Why might the Grasshopper think there was no need to prepare?</a:t>
            </a:r>
            <a:br/>
            <a:br/>
            <a:r>
              <a:t>Take 2–3 guesses before revealing.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B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B7D32"/>
                </a:solidFill>
              </a:defRPr>
            </a:pPr>
            <a:r>
              <a:t>VOCABULARY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21031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C6459"/>
                </a:solidFill>
              </a:defRPr>
            </a:pPr>
            <a: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30352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B3428"/>
                </a:solidFill>
              </a:defRPr>
            </a:pPr>
            <a:r>
              <a:t>🗣️ USE &amp; CHECK: PLENTIFUL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115568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C6459"/>
                </a:solidFill>
              </a:defRPr>
            </a:pPr>
            <a:r>
              <a:t>Now students must prove they understand the word.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45920"/>
            <a:ext cx="5166360" cy="1828800"/>
          </a:xfrm>
          <a:prstGeom prst="roundRect">
            <a:avLst/>
          </a:prstGeom>
          <a:solidFill>
            <a:srgbClr val="EBF4E1"/>
          </a:solidFill>
          <a:ln>
            <a:solidFill>
              <a:srgbClr val="4B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ctr">
              <a:defRPr sz="1600" b="1">
                <a:solidFill>
                  <a:srgbClr val="2B3428"/>
                </a:solidFill>
              </a:defRPr>
            </a:pPr>
            <a:r>
              <a:t>TEACHER MODEL</a:t>
            </a:r>
            <a:br/>
            <a:br/>
            <a:r>
              <a:t>Plentiful means there is a lot available.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166360" cy="1828800"/>
          </a:xfrm>
          <a:prstGeom prst="roundRect">
            <a:avLst/>
          </a:prstGeom>
          <a:solidFill>
            <a:srgbClr val="FFEED8"/>
          </a:solidFill>
          <a:ln>
            <a:solidFill>
              <a:srgbClr val="EB8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ctr">
              <a:defRPr sz="1700" b="1">
                <a:solidFill>
                  <a:srgbClr val="2B3428"/>
                </a:solidFill>
              </a:defRPr>
            </a:pPr>
            <a:r>
              <a:t>STUDENT USE</a:t>
            </a:r>
            <a:br/>
            <a:br/>
            <a:r>
              <a:t>When water is plentiful, ______.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3886200"/>
            <a:ext cx="104698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7053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ctr">
              <a:defRPr sz="1500" b="1">
                <a:solidFill>
                  <a:srgbClr val="2B3428"/>
                </a:solidFill>
              </a:defRPr>
            </a:pPr>
            <a:r>
              <a:t>PAIR CHECK → Partner must explain why the word fits. Do not accept a sentence that only copies the model.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5257800"/>
            <a:ext cx="9966960" cy="685800"/>
          </a:xfrm>
          <a:prstGeom prst="roundRect">
            <a:avLst/>
          </a:prstGeom>
          <a:solidFill>
            <a:srgbClr val="E5F0F7"/>
          </a:solidFill>
          <a:ln>
            <a:solidFill>
              <a:srgbClr val="4373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ctr">
              <a:defRPr sz="1500" b="1">
                <a:solidFill>
                  <a:srgbClr val="2B3428"/>
                </a:solidFill>
              </a:defRPr>
            </a:pPr>
            <a:r>
              <a:t>QUICK ANSWER / LOOK-FOR: available in large amounts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B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B7D32"/>
                </a:solidFill>
              </a:defRPr>
            </a:pPr>
            <a:r>
              <a:t>VOCABULARY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21031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C6459"/>
                </a:solidFill>
              </a:defRPr>
            </a:pPr>
            <a: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30352"/>
            <a:ext cx="3749744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B3428"/>
                </a:solidFill>
              </a:defRPr>
            </a:pPr>
            <a:r>
              <a:rPr dirty="0"/>
              <a:t>🔎 WORD </a:t>
            </a:r>
            <a:r>
              <a:rPr lang="en-US" dirty="0"/>
              <a:t>6</a:t>
            </a:r>
            <a:r>
              <a:rPr dirty="0"/>
              <a:t>: PROVISION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115568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C6459"/>
                </a:solidFill>
              </a:defRPr>
            </a:pPr>
            <a:r>
              <a:t>Teacher routine: say it → students repeat → context clue → prediction → reveal meaning.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45920"/>
            <a:ext cx="10835640" cy="1051560"/>
          </a:xfrm>
          <a:prstGeom prst="roundRect">
            <a:avLst/>
          </a:prstGeom>
          <a:solidFill>
            <a:srgbClr val="FFEED8"/>
          </a:solidFill>
          <a:ln>
            <a:solidFill>
              <a:srgbClr val="EB8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ctr">
              <a:defRPr sz="2100" b="1">
                <a:solidFill>
                  <a:srgbClr val="2B3428"/>
                </a:solidFill>
              </a:defRPr>
            </a:pPr>
            <a:r>
              <a:t>CONTEXT</a:t>
            </a:r>
            <a:br/>
            <a:r>
              <a:t>The Ant made provision for winter.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971800"/>
            <a:ext cx="5074920" cy="1737360"/>
          </a:xfrm>
          <a:prstGeom prst="roundRect">
            <a:avLst/>
          </a:prstGeom>
          <a:solidFill>
            <a:srgbClr val="EBF4E1"/>
          </a:solidFill>
          <a:ln>
            <a:solidFill>
              <a:srgbClr val="4B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l">
              <a:defRPr sz="1600" b="1">
                <a:solidFill>
                  <a:srgbClr val="2B3428"/>
                </a:solidFill>
              </a:defRPr>
            </a:pPr>
            <a:r>
              <a:rPr dirty="0"/>
              <a:t>STEP 1 — HEAR &amp; SAY</a:t>
            </a:r>
            <a:br>
              <a:rPr dirty="0"/>
            </a:br>
            <a:br>
              <a:rPr dirty="0"/>
            </a:br>
            <a:r>
              <a:rPr dirty="0"/>
              <a:t>Teacher reads the context.</a:t>
            </a:r>
            <a:br>
              <a:rPr dirty="0"/>
            </a:br>
            <a:r>
              <a:rPr dirty="0"/>
              <a:t>Students repeat the target word twice.</a:t>
            </a:r>
            <a:br>
              <a:rPr dirty="0"/>
            </a:br>
            <a:r>
              <a:rPr dirty="0"/>
              <a:t>“What do you notice?”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971800"/>
            <a:ext cx="5074920" cy="1737360"/>
          </a:xfrm>
          <a:prstGeom prst="roundRect">
            <a:avLst/>
          </a:prstGeom>
          <a:solidFill>
            <a:srgbClr val="E5F0F7"/>
          </a:solidFill>
          <a:ln>
            <a:solidFill>
              <a:srgbClr val="4373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l">
              <a:defRPr sz="1500" b="1">
                <a:solidFill>
                  <a:srgbClr val="2B3428"/>
                </a:solidFill>
              </a:defRPr>
            </a:pPr>
            <a:r>
              <a:t>STEP 2 — DISCOVER</a:t>
            </a:r>
            <a:br/>
            <a:br/>
            <a:r>
              <a:t>What did she save for the future?</a:t>
            </a:r>
            <a:br/>
            <a:br/>
            <a:r>
              <a:t>Take 2–3 guesses before revealing.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B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B7D32"/>
                </a:solidFill>
              </a:defRPr>
            </a:pPr>
            <a:r>
              <a:t>VOCABULARY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21031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C6459"/>
                </a:solidFill>
              </a:defRPr>
            </a:pPr>
            <a:r>
              <a:t>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30352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B3428"/>
                </a:solidFill>
              </a:defRPr>
            </a:pPr>
            <a:r>
              <a:t>🗣️ USE &amp; CHECK: PROVISION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115568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C6459"/>
                </a:solidFill>
              </a:defRPr>
            </a:pPr>
            <a:r>
              <a:t>Now students must prove they understand the word.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45920"/>
            <a:ext cx="5166360" cy="1828800"/>
          </a:xfrm>
          <a:prstGeom prst="roundRect">
            <a:avLst/>
          </a:prstGeom>
          <a:solidFill>
            <a:srgbClr val="EBF4E1"/>
          </a:solidFill>
          <a:ln>
            <a:solidFill>
              <a:srgbClr val="4B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ctr">
              <a:defRPr sz="1600" b="1">
                <a:solidFill>
                  <a:srgbClr val="2B3428"/>
                </a:solidFill>
              </a:defRPr>
            </a:pPr>
            <a:r>
              <a:t>TEACHER MODEL</a:t>
            </a:r>
            <a:br/>
            <a:br/>
            <a:r>
              <a:t>A provision is something prepared for a future need.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166360" cy="1828800"/>
          </a:xfrm>
          <a:prstGeom prst="roundRect">
            <a:avLst/>
          </a:prstGeom>
          <a:solidFill>
            <a:srgbClr val="FFEED8"/>
          </a:solidFill>
          <a:ln>
            <a:solidFill>
              <a:srgbClr val="EB8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ctr">
              <a:defRPr sz="1700" b="1">
                <a:solidFill>
                  <a:srgbClr val="2B3428"/>
                </a:solidFill>
              </a:defRPr>
            </a:pPr>
            <a:r>
              <a:t>STUDENT USE</a:t>
            </a:r>
            <a:br/>
            <a:br/>
            <a:r>
              <a:t>We made provision for ______ by ______.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3886200"/>
            <a:ext cx="104698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7053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ctr">
              <a:defRPr sz="1500" b="1">
                <a:solidFill>
                  <a:srgbClr val="2B3428"/>
                </a:solidFill>
              </a:defRPr>
            </a:pPr>
            <a:r>
              <a:t>PAIR CHECK → Partner must explain why the word fits. Do not accept a sentence that only copies the model.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5257800"/>
            <a:ext cx="9966960" cy="685800"/>
          </a:xfrm>
          <a:prstGeom prst="roundRect">
            <a:avLst/>
          </a:prstGeom>
          <a:solidFill>
            <a:srgbClr val="E5F0F7"/>
          </a:solidFill>
          <a:ln>
            <a:solidFill>
              <a:srgbClr val="4373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ctr">
              <a:defRPr sz="1500" b="1">
                <a:solidFill>
                  <a:srgbClr val="2B3428"/>
                </a:solidFill>
              </a:defRPr>
            </a:pPr>
            <a:r>
              <a:t>QUICK ANSWER / LOOK-FOR: future supply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B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B7D32"/>
                </a:solidFill>
              </a:defRPr>
            </a:pPr>
            <a:r>
              <a:t>VOCABULARY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21031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C6459"/>
                </a:solidFill>
              </a:defRPr>
            </a:pPr>
            <a:r>
              <a:t>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30352"/>
            <a:ext cx="3222357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B3428"/>
                </a:solidFill>
              </a:defRPr>
            </a:pPr>
            <a:r>
              <a:rPr dirty="0"/>
              <a:t>🔎 WORD </a:t>
            </a:r>
            <a:r>
              <a:rPr lang="en-US" dirty="0"/>
              <a:t>7</a:t>
            </a:r>
            <a:r>
              <a:rPr dirty="0"/>
              <a:t>: FROSTY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115568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C6459"/>
                </a:solidFill>
              </a:defRPr>
            </a:pPr>
            <a:r>
              <a:t>Teacher routine: say it → students repeat → context clue → prediction → reveal meaning.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45920"/>
            <a:ext cx="10835640" cy="1051560"/>
          </a:xfrm>
          <a:prstGeom prst="roundRect">
            <a:avLst/>
          </a:prstGeom>
          <a:solidFill>
            <a:srgbClr val="FFEED8"/>
          </a:solidFill>
          <a:ln>
            <a:solidFill>
              <a:srgbClr val="EB8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ctr">
              <a:defRPr sz="2100" b="1">
                <a:solidFill>
                  <a:srgbClr val="2B3428"/>
                </a:solidFill>
              </a:defRPr>
            </a:pPr>
            <a:r>
              <a:t>CONTEXT</a:t>
            </a:r>
            <a:br/>
            <a:r>
              <a:t>The fields became frosty in winter.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971800"/>
            <a:ext cx="5074920" cy="1737360"/>
          </a:xfrm>
          <a:prstGeom prst="roundRect">
            <a:avLst/>
          </a:prstGeom>
          <a:solidFill>
            <a:srgbClr val="EBF4E1"/>
          </a:solidFill>
          <a:ln>
            <a:solidFill>
              <a:srgbClr val="4B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l">
              <a:defRPr sz="1600" b="1">
                <a:solidFill>
                  <a:srgbClr val="2B3428"/>
                </a:solidFill>
              </a:defRPr>
            </a:pPr>
            <a:r>
              <a:rPr dirty="0"/>
              <a:t>STEP 1 — HEAR &amp; SAY</a:t>
            </a:r>
            <a:br>
              <a:rPr dirty="0"/>
            </a:br>
            <a:br>
              <a:rPr dirty="0"/>
            </a:br>
            <a:r>
              <a:rPr dirty="0"/>
              <a:t>Teacher reads the context.</a:t>
            </a:r>
            <a:br>
              <a:rPr dirty="0"/>
            </a:br>
            <a:r>
              <a:rPr dirty="0"/>
              <a:t>Students repeat the target word twice.</a:t>
            </a:r>
            <a:br>
              <a:rPr dirty="0"/>
            </a:br>
            <a:r>
              <a:rPr dirty="0"/>
              <a:t>“What do you notice?”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971800"/>
            <a:ext cx="5074920" cy="1737360"/>
          </a:xfrm>
          <a:prstGeom prst="roundRect">
            <a:avLst/>
          </a:prstGeom>
          <a:solidFill>
            <a:srgbClr val="E5F0F7"/>
          </a:solidFill>
          <a:ln>
            <a:solidFill>
              <a:srgbClr val="4373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l">
              <a:defRPr sz="1500" b="1">
                <a:solidFill>
                  <a:srgbClr val="2B3428"/>
                </a:solidFill>
              </a:defRPr>
            </a:pPr>
            <a:r>
              <a:t>STEP 2 — DISCOVER</a:t>
            </a:r>
            <a:br/>
            <a:br/>
            <a:r>
              <a:t>What would frosty weather make harder for the Grasshopper?</a:t>
            </a:r>
            <a:br/>
            <a:br/>
            <a:r>
              <a:t>Take 2–3 guesses before revealing.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B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B7D32"/>
                </a:solidFill>
              </a:defRPr>
            </a:pPr>
            <a:r>
              <a:t>VOCABULARY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21031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C6459"/>
                </a:solidFill>
              </a:defRPr>
            </a:pPr>
            <a:r>
              <a:t>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30352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B3428"/>
                </a:solidFill>
              </a:defRPr>
            </a:pPr>
            <a:r>
              <a:t>🗣️ USE &amp; CHECK: FROSTY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115568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C6459"/>
                </a:solidFill>
              </a:defRPr>
            </a:pPr>
            <a:r>
              <a:t>Now students must prove they understand the word.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45920"/>
            <a:ext cx="5166360" cy="1828800"/>
          </a:xfrm>
          <a:prstGeom prst="roundRect">
            <a:avLst/>
          </a:prstGeom>
          <a:solidFill>
            <a:srgbClr val="EBF4E1"/>
          </a:solidFill>
          <a:ln>
            <a:solidFill>
              <a:srgbClr val="4B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ctr">
              <a:defRPr sz="1600" b="1">
                <a:solidFill>
                  <a:srgbClr val="2B3428"/>
                </a:solidFill>
              </a:defRPr>
            </a:pPr>
            <a:r>
              <a:t>TEACHER MODEL</a:t>
            </a:r>
            <a:br/>
            <a:br/>
            <a:r>
              <a:t>Frosty = very cold, often with a thin layer of ice.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166360" cy="1828800"/>
          </a:xfrm>
          <a:prstGeom prst="roundRect">
            <a:avLst/>
          </a:prstGeom>
          <a:solidFill>
            <a:srgbClr val="FFEED8"/>
          </a:solidFill>
          <a:ln>
            <a:solidFill>
              <a:srgbClr val="EB8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ctr">
              <a:defRPr sz="1700" b="1">
                <a:solidFill>
                  <a:srgbClr val="2B3428"/>
                </a:solidFill>
              </a:defRPr>
            </a:pPr>
            <a:r>
              <a:t>STUDENT USE</a:t>
            </a:r>
            <a:br/>
            <a:br/>
            <a:r>
              <a:t>A frosty morning might make the ground ______.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3886200"/>
            <a:ext cx="104698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7053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ctr">
              <a:defRPr sz="1500" b="1">
                <a:solidFill>
                  <a:srgbClr val="2B3428"/>
                </a:solidFill>
              </a:defRPr>
            </a:pPr>
            <a:r>
              <a:t>PAIR CHECK → Partner must explain why the word fits. Do not accept a sentence that only copies the model.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5257800"/>
            <a:ext cx="9966960" cy="685800"/>
          </a:xfrm>
          <a:prstGeom prst="roundRect">
            <a:avLst/>
          </a:prstGeom>
          <a:solidFill>
            <a:srgbClr val="E5F0F7"/>
          </a:solidFill>
          <a:ln>
            <a:solidFill>
              <a:srgbClr val="4373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ctr">
              <a:defRPr sz="1500" b="1">
                <a:solidFill>
                  <a:srgbClr val="2B3428"/>
                </a:solidFill>
              </a:defRPr>
            </a:pPr>
            <a:r>
              <a:t>QUICK ANSWER / LOOK-FOR: very cold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B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B7D32"/>
                </a:solidFill>
              </a:defRPr>
            </a:pPr>
            <a:r>
              <a:t>VOCABULARY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21031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C6459"/>
                </a:solidFill>
              </a:defRPr>
            </a:pPr>
            <a:r>
              <a:t>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30352"/>
            <a:ext cx="4021037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B3428"/>
                </a:solidFill>
              </a:defRPr>
            </a:pPr>
            <a:r>
              <a:rPr dirty="0"/>
              <a:t>🔎 WORD </a:t>
            </a:r>
            <a:r>
              <a:rPr lang="en-US" dirty="0"/>
              <a:t>8</a:t>
            </a:r>
            <a:r>
              <a:rPr dirty="0"/>
              <a:t>: SUSTENANCE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115568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C6459"/>
                </a:solidFill>
              </a:defRPr>
            </a:pPr>
            <a:r>
              <a:t>Teacher routine: say it → students repeat → context clue → prediction → reveal meaning.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45920"/>
            <a:ext cx="10835640" cy="1051560"/>
          </a:xfrm>
          <a:prstGeom prst="roundRect">
            <a:avLst/>
          </a:prstGeom>
          <a:solidFill>
            <a:srgbClr val="FFEED8"/>
          </a:solidFill>
          <a:ln>
            <a:solidFill>
              <a:srgbClr val="EB8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ctr">
              <a:defRPr sz="2100" b="1">
                <a:solidFill>
                  <a:srgbClr val="2B3428"/>
                </a:solidFill>
              </a:defRPr>
            </a:pPr>
            <a:r>
              <a:rPr dirty="0"/>
              <a:t>CONTEXT</a:t>
            </a:r>
            <a:br>
              <a:rPr dirty="0"/>
            </a:br>
            <a:r>
              <a:rPr dirty="0"/>
              <a:t>The Grasshopper had no sustenance.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971800"/>
            <a:ext cx="5074920" cy="1737360"/>
          </a:xfrm>
          <a:prstGeom prst="roundRect">
            <a:avLst/>
          </a:prstGeom>
          <a:solidFill>
            <a:srgbClr val="EBF4E1"/>
          </a:solidFill>
          <a:ln>
            <a:solidFill>
              <a:srgbClr val="4B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l">
              <a:defRPr sz="1600" b="1">
                <a:solidFill>
                  <a:srgbClr val="2B3428"/>
                </a:solidFill>
              </a:defRPr>
            </a:pPr>
            <a:r>
              <a:rPr dirty="0"/>
              <a:t>STEP 1 — HEAR &amp; SAY</a:t>
            </a:r>
            <a:br>
              <a:rPr dirty="0"/>
            </a:br>
            <a:br>
              <a:rPr dirty="0"/>
            </a:br>
            <a:r>
              <a:rPr dirty="0"/>
              <a:t>Teacher reads the context.</a:t>
            </a:r>
            <a:br>
              <a:rPr dirty="0"/>
            </a:br>
            <a:r>
              <a:rPr dirty="0"/>
              <a:t>Students repeat the target word twice.</a:t>
            </a:r>
            <a:br>
              <a:rPr dirty="0"/>
            </a:br>
            <a:r>
              <a:rPr dirty="0"/>
              <a:t>“What do you notice?”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971800"/>
            <a:ext cx="5074920" cy="1737360"/>
          </a:xfrm>
          <a:prstGeom prst="roundRect">
            <a:avLst/>
          </a:prstGeom>
          <a:solidFill>
            <a:srgbClr val="E5F0F7"/>
          </a:solidFill>
          <a:ln>
            <a:solidFill>
              <a:srgbClr val="4373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l">
              <a:defRPr sz="1500" b="1">
                <a:solidFill>
                  <a:srgbClr val="2B3428"/>
                </a:solidFill>
              </a:defRPr>
            </a:pPr>
            <a:r>
              <a:t>STEP 2 — DISCOVER</a:t>
            </a:r>
            <a:br/>
            <a:br/>
            <a:r>
              <a:t>What basic need does sustenance provide?</a:t>
            </a:r>
            <a:br/>
            <a:br/>
            <a:r>
              <a:t>Take 2–3 guesses before revealing.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B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B7D32"/>
                </a:solidFill>
              </a:defRPr>
            </a:pPr>
            <a:r>
              <a:t>VOCABULARY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21031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C6459"/>
                </a:solidFill>
              </a:defRPr>
            </a:pPr>
            <a:r>
              <a:t>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30352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B3428"/>
                </a:solidFill>
              </a:defRPr>
            </a:pPr>
            <a:r>
              <a:t>🗣️ USE &amp; CHECK: SUSTENANCE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115568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C6459"/>
                </a:solidFill>
              </a:defRPr>
            </a:pPr>
            <a:r>
              <a:t>Now students must prove they understand the word.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45920"/>
            <a:ext cx="5166360" cy="1828800"/>
          </a:xfrm>
          <a:prstGeom prst="roundRect">
            <a:avLst/>
          </a:prstGeom>
          <a:solidFill>
            <a:srgbClr val="EBF4E1"/>
          </a:solidFill>
          <a:ln>
            <a:solidFill>
              <a:srgbClr val="4B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ctr">
              <a:defRPr sz="1600" b="1">
                <a:solidFill>
                  <a:srgbClr val="2B3428"/>
                </a:solidFill>
              </a:defRPr>
            </a:pPr>
            <a:r>
              <a:t>TEACHER MODEL</a:t>
            </a:r>
            <a:br/>
            <a:br/>
            <a:r>
              <a:t>Sustenance is food needed for life and strength.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166360" cy="1828800"/>
          </a:xfrm>
          <a:prstGeom prst="roundRect">
            <a:avLst/>
          </a:prstGeom>
          <a:solidFill>
            <a:srgbClr val="FFEED8"/>
          </a:solidFill>
          <a:ln>
            <a:solidFill>
              <a:srgbClr val="EB8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ctr">
              <a:defRPr sz="1700" b="1">
                <a:solidFill>
                  <a:srgbClr val="2B3428"/>
                </a:solidFill>
              </a:defRPr>
            </a:pPr>
            <a:r>
              <a:t>STUDENT USE</a:t>
            </a:r>
            <a:br/>
            <a:br/>
            <a:r>
              <a:t>Without sustenance, a person or animal would ______.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3886200"/>
            <a:ext cx="104698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7053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ctr">
              <a:defRPr sz="1500" b="1">
                <a:solidFill>
                  <a:srgbClr val="2B3428"/>
                </a:solidFill>
              </a:defRPr>
            </a:pPr>
            <a:r>
              <a:t>PAIR CHECK → Partner must explain why the word fits. Do not accept a sentence that only copies the model.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5257800"/>
            <a:ext cx="9966960" cy="685800"/>
          </a:xfrm>
          <a:prstGeom prst="roundRect">
            <a:avLst/>
          </a:prstGeom>
          <a:solidFill>
            <a:srgbClr val="E5F0F7"/>
          </a:solidFill>
          <a:ln>
            <a:solidFill>
              <a:srgbClr val="4373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ctr">
              <a:defRPr sz="1500" b="1">
                <a:solidFill>
                  <a:srgbClr val="2B3428"/>
                </a:solidFill>
              </a:defRPr>
            </a:pPr>
            <a:r>
              <a:t>QUICK ANSWER / LOOK-FOR: need food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B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B7D32"/>
                </a:solidFill>
              </a:defRPr>
            </a:pPr>
            <a:r>
              <a:t>VOCABULARY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21031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C6459"/>
                </a:solidFill>
              </a:defRPr>
            </a:pPr>
            <a:r>
              <a:t>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30352"/>
            <a:ext cx="3794629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B3428"/>
                </a:solidFill>
              </a:defRPr>
            </a:pPr>
            <a:r>
              <a:rPr dirty="0"/>
              <a:t>🔎 WORD </a:t>
            </a:r>
            <a:r>
              <a:rPr lang="en-US" dirty="0"/>
              <a:t>9</a:t>
            </a:r>
            <a:r>
              <a:rPr dirty="0"/>
              <a:t>: GUFFAWED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115568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C6459"/>
                </a:solidFill>
              </a:defRPr>
            </a:pPr>
            <a:r>
              <a:t>Teacher routine: say it → students repeat → context clue → prediction → reveal meaning.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45920"/>
            <a:ext cx="10835640" cy="1051560"/>
          </a:xfrm>
          <a:prstGeom prst="roundRect">
            <a:avLst/>
          </a:prstGeom>
          <a:solidFill>
            <a:srgbClr val="FFEED8"/>
          </a:solidFill>
          <a:ln>
            <a:solidFill>
              <a:srgbClr val="EB8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ctr">
              <a:defRPr sz="2100" b="1">
                <a:solidFill>
                  <a:srgbClr val="2B3428"/>
                </a:solidFill>
              </a:defRPr>
            </a:pPr>
            <a:r>
              <a:rPr dirty="0"/>
              <a:t>CONTEXT</a:t>
            </a:r>
            <a:br>
              <a:rPr dirty="0"/>
            </a:br>
            <a:r>
              <a:rPr dirty="0"/>
              <a:t>The Grasshopper guffawed when the Ant talked about hard work.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971800"/>
            <a:ext cx="5074920" cy="1737360"/>
          </a:xfrm>
          <a:prstGeom prst="roundRect">
            <a:avLst/>
          </a:prstGeom>
          <a:solidFill>
            <a:srgbClr val="EBF4E1"/>
          </a:solidFill>
          <a:ln>
            <a:solidFill>
              <a:srgbClr val="4B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l">
              <a:defRPr sz="1600" b="1">
                <a:solidFill>
                  <a:srgbClr val="2B3428"/>
                </a:solidFill>
              </a:defRPr>
            </a:pPr>
            <a:r>
              <a:rPr dirty="0"/>
              <a:t>STEP 1 — HEAR &amp; SAY</a:t>
            </a:r>
            <a:br>
              <a:rPr dirty="0"/>
            </a:br>
            <a:br>
              <a:rPr dirty="0"/>
            </a:br>
            <a:r>
              <a:rPr dirty="0"/>
              <a:t>Teacher reads the context.</a:t>
            </a:r>
            <a:br>
              <a:rPr dirty="0"/>
            </a:br>
            <a:r>
              <a:rPr dirty="0"/>
              <a:t>Students repeat the target word twice.</a:t>
            </a:r>
            <a:br>
              <a:rPr dirty="0"/>
            </a:br>
            <a:r>
              <a:rPr dirty="0"/>
              <a:t>“What do you notice?”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971800"/>
            <a:ext cx="5074920" cy="1737360"/>
          </a:xfrm>
          <a:prstGeom prst="roundRect">
            <a:avLst/>
          </a:prstGeom>
          <a:solidFill>
            <a:srgbClr val="E5F0F7"/>
          </a:solidFill>
          <a:ln>
            <a:solidFill>
              <a:srgbClr val="4373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l">
              <a:defRPr sz="1500" b="1">
                <a:solidFill>
                  <a:srgbClr val="2B3428"/>
                </a:solidFill>
              </a:defRPr>
            </a:pPr>
            <a:r>
              <a:t>STEP 2 — DISCOVER</a:t>
            </a:r>
            <a:br/>
            <a:br/>
            <a:r>
              <a:t>Is a guffaw a quiet smile or a loud laugh?</a:t>
            </a:r>
            <a:br/>
            <a:br/>
            <a:r>
              <a:t>Take 2–3 guesses before revealing.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B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B7D32"/>
                </a:solidFill>
              </a:defRPr>
            </a:pPr>
            <a:r>
              <a:t>VOCABULARY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21031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C6459"/>
                </a:solidFill>
              </a:defRPr>
            </a:pPr>
            <a:r>
              <a:t>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30352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B3428"/>
                </a:solidFill>
              </a:defRPr>
            </a:pPr>
            <a:r>
              <a:t>🗣️ USE &amp; CHECK: GUFFAWED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115568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C6459"/>
                </a:solidFill>
              </a:defRPr>
            </a:pPr>
            <a:r>
              <a:t>Now students must prove they understand the word.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45920"/>
            <a:ext cx="5166360" cy="1828800"/>
          </a:xfrm>
          <a:prstGeom prst="roundRect">
            <a:avLst/>
          </a:prstGeom>
          <a:solidFill>
            <a:srgbClr val="EBF4E1"/>
          </a:solidFill>
          <a:ln>
            <a:solidFill>
              <a:srgbClr val="4B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ctr">
              <a:defRPr sz="1600" b="1">
                <a:solidFill>
                  <a:srgbClr val="2B3428"/>
                </a:solidFill>
              </a:defRPr>
            </a:pPr>
            <a:r>
              <a:t>TEACHER MODEL</a:t>
            </a:r>
            <a:br/>
            <a:br/>
            <a:r>
              <a:t>Guffawed is stronger than simply laughed and can show mockery.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166360" cy="1828800"/>
          </a:xfrm>
          <a:prstGeom prst="roundRect">
            <a:avLst/>
          </a:prstGeom>
          <a:solidFill>
            <a:srgbClr val="FFEED8"/>
          </a:solidFill>
          <a:ln>
            <a:solidFill>
              <a:srgbClr val="EB8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ctr">
              <a:defRPr sz="1700" b="1">
                <a:solidFill>
                  <a:srgbClr val="2B3428"/>
                </a:solidFill>
              </a:defRPr>
            </a:pPr>
            <a:r>
              <a:t>STUDENT USE</a:t>
            </a:r>
            <a:br/>
            <a:br/>
            <a:r>
              <a:t>He guffawed because he thought ______ was funny.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3886200"/>
            <a:ext cx="104698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7053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ctr">
              <a:defRPr sz="1500" b="1">
                <a:solidFill>
                  <a:srgbClr val="2B3428"/>
                </a:solidFill>
              </a:defRPr>
            </a:pPr>
            <a:r>
              <a:t>PAIR CHECK → Partner must explain why the word fits. Do not accept a sentence that only copies the model.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5257800"/>
            <a:ext cx="9966960" cy="685800"/>
          </a:xfrm>
          <a:prstGeom prst="roundRect">
            <a:avLst/>
          </a:prstGeom>
          <a:solidFill>
            <a:srgbClr val="E5F0F7"/>
          </a:solidFill>
          <a:ln>
            <a:solidFill>
              <a:srgbClr val="4373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ctr">
              <a:defRPr sz="1500" b="1">
                <a:solidFill>
                  <a:srgbClr val="2B3428"/>
                </a:solidFill>
              </a:defRPr>
            </a:pPr>
            <a:r>
              <a:t>QUICK ANSWER / LOOK-FOR: loud mocking laugh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B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B7D32"/>
                </a:solidFill>
              </a:defRPr>
            </a:pPr>
            <a:r>
              <a:t>VOCABULARY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21031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C6459"/>
                </a:solidFill>
              </a:defRPr>
            </a:pPr>
            <a:r>
              <a:t>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30352"/>
            <a:ext cx="3892412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B3428"/>
                </a:solidFill>
              </a:defRPr>
            </a:pPr>
            <a:r>
              <a:rPr dirty="0"/>
              <a:t>🔎 WORD 1</a:t>
            </a:r>
            <a:r>
              <a:rPr lang="en-US" dirty="0"/>
              <a:t>0</a:t>
            </a:r>
            <a:r>
              <a:rPr dirty="0"/>
              <a:t>: WISTFULLY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115568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C6459"/>
                </a:solidFill>
              </a:defRPr>
            </a:pPr>
            <a:r>
              <a:t>Teacher routine: say it → students repeat → context clue → prediction → reveal meaning.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45920"/>
            <a:ext cx="10835640" cy="1051560"/>
          </a:xfrm>
          <a:prstGeom prst="roundRect">
            <a:avLst/>
          </a:prstGeom>
          <a:solidFill>
            <a:srgbClr val="FFEED8"/>
          </a:solidFill>
          <a:ln>
            <a:solidFill>
              <a:srgbClr val="EB8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ctr">
              <a:defRPr sz="2100" b="1">
                <a:solidFill>
                  <a:srgbClr val="2B3428"/>
                </a:solidFill>
              </a:defRPr>
            </a:pPr>
            <a:r>
              <a:t>CONTEXT</a:t>
            </a:r>
            <a:br/>
            <a:r>
              <a:t>The Grasshopper looked wistfully at the stored food.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971800"/>
            <a:ext cx="5074920" cy="1737360"/>
          </a:xfrm>
          <a:prstGeom prst="roundRect">
            <a:avLst/>
          </a:prstGeom>
          <a:solidFill>
            <a:srgbClr val="EBF4E1"/>
          </a:solidFill>
          <a:ln>
            <a:solidFill>
              <a:srgbClr val="4B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l">
              <a:defRPr sz="1600" b="1">
                <a:solidFill>
                  <a:srgbClr val="2B3428"/>
                </a:solidFill>
              </a:defRPr>
            </a:pPr>
            <a:r>
              <a:t>STEP 1 — HEAR &amp; SAY</a:t>
            </a:r>
            <a:br/>
            <a:br/>
            <a:r>
              <a:t>Teacher reads the context.</a:t>
            </a:r>
            <a:br/>
            <a:r>
              <a:t>Students repeat the target word twice.</a:t>
            </a:r>
            <a:br/>
            <a:r>
              <a:t>Ask: “What do you notice?”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971800"/>
            <a:ext cx="5074920" cy="1737360"/>
          </a:xfrm>
          <a:prstGeom prst="roundRect">
            <a:avLst/>
          </a:prstGeom>
          <a:solidFill>
            <a:srgbClr val="E5F0F7"/>
          </a:solidFill>
          <a:ln>
            <a:solidFill>
              <a:srgbClr val="4373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l">
              <a:defRPr sz="1500" b="1">
                <a:solidFill>
                  <a:srgbClr val="2B3428"/>
                </a:solidFill>
              </a:defRPr>
            </a:pPr>
            <a:r>
              <a:t>STEP 2 — DISCOVER</a:t>
            </a:r>
            <a:br/>
            <a:br/>
            <a:r>
              <a:t>What might someone want if they look wistfully at food they cannot have?</a:t>
            </a:r>
            <a:br/>
            <a:br/>
            <a:r>
              <a:t>Take 2–3 guesses before revealing.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B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B7D32"/>
                </a:solidFill>
              </a:defRPr>
            </a:pPr>
            <a:r>
              <a:t>VOCABULARY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21031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C6459"/>
                </a:solidFill>
              </a:defRPr>
            </a:pPr>
            <a:r>
              <a:t>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30352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B3428"/>
                </a:solidFill>
              </a:defRPr>
            </a:pPr>
            <a:r>
              <a:t>🗣️ USE &amp; CHECK: WISTFULLY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115568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C6459"/>
                </a:solidFill>
              </a:defRPr>
            </a:pPr>
            <a:r>
              <a:t>Now students must prove they understand the word.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45920"/>
            <a:ext cx="5166360" cy="1828800"/>
          </a:xfrm>
          <a:prstGeom prst="roundRect">
            <a:avLst/>
          </a:prstGeom>
          <a:solidFill>
            <a:srgbClr val="EBF4E1"/>
          </a:solidFill>
          <a:ln>
            <a:solidFill>
              <a:srgbClr val="4B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ctr">
              <a:defRPr sz="1600" b="1">
                <a:solidFill>
                  <a:srgbClr val="2B3428"/>
                </a:solidFill>
              </a:defRPr>
            </a:pPr>
            <a:r>
              <a:t>TEACHER MODEL</a:t>
            </a:r>
            <a:br/>
            <a:br/>
            <a:r>
              <a:t>Wistfully describes a sad, longing look.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166360" cy="1828800"/>
          </a:xfrm>
          <a:prstGeom prst="roundRect">
            <a:avLst/>
          </a:prstGeom>
          <a:solidFill>
            <a:srgbClr val="FFEED8"/>
          </a:solidFill>
          <a:ln>
            <a:solidFill>
              <a:srgbClr val="EB8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ctr">
              <a:defRPr sz="1700" b="1">
                <a:solidFill>
                  <a:srgbClr val="2B3428"/>
                </a:solidFill>
              </a:defRPr>
            </a:pPr>
            <a:r>
              <a:t>STUDENT USE</a:t>
            </a:r>
            <a:br/>
            <a:br/>
            <a:r>
              <a:t>She looked wistfully at ______ because ______.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3886200"/>
            <a:ext cx="104698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7053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ctr">
              <a:defRPr sz="1500" b="1">
                <a:solidFill>
                  <a:srgbClr val="2B3428"/>
                </a:solidFill>
              </a:defRPr>
            </a:pPr>
            <a:r>
              <a:t>PAIR CHECK → Partner must explain why the word fits. Do not accept a sentence that only copies the model.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5257800"/>
            <a:ext cx="9966960" cy="685800"/>
          </a:xfrm>
          <a:prstGeom prst="roundRect">
            <a:avLst/>
          </a:prstGeom>
          <a:solidFill>
            <a:srgbClr val="E5F0F7"/>
          </a:solidFill>
          <a:ln>
            <a:solidFill>
              <a:srgbClr val="4373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ctr">
              <a:defRPr sz="1500" b="1">
                <a:solidFill>
                  <a:srgbClr val="2B3428"/>
                </a:solidFill>
              </a:defRPr>
            </a:pPr>
            <a:r>
              <a:t>QUICK ANSWER / LOOK-FOR: sad longing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B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B7D32"/>
                </a:solidFill>
              </a:defRPr>
            </a:pPr>
            <a:r>
              <a:t>VOCABULARY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21031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C6459"/>
                </a:solidFill>
              </a:defRPr>
            </a:pPr>
            <a:r>
              <a:t>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30352"/>
            <a:ext cx="3026791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B3428"/>
                </a:solidFill>
              </a:defRPr>
            </a:pPr>
            <a:r>
              <a:rPr dirty="0"/>
              <a:t>🔎 WORD 1</a:t>
            </a:r>
            <a:r>
              <a:rPr lang="en-US" dirty="0"/>
              <a:t>1</a:t>
            </a:r>
            <a:r>
              <a:rPr dirty="0"/>
              <a:t>: FARE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115568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C6459"/>
                </a:solidFill>
              </a:defRPr>
            </a:pPr>
            <a:r>
              <a:t>Teacher routine: say it → students repeat → context clue → prediction → reveal meaning.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45920"/>
            <a:ext cx="10835640" cy="1051560"/>
          </a:xfrm>
          <a:prstGeom prst="roundRect">
            <a:avLst/>
          </a:prstGeom>
          <a:solidFill>
            <a:srgbClr val="FFEED8"/>
          </a:solidFill>
          <a:ln>
            <a:solidFill>
              <a:srgbClr val="EB8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ctr">
              <a:defRPr sz="2100" b="1">
                <a:solidFill>
                  <a:srgbClr val="2B3428"/>
                </a:solidFill>
              </a:defRPr>
            </a:pPr>
            <a:r>
              <a:t>CONTEXT</a:t>
            </a:r>
            <a:br/>
            <a:r>
              <a:t>The Grasshopper had no fare for winter.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971800"/>
            <a:ext cx="5074920" cy="1737360"/>
          </a:xfrm>
          <a:prstGeom prst="roundRect">
            <a:avLst/>
          </a:prstGeom>
          <a:solidFill>
            <a:srgbClr val="EBF4E1"/>
          </a:solidFill>
          <a:ln>
            <a:solidFill>
              <a:srgbClr val="4B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l">
              <a:defRPr sz="1600" b="1">
                <a:solidFill>
                  <a:srgbClr val="2B3428"/>
                </a:solidFill>
              </a:defRPr>
            </a:pPr>
            <a:r>
              <a:t>STEP 1 — HEAR &amp; SAY</a:t>
            </a:r>
            <a:br/>
            <a:br/>
            <a:r>
              <a:t>Teacher reads the context.</a:t>
            </a:r>
            <a:br/>
            <a:r>
              <a:t>Students repeat the target word twice.</a:t>
            </a:r>
            <a:br/>
            <a:r>
              <a:t>Ask: “What do you notice?”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971800"/>
            <a:ext cx="5074920" cy="1737360"/>
          </a:xfrm>
          <a:prstGeom prst="roundRect">
            <a:avLst/>
          </a:prstGeom>
          <a:solidFill>
            <a:srgbClr val="E5F0F7"/>
          </a:solidFill>
          <a:ln>
            <a:solidFill>
              <a:srgbClr val="4373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l">
              <a:defRPr sz="1500" b="1">
                <a:solidFill>
                  <a:srgbClr val="2B3428"/>
                </a:solidFill>
              </a:defRPr>
            </a:pPr>
            <a:r>
              <a:t>STEP 2 — DISCOVER</a:t>
            </a:r>
            <a:br/>
            <a:br/>
            <a:r>
              <a:t>If someone has no fare, what basic thing are they missing?</a:t>
            </a:r>
            <a:br/>
            <a:br/>
            <a:r>
              <a:t>Take 2–3 guesses before revealing.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B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B7D32"/>
                </a:solidFill>
              </a:defRPr>
            </a:pPr>
            <a:r>
              <a:t>VOCABULARY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21031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C6459"/>
                </a:solidFill>
              </a:defRPr>
            </a:pPr>
            <a:r>
              <a:t>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30352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B3428"/>
                </a:solidFill>
              </a:defRPr>
            </a:pPr>
            <a:r>
              <a:t>🗣️ USE &amp; CHECK: FARE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115568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C6459"/>
                </a:solidFill>
              </a:defRPr>
            </a:pPr>
            <a:r>
              <a:t>Now students must prove they understand the word.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45920"/>
            <a:ext cx="5166360" cy="1828800"/>
          </a:xfrm>
          <a:prstGeom prst="roundRect">
            <a:avLst/>
          </a:prstGeom>
          <a:solidFill>
            <a:srgbClr val="EBF4E1"/>
          </a:solidFill>
          <a:ln>
            <a:solidFill>
              <a:srgbClr val="4B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ctr">
              <a:defRPr sz="1600" b="1">
                <a:solidFill>
                  <a:srgbClr val="2B3428"/>
                </a:solidFill>
              </a:defRPr>
            </a:pPr>
            <a:r>
              <a:t>TEACHER MODEL</a:t>
            </a:r>
            <a:br/>
            <a:br/>
            <a:r>
              <a:t>Fare means food and drink.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166360" cy="1828800"/>
          </a:xfrm>
          <a:prstGeom prst="roundRect">
            <a:avLst/>
          </a:prstGeom>
          <a:solidFill>
            <a:srgbClr val="FFEED8"/>
          </a:solidFill>
          <a:ln>
            <a:solidFill>
              <a:srgbClr val="EB8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ctr">
              <a:defRPr sz="1700" b="1">
                <a:solidFill>
                  <a:srgbClr val="2B3428"/>
                </a:solidFill>
              </a:defRPr>
            </a:pPr>
            <a:r>
              <a:t>STUDENT USE</a:t>
            </a:r>
            <a:br/>
            <a:br/>
            <a:r>
              <a:t>We packed enough fare for ______.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3886200"/>
            <a:ext cx="104698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7053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ctr">
              <a:defRPr sz="1500" b="1">
                <a:solidFill>
                  <a:srgbClr val="2B3428"/>
                </a:solidFill>
              </a:defRPr>
            </a:pPr>
            <a:r>
              <a:t>PAIR CHECK → Partner must explain why the word fits. Do not accept a sentence that only copies the model.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5257800"/>
            <a:ext cx="9966960" cy="685800"/>
          </a:xfrm>
          <a:prstGeom prst="roundRect">
            <a:avLst/>
          </a:prstGeom>
          <a:solidFill>
            <a:srgbClr val="E5F0F7"/>
          </a:solidFill>
          <a:ln>
            <a:solidFill>
              <a:srgbClr val="4373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ctr">
              <a:defRPr sz="1500" b="1">
                <a:solidFill>
                  <a:srgbClr val="2B3428"/>
                </a:solidFill>
              </a:defRPr>
            </a:pPr>
            <a:r>
              <a:t>QUICK ANSWER / LOOK-FOR: food and drink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B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B7D32"/>
                </a:solidFill>
              </a:defRPr>
            </a:pPr>
            <a:r>
              <a:t>VOCABULARY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21031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C6459"/>
                </a:solidFill>
              </a:defRPr>
            </a:pPr>
            <a:r>
              <a:t>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30352"/>
            <a:ext cx="3737498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B3428"/>
                </a:solidFill>
              </a:defRPr>
            </a:pPr>
            <a:r>
              <a:rPr dirty="0"/>
              <a:t>🔎 WORD 1</a:t>
            </a:r>
            <a:r>
              <a:rPr lang="en-US" dirty="0"/>
              <a:t>2</a:t>
            </a:r>
            <a:r>
              <a:rPr dirty="0"/>
              <a:t>: LIBERALLY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115568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C6459"/>
                </a:solidFill>
              </a:defRPr>
            </a:pPr>
            <a:r>
              <a:t>Teacher routine: say it → students repeat → context clue → prediction → reveal meaning.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45920"/>
            <a:ext cx="10835640" cy="1051560"/>
          </a:xfrm>
          <a:prstGeom prst="roundRect">
            <a:avLst/>
          </a:prstGeom>
          <a:solidFill>
            <a:srgbClr val="FFEED8"/>
          </a:solidFill>
          <a:ln>
            <a:solidFill>
              <a:srgbClr val="EB8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ctr">
              <a:defRPr sz="2100" b="1">
                <a:solidFill>
                  <a:srgbClr val="2B3428"/>
                </a:solidFill>
              </a:defRPr>
            </a:pPr>
            <a:r>
              <a:t>CONTEXT</a:t>
            </a:r>
            <a:br/>
            <a:r>
              <a:t>The ants ate liberally from their stores.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971800"/>
            <a:ext cx="5074920" cy="1737360"/>
          </a:xfrm>
          <a:prstGeom prst="roundRect">
            <a:avLst/>
          </a:prstGeom>
          <a:solidFill>
            <a:srgbClr val="EBF4E1"/>
          </a:solidFill>
          <a:ln>
            <a:solidFill>
              <a:srgbClr val="4B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l">
              <a:defRPr sz="1600" b="1">
                <a:solidFill>
                  <a:srgbClr val="2B3428"/>
                </a:solidFill>
              </a:defRPr>
            </a:pPr>
            <a:r>
              <a:t>STEP 1 — HEAR &amp; SAY</a:t>
            </a:r>
            <a:br/>
            <a:br/>
            <a:r>
              <a:t>Teacher reads the context.</a:t>
            </a:r>
            <a:br/>
            <a:r>
              <a:t>Students repeat the target word twice.</a:t>
            </a:r>
            <a:br/>
            <a:r>
              <a:t>Ask: “What do you notice?”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971800"/>
            <a:ext cx="5074920" cy="1737360"/>
          </a:xfrm>
          <a:prstGeom prst="roundRect">
            <a:avLst/>
          </a:prstGeom>
          <a:solidFill>
            <a:srgbClr val="E5F0F7"/>
          </a:solidFill>
          <a:ln>
            <a:solidFill>
              <a:srgbClr val="4373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l">
              <a:defRPr sz="1500" b="1">
                <a:solidFill>
                  <a:srgbClr val="2B3428"/>
                </a:solidFill>
              </a:defRPr>
            </a:pPr>
            <a:r>
              <a:t>STEP 2 — DISCOVER</a:t>
            </a:r>
            <a:br/>
            <a:br/>
            <a:r>
              <a:t>Would they eat a tiny amount or a large amount?</a:t>
            </a:r>
            <a:br/>
            <a:br/>
            <a:r>
              <a:t>Take 2–3 guesses before revealing.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B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B7D32"/>
                </a:solidFill>
              </a:defRPr>
            </a:pPr>
            <a:r>
              <a:t>VOCABULARY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21031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C6459"/>
                </a:solidFill>
              </a:defRPr>
            </a:pPr>
            <a:r>
              <a:t>33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30352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B3428"/>
                </a:solidFill>
              </a:defRPr>
            </a:pPr>
            <a:r>
              <a:t>🗣️ USE &amp; CHECK: LIBERALLY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115568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C6459"/>
                </a:solidFill>
              </a:defRPr>
            </a:pPr>
            <a:r>
              <a:t>Now students must prove they understand the word.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45920"/>
            <a:ext cx="5166360" cy="1828800"/>
          </a:xfrm>
          <a:prstGeom prst="roundRect">
            <a:avLst/>
          </a:prstGeom>
          <a:solidFill>
            <a:srgbClr val="EBF4E1"/>
          </a:solidFill>
          <a:ln>
            <a:solidFill>
              <a:srgbClr val="4B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ctr">
              <a:defRPr sz="1600" b="1">
                <a:solidFill>
                  <a:srgbClr val="2B3428"/>
                </a:solidFill>
              </a:defRPr>
            </a:pPr>
            <a:r>
              <a:t>TEACHER MODEL</a:t>
            </a:r>
            <a:br/>
            <a:br/>
            <a:r>
              <a:t>Liberally here means in a generous or large amount.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166360" cy="1828800"/>
          </a:xfrm>
          <a:prstGeom prst="roundRect">
            <a:avLst/>
          </a:prstGeom>
          <a:solidFill>
            <a:srgbClr val="FFEED8"/>
          </a:solidFill>
          <a:ln>
            <a:solidFill>
              <a:srgbClr val="EB8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ctr">
              <a:defRPr sz="1700" b="1">
                <a:solidFill>
                  <a:srgbClr val="2B3428"/>
                </a:solidFill>
              </a:defRPr>
            </a:pPr>
            <a:r>
              <a:t>STUDENT USE</a:t>
            </a:r>
            <a:br/>
            <a:br/>
            <a:r>
              <a:t>The class used ______ liberally.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3886200"/>
            <a:ext cx="104698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7053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ctr">
              <a:defRPr sz="1500" b="1">
                <a:solidFill>
                  <a:srgbClr val="2B3428"/>
                </a:solidFill>
              </a:defRPr>
            </a:pPr>
            <a:r>
              <a:t>PAIR CHECK → Partner must explain why the word fits. Do not accept a sentence that only copies the model.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5257800"/>
            <a:ext cx="9966960" cy="685800"/>
          </a:xfrm>
          <a:prstGeom prst="roundRect">
            <a:avLst/>
          </a:prstGeom>
          <a:solidFill>
            <a:srgbClr val="E5F0F7"/>
          </a:solidFill>
          <a:ln>
            <a:solidFill>
              <a:srgbClr val="4373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ctr">
              <a:defRPr sz="1500" b="1">
                <a:solidFill>
                  <a:srgbClr val="2B3428"/>
                </a:solidFill>
              </a:defRPr>
            </a:pPr>
            <a:r>
              <a:t>QUICK ANSWER / LOOK-FOR: in large amounts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B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B7D32"/>
                </a:solidFill>
              </a:defRPr>
            </a:pPr>
            <a:r>
              <a:t>VOCABULARY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21031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C6459"/>
                </a:solidFill>
              </a:defRPr>
            </a:pPr>
            <a:r>
              <a:t>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30352"/>
            <a:ext cx="4042069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B3428"/>
                </a:solidFill>
              </a:defRPr>
            </a:pPr>
            <a:r>
              <a:rPr dirty="0"/>
              <a:t>🔎 WORD 1</a:t>
            </a:r>
            <a:r>
              <a:rPr lang="en-US" dirty="0"/>
              <a:t>3</a:t>
            </a:r>
            <a:r>
              <a:rPr dirty="0"/>
              <a:t>: ENORMOUS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115568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C6459"/>
                </a:solidFill>
              </a:defRPr>
            </a:pPr>
            <a:r>
              <a:t>Teacher routine: say it → students repeat → context clue → prediction → reveal meaning.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45920"/>
            <a:ext cx="10835640" cy="1051560"/>
          </a:xfrm>
          <a:prstGeom prst="roundRect">
            <a:avLst/>
          </a:prstGeom>
          <a:solidFill>
            <a:srgbClr val="FFEED8"/>
          </a:solidFill>
          <a:ln>
            <a:solidFill>
              <a:srgbClr val="EB8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ctr">
              <a:defRPr sz="2100" b="1">
                <a:solidFill>
                  <a:srgbClr val="2B3428"/>
                </a:solidFill>
              </a:defRPr>
            </a:pPr>
            <a:r>
              <a:t>CONTEXT</a:t>
            </a:r>
            <a:br/>
            <a:r>
              <a:t>The ear of corn was enormous.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971800"/>
            <a:ext cx="5074920" cy="1737360"/>
          </a:xfrm>
          <a:prstGeom prst="roundRect">
            <a:avLst/>
          </a:prstGeom>
          <a:solidFill>
            <a:srgbClr val="EBF4E1"/>
          </a:solidFill>
          <a:ln>
            <a:solidFill>
              <a:srgbClr val="4B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l">
              <a:defRPr sz="1600" b="1">
                <a:solidFill>
                  <a:srgbClr val="2B3428"/>
                </a:solidFill>
              </a:defRPr>
            </a:pPr>
            <a:r>
              <a:t>STEP 1 — HEAR &amp; SAY</a:t>
            </a:r>
            <a:br/>
            <a:br/>
            <a:r>
              <a:t>Teacher reads the context.</a:t>
            </a:r>
            <a:br/>
            <a:r>
              <a:t>Students repeat the target word twice.</a:t>
            </a:r>
            <a:br/>
            <a:r>
              <a:t>Ask: “What do you notice?”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971800"/>
            <a:ext cx="5074920" cy="1737360"/>
          </a:xfrm>
          <a:prstGeom prst="roundRect">
            <a:avLst/>
          </a:prstGeom>
          <a:solidFill>
            <a:srgbClr val="E5F0F7"/>
          </a:solidFill>
          <a:ln>
            <a:solidFill>
              <a:srgbClr val="4373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l">
              <a:defRPr sz="1500" b="1">
                <a:solidFill>
                  <a:srgbClr val="2B3428"/>
                </a:solidFill>
              </a:defRPr>
            </a:pPr>
            <a:r>
              <a:t>STEP 2 — DISCOVER</a:t>
            </a:r>
            <a:br/>
            <a:br/>
            <a:r>
              <a:t>Would an enormous ear of corn be tiny or huge?</a:t>
            </a:r>
            <a:br/>
            <a:br/>
            <a:r>
              <a:t>Take 2–3 guesses before revealing.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B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B7D32"/>
                </a:solidFill>
              </a:defRPr>
            </a:pPr>
            <a:r>
              <a:t>VOCABULARY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21031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C6459"/>
                </a:solidFill>
              </a:defRPr>
            </a:pPr>
            <a:r>
              <a:t>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30352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B3428"/>
                </a:solidFill>
              </a:defRPr>
            </a:pPr>
            <a:r>
              <a:t>🗣️ USE &amp; CHECK: ENORMOUS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115568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C6459"/>
                </a:solidFill>
              </a:defRPr>
            </a:pPr>
            <a:r>
              <a:t>Now students must prove they understand the word.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45920"/>
            <a:ext cx="5166360" cy="1828800"/>
          </a:xfrm>
          <a:prstGeom prst="roundRect">
            <a:avLst/>
          </a:prstGeom>
          <a:solidFill>
            <a:srgbClr val="EBF4E1"/>
          </a:solidFill>
          <a:ln>
            <a:solidFill>
              <a:srgbClr val="4B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ctr">
              <a:defRPr sz="1600" b="1">
                <a:solidFill>
                  <a:srgbClr val="2B3428"/>
                </a:solidFill>
              </a:defRPr>
            </a:pPr>
            <a:r>
              <a:t>TEACHER MODEL</a:t>
            </a:r>
            <a:br/>
            <a:br/>
            <a:r>
              <a:t>Enormous = very, very large.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166360" cy="1828800"/>
          </a:xfrm>
          <a:prstGeom prst="roundRect">
            <a:avLst/>
          </a:prstGeom>
          <a:solidFill>
            <a:srgbClr val="FFEED8"/>
          </a:solidFill>
          <a:ln>
            <a:solidFill>
              <a:srgbClr val="EB8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ctr">
              <a:defRPr sz="1700" b="1">
                <a:solidFill>
                  <a:srgbClr val="2B3428"/>
                </a:solidFill>
              </a:defRPr>
            </a:pPr>
            <a:r>
              <a:t>STUDENT USE</a:t>
            </a:r>
            <a:br/>
            <a:br/>
            <a:r>
              <a:t>The enormous ______ surprised us.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3886200"/>
            <a:ext cx="104698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7053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ctr">
              <a:defRPr sz="1500" b="1">
                <a:solidFill>
                  <a:srgbClr val="2B3428"/>
                </a:solidFill>
              </a:defRPr>
            </a:pPr>
            <a:r>
              <a:t>PAIR CHECK → Partner must explain why the word fits. Do not accept a sentence that only copies the model.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5257800"/>
            <a:ext cx="9966960" cy="685800"/>
          </a:xfrm>
          <a:prstGeom prst="roundRect">
            <a:avLst/>
          </a:prstGeom>
          <a:solidFill>
            <a:srgbClr val="E5F0F7"/>
          </a:solidFill>
          <a:ln>
            <a:solidFill>
              <a:srgbClr val="4373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ctr">
              <a:defRPr sz="1500" b="1">
                <a:solidFill>
                  <a:srgbClr val="2B3428"/>
                </a:solidFill>
              </a:defRPr>
            </a:pPr>
            <a:r>
              <a:t>QUICK ANSWER / LOOK-FOR: very large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B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B7D32"/>
                </a:solidFill>
              </a:defRPr>
            </a:pPr>
            <a:r>
              <a:t>VOCABULARY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21031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C6459"/>
                </a:solidFill>
              </a:defRPr>
            </a:pPr>
            <a:r>
              <a:t>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30352"/>
            <a:ext cx="3477619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B3428"/>
                </a:solidFill>
              </a:defRPr>
            </a:pPr>
            <a:r>
              <a:rPr dirty="0"/>
              <a:t>🔎 WORD 1</a:t>
            </a:r>
            <a:r>
              <a:rPr lang="en-US" dirty="0"/>
              <a:t>4</a:t>
            </a:r>
            <a:r>
              <a:rPr dirty="0"/>
              <a:t>: BARREN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115568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C6459"/>
                </a:solidFill>
              </a:defRPr>
            </a:pPr>
            <a:r>
              <a:t>Teacher routine: say it → students repeat → context clue → prediction → reveal meaning.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45920"/>
            <a:ext cx="10835640" cy="1051560"/>
          </a:xfrm>
          <a:prstGeom prst="roundRect">
            <a:avLst/>
          </a:prstGeom>
          <a:solidFill>
            <a:srgbClr val="FFEED8"/>
          </a:solidFill>
          <a:ln>
            <a:solidFill>
              <a:srgbClr val="EB8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ctr">
              <a:defRPr sz="2100" b="1">
                <a:solidFill>
                  <a:srgbClr val="2B3428"/>
                </a:solidFill>
              </a:defRPr>
            </a:pPr>
            <a:r>
              <a:t>CONTEXT</a:t>
            </a:r>
            <a:br/>
            <a:r>
              <a:t>The winter fields looked barren.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971800"/>
            <a:ext cx="5074920" cy="1737360"/>
          </a:xfrm>
          <a:prstGeom prst="roundRect">
            <a:avLst/>
          </a:prstGeom>
          <a:solidFill>
            <a:srgbClr val="EBF4E1"/>
          </a:solidFill>
          <a:ln>
            <a:solidFill>
              <a:srgbClr val="4B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l">
              <a:defRPr sz="1600" b="1">
                <a:solidFill>
                  <a:srgbClr val="2B3428"/>
                </a:solidFill>
              </a:defRPr>
            </a:pPr>
            <a:r>
              <a:t>STEP 1 — HEAR &amp; SAY</a:t>
            </a:r>
            <a:br/>
            <a:br/>
            <a:r>
              <a:t>Teacher reads the context.</a:t>
            </a:r>
            <a:br/>
            <a:r>
              <a:t>Students repeat the target word twice.</a:t>
            </a:r>
            <a:br/>
            <a:r>
              <a:t>Ask: “What do you notice?”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971800"/>
            <a:ext cx="5074920" cy="1737360"/>
          </a:xfrm>
          <a:prstGeom prst="roundRect">
            <a:avLst/>
          </a:prstGeom>
          <a:solidFill>
            <a:srgbClr val="E5F0F7"/>
          </a:solidFill>
          <a:ln>
            <a:solidFill>
              <a:srgbClr val="4373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l">
              <a:defRPr sz="1500" b="1">
                <a:solidFill>
                  <a:srgbClr val="2B3428"/>
                </a:solidFill>
              </a:defRPr>
            </a:pPr>
            <a:r>
              <a:t>STEP 2 — DISCOVER</a:t>
            </a:r>
            <a:br/>
            <a:br/>
            <a:r>
              <a:t>What would a barren field suggest about available food?</a:t>
            </a:r>
            <a:br/>
            <a:br/>
            <a:r>
              <a:t>Take 2–3 guesses before revealing.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B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B7D32"/>
                </a:solidFill>
              </a:defRPr>
            </a:pPr>
            <a:r>
              <a:t>VOCABULARY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21031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C6459"/>
                </a:solidFill>
              </a:defRPr>
            </a:pPr>
            <a:r>
              <a:t>37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30352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B3428"/>
                </a:solidFill>
              </a:defRPr>
            </a:pPr>
            <a:r>
              <a:t>🗣️ USE &amp; CHECK: BARREN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115568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C6459"/>
                </a:solidFill>
              </a:defRPr>
            </a:pPr>
            <a:r>
              <a:t>Now students must prove they understand the word.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45920"/>
            <a:ext cx="5166360" cy="1828800"/>
          </a:xfrm>
          <a:prstGeom prst="roundRect">
            <a:avLst/>
          </a:prstGeom>
          <a:solidFill>
            <a:srgbClr val="EBF4E1"/>
          </a:solidFill>
          <a:ln>
            <a:solidFill>
              <a:srgbClr val="4B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ctr">
              <a:defRPr sz="1600" b="1">
                <a:solidFill>
                  <a:srgbClr val="2B3428"/>
                </a:solidFill>
              </a:defRPr>
            </a:pPr>
            <a:r>
              <a:t>TEACHER MODEL</a:t>
            </a:r>
            <a:br/>
            <a:br/>
            <a:r>
              <a:t>Barren suggests emptiness or very little growth.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166360" cy="1828800"/>
          </a:xfrm>
          <a:prstGeom prst="roundRect">
            <a:avLst/>
          </a:prstGeom>
          <a:solidFill>
            <a:srgbClr val="FFEED8"/>
          </a:solidFill>
          <a:ln>
            <a:solidFill>
              <a:srgbClr val="EB8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ctr">
              <a:defRPr sz="1700" b="1">
                <a:solidFill>
                  <a:srgbClr val="2B3428"/>
                </a:solidFill>
              </a:defRPr>
            </a:pPr>
            <a:r>
              <a:t>STUDENT USE</a:t>
            </a:r>
            <a:br/>
            <a:br/>
            <a:r>
              <a:t>The land became barren, so ______.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3886200"/>
            <a:ext cx="104698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7053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ctr">
              <a:defRPr sz="1500" b="1">
                <a:solidFill>
                  <a:srgbClr val="2B3428"/>
                </a:solidFill>
              </a:defRPr>
            </a:pPr>
            <a:r>
              <a:t>PAIR CHECK → Partner must explain why the word fits. Do not accept a sentence that only copies the model.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5257800"/>
            <a:ext cx="9966960" cy="685800"/>
          </a:xfrm>
          <a:prstGeom prst="roundRect">
            <a:avLst/>
          </a:prstGeom>
          <a:solidFill>
            <a:srgbClr val="E5F0F7"/>
          </a:solidFill>
          <a:ln>
            <a:solidFill>
              <a:srgbClr val="4373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ctr">
              <a:defRPr sz="1500" b="1">
                <a:solidFill>
                  <a:srgbClr val="2B3428"/>
                </a:solidFill>
              </a:defRPr>
            </a:pPr>
            <a:r>
              <a:t>QUICK ANSWER / LOOK-FOR: little/no growth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B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B7D32"/>
                </a:solidFill>
              </a:defRPr>
            </a:pPr>
            <a:r>
              <a:t>CONCEPT BUILDING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21031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C6459"/>
                </a:solidFill>
              </a:defRPr>
            </a:pPr>
            <a:r>
              <a:t>38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30352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B3428"/>
                </a:solidFill>
              </a:defRPr>
            </a:pPr>
            <a:r>
              <a:rPr dirty="0"/>
              <a:t>🔄 WORD PAIRS: SAME IDEA, DIFFERENT JOB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046905"/>
            <a:ext cx="8024954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C6459"/>
                </a:solidFill>
              </a:defRPr>
            </a:pPr>
            <a:r>
              <a:rPr sz="2000" dirty="0"/>
              <a:t>Help students distinguish words instead of </a:t>
            </a:r>
            <a:r>
              <a:rPr sz="2000" dirty="0" err="1"/>
              <a:t>memorising</a:t>
            </a:r>
            <a:r>
              <a:rPr sz="2000" dirty="0"/>
              <a:t> isolated definitions.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0" y="1554480"/>
            <a:ext cx="5943600" cy="1940158"/>
          </a:xfrm>
          <a:prstGeom prst="roundRect">
            <a:avLst/>
          </a:prstGeom>
          <a:solidFill>
            <a:srgbClr val="FFFFFF"/>
          </a:solidFill>
          <a:ln>
            <a:solidFill>
              <a:srgbClr val="4B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l">
              <a:defRPr sz="1400" b="1">
                <a:solidFill>
                  <a:srgbClr val="2B3428"/>
                </a:solidFill>
              </a:defRPr>
            </a:pPr>
            <a:r>
              <a:rPr sz="2000" dirty="0"/>
              <a:t>BOUNTIFUL vs PLENTIFUL</a:t>
            </a:r>
            <a:br>
              <a:rPr sz="2000" dirty="0"/>
            </a:br>
            <a:br>
              <a:rPr sz="2000" dirty="0"/>
            </a:br>
            <a:r>
              <a:rPr sz="2000" dirty="0"/>
              <a:t>Both suggest a lot is available.</a:t>
            </a:r>
            <a:br>
              <a:rPr sz="2000" dirty="0"/>
            </a:br>
            <a:r>
              <a:rPr sz="2000" dirty="0"/>
              <a:t>Bountiful often describes a rich/abundant supply or harvest.</a:t>
            </a:r>
            <a:br>
              <a:rPr sz="2000" dirty="0"/>
            </a:br>
            <a:r>
              <a:rPr sz="2000" dirty="0"/>
              <a:t>Plentiful means available in large amounts</a:t>
            </a:r>
            <a:r>
              <a:rPr dirty="0"/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6305" y="1554480"/>
            <a:ext cx="6095695" cy="1940158"/>
          </a:xfrm>
          <a:prstGeom prst="roundRect">
            <a:avLst/>
          </a:prstGeom>
          <a:solidFill>
            <a:srgbClr val="FFFFFF"/>
          </a:solidFill>
          <a:ln>
            <a:solidFill>
              <a:srgbClr val="EB8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l">
              <a:defRPr sz="1400" b="1">
                <a:solidFill>
                  <a:srgbClr val="2B3428"/>
                </a:solidFill>
              </a:defRPr>
            </a:pPr>
            <a:r>
              <a:rPr sz="2000" dirty="0"/>
              <a:t>FATHOM vs INFER</a:t>
            </a:r>
            <a:br>
              <a:rPr sz="2000" dirty="0"/>
            </a:br>
            <a:br>
              <a:rPr sz="2000" dirty="0"/>
            </a:br>
            <a:r>
              <a:rPr sz="2000" dirty="0"/>
              <a:t>Both involve thinking.</a:t>
            </a:r>
            <a:br>
              <a:rPr sz="2000" dirty="0"/>
            </a:br>
            <a:r>
              <a:rPr sz="2000" dirty="0"/>
              <a:t>Fathom = understand something deeply.</a:t>
            </a:r>
            <a:br>
              <a:rPr sz="2000" dirty="0"/>
            </a:br>
            <a:r>
              <a:rPr sz="2000" dirty="0"/>
              <a:t>Infer = work out an idea from clues.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0" y="3566160"/>
            <a:ext cx="59436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7053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l">
              <a:defRPr sz="1400" b="1">
                <a:solidFill>
                  <a:srgbClr val="2B3428"/>
                </a:solidFill>
              </a:defRPr>
            </a:pPr>
            <a:r>
              <a:rPr sz="2000" dirty="0"/>
              <a:t>FARE vs SUSTENANCE</a:t>
            </a:r>
            <a:br>
              <a:rPr sz="2000" dirty="0"/>
            </a:br>
            <a:br>
              <a:rPr sz="2000" dirty="0"/>
            </a:br>
            <a:r>
              <a:rPr sz="2000" dirty="0"/>
              <a:t>Both relate to food.</a:t>
            </a:r>
            <a:br>
              <a:rPr sz="2000" dirty="0"/>
            </a:br>
            <a:r>
              <a:rPr sz="2000" dirty="0"/>
              <a:t>Fare = food and drink.</a:t>
            </a:r>
            <a:br>
              <a:rPr sz="2000" dirty="0"/>
            </a:br>
            <a:r>
              <a:rPr sz="2000" dirty="0"/>
              <a:t>Sustenance = food needed to live.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96305" y="3545790"/>
            <a:ext cx="6095695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4373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l">
              <a:defRPr sz="1400" b="1">
                <a:solidFill>
                  <a:srgbClr val="2B3428"/>
                </a:solidFill>
              </a:defRPr>
            </a:pPr>
            <a:r>
              <a:rPr sz="2000" dirty="0"/>
              <a:t>STORED vs PREPARED vs PROVISION</a:t>
            </a:r>
            <a:br>
              <a:rPr sz="2000" dirty="0"/>
            </a:br>
            <a:br>
              <a:rPr sz="2000" dirty="0"/>
            </a:br>
            <a:r>
              <a:rPr sz="2000" dirty="0"/>
              <a:t>Stored = put away for later.</a:t>
            </a:r>
            <a:br>
              <a:rPr sz="2000" dirty="0"/>
            </a:br>
            <a:r>
              <a:rPr sz="2000" dirty="0"/>
              <a:t>Prepared = made ready.</a:t>
            </a:r>
            <a:br>
              <a:rPr sz="2000" dirty="0"/>
            </a:br>
            <a:r>
              <a:rPr sz="2000" dirty="0"/>
              <a:t>Provision = something prepared/stored for a future need.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B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B7D32"/>
                </a:solidFill>
              </a:defRPr>
            </a:pPr>
            <a:r>
              <a:t>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21031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C6459"/>
                </a:solidFill>
              </a:defRPr>
            </a:pPr>
            <a:r>
              <a:t>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30352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B3428"/>
                </a:solidFill>
              </a:defRPr>
            </a:pPr>
            <a:r>
              <a:t>🧠 VOCABULARY → CHARACTER → CONSEQUENCE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115568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C6459"/>
                </a:solidFill>
              </a:defRPr>
            </a:pPr>
            <a:r>
              <a:t>This is the bridge into your fable-analysis lesson.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00200"/>
            <a:ext cx="3429000" cy="3017520"/>
          </a:xfrm>
          <a:prstGeom prst="roundRect">
            <a:avLst/>
          </a:prstGeom>
          <a:solidFill>
            <a:srgbClr val="EBF4E1"/>
          </a:solidFill>
          <a:ln>
            <a:solidFill>
              <a:srgbClr val="4B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ctr">
              <a:defRPr sz="1700" b="1">
                <a:solidFill>
                  <a:srgbClr val="2B3428"/>
                </a:solidFill>
              </a:defRPr>
            </a:pPr>
            <a:r>
              <a:t>WORD</a:t>
            </a:r>
            <a:br/>
            <a:br/>
            <a:r>
              <a:t>INDUSTRIOUS</a:t>
            </a:r>
            <a:br/>
            <a:br/>
            <a:r>
              <a:t>The Ant keeps working and stores food.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00200"/>
            <a:ext cx="3429000" cy="3017520"/>
          </a:xfrm>
          <a:prstGeom prst="roundRect">
            <a:avLst/>
          </a:prstGeom>
          <a:solidFill>
            <a:srgbClr val="FFEED8"/>
          </a:solidFill>
          <a:ln>
            <a:solidFill>
              <a:srgbClr val="EB8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ctr">
              <a:defRPr sz="1700" b="1">
                <a:solidFill>
                  <a:srgbClr val="2B3428"/>
                </a:solidFill>
              </a:defRPr>
            </a:pPr>
            <a:r>
              <a:t>CHARACTER</a:t>
            </a:r>
            <a:br/>
            <a:br/>
            <a:r>
              <a:t>What does this show?</a:t>
            </a:r>
            <a:br/>
            <a:br/>
            <a:r>
              <a:t>Hard-working • responsible • prepared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600200"/>
            <a:ext cx="3429000" cy="3017520"/>
          </a:xfrm>
          <a:prstGeom prst="roundRect">
            <a:avLst/>
          </a:prstGeom>
          <a:solidFill>
            <a:srgbClr val="E5F0F7"/>
          </a:solidFill>
          <a:ln>
            <a:solidFill>
              <a:srgbClr val="4373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ctr">
              <a:defRPr sz="1700" b="1">
                <a:solidFill>
                  <a:srgbClr val="2B3428"/>
                </a:solidFill>
              </a:defRPr>
            </a:pPr>
            <a:r>
              <a:t>CONSEQUENCE</a:t>
            </a:r>
            <a:br/>
            <a:br/>
            <a:r>
              <a:t>What happens later?</a:t>
            </a:r>
            <a:br/>
            <a:br/>
            <a:r>
              <a:t>She has food when winter arrives.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4983480"/>
            <a:ext cx="1033272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7053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ctr">
              <a:defRPr sz="1600" b="1">
                <a:solidFill>
                  <a:srgbClr val="2B3428"/>
                </a:solidFill>
              </a:defRPr>
            </a:pPr>
            <a:r>
              <a:t>Challenge: Choose GUFFAWED or WISTFULLY. Explain what it reveals about the Grasshopper.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B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B7D32"/>
                </a:solidFill>
              </a:defRPr>
            </a:pPr>
            <a:r>
              <a:t>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21031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C6459"/>
                </a:solidFill>
              </a:defRPr>
            </a:pPr>
            <a:r>
              <a:t>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30352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B3428"/>
                </a:solidFill>
              </a:defRPr>
            </a:pPr>
            <a:r>
              <a:t>🎯 MIXED CONTEXT CHALLENGE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936276"/>
            <a:ext cx="5783956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C6459"/>
                </a:solidFill>
              </a:defRPr>
            </a:pPr>
            <a:r>
              <a:rPr sz="2000" dirty="0"/>
              <a:t>Students choose the word, then explain the evidence.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-1" y="1623060"/>
            <a:ext cx="6153911" cy="374904"/>
          </a:xfrm>
          <a:prstGeom prst="roundRect">
            <a:avLst/>
          </a:prstGeom>
          <a:solidFill>
            <a:srgbClr val="FFFFFF"/>
          </a:solidFill>
          <a:ln>
            <a:solidFill>
              <a:srgbClr val="DA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l">
              <a:defRPr sz="1200" b="0">
                <a:solidFill>
                  <a:srgbClr val="2B3428"/>
                </a:solidFill>
              </a:defRPr>
            </a:pPr>
            <a:r>
              <a:rPr sz="2000" dirty="0"/>
              <a:t>The Ant carried small pieces of wheat back to her nest.</a:t>
            </a:r>
            <a:br>
              <a:rPr sz="2000" dirty="0"/>
            </a:br>
            <a:endParaRPr sz="2000" dirty="0"/>
          </a:p>
        </p:txBody>
      </p:sp>
      <p:sp>
        <p:nvSpPr>
          <p:cNvPr id="8" name="Rounded Rectangle 7"/>
          <p:cNvSpPr/>
          <p:nvPr/>
        </p:nvSpPr>
        <p:spPr>
          <a:xfrm>
            <a:off x="6309359" y="1637727"/>
            <a:ext cx="5882336" cy="374904"/>
          </a:xfrm>
          <a:prstGeom prst="roundRect">
            <a:avLst/>
          </a:prstGeom>
          <a:solidFill>
            <a:srgbClr val="FFFFFF"/>
          </a:solidFill>
          <a:ln>
            <a:solidFill>
              <a:srgbClr val="DA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l">
              <a:defRPr sz="1200" b="0">
                <a:solidFill>
                  <a:srgbClr val="2B3428"/>
                </a:solidFill>
              </a:defRPr>
            </a:pPr>
            <a:r>
              <a:rPr sz="2000" dirty="0"/>
              <a:t>She put food away because she would need it later.</a:t>
            </a:r>
            <a:br>
              <a:rPr sz="2000" dirty="0"/>
            </a:br>
            <a:endParaRPr sz="2000" dirty="0"/>
          </a:p>
        </p:txBody>
      </p:sp>
      <p:sp>
        <p:nvSpPr>
          <p:cNvPr id="9" name="Rounded Rectangle 8"/>
          <p:cNvSpPr/>
          <p:nvPr/>
        </p:nvSpPr>
        <p:spPr>
          <a:xfrm>
            <a:off x="-1" y="2235708"/>
            <a:ext cx="5943601" cy="521208"/>
          </a:xfrm>
          <a:prstGeom prst="roundRect">
            <a:avLst/>
          </a:prstGeom>
          <a:solidFill>
            <a:srgbClr val="FFFFFF"/>
          </a:solidFill>
          <a:ln>
            <a:solidFill>
              <a:srgbClr val="DA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l">
              <a:defRPr sz="1200" b="0">
                <a:solidFill>
                  <a:srgbClr val="2B3428"/>
                </a:solidFill>
              </a:defRPr>
            </a:pPr>
            <a:r>
              <a:rPr sz="2000" dirty="0"/>
              <a:t>She got ready before winter arrived.</a:t>
            </a:r>
            <a:br>
              <a:rPr sz="2000" dirty="0"/>
            </a:br>
            <a:endParaRPr sz="2000" dirty="0"/>
          </a:p>
        </p:txBody>
      </p:sp>
      <p:sp>
        <p:nvSpPr>
          <p:cNvPr id="10" name="Rounded Rectangle 9"/>
          <p:cNvSpPr/>
          <p:nvPr/>
        </p:nvSpPr>
        <p:spPr>
          <a:xfrm>
            <a:off x="6309359" y="2235708"/>
            <a:ext cx="5440680" cy="521208"/>
          </a:xfrm>
          <a:prstGeom prst="roundRect">
            <a:avLst/>
          </a:prstGeom>
          <a:solidFill>
            <a:srgbClr val="FFFFFF"/>
          </a:solidFill>
          <a:ln>
            <a:solidFill>
              <a:srgbClr val="DA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l">
              <a:defRPr sz="1200" b="0">
                <a:solidFill>
                  <a:srgbClr val="2B3428"/>
                </a:solidFill>
              </a:defRPr>
            </a:pPr>
            <a:r>
              <a:rPr sz="2000" dirty="0"/>
              <a:t>The summer had a lot of food available.</a:t>
            </a:r>
            <a:br>
              <a:rPr sz="2000" dirty="0"/>
            </a:br>
            <a:endParaRPr sz="2000" dirty="0"/>
          </a:p>
        </p:txBody>
      </p:sp>
      <p:sp>
        <p:nvSpPr>
          <p:cNvPr id="11" name="Rounded Rectangle 10"/>
          <p:cNvSpPr/>
          <p:nvPr/>
        </p:nvSpPr>
        <p:spPr>
          <a:xfrm>
            <a:off x="0" y="3127248"/>
            <a:ext cx="59436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A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l">
              <a:defRPr sz="1200" b="0">
                <a:solidFill>
                  <a:srgbClr val="2B3428"/>
                </a:solidFill>
              </a:defRPr>
            </a:pPr>
            <a:r>
              <a:rPr sz="2000" dirty="0"/>
              <a:t>The fields became very cold and covered with frost.</a:t>
            </a:r>
            <a:br>
              <a:rPr sz="2000" dirty="0"/>
            </a:br>
            <a:endParaRPr sz="2000" dirty="0"/>
          </a:p>
        </p:txBody>
      </p:sp>
      <p:sp>
        <p:nvSpPr>
          <p:cNvPr id="12" name="Rounded Rectangle 11"/>
          <p:cNvSpPr/>
          <p:nvPr/>
        </p:nvSpPr>
        <p:spPr>
          <a:xfrm>
            <a:off x="6309359" y="3127248"/>
            <a:ext cx="54406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A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l">
              <a:defRPr sz="1200" b="0">
                <a:solidFill>
                  <a:srgbClr val="2B3428"/>
                </a:solidFill>
              </a:defRPr>
            </a:pPr>
            <a:r>
              <a:rPr sz="2000" dirty="0"/>
              <a:t>The Grasshopper had no food needed to survive.</a:t>
            </a:r>
            <a:br>
              <a:rPr sz="2000" dirty="0"/>
            </a:br>
            <a:endParaRPr sz="2000" dirty="0"/>
          </a:p>
        </p:txBody>
      </p:sp>
      <p:sp>
        <p:nvSpPr>
          <p:cNvPr id="13" name="Rounded Rectangle 12"/>
          <p:cNvSpPr/>
          <p:nvPr/>
        </p:nvSpPr>
        <p:spPr>
          <a:xfrm>
            <a:off x="0" y="3950208"/>
            <a:ext cx="54406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A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l">
              <a:defRPr sz="1200" b="0">
                <a:solidFill>
                  <a:srgbClr val="2B3428"/>
                </a:solidFill>
              </a:defRPr>
            </a:pPr>
            <a:r>
              <a:rPr sz="2000" dirty="0"/>
              <a:t>He had no safe place to protect himself.</a:t>
            </a:r>
            <a:br>
              <a:rPr sz="2000" dirty="0"/>
            </a:br>
            <a:endParaRPr sz="2000" dirty="0"/>
          </a:p>
        </p:txBody>
      </p:sp>
      <p:sp>
        <p:nvSpPr>
          <p:cNvPr id="14" name="Rounded Rectangle 13"/>
          <p:cNvSpPr/>
          <p:nvPr/>
        </p:nvSpPr>
        <p:spPr>
          <a:xfrm>
            <a:off x="6309359" y="3977369"/>
            <a:ext cx="5440680" cy="631207"/>
          </a:xfrm>
          <a:prstGeom prst="roundRect">
            <a:avLst/>
          </a:prstGeom>
          <a:solidFill>
            <a:srgbClr val="FFFFFF"/>
          </a:solidFill>
          <a:ln>
            <a:solidFill>
              <a:srgbClr val="DA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l">
              <a:defRPr sz="1200" b="0">
                <a:solidFill>
                  <a:srgbClr val="2B3428"/>
                </a:solidFill>
              </a:defRPr>
            </a:pPr>
            <a:r>
              <a:rPr sz="2000" dirty="0"/>
              <a:t>He laughed loudly in a mocking way.</a:t>
            </a:r>
            <a:br>
              <a:rPr sz="2000" dirty="0"/>
            </a:br>
            <a:endParaRPr sz="2000" dirty="0"/>
          </a:p>
        </p:txBody>
      </p:sp>
      <p:sp>
        <p:nvSpPr>
          <p:cNvPr id="15" name="Rounded Rectangle 14"/>
          <p:cNvSpPr/>
          <p:nvPr/>
        </p:nvSpPr>
        <p:spPr>
          <a:xfrm>
            <a:off x="0" y="4829481"/>
            <a:ext cx="54406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A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l">
              <a:defRPr sz="1200" b="0">
                <a:solidFill>
                  <a:srgbClr val="2B3428"/>
                </a:solidFill>
              </a:defRPr>
            </a:pPr>
            <a:r>
              <a:rPr sz="2000" dirty="0"/>
              <a:t>He looked sadly at food he could not have.</a:t>
            </a:r>
            <a:br>
              <a:rPr sz="2000" dirty="0"/>
            </a:br>
            <a:endParaRPr sz="2000" dirty="0"/>
          </a:p>
        </p:txBody>
      </p:sp>
      <p:sp>
        <p:nvSpPr>
          <p:cNvPr id="16" name="Rounded Rectangle 15"/>
          <p:cNvSpPr/>
          <p:nvPr/>
        </p:nvSpPr>
        <p:spPr>
          <a:xfrm>
            <a:off x="6309359" y="4829481"/>
            <a:ext cx="54406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A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l">
              <a:defRPr sz="1200" b="0">
                <a:solidFill>
                  <a:srgbClr val="2B3428"/>
                </a:solidFill>
              </a:defRPr>
            </a:pPr>
            <a:r>
              <a:rPr sz="2000" dirty="0"/>
              <a:t>The land produced very little food.</a:t>
            </a:r>
            <a:br>
              <a:rPr sz="2000" dirty="0"/>
            </a:br>
            <a:endParaRPr sz="2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B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B7D32"/>
                </a:solidFill>
              </a:defRPr>
            </a:pPr>
            <a:r>
              <a:t>FORMATIVE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21031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C6459"/>
                </a:solidFill>
              </a:defRPr>
            </a:pPr>
            <a:r>
              <a:t>41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30352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B3428"/>
                </a:solidFill>
              </a:defRPr>
            </a:pPr>
            <a:r>
              <a:t>🧑‍🏫 MINI-WHITEBOARD CHECK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115568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C6459"/>
                </a:solidFill>
              </a:defRPr>
            </a:pPr>
            <a:r>
              <a:t>Do not move on until students can use the words, not just recognise them.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08760"/>
            <a:ext cx="53035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4B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l">
              <a:defRPr sz="1400" b="1">
                <a:solidFill>
                  <a:srgbClr val="2B3428"/>
                </a:solidFill>
              </a:defRPr>
            </a:pPr>
            <a:r>
              <a:rPr sz="2000" dirty="0"/>
              <a:t>1. Use FATHOM in a sentence about a mystery.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508760"/>
            <a:ext cx="53035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B8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l">
              <a:defRPr sz="1400" b="1">
                <a:solidFill>
                  <a:srgbClr val="2B3428"/>
                </a:solidFill>
              </a:defRPr>
            </a:pPr>
            <a:r>
              <a:rPr sz="2000" dirty="0"/>
              <a:t>2. Which word means hard-working? Write it + explain why.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743200"/>
            <a:ext cx="53035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4373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l">
              <a:defRPr sz="1400" b="1">
                <a:solidFill>
                  <a:srgbClr val="2B3428"/>
                </a:solidFill>
              </a:defRPr>
            </a:pPr>
            <a:r>
              <a:rPr sz="1600" dirty="0"/>
              <a:t>3. Complete: The fields were ______, so food was difficult to find.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743200"/>
            <a:ext cx="53035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7053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l">
              <a:defRPr sz="1400" b="1">
                <a:solidFill>
                  <a:srgbClr val="2B3428"/>
                </a:solidFill>
              </a:defRPr>
            </a:pPr>
            <a:r>
              <a:rPr sz="2000" dirty="0"/>
              <a:t>4. Complete: The Grasshopper looked ______ at the food.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77639"/>
            <a:ext cx="53035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B9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l">
              <a:defRPr sz="1400" b="1">
                <a:solidFill>
                  <a:srgbClr val="2B3428"/>
                </a:solidFill>
              </a:defRPr>
            </a:pPr>
            <a:r>
              <a:rPr sz="2000" dirty="0"/>
              <a:t>5. What is the difference between FARE and SUSTENANCE?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3977639"/>
            <a:ext cx="53035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B487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l">
              <a:defRPr sz="1400" b="1">
                <a:solidFill>
                  <a:srgbClr val="2B3428"/>
                </a:solidFill>
              </a:defRPr>
            </a:pPr>
            <a:r>
              <a:rPr sz="2000" dirty="0"/>
              <a:t>6. Use BOUNTIFUL or PLENTIFUL correctly in a sentence.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120" y="5440680"/>
            <a:ext cx="10241280" cy="548640"/>
          </a:xfrm>
          <a:prstGeom prst="roundRect">
            <a:avLst/>
          </a:prstGeom>
          <a:solidFill>
            <a:srgbClr val="EBF4E1"/>
          </a:solidFill>
          <a:ln>
            <a:solidFill>
              <a:srgbClr val="4B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ctr">
              <a:defRPr sz="1300" b="1">
                <a:solidFill>
                  <a:srgbClr val="2B3428"/>
                </a:solidFill>
              </a:defRPr>
            </a:pPr>
            <a:r>
              <a:rPr sz="1600" dirty="0"/>
              <a:t>Teacher checks: accurate meaning + correct grammar + connection to context.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B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B7D32"/>
                </a:solidFill>
              </a:defRPr>
            </a:pPr>
            <a:r>
              <a:t>INDEPENDENT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21031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C6459"/>
                </a:solidFill>
              </a:defRPr>
            </a:pPr>
            <a:r>
              <a:t>42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30352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B3428"/>
                </a:solidFill>
              </a:defRPr>
            </a:pPr>
            <a:r>
              <a:t>✍️ INDEPENDENT VOCABULARY TASK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115568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C6459"/>
                </a:solidFill>
              </a:defRPr>
            </a:pPr>
            <a:r>
              <a:t>Students now work without the glossary.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54480"/>
            <a:ext cx="10789920" cy="685800"/>
          </a:xfrm>
          <a:prstGeom prst="roundRect">
            <a:avLst/>
          </a:prstGeom>
          <a:solidFill>
            <a:srgbClr val="FFEED8"/>
          </a:solidFill>
          <a:ln>
            <a:solidFill>
              <a:srgbClr val="EB8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ctr">
              <a:defRPr sz="1800" b="1">
                <a:solidFill>
                  <a:srgbClr val="2B3428"/>
                </a:solidFill>
              </a:defRPr>
            </a:pPr>
            <a:r>
              <a:t>Write 6 connected sentences explaining how the Ant and Grasshopper behave differently.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514600"/>
            <a:ext cx="521208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4B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l">
              <a:defRPr sz="1500" b="1">
                <a:solidFill>
                  <a:srgbClr val="2B3428"/>
                </a:solidFill>
              </a:defRPr>
            </a:pPr>
            <a:r>
              <a:rPr dirty="0"/>
              <a:t>YOU MUST USE:</a:t>
            </a:r>
            <a:br>
              <a:rPr dirty="0"/>
            </a:br>
            <a:r>
              <a:rPr dirty="0"/>
              <a:t>☐ industrious</a:t>
            </a:r>
            <a:br>
              <a:rPr dirty="0"/>
            </a:br>
            <a:r>
              <a:rPr dirty="0"/>
              <a:t>☐ prepared OR provision</a:t>
            </a:r>
            <a:br>
              <a:rPr dirty="0"/>
            </a:br>
            <a:r>
              <a:rPr dirty="0"/>
              <a:t>☐ plentiful OR bountiful</a:t>
            </a:r>
            <a:br>
              <a:rPr dirty="0"/>
            </a:br>
            <a:r>
              <a:rPr dirty="0"/>
              <a:t>☐ guffawed OR wistfully</a:t>
            </a:r>
            <a:br>
              <a:rPr dirty="0"/>
            </a:br>
            <a:r>
              <a:rPr dirty="0"/>
              <a:t>☐ sustenance OR fare</a:t>
            </a:r>
            <a:br>
              <a:rPr dirty="0"/>
            </a:br>
            <a:r>
              <a:rPr dirty="0"/>
              <a:t>☐ one more word of your choice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514600"/>
            <a:ext cx="51663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EB8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l">
              <a:defRPr sz="1500" b="1">
                <a:solidFill>
                  <a:srgbClr val="2B3428"/>
                </a:solidFill>
              </a:defRPr>
            </a:pPr>
            <a:r>
              <a:t>HELPFUL STRUCTURE:</a:t>
            </a:r>
            <a:br/>
            <a:r>
              <a:t>The Ant is ______ because ______.</a:t>
            </a:r>
            <a:br/>
            <a:r>
              <a:t>The Grasshopper, however, ______.</a:t>
            </a:r>
            <a:br/>
            <a:r>
              <a:t>This causes ______.</a:t>
            </a:r>
            <a:br/>
            <a:r>
              <a:t>Later, ______.</a:t>
            </a:r>
            <a:br/>
            <a:r>
              <a:t>This shows ______.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5303520"/>
            <a:ext cx="10332720" cy="640080"/>
          </a:xfrm>
          <a:prstGeom prst="roundRect">
            <a:avLst/>
          </a:prstGeom>
          <a:solidFill>
            <a:srgbClr val="E5F0F7"/>
          </a:solidFill>
          <a:ln>
            <a:solidFill>
              <a:srgbClr val="4373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ctr">
              <a:defRPr sz="1500" b="1">
                <a:solidFill>
                  <a:srgbClr val="2B3428"/>
                </a:solidFill>
              </a:defRPr>
            </a:pPr>
            <a:r>
              <a:t>Challenge: Use because, however, so, or as a result to connect your ideas.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B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B7D32"/>
                </a:solidFill>
              </a:defRPr>
            </a:pPr>
            <a:r>
              <a:t>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21031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C6459"/>
                </a:solidFill>
              </a:defRPr>
            </a:pPr>
            <a:r>
              <a:t>43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30352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B3428"/>
                </a:solidFill>
              </a:defRPr>
            </a:pPr>
            <a:r>
              <a:t>⭐ MODEL RESPONSE: WORDS WITH A PURPOSE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115568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C6459"/>
                </a:solidFill>
              </a:defRPr>
            </a:pPr>
            <a:r>
              <a:t>Notice that vocabulary is used to explain the story — not simply to sound impressive.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00200"/>
            <a:ext cx="1083564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A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l">
              <a:defRPr sz="1700" b="0">
                <a:solidFill>
                  <a:srgbClr val="2B3428"/>
                </a:solidFill>
              </a:defRPr>
            </a:pPr>
            <a:r>
              <a:rPr sz="2400" dirty="0"/>
              <a:t>The Ant is </a:t>
            </a:r>
            <a:r>
              <a:rPr sz="2400" b="1" dirty="0"/>
              <a:t>industrious</a:t>
            </a:r>
            <a:r>
              <a:rPr sz="2400" dirty="0"/>
              <a:t> because she keeps working and prepares for winter. Food is </a:t>
            </a:r>
            <a:r>
              <a:rPr sz="2400" b="1" dirty="0"/>
              <a:t>plentiful</a:t>
            </a:r>
            <a:r>
              <a:rPr sz="2400" dirty="0"/>
              <a:t> during summer, but she does not waste the opportunity to make </a:t>
            </a:r>
            <a:r>
              <a:rPr sz="2400" b="1" dirty="0"/>
              <a:t>provision</a:t>
            </a:r>
            <a:r>
              <a:rPr sz="2400" dirty="0"/>
              <a:t> for the colder months. The Grasshopper </a:t>
            </a:r>
            <a:r>
              <a:rPr sz="2400" b="1" dirty="0"/>
              <a:t>guffawed</a:t>
            </a:r>
            <a:r>
              <a:rPr sz="2400" dirty="0"/>
              <a:t> at her warning and chose to play instead. Later, when the fields became </a:t>
            </a:r>
            <a:r>
              <a:rPr sz="2400" b="1" dirty="0"/>
              <a:t>frosty</a:t>
            </a:r>
            <a:r>
              <a:rPr sz="2400" dirty="0"/>
              <a:t> and </a:t>
            </a:r>
            <a:r>
              <a:rPr sz="2400" b="1" dirty="0"/>
              <a:t>barren</a:t>
            </a:r>
            <a:r>
              <a:rPr sz="2400" dirty="0"/>
              <a:t>, he had little </a:t>
            </a:r>
            <a:r>
              <a:rPr sz="2400" b="1" dirty="0"/>
              <a:t>sustenance</a:t>
            </a:r>
            <a:r>
              <a:rPr sz="2400" dirty="0"/>
              <a:t> and looked wistfully at the Ant's food. These words help the reader understand why the two characters experience different consequences</a:t>
            </a:r>
            <a:r>
              <a:rPr dirty="0"/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5212080"/>
            <a:ext cx="10332720" cy="685800"/>
          </a:xfrm>
          <a:prstGeom prst="roundRect">
            <a:avLst/>
          </a:prstGeom>
          <a:solidFill>
            <a:srgbClr val="EBF4E1"/>
          </a:solidFill>
          <a:ln>
            <a:solidFill>
              <a:srgbClr val="4B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ctr">
              <a:defRPr sz="1500" b="1">
                <a:solidFill>
                  <a:srgbClr val="2B3428"/>
                </a:solidFill>
              </a:defRPr>
            </a:pPr>
            <a:r>
              <a:t>Teacher: Underline one word that describes CHARACTER and circle one word that describes the SETTING.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B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B7D32"/>
                </a:solidFill>
              </a:defRPr>
            </a:pPr>
            <a:r>
              <a:t>RETRIEVAL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21031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C6459"/>
                </a:solidFill>
              </a:defRPr>
            </a:pPr>
            <a:r>
              <a:t>44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30352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B3428"/>
                </a:solidFill>
              </a:defRPr>
            </a:pPr>
            <a:r>
              <a:t>⚡ 60-SECOND VOCABULARY RETRIEVAL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115568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C6459"/>
                </a:solidFill>
              </a:defRPr>
            </a:pPr>
            <a:r>
              <a:rPr dirty="0"/>
              <a:t>Cover the definitions. Students write the word from the meaning.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35661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A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ctr">
              <a:defRPr sz="1200" b="0">
                <a:solidFill>
                  <a:srgbClr val="2B3428"/>
                </a:solidFill>
              </a:defRPr>
            </a:pPr>
            <a:r>
              <a:rPr sz="2000" dirty="0"/>
              <a:t>hard-working and productive</a:t>
            </a:r>
            <a:br>
              <a:rPr sz="2000" dirty="0"/>
            </a:br>
            <a:r>
              <a:rPr sz="2000" dirty="0"/>
              <a:t>→ </a:t>
            </a:r>
            <a:r>
              <a:rPr sz="2000" b="1" dirty="0"/>
              <a:t>INDUSTRIOUS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417320"/>
            <a:ext cx="35661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A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ctr">
              <a:defRPr sz="1200" b="0">
                <a:solidFill>
                  <a:srgbClr val="2B3428"/>
                </a:solidFill>
              </a:defRPr>
            </a:pPr>
            <a:r>
              <a:rPr sz="2000" dirty="0"/>
              <a:t>put away for later</a:t>
            </a:r>
            <a:br>
              <a:rPr sz="2000" dirty="0"/>
            </a:br>
            <a:r>
              <a:rPr sz="2000" dirty="0"/>
              <a:t>→ </a:t>
            </a:r>
            <a:r>
              <a:rPr sz="2000" b="1" dirty="0"/>
              <a:t>STORED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40713" y="1417320"/>
            <a:ext cx="4526733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A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ctr">
              <a:defRPr sz="1200" b="0">
                <a:solidFill>
                  <a:srgbClr val="2B3428"/>
                </a:solidFill>
              </a:defRPr>
            </a:pPr>
            <a:r>
              <a:rPr sz="2000" dirty="0"/>
              <a:t>got ready before something happened</a:t>
            </a:r>
            <a:br>
              <a:rPr sz="2000" dirty="0"/>
            </a:br>
            <a:r>
              <a:rPr sz="2000" dirty="0"/>
              <a:t>→ </a:t>
            </a:r>
            <a:r>
              <a:rPr sz="2000" b="1" dirty="0"/>
              <a:t>PREPARED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468880"/>
            <a:ext cx="35661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A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ctr">
              <a:defRPr sz="1200" b="0">
                <a:solidFill>
                  <a:srgbClr val="2B3428"/>
                </a:solidFill>
              </a:defRPr>
            </a:pPr>
            <a:r>
              <a:rPr sz="2000" dirty="0"/>
              <a:t>very cold, with frost</a:t>
            </a:r>
            <a:br>
              <a:rPr sz="2000" dirty="0"/>
            </a:br>
            <a:r>
              <a:rPr sz="2000" dirty="0"/>
              <a:t>→ </a:t>
            </a:r>
            <a:r>
              <a:rPr sz="2000" b="1" dirty="0"/>
              <a:t>FROSTY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80" y="2468880"/>
            <a:ext cx="35661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A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ctr">
              <a:defRPr sz="1200" b="0">
                <a:solidFill>
                  <a:srgbClr val="2B3428"/>
                </a:solidFill>
              </a:defRPr>
            </a:pPr>
            <a:r>
              <a:rPr sz="2000" dirty="0"/>
              <a:t>very large</a:t>
            </a:r>
            <a:br>
              <a:rPr sz="2000" dirty="0"/>
            </a:br>
            <a:r>
              <a:rPr sz="2000" dirty="0"/>
              <a:t>→ </a:t>
            </a:r>
            <a:r>
              <a:rPr sz="2000" b="1" dirty="0"/>
              <a:t>ENORMOUS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520439"/>
            <a:ext cx="35661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A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ctr">
              <a:defRPr sz="1200" b="0">
                <a:solidFill>
                  <a:srgbClr val="2B3428"/>
                </a:solidFill>
              </a:defRPr>
            </a:pPr>
            <a:r>
              <a:rPr sz="2000" dirty="0"/>
              <a:t>empty / little available growth</a:t>
            </a:r>
            <a:br>
              <a:rPr sz="2000" dirty="0"/>
            </a:br>
            <a:r>
              <a:rPr sz="2000" dirty="0"/>
              <a:t>→ </a:t>
            </a:r>
            <a:r>
              <a:rPr sz="2000" b="1" dirty="0"/>
              <a:t>BARREN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038446" y="3520439"/>
            <a:ext cx="4114801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A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ctr">
              <a:defRPr sz="1200" b="0">
                <a:solidFill>
                  <a:srgbClr val="2B3428"/>
                </a:solidFill>
              </a:defRPr>
            </a:pPr>
            <a:r>
              <a:rPr sz="2000" dirty="0"/>
              <a:t>sadly wanting what you cannot have</a:t>
            </a:r>
            <a:br>
              <a:rPr sz="2000" dirty="0"/>
            </a:br>
            <a:r>
              <a:rPr sz="2000" dirty="0"/>
              <a:t>→ </a:t>
            </a:r>
            <a:r>
              <a:rPr sz="2000" b="1" dirty="0"/>
              <a:t>WISTFULLY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80" y="3520439"/>
            <a:ext cx="35661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A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ctr">
              <a:defRPr sz="1200" b="0">
                <a:solidFill>
                  <a:srgbClr val="2B3428"/>
                </a:solidFill>
              </a:defRPr>
            </a:pPr>
            <a:r>
              <a:rPr sz="2000" dirty="0"/>
              <a:t>loud mocking laughter</a:t>
            </a:r>
            <a:br>
              <a:rPr sz="2000" dirty="0"/>
            </a:br>
            <a:r>
              <a:rPr sz="2000" dirty="0"/>
              <a:t>→ </a:t>
            </a:r>
            <a:r>
              <a:rPr sz="2000" b="1" dirty="0"/>
              <a:t>GUFFAWED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4572000"/>
            <a:ext cx="35661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A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ctr">
              <a:defRPr sz="1200" b="0">
                <a:solidFill>
                  <a:srgbClr val="2B3428"/>
                </a:solidFill>
              </a:defRPr>
            </a:pPr>
            <a:r>
              <a:rPr sz="2000" dirty="0"/>
              <a:t>food needed to live</a:t>
            </a:r>
            <a:br>
              <a:rPr sz="2000" dirty="0"/>
            </a:br>
            <a:r>
              <a:rPr sz="2000" dirty="0"/>
              <a:t>→ </a:t>
            </a:r>
            <a:r>
              <a:rPr sz="2000" b="1" dirty="0"/>
              <a:t>SUSTENANCE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43400" y="4572000"/>
            <a:ext cx="35661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A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ctr">
              <a:defRPr sz="1200" b="0">
                <a:solidFill>
                  <a:srgbClr val="2B3428"/>
                </a:solidFill>
              </a:defRPr>
            </a:pPr>
            <a:r>
              <a:rPr sz="2000" dirty="0"/>
              <a:t>food and drink</a:t>
            </a:r>
            <a:br>
              <a:rPr sz="2000" dirty="0"/>
            </a:br>
            <a:r>
              <a:rPr sz="2000" dirty="0"/>
              <a:t>→ </a:t>
            </a:r>
            <a:r>
              <a:rPr sz="2000" b="1" dirty="0"/>
              <a:t>FARE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3880" y="4572000"/>
            <a:ext cx="35661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A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ctr">
              <a:defRPr sz="1200" b="0">
                <a:solidFill>
                  <a:srgbClr val="2B3428"/>
                </a:solidFill>
              </a:defRPr>
            </a:pPr>
            <a:r>
              <a:rPr sz="2000" dirty="0"/>
              <a:t>large amounts; generously</a:t>
            </a:r>
            <a:br>
              <a:rPr sz="2000" dirty="0"/>
            </a:br>
            <a:r>
              <a:rPr sz="2000" dirty="0"/>
              <a:t>→ </a:t>
            </a:r>
            <a:r>
              <a:rPr sz="2000" b="1" dirty="0"/>
              <a:t>LIBERALLY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B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B7D32"/>
                </a:solidFill>
              </a:defRPr>
            </a:pPr>
            <a:r>
              <a:t>PLENARY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21031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C6459"/>
                </a:solidFill>
              </a:defRPr>
            </a:pPr>
            <a:r>
              <a:t>45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30352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B3428"/>
                </a:solidFill>
              </a:defRPr>
            </a:pPr>
            <a:r>
              <a:t>🚪 EXIT TICKET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115568"/>
            <a:ext cx="5599674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C6459"/>
                </a:solidFill>
              </a:defRPr>
            </a:pPr>
            <a:r>
              <a:rPr sz="2400" dirty="0"/>
              <a:t>One minute: retrieve → explain → connect.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00200"/>
            <a:ext cx="3429000" cy="2240280"/>
          </a:xfrm>
          <a:prstGeom prst="roundRect">
            <a:avLst/>
          </a:prstGeom>
          <a:solidFill>
            <a:srgbClr val="EBF4E1"/>
          </a:solidFill>
          <a:ln>
            <a:solidFill>
              <a:srgbClr val="4B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ctr">
              <a:defRPr sz="1600" b="1">
                <a:solidFill>
                  <a:srgbClr val="2B3428"/>
                </a:solidFill>
              </a:defRPr>
            </a:pPr>
            <a:r>
              <a:rPr dirty="0"/>
              <a:t>1</a:t>
            </a:r>
            <a:br>
              <a:rPr dirty="0"/>
            </a:br>
            <a:r>
              <a:rPr sz="2400" dirty="0"/>
              <a:t>One word I can now explain is ______.</a:t>
            </a:r>
            <a:br>
              <a:rPr sz="2400" dirty="0"/>
            </a:br>
            <a:br>
              <a:rPr sz="2400" dirty="0"/>
            </a:br>
            <a:r>
              <a:rPr sz="2400" dirty="0"/>
              <a:t>It means ______.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00200"/>
            <a:ext cx="3429000" cy="2240280"/>
          </a:xfrm>
          <a:prstGeom prst="roundRect">
            <a:avLst/>
          </a:prstGeom>
          <a:solidFill>
            <a:srgbClr val="FFEED8"/>
          </a:solidFill>
          <a:ln>
            <a:solidFill>
              <a:srgbClr val="EB8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ctr">
              <a:defRPr sz="1500" b="1">
                <a:solidFill>
                  <a:srgbClr val="2B3428"/>
                </a:solidFill>
              </a:defRPr>
            </a:pPr>
            <a:r>
              <a:rPr sz="2000" dirty="0"/>
              <a:t>2</a:t>
            </a:r>
            <a:br>
              <a:rPr sz="2000" dirty="0"/>
            </a:br>
            <a:r>
              <a:rPr sz="2000" dirty="0"/>
              <a:t>Use one word in a sentence about the Ant or Grasshopper.</a:t>
            </a:r>
            <a:br>
              <a:rPr sz="2000" dirty="0"/>
            </a:br>
            <a:br>
              <a:rPr sz="2000" dirty="0"/>
            </a:br>
            <a:r>
              <a:rPr sz="2000" dirty="0"/>
              <a:t>Explain why it fits.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600200"/>
            <a:ext cx="3429000" cy="2240280"/>
          </a:xfrm>
          <a:prstGeom prst="roundRect">
            <a:avLst/>
          </a:prstGeom>
          <a:solidFill>
            <a:srgbClr val="E5F0F7"/>
          </a:solidFill>
          <a:ln>
            <a:solidFill>
              <a:srgbClr val="4373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ctr">
              <a:defRPr sz="1500" b="1">
                <a:solidFill>
                  <a:srgbClr val="2B3428"/>
                </a:solidFill>
              </a:defRPr>
            </a:pPr>
            <a:r>
              <a:rPr sz="2000" dirty="0"/>
              <a:t>3</a:t>
            </a:r>
            <a:br>
              <a:rPr sz="2000" dirty="0"/>
            </a:br>
            <a:r>
              <a:rPr sz="2000" dirty="0"/>
              <a:t>Choose TWO words that help explain the Grasshopper's problem.</a:t>
            </a:r>
            <a:br>
              <a:rPr sz="2000" dirty="0"/>
            </a:br>
            <a:br>
              <a:rPr sz="2000" dirty="0"/>
            </a:br>
            <a:r>
              <a:rPr sz="2000" dirty="0"/>
              <a:t>Explain the connection.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4572000"/>
            <a:ext cx="103327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7053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ctr">
              <a:defRPr sz="1600" b="1">
                <a:solidFill>
                  <a:srgbClr val="2B3428"/>
                </a:solidFill>
              </a:defRPr>
            </a:pPr>
            <a:r>
              <a:rPr dirty="0"/>
              <a:t>NEXT LESSON LINK → We will use these words as evidence when we </a:t>
            </a:r>
            <a:r>
              <a:rPr dirty="0" err="1"/>
              <a:t>analyse</a:t>
            </a:r>
            <a:r>
              <a:rPr dirty="0"/>
              <a:t> character, consequence and moral.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3304</Words>
  <Application>Microsoft Office PowerPoint</Application>
  <PresentationFormat>Widescreen</PresentationFormat>
  <Paragraphs>309</Paragraphs>
  <Slides>39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pc</dc:creator>
  <cp:keywords/>
  <dc:description>generated using python-pptx</dc:description>
  <cp:lastModifiedBy>pc</cp:lastModifiedBy>
  <cp:revision>3</cp:revision>
  <dcterms:created xsi:type="dcterms:W3CDTF">2013-01-27T09:14:16Z</dcterms:created>
  <dcterms:modified xsi:type="dcterms:W3CDTF">2026-09-24T18:58:19Z</dcterms:modified>
  <cp:category/>
</cp:coreProperties>
</file>