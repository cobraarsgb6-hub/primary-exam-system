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2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24/09/2026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24/09/2026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24/09/2026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24/09/2026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24/09/2026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24/09/2026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24/09/2026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961120" y="365760"/>
            <a:ext cx="1828800" cy="1828800"/>
          </a:xfrm>
          <a:prstGeom prst="ellipse">
            <a:avLst/>
          </a:prstGeom>
          <a:solidFill>
            <a:srgbClr val="E67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875520" y="1280160"/>
            <a:ext cx="914400" cy="914400"/>
          </a:xfrm>
          <a:prstGeom prst="ellipse">
            <a:avLst/>
          </a:prstGeom>
          <a:solidFill>
            <a:srgbClr val="F0B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59436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0BE4C"/>
                </a:solidFill>
                <a:latin typeface="Aptos"/>
              </a:rPr>
              <a:t>UNIT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97280"/>
            <a:ext cx="7772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Why Cockerels Crow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011680"/>
            <a:ext cx="5943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 dirty="0">
                <a:solidFill>
                  <a:srgbClr val="D2E8EF"/>
                </a:solidFill>
                <a:latin typeface="Aptos"/>
              </a:rPr>
              <a:t>Part 1 • A fable from Malawi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88036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67E36"/>
                </a:solidFill>
                <a:latin typeface="Aptos"/>
              </a:rPr>
              <a:t>2 RUNNING SESSIONS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337560"/>
            <a:ext cx="6583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From first impressions → evidence → implicit meaning</a:t>
            </a:r>
          </a:p>
        </p:txBody>
      </p:sp>
      <p:sp>
        <p:nvSpPr>
          <p:cNvPr id="10" name="Oval 9"/>
          <p:cNvSpPr/>
          <p:nvPr/>
        </p:nvSpPr>
        <p:spPr>
          <a:xfrm>
            <a:off x="8823960" y="2926080"/>
            <a:ext cx="1188720" cy="1188720"/>
          </a:xfrm>
          <a:prstGeom prst="ellipse">
            <a:avLst/>
          </a:prstGeom>
          <a:solidFill>
            <a:srgbClr val="F0B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15400" y="3136392"/>
            <a:ext cx="1005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800" b="0">
                <a:solidFill>
                  <a:srgbClr val="283037"/>
                </a:solidFill>
                <a:latin typeface="Aptos"/>
              </a:rPr>
              <a:t>🐓</a:t>
            </a:r>
          </a:p>
        </p:txBody>
      </p:sp>
      <p:sp>
        <p:nvSpPr>
          <p:cNvPr id="12" name="Oval 11"/>
          <p:cNvSpPr/>
          <p:nvPr/>
        </p:nvSpPr>
        <p:spPr>
          <a:xfrm>
            <a:off x="10104120" y="3749039"/>
            <a:ext cx="1188720" cy="1188720"/>
          </a:xfrm>
          <a:prstGeom prst="ellipse">
            <a:avLst/>
          </a:prstGeom>
          <a:solidFill>
            <a:srgbClr val="3B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222992" y="4005072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0">
                <a:solidFill>
                  <a:srgbClr val="FFFFFF"/>
                </a:solidFill>
                <a:latin typeface="Aptos"/>
              </a:rPr>
              <a:t>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608076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YEAR 5 ENGLISH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67E36"/>
                </a:solidFill>
                <a:latin typeface="Aptos"/>
              </a:rPr>
              <a:t>TEACHER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B3D"/>
                </a:solidFill>
                <a:latin typeface="Aptos"/>
              </a:rPr>
              <a:t>Two running sessions — one learning journey</a:t>
            </a:r>
          </a:p>
        </p:txBody>
      </p:sp>
      <p:sp>
        <p:nvSpPr>
          <p:cNvPr id="5" name="Oval 4"/>
          <p:cNvSpPr/>
          <p:nvPr/>
        </p:nvSpPr>
        <p:spPr>
          <a:xfrm>
            <a:off x="11201400" y="347472"/>
            <a:ext cx="438912" cy="438912"/>
          </a:xfrm>
          <a:prstGeom prst="ellipse">
            <a:avLst/>
          </a:prstGeom>
          <a:solidFill>
            <a:srgbClr val="1C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420624"/>
            <a:ext cx="4389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353312"/>
            <a:ext cx="914400" cy="64008"/>
          </a:xfrm>
          <a:prstGeom prst="rect">
            <a:avLst/>
          </a:prstGeom>
          <a:solidFill>
            <a:srgbClr val="E67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530352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600200"/>
            <a:ext cx="64008" cy="3977639"/>
          </a:xfrm>
          <a:prstGeom prst="rect">
            <a:avLst/>
          </a:prstGeom>
          <a:solidFill>
            <a:srgbClr val="E67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1764792"/>
            <a:ext cx="49377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2B3D"/>
                </a:solidFill>
                <a:latin typeface="Aptos"/>
              </a:rPr>
              <a:t>SESSION 1 • MEET THE CHARACTERS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194560"/>
            <a:ext cx="4937759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037"/>
                </a:solidFill>
                <a:latin typeface="Aptos"/>
              </a:rPr>
              <a:t>Starter: Mystery friendship prediction
Middle: fable recall → vocabulary detective → shared reading → evidence hunt
End: character first-impression reveal + exit ticket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530352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600200"/>
            <a:ext cx="64008" cy="3977639"/>
          </a:xfrm>
          <a:prstGeom prst="rect">
            <a:avLst/>
          </a:prstGeom>
          <a:solidFill>
            <a:srgbClr val="3B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1764792"/>
            <a:ext cx="49377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2B3D"/>
                </a:solidFill>
                <a:latin typeface="Aptos"/>
              </a:rPr>
              <a:t>SESSION 2 • THINK LIKE A DETECTIVE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194560"/>
            <a:ext cx="4937759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037"/>
                </a:solidFill>
                <a:latin typeface="Aptos"/>
              </a:rPr>
              <a:t>Starter: retrieval + evidence relay
Middle: implicit meaning → character hot seat → adjective evidence sort → developed response
End: peer proof-check + plenary + exit ticket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5715000"/>
            <a:ext cx="1417320" cy="347472"/>
          </a:xfrm>
          <a:prstGeom prst="roundRect">
            <a:avLst/>
          </a:prstGeom>
          <a:solidFill>
            <a:srgbClr val="FA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1832" y="5788152"/>
            <a:ext cx="12710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E67E36"/>
                </a:solidFill>
                <a:latin typeface="Aptos"/>
              </a:rPr>
              <a:t>Student-centred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23160" y="5715000"/>
            <a:ext cx="1234440" cy="347472"/>
          </a:xfrm>
          <a:prstGeom prst="roundRect">
            <a:avLst/>
          </a:prstGeom>
          <a:solidFill>
            <a:srgbClr val="E0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496312" y="5788152"/>
            <a:ext cx="108813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3B8B84"/>
                </a:solidFill>
                <a:latin typeface="Aptos"/>
              </a:rPr>
              <a:t>Evidence-led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94760" y="5715000"/>
            <a:ext cx="1554480" cy="347472"/>
          </a:xfrm>
          <a:prstGeom prst="roundRect">
            <a:avLst/>
          </a:prstGeom>
          <a:solidFill>
            <a:srgbClr val="ED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67912" y="5788152"/>
            <a:ext cx="140817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745B91"/>
                </a:solidFill>
                <a:latin typeface="Aptos"/>
              </a:rPr>
              <a:t>Talk + move + write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378"/>
                </a:solidFill>
                <a:latin typeface="Aptos"/>
              </a:rPr>
              <a:t>YEAR 5 • FICTION: STORIES FROM DIFFERENT CULTURES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67E36"/>
                </a:solidFill>
                <a:latin typeface="Aptos"/>
              </a:rPr>
              <a:t>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B3D"/>
                </a:solidFill>
                <a:latin typeface="Aptos"/>
              </a:rPr>
              <a:t>Today's mission</a:t>
            </a:r>
          </a:p>
        </p:txBody>
      </p:sp>
      <p:sp>
        <p:nvSpPr>
          <p:cNvPr id="5" name="Oval 4"/>
          <p:cNvSpPr/>
          <p:nvPr/>
        </p:nvSpPr>
        <p:spPr>
          <a:xfrm>
            <a:off x="11201400" y="347472"/>
            <a:ext cx="438912" cy="438912"/>
          </a:xfrm>
          <a:prstGeom prst="ellipse">
            <a:avLst/>
          </a:prstGeom>
          <a:solidFill>
            <a:srgbClr val="1C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420624"/>
            <a:ext cx="4389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353312"/>
            <a:ext cx="914400" cy="64008"/>
          </a:xfrm>
          <a:prstGeom prst="rect">
            <a:avLst/>
          </a:prstGeom>
          <a:solidFill>
            <a:srgbClr val="E67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51206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600200"/>
            <a:ext cx="64008" cy="1600200"/>
          </a:xfrm>
          <a:prstGeom prst="rect">
            <a:avLst/>
          </a:prstGeom>
          <a:solidFill>
            <a:srgbClr val="E67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764792"/>
            <a:ext cx="47548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2B3D"/>
                </a:solidFill>
                <a:latin typeface="Aptos"/>
              </a:rPr>
              <a:t>RECALL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194560"/>
            <a:ext cx="4754879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037"/>
                </a:solidFill>
                <a:latin typeface="Aptos"/>
              </a:rPr>
              <a:t>Identify key features of a fable.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51206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600200"/>
            <a:ext cx="64008" cy="1600200"/>
          </a:xfrm>
          <a:prstGeom prst="rect">
            <a:avLst/>
          </a:prstGeom>
          <a:solidFill>
            <a:srgbClr val="3B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1764792"/>
            <a:ext cx="47548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2B3D"/>
                </a:solidFill>
                <a:latin typeface="Aptos"/>
              </a:rPr>
              <a:t>INFER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194560"/>
            <a:ext cx="4754879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037"/>
                </a:solidFill>
                <a:latin typeface="Aptos"/>
              </a:rPr>
              <a:t>Use actions and dialogue as evidence of character.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657600"/>
            <a:ext cx="51206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3657600"/>
            <a:ext cx="64008" cy="1600200"/>
          </a:xfrm>
          <a:prstGeom prst="rect">
            <a:avLst/>
          </a:prstGeom>
          <a:solidFill>
            <a:srgbClr val="74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6968" y="3822191"/>
            <a:ext cx="47548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2B3D"/>
                </a:solidFill>
                <a:latin typeface="Aptos"/>
              </a:rPr>
              <a:t>EXPLAIN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4251960"/>
            <a:ext cx="4754879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037"/>
                </a:solidFill>
                <a:latin typeface="Aptos"/>
              </a:rPr>
              <a:t>Explain an implicit meaning rather than simply naming a trait.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657600"/>
            <a:ext cx="51206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3657600"/>
            <a:ext cx="64008" cy="1600200"/>
          </a:xfrm>
          <a:prstGeom prst="rect">
            <a:avLst/>
          </a:prstGeom>
          <a:solidFill>
            <a:srgbClr val="49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19088" y="3822191"/>
            <a:ext cx="47548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2B3D"/>
                </a:solidFill>
                <a:latin typeface="Aptos"/>
              </a:rPr>
              <a:t>APPLY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4251960"/>
            <a:ext cx="4754879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037"/>
                </a:solidFill>
                <a:latin typeface="Aptos"/>
              </a:rPr>
              <a:t>Build a developed response using evidence + explanation.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80644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67E36"/>
                </a:solidFill>
                <a:latin typeface="Aptos"/>
              </a:rPr>
              <a:t>SUCCESS CRITERIA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5733288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2B3D"/>
                </a:solidFill>
                <a:latin typeface="Aptos"/>
              </a:rPr>
              <a:t>I can make an idea about a character and prove it with more than one piece of evidence.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378"/>
                </a:solidFill>
                <a:latin typeface="Aptos"/>
              </a:rPr>
              <a:t>YEAR 5 • FICTION: STORIES FROM DIFFERENT CULTURES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67E36"/>
                </a:solidFill>
                <a:latin typeface="Aptos"/>
              </a:rPr>
              <a:t>SESSION 1 • STARTER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B3D"/>
                </a:solidFill>
                <a:latin typeface="Aptos"/>
              </a:rPr>
              <a:t>The mystery friendship</a:t>
            </a:r>
          </a:p>
        </p:txBody>
      </p:sp>
      <p:sp>
        <p:nvSpPr>
          <p:cNvPr id="5" name="Oval 4"/>
          <p:cNvSpPr/>
          <p:nvPr/>
        </p:nvSpPr>
        <p:spPr>
          <a:xfrm>
            <a:off x="11201400" y="347472"/>
            <a:ext cx="438912" cy="438912"/>
          </a:xfrm>
          <a:prstGeom prst="ellipse">
            <a:avLst/>
          </a:prstGeom>
          <a:solidFill>
            <a:srgbClr val="1C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420624"/>
            <a:ext cx="4389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353312"/>
            <a:ext cx="914400" cy="64008"/>
          </a:xfrm>
          <a:prstGeom prst="rect">
            <a:avLst/>
          </a:prstGeom>
          <a:solidFill>
            <a:srgbClr val="E67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481328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E4C43"/>
                </a:solidFill>
                <a:latin typeface="Aptos"/>
              </a:rPr>
              <a:t>DON'T REVEAL THE STORY YET.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74519"/>
            <a:ext cx="33832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1874519"/>
            <a:ext cx="64008" cy="2331720"/>
          </a:xfrm>
          <a:prstGeom prst="rect">
            <a:avLst/>
          </a:prstGeom>
          <a:solidFill>
            <a:srgbClr val="E67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203911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2B3D"/>
                </a:solidFill>
                <a:latin typeface="Aptos"/>
              </a:rPr>
              <a:t>LOOK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468879"/>
            <a:ext cx="3017520" cy="16001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037"/>
                </a:solidFill>
                <a:latin typeface="Aptos"/>
              </a:rPr>
              <a:t>A cockerel has a bright, spiky red comb. A hyena is much stronger.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1874519"/>
            <a:ext cx="33832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07408" y="1874519"/>
            <a:ext cx="64008" cy="2331720"/>
          </a:xfrm>
          <a:prstGeom prst="rect">
            <a:avLst/>
          </a:prstGeom>
          <a:solidFill>
            <a:srgbClr val="3B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08576" y="203911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2B3D"/>
                </a:solidFill>
                <a:latin typeface="Aptos"/>
              </a:rPr>
              <a:t>PREDICT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2468879"/>
            <a:ext cx="3017520" cy="16001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037"/>
                </a:solidFill>
                <a:latin typeface="Aptos"/>
              </a:rPr>
              <a:t>What kind of friendship might they have?
• equal?
• helpful?
• surprising?
• difficult?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874519"/>
            <a:ext cx="33832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38160" y="1874519"/>
            <a:ext cx="64008" cy="2331720"/>
          </a:xfrm>
          <a:prstGeom prst="rect">
            <a:avLst/>
          </a:prstGeom>
          <a:solidFill>
            <a:srgbClr val="74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39328" y="203911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2B3D"/>
                </a:solidFill>
                <a:latin typeface="Aptos"/>
              </a:rPr>
              <a:t>PROVE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8" y="2468879"/>
            <a:ext cx="3017520" cy="16001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037"/>
                </a:solidFill>
                <a:latin typeface="Aptos"/>
              </a:rPr>
              <a:t>Give ONE reason for your prediction.
Partner must ask:
“How do you know?”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617720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C2B3D"/>
                </a:solidFill>
                <a:latin typeface="Aptos"/>
              </a:rPr>
              <a:t>30 sec THINK  →  60 sec PAIR  →  2 ideas shared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5989320"/>
            <a:ext cx="10972800" cy="384048"/>
          </a:xfrm>
          <a:prstGeom prst="roundRect">
            <a:avLst/>
          </a:prstGeom>
          <a:solidFill>
            <a:srgbClr val="EE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9808" y="6080760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1C2B3D"/>
                </a:solidFill>
                <a:latin typeface="Aptos"/>
              </a:rPr>
              <a:t>TEACHING STRATEGY  Think–Pair–Share + prediction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6080760"/>
            <a:ext cx="3383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3B8B84"/>
                </a:solidFill>
                <a:latin typeface="Aptos"/>
              </a:rPr>
              <a:t>ASSESSMENT  Listen for evidence-based predictions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6080760"/>
            <a:ext cx="3931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45B91"/>
                </a:solidFill>
                <a:latin typeface="Aptos"/>
              </a:rPr>
              <a:t>DIFFERENTIATION  Support: sentence frame • Core: reason • Extension: two possible relationships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378"/>
                </a:solidFill>
                <a:latin typeface="Aptos"/>
              </a:rPr>
              <a:t>YEAR 5 • FICTION: STORIES FROM DIFFERENT CULTURES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67E36"/>
                </a:solidFill>
                <a:latin typeface="Aptos"/>
              </a:rPr>
              <a:t>SESSION 1 •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B3D"/>
                </a:solidFill>
                <a:latin typeface="Aptos"/>
              </a:rPr>
              <a:t>Fable features: beat the clock</a:t>
            </a:r>
          </a:p>
        </p:txBody>
      </p:sp>
      <p:sp>
        <p:nvSpPr>
          <p:cNvPr id="5" name="Oval 4"/>
          <p:cNvSpPr/>
          <p:nvPr/>
        </p:nvSpPr>
        <p:spPr>
          <a:xfrm>
            <a:off x="11201400" y="347472"/>
            <a:ext cx="438912" cy="438912"/>
          </a:xfrm>
          <a:prstGeom prst="ellipse">
            <a:avLst/>
          </a:prstGeom>
          <a:solidFill>
            <a:srgbClr val="1C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420624"/>
            <a:ext cx="4389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353312"/>
            <a:ext cx="914400" cy="64008"/>
          </a:xfrm>
          <a:prstGeom prst="rect">
            <a:avLst/>
          </a:prstGeom>
          <a:solidFill>
            <a:srgbClr val="E67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481328"/>
            <a:ext cx="7772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83037"/>
                </a:solidFill>
                <a:latin typeface="Aptos"/>
              </a:rPr>
              <a:t>In teams, write as many features as you can in 60 seconds.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57400"/>
            <a:ext cx="33375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304288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C2B3D"/>
                </a:solidFill>
                <a:latin typeface="Aptos"/>
              </a:rPr>
              <a:t>CHARACTERS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057400"/>
            <a:ext cx="33375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2304288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C2B3D"/>
                </a:solidFill>
                <a:latin typeface="Aptos"/>
              </a:rPr>
              <a:t>CONFLICT / PROBLEM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057400"/>
            <a:ext cx="33375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75320" y="2304288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C2B3D"/>
                </a:solidFill>
                <a:latin typeface="Aptos"/>
              </a:rPr>
              <a:t>CHOICES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91840"/>
            <a:ext cx="33375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3538728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C2B3D"/>
                </a:solidFill>
                <a:latin typeface="Aptos"/>
              </a:rPr>
              <a:t>CONSEQUENCES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291840"/>
            <a:ext cx="33375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0" y="3538728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C2B3D"/>
                </a:solidFill>
                <a:latin typeface="Aptos"/>
              </a:rPr>
              <a:t>MORAL / LESSON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3291840"/>
            <a:ext cx="33375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75320" y="3538728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C2B3D"/>
                </a:solidFill>
                <a:latin typeface="Aptos"/>
              </a:rPr>
              <a:t>SETTING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89204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67E36"/>
                </a:solidFill>
                <a:latin typeface="Aptos"/>
              </a:rPr>
              <a:t>TWIST: Which feature is easiest to SPOT? Which requires the most THINKING?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5989320"/>
            <a:ext cx="10972800" cy="384048"/>
          </a:xfrm>
          <a:prstGeom prst="roundRect">
            <a:avLst/>
          </a:prstGeom>
          <a:solidFill>
            <a:srgbClr val="EE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9808" y="6080760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1C2B3D"/>
                </a:solidFill>
                <a:latin typeface="Aptos"/>
              </a:rPr>
              <a:t>TEACHING STRATEGY  Team retrieval + metacognitive discussion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6080760"/>
            <a:ext cx="3383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3B8B84"/>
                </a:solidFill>
                <a:latin typeface="Aptos"/>
              </a:rPr>
              <a:t>ASSESSMENT  Cold-call + team answers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6080760"/>
            <a:ext cx="3931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45B91"/>
                </a:solidFill>
                <a:latin typeface="Aptos"/>
              </a:rPr>
              <a:t>DIFFERENTIATION  Support: feature word bank • Core: explain • Extension: justify which is hardest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378"/>
                </a:solidFill>
                <a:latin typeface="Aptos"/>
              </a:rPr>
              <a:t>YEAR 5 • FICTION: STORIES FROM DIFFERENT CULTURES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67E36"/>
                </a:solidFill>
                <a:latin typeface="Aptos"/>
              </a:rPr>
              <a:t>SESSION 1 • VOCABULARY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B3D"/>
                </a:solidFill>
                <a:latin typeface="Aptos"/>
              </a:rPr>
              <a:t>Vocabulary detective: context first</a:t>
            </a:r>
          </a:p>
        </p:txBody>
      </p:sp>
      <p:sp>
        <p:nvSpPr>
          <p:cNvPr id="5" name="Oval 4"/>
          <p:cNvSpPr/>
          <p:nvPr/>
        </p:nvSpPr>
        <p:spPr>
          <a:xfrm>
            <a:off x="11201400" y="347472"/>
            <a:ext cx="438912" cy="438912"/>
          </a:xfrm>
          <a:prstGeom prst="ellipse">
            <a:avLst/>
          </a:prstGeom>
          <a:solidFill>
            <a:srgbClr val="1C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420624"/>
            <a:ext cx="4389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353312"/>
            <a:ext cx="914400" cy="64008"/>
          </a:xfrm>
          <a:prstGeom prst="rect">
            <a:avLst/>
          </a:prstGeom>
          <a:solidFill>
            <a:srgbClr val="E67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600200"/>
            <a:ext cx="64008" cy="1508760"/>
          </a:xfrm>
          <a:prstGeom prst="rect">
            <a:avLst/>
          </a:prstGeom>
          <a:solidFill>
            <a:srgbClr val="E67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176479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2B3D"/>
                </a:solidFill>
                <a:latin typeface="Aptos"/>
              </a:rPr>
              <a:t>ADMIRED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194560"/>
            <a:ext cx="3108960" cy="777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037"/>
                </a:solidFill>
                <a:latin typeface="Aptos"/>
              </a:rPr>
              <a:t>respected / approved of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60020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34840" y="1600200"/>
            <a:ext cx="64008" cy="1508760"/>
          </a:xfrm>
          <a:prstGeom prst="rect">
            <a:avLst/>
          </a:prstGeom>
          <a:solidFill>
            <a:srgbClr val="3B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36008" y="176479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2B3D"/>
                </a:solidFill>
                <a:latin typeface="Aptos"/>
              </a:rPr>
              <a:t>COMB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194560"/>
            <a:ext cx="3108960" cy="777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037"/>
                </a:solidFill>
                <a:latin typeface="Aptos"/>
              </a:rPr>
              <a:t>soft red growth on a chicken's head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60020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0" y="1600200"/>
            <a:ext cx="64008" cy="1508760"/>
          </a:xfrm>
          <a:prstGeom prst="rect">
            <a:avLst/>
          </a:prstGeom>
          <a:solidFill>
            <a:srgbClr val="74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30768" y="176479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2B3D"/>
                </a:solidFill>
                <a:latin typeface="Aptos"/>
              </a:rPr>
              <a:t>RESPECTFUL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0768" y="2194560"/>
            <a:ext cx="3108960" cy="777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037"/>
                </a:solidFill>
                <a:latin typeface="Aptos"/>
              </a:rPr>
              <a:t>showing admiration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47472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3474720"/>
            <a:ext cx="64008" cy="1508760"/>
          </a:xfrm>
          <a:prstGeom prst="rect">
            <a:avLst/>
          </a:prstGeom>
          <a:solidFill>
            <a:srgbClr val="49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7" y="363931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2B3D"/>
                </a:solidFill>
                <a:latin typeface="Aptos"/>
              </a:rPr>
              <a:t>CHORES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" y="4069080"/>
            <a:ext cx="3108960" cy="777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037"/>
                </a:solidFill>
                <a:latin typeface="Aptos"/>
              </a:rPr>
              <a:t>regular jobs that need doing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347472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434840" y="3474720"/>
            <a:ext cx="64008" cy="1508760"/>
          </a:xfrm>
          <a:prstGeom prst="rect">
            <a:avLst/>
          </a:prstGeom>
          <a:solidFill>
            <a:srgbClr val="F0B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36008" y="363931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2B3D"/>
                </a:solidFill>
                <a:latin typeface="Aptos"/>
              </a:rPr>
              <a:t>PARCHED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36008" y="4069080"/>
            <a:ext cx="3108960" cy="777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037"/>
                </a:solidFill>
                <a:latin typeface="Aptos"/>
              </a:rPr>
              <a:t>very dry or very thirsty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347472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229600" y="3474720"/>
            <a:ext cx="64008" cy="1508760"/>
          </a:xfrm>
          <a:prstGeom prst="rect">
            <a:avLst/>
          </a:prstGeom>
          <a:solidFill>
            <a:srgbClr val="BE4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0768" y="363931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2B3D"/>
                </a:solidFill>
                <a:latin typeface="Aptos"/>
              </a:rPr>
              <a:t>FAMISHED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30768" y="4069080"/>
            <a:ext cx="3108960" cy="777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037"/>
                </a:solidFill>
                <a:latin typeface="Aptos"/>
              </a:rPr>
              <a:t>very hungry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4864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2B3D"/>
                </a:solidFill>
                <a:latin typeface="Aptos"/>
              </a:rPr>
              <a:t>PAIR CHALLENGE: Choose 2 words. Write a clue that would help a reader infer the meaning.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5989320"/>
            <a:ext cx="10972800" cy="384048"/>
          </a:xfrm>
          <a:prstGeom prst="roundRect">
            <a:avLst/>
          </a:prstGeom>
          <a:solidFill>
            <a:srgbClr val="EE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49808" y="6080760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1C2B3D"/>
                </a:solidFill>
                <a:latin typeface="Aptos"/>
              </a:rPr>
              <a:t>TEACHING STRATEGY  Context-clue detective pairs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77639" y="6080760"/>
            <a:ext cx="3383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3B8B84"/>
                </a:solidFill>
                <a:latin typeface="Aptos"/>
              </a:rPr>
              <a:t>ASSESSMENT  Mini-whiteboard responses + explain the clue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52360" y="6080760"/>
            <a:ext cx="3931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45B91"/>
                </a:solidFill>
                <a:latin typeface="Aptos"/>
              </a:rPr>
              <a:t>DIFFERENTIATION  Support: glossary • Core: context clue • Extension: own sentence + synonym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378"/>
                </a:solidFill>
                <a:latin typeface="Aptos"/>
              </a:rPr>
              <a:t>YEAR 5 • FICTION: STORIES FROM DIFFERENT CULTURES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67E36"/>
                </a:solidFill>
                <a:latin typeface="Aptos"/>
              </a:rPr>
              <a:t>SESSION 1 • 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B3D"/>
                </a:solidFill>
                <a:latin typeface="Aptos"/>
              </a:rPr>
              <a:t>Read like detectives, not passengers</a:t>
            </a:r>
          </a:p>
        </p:txBody>
      </p:sp>
      <p:sp>
        <p:nvSpPr>
          <p:cNvPr id="5" name="Oval 4"/>
          <p:cNvSpPr/>
          <p:nvPr/>
        </p:nvSpPr>
        <p:spPr>
          <a:xfrm>
            <a:off x="11201400" y="347472"/>
            <a:ext cx="438912" cy="438912"/>
          </a:xfrm>
          <a:prstGeom prst="ellipse">
            <a:avLst/>
          </a:prstGeom>
          <a:solidFill>
            <a:srgbClr val="1C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420624"/>
            <a:ext cx="4389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353312"/>
            <a:ext cx="914400" cy="64008"/>
          </a:xfrm>
          <a:prstGeom prst="rect">
            <a:avLst/>
          </a:prstGeom>
          <a:solidFill>
            <a:srgbClr val="E67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85800" y="1691640"/>
            <a:ext cx="20574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834639" y="1691640"/>
            <a:ext cx="20574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920240"/>
            <a:ext cx="182879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C2B3D"/>
                </a:solidFill>
                <a:latin typeface="Aptos"/>
              </a:rPr>
              <a:t>WHY COCKERELS
CROW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79" y="1965960"/>
            <a:ext cx="182879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E67E36"/>
                </a:solidFill>
                <a:latin typeface="Aptos"/>
              </a:rPr>
              <a:t>PART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834640"/>
            <a:ext cx="1645919" cy="32004"/>
          </a:xfrm>
          <a:prstGeom prst="rect">
            <a:avLst/>
          </a:prstGeom>
          <a:solidFill>
            <a:srgbClr val="D2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017520" y="2834640"/>
            <a:ext cx="1645919" cy="32004"/>
          </a:xfrm>
          <a:prstGeom prst="rect">
            <a:avLst/>
          </a:prstGeom>
          <a:solidFill>
            <a:srgbClr val="D2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14400" y="3154680"/>
            <a:ext cx="1645919" cy="32004"/>
          </a:xfrm>
          <a:prstGeom prst="rect">
            <a:avLst/>
          </a:prstGeom>
          <a:solidFill>
            <a:srgbClr val="D2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017520" y="3154680"/>
            <a:ext cx="1645919" cy="32004"/>
          </a:xfrm>
          <a:prstGeom prst="rect">
            <a:avLst/>
          </a:prstGeom>
          <a:solidFill>
            <a:srgbClr val="D2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14400" y="3474720"/>
            <a:ext cx="1645919" cy="32004"/>
          </a:xfrm>
          <a:prstGeom prst="rect">
            <a:avLst/>
          </a:prstGeom>
          <a:solidFill>
            <a:srgbClr val="D2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017520" y="3474720"/>
            <a:ext cx="1645919" cy="32004"/>
          </a:xfrm>
          <a:prstGeom prst="rect">
            <a:avLst/>
          </a:prstGeom>
          <a:solidFill>
            <a:srgbClr val="D2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14400" y="3794760"/>
            <a:ext cx="1645919" cy="32004"/>
          </a:xfrm>
          <a:prstGeom prst="rect">
            <a:avLst/>
          </a:prstGeom>
          <a:solidFill>
            <a:srgbClr val="D2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017520" y="3794760"/>
            <a:ext cx="1645919" cy="32004"/>
          </a:xfrm>
          <a:prstGeom prst="rect">
            <a:avLst/>
          </a:prstGeom>
          <a:solidFill>
            <a:srgbClr val="D2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212080" y="1691640"/>
            <a:ext cx="29260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212080" y="1691640"/>
            <a:ext cx="64008" cy="3383280"/>
          </a:xfrm>
          <a:prstGeom prst="rect">
            <a:avLst/>
          </a:prstGeom>
          <a:solidFill>
            <a:srgbClr val="E67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13248" y="1856232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2B3D"/>
                </a:solidFill>
                <a:latin typeface="Aptos"/>
              </a:rPr>
              <a:t>ROUND 1 • WHAT HAPPENS?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13248" y="2286000"/>
            <a:ext cx="256032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037"/>
                </a:solidFill>
                <a:latin typeface="Aptos"/>
              </a:rPr>
              <a:t>Partner A reads the opening.
Partner B gives a 10-word summary.
Swap roles.
No highlighting yet.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66760" y="1691640"/>
            <a:ext cx="29260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366760" y="1691640"/>
            <a:ext cx="64008" cy="3383280"/>
          </a:xfrm>
          <a:prstGeom prst="rect">
            <a:avLst/>
          </a:prstGeom>
          <a:solidFill>
            <a:srgbClr val="3B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67928" y="1856232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2B3D"/>
                </a:solidFill>
                <a:latin typeface="Aptos"/>
              </a:rPr>
              <a:t>ROUND 2 • WHAT MATTERS?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67928" y="2286000"/>
            <a:ext cx="256032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037"/>
                </a:solidFill>
                <a:latin typeface="Aptos"/>
              </a:rPr>
              <a:t>Listen again.
Mark:
★ action
💬 dialogue
→ consequence
?
What does this suggest?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5989320"/>
            <a:ext cx="10972800" cy="384048"/>
          </a:xfrm>
          <a:prstGeom prst="roundRect">
            <a:avLst/>
          </a:prstGeom>
          <a:solidFill>
            <a:srgbClr val="EE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9808" y="6080760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1C2B3D"/>
                </a:solidFill>
                <a:latin typeface="Aptos"/>
              </a:rPr>
              <a:t>TEACHING STRATEGY  Paired reading + reciprocal teaching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77639" y="6080760"/>
            <a:ext cx="3383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3B8B84"/>
                </a:solidFill>
                <a:latin typeface="Aptos"/>
              </a:rPr>
              <a:t>ASSESSMENT  Teacher circulates with evidence checklist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2360" y="6080760"/>
            <a:ext cx="3931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45B91"/>
                </a:solidFill>
                <a:latin typeface="Aptos"/>
              </a:rPr>
              <a:t>DIFFERENTIATION  Support: chunked reading • Core: annotate • Extension: identify hidden meaning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378"/>
                </a:solidFill>
                <a:latin typeface="Aptos"/>
              </a:rPr>
              <a:t>YEAR 5 • FICTION: STORIES FROM DIFFERENT CULTURES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67E36"/>
                </a:solidFill>
                <a:latin typeface="Aptos"/>
              </a:rPr>
              <a:t>SESSION 1 • 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B3D"/>
                </a:solidFill>
                <a:latin typeface="Aptos"/>
              </a:rPr>
              <a:t>Evidence hunt: what do their actions reveal?</a:t>
            </a:r>
          </a:p>
        </p:txBody>
      </p:sp>
      <p:sp>
        <p:nvSpPr>
          <p:cNvPr id="5" name="Oval 4"/>
          <p:cNvSpPr/>
          <p:nvPr/>
        </p:nvSpPr>
        <p:spPr>
          <a:xfrm>
            <a:off x="11201400" y="347472"/>
            <a:ext cx="438912" cy="438912"/>
          </a:xfrm>
          <a:prstGeom prst="ellipse">
            <a:avLst/>
          </a:prstGeom>
          <a:solidFill>
            <a:srgbClr val="1C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420624"/>
            <a:ext cx="4389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353312"/>
            <a:ext cx="914400" cy="64008"/>
          </a:xfrm>
          <a:prstGeom prst="rect">
            <a:avLst/>
          </a:prstGeom>
          <a:solidFill>
            <a:srgbClr val="E67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85800" y="1645920"/>
            <a:ext cx="52578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645920"/>
            <a:ext cx="64008" cy="3611880"/>
          </a:xfrm>
          <a:prstGeom prst="rect">
            <a:avLst/>
          </a:prstGeom>
          <a:solidFill>
            <a:srgbClr val="E67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810512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2B3D"/>
                </a:solidFill>
                <a:latin typeface="Aptos"/>
              </a:rPr>
              <a:t>COCKEREL • WHAT WE SEE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240280"/>
            <a:ext cx="4892040" cy="2880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037"/>
                </a:solidFill>
                <a:latin typeface="Aptos"/>
              </a:rPr>
              <a:t>• He expects others to help him.
• He repeatedly asks Hyena for water, firewood and food.
• He sits in the shade while Hyena does the chores.
• He is described as admired because of his striking comb.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52578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645920"/>
            <a:ext cx="64008" cy="3611880"/>
          </a:xfrm>
          <a:prstGeom prst="rect">
            <a:avLst/>
          </a:prstGeom>
          <a:solidFill>
            <a:srgbClr val="3B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1810512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2B3D"/>
                </a:solidFill>
                <a:latin typeface="Aptos"/>
              </a:rPr>
              <a:t>HYENA • WHAT WE SEE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240280"/>
            <a:ext cx="4892040" cy="2880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037"/>
                </a:solidFill>
                <a:latin typeface="Aptos"/>
              </a:rPr>
              <a:t>• He quickly agrees to help.
• He fetches what Cockerel asks for.
• He prepares food and keeps helping.
• He describes helping Cockerel as an honour.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4864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2B3D"/>
                </a:solidFill>
                <a:latin typeface="Aptos"/>
              </a:rPr>
              <a:t>TEAM TASK: Sort each action into the character it supports. Then choose the strongest action as evidence.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5989320"/>
            <a:ext cx="10972800" cy="384048"/>
          </a:xfrm>
          <a:prstGeom prst="roundRect">
            <a:avLst/>
          </a:prstGeom>
          <a:solidFill>
            <a:srgbClr val="EE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6080760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1C2B3D"/>
                </a:solidFill>
                <a:latin typeface="Aptos"/>
              </a:rPr>
              <a:t>TEACHING STRATEGY  Evidence-card sort + justify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6080760"/>
            <a:ext cx="3383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3B8B84"/>
                </a:solidFill>
                <a:latin typeface="Aptos"/>
              </a:rPr>
              <a:t>ASSESSMENT  Teacher listens for “because” explanations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6080760"/>
            <a:ext cx="3931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45B91"/>
                </a:solidFill>
                <a:latin typeface="Aptos"/>
              </a:rPr>
              <a:t>DIFFERENTIATION  Support: pre-selected cards • Core: sort + explain • Extension: rank 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378"/>
                </a:solidFill>
                <a:latin typeface="Aptos"/>
              </a:rPr>
              <a:t>YEAR 5 • FICTION: STORIES FROM DIFFERENT CULTURES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67E36"/>
                </a:solidFill>
                <a:latin typeface="Aptos"/>
              </a:rPr>
              <a:t>SESSION 1 • THINK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B3D"/>
                </a:solidFill>
                <a:latin typeface="Aptos"/>
              </a:rPr>
              <a:t>Show, don't tell: implicit meaning</a:t>
            </a:r>
          </a:p>
        </p:txBody>
      </p:sp>
      <p:sp>
        <p:nvSpPr>
          <p:cNvPr id="5" name="Oval 4"/>
          <p:cNvSpPr/>
          <p:nvPr/>
        </p:nvSpPr>
        <p:spPr>
          <a:xfrm>
            <a:off x="11201400" y="347472"/>
            <a:ext cx="438912" cy="438912"/>
          </a:xfrm>
          <a:prstGeom prst="ellipse">
            <a:avLst/>
          </a:prstGeom>
          <a:solidFill>
            <a:srgbClr val="1C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420624"/>
            <a:ext cx="4389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353312"/>
            <a:ext cx="914400" cy="64008"/>
          </a:xfrm>
          <a:prstGeom prst="rect">
            <a:avLst/>
          </a:prstGeom>
          <a:solidFill>
            <a:srgbClr val="E67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C2B3D"/>
                </a:solidFill>
                <a:latin typeface="Aptos"/>
              </a:rPr>
              <a:t>The writer does not simply tell us “Cockerel is demanding.” We infer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2331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67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514600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E67E36"/>
                </a:solidFill>
                <a:latin typeface="Aptos"/>
              </a:rPr>
              <a:t>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971800"/>
            <a:ext cx="199339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83037"/>
                </a:solidFill>
                <a:latin typeface="Aptos"/>
              </a:rPr>
              <a:t>Cockerel asks for several things.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27248" y="288036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697378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2286000"/>
            <a:ext cx="2331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3B8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11879" y="2514600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3B8B84"/>
                </a:solidFill>
                <a:latin typeface="Aptos"/>
              </a:rPr>
              <a:t>OBSERVE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2971800"/>
            <a:ext cx="199339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83037"/>
                </a:solidFill>
                <a:latin typeface="Aptos"/>
              </a:rPr>
              <a:t>The requests keep coming.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70448" y="288036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697378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286000"/>
            <a:ext cx="2331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74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5080" y="2514600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745B91"/>
                </a:solidFill>
                <a:latin typeface="Aptos"/>
              </a:rPr>
              <a:t>INFER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971800"/>
            <a:ext cx="199339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83037"/>
                </a:solidFill>
                <a:latin typeface="Aptos"/>
              </a:rPr>
              <a:t>He may be demanding / dependent.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13648" y="288036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697378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0" y="2286000"/>
            <a:ext cx="2331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498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98280" y="2514600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498B5B"/>
                </a:solidFill>
                <a:latin typeface="Aptos"/>
              </a:rPr>
              <a:t>PROVE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25712" y="2971800"/>
            <a:ext cx="199339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83037"/>
                </a:solidFill>
                <a:latin typeface="Aptos"/>
              </a:rPr>
              <a:t>Use another action to strengthen the idea.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754880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67E36"/>
                </a:solidFill>
                <a:latin typeface="Aptos"/>
              </a:rPr>
              <a:t>PAIR TALK: Could the same action suggest more than one interpretation? Explain.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5989320"/>
            <a:ext cx="10972800" cy="384048"/>
          </a:xfrm>
          <a:prstGeom prst="roundRect">
            <a:avLst/>
          </a:prstGeom>
          <a:solidFill>
            <a:srgbClr val="EE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9808" y="6080760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1C2B3D"/>
                </a:solidFill>
                <a:latin typeface="Aptos"/>
              </a:rPr>
              <a:t>TEACHING STRATEGY  Inference ladder + paired interpretation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77639" y="6080760"/>
            <a:ext cx="3383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3B8B84"/>
                </a:solidFill>
                <a:latin typeface="Aptos"/>
              </a:rPr>
              <a:t>ASSESSMENT  Questioning: “What makes you think that?”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6080760"/>
            <a:ext cx="3931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45B91"/>
                </a:solidFill>
                <a:latin typeface="Aptos"/>
              </a:rPr>
              <a:t>DIFFERENTIATION  Support: choose from traits • Core: infer • Extension: offer alternative interpretation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378"/>
                </a:solidFill>
                <a:latin typeface="Aptos"/>
              </a:rPr>
              <a:t>YEAR 5 • FICTION: STORIES FROM DIFFERENT CULTURES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67E36"/>
                </a:solidFill>
                <a:latin typeface="Aptos"/>
              </a:rPr>
              <a:t>SESSION 1 • MAIN TASK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B3D"/>
                </a:solidFill>
                <a:latin typeface="Aptos"/>
              </a:rPr>
              <a:t>Character courtroom</a:t>
            </a:r>
          </a:p>
        </p:txBody>
      </p:sp>
      <p:sp>
        <p:nvSpPr>
          <p:cNvPr id="5" name="Oval 4"/>
          <p:cNvSpPr/>
          <p:nvPr/>
        </p:nvSpPr>
        <p:spPr>
          <a:xfrm>
            <a:off x="11201400" y="347472"/>
            <a:ext cx="438912" cy="438912"/>
          </a:xfrm>
          <a:prstGeom prst="ellipse">
            <a:avLst/>
          </a:prstGeom>
          <a:solidFill>
            <a:srgbClr val="1C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420624"/>
            <a:ext cx="4389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353312"/>
            <a:ext cx="914400" cy="64008"/>
          </a:xfrm>
          <a:prstGeom prst="rect">
            <a:avLst/>
          </a:prstGeom>
          <a:solidFill>
            <a:srgbClr val="E67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46304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C2B3D"/>
                </a:solidFill>
                <a:latin typeface="Aptos"/>
              </a:rPr>
              <a:t>Question on trial: Is Hyena simply helpful, or is there more to his character?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011680"/>
            <a:ext cx="329184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2011680"/>
            <a:ext cx="64008" cy="2651760"/>
          </a:xfrm>
          <a:prstGeom prst="rect">
            <a:avLst/>
          </a:prstGeom>
          <a:solidFill>
            <a:srgbClr val="BE4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2176272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2B3D"/>
                </a:solidFill>
                <a:latin typeface="Aptos"/>
              </a:rPr>
              <a:t>PROSECUTION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606040"/>
            <a:ext cx="2926080" cy="1920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037"/>
                </a:solidFill>
                <a:latin typeface="Aptos"/>
              </a:rPr>
              <a:t>Find evidence that could suggest Hyena is being taken advantage of.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011680"/>
            <a:ext cx="329184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34840" y="2011680"/>
            <a:ext cx="64008" cy="2651760"/>
          </a:xfrm>
          <a:prstGeom prst="rect">
            <a:avLst/>
          </a:prstGeom>
          <a:solidFill>
            <a:srgbClr val="3B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36007" y="2176272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2B3D"/>
                </a:solidFill>
                <a:latin typeface="Aptos"/>
              </a:rPr>
              <a:t>DEFENCE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7" y="2606040"/>
            <a:ext cx="2926080" cy="1920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037"/>
                </a:solidFill>
                <a:latin typeface="Aptos"/>
              </a:rPr>
              <a:t>Find evidence that shows Hyena is kind, loyal or generous.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2011680"/>
            <a:ext cx="329184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83879" y="2011680"/>
            <a:ext cx="64008" cy="2651760"/>
          </a:xfrm>
          <a:prstGeom prst="rect">
            <a:avLst/>
          </a:prstGeom>
          <a:solidFill>
            <a:srgbClr val="74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85048" y="2176272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2B3D"/>
                </a:solidFill>
                <a:latin typeface="Aptos"/>
              </a:rPr>
              <a:t>JUDGE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2606040"/>
            <a:ext cx="2926080" cy="1920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037"/>
                </a:solidFill>
                <a:latin typeface="Aptos"/>
              </a:rPr>
              <a:t>Decide which interpretation has stronger evidence — and why.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0749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67E36"/>
                </a:solidFill>
                <a:latin typeface="Aptos"/>
              </a:rPr>
              <a:t>RULE: No opinion without evidence. Every speaker must point to a specific action or line.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5989320"/>
            <a:ext cx="10972800" cy="384048"/>
          </a:xfrm>
          <a:prstGeom prst="roundRect">
            <a:avLst/>
          </a:prstGeom>
          <a:solidFill>
            <a:srgbClr val="EE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9808" y="6080760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1C2B3D"/>
                </a:solidFill>
                <a:latin typeface="Aptos"/>
              </a:rPr>
              <a:t>TEACHING STRATEGY  Mini-debate / evidence courtroom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6080760"/>
            <a:ext cx="3383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3B8B84"/>
                </a:solidFill>
                <a:latin typeface="Aptos"/>
              </a:rPr>
              <a:t>ASSESSMENT  Teacher records quality of evidence + explanation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6080760"/>
            <a:ext cx="3931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45B91"/>
                </a:solidFill>
                <a:latin typeface="Aptos"/>
              </a:rPr>
              <a:t>DIFFERENTIATION  Support: evidence bank • Core: argue • Extension: acknowledge another interpretation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378"/>
                </a:solidFill>
                <a:latin typeface="Aptos"/>
              </a:rPr>
              <a:t>YEAR 5 • FICTION: STORIES FROM DIFFERENT CULTURES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67E36"/>
                </a:solidFill>
                <a:latin typeface="Aptos"/>
              </a:rPr>
              <a:t>SESSION 1 • PLENARY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B3D"/>
                </a:solidFill>
                <a:latin typeface="Aptos"/>
              </a:rPr>
              <a:t>Evidence auction</a:t>
            </a:r>
          </a:p>
        </p:txBody>
      </p:sp>
      <p:sp>
        <p:nvSpPr>
          <p:cNvPr id="5" name="Oval 4"/>
          <p:cNvSpPr/>
          <p:nvPr/>
        </p:nvSpPr>
        <p:spPr>
          <a:xfrm>
            <a:off x="11201400" y="347472"/>
            <a:ext cx="438912" cy="438912"/>
          </a:xfrm>
          <a:prstGeom prst="ellipse">
            <a:avLst/>
          </a:prstGeom>
          <a:solidFill>
            <a:srgbClr val="1C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420624"/>
            <a:ext cx="4389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353312"/>
            <a:ext cx="914400" cy="64008"/>
          </a:xfrm>
          <a:prstGeom prst="rect">
            <a:avLst/>
          </a:prstGeom>
          <a:solidFill>
            <a:srgbClr val="E67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4630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C2B3D"/>
                </a:solidFill>
                <a:latin typeface="Aptos"/>
              </a:rPr>
              <a:t>You have 3 tokens. Spend them on the strongest evidence.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103120"/>
            <a:ext cx="5166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67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68680" y="2304288"/>
            <a:ext cx="502920" cy="502920"/>
          </a:xfrm>
          <a:prstGeom prst="ellipse">
            <a:avLst/>
          </a:prstGeom>
          <a:solidFill>
            <a:srgbClr val="E67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386584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04288"/>
            <a:ext cx="397763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83037"/>
                </a:solidFill>
                <a:latin typeface="Aptos"/>
              </a:rPr>
              <a:t>Hyena gets water when Cockerel asks.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103120"/>
            <a:ext cx="5166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3B8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355080" y="2304288"/>
            <a:ext cx="502920" cy="502920"/>
          </a:xfrm>
          <a:prstGeom prst="ellipse">
            <a:avLst/>
          </a:prstGeom>
          <a:solidFill>
            <a:srgbClr val="3B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2386584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2304288"/>
            <a:ext cx="397763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83037"/>
                </a:solidFill>
                <a:latin typeface="Aptos"/>
              </a:rPr>
              <a:t>Hyena gets firewood when Cockerel asks.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429000"/>
            <a:ext cx="5166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74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68680" y="3630168"/>
            <a:ext cx="502920" cy="502920"/>
          </a:xfrm>
          <a:prstGeom prst="ellipse">
            <a:avLst/>
          </a:prstGeom>
          <a:solidFill>
            <a:srgbClr val="74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3712463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630168"/>
            <a:ext cx="397763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83037"/>
                </a:solidFill>
                <a:latin typeface="Aptos"/>
              </a:rPr>
              <a:t>Hyena keeps doing chores and preparing food.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429000"/>
            <a:ext cx="5166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498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355080" y="3630168"/>
            <a:ext cx="502920" cy="502920"/>
          </a:xfrm>
          <a:prstGeom prst="ellipse">
            <a:avLst/>
          </a:prstGeom>
          <a:solidFill>
            <a:srgbClr val="49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5080" y="3712463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630168"/>
            <a:ext cx="397763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83037"/>
                </a:solidFill>
                <a:latin typeface="Aptos"/>
              </a:rPr>
              <a:t>Hyena says helping is an honour.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16636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67E36"/>
                </a:solidFill>
                <a:latin typeface="Aptos"/>
              </a:rPr>
              <a:t>PAIR EXPLANATION: “This is strong evidence because…”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5989320"/>
            <a:ext cx="10972800" cy="384048"/>
          </a:xfrm>
          <a:prstGeom prst="roundRect">
            <a:avLst/>
          </a:prstGeom>
          <a:solidFill>
            <a:srgbClr val="EE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9808" y="6080760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1C2B3D"/>
                </a:solidFill>
                <a:latin typeface="Aptos"/>
              </a:rPr>
              <a:t>TEACHING STRATEGY  Evidence ranking + justification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77639" y="6080760"/>
            <a:ext cx="3383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3B8B84"/>
                </a:solidFill>
                <a:latin typeface="Aptos"/>
              </a:rPr>
              <a:t>ASSESSMENT  Exit discussion reveals evidence quality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6080760"/>
            <a:ext cx="3931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45B91"/>
                </a:solidFill>
                <a:latin typeface="Aptos"/>
              </a:rPr>
              <a:t>DIFFERENTIATION  Support: choose + sentence frame • Core: justify • Extension: compare two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378"/>
                </a:solidFill>
                <a:latin typeface="Aptos"/>
              </a:rPr>
              <a:t>YEAR 5 • FICTION: STORIES FROM DIFFERENT CULTURES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0BE4C"/>
                </a:solidFill>
                <a:latin typeface="Aptos"/>
              </a:rPr>
              <a:t>SESSION 1 EXIT TICKET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9601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What can you infer about ONE character?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98755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D2E8EF"/>
                </a:solidFill>
                <a:latin typeface="Aptos"/>
              </a:rPr>
              <a:t>My character is __________ because __________.
One piece of evidence is __________.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67E36"/>
                </a:solidFill>
                <a:latin typeface="Aptos"/>
              </a:rPr>
              <a:t>BONUS: What is another possible interpretation?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97880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TEACHER LOOK-FOR  • trait + accurate evidence + inference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67E36"/>
                </a:solidFill>
                <a:latin typeface="Aptos"/>
              </a:rPr>
              <a:t>SESSION 2 • STARTER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B3D"/>
                </a:solidFill>
                <a:latin typeface="Aptos"/>
              </a:rPr>
              <a:t>Retrieval relay</a:t>
            </a:r>
          </a:p>
        </p:txBody>
      </p:sp>
      <p:sp>
        <p:nvSpPr>
          <p:cNvPr id="5" name="Oval 4"/>
          <p:cNvSpPr/>
          <p:nvPr/>
        </p:nvSpPr>
        <p:spPr>
          <a:xfrm>
            <a:off x="11201400" y="347472"/>
            <a:ext cx="438912" cy="438912"/>
          </a:xfrm>
          <a:prstGeom prst="ellipse">
            <a:avLst/>
          </a:prstGeom>
          <a:solidFill>
            <a:srgbClr val="1C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420624"/>
            <a:ext cx="4389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353312"/>
            <a:ext cx="914400" cy="64008"/>
          </a:xfrm>
          <a:prstGeom prst="rect">
            <a:avLst/>
          </a:prstGeom>
          <a:solidFill>
            <a:srgbClr val="E67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481328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C2B3D"/>
                </a:solidFill>
                <a:latin typeface="Aptos"/>
              </a:rPr>
              <a:t>Four corners. One minute per corner. Teams rotate.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057400"/>
            <a:ext cx="5212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2057400"/>
            <a:ext cx="64008" cy="1234440"/>
          </a:xfrm>
          <a:prstGeom prst="rect">
            <a:avLst/>
          </a:prstGeom>
          <a:solidFill>
            <a:srgbClr val="E67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2221992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2B3D"/>
                </a:solidFill>
                <a:latin typeface="Aptos"/>
              </a:rPr>
              <a:t>1 • FABLE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651760"/>
            <a:ext cx="4846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037"/>
                </a:solidFill>
                <a:latin typeface="Aptos"/>
              </a:rPr>
              <a:t>Write 3 features of a fable.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057400"/>
            <a:ext cx="5212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2057400"/>
            <a:ext cx="64008" cy="1234440"/>
          </a:xfrm>
          <a:prstGeom prst="rect">
            <a:avLst/>
          </a:prstGeom>
          <a:solidFill>
            <a:srgbClr val="3B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19088" y="2221992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2B3D"/>
                </a:solidFill>
                <a:latin typeface="Aptos"/>
              </a:rPr>
              <a:t>2 • VOCAB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651760"/>
            <a:ext cx="4846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037"/>
                </a:solidFill>
                <a:latin typeface="Aptos"/>
              </a:rPr>
              <a:t>Explain parched + famished.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657600"/>
            <a:ext cx="5212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3657600"/>
            <a:ext cx="64008" cy="1234440"/>
          </a:xfrm>
          <a:prstGeom prst="rect">
            <a:avLst/>
          </a:prstGeom>
          <a:solidFill>
            <a:srgbClr val="74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" y="3822191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2B3D"/>
                </a:solidFill>
                <a:latin typeface="Aptos"/>
              </a:rPr>
              <a:t>3 • CHARACTERS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251960"/>
            <a:ext cx="4846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037"/>
                </a:solidFill>
                <a:latin typeface="Aptos"/>
              </a:rPr>
              <a:t>Give one trait for Cockerel + one for Hyena.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657600"/>
            <a:ext cx="5212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3657600"/>
            <a:ext cx="64008" cy="1234440"/>
          </a:xfrm>
          <a:prstGeom prst="rect">
            <a:avLst/>
          </a:prstGeom>
          <a:solidFill>
            <a:srgbClr val="49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19088" y="3822191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2B3D"/>
                </a:solidFill>
                <a:latin typeface="Aptos"/>
              </a:rPr>
              <a:t>4 •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251960"/>
            <a:ext cx="4846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037"/>
                </a:solidFill>
                <a:latin typeface="Aptos"/>
              </a:rPr>
              <a:t>Write one action that proves a trait.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486400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67E36"/>
                </a:solidFill>
                <a:latin typeface="Aptos"/>
              </a:rPr>
              <a:t>TEAM RULE: The next person must improve or add to the previous answer.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5989320"/>
            <a:ext cx="10972800" cy="384048"/>
          </a:xfrm>
          <a:prstGeom prst="roundRect">
            <a:avLst/>
          </a:prstGeom>
          <a:solidFill>
            <a:srgbClr val="EE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9808" y="6080760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1C2B3D"/>
                </a:solidFill>
                <a:latin typeface="Aptos"/>
              </a:rPr>
              <a:t>TEACHING STRATEGY  Retrieval relay + collaborative build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77639" y="6080760"/>
            <a:ext cx="3383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3B8B84"/>
                </a:solidFill>
                <a:latin typeface="Aptos"/>
              </a:rPr>
              <a:t>ASSESSMENT  Teacher scans responses for misconceptions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6080760"/>
            <a:ext cx="3931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45B91"/>
                </a:solidFill>
                <a:latin typeface="Aptos"/>
              </a:rPr>
              <a:t>DIFFERENTIATION  Support: word bank • Core: retrieve • Extension: add evidence + explanation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378"/>
                </a:solidFill>
                <a:latin typeface="Aptos"/>
              </a:rPr>
              <a:t>YEAR 5 • FICTION: STORIES FROM DIFFERENT CULTURES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67E36"/>
                </a:solidFill>
                <a:latin typeface="Aptos"/>
              </a:rPr>
              <a:t>SESSION 2 • VOCABULARY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B3D"/>
                </a:solidFill>
                <a:latin typeface="Aptos"/>
              </a:rPr>
              <a:t>Context challenge: which word fits?</a:t>
            </a:r>
          </a:p>
        </p:txBody>
      </p:sp>
      <p:sp>
        <p:nvSpPr>
          <p:cNvPr id="5" name="Oval 4"/>
          <p:cNvSpPr/>
          <p:nvPr/>
        </p:nvSpPr>
        <p:spPr>
          <a:xfrm>
            <a:off x="11201400" y="347472"/>
            <a:ext cx="438912" cy="438912"/>
          </a:xfrm>
          <a:prstGeom prst="ellipse">
            <a:avLst/>
          </a:prstGeom>
          <a:solidFill>
            <a:srgbClr val="1C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420624"/>
            <a:ext cx="4389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353312"/>
            <a:ext cx="914400" cy="64008"/>
          </a:xfrm>
          <a:prstGeom prst="rect">
            <a:avLst/>
          </a:prstGeom>
          <a:solidFill>
            <a:srgbClr val="E67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51663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67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67E36"/>
                </a:solidFill>
                <a:latin typeface="Apto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783080"/>
            <a:ext cx="4251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83037"/>
                </a:solidFill>
                <a:latin typeface="Aptos"/>
              </a:rPr>
              <a:t>After walking in the hot sun, Cockerel says he could drink a bucket.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25880" y="2514600"/>
            <a:ext cx="1143000" cy="34747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99032" y="2587752"/>
            <a:ext cx="9966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E67E36"/>
                </a:solidFill>
                <a:latin typeface="Aptos"/>
              </a:rPr>
              <a:t>PARCHED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600200"/>
            <a:ext cx="51663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3B8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182880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B8B84"/>
                </a:solidFill>
                <a:latin typeface="Aptos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1783080"/>
            <a:ext cx="4251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83037"/>
                </a:solidFill>
                <a:latin typeface="Aptos"/>
              </a:rPr>
              <a:t>Cockerel says he could eat a whole horse.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12280" y="2514600"/>
            <a:ext cx="1143000" cy="34747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85432" y="2587752"/>
            <a:ext cx="9966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3B8B84"/>
                </a:solidFill>
                <a:latin typeface="Aptos"/>
              </a:rPr>
              <a:t>FAMISHED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474720"/>
            <a:ext cx="51663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74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370332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745B91"/>
                </a:solidFill>
                <a:latin typeface="Aptos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657600"/>
            <a:ext cx="4251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83037"/>
                </a:solidFill>
                <a:latin typeface="Aptos"/>
              </a:rPr>
              <a:t>People respected Cockerel because of his striking appearance.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25880" y="4389120"/>
            <a:ext cx="1143000" cy="34747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399032" y="4462272"/>
            <a:ext cx="9966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745B91"/>
                </a:solidFill>
                <a:latin typeface="Aptos"/>
              </a:rPr>
              <a:t>ADMIRED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3474720"/>
            <a:ext cx="51663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498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55080" y="370332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98B5B"/>
                </a:solidFill>
                <a:latin typeface="Aptos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3657600"/>
            <a:ext cx="4251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83037"/>
                </a:solidFill>
                <a:latin typeface="Aptos"/>
              </a:rPr>
              <a:t>Hyena completes jobs around Cockerel’s home.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12280" y="4389120"/>
            <a:ext cx="1143000" cy="34747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85432" y="4462272"/>
            <a:ext cx="9966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498B5B"/>
                </a:solidFill>
                <a:latin typeface="Aptos"/>
              </a:rPr>
              <a:t>CHORES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48640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2B3D"/>
                </a:solidFill>
                <a:latin typeface="Aptos"/>
              </a:rPr>
              <a:t>CHALLENGE: Write a new context sentence for ONE word without using its definition.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5989320"/>
            <a:ext cx="10972800" cy="384048"/>
          </a:xfrm>
          <a:prstGeom prst="roundRect">
            <a:avLst/>
          </a:prstGeom>
          <a:solidFill>
            <a:srgbClr val="EE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9808" y="6080760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1C2B3D"/>
                </a:solidFill>
                <a:latin typeface="Aptos"/>
              </a:rPr>
              <a:t>TEACHING STRATEGY  Context matching + peer checking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77639" y="6080760"/>
            <a:ext cx="3383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3B8B84"/>
                </a:solidFill>
                <a:latin typeface="Aptos"/>
              </a:rPr>
              <a:t>ASSESSMENT  Mini-whiteboards + peer accuracy check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2360" y="6080760"/>
            <a:ext cx="3931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45B91"/>
                </a:solidFill>
                <a:latin typeface="Aptos"/>
              </a:rPr>
              <a:t>DIFFERENTIATION  Support: glossary • Core: choose + justify • Extension: create context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378"/>
                </a:solidFill>
                <a:latin typeface="Aptos"/>
              </a:rPr>
              <a:t>YEAR 5 • FICTION: STORIES FROM DIFFERENT CULTURES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67E36"/>
                </a:solidFill>
                <a:latin typeface="Aptos"/>
              </a:rPr>
              <a:t>SESSION 2 • MAIN TASK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B3D"/>
                </a:solidFill>
                <a:latin typeface="Aptos"/>
              </a:rPr>
              <a:t>Evidence relay: prove the trait</a:t>
            </a:r>
          </a:p>
        </p:txBody>
      </p:sp>
      <p:sp>
        <p:nvSpPr>
          <p:cNvPr id="5" name="Oval 4"/>
          <p:cNvSpPr/>
          <p:nvPr/>
        </p:nvSpPr>
        <p:spPr>
          <a:xfrm>
            <a:off x="11201400" y="347472"/>
            <a:ext cx="438912" cy="438912"/>
          </a:xfrm>
          <a:prstGeom prst="ellipse">
            <a:avLst/>
          </a:prstGeom>
          <a:solidFill>
            <a:srgbClr val="1C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420624"/>
            <a:ext cx="4389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353312"/>
            <a:ext cx="914400" cy="64008"/>
          </a:xfrm>
          <a:prstGeom prst="rect">
            <a:avLst/>
          </a:prstGeom>
          <a:solidFill>
            <a:srgbClr val="E67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46304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C2B3D"/>
                </a:solidFill>
                <a:latin typeface="Aptos"/>
              </a:rPr>
              <a:t>Each team receives a trait. Find TWO different pieces of evidence.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057400"/>
            <a:ext cx="33375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3B8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304288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3B8B84"/>
                </a:solidFill>
                <a:latin typeface="Aptos"/>
              </a:rPr>
              <a:t>HELPFUL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057400"/>
            <a:ext cx="33375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67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2304288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E67E36"/>
                </a:solidFill>
                <a:latin typeface="Aptos"/>
              </a:rPr>
              <a:t>DEPENDENT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2057400"/>
            <a:ext cx="33375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498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0" y="2304288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498B5B"/>
                </a:solidFill>
                <a:latin typeface="Aptos"/>
              </a:rPr>
              <a:t>KIND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383280"/>
            <a:ext cx="33375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BE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3630168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BE4C43"/>
                </a:solidFill>
                <a:latin typeface="Aptos"/>
              </a:rPr>
              <a:t>DEMANDING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383280"/>
            <a:ext cx="33375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74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26280" y="3630168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745B91"/>
                </a:solidFill>
                <a:latin typeface="Aptos"/>
              </a:rPr>
              <a:t>LOYAL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3383280"/>
            <a:ext cx="33375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F0B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0" y="3630168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0BE4C"/>
                </a:solidFill>
                <a:latin typeface="Aptos"/>
              </a:rPr>
              <a:t>SELF-CENTRED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8920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67E36"/>
                </a:solidFill>
                <a:latin typeface="Aptos"/>
              </a:rPr>
              <a:t>RELAY RULE: Evidence 2 must be DIFFERENT from Evidence 1.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34924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2B3D"/>
                </a:solidFill>
                <a:latin typeface="Aptos"/>
              </a:rPr>
              <a:t>Then explain: “This shows that…”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5989320"/>
            <a:ext cx="10972800" cy="384048"/>
          </a:xfrm>
          <a:prstGeom prst="roundRect">
            <a:avLst/>
          </a:prstGeom>
          <a:solidFill>
            <a:srgbClr val="EE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9808" y="6080760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1C2B3D"/>
                </a:solidFill>
                <a:latin typeface="Aptos"/>
              </a:rPr>
              <a:t>TEACHING STRATEGY  Collaborative evidence relay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77639" y="6080760"/>
            <a:ext cx="3383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3B8B84"/>
                </a:solidFill>
                <a:latin typeface="Aptos"/>
              </a:rPr>
              <a:t>ASSESSMENT  Teacher checks evidence is distinct + relevant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6080760"/>
            <a:ext cx="3931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45B91"/>
                </a:solidFill>
                <a:latin typeface="Aptos"/>
              </a:rPr>
              <a:t>DIFFERENTIATION  Support: evidence bank • Core: find 2 • Extension: rank strongest + justify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378"/>
                </a:solidFill>
                <a:latin typeface="Aptos"/>
              </a:rPr>
              <a:t>YEAR 5 • FICTION: STORIES FROM DIFFERENT CULTURES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67E36"/>
                </a:solidFill>
                <a:latin typeface="Aptos"/>
              </a:rPr>
              <a:t>SESSION 2 • SPEAKING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B3D"/>
                </a:solidFill>
                <a:latin typeface="Aptos"/>
              </a:rPr>
              <a:t>Hot-seat the characters</a:t>
            </a:r>
          </a:p>
        </p:txBody>
      </p:sp>
      <p:sp>
        <p:nvSpPr>
          <p:cNvPr id="5" name="Oval 4"/>
          <p:cNvSpPr/>
          <p:nvPr/>
        </p:nvSpPr>
        <p:spPr>
          <a:xfrm>
            <a:off x="11201400" y="347472"/>
            <a:ext cx="438912" cy="438912"/>
          </a:xfrm>
          <a:prstGeom prst="ellipse">
            <a:avLst/>
          </a:prstGeom>
          <a:solidFill>
            <a:srgbClr val="1C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420624"/>
            <a:ext cx="4389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353312"/>
            <a:ext cx="914400" cy="64008"/>
          </a:xfrm>
          <a:prstGeom prst="rect">
            <a:avLst/>
          </a:prstGeom>
          <a:solidFill>
            <a:srgbClr val="E67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46304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C2B3D"/>
                </a:solidFill>
                <a:latin typeface="Aptos"/>
              </a:rPr>
              <a:t>One student becomes Cockerel. Another becomes Hyena. The class interviews them.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057400"/>
            <a:ext cx="51663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2057400"/>
            <a:ext cx="64008" cy="1280160"/>
          </a:xfrm>
          <a:prstGeom prst="rect">
            <a:avLst/>
          </a:prstGeom>
          <a:solidFill>
            <a:srgbClr val="E67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2221992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2B3D"/>
                </a:solidFill>
                <a:latin typeface="Aptos"/>
              </a:rPr>
              <a:t>QUESTION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651760"/>
            <a:ext cx="4800600" cy="548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037"/>
                </a:solidFill>
                <a:latin typeface="Aptos"/>
              </a:rPr>
              <a:t>Why do you ask Hyena to do so many things?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057400"/>
            <a:ext cx="51663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2200" y="2057400"/>
            <a:ext cx="64008" cy="1280160"/>
          </a:xfrm>
          <a:prstGeom prst="rect">
            <a:avLst/>
          </a:prstGeom>
          <a:solidFill>
            <a:srgbClr val="3B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73368" y="2221992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2B3D"/>
                </a:solidFill>
                <a:latin typeface="Aptos"/>
              </a:rPr>
              <a:t>QUESTION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2651760"/>
            <a:ext cx="4800600" cy="548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037"/>
                </a:solidFill>
                <a:latin typeface="Aptos"/>
              </a:rPr>
              <a:t>Why do you keep helping Cockerel?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657600"/>
            <a:ext cx="51663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3657600"/>
            <a:ext cx="64008" cy="1280160"/>
          </a:xfrm>
          <a:prstGeom prst="rect">
            <a:avLst/>
          </a:prstGeom>
          <a:solidFill>
            <a:srgbClr val="74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" y="3822191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2B3D"/>
                </a:solidFill>
                <a:latin typeface="Aptos"/>
              </a:rPr>
              <a:t>QUESTION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251960"/>
            <a:ext cx="4800600" cy="548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037"/>
                </a:solidFill>
                <a:latin typeface="Aptos"/>
              </a:rPr>
              <a:t>How do you feel about your friendship?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57600"/>
            <a:ext cx="51663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72200" y="3657600"/>
            <a:ext cx="64008" cy="1280160"/>
          </a:xfrm>
          <a:prstGeom prst="rect">
            <a:avLst/>
          </a:prstGeom>
          <a:solidFill>
            <a:srgbClr val="49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73368" y="3822191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2B3D"/>
                </a:solidFill>
                <a:latin typeface="Aptos"/>
              </a:rPr>
              <a:t>QUESTION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4251960"/>
            <a:ext cx="4800600" cy="548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037"/>
                </a:solidFill>
                <a:latin typeface="Aptos"/>
              </a:rPr>
              <a:t>What might your actions make other characters think?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486400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67E36"/>
                </a:solidFill>
                <a:latin typeface="Aptos"/>
              </a:rPr>
              <a:t>AUDIENCE JOB: After each answer, name the evidence that supports it.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5989320"/>
            <a:ext cx="10972800" cy="384048"/>
          </a:xfrm>
          <a:prstGeom prst="roundRect">
            <a:avLst/>
          </a:prstGeom>
          <a:solidFill>
            <a:srgbClr val="EE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9808" y="6080760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1C2B3D"/>
                </a:solidFill>
                <a:latin typeface="Aptos"/>
              </a:rPr>
              <a:t>TEACHING STRATEGY  Hot seating + accountable talk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77639" y="6080760"/>
            <a:ext cx="3383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3B8B84"/>
                </a:solidFill>
                <a:latin typeface="Aptos"/>
              </a:rPr>
              <a:t>ASSESSMENT  Listen for inference supported by text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6080760"/>
            <a:ext cx="3931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45B91"/>
                </a:solidFill>
                <a:latin typeface="Aptos"/>
              </a:rPr>
              <a:t>DIFFERENTIATION  Support: question cards • Core: respond in role • Extension: answer with 2 evidence points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378"/>
                </a:solidFill>
                <a:latin typeface="Aptos"/>
              </a:rPr>
              <a:t>YEAR 5 • FICTION: STORIES FROM DIFFERENT CULTURES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67E36"/>
                </a:solidFill>
                <a:latin typeface="Aptos"/>
              </a:rPr>
              <a:t>SESSION 2 • THINK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B3D"/>
                </a:solidFill>
                <a:latin typeface="Aptos"/>
              </a:rPr>
              <a:t>Adjective detective: choose, then prove</a:t>
            </a:r>
          </a:p>
        </p:txBody>
      </p:sp>
      <p:sp>
        <p:nvSpPr>
          <p:cNvPr id="5" name="Oval 4"/>
          <p:cNvSpPr/>
          <p:nvPr/>
        </p:nvSpPr>
        <p:spPr>
          <a:xfrm>
            <a:off x="11201400" y="347472"/>
            <a:ext cx="438912" cy="438912"/>
          </a:xfrm>
          <a:prstGeom prst="ellipse">
            <a:avLst/>
          </a:prstGeom>
          <a:solidFill>
            <a:srgbClr val="1C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420624"/>
            <a:ext cx="4389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353312"/>
            <a:ext cx="914400" cy="64008"/>
          </a:xfrm>
          <a:prstGeom prst="rect">
            <a:avLst/>
          </a:prstGeom>
          <a:solidFill>
            <a:srgbClr val="E67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83037"/>
                </a:solidFill>
                <a:latin typeface="Aptos"/>
              </a:rPr>
              <a:t>Possible character traits from the textbook task: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011680"/>
            <a:ext cx="19659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2084832"/>
            <a:ext cx="181965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BE4C43"/>
                </a:solidFill>
                <a:latin typeface="Aptos"/>
              </a:rPr>
              <a:t>SELFISH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2011680"/>
            <a:ext cx="19659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99232" y="2084832"/>
            <a:ext cx="181965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E67E36"/>
                </a:solidFill>
                <a:latin typeface="Aptos"/>
              </a:rPr>
              <a:t>GREEDY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66360" y="2011680"/>
            <a:ext cx="19659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39512" y="2084832"/>
            <a:ext cx="181965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3B8B84"/>
                </a:solidFill>
                <a:latin typeface="Aptos"/>
              </a:rPr>
              <a:t>HELPFUL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2011680"/>
            <a:ext cx="19659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79792" y="2084832"/>
            <a:ext cx="181965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498B5B"/>
                </a:solidFill>
                <a:latin typeface="Aptos"/>
              </a:rPr>
              <a:t>KIND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46920" y="2011680"/>
            <a:ext cx="19659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720072" y="2084832"/>
            <a:ext cx="181965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0BE4C"/>
                </a:solidFill>
                <a:latin typeface="Aptos"/>
              </a:rPr>
              <a:t>GENEROUS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926080"/>
            <a:ext cx="19659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8952" y="2999232"/>
            <a:ext cx="181965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745B91"/>
                </a:solidFill>
                <a:latin typeface="Aptos"/>
              </a:rPr>
              <a:t>ARROGANT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26080" y="2926080"/>
            <a:ext cx="19659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999232" y="2999232"/>
            <a:ext cx="181965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BE4C43"/>
                </a:solidFill>
                <a:latin typeface="Aptos"/>
              </a:rPr>
              <a:t>DEMANDING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66360" y="2926080"/>
            <a:ext cx="19659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39512" y="2999232"/>
            <a:ext cx="181965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3B8B84"/>
                </a:solidFill>
                <a:latin typeface="Aptos"/>
              </a:rPr>
              <a:t>THOUGHTFUL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06640" y="2926080"/>
            <a:ext cx="19659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79792" y="2999232"/>
            <a:ext cx="181965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E67E36"/>
                </a:solidFill>
                <a:latin typeface="Aptos"/>
              </a:rPr>
              <a:t>LAZY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46920" y="2926080"/>
            <a:ext cx="19659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720072" y="2999232"/>
            <a:ext cx="181965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498B5B"/>
                </a:solidFill>
                <a:latin typeface="Aptos"/>
              </a:rPr>
              <a:t>HARD-WORKING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16052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67E36"/>
                </a:solidFill>
                <a:latin typeface="Aptos"/>
              </a:rPr>
              <a:t>SORT → JUSTIFY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572000"/>
            <a:ext cx="9875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2B3D"/>
                </a:solidFill>
                <a:latin typeface="Aptos"/>
              </a:rPr>
              <a:t>1. Choose adjectives that fit Cockerel.
2. Choose adjectives that fit Hyena.
3. Put a ★ beside the trait you can prove most strongly.
4. Give TWO pieces of evidence.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5989320"/>
            <a:ext cx="10972800" cy="384048"/>
          </a:xfrm>
          <a:prstGeom prst="roundRect">
            <a:avLst/>
          </a:prstGeom>
          <a:solidFill>
            <a:srgbClr val="EE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49808" y="6080760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1C2B3D"/>
                </a:solidFill>
                <a:latin typeface="Aptos"/>
              </a:rPr>
              <a:t>TEACHING STRATEGY  Adjective sort + evidence justification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77639" y="6080760"/>
            <a:ext cx="3383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3B8B84"/>
                </a:solidFill>
                <a:latin typeface="Aptos"/>
              </a:rPr>
              <a:t>ASSESSMENT  Teacher samples oral reasoning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52360" y="6080760"/>
            <a:ext cx="3931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45B91"/>
                </a:solidFill>
                <a:latin typeface="Aptos"/>
              </a:rPr>
              <a:t>DIFFERENTIATION  Support: 4 preselected traits • Core: full sort • Extension: discuss ambiguity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378"/>
                </a:solidFill>
                <a:latin typeface="Aptos"/>
              </a:rPr>
              <a:t>YEAR 5 • FICTION: STORIES FROM DIFFERENT CULTURES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67E36"/>
                </a:solidFill>
                <a:latin typeface="Aptos"/>
              </a:rPr>
              <a:t>SESSION 2 • INFERENCE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B3D"/>
                </a:solidFill>
                <a:latin typeface="Aptos"/>
              </a:rPr>
              <a:t>One action can carry more than one meaning</a:t>
            </a:r>
          </a:p>
        </p:txBody>
      </p:sp>
      <p:sp>
        <p:nvSpPr>
          <p:cNvPr id="5" name="Oval 4"/>
          <p:cNvSpPr/>
          <p:nvPr/>
        </p:nvSpPr>
        <p:spPr>
          <a:xfrm>
            <a:off x="11201400" y="347472"/>
            <a:ext cx="438912" cy="438912"/>
          </a:xfrm>
          <a:prstGeom prst="ellipse">
            <a:avLst/>
          </a:prstGeom>
          <a:solidFill>
            <a:srgbClr val="1C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420624"/>
            <a:ext cx="4389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353312"/>
            <a:ext cx="914400" cy="64008"/>
          </a:xfrm>
          <a:prstGeom prst="rect">
            <a:avLst/>
          </a:prstGeom>
          <a:solidFill>
            <a:srgbClr val="E67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463040"/>
            <a:ext cx="9875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C2B3D"/>
                </a:solidFill>
                <a:latin typeface="Aptos"/>
              </a:rPr>
              <a:t>Example: Hyena repeatedly completes Cockerel’s requests.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057400"/>
            <a:ext cx="324612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2057400"/>
            <a:ext cx="64008" cy="2423160"/>
          </a:xfrm>
          <a:prstGeom prst="rect">
            <a:avLst/>
          </a:prstGeom>
          <a:solidFill>
            <a:srgbClr val="3B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2221992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2B3D"/>
                </a:solidFill>
                <a:latin typeface="Aptos"/>
              </a:rPr>
              <a:t>INTERPRETATION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651760"/>
            <a:ext cx="2880360" cy="1691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037"/>
                </a:solidFill>
                <a:latin typeface="Aptos"/>
              </a:rPr>
              <a:t>Hyena is kind and generous.
Evidence: he keeps helping and says it is an honour.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2057400"/>
            <a:ext cx="324612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80560" y="2057400"/>
            <a:ext cx="64008" cy="2423160"/>
          </a:xfrm>
          <a:prstGeom prst="rect">
            <a:avLst/>
          </a:prstGeom>
          <a:solidFill>
            <a:srgbClr val="E67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81728" y="2221992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2B3D"/>
                </a:solidFill>
                <a:latin typeface="Aptos"/>
              </a:rPr>
              <a:t>INTERPRETATION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2651760"/>
            <a:ext cx="2880360" cy="1691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037"/>
                </a:solidFill>
                <a:latin typeface="Aptos"/>
              </a:rPr>
              <a:t>Hyena may be too willing to serve Cockerel.
Evidence: he becomes exhausted and neglects his own family.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2057400"/>
            <a:ext cx="324612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75320" y="2057400"/>
            <a:ext cx="64008" cy="2423160"/>
          </a:xfrm>
          <a:prstGeom prst="rect">
            <a:avLst/>
          </a:prstGeom>
          <a:solidFill>
            <a:srgbClr val="74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76488" y="2221992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2B3D"/>
                </a:solidFill>
                <a:latin typeface="Aptos"/>
              </a:rPr>
              <a:t>BEST THINKING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6488" y="2651760"/>
            <a:ext cx="2880360" cy="1691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037"/>
                </a:solidFill>
                <a:latin typeface="Aptos"/>
              </a:rPr>
              <a:t>Both interpretations can be discussed.
A strong reader weighs the evidence instead of rushing to one label.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98348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2B3D"/>
                </a:solidFill>
                <a:latin typeface="Aptos"/>
              </a:rPr>
              <a:t>PAIR PROMPT: Which interpretation is better supported by the whole extract? Use TWO pieces of evidence.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5989320"/>
            <a:ext cx="10972800" cy="384048"/>
          </a:xfrm>
          <a:prstGeom prst="roundRect">
            <a:avLst/>
          </a:prstGeom>
          <a:solidFill>
            <a:srgbClr val="EE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9808" y="6080760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1C2B3D"/>
                </a:solidFill>
                <a:latin typeface="Aptos"/>
              </a:rPr>
              <a:t>TEACHING STRATEGY  Interpretation comparison + evidence weighing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6080760"/>
            <a:ext cx="3383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3B8B84"/>
                </a:solidFill>
                <a:latin typeface="Aptos"/>
              </a:rPr>
              <a:t>ASSESSMENT  Teacher probes “What else in the text?”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6080760"/>
            <a:ext cx="3931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45B91"/>
                </a:solidFill>
                <a:latin typeface="Aptos"/>
              </a:rPr>
              <a:t>DIFFERENTIATION  Support: compare prepared evidence • Core: choose + prove • Extension: counterargument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378"/>
                </a:solidFill>
                <a:latin typeface="Aptos"/>
              </a:rPr>
              <a:t>YEAR 5 • FICTION: STORIES FROM DIFFERENT CULTURES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67E36"/>
                </a:solidFill>
                <a:latin typeface="Aptos"/>
              </a:rPr>
              <a:t>SESSION 2 • WRITE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B3D"/>
                </a:solidFill>
                <a:latin typeface="Aptos"/>
              </a:rPr>
              <a:t>Build a developed response</a:t>
            </a:r>
          </a:p>
        </p:txBody>
      </p:sp>
      <p:sp>
        <p:nvSpPr>
          <p:cNvPr id="5" name="Oval 4"/>
          <p:cNvSpPr/>
          <p:nvPr/>
        </p:nvSpPr>
        <p:spPr>
          <a:xfrm>
            <a:off x="11201400" y="347472"/>
            <a:ext cx="438912" cy="438912"/>
          </a:xfrm>
          <a:prstGeom prst="ellipse">
            <a:avLst/>
          </a:prstGeom>
          <a:solidFill>
            <a:srgbClr val="1C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420624"/>
            <a:ext cx="4389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19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353312"/>
            <a:ext cx="914400" cy="64008"/>
          </a:xfrm>
          <a:prstGeom prst="rect">
            <a:avLst/>
          </a:prstGeom>
          <a:solidFill>
            <a:srgbClr val="E67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C2B3D"/>
                </a:solidFill>
                <a:latin typeface="Aptos"/>
              </a:rPr>
              <a:t>Question: What do the characters’ actions suggest about their personalities?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11680"/>
            <a:ext cx="1600200" cy="347472"/>
          </a:xfrm>
          <a:prstGeom prst="roundRect">
            <a:avLst/>
          </a:prstGeom>
          <a:solidFill>
            <a:srgbClr val="E67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2084832"/>
            <a:ext cx="14538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048256"/>
            <a:ext cx="8778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83037"/>
                </a:solidFill>
                <a:latin typeface="Aptos"/>
              </a:rPr>
              <a:t>Hyena is helpful and generous.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724912"/>
            <a:ext cx="1600200" cy="347472"/>
          </a:xfrm>
          <a:prstGeom prst="roundRect">
            <a:avLst/>
          </a:prstGeom>
          <a:solidFill>
            <a:srgbClr val="3B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2798064"/>
            <a:ext cx="14538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2761488"/>
            <a:ext cx="8778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83037"/>
                </a:solidFill>
                <a:latin typeface="Aptos"/>
              </a:rPr>
              <a:t>He repeatedly gets what Cockerel asks for.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438144"/>
            <a:ext cx="1600200" cy="347472"/>
          </a:xfrm>
          <a:prstGeom prst="roundRect">
            <a:avLst/>
          </a:prstGeom>
          <a:solidFill>
            <a:srgbClr val="74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" y="3511296"/>
            <a:ext cx="14538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EXPLANATION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3474720"/>
            <a:ext cx="8778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83037"/>
                </a:solidFill>
                <a:latin typeface="Aptos"/>
              </a:rPr>
              <a:t>This suggests that he is willing to put another character’s needs first.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151376"/>
            <a:ext cx="1600200" cy="347472"/>
          </a:xfrm>
          <a:prstGeom prst="roundRect">
            <a:avLst/>
          </a:prstGeom>
          <a:solidFill>
            <a:srgbClr val="49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4224528"/>
            <a:ext cx="14538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SECOND 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4187952"/>
            <a:ext cx="8778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83037"/>
                </a:solidFill>
                <a:latin typeface="Aptos"/>
              </a:rPr>
              <a:t>He says helping Cockerel is an honour, even after becoming exhausted.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864608"/>
            <a:ext cx="1600200" cy="347472"/>
          </a:xfrm>
          <a:prstGeom prst="roundRect">
            <a:avLst/>
          </a:prstGeom>
          <a:solidFill>
            <a:srgbClr val="F0B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4672" y="4937760"/>
            <a:ext cx="14538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CONSEQUENCE / MEANING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4901184"/>
            <a:ext cx="8778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83037"/>
                </a:solidFill>
                <a:latin typeface="Aptos"/>
              </a:rPr>
              <a:t>This may show loyalty, but it also suggests that the friendship is not balanced.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806440"/>
            <a:ext cx="10332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67E36"/>
                </a:solidFill>
                <a:latin typeface="Aptos"/>
              </a:rPr>
              <a:t>NOTICE: trait → evidence → explanation → second evidence → deeper inference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5989320"/>
            <a:ext cx="10972800" cy="384048"/>
          </a:xfrm>
          <a:prstGeom prst="roundRect">
            <a:avLst/>
          </a:prstGeom>
          <a:solidFill>
            <a:srgbClr val="EE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9808" y="6080760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1C2B3D"/>
                </a:solidFill>
                <a:latin typeface="Aptos"/>
              </a:rPr>
              <a:t>TEACHING STRATEGY  I do → We do → You 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77639" y="6080760"/>
            <a:ext cx="3383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3B8B84"/>
                </a:solidFill>
                <a:latin typeface="Aptos"/>
              </a:rPr>
              <a:t>ASSESSMENT  Teacher models one sentence; students improve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6080760"/>
            <a:ext cx="3931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45B91"/>
                </a:solidFill>
                <a:latin typeface="Aptos"/>
              </a:rPr>
              <a:t>DIFFERENTIATION  Support: sentence frames • Core: 5 linked sentences • Extension: alternative interpretation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378"/>
                </a:solidFill>
                <a:latin typeface="Aptos"/>
              </a:rPr>
              <a:t>YEAR 5 • FICTION: STORIES FROM DIFFERENT CULTURES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67E36"/>
                </a:solidFill>
                <a:latin typeface="Aptos"/>
              </a:rPr>
              <a:t>SESSION 2 • INDEPENDENT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B3D"/>
                </a:solidFill>
                <a:latin typeface="Aptos"/>
              </a:rPr>
              <a:t>Your turn: Fable Detective paragraph</a:t>
            </a:r>
          </a:p>
        </p:txBody>
      </p:sp>
      <p:sp>
        <p:nvSpPr>
          <p:cNvPr id="5" name="Oval 4"/>
          <p:cNvSpPr/>
          <p:nvPr/>
        </p:nvSpPr>
        <p:spPr>
          <a:xfrm>
            <a:off x="11201400" y="347472"/>
            <a:ext cx="438912" cy="438912"/>
          </a:xfrm>
          <a:prstGeom prst="ellipse">
            <a:avLst/>
          </a:prstGeom>
          <a:solidFill>
            <a:srgbClr val="1C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420624"/>
            <a:ext cx="4389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353312"/>
            <a:ext cx="914400" cy="64008"/>
          </a:xfrm>
          <a:prstGeom prst="rect">
            <a:avLst/>
          </a:prstGeom>
          <a:solidFill>
            <a:srgbClr val="E67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C2B3D"/>
                </a:solidFill>
                <a:latin typeface="Aptos"/>
              </a:rPr>
              <a:t>Choose ONE character: Cockerel OR Hyena.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965960"/>
            <a:ext cx="525780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1965960"/>
            <a:ext cx="64008" cy="3063240"/>
          </a:xfrm>
          <a:prstGeom prst="rect">
            <a:avLst/>
          </a:prstGeom>
          <a:solidFill>
            <a:srgbClr val="E67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2130552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2B3D"/>
                </a:solidFill>
                <a:latin typeface="Aptos"/>
              </a:rPr>
              <a:t>WRITE 5–6 CONNECTED SENTENCES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560320"/>
            <a:ext cx="4892040" cy="233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037"/>
                </a:solidFill>
                <a:latin typeface="Aptos"/>
              </a:rPr>
              <a:t>Include:
✓ a clear character trait
✓ TWO accurate pieces of evidence
✓ explanation of what each shows
✓ a deeper inference / consequence
✓ at least ONE glossary word
✓ a concluding idea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965960"/>
            <a:ext cx="525780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965960"/>
            <a:ext cx="64008" cy="3063240"/>
          </a:xfrm>
          <a:prstGeom prst="rect">
            <a:avLst/>
          </a:prstGeom>
          <a:solidFill>
            <a:srgbClr val="3B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19088" y="2130552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2B3D"/>
                </a:solidFill>
                <a:latin typeface="Aptos"/>
              </a:rPr>
              <a:t>USE THIS THINKING FRAME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560320"/>
            <a:ext cx="4892040" cy="233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037"/>
                </a:solidFill>
                <a:latin typeface="Aptos"/>
              </a:rPr>
              <a:t>POINT: ___ is ___ because...
EVIDENCE: The text shows...
EXPLANATION: This suggests...
EVIDENCE 2: Another example is...
DEEPER MEANING: This may mean...
CONCLUSION: Overall,...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492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67E36"/>
                </a:solidFill>
                <a:latin typeface="Aptos"/>
              </a:rPr>
              <a:t>GOLDEN RULE: Don't just name a trait. Make the reader believe you.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5989320"/>
            <a:ext cx="10972800" cy="384048"/>
          </a:xfrm>
          <a:prstGeom prst="roundRect">
            <a:avLst/>
          </a:prstGeom>
          <a:solidFill>
            <a:srgbClr val="EE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8" y="6080760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1C2B3D"/>
                </a:solidFill>
                <a:latin typeface="Aptos"/>
              </a:rPr>
              <a:t>TEACHING STRATEGY  Independent writing + teacher conferencing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39" y="6080760"/>
            <a:ext cx="3383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3B8B84"/>
                </a:solidFill>
                <a:latin typeface="Aptos"/>
              </a:rPr>
              <a:t>ASSESSMENT  Live marking: evidence / inference / accuracy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6080760"/>
            <a:ext cx="3931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45B91"/>
                </a:solidFill>
                <a:latin typeface="Aptos"/>
              </a:rPr>
              <a:t>DIFFERENTIATION  Support: frame + evidence bank • Core: independent • Extension: balanced interpretation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378"/>
                </a:solidFill>
                <a:latin typeface="Aptos"/>
              </a:rPr>
              <a:t>YEAR 5 • FICTION: STORIES FROM DIFFERENT CULTURES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67E36"/>
                </a:solidFill>
                <a:latin typeface="Aptos"/>
              </a:rPr>
              <a:t>SESSION 2 • ASSESS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B3D"/>
                </a:solidFill>
                <a:latin typeface="Aptos"/>
              </a:rPr>
              <a:t>Two stars + one sharpen</a:t>
            </a:r>
          </a:p>
        </p:txBody>
      </p:sp>
      <p:sp>
        <p:nvSpPr>
          <p:cNvPr id="5" name="Oval 4"/>
          <p:cNvSpPr/>
          <p:nvPr/>
        </p:nvSpPr>
        <p:spPr>
          <a:xfrm>
            <a:off x="11201400" y="347472"/>
            <a:ext cx="438912" cy="438912"/>
          </a:xfrm>
          <a:prstGeom prst="ellipse">
            <a:avLst/>
          </a:prstGeom>
          <a:solidFill>
            <a:srgbClr val="1C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420624"/>
            <a:ext cx="4389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21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353312"/>
            <a:ext cx="914400" cy="64008"/>
          </a:xfrm>
          <a:prstGeom prst="rect">
            <a:avLst/>
          </a:prstGeom>
          <a:solidFill>
            <a:srgbClr val="E67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C2B3D"/>
                </a:solidFill>
                <a:latin typeface="Aptos"/>
              </a:rPr>
              <a:t>Swap books. Your partner is an editor, not a corrector.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011680"/>
            <a:ext cx="34290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2011680"/>
            <a:ext cx="64008" cy="3108960"/>
          </a:xfrm>
          <a:prstGeom prst="rect">
            <a:avLst/>
          </a:prstGeom>
          <a:solidFill>
            <a:srgbClr val="E67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217627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2B3D"/>
                </a:solidFill>
                <a:latin typeface="Aptos"/>
              </a:rPr>
              <a:t>★ STAR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606040"/>
            <a:ext cx="3063240" cy="2377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037"/>
                </a:solidFill>
                <a:latin typeface="Aptos"/>
              </a:rPr>
              <a:t>Circle the clearest character trait.
Why is it clear?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011680"/>
            <a:ext cx="34290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89120" y="2011680"/>
            <a:ext cx="64008" cy="3108960"/>
          </a:xfrm>
          <a:prstGeom prst="rect">
            <a:avLst/>
          </a:prstGeom>
          <a:solidFill>
            <a:srgbClr val="3B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90288" y="217627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2B3D"/>
                </a:solidFill>
                <a:latin typeface="Aptos"/>
              </a:rPr>
              <a:t>★ STAR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606040"/>
            <a:ext cx="3063240" cy="2377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037"/>
                </a:solidFill>
                <a:latin typeface="Aptos"/>
              </a:rPr>
              <a:t>Underline the strongest evidence.
Does it really prove the trait?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2011680"/>
            <a:ext cx="34290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2440" y="2011680"/>
            <a:ext cx="64008" cy="3108960"/>
          </a:xfrm>
          <a:prstGeom prst="rect">
            <a:avLst/>
          </a:prstGeom>
          <a:solidFill>
            <a:srgbClr val="74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93608" y="217627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2B3D"/>
                </a:solidFill>
                <a:latin typeface="Aptos"/>
              </a:rPr>
              <a:t>✦ SHARPEN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2606040"/>
            <a:ext cx="3063240" cy="2377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037"/>
                </a:solidFill>
                <a:latin typeface="Aptos"/>
              </a:rPr>
              <a:t>Add one question:
“How do you know?”
Suggest where the explanation could go deeper.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48640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2B3D"/>
                </a:solidFill>
                <a:latin typeface="Aptos"/>
              </a:rPr>
              <a:t>No rewriting your partner’s work for them. Give a precise next step.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5989320"/>
            <a:ext cx="10972800" cy="384048"/>
          </a:xfrm>
          <a:prstGeom prst="roundRect">
            <a:avLst/>
          </a:prstGeom>
          <a:solidFill>
            <a:srgbClr val="EE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9808" y="6080760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1C2B3D"/>
                </a:solidFill>
                <a:latin typeface="Aptos"/>
              </a:rPr>
              <a:t>TEACHING STRATEGY  Peer assessment / feedback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6080760"/>
            <a:ext cx="3383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3B8B84"/>
                </a:solidFill>
                <a:latin typeface="Aptos"/>
              </a:rPr>
              <a:t>ASSESSMENT  Success criteria checklist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6080760"/>
            <a:ext cx="3931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45B91"/>
                </a:solidFill>
                <a:latin typeface="Aptos"/>
              </a:rPr>
              <a:t>DIFFERENTIATION  Support: sentence stems • Core: evidence-based feedback • Extension: identify alternative interpretation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378"/>
                </a:solidFill>
                <a:latin typeface="Aptos"/>
              </a:rPr>
              <a:t>YEAR 5 • FICTION: STORIES FROM DIFFERENT CULTURES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67E36"/>
                </a:solidFill>
                <a:latin typeface="Aptos"/>
              </a:rPr>
              <a:t>SESSION 2 • PLENARY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B3D"/>
                </a:solidFill>
                <a:latin typeface="Aptos"/>
              </a:rPr>
              <a:t>The evidence wall</a:t>
            </a:r>
          </a:p>
        </p:txBody>
      </p:sp>
      <p:sp>
        <p:nvSpPr>
          <p:cNvPr id="5" name="Oval 4"/>
          <p:cNvSpPr/>
          <p:nvPr/>
        </p:nvSpPr>
        <p:spPr>
          <a:xfrm>
            <a:off x="11201400" y="347472"/>
            <a:ext cx="438912" cy="438912"/>
          </a:xfrm>
          <a:prstGeom prst="ellipse">
            <a:avLst/>
          </a:prstGeom>
          <a:solidFill>
            <a:srgbClr val="1C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420624"/>
            <a:ext cx="4389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22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353312"/>
            <a:ext cx="914400" cy="64008"/>
          </a:xfrm>
          <a:prstGeom prst="rect">
            <a:avLst/>
          </a:prstGeom>
          <a:solidFill>
            <a:srgbClr val="E67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46304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C2B3D"/>
                </a:solidFill>
                <a:latin typeface="Aptos"/>
              </a:rPr>
              <a:t>Complete ONE of these aloud or on a sticky note: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057400"/>
            <a:ext cx="5166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2057400"/>
            <a:ext cx="64008" cy="1234440"/>
          </a:xfrm>
          <a:prstGeom prst="rect">
            <a:avLst/>
          </a:prstGeom>
          <a:solidFill>
            <a:srgbClr val="E67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2221992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2B3D"/>
                </a:solidFill>
                <a:latin typeface="Aptos"/>
              </a:rPr>
              <a:t>I used to think…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651760"/>
            <a:ext cx="4800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037"/>
                </a:solidFill>
                <a:latin typeface="Aptos"/>
              </a:rPr>
              <a:t>Now I think…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057400"/>
            <a:ext cx="5166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2200" y="2057400"/>
            <a:ext cx="64008" cy="1234440"/>
          </a:xfrm>
          <a:prstGeom prst="rect">
            <a:avLst/>
          </a:prstGeom>
          <a:solidFill>
            <a:srgbClr val="3B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73368" y="2221992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2B3D"/>
                </a:solidFill>
                <a:latin typeface="Aptos"/>
              </a:rPr>
              <a:t>One action that reveals character is…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2651760"/>
            <a:ext cx="4800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037"/>
                </a:solidFill>
                <a:latin typeface="Aptos"/>
              </a:rPr>
              <a:t>because…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611880"/>
            <a:ext cx="5166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3611880"/>
            <a:ext cx="64008" cy="1234440"/>
          </a:xfrm>
          <a:prstGeom prst="rect">
            <a:avLst/>
          </a:prstGeom>
          <a:solidFill>
            <a:srgbClr val="74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" y="3776472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2B3D"/>
                </a:solidFill>
                <a:latin typeface="Aptos"/>
              </a:rPr>
              <a:t>A stronger interpretation is…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206240"/>
            <a:ext cx="4800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037"/>
                </a:solidFill>
                <a:latin typeface="Aptos"/>
              </a:rPr>
              <a:t>because…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11880"/>
            <a:ext cx="5166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72200" y="3611880"/>
            <a:ext cx="64008" cy="1234440"/>
          </a:xfrm>
          <a:prstGeom prst="rect">
            <a:avLst/>
          </a:prstGeom>
          <a:solidFill>
            <a:srgbClr val="49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73368" y="3776472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2B3D"/>
                </a:solidFill>
                <a:latin typeface="Aptos"/>
              </a:rPr>
              <a:t>The writer makes us infer…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4206240"/>
            <a:ext cx="4800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037"/>
                </a:solidFill>
                <a:latin typeface="Aptos"/>
              </a:rPr>
              <a:t>rather than simply telling us…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4864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67E36"/>
                </a:solidFill>
                <a:latin typeface="Aptos"/>
              </a:rPr>
              <a:t>CLASS TAKEAWAY: Good readers use evidence to build, test and revise interpretations.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5989320"/>
            <a:ext cx="10972800" cy="384048"/>
          </a:xfrm>
          <a:prstGeom prst="roundRect">
            <a:avLst/>
          </a:prstGeom>
          <a:solidFill>
            <a:srgbClr val="EE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9808" y="6080760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1C2B3D"/>
                </a:solidFill>
                <a:latin typeface="Aptos"/>
              </a:rPr>
              <a:t>TEACHING STRATEGY  Metacognitive plenary + whole-class share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77639" y="6080760"/>
            <a:ext cx="3383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3B8B84"/>
                </a:solidFill>
                <a:latin typeface="Aptos"/>
              </a:rPr>
              <a:t>ASSESSMENT  Listen for change in thinking + 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6080760"/>
            <a:ext cx="3931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45B91"/>
                </a:solidFill>
                <a:latin typeface="Aptos"/>
              </a:rPr>
              <a:t>DIFFERENTIATION  Support: complete first stem • Core: explain • Extension: challenge a class interpretation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378"/>
                </a:solidFill>
                <a:latin typeface="Aptos"/>
              </a:rPr>
              <a:t>YEAR 5 • FICTION: STORIES FROM DIFFERENT CULTURES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0BE4C"/>
                </a:solidFill>
                <a:latin typeface="Aptos"/>
              </a:rPr>
              <a:t>SESSION 2 • EXIT TICKET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Prove what you learned.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57400"/>
            <a:ext cx="9875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D2E8EF"/>
                </a:solidFill>
                <a:latin typeface="Aptos"/>
              </a:rPr>
              <a:t>1  Choose ONE character trait: ____________________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88920"/>
            <a:ext cx="9875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D2E8EF"/>
                </a:solidFill>
                <a:latin typeface="Aptos"/>
              </a:rPr>
              <a:t>2  Give ONE action that proves it: __________________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20440"/>
            <a:ext cx="9875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D2E8EF"/>
                </a:solidFill>
                <a:latin typeface="Aptos"/>
              </a:rPr>
              <a:t>3  Explain the hidden meaning: _____________________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5196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D2E8EF"/>
                </a:solidFill>
                <a:latin typeface="Aptos"/>
              </a:rPr>
              <a:t>4  One question I still have about the friendship: ______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9788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TEACHER USE: Sort exit tickets → secure / developing / needs support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67E36"/>
                </a:solidFill>
                <a:latin typeface="Aptos"/>
              </a:rPr>
              <a:t>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B3D"/>
                </a:solidFill>
                <a:latin typeface="Aptos"/>
              </a:rPr>
              <a:t>Differentiation: Core • Support • Extension</a:t>
            </a:r>
          </a:p>
        </p:txBody>
      </p:sp>
      <p:sp>
        <p:nvSpPr>
          <p:cNvPr id="5" name="Oval 4"/>
          <p:cNvSpPr/>
          <p:nvPr/>
        </p:nvSpPr>
        <p:spPr>
          <a:xfrm>
            <a:off x="11201400" y="347472"/>
            <a:ext cx="438912" cy="438912"/>
          </a:xfrm>
          <a:prstGeom prst="ellipse">
            <a:avLst/>
          </a:prstGeom>
          <a:solidFill>
            <a:srgbClr val="1C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420624"/>
            <a:ext cx="4389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24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353312"/>
            <a:ext cx="914400" cy="64008"/>
          </a:xfrm>
          <a:prstGeom prst="rect">
            <a:avLst/>
          </a:prstGeom>
          <a:solidFill>
            <a:srgbClr val="E67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35204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600200"/>
            <a:ext cx="64008" cy="4206240"/>
          </a:xfrm>
          <a:prstGeom prst="rect">
            <a:avLst/>
          </a:prstGeom>
          <a:solidFill>
            <a:srgbClr val="E67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1764792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2B3D"/>
                </a:solidFill>
                <a:latin typeface="Aptos"/>
              </a:rPr>
              <a:t>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194560"/>
            <a:ext cx="315468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037"/>
                </a:solidFill>
                <a:latin typeface="Aptos"/>
              </a:rPr>
              <a:t>• Glossary visible
• Chunked reading
• Trait bank with 4 choices
• Evidence cards already selected
• Sentence stems
• Partner rehearsal before writing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600200"/>
            <a:ext cx="35204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1600200"/>
            <a:ext cx="64008" cy="4206240"/>
          </a:xfrm>
          <a:prstGeom prst="rect">
            <a:avLst/>
          </a:prstGeom>
          <a:solidFill>
            <a:srgbClr val="3B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4568" y="1764792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2B3D"/>
                </a:solidFill>
                <a:latin typeface="Aptos"/>
              </a:rPr>
              <a:t>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194560"/>
            <a:ext cx="315468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037"/>
                </a:solidFill>
                <a:latin typeface="Aptos"/>
              </a:rPr>
              <a:t>• Independent evidence selection
• Explain rather than label
• Two pieces of evidence
• 5–6 connected sentences
• Peer feedback using success criteria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600200"/>
            <a:ext cx="35204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1600200"/>
            <a:ext cx="64008" cy="4206240"/>
          </a:xfrm>
          <a:prstGeom prst="rect">
            <a:avLst/>
          </a:prstGeom>
          <a:solidFill>
            <a:srgbClr val="74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47888" y="1764792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2B3D"/>
                </a:solidFill>
                <a:latin typeface="Aptos"/>
              </a:rPr>
              <a:t>EXTENSION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194560"/>
            <a:ext cx="315468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037"/>
                </a:solidFill>
                <a:latin typeface="Aptos"/>
              </a:rPr>
              <a:t>• Offer two interpretations
• Weigh which is better supported
• Use precise vocabulary
• Add a counterpoint
• Explain how the writer creates implicit meaning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378"/>
                </a:solidFill>
                <a:latin typeface="Aptos"/>
              </a:rPr>
              <a:t>YEAR 5 • FICTION: STORIES FROM DIFFERENT CULTURES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67E36"/>
                </a:solidFill>
                <a:latin typeface="Aptos"/>
              </a:rPr>
              <a:t>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C2B3D"/>
                </a:solidFill>
                <a:latin typeface="Aptos"/>
              </a:rPr>
              <a:t>What are we actually assessing?</a:t>
            </a:r>
          </a:p>
        </p:txBody>
      </p:sp>
      <p:sp>
        <p:nvSpPr>
          <p:cNvPr id="5" name="Oval 4"/>
          <p:cNvSpPr/>
          <p:nvPr/>
        </p:nvSpPr>
        <p:spPr>
          <a:xfrm>
            <a:off x="11201400" y="347472"/>
            <a:ext cx="438912" cy="438912"/>
          </a:xfrm>
          <a:prstGeom prst="ellipse">
            <a:avLst/>
          </a:prstGeom>
          <a:solidFill>
            <a:srgbClr val="1C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420624"/>
            <a:ext cx="4389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353312"/>
            <a:ext cx="914400" cy="64008"/>
          </a:xfrm>
          <a:prstGeom prst="rect">
            <a:avLst/>
          </a:prstGeom>
          <a:solidFill>
            <a:srgbClr val="E67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18288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514600" y="1600200"/>
            <a:ext cx="25146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120640" y="1600200"/>
            <a:ext cx="26517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909560" y="1600200"/>
            <a:ext cx="361188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1783080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C2B3D"/>
                </a:solidFill>
                <a:latin typeface="Aptos"/>
              </a:rPr>
              <a:t>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178308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037"/>
                </a:solidFill>
                <a:latin typeface="Aptos"/>
              </a:rPr>
              <a:t>Fable features + glossary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1783080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B8B84"/>
                </a:solidFill>
                <a:latin typeface="Aptos"/>
              </a:rPr>
              <a:t>Accurate recall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1783080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037"/>
                </a:solidFill>
                <a:latin typeface="Aptos"/>
              </a:rPr>
              <a:t>Starter / vocab checks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423160"/>
            <a:ext cx="1828800" cy="640080"/>
          </a:xfrm>
          <a:prstGeom prst="roundRect">
            <a:avLst/>
          </a:prstGeom>
          <a:solidFill>
            <a:srgbClr val="EE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514600" y="2423160"/>
            <a:ext cx="2514600" cy="640080"/>
          </a:xfrm>
          <a:prstGeom prst="roundRect">
            <a:avLst/>
          </a:prstGeom>
          <a:solidFill>
            <a:srgbClr val="EE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20640" y="2423160"/>
            <a:ext cx="2651760" cy="640080"/>
          </a:xfrm>
          <a:prstGeom prst="roundRect">
            <a:avLst/>
          </a:prstGeom>
          <a:solidFill>
            <a:srgbClr val="EE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909560" y="2423160"/>
            <a:ext cx="3611880" cy="640080"/>
          </a:xfrm>
          <a:prstGeom prst="roundRect">
            <a:avLst/>
          </a:prstGeom>
          <a:solidFill>
            <a:srgbClr val="EE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2606040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C2B3D"/>
                </a:solidFill>
                <a:latin typeface="Aptos"/>
              </a:rPr>
              <a:t>Reading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260604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037"/>
                </a:solidFill>
                <a:latin typeface="Aptos"/>
              </a:rPr>
              <a:t>Relevant 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2606040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B8B84"/>
                </a:solidFill>
                <a:latin typeface="Aptos"/>
              </a:rPr>
              <a:t>Specific, text-based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2606040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037"/>
                </a:solidFill>
                <a:latin typeface="Aptos"/>
              </a:rPr>
              <a:t>Evidence relay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246120"/>
            <a:ext cx="18288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2514600" y="3246120"/>
            <a:ext cx="25146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20640" y="3246120"/>
            <a:ext cx="26517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909560" y="3246120"/>
            <a:ext cx="361188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7240" y="3429000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C2B3D"/>
                </a:solidFill>
                <a:latin typeface="Aptos"/>
              </a:rPr>
              <a:t>Inference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51760" y="342900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037"/>
                </a:solidFill>
                <a:latin typeface="Aptos"/>
              </a:rPr>
              <a:t>Trait → evidence → meaning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57800" y="3429000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B8B84"/>
                </a:solidFill>
                <a:latin typeface="Aptos"/>
              </a:rPr>
              <a:t>Explains hidden meaning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3429000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037"/>
                </a:solidFill>
                <a:latin typeface="Aptos"/>
              </a:rPr>
              <a:t>Hot seat / courtroom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069080"/>
            <a:ext cx="1828800" cy="640080"/>
          </a:xfrm>
          <a:prstGeom prst="roundRect">
            <a:avLst/>
          </a:prstGeom>
          <a:solidFill>
            <a:srgbClr val="EE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2514600" y="4069080"/>
            <a:ext cx="2514600" cy="640080"/>
          </a:xfrm>
          <a:prstGeom prst="roundRect">
            <a:avLst/>
          </a:prstGeom>
          <a:solidFill>
            <a:srgbClr val="EE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20640" y="4069080"/>
            <a:ext cx="2651760" cy="640080"/>
          </a:xfrm>
          <a:prstGeom prst="roundRect">
            <a:avLst/>
          </a:prstGeom>
          <a:solidFill>
            <a:srgbClr val="EE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7909560" y="4069080"/>
            <a:ext cx="3611880" cy="640080"/>
          </a:xfrm>
          <a:prstGeom prst="roundRect">
            <a:avLst/>
          </a:prstGeom>
          <a:solidFill>
            <a:srgbClr val="EE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77240" y="4251960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C2B3D"/>
                </a:solidFill>
                <a:latin typeface="Aptos"/>
              </a:rPr>
              <a:t>Writing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51760" y="425196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037"/>
                </a:solidFill>
                <a:latin typeface="Aptos"/>
              </a:rPr>
              <a:t>Connected response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57800" y="4251960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B8B84"/>
                </a:solidFill>
                <a:latin typeface="Aptos"/>
              </a:rPr>
              <a:t>Evidence + explanation + depth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4251960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037"/>
                </a:solidFill>
                <a:latin typeface="Aptos"/>
              </a:rPr>
              <a:t>Independent paragraph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4892040"/>
            <a:ext cx="18288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2514600" y="4892040"/>
            <a:ext cx="25146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5120640" y="4892040"/>
            <a:ext cx="265176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7909560" y="4892040"/>
            <a:ext cx="361188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77240" y="5074920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C2B3D"/>
                </a:solidFill>
                <a:latin typeface="Aptos"/>
              </a:rPr>
              <a:t>Metacognition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51760" y="507492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037"/>
                </a:solidFill>
                <a:latin typeface="Aptos"/>
              </a:rPr>
              <a:t>Can improve an idea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57800" y="5074920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B8B84"/>
                </a:solidFill>
                <a:latin typeface="Aptos"/>
              </a:rPr>
              <a:t>Responds to feedback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46720" y="5074920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83037"/>
                </a:solidFill>
                <a:latin typeface="Aptos"/>
              </a:rPr>
              <a:t>Exit ticket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5897880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67E36"/>
                </a:solidFill>
                <a:latin typeface="Aptos"/>
              </a:rPr>
              <a:t>FORMATIVE ASSESSMENT THROUGHOUT: circulate → question → probe → capture misconceptions → adjust.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97378"/>
                </a:solidFill>
                <a:latin typeface="Aptos"/>
              </a:rPr>
              <a:t>YEAR 5 • FICTION: STORIES FROM DIFFERENT CULTURES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0BE4C"/>
                </a:solidFill>
                <a:latin typeface="Aptos"/>
              </a:rPr>
              <a:t>THE BIG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8961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tos"/>
              </a:rPr>
              <a:t>Readers become detectives.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331720"/>
            <a:ext cx="7772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D2E8EF"/>
                </a:solidFill>
                <a:latin typeface="Aptos"/>
              </a:rPr>
              <a:t>We don't stop at “What happened?”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9718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67E36"/>
                </a:solidFill>
                <a:latin typeface="Aptos"/>
              </a:rPr>
              <a:t>We ask: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42900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“What does it show — and how do I know?”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98932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YEAR 5 • WHY COCKERELS CROW • PART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2707</Words>
  <Application>Microsoft Office PowerPoint</Application>
  <PresentationFormat>Widescreen</PresentationFormat>
  <Paragraphs>382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pc</cp:lastModifiedBy>
  <cp:revision>2</cp:revision>
  <dcterms:created xsi:type="dcterms:W3CDTF">2013-01-27T09:14:16Z</dcterms:created>
  <dcterms:modified xsi:type="dcterms:W3CDTF">2026-09-24T19:21:48Z</dcterms:modified>
  <cp:category/>
</cp:coreProperties>
</file>