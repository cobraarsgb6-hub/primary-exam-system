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1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Two-session lesson. Session 1: Proverb Detectives. Session 2: From Proverb to Cartoon.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2651760" cy="2651760"/>
          </a:xfrm>
          <a:prstGeom prst="round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548640"/>
            <a:ext cx="2651760" cy="265176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0" y="54864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5 · UNIT 1 · LESSON 1.5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A TALE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a short saying → to a big life lesson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1920240" cy="54864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proverbs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14600" y="3840480"/>
            <a:ext cx="1920240" cy="54864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Literal vs figurative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3840480"/>
            <a:ext cx="1920240" cy="54864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 the message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9400" y="3840480"/>
            <a:ext cx="1920240" cy="548640"/>
          </a:xfrm>
          <a:prstGeom prst="roundRect">
            <a:avLst>
              <a:gd name="adj" fmla="val 2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3840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 4-panel cartoon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STARTER: What does it teach?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&amp; talk: which sentence teaches a lesson? How do you know?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sun is shining.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552" y="155448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286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pencil is blue.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9904" y="155448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9904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28600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put off until tomorrow what you can do today.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🤔 Which one teaches a lesson?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— Never put off until tomorrow what you can do today.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teaches us: do something important now instead of delaying it.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 proverb is more than just a sentence - it gives a message, lesson or piece of advice.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 DETECTIVE 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85950" cy="3291840"/>
          </a:xfrm>
          <a:prstGeom prst="roundRect">
            <a:avLst>
              <a:gd name="adj" fmla="val 7273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116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6116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short, memorable saying that gives advice or teaches a lesson.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71750" y="1188720"/>
            <a:ext cx="1885950" cy="3291840"/>
          </a:xfrm>
          <a:prstGeom prst="roundRect">
            <a:avLst>
              <a:gd name="adj" fmla="val 727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08910" y="1280160"/>
            <a:ext cx="16116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08910" y="1874520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08910" y="2331720"/>
            <a:ext cx="16116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exact meaning of the words.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86300" y="1188720"/>
            <a:ext cx="1885950" cy="3291840"/>
          </a:xfrm>
          <a:prstGeom prst="roundRect">
            <a:avLst>
              <a:gd name="adj" fmla="val 727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3460" y="1280160"/>
            <a:ext cx="16116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23460" y="1874520"/>
            <a:ext cx="1611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FIGURATIVE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23460" y="2331720"/>
            <a:ext cx="16116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meaning that is not exactly the words - it uses an image or idea.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00850" y="1188720"/>
            <a:ext cx="1885950" cy="3291840"/>
          </a:xfrm>
          <a:prstGeom prst="roundRect">
            <a:avLst>
              <a:gd name="adj" fmla="val 7273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  <p:txBody>
          <a:bodyPr/>
          <a:lstStyle/>
          <a:p>
            <a:pPr algn="ctr"/>
            <a:endParaRPr lang="en-US" b="1" dirty="0">
              <a:solidFill>
                <a:srgbClr val="1B2A49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algn="ctr"/>
            <a:endParaRPr lang="en-US" b="1" dirty="0">
              <a:solidFill>
                <a:srgbClr val="1B2A49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algn="ctr"/>
            <a:r>
              <a:rPr lang="en-US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938010" y="1214660"/>
            <a:ext cx="16116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938010" y="2331720"/>
            <a:ext cx="161163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clues + what you already know to work out meaning.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 = SHORT SAYING + BIGGER LESSON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 OR NOT?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sentence gives general advice or teaches a lesson?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classroom has twenty desks.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6304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463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Maya opened her book.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3464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8346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rain started at noon.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83464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8346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speak louder than words.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— Actions speak louder than words.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gives a general lesson: what people DO can be more important than what they SAY.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others only give information about one particular situation.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3-STEP DETECTIVE METHOD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the words carefully.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3552" y="12801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3552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🎒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273552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Could these words mean something more?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9904" y="128016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89904" y="1371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2651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MESSAGE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lesson in your own words.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MEANING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→ Pair → Share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LITERAL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words mean exactly what they say.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“The cup is on the table.”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The cup is actually on the table.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2651760"/>
          </a:xfrm>
          <a:prstGeom prst="roundRect">
            <a:avLst>
              <a:gd name="adj" fmla="val 5172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FIGURATIVE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945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words communicate another idea, using an image or idea.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CHECK: “Make hay while the sun shines.” Literal or figurative? 🤔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“Make hay while the sun shines.” creates an image of making hay while the weather is good.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the real lesson is: use a good opportunity while you have the chance.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PROVERBS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ONE and explain it with your partner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11580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66251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put off until tomorrow what you can do today.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What does it literally say?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What does it really mean?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What lesson does it teach?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5180" y="1226171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373877" y="1810074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that glitters is not gold.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514600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What does it literally say?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What does it really mean?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What lesson does it teach?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160" y="1257300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33160" y="174879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Beauty is in the eye of the beholder.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3160" y="2341285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What does it literally say?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What does it really mean?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What lesson does it teach?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ANSWERS: THE MESSAGES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Possible answers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put off until tomorrow…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today what you can instead of delaying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760" y="1463040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13760" y="205740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that glitters is not gold.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13760" y="2514600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may look valuable or impressive but may not really be valuable.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2590800" cy="3200400"/>
          </a:xfrm>
          <a:prstGeom prst="roundRect">
            <a:avLst>
              <a:gd name="adj" fmla="val 5294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160" y="1463040"/>
            <a:ext cx="231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33160" y="2057400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Beauty is in the eye of the beholder.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33160" y="2514600"/>
            <a:ext cx="2316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people can have different ideas about what is beautiful.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PROVERBS &amp; FABLES: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ARE THEY CONNECTED?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about The Ant and the Grasshopper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377440"/>
          </a:xfrm>
          <a:prstGeom prst="roundRect">
            <a:avLst>
              <a:gd name="adj" fmla="val 5769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🐜 A FABLE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story with characters, events, a problem, consequences and a lesson.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2377440"/>
          </a:xfrm>
          <a:prstGeom prst="roundRect">
            <a:avLst>
              <a:gd name="adj" fmla="val 576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A PROVERB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short saying that communicates a lesson.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FABLE → SHOWS the lesson     PROVERB → SUMMARISES the lesson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2: THE SPECIAL PROVERB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“Make hay while the sun shines”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🌞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“This day is too nice to work hard cutting hay.”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3552" y="137160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🌦️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“Oh no! I hope it's only a shower!”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371600"/>
            <a:ext cx="2606040" cy="2194560"/>
          </a:xfrm>
          <a:prstGeom prst="roundRect">
            <a:avLst>
              <a:gd name="adj" fmla="val 625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9904" y="14173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🌧️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22402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“The harvest is ruined. Now we'll have no hay this winter.”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THINK: What lesson does this situation teach?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good opportunity while you have the chance.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characters had a good opportunity to prepare.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They did not use it. Then the opportunity disappeared.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why the proverb is figurative.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APOSTROPHES HAVE TWO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✂️ JOB 1: CONTRACTION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 letters have been removed.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not → won't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cannot → can't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→ it's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not → didn't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JOB 2: POSSESSION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Shows something belongs to someone.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Ant's plan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Grasshopper's song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Mia's book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ask: What job is the apostrophe doing here?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THE APOSTROPHE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The Ant and the Grasshopper: what is its job?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“…summer's day…”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2128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“…won't last forever…”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2212848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2128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540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“…didn't last…”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3054096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0540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95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“…the grasshopper's song…”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3895344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895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ANSWERS: WHAT IS THE APOSTROPHE DOING?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“…summer's day…”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1371600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0" y="13716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POSSESSION / relationship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128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“…won't last forever…”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2212848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2128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 (will not)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540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“…didn't last…”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3054096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5409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CONTRACTION (did not)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95344"/>
            <a:ext cx="4206240" cy="713232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95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“…the grasshopper's song…”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3895344"/>
            <a:ext cx="3840480" cy="713232"/>
          </a:xfrm>
          <a:prstGeom prst="roundRect">
            <a:avLst>
              <a:gd name="adj" fmla="val 1923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89534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POSSESSION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CHALLENGE: PROVERB → CARTOON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first: proverb, real meaning, character, situation, problem, result of the choice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651760"/>
          </a:xfrm>
          <a:prstGeom prst="roundRect">
            <a:avLst>
              <a:gd name="adj" fmla="val 6977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SET-UP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the situation.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65960" cy="2651760"/>
          </a:xfrm>
          <a:prstGeom prst="roundRect">
            <a:avLst>
              <a:gd name="adj" fmla="val 697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508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happens.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65960" cy="2651760"/>
          </a:xfrm>
          <a:prstGeom prst="roundRect">
            <a:avLst>
              <a:gd name="adj" fmla="val 6977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508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because of the choice?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65960" cy="2651760"/>
          </a:xfrm>
          <a:prstGeom prst="roundRect">
            <a:avLst>
              <a:gd name="adj" fmla="val 6977"/>
            </a:avLst>
          </a:prstGeom>
          <a:solidFill>
            <a:srgbClr val="B8A9FF"/>
          </a:solidFill>
          <a:ln w="12700">
            <a:solidFill>
              <a:srgbClr val="B8A9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5087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331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697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1546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the message clear.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the lesson: don't just write the proverb four times!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BF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“Never put off until tomorrow what you can do today.”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Mia sees her science project.</a:t>
            </a:r>
            <a:endParaRPr lang="en-US" sz="1600" dirty="0"/>
          </a:p>
          <a:p>
            <a:pPr marL="0" indent="0" algn="ctr">
              <a:buNone/>
            </a:pPr>
            <a:r>
              <a:rPr lang="en-US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“I'll do it later.”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188720" y="1234440"/>
            <a:ext cx="457200" cy="45720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📺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Mia watches TV instead.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⏳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deadline arrives.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“Oh no! I needed more time!”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4960" y="1234440"/>
            <a:ext cx="457200" cy="45720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49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65960" cy="27432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5544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46888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Mia learns: “I should do important jobs before it's too late.”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1234440"/>
            <a:ext cx="457200" cy="45720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situation · choice · consequence · lesson · dialogue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&amp; CHECK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YOUR CHALLENGE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🟢 SUPPORT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proverb means ____.                                                    My character wants ____.                                             The problem is ____. Because of this, ____.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CORE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4-panel cartoon showing the lesson.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🟣 EXTENSION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twist - the ending must still make the message clear.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YOUR CARTOON READY?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002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I chose a proverb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I explained its meaning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My cartoon shows the lesson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Events are in logical order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My dialogue makes sense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I used apostrophes correctly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 I checked spelling &amp; punctuation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TICKET: WHAT IS A PROVERB?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51560"/>
          </a:xfrm>
          <a:prstGeom prst="roundRect">
            <a:avLst>
              <a:gd name="adj" fmla="val 13043"/>
            </a:avLst>
          </a:prstGeom>
          <a:solidFill>
            <a:srgbClr val="2E3F66"/>
          </a:solidFill>
          <a:ln w="12700">
            <a:solidFill>
              <a:srgbClr val="2E3F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short saying that teaches a general lesson or gives advice.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051560"/>
          </a:xfrm>
          <a:prstGeom prst="roundRect">
            <a:avLst>
              <a:gd name="adj" fmla="val 13043"/>
            </a:avLst>
          </a:prstGeom>
          <a:solidFill>
            <a:srgbClr val="2E3F66"/>
          </a:solidFill>
          <a:ln w="12700">
            <a:solidFill>
              <a:srgbClr val="2E3F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887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1188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long story with many characters.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023360" cy="1051560"/>
          </a:xfrm>
          <a:prstGeom prst="roundRect">
            <a:avLst>
              <a:gd name="adj" fmla="val 13043"/>
            </a:avLst>
          </a:prstGeom>
          <a:solidFill>
            <a:srgbClr val="2E3F66"/>
          </a:solidFill>
          <a:ln w="12700">
            <a:solidFill>
              <a:srgbClr val="2E3F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68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sentence that must always be taken literally.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023360" cy="1051560"/>
          </a:xfrm>
          <a:prstGeom prst="roundRect">
            <a:avLst>
              <a:gd name="adj" fmla="val 13043"/>
            </a:avLst>
          </a:prstGeom>
          <a:solidFill>
            <a:srgbClr val="2E3F66"/>
          </a:solidFill>
          <a:ln w="12700">
            <a:solidFill>
              <a:srgbClr val="2E3F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688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468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funny line used only in cartoons.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🌟 EXTRA CHALLENGE: Explain the meaning of one proverb without repeating the exact words.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C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ANSWER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144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— A short saying that teaches a general lesson or gives advice.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proverb is a short, memorable saying that teaches a general lesson.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2A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🕵️ YOU'RE A PROVERB DETECTIVE! Tell your partner: one proverb · its real meaning · a situation where you could use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1295</Words>
  <Application>Microsoft Office PowerPoint</Application>
  <PresentationFormat>On-screen Show (16:9)</PresentationFormat>
  <Paragraphs>259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2</cp:revision>
  <dcterms:created xsi:type="dcterms:W3CDTF">2026-09-30T20:15:57Z</dcterms:created>
  <dcterms:modified xsi:type="dcterms:W3CDTF">2026-09-30T20:28:48Z</dcterms:modified>
</cp:coreProperties>
</file>