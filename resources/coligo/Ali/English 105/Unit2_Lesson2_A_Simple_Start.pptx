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4AF2C6F6-3670-CE82-911E-B39FD02CD75C}">
          <p14:sldIdLst>
            <p14:sldId id="256"/>
            <p14:sldId id="257"/>
            <p14:sldId id="258"/>
            <p14:sldId id="259"/>
          </p14:sldIdLst>
        </p14:section>
        <p14:section name="Part 1: Timelines" id="{C614EE73-C941-9AC0-546A-FD148702B818}">
          <p14:sldIdLst>
            <p14:sldId id="260"/>
            <p14:sldId id="261"/>
            <p14:sldId id="262"/>
            <p14:sldId id="263"/>
            <p14:sldId id="264"/>
            <p14:sldId id="265"/>
            <p14:sldId id="266"/>
            <p14:sldId id="267"/>
            <p14:sldId id="268"/>
            <p14:sldId id="269"/>
            <p14:sldId id="270"/>
          </p14:sldIdLst>
        </p14:section>
        <p14:section name="Part 2: Sentences" id="{D01996A7-C07B-C15D-97FF-1DEF6CFF1627}">
          <p14:sldIdLst>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Lst>
        </p14:section>
        <p14:section name="Wrap-up" id="{74D2E282-9287-5A17-A0D1-346FC36E8C7F}">
          <p14:sldIdLst>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7" d="100"/>
          <a:sy n="147" d="100"/>
        </p:scale>
        <p:origin x="56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7246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2 · Lesson 2 (textbook 2.2 'A simple start', pages 49–50). This lesson builds on 'A brief history of space' from the previous lesson. Flow: Getting started → Part 1 timelines (Activity 1) → Part 2 simple and compound sentences (Activity 2) → exit ticket and homework.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 aloud. Students can self-assess against these five steps at the end of the lesson.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say a sentence for each word, then feedback. Prompt with: 'The text is ______ because ______.' The words are the features of 'A brief history of space' (session 2.1).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Accept any accurate sentence that gives a reason. 'Text tense' means the tense the text is written in: the past tense (launched, became, built).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identify and order the main events from 'A brief history of space' on a timeline, then describe them to a partner.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TIME-line. Show a simple timeline of the school day on the board. Textbook definition: 'a line that shows the time and the order in which events have happened'.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TIME-line. Show a simple timeline of the school day on the board. Textbook definition: 'a line that shows the time and the order in which events have happened'.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kron-uh-LOJ-ih-kul. 'Chrono' = time (as in chronometer). Opposite: jumbled or random order. Link to 'sequenced' from the starter.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kron-uh-LOJ-ih-kul. 'Chrono' = time (as in chronometer). Opposite: jumbled or random order. Link to 'sequenced' from the starter.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1a. Pairs re-read 'A brief history of space' and make a timeline. Dates and key words only – no full sentences. Early finishers add a small picture for each event. Provide strips of paper or a long landscape sheet.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note-taking. Keep dates, names and key verbs; cut small words such as 'the', 'his' and 'that'. Ask students to turn another sentence from the text into a note, e.g. '1957 – USSR – Sputnik I, first artificial satellite'.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Activity 1a (part 1 of 3). Students' timelines will vary in length. Check: dates are in chronological order, notes use key words only, and facts match the text.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Activity 1a (part 2 of 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Activity 1a (part 3 of 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1b. Take turns: one student describes the events using the sentence starters while the partner checks the order and the dates. Swap roles. Encourage full sentences from the notes, using past tense.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explore simple and compound sentences, learn the FANBOYS connectives, then identify, rewrite, join and write compound sentences.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page 50. Read the Language focus box together. A simple sentence has one subject, one finite verb and deals with one idea. Most simple sentences also have an object.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page 50. A compound sentence joins two simple sentences with a connective, so it is a multi-clause sentence. Add a comma before the connective.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the grammar terms together on one sentence. Ask students to point to the subject, finite verb and object in each clause, then the connective. Textbook definitions: finite verb = a verb that can stand on its own without a helping verb (it has a subject and tense). A clause is a group of words with a subject and a finite verb; the connective is the word that joins the two clauses.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tip (textbook page 51): use FANBOYS to remember the connectives that make a compound sentence. Chant it and match each letter to a meaning. 'For' means 'because' here. 'Nor' follows a negative and the verb comes before the subject: 'nor have I spoken to one'.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each connective's job. For = a reason, and it means 'because': the sentence can be rewritten with 'because' (The astronauts trained for years because the mission was dangerous). Note 'because' is not one of the FANBOYS, and with 'because' the sentence is no longer compound; 'for' is more formal and always follows a comma. And = adds. Nor = adds another negative: after 'nor' the verb comes first ('nor did they have rockets'). But = a contrast. Ask students to say what each connective is doing before reading the example.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 a choice. Yet = a surprising contrast (it is old, but we would not expect it to work). So = a result of the first clause. Discuss the difference between but and yet: yet is more surprising.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does not make a compound sentence. With 'because' the second part cannot stand alone as a sentence, so the sentence is complex (a main clause plus a clause that depends on it). Test: can each part stand alone? Also, a 'because' clause can move to the front ('Because the mission was dangerous, the astronauts trained for years'); a FANBOYS clause cannot. Both kinds are multi-clause sentences, but this lesson focuses on compound sentences.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Multiple-choice check. Ask students to count the clauses (finite verbs) in each option before choosing. Answer C: one clause = simple sentence. A and D are compound (and / but). B uses 'because', so it is complex, not simple or compound.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Multiple-choice check. Ask students to count the clauses (finite verbs) in each option before choosing. Answer C: one clause = simple sentence. A and D are compound (and / but). B uses 'because', so it is complex, not simple or compound.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Multiple-choice check. Answer B: two clauses (studied… / they were fascinated…) joined by 'for'. A and C are simple. D uses 'because', which gives a complex sentence, not a compound one.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Multiple-choice check. Answer B: two clauses (studied… / they were fascinated…) joined by 'for'. A and C are simple. D uses 'because', which gives a complex sentence, not a compound one.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before Activity 2a. Pairs sort the four sentences and say how they know (look for a connective joining two clauses).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and C are simple (one subject, one finite verb, one idea). B (and) and D (but) are compound: two clauses joined by a connective.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2a. Students look back at 'A brief history of space' (session 2.1) and find examples of each type. Prompt: look for a connective joining two clauses.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sentences are used far more: the text is a timeline of facts, each event is one idea, so short simple sentences are clear. Strictly, the text has very few compound sentences (it uses separate short sentences), so we join two of its sentences with 'and'. The Galileo sentence has one subject and two verbs ('built… and used…'), which is a good discussion point about joining actions or ideas.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2b. Students rewrite each sentence, underline the verbs and highlight the connective. Add a comma before the connective. Sentence 6 uses 'nor', which changes the word order after it ('nor have I spoken').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Verbs are underlined; connectives are highlighted. Each sentence has two clauses and two finite verbs (some are verb groups such as 'can go', 'is operating', 'have met'). Check students add a comma before the connective.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2c. Students join each pair with a suitable FANBOYS connective and a comma. Discuss which connective gives the best meaning (reason, result, contrast, choice).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sensible connective with a clear meaning and a comma. Sentence 1: 'and', 'but' or 'yet' all work. Sentence 5: 'or' (a choice) or 'and' (we can do both).</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2d. Students write three compound sentences about what they learnt about the history of space. Differentiation: give sentence frames to support; challenge students to use three different connectives.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Students' versions will vary – check each has two clauses, a FANBOYS connective with a comma, accurate facts from the text and correct tense.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answer on a sticky note or mini whiteboard. Finish with the traffic-light self-assessment.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accurate answers. For Q3 check two clauses, a FANBOYS connective and a comma.</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homework (about 20–30 minutes). Tasks 1–3 are compulsory; the challenge is optional. Next lesson: share timelines and compound sentences with a partner.</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1"/>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2"/>
          </a:solidFill>
          <a:ln/>
        </p:spPr>
      </p:sp>
      <p:sp>
        <p:nvSpPr>
          <p:cNvPr id="3" name="Text 1"/>
          <p:cNvSpPr/>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chemeClr val="accent4"/>
                </a:solidFill>
              </a:rPr>
              <a:t>Year 5 · Unit 2 · Lesson 2 · A simple start</a:t>
            </a:r>
            <a:endParaRPr lang="en-US" sz="1000" dirty="0"/>
          </a:p>
        </p:txBody>
      </p:sp>
      <p:sp>
        <p:nvSpPr>
          <p:cNvPr id="4" name="Text 2"/>
          <p:cNvSpPr>
            <a:spLocks noGrp="1"/>
          </p:cNvSpPr>
          <p:nvPr>
            <p:ph type="title" idx="104" hasCustomPrompt="1"/>
          </p:nvPr>
        </p:nvSpPr>
        <p:spPr>
          <a:xfrm>
            <a:off x="457200" y="274320"/>
            <a:ext cx="694944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NSW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chemeClr val="accent6"/>
                </a:solidFill>
              </a:rPr>
              <a:t>Year 5 · Unit 2 · Lesson 2 · A simple start</a:t>
            </a:r>
            <a:endParaRPr lang="en-US" sz="1000" dirty="0"/>
          </a:p>
        </p:txBody>
      </p:sp>
      <p:sp>
        <p:nvSpPr>
          <p:cNvPr id="4" name="Text 2"/>
          <p:cNvSpPr>
            <a:spLocks noGrp="1"/>
          </p:cNvSpPr>
          <p:nvPr>
            <p:ph type="title" idx="104" hasCustomPrompt="1"/>
          </p:nvPr>
        </p:nvSpPr>
        <p:spPr>
          <a:xfrm>
            <a:off x="457200" y="274320"/>
            <a:ext cx="6949440" cy="640080"/>
          </a:xfrm>
          <a:prstGeom prst="rect">
            <a:avLst/>
          </a:prstGeom>
          <a:noFill/>
          <a:ln/>
        </p:spPr>
        <p:txBody>
          <a:bodyPr wrap="square" rtlCol="0"/>
          <a:lstStyle>
            <a:lvl1pPr marL="0" indent="0" algn="l">
              <a:buNone/>
              <a:defRPr lang="en-US" sz="3000" b="1" dirty="0">
                <a:solidFill>
                  <a:schemeClr val="accent5"/>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1"/>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esson chip"/>
          <p:cNvSpPr/>
          <p:nvPr/>
        </p:nvSpPr>
        <p:spPr>
          <a:xfrm>
            <a:off x="640080" y="594360"/>
            <a:ext cx="2651760" cy="347472"/>
          </a:xfrm>
          <a:prstGeom prst="roundRect">
            <a:avLst>
              <a:gd name="adj" fmla="val 31579"/>
            </a:avLst>
          </a:prstGeom>
          <a:solidFill>
            <a:schemeClr val="accent1"/>
          </a:solidFill>
          <a:ln w="9525">
            <a:solidFill>
              <a:schemeClr val="accent1"/>
            </a:solidFill>
            <a:prstDash val="solid"/>
          </a:ln>
        </p:spPr>
      </p:sp>
      <p:sp>
        <p:nvSpPr>
          <p:cNvPr id="3" name="Text 1"/>
          <p:cNvSpPr txBox="1"/>
          <p:nvPr/>
        </p:nvSpPr>
        <p:spPr>
          <a:xfrm>
            <a:off x="640080" y="594360"/>
            <a:ext cx="2651760" cy="347472"/>
          </a:xfrm>
          <a:prstGeom prst="rect">
            <a:avLst/>
          </a:prstGeom>
          <a:noFill/>
          <a:ln/>
        </p:spPr>
        <p:txBody>
          <a:bodyPr wrap="square" lIns="0" tIns="0" rIns="0" bIns="0" rtlCol="0" anchor="ctr"/>
          <a:lstStyle/>
          <a:p>
            <a:pPr marL="0" indent="0" algn="ctr">
              <a:buNone/>
            </a:pPr>
            <a:r>
              <a:rPr lang="en-US" sz="1300" b="1" dirty="0">
                <a:solidFill>
                  <a:schemeClr val="tx1"/>
                </a:solidFill>
              </a:rPr>
              <a:t>YEAR 5 · UNIT 2 · LESSON 2</a:t>
            </a:r>
            <a:endParaRPr lang="en-US" sz="1300" dirty="0"/>
          </a:p>
        </p:txBody>
      </p:sp>
      <p:sp>
        <p:nvSpPr>
          <p:cNvPr id="4" name="Text 2"/>
          <p:cNvSpPr txBox="1"/>
          <p:nvPr/>
        </p:nvSpPr>
        <p:spPr>
          <a:xfrm>
            <a:off x="640080" y="1188720"/>
            <a:ext cx="4572000" cy="1188720"/>
          </a:xfrm>
          <a:prstGeom prst="rect">
            <a:avLst/>
          </a:prstGeom>
          <a:noFill/>
          <a:ln/>
        </p:spPr>
        <p:txBody>
          <a:bodyPr wrap="square" lIns="0" tIns="0" rIns="0" bIns="0" rtlCol="0" anchor="t"/>
          <a:lstStyle/>
          <a:p>
            <a:pPr marL="0" indent="0">
              <a:buNone/>
            </a:pPr>
            <a:r>
              <a:rPr lang="en-US" sz="4400" b="1" dirty="0">
                <a:solidFill>
                  <a:schemeClr val="accent5"/>
                </a:solidFill>
                <a:latin typeface="+mj-lt" pitchFamily="34" charset="0"/>
                <a:ea typeface="+mj-lt" pitchFamily="34" charset="-122"/>
                <a:cs typeface="+mj-lt" pitchFamily="34" charset="-120"/>
              </a:rPr>
              <a:t>A Simple Start</a:t>
            </a:r>
            <a:endParaRPr lang="en-US" sz="4400" dirty="0"/>
          </a:p>
        </p:txBody>
      </p:sp>
      <p:sp>
        <p:nvSpPr>
          <p:cNvPr id="5" name="Text 3"/>
          <p:cNvSpPr txBox="1"/>
          <p:nvPr/>
        </p:nvSpPr>
        <p:spPr>
          <a:xfrm>
            <a:off x="640080" y="2560320"/>
            <a:ext cx="4389120" cy="822960"/>
          </a:xfrm>
          <a:prstGeom prst="rect">
            <a:avLst/>
          </a:prstGeom>
          <a:noFill/>
          <a:ln/>
        </p:spPr>
        <p:txBody>
          <a:bodyPr wrap="square" lIns="0" tIns="0" rIns="0" bIns="0" rtlCol="0" anchor="t"/>
          <a:lstStyle/>
          <a:p>
            <a:pPr marL="0" indent="0">
              <a:buNone/>
            </a:pPr>
            <a:r>
              <a:rPr lang="en-US" sz="1800" i="1" dirty="0">
                <a:solidFill>
                  <a:schemeClr val="bg1"/>
                </a:solidFill>
              </a:rPr>
              <a:t>Timelines, connectives and compound sentences</a:t>
            </a:r>
            <a:endParaRPr lang="en-US" sz="1800" dirty="0"/>
          </a:p>
        </p:txBody>
      </p:sp>
      <p:sp>
        <p:nvSpPr>
          <p:cNvPr id="6" name="Objectives panel"/>
          <p:cNvSpPr/>
          <p:nvPr/>
        </p:nvSpPr>
        <p:spPr>
          <a:xfrm>
            <a:off x="5577840" y="868680"/>
            <a:ext cx="3108960" cy="3429000"/>
          </a:xfrm>
          <a:prstGeom prst="roundRect">
            <a:avLst>
              <a:gd name="adj" fmla="val 3529"/>
            </a:avLst>
          </a:prstGeom>
          <a:solidFill>
            <a:schemeClr val="accent4"/>
          </a:solidFill>
          <a:ln w="9525">
            <a:solidFill>
              <a:schemeClr val="accent5"/>
            </a:solidFill>
            <a:prstDash val="solid"/>
          </a:ln>
          <a:effectLst>
            <a:outerShdw blurRad="76200" dist="25400" dir="5400000" algn="bl" rotWithShape="0">
              <a:srgbClr val="0E1537">
                <a:alpha val="14000"/>
              </a:srgbClr>
            </a:outerShdw>
          </a:effectLst>
        </p:spPr>
      </p:sp>
      <p:sp>
        <p:nvSpPr>
          <p:cNvPr id="7" name="Text 5"/>
          <p:cNvSpPr txBox="1"/>
          <p:nvPr/>
        </p:nvSpPr>
        <p:spPr>
          <a:xfrm>
            <a:off x="5806440" y="1051560"/>
            <a:ext cx="2743200" cy="411480"/>
          </a:xfrm>
          <a:prstGeom prst="rect">
            <a:avLst/>
          </a:prstGeom>
          <a:noFill/>
          <a:ln/>
        </p:spPr>
        <p:txBody>
          <a:bodyPr wrap="square" lIns="0" tIns="0" rIns="0" bIns="0" rtlCol="0" anchor="ctr"/>
          <a:lstStyle/>
          <a:p>
            <a:pPr marL="0" indent="0">
              <a:buNone/>
            </a:pPr>
            <a:r>
              <a:rPr lang="en-US" sz="2000" b="1" dirty="0">
                <a:solidFill>
                  <a:schemeClr val="accent5"/>
                </a:solidFill>
                <a:latin typeface="+mj-lt" pitchFamily="34" charset="0"/>
                <a:ea typeface="+mj-lt" pitchFamily="34" charset="-122"/>
                <a:cs typeface="+mj-lt" pitchFamily="34" charset="-120"/>
              </a:rPr>
              <a:t>We are going to…</a:t>
            </a:r>
            <a:endParaRPr lang="en-US" sz="2000" dirty="0"/>
          </a:p>
        </p:txBody>
      </p:sp>
      <p:sp>
        <p:nvSpPr>
          <p:cNvPr id="8" name="Text 6"/>
          <p:cNvSpPr txBox="1"/>
          <p:nvPr/>
        </p:nvSpPr>
        <p:spPr>
          <a:xfrm>
            <a:off x="5806440" y="1554480"/>
            <a:ext cx="2697480"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make notes on a timeline</a:t>
            </a:r>
            <a:endParaRPr lang="en-US" sz="1600" dirty="0"/>
          </a:p>
          <a:p>
            <a:pPr marL="342900" indent="-342900">
              <a:spcAft>
                <a:spcPts val="1000"/>
              </a:spcAft>
              <a:buSzPct val="100000"/>
              <a:buChar char="•"/>
            </a:pPr>
            <a:r>
              <a:rPr lang="en-US" sz="1600" dirty="0">
                <a:solidFill>
                  <a:schemeClr val="bg1"/>
                </a:solidFill>
              </a:rPr>
              <a:t>identify connectives</a:t>
            </a:r>
            <a:endParaRPr lang="en-US" sz="1600" dirty="0"/>
          </a:p>
          <a:p>
            <a:pPr marL="342900" indent="-342900">
              <a:spcAft>
                <a:spcPts val="1000"/>
              </a:spcAft>
              <a:buSzPct val="100000"/>
              <a:buChar char="•"/>
            </a:pPr>
            <a:r>
              <a:rPr lang="en-US" sz="1600" dirty="0">
                <a:solidFill>
                  <a:schemeClr val="bg1"/>
                </a:solidFill>
              </a:rPr>
              <a:t>write multi-clause sentences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Today’s mission</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Learning objective: I can make notes on a timeline, identify connectives and write compound sentences.</a:t>
            </a:r>
            <a:endParaRPr lang="en-US" sz="1600" dirty="0"/>
          </a:p>
        </p:txBody>
      </p:sp>
      <p:sp>
        <p:nvSpPr>
          <p:cNvPr id="5" name="Row 1"/>
          <p:cNvSpPr/>
          <p:nvPr/>
        </p:nvSpPr>
        <p:spPr>
          <a:xfrm>
            <a:off x="457200" y="1600200"/>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594360" y="1645920"/>
            <a:ext cx="365760" cy="365760"/>
          </a:xfrm>
          <a:prstGeom prst="ellipse">
            <a:avLst/>
          </a:prstGeom>
          <a:solidFill>
            <a:schemeClr val="accent1"/>
          </a:solidFill>
          <a:ln w="6350">
            <a:solidFill>
              <a:schemeClr val="accent1"/>
            </a:solidFill>
            <a:prstDash val="solid"/>
          </a:ln>
        </p:spPr>
      </p:sp>
      <p:sp>
        <p:nvSpPr>
          <p:cNvPr id="7" name="Text 4"/>
          <p:cNvSpPr txBox="1"/>
          <p:nvPr/>
        </p:nvSpPr>
        <p:spPr>
          <a:xfrm>
            <a:off x="594360" y="1645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8" name="Text 5"/>
          <p:cNvSpPr txBox="1"/>
          <p:nvPr/>
        </p:nvSpPr>
        <p:spPr>
          <a:xfrm>
            <a:off x="1143000" y="1600200"/>
            <a:ext cx="7315200" cy="457200"/>
          </a:xfrm>
          <a:prstGeom prst="rect">
            <a:avLst/>
          </a:prstGeom>
          <a:noFill/>
          <a:ln/>
        </p:spPr>
        <p:txBody>
          <a:bodyPr wrap="square" lIns="0" tIns="0" rIns="0" bIns="0" rtlCol="0" anchor="ctr"/>
          <a:lstStyle/>
          <a:p>
            <a:pPr marL="0" indent="0">
              <a:buNone/>
            </a:pPr>
            <a:r>
              <a:rPr lang="en-US" sz="1500" dirty="0">
                <a:solidFill>
                  <a:schemeClr val="tx1"/>
                </a:solidFill>
              </a:rPr>
              <a:t>Describe the features of the text from session 2.1</a:t>
            </a:r>
            <a:endParaRPr lang="en-US" sz="1500" dirty="0"/>
          </a:p>
        </p:txBody>
      </p:sp>
      <p:sp>
        <p:nvSpPr>
          <p:cNvPr id="9" name="Row 2"/>
          <p:cNvSpPr/>
          <p:nvPr/>
        </p:nvSpPr>
        <p:spPr>
          <a:xfrm>
            <a:off x="457200" y="2167128"/>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94360" y="2212848"/>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212848"/>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2167128"/>
            <a:ext cx="7315200" cy="457200"/>
          </a:xfrm>
          <a:prstGeom prst="rect">
            <a:avLst/>
          </a:prstGeom>
          <a:noFill/>
          <a:ln/>
        </p:spPr>
        <p:txBody>
          <a:bodyPr wrap="square" lIns="0" tIns="0" rIns="0" bIns="0" rtlCol="0" anchor="ctr"/>
          <a:lstStyle/>
          <a:p>
            <a:pPr marL="0" indent="0">
              <a:buNone/>
            </a:pPr>
            <a:r>
              <a:rPr lang="en-US" sz="1500" dirty="0">
                <a:solidFill>
                  <a:schemeClr val="tx1"/>
                </a:solidFill>
              </a:rPr>
              <a:t>Order the main events on a timeline</a:t>
            </a:r>
            <a:endParaRPr lang="en-US" sz="1500" dirty="0"/>
          </a:p>
        </p:txBody>
      </p:sp>
      <p:sp>
        <p:nvSpPr>
          <p:cNvPr id="13" name="Row 3"/>
          <p:cNvSpPr/>
          <p:nvPr/>
        </p:nvSpPr>
        <p:spPr>
          <a:xfrm>
            <a:off x="457200" y="2734056"/>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594360" y="2779776"/>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594360" y="277977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6" name="Text 13"/>
          <p:cNvSpPr txBox="1"/>
          <p:nvPr/>
        </p:nvSpPr>
        <p:spPr>
          <a:xfrm>
            <a:off x="1143000" y="2734056"/>
            <a:ext cx="7315200" cy="457200"/>
          </a:xfrm>
          <a:prstGeom prst="rect">
            <a:avLst/>
          </a:prstGeom>
          <a:noFill/>
          <a:ln/>
        </p:spPr>
        <p:txBody>
          <a:bodyPr wrap="square" lIns="0" tIns="0" rIns="0" bIns="0" rtlCol="0" anchor="ctr"/>
          <a:lstStyle/>
          <a:p>
            <a:pPr marL="0" indent="0">
              <a:buNone/>
            </a:pPr>
            <a:r>
              <a:rPr lang="en-US" sz="1500" dirty="0">
                <a:solidFill>
                  <a:schemeClr val="tx1"/>
                </a:solidFill>
              </a:rPr>
              <a:t>Learn the key words: timeline and chronological</a:t>
            </a:r>
            <a:endParaRPr lang="en-US" sz="1500" dirty="0"/>
          </a:p>
        </p:txBody>
      </p:sp>
      <p:sp>
        <p:nvSpPr>
          <p:cNvPr id="17" name="Row 4"/>
          <p:cNvSpPr/>
          <p:nvPr/>
        </p:nvSpPr>
        <p:spPr>
          <a:xfrm>
            <a:off x="457200" y="3300984"/>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594360" y="3346704"/>
            <a:ext cx="365760" cy="365760"/>
          </a:xfrm>
          <a:prstGeom prst="ellipse">
            <a:avLst/>
          </a:prstGeom>
          <a:solidFill>
            <a:schemeClr val="accent4"/>
          </a:solidFill>
          <a:ln w="6350">
            <a:solidFill>
              <a:schemeClr val="accent4"/>
            </a:solidFill>
            <a:prstDash val="solid"/>
          </a:ln>
        </p:spPr>
      </p:sp>
      <p:sp>
        <p:nvSpPr>
          <p:cNvPr id="19" name="Text 16"/>
          <p:cNvSpPr txBox="1"/>
          <p:nvPr/>
        </p:nvSpPr>
        <p:spPr>
          <a:xfrm>
            <a:off x="594360" y="3346704"/>
            <a:ext cx="365760" cy="36576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0" name="Text 17"/>
          <p:cNvSpPr txBox="1"/>
          <p:nvPr/>
        </p:nvSpPr>
        <p:spPr>
          <a:xfrm>
            <a:off x="1143000" y="3300984"/>
            <a:ext cx="7315200" cy="457200"/>
          </a:xfrm>
          <a:prstGeom prst="rect">
            <a:avLst/>
          </a:prstGeom>
          <a:noFill/>
          <a:ln/>
        </p:spPr>
        <p:txBody>
          <a:bodyPr wrap="square" lIns="0" tIns="0" rIns="0" bIns="0" rtlCol="0" anchor="ctr"/>
          <a:lstStyle/>
          <a:p>
            <a:pPr marL="0" indent="0">
              <a:buNone/>
            </a:pPr>
            <a:r>
              <a:rPr lang="en-US" sz="1500" dirty="0">
                <a:solidFill>
                  <a:schemeClr val="tx1"/>
                </a:solidFill>
              </a:rPr>
              <a:t>Explore simple and compound sentences</a:t>
            </a:r>
            <a:endParaRPr lang="en-US" sz="1500" dirty="0"/>
          </a:p>
        </p:txBody>
      </p:sp>
      <p:sp>
        <p:nvSpPr>
          <p:cNvPr id="21" name="Row 5"/>
          <p:cNvSpPr/>
          <p:nvPr/>
        </p:nvSpPr>
        <p:spPr>
          <a:xfrm>
            <a:off x="457200" y="3867912"/>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2" name="Badge"/>
          <p:cNvSpPr/>
          <p:nvPr/>
        </p:nvSpPr>
        <p:spPr>
          <a:xfrm>
            <a:off x="594360" y="3913632"/>
            <a:ext cx="365760" cy="365760"/>
          </a:xfrm>
          <a:prstGeom prst="ellipse">
            <a:avLst/>
          </a:prstGeom>
          <a:solidFill>
            <a:schemeClr val="accent5"/>
          </a:solidFill>
          <a:ln w="6350">
            <a:solidFill>
              <a:schemeClr val="accent5"/>
            </a:solidFill>
            <a:prstDash val="solid"/>
          </a:ln>
        </p:spPr>
      </p:sp>
      <p:sp>
        <p:nvSpPr>
          <p:cNvPr id="23" name="Text 20"/>
          <p:cNvSpPr txBox="1"/>
          <p:nvPr/>
        </p:nvSpPr>
        <p:spPr>
          <a:xfrm>
            <a:off x="594360" y="3913632"/>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4" name="Text 21"/>
          <p:cNvSpPr txBox="1"/>
          <p:nvPr/>
        </p:nvSpPr>
        <p:spPr>
          <a:xfrm>
            <a:off x="1143000" y="3867912"/>
            <a:ext cx="7315200" cy="457200"/>
          </a:xfrm>
          <a:prstGeom prst="rect">
            <a:avLst/>
          </a:prstGeom>
          <a:noFill/>
          <a:ln/>
        </p:spPr>
        <p:txBody>
          <a:bodyPr wrap="square" lIns="0" tIns="0" rIns="0" bIns="0" rtlCol="0" anchor="ctr"/>
          <a:lstStyle/>
          <a:p>
            <a:pPr marL="0" indent="0">
              <a:buNone/>
            </a:pPr>
            <a:r>
              <a:rPr lang="en-US" sz="1500" dirty="0">
                <a:solidFill>
                  <a:schemeClr val="tx1"/>
                </a:solidFill>
              </a:rPr>
              <a:t>Join simple sentences using the FANBOYS connectives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Getting started: describe the text</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Work in pairs. Use each word in a sentence to describe the features of the text in session 2.1.</a:t>
            </a:r>
            <a:endParaRPr lang="en-US" sz="1600" dirty="0"/>
          </a:p>
        </p:txBody>
      </p:sp>
      <p:sp>
        <p:nvSpPr>
          <p:cNvPr id="5" name="Word factual"/>
          <p:cNvSpPr/>
          <p:nvPr/>
        </p:nvSpPr>
        <p:spPr>
          <a:xfrm>
            <a:off x="457200" y="1645920"/>
            <a:ext cx="2651760" cy="868680"/>
          </a:xfrm>
          <a:prstGeom prst="roundRect">
            <a:avLst>
              <a:gd name="adj" fmla="val 12632"/>
            </a:avLst>
          </a:prstGeom>
          <a:solidFill>
            <a:schemeClr val="accent1"/>
          </a:solidFill>
          <a:ln w="9525">
            <a:solidFill>
              <a:schemeClr val="accent1"/>
            </a:solidFill>
            <a:prstDash val="solid"/>
          </a:ln>
          <a:effectLst>
            <a:outerShdw blurRad="76200" dist="25400" dir="5400000" algn="bl" rotWithShape="0">
              <a:srgbClr val="0E1537">
                <a:alpha val="14000"/>
              </a:srgbClr>
            </a:outerShdw>
          </a:effectLst>
        </p:spPr>
      </p:sp>
      <p:sp>
        <p:nvSpPr>
          <p:cNvPr id="6" name="Text 3"/>
          <p:cNvSpPr txBox="1"/>
          <p:nvPr/>
        </p:nvSpPr>
        <p:spPr>
          <a:xfrm>
            <a:off x="457200" y="1645920"/>
            <a:ext cx="2651760" cy="868680"/>
          </a:xfrm>
          <a:prstGeom prst="rect">
            <a:avLst/>
          </a:prstGeom>
          <a:noFill/>
          <a:ln/>
        </p:spPr>
        <p:txBody>
          <a:bodyPr wrap="square" lIns="0" tIns="0" rIns="0" bIns="0" rtlCol="0" anchor="ctr"/>
          <a:lstStyle/>
          <a:p>
            <a:pPr marL="0" indent="0" algn="ctr">
              <a:buNone/>
            </a:pPr>
            <a:r>
              <a:rPr lang="en-US" sz="2200" b="1" dirty="0">
                <a:solidFill>
                  <a:schemeClr val="tx1"/>
                </a:solidFill>
                <a:latin typeface="+mj-lt" pitchFamily="34" charset="0"/>
                <a:ea typeface="+mj-lt" pitchFamily="34" charset="-122"/>
                <a:cs typeface="+mj-lt" pitchFamily="34" charset="-120"/>
              </a:rPr>
              <a:t>factual</a:t>
            </a:r>
            <a:endParaRPr lang="en-US" sz="2200" dirty="0"/>
          </a:p>
        </p:txBody>
      </p:sp>
      <p:sp>
        <p:nvSpPr>
          <p:cNvPr id="7" name="Word formal"/>
          <p:cNvSpPr/>
          <p:nvPr/>
        </p:nvSpPr>
        <p:spPr>
          <a:xfrm>
            <a:off x="3246120" y="1645920"/>
            <a:ext cx="2651760" cy="868680"/>
          </a:xfrm>
          <a:prstGeom prst="roundRect">
            <a:avLst>
              <a:gd name="adj" fmla="val 12632"/>
            </a:avLst>
          </a:prstGeom>
          <a:solidFill>
            <a:schemeClr val="accent2"/>
          </a:solidFill>
          <a:ln w="9525">
            <a:solidFill>
              <a:schemeClr val="accent2"/>
            </a:solidFill>
            <a:prstDash val="solid"/>
          </a:ln>
          <a:effectLst>
            <a:outerShdw blurRad="76200" dist="25400" dir="5400000" algn="bl" rotWithShape="0">
              <a:srgbClr val="0E1537">
                <a:alpha val="14000"/>
              </a:srgbClr>
            </a:outerShdw>
          </a:effectLst>
        </p:spPr>
      </p:sp>
      <p:sp>
        <p:nvSpPr>
          <p:cNvPr id="8" name="Text 5"/>
          <p:cNvSpPr txBox="1"/>
          <p:nvPr/>
        </p:nvSpPr>
        <p:spPr>
          <a:xfrm>
            <a:off x="3246120" y="1645920"/>
            <a:ext cx="2651760" cy="868680"/>
          </a:xfrm>
          <a:prstGeom prst="rect">
            <a:avLst/>
          </a:prstGeom>
          <a:noFill/>
          <a:ln/>
        </p:spPr>
        <p:txBody>
          <a:bodyPr wrap="square" lIns="0" tIns="0" rIns="0" bIns="0" rtlCol="0" anchor="ctr"/>
          <a:lstStyle/>
          <a:p>
            <a:pPr marL="0" indent="0" algn="ctr">
              <a:buNone/>
            </a:pPr>
            <a:r>
              <a:rPr lang="en-US" sz="2200" b="1" dirty="0">
                <a:solidFill>
                  <a:schemeClr val="tx1"/>
                </a:solidFill>
                <a:latin typeface="+mj-lt" pitchFamily="34" charset="0"/>
                <a:ea typeface="+mj-lt" pitchFamily="34" charset="-122"/>
                <a:cs typeface="+mj-lt" pitchFamily="34" charset="-120"/>
              </a:rPr>
              <a:t>formal</a:t>
            </a:r>
            <a:endParaRPr lang="en-US" sz="2200" dirty="0"/>
          </a:p>
        </p:txBody>
      </p:sp>
      <p:sp>
        <p:nvSpPr>
          <p:cNvPr id="9" name="Word informative"/>
          <p:cNvSpPr/>
          <p:nvPr/>
        </p:nvSpPr>
        <p:spPr>
          <a:xfrm>
            <a:off x="6035040" y="1645920"/>
            <a:ext cx="2651760" cy="868680"/>
          </a:xfrm>
          <a:prstGeom prst="roundRect">
            <a:avLst>
              <a:gd name="adj" fmla="val 12632"/>
            </a:avLst>
          </a:prstGeom>
          <a:solidFill>
            <a:schemeClr val="accent3"/>
          </a:solidFill>
          <a:ln w="9525">
            <a:solidFill>
              <a:schemeClr val="accent3"/>
            </a:solidFill>
            <a:prstDash val="solid"/>
          </a:ln>
          <a:effectLst>
            <a:outerShdw blurRad="76200" dist="25400" dir="5400000" algn="bl" rotWithShape="0">
              <a:srgbClr val="0E1537">
                <a:alpha val="14000"/>
              </a:srgbClr>
            </a:outerShdw>
          </a:effectLst>
        </p:spPr>
      </p:sp>
      <p:sp>
        <p:nvSpPr>
          <p:cNvPr id="10" name="Text 7"/>
          <p:cNvSpPr txBox="1"/>
          <p:nvPr/>
        </p:nvSpPr>
        <p:spPr>
          <a:xfrm>
            <a:off x="6035040" y="1645920"/>
            <a:ext cx="2651760" cy="868680"/>
          </a:xfrm>
          <a:prstGeom prst="rect">
            <a:avLst/>
          </a:prstGeom>
          <a:noFill/>
          <a:ln/>
        </p:spPr>
        <p:txBody>
          <a:bodyPr wrap="square" lIns="0" tIns="0" rIns="0" bIns="0" rtlCol="0" anchor="ctr"/>
          <a:lstStyle/>
          <a:p>
            <a:pPr marL="0" indent="0" algn="ctr">
              <a:buNone/>
            </a:pPr>
            <a:r>
              <a:rPr lang="en-US" sz="2200" b="1" dirty="0">
                <a:solidFill>
                  <a:schemeClr val="tx1"/>
                </a:solidFill>
                <a:latin typeface="+mj-lt" pitchFamily="34" charset="0"/>
                <a:ea typeface="+mj-lt" pitchFamily="34" charset="-122"/>
                <a:cs typeface="+mj-lt" pitchFamily="34" charset="-120"/>
              </a:rPr>
              <a:t>informative</a:t>
            </a:r>
            <a:endParaRPr lang="en-US" sz="2200" dirty="0"/>
          </a:p>
        </p:txBody>
      </p:sp>
      <p:sp>
        <p:nvSpPr>
          <p:cNvPr id="11" name="Word organised"/>
          <p:cNvSpPr/>
          <p:nvPr/>
        </p:nvSpPr>
        <p:spPr>
          <a:xfrm>
            <a:off x="457200" y="2697480"/>
            <a:ext cx="2651760" cy="868680"/>
          </a:xfrm>
          <a:prstGeom prst="roundRect">
            <a:avLst>
              <a:gd name="adj" fmla="val 12632"/>
            </a:avLst>
          </a:prstGeom>
          <a:solidFill>
            <a:schemeClr val="accent4"/>
          </a:solidFill>
          <a:ln w="9525">
            <a:solidFill>
              <a:schemeClr val="accent4"/>
            </a:solidFill>
            <a:prstDash val="solid"/>
          </a:ln>
          <a:effectLst>
            <a:outerShdw blurRad="76200" dist="25400" dir="5400000" algn="bl" rotWithShape="0">
              <a:srgbClr val="0E1537">
                <a:alpha val="14000"/>
              </a:srgbClr>
            </a:outerShdw>
          </a:effectLst>
        </p:spPr>
      </p:sp>
      <p:sp>
        <p:nvSpPr>
          <p:cNvPr id="12" name="Text 9"/>
          <p:cNvSpPr txBox="1"/>
          <p:nvPr/>
        </p:nvSpPr>
        <p:spPr>
          <a:xfrm>
            <a:off x="457200" y="2697480"/>
            <a:ext cx="2651760" cy="868680"/>
          </a:xfrm>
          <a:prstGeom prst="rect">
            <a:avLst/>
          </a:prstGeom>
          <a:noFill/>
          <a:ln/>
        </p:spPr>
        <p:txBody>
          <a:bodyPr wrap="square" lIns="0" tIns="0" rIns="0" bIns="0" rtlCol="0" anchor="ctr"/>
          <a:lstStyle/>
          <a:p>
            <a:pPr marL="0" indent="0" algn="ctr">
              <a:buNone/>
            </a:pPr>
            <a:r>
              <a:rPr lang="en-US" sz="2200" b="1" dirty="0">
                <a:solidFill>
                  <a:schemeClr val="bg1"/>
                </a:solidFill>
                <a:latin typeface="+mj-lt" pitchFamily="34" charset="0"/>
                <a:ea typeface="+mj-lt" pitchFamily="34" charset="-122"/>
                <a:cs typeface="+mj-lt" pitchFamily="34" charset="-120"/>
              </a:rPr>
              <a:t>organised</a:t>
            </a:r>
            <a:endParaRPr lang="en-US" sz="2200" dirty="0"/>
          </a:p>
        </p:txBody>
      </p:sp>
      <p:sp>
        <p:nvSpPr>
          <p:cNvPr id="13" name="Word sequenced"/>
          <p:cNvSpPr/>
          <p:nvPr/>
        </p:nvSpPr>
        <p:spPr>
          <a:xfrm>
            <a:off x="3246120" y="2697480"/>
            <a:ext cx="2651760" cy="868680"/>
          </a:xfrm>
          <a:prstGeom prst="roundRect">
            <a:avLst>
              <a:gd name="adj" fmla="val 12632"/>
            </a:avLst>
          </a:prstGeom>
          <a:solidFill>
            <a:schemeClr val="accent5"/>
          </a:solidFill>
          <a:ln w="9525">
            <a:solidFill>
              <a:schemeClr val="accent5"/>
            </a:solidFill>
            <a:prstDash val="solid"/>
          </a:ln>
          <a:effectLst>
            <a:outerShdw blurRad="76200" dist="25400" dir="5400000" algn="bl" rotWithShape="0">
              <a:srgbClr val="0E1537">
                <a:alpha val="14000"/>
              </a:srgbClr>
            </a:outerShdw>
          </a:effectLst>
        </p:spPr>
      </p:sp>
      <p:sp>
        <p:nvSpPr>
          <p:cNvPr id="14" name="Text 11"/>
          <p:cNvSpPr txBox="1"/>
          <p:nvPr/>
        </p:nvSpPr>
        <p:spPr>
          <a:xfrm>
            <a:off x="3246120" y="2697480"/>
            <a:ext cx="2651760" cy="868680"/>
          </a:xfrm>
          <a:prstGeom prst="rect">
            <a:avLst/>
          </a:prstGeom>
          <a:noFill/>
          <a:ln/>
        </p:spPr>
        <p:txBody>
          <a:bodyPr wrap="square" lIns="0" tIns="0" rIns="0" bIns="0" rtlCol="0" anchor="ctr"/>
          <a:lstStyle/>
          <a:p>
            <a:pPr marL="0" indent="0" algn="ctr">
              <a:buNone/>
            </a:pPr>
            <a:r>
              <a:rPr lang="en-US" sz="2200" b="1" dirty="0">
                <a:solidFill>
                  <a:schemeClr val="tx1"/>
                </a:solidFill>
                <a:latin typeface="+mj-lt" pitchFamily="34" charset="0"/>
                <a:ea typeface="+mj-lt" pitchFamily="34" charset="-122"/>
                <a:cs typeface="+mj-lt" pitchFamily="34" charset="-120"/>
              </a:rPr>
              <a:t>sequenced</a:t>
            </a:r>
            <a:endParaRPr lang="en-US" sz="2200" dirty="0"/>
          </a:p>
        </p:txBody>
      </p:sp>
      <p:sp>
        <p:nvSpPr>
          <p:cNvPr id="15" name="Word text tense"/>
          <p:cNvSpPr/>
          <p:nvPr/>
        </p:nvSpPr>
        <p:spPr>
          <a:xfrm>
            <a:off x="6035040" y="2697480"/>
            <a:ext cx="2651760" cy="868680"/>
          </a:xfrm>
          <a:prstGeom prst="roundRect">
            <a:avLst>
              <a:gd name="adj" fmla="val 12632"/>
            </a:avLst>
          </a:prstGeom>
          <a:solidFill>
            <a:schemeClr val="accent1"/>
          </a:solidFill>
          <a:ln w="9525">
            <a:solidFill>
              <a:schemeClr val="accent1"/>
            </a:solidFill>
            <a:prstDash val="solid"/>
          </a:ln>
          <a:effectLst>
            <a:outerShdw blurRad="76200" dist="25400" dir="5400000" algn="bl" rotWithShape="0">
              <a:srgbClr val="0E1537">
                <a:alpha val="14000"/>
              </a:srgbClr>
            </a:outerShdw>
          </a:effectLst>
        </p:spPr>
      </p:sp>
      <p:sp>
        <p:nvSpPr>
          <p:cNvPr id="16" name="Text 13"/>
          <p:cNvSpPr txBox="1"/>
          <p:nvPr/>
        </p:nvSpPr>
        <p:spPr>
          <a:xfrm>
            <a:off x="6035040" y="2697480"/>
            <a:ext cx="2651760" cy="868680"/>
          </a:xfrm>
          <a:prstGeom prst="rect">
            <a:avLst/>
          </a:prstGeom>
          <a:noFill/>
          <a:ln/>
        </p:spPr>
        <p:txBody>
          <a:bodyPr wrap="square" lIns="0" tIns="0" rIns="0" bIns="0" rtlCol="0" anchor="ctr"/>
          <a:lstStyle/>
          <a:p>
            <a:pPr marL="0" indent="0" algn="ctr">
              <a:buNone/>
            </a:pPr>
            <a:r>
              <a:rPr lang="en-US" sz="2200" b="1" dirty="0">
                <a:solidFill>
                  <a:schemeClr val="tx1"/>
                </a:solidFill>
                <a:latin typeface="+mj-lt" pitchFamily="34" charset="0"/>
                <a:ea typeface="+mj-lt" pitchFamily="34" charset="-122"/>
                <a:cs typeface="+mj-lt" pitchFamily="34" charset="-120"/>
              </a:rPr>
              <a:t>text tense</a:t>
            </a:r>
            <a:endParaRPr lang="en-US" sz="2200" dirty="0"/>
          </a:p>
        </p:txBody>
      </p:sp>
      <p:sp>
        <p:nvSpPr>
          <p:cNvPr id="17" name="Callout"/>
          <p:cNvSpPr/>
          <p:nvPr/>
        </p:nvSpPr>
        <p:spPr>
          <a:xfrm>
            <a:off x="457200" y="3840480"/>
            <a:ext cx="8229600" cy="502920"/>
          </a:xfrm>
          <a:prstGeom prst="roundRect">
            <a:avLst>
              <a:gd name="adj" fmla="val 21818"/>
            </a:avLst>
          </a:prstGeom>
          <a:solidFill>
            <a:schemeClr val="accent5"/>
          </a:solidFill>
          <a:ln w="9525">
            <a:solidFill>
              <a:schemeClr val="accent5"/>
            </a:solidFill>
            <a:prstDash val="solid"/>
          </a:ln>
        </p:spPr>
      </p:sp>
      <p:sp>
        <p:nvSpPr>
          <p:cNvPr id="18" name="Text 15"/>
          <p:cNvSpPr txBox="1"/>
          <p:nvPr/>
        </p:nvSpPr>
        <p:spPr>
          <a:xfrm>
            <a:off x="640080" y="3840480"/>
            <a:ext cx="7863840" cy="502920"/>
          </a:xfrm>
          <a:prstGeom prst="rect">
            <a:avLst/>
          </a:prstGeom>
          <a:noFill/>
          <a:ln/>
        </p:spPr>
        <p:txBody>
          <a:bodyPr wrap="square" lIns="0" tIns="0" rIns="0" bIns="0" rtlCol="0" anchor="ctr"/>
          <a:lstStyle/>
          <a:p>
            <a:pPr marL="0" indent="0" algn="ctr">
              <a:buNone/>
            </a:pPr>
            <a:r>
              <a:rPr lang="en-US" sz="1600" b="1" dirty="0">
                <a:solidFill>
                  <a:schemeClr val="tx1"/>
                </a:solidFill>
              </a:rPr>
              <a:t>Try: ‘The text is ______ because ______.’</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Getting started: model answers</a:t>
            </a:r>
            <a:endParaRPr lang="en-US" sz="3000" dirty="0"/>
          </a:p>
        </p:txBody>
      </p:sp>
      <p:sp>
        <p:nvSpPr>
          <p:cNvPr id="4" name="Model factual"/>
          <p:cNvSpPr/>
          <p:nvPr/>
        </p:nvSpPr>
        <p:spPr>
          <a:xfrm>
            <a:off x="457200" y="1005840"/>
            <a:ext cx="8229600" cy="521208"/>
          </a:xfrm>
          <a:prstGeom prst="roundRect">
            <a:avLst>
              <a:gd name="adj" fmla="val 2105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Word tag"/>
          <p:cNvSpPr/>
          <p:nvPr/>
        </p:nvSpPr>
        <p:spPr>
          <a:xfrm>
            <a:off x="548640" y="1069848"/>
            <a:ext cx="1737360" cy="393192"/>
          </a:xfrm>
          <a:prstGeom prst="roundRect">
            <a:avLst>
              <a:gd name="adj" fmla="val 23256"/>
            </a:avLst>
          </a:prstGeom>
          <a:solidFill>
            <a:schemeClr val="accent1"/>
          </a:solidFill>
          <a:ln w="6350">
            <a:solidFill>
              <a:schemeClr val="accent1"/>
            </a:solidFill>
            <a:prstDash val="solid"/>
          </a:ln>
        </p:spPr>
      </p:sp>
      <p:sp>
        <p:nvSpPr>
          <p:cNvPr id="6" name="Text 3"/>
          <p:cNvSpPr txBox="1"/>
          <p:nvPr/>
        </p:nvSpPr>
        <p:spPr>
          <a:xfrm>
            <a:off x="548640" y="1069848"/>
            <a:ext cx="1737360" cy="39319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factual</a:t>
            </a:r>
            <a:endParaRPr lang="en-US" sz="1500" dirty="0"/>
          </a:p>
        </p:txBody>
      </p:sp>
      <p:sp>
        <p:nvSpPr>
          <p:cNvPr id="7" name="Text 4"/>
          <p:cNvSpPr txBox="1"/>
          <p:nvPr/>
        </p:nvSpPr>
        <p:spPr>
          <a:xfrm>
            <a:off x="2468880" y="1005840"/>
            <a:ext cx="6126480" cy="521208"/>
          </a:xfrm>
          <a:prstGeom prst="rect">
            <a:avLst/>
          </a:prstGeom>
          <a:noFill/>
          <a:ln/>
        </p:spPr>
        <p:txBody>
          <a:bodyPr wrap="square" lIns="0" tIns="0" rIns="0" bIns="0" rtlCol="0" anchor="ctr"/>
          <a:lstStyle/>
          <a:p>
            <a:pPr marL="0" indent="0">
              <a:buNone/>
            </a:pPr>
            <a:r>
              <a:rPr lang="en-US" sz="1400" dirty="0">
                <a:solidFill>
                  <a:schemeClr val="tx1"/>
                </a:solidFill>
              </a:rPr>
              <a:t>It gives true information about real people and events.</a:t>
            </a:r>
            <a:endParaRPr lang="en-US" sz="1400" dirty="0"/>
          </a:p>
        </p:txBody>
      </p:sp>
      <p:sp>
        <p:nvSpPr>
          <p:cNvPr id="8" name="Model formal"/>
          <p:cNvSpPr/>
          <p:nvPr/>
        </p:nvSpPr>
        <p:spPr>
          <a:xfrm>
            <a:off x="457200" y="1609344"/>
            <a:ext cx="8229600" cy="521208"/>
          </a:xfrm>
          <a:prstGeom prst="roundRect">
            <a:avLst>
              <a:gd name="adj" fmla="val 2105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Word tag"/>
          <p:cNvSpPr/>
          <p:nvPr/>
        </p:nvSpPr>
        <p:spPr>
          <a:xfrm>
            <a:off x="548640" y="1673352"/>
            <a:ext cx="1737360" cy="393192"/>
          </a:xfrm>
          <a:prstGeom prst="roundRect">
            <a:avLst>
              <a:gd name="adj" fmla="val 23256"/>
            </a:avLst>
          </a:prstGeom>
          <a:solidFill>
            <a:schemeClr val="accent2"/>
          </a:solidFill>
          <a:ln w="6350">
            <a:solidFill>
              <a:schemeClr val="accent2"/>
            </a:solidFill>
            <a:prstDash val="solid"/>
          </a:ln>
        </p:spPr>
      </p:sp>
      <p:sp>
        <p:nvSpPr>
          <p:cNvPr id="10" name="Text 7"/>
          <p:cNvSpPr txBox="1"/>
          <p:nvPr/>
        </p:nvSpPr>
        <p:spPr>
          <a:xfrm>
            <a:off x="548640" y="1673352"/>
            <a:ext cx="1737360" cy="39319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formal</a:t>
            </a:r>
            <a:endParaRPr lang="en-US" sz="1500" dirty="0"/>
          </a:p>
        </p:txBody>
      </p:sp>
      <p:sp>
        <p:nvSpPr>
          <p:cNvPr id="11" name="Text 8"/>
          <p:cNvSpPr txBox="1"/>
          <p:nvPr/>
        </p:nvSpPr>
        <p:spPr>
          <a:xfrm>
            <a:off x="2468880" y="1609344"/>
            <a:ext cx="6126480" cy="521208"/>
          </a:xfrm>
          <a:prstGeom prst="rect">
            <a:avLst/>
          </a:prstGeom>
          <a:noFill/>
          <a:ln/>
        </p:spPr>
        <p:txBody>
          <a:bodyPr wrap="square" lIns="0" tIns="0" rIns="0" bIns="0" rtlCol="0" anchor="ctr"/>
          <a:lstStyle/>
          <a:p>
            <a:pPr marL="0" indent="0">
              <a:buNone/>
            </a:pPr>
            <a:r>
              <a:rPr lang="en-US" sz="1400" dirty="0">
                <a:solidFill>
                  <a:schemeClr val="tx1"/>
                </a:solidFill>
              </a:rPr>
              <a:t>It is written in a formal style, with no slang and no personal opinions.</a:t>
            </a:r>
            <a:endParaRPr lang="en-US" sz="1400" dirty="0"/>
          </a:p>
        </p:txBody>
      </p:sp>
      <p:sp>
        <p:nvSpPr>
          <p:cNvPr id="12" name="Model informative"/>
          <p:cNvSpPr/>
          <p:nvPr/>
        </p:nvSpPr>
        <p:spPr>
          <a:xfrm>
            <a:off x="457200" y="2212848"/>
            <a:ext cx="8229600" cy="521208"/>
          </a:xfrm>
          <a:prstGeom prst="roundRect">
            <a:avLst>
              <a:gd name="adj" fmla="val 2105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Word tag"/>
          <p:cNvSpPr/>
          <p:nvPr/>
        </p:nvSpPr>
        <p:spPr>
          <a:xfrm>
            <a:off x="548640" y="2276856"/>
            <a:ext cx="1737360" cy="393192"/>
          </a:xfrm>
          <a:prstGeom prst="roundRect">
            <a:avLst>
              <a:gd name="adj" fmla="val 23256"/>
            </a:avLst>
          </a:prstGeom>
          <a:solidFill>
            <a:schemeClr val="accent3"/>
          </a:solidFill>
          <a:ln w="6350">
            <a:solidFill>
              <a:schemeClr val="accent3"/>
            </a:solidFill>
            <a:prstDash val="solid"/>
          </a:ln>
        </p:spPr>
      </p:sp>
      <p:sp>
        <p:nvSpPr>
          <p:cNvPr id="14" name="Text 11"/>
          <p:cNvSpPr txBox="1"/>
          <p:nvPr/>
        </p:nvSpPr>
        <p:spPr>
          <a:xfrm>
            <a:off x="548640" y="2276856"/>
            <a:ext cx="1737360" cy="39319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informative</a:t>
            </a:r>
            <a:endParaRPr lang="en-US" sz="1500" dirty="0"/>
          </a:p>
        </p:txBody>
      </p:sp>
      <p:sp>
        <p:nvSpPr>
          <p:cNvPr id="15" name="Text 12"/>
          <p:cNvSpPr txBox="1"/>
          <p:nvPr/>
        </p:nvSpPr>
        <p:spPr>
          <a:xfrm>
            <a:off x="2468880" y="2212848"/>
            <a:ext cx="6126480" cy="521208"/>
          </a:xfrm>
          <a:prstGeom prst="rect">
            <a:avLst/>
          </a:prstGeom>
          <a:noFill/>
          <a:ln/>
        </p:spPr>
        <p:txBody>
          <a:bodyPr wrap="square" lIns="0" tIns="0" rIns="0" bIns="0" rtlCol="0" anchor="ctr"/>
          <a:lstStyle/>
          <a:p>
            <a:pPr marL="0" indent="0">
              <a:buNone/>
            </a:pPr>
            <a:r>
              <a:rPr lang="en-US" sz="1400" dirty="0">
                <a:solidFill>
                  <a:schemeClr val="tx1"/>
                </a:solidFill>
              </a:rPr>
              <a:t>It teaches the reader about the history of space.</a:t>
            </a:r>
            <a:endParaRPr lang="en-US" sz="1400" dirty="0"/>
          </a:p>
        </p:txBody>
      </p:sp>
      <p:sp>
        <p:nvSpPr>
          <p:cNvPr id="16" name="Model organised"/>
          <p:cNvSpPr/>
          <p:nvPr/>
        </p:nvSpPr>
        <p:spPr>
          <a:xfrm>
            <a:off x="457200" y="2816352"/>
            <a:ext cx="8229600" cy="521208"/>
          </a:xfrm>
          <a:prstGeom prst="roundRect">
            <a:avLst>
              <a:gd name="adj" fmla="val 2105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Word tag"/>
          <p:cNvSpPr/>
          <p:nvPr/>
        </p:nvSpPr>
        <p:spPr>
          <a:xfrm>
            <a:off x="548640" y="2880360"/>
            <a:ext cx="1737360" cy="393192"/>
          </a:xfrm>
          <a:prstGeom prst="roundRect">
            <a:avLst>
              <a:gd name="adj" fmla="val 23256"/>
            </a:avLst>
          </a:prstGeom>
          <a:solidFill>
            <a:schemeClr val="accent4"/>
          </a:solidFill>
          <a:ln w="6350">
            <a:solidFill>
              <a:schemeClr val="accent4"/>
            </a:solidFill>
            <a:prstDash val="solid"/>
          </a:ln>
        </p:spPr>
      </p:sp>
      <p:sp>
        <p:nvSpPr>
          <p:cNvPr id="18" name="Text 15"/>
          <p:cNvSpPr txBox="1"/>
          <p:nvPr/>
        </p:nvSpPr>
        <p:spPr>
          <a:xfrm>
            <a:off x="548640" y="2880360"/>
            <a:ext cx="1737360" cy="393192"/>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organised</a:t>
            </a:r>
            <a:endParaRPr lang="en-US" sz="1500" dirty="0"/>
          </a:p>
        </p:txBody>
      </p:sp>
      <p:sp>
        <p:nvSpPr>
          <p:cNvPr id="19" name="Text 16"/>
          <p:cNvSpPr txBox="1"/>
          <p:nvPr/>
        </p:nvSpPr>
        <p:spPr>
          <a:xfrm>
            <a:off x="2468880" y="2816352"/>
            <a:ext cx="6126480" cy="521208"/>
          </a:xfrm>
          <a:prstGeom prst="rect">
            <a:avLst/>
          </a:prstGeom>
          <a:noFill/>
          <a:ln/>
        </p:spPr>
        <p:txBody>
          <a:bodyPr wrap="square" lIns="0" tIns="0" rIns="0" bIns="0" rtlCol="0" anchor="ctr"/>
          <a:lstStyle/>
          <a:p>
            <a:pPr marL="0" indent="0">
              <a:buNone/>
            </a:pPr>
            <a:r>
              <a:rPr lang="en-US" sz="1400" dirty="0">
                <a:solidFill>
                  <a:schemeClr val="tx1"/>
                </a:solidFill>
              </a:rPr>
              <a:t>Each short paragraph starts with a date, and a glossary explains the hard words.</a:t>
            </a:r>
            <a:endParaRPr lang="en-US" sz="1400" dirty="0"/>
          </a:p>
        </p:txBody>
      </p:sp>
      <p:sp>
        <p:nvSpPr>
          <p:cNvPr id="20" name="Model sequenced"/>
          <p:cNvSpPr/>
          <p:nvPr/>
        </p:nvSpPr>
        <p:spPr>
          <a:xfrm>
            <a:off x="457200" y="3419856"/>
            <a:ext cx="8229600" cy="521208"/>
          </a:xfrm>
          <a:prstGeom prst="roundRect">
            <a:avLst>
              <a:gd name="adj" fmla="val 2105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1" name="Word tag"/>
          <p:cNvSpPr/>
          <p:nvPr/>
        </p:nvSpPr>
        <p:spPr>
          <a:xfrm>
            <a:off x="548640" y="3483864"/>
            <a:ext cx="1737360" cy="393192"/>
          </a:xfrm>
          <a:prstGeom prst="roundRect">
            <a:avLst>
              <a:gd name="adj" fmla="val 23256"/>
            </a:avLst>
          </a:prstGeom>
          <a:solidFill>
            <a:schemeClr val="accent5"/>
          </a:solidFill>
          <a:ln w="6350">
            <a:solidFill>
              <a:schemeClr val="accent5"/>
            </a:solidFill>
            <a:prstDash val="solid"/>
          </a:ln>
        </p:spPr>
      </p:sp>
      <p:sp>
        <p:nvSpPr>
          <p:cNvPr id="22" name="Text 19"/>
          <p:cNvSpPr txBox="1"/>
          <p:nvPr/>
        </p:nvSpPr>
        <p:spPr>
          <a:xfrm>
            <a:off x="548640" y="3483864"/>
            <a:ext cx="1737360" cy="39319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sequenced</a:t>
            </a:r>
            <a:endParaRPr lang="en-US" sz="1500" dirty="0"/>
          </a:p>
        </p:txBody>
      </p:sp>
      <p:sp>
        <p:nvSpPr>
          <p:cNvPr id="23" name="Text 20"/>
          <p:cNvSpPr txBox="1"/>
          <p:nvPr/>
        </p:nvSpPr>
        <p:spPr>
          <a:xfrm>
            <a:off x="2468880" y="3419856"/>
            <a:ext cx="6126480" cy="521208"/>
          </a:xfrm>
          <a:prstGeom prst="rect">
            <a:avLst/>
          </a:prstGeom>
          <a:noFill/>
          <a:ln/>
        </p:spPr>
        <p:txBody>
          <a:bodyPr wrap="square" lIns="0" tIns="0" rIns="0" bIns="0" rtlCol="0" anchor="ctr"/>
          <a:lstStyle/>
          <a:p>
            <a:pPr marL="0" indent="0">
              <a:buNone/>
            </a:pPr>
            <a:r>
              <a:rPr lang="en-US" sz="1400" dirty="0">
                <a:solidFill>
                  <a:schemeClr val="tx1"/>
                </a:solidFill>
              </a:rPr>
              <a:t>The events are in time order, from 129 BCE to 2019.</a:t>
            </a:r>
            <a:endParaRPr lang="en-US" sz="1400" dirty="0"/>
          </a:p>
        </p:txBody>
      </p:sp>
      <p:sp>
        <p:nvSpPr>
          <p:cNvPr id="24" name="Model text tense"/>
          <p:cNvSpPr/>
          <p:nvPr/>
        </p:nvSpPr>
        <p:spPr>
          <a:xfrm>
            <a:off x="457200" y="4023360"/>
            <a:ext cx="8229600" cy="521208"/>
          </a:xfrm>
          <a:prstGeom prst="roundRect">
            <a:avLst>
              <a:gd name="adj" fmla="val 2105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5" name="Word tag"/>
          <p:cNvSpPr/>
          <p:nvPr/>
        </p:nvSpPr>
        <p:spPr>
          <a:xfrm>
            <a:off x="548640" y="4087368"/>
            <a:ext cx="1737360" cy="393192"/>
          </a:xfrm>
          <a:prstGeom prst="roundRect">
            <a:avLst>
              <a:gd name="adj" fmla="val 23256"/>
            </a:avLst>
          </a:prstGeom>
          <a:solidFill>
            <a:schemeClr val="accent1"/>
          </a:solidFill>
          <a:ln w="6350">
            <a:solidFill>
              <a:schemeClr val="accent1"/>
            </a:solidFill>
            <a:prstDash val="solid"/>
          </a:ln>
        </p:spPr>
      </p:sp>
      <p:sp>
        <p:nvSpPr>
          <p:cNvPr id="26" name="Text 23"/>
          <p:cNvSpPr txBox="1"/>
          <p:nvPr/>
        </p:nvSpPr>
        <p:spPr>
          <a:xfrm>
            <a:off x="548640" y="4087368"/>
            <a:ext cx="1737360" cy="39319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text tense</a:t>
            </a:r>
            <a:endParaRPr lang="en-US" sz="1500" dirty="0"/>
          </a:p>
        </p:txBody>
      </p:sp>
      <p:sp>
        <p:nvSpPr>
          <p:cNvPr id="27" name="Text 24"/>
          <p:cNvSpPr txBox="1"/>
          <p:nvPr/>
        </p:nvSpPr>
        <p:spPr>
          <a:xfrm>
            <a:off x="2468880" y="4023360"/>
            <a:ext cx="6126480" cy="521208"/>
          </a:xfrm>
          <a:prstGeom prst="rect">
            <a:avLst/>
          </a:prstGeom>
          <a:noFill/>
          <a:ln/>
        </p:spPr>
        <p:txBody>
          <a:bodyPr wrap="square" lIns="0" tIns="0" rIns="0" bIns="0" rtlCol="0" anchor="ctr"/>
          <a:lstStyle/>
          <a:p>
            <a:pPr marL="0" indent="0">
              <a:buNone/>
            </a:pPr>
            <a:r>
              <a:rPr lang="en-US" sz="1400" dirty="0">
                <a:solidFill>
                  <a:schemeClr val="tx1"/>
                </a:solidFill>
              </a:rPr>
              <a:t>It is written in the past tense, for example ‘launched’ and ‘became’.</a:t>
            </a:r>
            <a:endParaRPr lang="en-US" sz="14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art chip"/>
          <p:cNvSpPr/>
          <p:nvPr/>
        </p:nvSpPr>
        <p:spPr>
          <a:xfrm>
            <a:off x="731520" y="1417320"/>
            <a:ext cx="1371600" cy="347472"/>
          </a:xfrm>
          <a:prstGeom prst="roundRect">
            <a:avLst>
              <a:gd name="adj" fmla="val 31579"/>
            </a:avLst>
          </a:prstGeom>
          <a:solidFill>
            <a:schemeClr val="accent1"/>
          </a:solidFill>
          <a:ln w="9525">
            <a:solidFill>
              <a:schemeClr val="accent1"/>
            </a:solidFill>
            <a:prstDash val="solid"/>
          </a:ln>
        </p:spPr>
      </p:sp>
      <p:sp>
        <p:nvSpPr>
          <p:cNvPr id="3" name="Text 1"/>
          <p:cNvSpPr txBox="1"/>
          <p:nvPr/>
        </p:nvSpPr>
        <p:spPr>
          <a:xfrm>
            <a:off x="731520" y="1417320"/>
            <a:ext cx="1371600" cy="347472"/>
          </a:xfrm>
          <a:prstGeom prst="rect">
            <a:avLst/>
          </a:prstGeom>
          <a:noFill/>
          <a:ln/>
        </p:spPr>
        <p:txBody>
          <a:bodyPr wrap="square" lIns="0" tIns="0" rIns="0" bIns="0" rtlCol="0" anchor="ctr"/>
          <a:lstStyle/>
          <a:p>
            <a:pPr marL="0" indent="0" algn="ctr">
              <a:buNone/>
            </a:pPr>
            <a:r>
              <a:rPr lang="en-US" sz="1300" b="1" dirty="0">
                <a:solidFill>
                  <a:schemeClr val="tx1"/>
                </a:solidFill>
              </a:rPr>
              <a:t>PART 1</a:t>
            </a:r>
            <a:endParaRPr lang="en-US" sz="1300" dirty="0"/>
          </a:p>
        </p:txBody>
      </p:sp>
      <p:sp>
        <p:nvSpPr>
          <p:cNvPr id="4" name="Text 2"/>
          <p:cNvSpPr txBox="1"/>
          <p:nvPr/>
        </p:nvSpPr>
        <p:spPr>
          <a:xfrm>
            <a:off x="731520" y="1920240"/>
            <a:ext cx="5486400" cy="1005840"/>
          </a:xfrm>
          <a:prstGeom prst="rect">
            <a:avLst/>
          </a:prstGeom>
          <a:noFill/>
          <a:ln/>
        </p:spPr>
        <p:txBody>
          <a:bodyPr wrap="square" lIns="0" tIns="0" rIns="0" bIns="0" rtlCol="0" anchor="ctr"/>
          <a:lstStyle/>
          <a:p>
            <a:pPr marL="0" indent="0">
              <a:buNone/>
            </a:pPr>
            <a:r>
              <a:rPr lang="en-US" sz="4000" b="1" dirty="0">
                <a:solidFill>
                  <a:schemeClr val="accent5"/>
                </a:solidFill>
                <a:latin typeface="+mj-lt" pitchFamily="34" charset="0"/>
                <a:ea typeface="+mj-lt" pitchFamily="34" charset="-122"/>
                <a:cs typeface="+mj-lt" pitchFamily="34" charset="-120"/>
              </a:rPr>
              <a:t>Timelines</a:t>
            </a:r>
            <a:endParaRPr lang="en-US" sz="4000" dirty="0"/>
          </a:p>
        </p:txBody>
      </p:sp>
      <p:sp>
        <p:nvSpPr>
          <p:cNvPr id="5" name="Text 3"/>
          <p:cNvSpPr txBox="1"/>
          <p:nvPr/>
        </p:nvSpPr>
        <p:spPr>
          <a:xfrm>
            <a:off x="731520" y="3017520"/>
            <a:ext cx="5120640" cy="457200"/>
          </a:xfrm>
          <a:prstGeom prst="rect">
            <a:avLst/>
          </a:prstGeom>
          <a:noFill/>
          <a:ln/>
        </p:spPr>
        <p:txBody>
          <a:bodyPr wrap="square" lIns="0" tIns="0" rIns="0" bIns="0" rtlCol="0" anchor="ctr"/>
          <a:lstStyle/>
          <a:p>
            <a:pPr marL="0" indent="0">
              <a:buNone/>
            </a:pPr>
            <a:r>
              <a:rPr lang="en-US" sz="1800" i="1" dirty="0">
                <a:solidFill>
                  <a:schemeClr val="bg1"/>
                </a:solidFill>
              </a:rPr>
              <a:t>Activity 1 · a and b</a:t>
            </a:r>
            <a:endParaRPr lang="en-US" sz="18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1"/>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1: TIMELINE</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Draw a </a:t>
            </a:r>
            <a:r>
              <a:rPr lang="en-US" sz="2000" b="1" u="sng" dirty="0">
                <a:solidFill>
                  <a:schemeClr val="tx1"/>
                </a:solidFill>
              </a:rPr>
              <a:t>timeline</a:t>
            </a:r>
            <a:r>
              <a:rPr lang="en-US" sz="2000" dirty="0">
                <a:solidFill>
                  <a:schemeClr val="tx1"/>
                </a:solidFill>
              </a:rPr>
              <a:t> and summarise the main ideas of the text.</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Each paragraph in the text starts with a date. What might a timeline be? Think of a line with dates along it.</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timeline</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Timeline = a line that shows the time and the order in which events have happened.</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A timeline of my day would start with ______ and end with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a line showing events and when they happened, in order; e.g. wake up … go to bed</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Word 2: CHRONOLOGICAL</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Teacher routine: say it → students repeat → context clue → predict → reveal meaning.</a:t>
            </a:r>
            <a:endParaRPr lang="en-US" sz="1600" dirty="0"/>
          </a:p>
        </p:txBody>
      </p:sp>
      <p:sp>
        <p:nvSpPr>
          <p:cNvPr id="5" name="Context"/>
          <p:cNvSpPr/>
          <p:nvPr/>
        </p:nvSpPr>
        <p:spPr>
          <a:xfrm>
            <a:off x="457200" y="1417320"/>
            <a:ext cx="8229600" cy="1005840"/>
          </a:xfrm>
          <a:prstGeom prst="roundRect">
            <a:avLst>
              <a:gd name="adj" fmla="val 10909"/>
            </a:avLst>
          </a:prstGeom>
          <a:solidFill>
            <a:schemeClr val="accent5"/>
          </a:solidFill>
          <a:ln w="9525">
            <a:solidFill>
              <a:schemeClr val="accent5"/>
            </a:solidFill>
            <a:prstDash val="solid"/>
          </a:ln>
        </p:spPr>
      </p:sp>
      <p:sp>
        <p:nvSpPr>
          <p:cNvPr id="6" name="Text 3"/>
          <p:cNvSpPr txBox="1"/>
          <p:nvPr/>
        </p:nvSpPr>
        <p:spPr>
          <a:xfrm>
            <a:off x="685800" y="1481328"/>
            <a:ext cx="2743200" cy="228600"/>
          </a:xfrm>
          <a:prstGeom prst="rect">
            <a:avLst/>
          </a:prstGeom>
          <a:noFill/>
          <a:ln/>
        </p:spPr>
        <p:txBody>
          <a:bodyPr wrap="square" lIns="0" tIns="0" rIns="0" bIns="0" rtlCol="0" anchor="ctr"/>
          <a:lstStyle/>
          <a:p>
            <a:pPr marL="0" indent="0">
              <a:buNone/>
            </a:pPr>
            <a:r>
              <a:rPr lang="en-US" sz="1100" b="1" dirty="0">
                <a:solidFill>
                  <a:schemeClr val="tx2"/>
                </a:solidFill>
              </a:rPr>
              <a:t>CONTEXT</a:t>
            </a:r>
            <a:endParaRPr lang="en-US" sz="1100" dirty="0"/>
          </a:p>
        </p:txBody>
      </p:sp>
      <p:sp>
        <p:nvSpPr>
          <p:cNvPr id="7" name="Text 4"/>
          <p:cNvSpPr txBox="1"/>
          <p:nvPr/>
        </p:nvSpPr>
        <p:spPr>
          <a:xfrm>
            <a:off x="685800" y="1737360"/>
            <a:ext cx="7772400" cy="640080"/>
          </a:xfrm>
          <a:prstGeom prst="rect">
            <a:avLst/>
          </a:prstGeom>
          <a:noFill/>
          <a:ln/>
        </p:spPr>
        <p:txBody>
          <a:bodyPr wrap="square" lIns="0" tIns="0" rIns="0" bIns="0" rtlCol="0" anchor="t"/>
          <a:lstStyle/>
          <a:p>
            <a:pPr marL="0" indent="0">
              <a:buNone/>
            </a:pPr>
            <a:r>
              <a:rPr lang="en-US" sz="2000" dirty="0">
                <a:solidFill>
                  <a:schemeClr val="tx1"/>
                </a:solidFill>
              </a:rPr>
              <a:t>…in </a:t>
            </a:r>
            <a:r>
              <a:rPr lang="en-US" sz="2000" b="1" u="sng" dirty="0">
                <a:solidFill>
                  <a:schemeClr val="tx1"/>
                </a:solidFill>
              </a:rPr>
              <a:t>chronological</a:t>
            </a:r>
            <a:r>
              <a:rPr lang="en-US" sz="2000" dirty="0">
                <a:solidFill>
                  <a:schemeClr val="tx1"/>
                </a:solidFill>
              </a:rPr>
              <a:t> order. Use dates and key words only.</a:t>
            </a:r>
            <a:endParaRPr lang="en-US" sz="2000" dirty="0"/>
          </a:p>
        </p:txBody>
      </p:sp>
      <p:sp>
        <p:nvSpPr>
          <p:cNvPr id="8" name="Step 1"/>
          <p:cNvSpPr/>
          <p:nvPr/>
        </p:nvSpPr>
        <p:spPr>
          <a:xfrm>
            <a:off x="45720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640080" y="2788920"/>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11" name="Text 8"/>
          <p:cNvSpPr txBox="1"/>
          <p:nvPr/>
        </p:nvSpPr>
        <p:spPr>
          <a:xfrm>
            <a:off x="114300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HEAR &amp; SAY</a:t>
            </a:r>
            <a:endParaRPr lang="en-US" sz="1600" dirty="0"/>
          </a:p>
        </p:txBody>
      </p:sp>
      <p:sp>
        <p:nvSpPr>
          <p:cNvPr id="12" name="Text 9"/>
          <p:cNvSpPr txBox="1"/>
          <p:nvPr/>
        </p:nvSpPr>
        <p:spPr>
          <a:xfrm>
            <a:off x="685800" y="3246120"/>
            <a:ext cx="361188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Teacher reads the context.</a:t>
            </a:r>
            <a:endParaRPr lang="en-US" sz="1400" dirty="0"/>
          </a:p>
          <a:p>
            <a:pPr marL="342900" indent="-342900">
              <a:spcAft>
                <a:spcPts val="400"/>
              </a:spcAft>
              <a:buSzPct val="100000"/>
              <a:buChar char="•"/>
            </a:pPr>
            <a:r>
              <a:rPr lang="en-US" sz="1400" dirty="0">
                <a:solidFill>
                  <a:schemeClr val="tx1"/>
                </a:solidFill>
              </a:rPr>
              <a:t>Students repeat the word twice.</a:t>
            </a:r>
            <a:endParaRPr lang="en-US" sz="1400" dirty="0"/>
          </a:p>
          <a:p>
            <a:pPr marL="342900" indent="-342900">
              <a:spcAft>
                <a:spcPts val="400"/>
              </a:spcAft>
              <a:buSzPct val="100000"/>
              <a:buChar char="•"/>
            </a:pPr>
            <a:r>
              <a:rPr lang="en-US" sz="1400" dirty="0">
                <a:solidFill>
                  <a:schemeClr val="tx1"/>
                </a:solidFill>
              </a:rPr>
              <a:t>Ask: “What do you notice?”</a:t>
            </a:r>
            <a:endParaRPr lang="en-US" sz="1400" dirty="0"/>
          </a:p>
        </p:txBody>
      </p:sp>
      <p:sp>
        <p:nvSpPr>
          <p:cNvPr id="13" name="Step 2"/>
          <p:cNvSpPr/>
          <p:nvPr/>
        </p:nvSpPr>
        <p:spPr>
          <a:xfrm>
            <a:off x="4663440" y="2651760"/>
            <a:ext cx="4023360" cy="1828800"/>
          </a:xfrm>
          <a:prstGeom prst="roundRect">
            <a:avLst>
              <a:gd name="adj" fmla="val 6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4846320" y="278892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4846320" y="27889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6" name="Text 13"/>
          <p:cNvSpPr txBox="1"/>
          <p:nvPr/>
        </p:nvSpPr>
        <p:spPr>
          <a:xfrm>
            <a:off x="5349240" y="2788920"/>
            <a:ext cx="310896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DISCOVER</a:t>
            </a:r>
            <a:endParaRPr lang="en-US" sz="1600" dirty="0"/>
          </a:p>
        </p:txBody>
      </p:sp>
      <p:sp>
        <p:nvSpPr>
          <p:cNvPr id="17" name="Text 14"/>
          <p:cNvSpPr txBox="1"/>
          <p:nvPr/>
        </p:nvSpPr>
        <p:spPr>
          <a:xfrm>
            <a:off x="4892040" y="3246120"/>
            <a:ext cx="3611880" cy="114300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Chrono comes from the Greek word for time. Which list is chronological: 1969, 1957, 1961 or 1957, 1961, 1969?</a:t>
            </a:r>
            <a:endParaRPr lang="en-US" sz="1400" dirty="0"/>
          </a:p>
          <a:p>
            <a:pPr marL="0" indent="0">
              <a:spcAft>
                <a:spcPts val="600"/>
              </a:spcAft>
              <a:buNone/>
            </a:pPr>
            <a:r>
              <a:rPr lang="en-US" sz="1400" i="1" dirty="0">
                <a:solidFill>
                  <a:schemeClr val="tx2"/>
                </a:solidFill>
              </a:rPr>
              <a:t>Take 2–3 guesses before revealing.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Use &amp; check: chronological</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Now students must prove they understand the word.</a:t>
            </a:r>
            <a:endParaRPr lang="en-US" sz="1600" dirty="0"/>
          </a:p>
        </p:txBody>
      </p:sp>
      <p:sp>
        <p:nvSpPr>
          <p:cNvPr id="5" name="Teacher model"/>
          <p:cNvSpPr/>
          <p:nvPr/>
        </p:nvSpPr>
        <p:spPr>
          <a:xfrm>
            <a:off x="45720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TEACHER MODEL</a:t>
            </a:r>
            <a:endParaRPr lang="en-US" sz="1200" dirty="0"/>
          </a:p>
        </p:txBody>
      </p:sp>
      <p:sp>
        <p:nvSpPr>
          <p:cNvPr id="7" name="Text 4"/>
          <p:cNvSpPr txBox="1"/>
          <p:nvPr/>
        </p:nvSpPr>
        <p:spPr>
          <a:xfrm>
            <a:off x="68580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Chronological = when events are in the order in which they occurred.</a:t>
            </a:r>
            <a:endParaRPr lang="en-US" sz="1600" dirty="0"/>
          </a:p>
        </p:txBody>
      </p:sp>
      <p:sp>
        <p:nvSpPr>
          <p:cNvPr id="8" name="Student use"/>
          <p:cNvSpPr/>
          <p:nvPr/>
        </p:nvSpPr>
        <p:spPr>
          <a:xfrm>
            <a:off x="4663440" y="1417320"/>
            <a:ext cx="40233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Text 6"/>
          <p:cNvSpPr txBox="1"/>
          <p:nvPr/>
        </p:nvSpPr>
        <p:spPr>
          <a:xfrm>
            <a:off x="4892040" y="1508760"/>
            <a:ext cx="3566160" cy="274320"/>
          </a:xfrm>
          <a:prstGeom prst="rect">
            <a:avLst/>
          </a:prstGeom>
          <a:noFill/>
          <a:ln/>
        </p:spPr>
        <p:txBody>
          <a:bodyPr wrap="square" lIns="0" tIns="0" rIns="0" bIns="0" rtlCol="0" anchor="ctr"/>
          <a:lstStyle/>
          <a:p>
            <a:pPr marL="0" indent="0">
              <a:buNone/>
            </a:pPr>
            <a:r>
              <a:rPr lang="en-US" sz="1200" b="1" dirty="0">
                <a:solidFill>
                  <a:schemeClr val="accent4"/>
                </a:solidFill>
              </a:rPr>
              <a:t>STUDENT USE</a:t>
            </a:r>
            <a:endParaRPr lang="en-US" sz="1200" dirty="0"/>
          </a:p>
        </p:txBody>
      </p:sp>
      <p:sp>
        <p:nvSpPr>
          <p:cNvPr id="10" name="Text 7"/>
          <p:cNvSpPr txBox="1"/>
          <p:nvPr/>
        </p:nvSpPr>
        <p:spPr>
          <a:xfrm>
            <a:off x="4892040" y="1828800"/>
            <a:ext cx="3611880" cy="914400"/>
          </a:xfrm>
          <a:prstGeom prst="rect">
            <a:avLst/>
          </a:prstGeom>
          <a:noFill/>
          <a:ln/>
        </p:spPr>
        <p:txBody>
          <a:bodyPr wrap="square" lIns="0" tIns="0" rIns="0" bIns="0" rtlCol="0" anchor="t"/>
          <a:lstStyle/>
          <a:p>
            <a:pPr marL="0" indent="0">
              <a:buNone/>
            </a:pPr>
            <a:r>
              <a:rPr lang="en-US" sz="1600" dirty="0">
                <a:solidFill>
                  <a:schemeClr val="tx1"/>
                </a:solidFill>
              </a:rPr>
              <a:t>In chronological order, ______ comes before ______.</a:t>
            </a:r>
            <a:endParaRPr lang="en-US" sz="1600" dirty="0"/>
          </a:p>
        </p:txBody>
      </p:sp>
      <p:sp>
        <p:nvSpPr>
          <p:cNvPr id="11" name="Pair check"/>
          <p:cNvSpPr/>
          <p:nvPr/>
        </p:nvSpPr>
        <p:spPr>
          <a:xfrm>
            <a:off x="457200" y="3017520"/>
            <a:ext cx="8229600" cy="640080"/>
          </a:xfrm>
          <a:prstGeom prst="roundRect">
            <a:avLst>
              <a:gd name="adj" fmla="val 17143"/>
            </a:avLst>
          </a:prstGeom>
          <a:solidFill>
            <a:schemeClr val="accent4"/>
          </a:solidFill>
          <a:ln w="9525">
            <a:solidFill>
              <a:schemeClr val="accent4"/>
            </a:solidFill>
            <a:prstDash val="solid"/>
          </a:ln>
        </p:spPr>
      </p:sp>
      <p:sp>
        <p:nvSpPr>
          <p:cNvPr id="12" name="Text 9"/>
          <p:cNvSpPr txBox="1"/>
          <p:nvPr/>
        </p:nvSpPr>
        <p:spPr>
          <a:xfrm>
            <a:off x="640080" y="3017520"/>
            <a:ext cx="7863840" cy="640080"/>
          </a:xfrm>
          <a:prstGeom prst="rect">
            <a:avLst/>
          </a:prstGeom>
          <a:noFill/>
          <a:ln/>
        </p:spPr>
        <p:txBody>
          <a:bodyPr wrap="square" lIns="0" tIns="0" rIns="0" bIns="0" rtlCol="0" anchor="ctr"/>
          <a:lstStyle/>
          <a:p>
            <a:pPr marL="0" indent="0">
              <a:buNone/>
            </a:pPr>
            <a:r>
              <a:rPr lang="en-US" sz="1400" b="1" dirty="0">
                <a:solidFill>
                  <a:schemeClr val="accent5"/>
                </a:solidFill>
              </a:rPr>
              <a:t>PAIR CHECK → </a:t>
            </a:r>
            <a:r>
              <a:rPr lang="en-US" sz="1400" dirty="0">
                <a:solidFill>
                  <a:schemeClr val="bg1"/>
                </a:solidFill>
              </a:rPr>
              <a:t>Your partner explains why the word fits. A sentence that only copies the model is not enough.</a:t>
            </a:r>
            <a:endParaRPr lang="en-US" sz="1400" dirty="0"/>
          </a:p>
        </p:txBody>
      </p:sp>
      <p:sp>
        <p:nvSpPr>
          <p:cNvPr id="13" name="Quick answer"/>
          <p:cNvSpPr/>
          <p:nvPr/>
        </p:nvSpPr>
        <p:spPr>
          <a:xfrm>
            <a:off x="457200" y="3840480"/>
            <a:ext cx="8229600" cy="548640"/>
          </a:xfrm>
          <a:prstGeom prst="roundRect">
            <a:avLst>
              <a:gd name="adj" fmla="val 20000"/>
            </a:avLst>
          </a:prstGeom>
          <a:solidFill>
            <a:schemeClr val="accent5"/>
          </a:solidFill>
          <a:ln w="9525">
            <a:solidFill>
              <a:schemeClr val="accent5"/>
            </a:solidFill>
            <a:prstDash val="solid"/>
          </a:ln>
        </p:spPr>
      </p:sp>
      <p:sp>
        <p:nvSpPr>
          <p:cNvPr id="14" name="Text 11"/>
          <p:cNvSpPr txBox="1"/>
          <p:nvPr/>
        </p:nvSpPr>
        <p:spPr>
          <a:xfrm>
            <a:off x="640080" y="3840480"/>
            <a:ext cx="7863840" cy="548640"/>
          </a:xfrm>
          <a:prstGeom prst="rect">
            <a:avLst/>
          </a:prstGeom>
          <a:noFill/>
          <a:ln/>
        </p:spPr>
        <p:txBody>
          <a:bodyPr wrap="square" lIns="0" tIns="0" rIns="0" bIns="0" rtlCol="0" anchor="ctr"/>
          <a:lstStyle/>
          <a:p>
            <a:pPr marL="0" indent="0" algn="ctr">
              <a:buNone/>
            </a:pPr>
            <a:r>
              <a:rPr lang="en-US" sz="1500" b="1" dirty="0">
                <a:solidFill>
                  <a:schemeClr val="tx1"/>
                </a:solidFill>
              </a:rPr>
              <a:t>QUICK ANSWER / LOOK FOR: </a:t>
            </a:r>
            <a:r>
              <a:rPr lang="en-US" sz="1500" dirty="0">
                <a:solidFill>
                  <a:schemeClr val="tx1"/>
                </a:solidFill>
              </a:rPr>
              <a:t>in time order, earliest first; e.g. 1957 then 1961 then 1969</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Draw a timeline</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In pairs, draw a timeline and summarise the main ideas of the text in chronological order. Use dates and key words only.</a:t>
            </a:r>
            <a:endParaRPr lang="en-US" sz="1600" dirty="0"/>
          </a:p>
        </p:txBody>
      </p:sp>
      <p:sp>
        <p:nvSpPr>
          <p:cNvPr id="5" name="Row 1"/>
          <p:cNvSpPr/>
          <p:nvPr/>
        </p:nvSpPr>
        <p:spPr>
          <a:xfrm>
            <a:off x="457200" y="1645920"/>
            <a:ext cx="8229600" cy="566928"/>
          </a:xfrm>
          <a:prstGeom prst="roundRect">
            <a:avLst>
              <a:gd name="adj" fmla="val 1935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594360" y="1746504"/>
            <a:ext cx="365760" cy="365760"/>
          </a:xfrm>
          <a:prstGeom prst="ellipse">
            <a:avLst/>
          </a:prstGeom>
          <a:solidFill>
            <a:schemeClr val="accent1"/>
          </a:solidFill>
          <a:ln w="6350">
            <a:solidFill>
              <a:schemeClr val="accent1"/>
            </a:solidFill>
            <a:prstDash val="solid"/>
          </a:ln>
        </p:spPr>
      </p:sp>
      <p:sp>
        <p:nvSpPr>
          <p:cNvPr id="7" name="Text 4"/>
          <p:cNvSpPr txBox="1"/>
          <p:nvPr/>
        </p:nvSpPr>
        <p:spPr>
          <a:xfrm>
            <a:off x="594360" y="174650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8" name="Text 5"/>
          <p:cNvSpPr txBox="1"/>
          <p:nvPr/>
        </p:nvSpPr>
        <p:spPr>
          <a:xfrm>
            <a:off x="1143000" y="1645920"/>
            <a:ext cx="7315200" cy="566928"/>
          </a:xfrm>
          <a:prstGeom prst="rect">
            <a:avLst/>
          </a:prstGeom>
          <a:noFill/>
          <a:ln/>
        </p:spPr>
        <p:txBody>
          <a:bodyPr wrap="square" lIns="0" tIns="0" rIns="0" bIns="0" rtlCol="0" anchor="ctr"/>
          <a:lstStyle/>
          <a:p>
            <a:pPr marL="0" indent="0">
              <a:buNone/>
            </a:pPr>
            <a:r>
              <a:rPr lang="en-US" sz="1600" dirty="0">
                <a:solidFill>
                  <a:schemeClr val="tx1"/>
                </a:solidFill>
              </a:rPr>
              <a:t>Scan the text for every date.</a:t>
            </a:r>
            <a:endParaRPr lang="en-US" sz="1600" dirty="0"/>
          </a:p>
        </p:txBody>
      </p:sp>
      <p:sp>
        <p:nvSpPr>
          <p:cNvPr id="9" name="Row 2"/>
          <p:cNvSpPr/>
          <p:nvPr/>
        </p:nvSpPr>
        <p:spPr>
          <a:xfrm>
            <a:off x="457200" y="2322576"/>
            <a:ext cx="8229600" cy="566928"/>
          </a:xfrm>
          <a:prstGeom prst="roundRect">
            <a:avLst>
              <a:gd name="adj" fmla="val 1935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94360" y="2423160"/>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42316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2322576"/>
            <a:ext cx="7315200" cy="566928"/>
          </a:xfrm>
          <a:prstGeom prst="rect">
            <a:avLst/>
          </a:prstGeom>
          <a:noFill/>
          <a:ln/>
        </p:spPr>
        <p:txBody>
          <a:bodyPr wrap="square" lIns="0" tIns="0" rIns="0" bIns="0" rtlCol="0" anchor="ctr"/>
          <a:lstStyle/>
          <a:p>
            <a:pPr marL="0" indent="0">
              <a:buNone/>
            </a:pPr>
            <a:r>
              <a:rPr lang="en-US" sz="1600" dirty="0">
                <a:solidFill>
                  <a:schemeClr val="tx1"/>
                </a:solidFill>
              </a:rPr>
              <a:t>Write each date with 2–4 key words, not a full sentence.</a:t>
            </a:r>
            <a:endParaRPr lang="en-US" sz="1600" dirty="0"/>
          </a:p>
        </p:txBody>
      </p:sp>
      <p:sp>
        <p:nvSpPr>
          <p:cNvPr id="13" name="Row 3"/>
          <p:cNvSpPr/>
          <p:nvPr/>
        </p:nvSpPr>
        <p:spPr>
          <a:xfrm>
            <a:off x="457200" y="2999232"/>
            <a:ext cx="8229600" cy="566928"/>
          </a:xfrm>
          <a:prstGeom prst="roundRect">
            <a:avLst>
              <a:gd name="adj" fmla="val 1935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594360" y="3099816"/>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594360" y="309981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6" name="Text 13"/>
          <p:cNvSpPr txBox="1"/>
          <p:nvPr/>
        </p:nvSpPr>
        <p:spPr>
          <a:xfrm>
            <a:off x="1143000" y="2999232"/>
            <a:ext cx="7315200" cy="566928"/>
          </a:xfrm>
          <a:prstGeom prst="rect">
            <a:avLst/>
          </a:prstGeom>
          <a:noFill/>
          <a:ln/>
        </p:spPr>
        <p:txBody>
          <a:bodyPr wrap="square" lIns="0" tIns="0" rIns="0" bIns="0" rtlCol="0" anchor="ctr"/>
          <a:lstStyle/>
          <a:p>
            <a:pPr marL="0" indent="0">
              <a:buNone/>
            </a:pPr>
            <a:r>
              <a:rPr lang="en-US" sz="1600" dirty="0">
                <a:solidFill>
                  <a:schemeClr val="tx1"/>
                </a:solidFill>
              </a:rPr>
              <a:t>Put the events in chronological order along a line.</a:t>
            </a:r>
            <a:endParaRPr lang="en-US" sz="1600" dirty="0"/>
          </a:p>
        </p:txBody>
      </p:sp>
      <p:sp>
        <p:nvSpPr>
          <p:cNvPr id="17" name="Row 4"/>
          <p:cNvSpPr/>
          <p:nvPr/>
        </p:nvSpPr>
        <p:spPr>
          <a:xfrm>
            <a:off x="457200" y="3675888"/>
            <a:ext cx="8229600" cy="566928"/>
          </a:xfrm>
          <a:prstGeom prst="roundRect">
            <a:avLst>
              <a:gd name="adj" fmla="val 1935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594360" y="3776472"/>
            <a:ext cx="365760" cy="365760"/>
          </a:xfrm>
          <a:prstGeom prst="ellipse">
            <a:avLst/>
          </a:prstGeom>
          <a:solidFill>
            <a:schemeClr val="accent4"/>
          </a:solidFill>
          <a:ln w="6350">
            <a:solidFill>
              <a:schemeClr val="accent4"/>
            </a:solidFill>
            <a:prstDash val="solid"/>
          </a:ln>
        </p:spPr>
      </p:sp>
      <p:sp>
        <p:nvSpPr>
          <p:cNvPr id="19" name="Text 16"/>
          <p:cNvSpPr txBox="1"/>
          <p:nvPr/>
        </p:nvSpPr>
        <p:spPr>
          <a:xfrm>
            <a:off x="594360" y="3776472"/>
            <a:ext cx="365760" cy="36576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0" name="Text 17"/>
          <p:cNvSpPr txBox="1"/>
          <p:nvPr/>
        </p:nvSpPr>
        <p:spPr>
          <a:xfrm>
            <a:off x="1143000" y="3675888"/>
            <a:ext cx="7315200" cy="566928"/>
          </a:xfrm>
          <a:prstGeom prst="rect">
            <a:avLst/>
          </a:prstGeom>
          <a:noFill/>
          <a:ln/>
        </p:spPr>
        <p:txBody>
          <a:bodyPr wrap="square" lIns="0" tIns="0" rIns="0" bIns="0" rtlCol="0" anchor="ctr"/>
          <a:lstStyle/>
          <a:p>
            <a:pPr marL="0" indent="0">
              <a:buNone/>
            </a:pPr>
            <a:r>
              <a:rPr lang="en-US" sz="1600" dirty="0">
                <a:solidFill>
                  <a:schemeClr val="tx1"/>
                </a:solidFill>
              </a:rPr>
              <a:t>Check: is every event in the right place?</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From sentence to note</a:t>
            </a:r>
            <a:endParaRPr lang="en-US" sz="3000" dirty="0"/>
          </a:p>
        </p:txBody>
      </p:sp>
      <p:sp>
        <p:nvSpPr>
          <p:cNvPr id="4" name="Sentence 1"/>
          <p:cNvSpPr/>
          <p:nvPr/>
        </p:nvSpPr>
        <p:spPr>
          <a:xfrm>
            <a:off x="457200" y="1097280"/>
            <a:ext cx="4754880" cy="1280160"/>
          </a:xfrm>
          <a:prstGeom prst="roundRect">
            <a:avLst>
              <a:gd name="adj" fmla="val 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Text 2"/>
          <p:cNvSpPr txBox="1"/>
          <p:nvPr/>
        </p:nvSpPr>
        <p:spPr>
          <a:xfrm>
            <a:off x="640080" y="1170432"/>
            <a:ext cx="2743200" cy="256032"/>
          </a:xfrm>
          <a:prstGeom prst="rect">
            <a:avLst/>
          </a:prstGeom>
          <a:noFill/>
          <a:ln/>
        </p:spPr>
        <p:txBody>
          <a:bodyPr wrap="square" lIns="0" tIns="0" rIns="0" bIns="0" rtlCol="0" anchor="ctr"/>
          <a:lstStyle/>
          <a:p>
            <a:pPr marL="0" indent="0">
              <a:buNone/>
            </a:pPr>
            <a:r>
              <a:rPr lang="en-US" sz="1100" b="1" dirty="0">
                <a:solidFill>
                  <a:schemeClr val="accent4"/>
                </a:solidFill>
              </a:rPr>
              <a:t>SENTENCE</a:t>
            </a:r>
            <a:endParaRPr lang="en-US" sz="1100" dirty="0"/>
          </a:p>
        </p:txBody>
      </p:sp>
      <p:sp>
        <p:nvSpPr>
          <p:cNvPr id="6" name="Text 3"/>
          <p:cNvSpPr txBox="1"/>
          <p:nvPr/>
        </p:nvSpPr>
        <p:spPr>
          <a:xfrm>
            <a:off x="640080" y="1444752"/>
            <a:ext cx="4389120" cy="868680"/>
          </a:xfrm>
          <a:prstGeom prst="rect">
            <a:avLst/>
          </a:prstGeom>
          <a:noFill/>
          <a:ln/>
        </p:spPr>
        <p:txBody>
          <a:bodyPr wrap="square" lIns="0" tIns="0" rIns="0" bIns="0" rtlCol="0" anchor="t"/>
          <a:lstStyle/>
          <a:p>
            <a:pPr marL="0" indent="0">
              <a:buNone/>
            </a:pPr>
            <a:r>
              <a:rPr lang="en-US" sz="1400" dirty="0">
                <a:solidFill>
                  <a:schemeClr val="tx1"/>
                </a:solidFill>
              </a:rPr>
              <a:t>In 1543, the Polish astronomer Nicolaus Copernicus published his ideas that the Earth revolved around the Sun.</a:t>
            </a:r>
            <a:endParaRPr lang="en-US" sz="1400" dirty="0"/>
          </a:p>
        </p:txBody>
      </p:sp>
      <p:sp>
        <p:nvSpPr>
          <p:cNvPr id="7" name="Text 4"/>
          <p:cNvSpPr txBox="1"/>
          <p:nvPr/>
        </p:nvSpPr>
        <p:spPr>
          <a:xfrm>
            <a:off x="5212080" y="1417320"/>
            <a:ext cx="457200" cy="640080"/>
          </a:xfrm>
          <a:prstGeom prst="rect">
            <a:avLst/>
          </a:prstGeom>
          <a:noFill/>
          <a:ln/>
        </p:spPr>
        <p:txBody>
          <a:bodyPr wrap="square" lIns="0" tIns="0" rIns="0" bIns="0" rtlCol="0" anchor="ctr"/>
          <a:lstStyle/>
          <a:p>
            <a:pPr marL="0" indent="0" algn="ctr">
              <a:buNone/>
            </a:pPr>
            <a:r>
              <a:rPr lang="en-US" sz="3000" b="1" dirty="0">
                <a:solidFill>
                  <a:schemeClr val="accent4"/>
                </a:solidFill>
              </a:rPr>
              <a:t>→</a:t>
            </a:r>
            <a:endParaRPr lang="en-US" sz="3000" dirty="0"/>
          </a:p>
        </p:txBody>
      </p:sp>
      <p:sp>
        <p:nvSpPr>
          <p:cNvPr id="8" name="Note 1"/>
          <p:cNvSpPr/>
          <p:nvPr/>
        </p:nvSpPr>
        <p:spPr>
          <a:xfrm>
            <a:off x="5669280" y="1097280"/>
            <a:ext cx="3017520" cy="1280160"/>
          </a:xfrm>
          <a:prstGeom prst="roundRect">
            <a:avLst>
              <a:gd name="adj" fmla="val 8571"/>
            </a:avLst>
          </a:prstGeom>
          <a:solidFill>
            <a:schemeClr val="accent5"/>
          </a:solidFill>
          <a:ln w="9525">
            <a:solidFill>
              <a:schemeClr val="accent5"/>
            </a:solidFill>
            <a:prstDash val="solid"/>
          </a:ln>
        </p:spPr>
      </p:sp>
      <p:sp>
        <p:nvSpPr>
          <p:cNvPr id="9" name="Text 6"/>
          <p:cNvSpPr txBox="1"/>
          <p:nvPr/>
        </p:nvSpPr>
        <p:spPr>
          <a:xfrm>
            <a:off x="5852160" y="1170432"/>
            <a:ext cx="1828800" cy="256032"/>
          </a:xfrm>
          <a:prstGeom prst="rect">
            <a:avLst/>
          </a:prstGeom>
          <a:noFill/>
          <a:ln/>
        </p:spPr>
        <p:txBody>
          <a:bodyPr wrap="square" lIns="0" tIns="0" rIns="0" bIns="0" rtlCol="0" anchor="ctr"/>
          <a:lstStyle/>
          <a:p>
            <a:pPr marL="0" indent="0">
              <a:buNone/>
            </a:pPr>
            <a:r>
              <a:rPr lang="en-US" sz="1100" b="1" dirty="0">
                <a:solidFill>
                  <a:schemeClr val="tx2"/>
                </a:solidFill>
              </a:rPr>
              <a:t>NOTE</a:t>
            </a:r>
            <a:endParaRPr lang="en-US" sz="1100" dirty="0"/>
          </a:p>
        </p:txBody>
      </p:sp>
      <p:sp>
        <p:nvSpPr>
          <p:cNvPr id="10" name="Text 7"/>
          <p:cNvSpPr txBox="1"/>
          <p:nvPr/>
        </p:nvSpPr>
        <p:spPr>
          <a:xfrm>
            <a:off x="5852160" y="1444752"/>
            <a:ext cx="2697480" cy="868680"/>
          </a:xfrm>
          <a:prstGeom prst="rect">
            <a:avLst/>
          </a:prstGeom>
          <a:noFill/>
          <a:ln/>
        </p:spPr>
        <p:txBody>
          <a:bodyPr wrap="square" lIns="0" tIns="0" rIns="0" bIns="0" rtlCol="0" anchor="t"/>
          <a:lstStyle/>
          <a:p>
            <a:pPr marL="0" indent="0">
              <a:buNone/>
            </a:pPr>
            <a:r>
              <a:rPr lang="en-US" sz="1600" b="1" dirty="0">
                <a:solidFill>
                  <a:schemeClr val="tx1"/>
                </a:solidFill>
              </a:rPr>
              <a:t>1543 · Copernicus · Earth goes round Sun</a:t>
            </a:r>
            <a:endParaRPr lang="en-US" sz="1600" dirty="0"/>
          </a:p>
        </p:txBody>
      </p:sp>
      <p:sp>
        <p:nvSpPr>
          <p:cNvPr id="11" name="Sentence 2"/>
          <p:cNvSpPr/>
          <p:nvPr/>
        </p:nvSpPr>
        <p:spPr>
          <a:xfrm>
            <a:off x="457200" y="2560320"/>
            <a:ext cx="4754880" cy="1280160"/>
          </a:xfrm>
          <a:prstGeom prst="roundRect">
            <a:avLst>
              <a:gd name="adj" fmla="val 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2" name="Text 9"/>
          <p:cNvSpPr txBox="1"/>
          <p:nvPr/>
        </p:nvSpPr>
        <p:spPr>
          <a:xfrm>
            <a:off x="640080" y="2633472"/>
            <a:ext cx="2743200" cy="256032"/>
          </a:xfrm>
          <a:prstGeom prst="rect">
            <a:avLst/>
          </a:prstGeom>
          <a:noFill/>
          <a:ln/>
        </p:spPr>
        <p:txBody>
          <a:bodyPr wrap="square" lIns="0" tIns="0" rIns="0" bIns="0" rtlCol="0" anchor="ctr"/>
          <a:lstStyle/>
          <a:p>
            <a:pPr marL="0" indent="0">
              <a:buNone/>
            </a:pPr>
            <a:r>
              <a:rPr lang="en-US" sz="1100" b="1" dirty="0">
                <a:solidFill>
                  <a:schemeClr val="accent4"/>
                </a:solidFill>
              </a:rPr>
              <a:t>SENTENCE</a:t>
            </a:r>
            <a:endParaRPr lang="en-US" sz="1100" dirty="0"/>
          </a:p>
        </p:txBody>
      </p:sp>
      <p:sp>
        <p:nvSpPr>
          <p:cNvPr id="13" name="Text 10"/>
          <p:cNvSpPr txBox="1"/>
          <p:nvPr/>
        </p:nvSpPr>
        <p:spPr>
          <a:xfrm>
            <a:off x="640080" y="2907792"/>
            <a:ext cx="4389120" cy="868680"/>
          </a:xfrm>
          <a:prstGeom prst="rect">
            <a:avLst/>
          </a:prstGeom>
          <a:noFill/>
          <a:ln/>
        </p:spPr>
        <p:txBody>
          <a:bodyPr wrap="square" lIns="0" tIns="0" rIns="0" bIns="0" rtlCol="0" anchor="t"/>
          <a:lstStyle/>
          <a:p>
            <a:pPr marL="0" indent="0">
              <a:buNone/>
            </a:pPr>
            <a:r>
              <a:rPr lang="en-US" sz="1400" dirty="0">
                <a:solidFill>
                  <a:schemeClr val="tx1"/>
                </a:solidFill>
              </a:rPr>
              <a:t>On 12 April 1961, Russian cosmonaut Yuri Gagarin became the first person in space.</a:t>
            </a:r>
            <a:endParaRPr lang="en-US" sz="1400" dirty="0"/>
          </a:p>
        </p:txBody>
      </p:sp>
      <p:sp>
        <p:nvSpPr>
          <p:cNvPr id="14" name="Text 11"/>
          <p:cNvSpPr txBox="1"/>
          <p:nvPr/>
        </p:nvSpPr>
        <p:spPr>
          <a:xfrm>
            <a:off x="5212080" y="2880360"/>
            <a:ext cx="457200" cy="640080"/>
          </a:xfrm>
          <a:prstGeom prst="rect">
            <a:avLst/>
          </a:prstGeom>
          <a:noFill/>
          <a:ln/>
        </p:spPr>
        <p:txBody>
          <a:bodyPr wrap="square" lIns="0" tIns="0" rIns="0" bIns="0" rtlCol="0" anchor="ctr"/>
          <a:lstStyle/>
          <a:p>
            <a:pPr marL="0" indent="0" algn="ctr">
              <a:buNone/>
            </a:pPr>
            <a:r>
              <a:rPr lang="en-US" sz="3000" b="1" dirty="0">
                <a:solidFill>
                  <a:schemeClr val="accent4"/>
                </a:solidFill>
              </a:rPr>
              <a:t>→</a:t>
            </a:r>
            <a:endParaRPr lang="en-US" sz="3000" dirty="0"/>
          </a:p>
        </p:txBody>
      </p:sp>
      <p:sp>
        <p:nvSpPr>
          <p:cNvPr id="15" name="Note 2"/>
          <p:cNvSpPr/>
          <p:nvPr/>
        </p:nvSpPr>
        <p:spPr>
          <a:xfrm>
            <a:off x="5669280" y="2560320"/>
            <a:ext cx="3017520" cy="1280160"/>
          </a:xfrm>
          <a:prstGeom prst="roundRect">
            <a:avLst>
              <a:gd name="adj" fmla="val 8571"/>
            </a:avLst>
          </a:prstGeom>
          <a:solidFill>
            <a:schemeClr val="accent5"/>
          </a:solidFill>
          <a:ln w="9525">
            <a:solidFill>
              <a:schemeClr val="accent5"/>
            </a:solidFill>
            <a:prstDash val="solid"/>
          </a:ln>
        </p:spPr>
      </p:sp>
      <p:sp>
        <p:nvSpPr>
          <p:cNvPr id="16" name="Text 13"/>
          <p:cNvSpPr txBox="1"/>
          <p:nvPr/>
        </p:nvSpPr>
        <p:spPr>
          <a:xfrm>
            <a:off x="5852160" y="2633472"/>
            <a:ext cx="1828800" cy="256032"/>
          </a:xfrm>
          <a:prstGeom prst="rect">
            <a:avLst/>
          </a:prstGeom>
          <a:noFill/>
          <a:ln/>
        </p:spPr>
        <p:txBody>
          <a:bodyPr wrap="square" lIns="0" tIns="0" rIns="0" bIns="0" rtlCol="0" anchor="ctr"/>
          <a:lstStyle/>
          <a:p>
            <a:pPr marL="0" indent="0">
              <a:buNone/>
            </a:pPr>
            <a:r>
              <a:rPr lang="en-US" sz="1100" b="1" dirty="0">
                <a:solidFill>
                  <a:schemeClr val="tx2"/>
                </a:solidFill>
              </a:rPr>
              <a:t>NOTE</a:t>
            </a:r>
            <a:endParaRPr lang="en-US" sz="1100" dirty="0"/>
          </a:p>
        </p:txBody>
      </p:sp>
      <p:sp>
        <p:nvSpPr>
          <p:cNvPr id="17" name="Text 14"/>
          <p:cNvSpPr txBox="1"/>
          <p:nvPr/>
        </p:nvSpPr>
        <p:spPr>
          <a:xfrm>
            <a:off x="5852160" y="2907792"/>
            <a:ext cx="2697480" cy="868680"/>
          </a:xfrm>
          <a:prstGeom prst="rect">
            <a:avLst/>
          </a:prstGeom>
          <a:noFill/>
          <a:ln/>
        </p:spPr>
        <p:txBody>
          <a:bodyPr wrap="square" lIns="0" tIns="0" rIns="0" bIns="0" rtlCol="0" anchor="t"/>
          <a:lstStyle/>
          <a:p>
            <a:pPr marL="0" indent="0">
              <a:buNone/>
            </a:pPr>
            <a:r>
              <a:rPr lang="en-US" sz="1600" b="1" dirty="0">
                <a:solidFill>
                  <a:schemeClr val="tx1"/>
                </a:solidFill>
              </a:rPr>
              <a:t>12 Apr 1961 · Gagarin · 1st person in space</a:t>
            </a:r>
            <a:endParaRPr lang="en-US" sz="1600" dirty="0"/>
          </a:p>
        </p:txBody>
      </p:sp>
      <p:sp>
        <p:nvSpPr>
          <p:cNvPr id="18" name="Callout"/>
          <p:cNvSpPr/>
          <p:nvPr/>
        </p:nvSpPr>
        <p:spPr>
          <a:xfrm>
            <a:off x="457200" y="4114800"/>
            <a:ext cx="8229600" cy="457200"/>
          </a:xfrm>
          <a:prstGeom prst="roundRect">
            <a:avLst>
              <a:gd name="adj" fmla="val 24000"/>
            </a:avLst>
          </a:prstGeom>
          <a:solidFill>
            <a:schemeClr val="accent5"/>
          </a:solidFill>
          <a:ln w="9525">
            <a:solidFill>
              <a:schemeClr val="accent5"/>
            </a:solidFill>
            <a:prstDash val="solid"/>
          </a:ln>
        </p:spPr>
      </p:sp>
      <p:sp>
        <p:nvSpPr>
          <p:cNvPr id="19" name="Text 16"/>
          <p:cNvSpPr txBox="1"/>
          <p:nvPr/>
        </p:nvSpPr>
        <p:spPr>
          <a:xfrm>
            <a:off x="640080" y="4114800"/>
            <a:ext cx="7863840" cy="457200"/>
          </a:xfrm>
          <a:prstGeom prst="rect">
            <a:avLst/>
          </a:prstGeom>
          <a:noFill/>
          <a:ln/>
        </p:spPr>
        <p:txBody>
          <a:bodyPr wrap="square" lIns="0" tIns="0" rIns="0" bIns="0" rtlCol="0" anchor="ctr"/>
          <a:lstStyle/>
          <a:p>
            <a:pPr marL="0" indent="0" algn="ctr">
              <a:buNone/>
            </a:pPr>
            <a:r>
              <a:rPr lang="en-US" sz="1600" b="1" dirty="0">
                <a:solidFill>
                  <a:schemeClr val="tx1"/>
                </a:solidFill>
              </a:rPr>
              <a:t>Keep: dates, names, key verbs.   Cut: small words (the, his, that).</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Model timeline 1: early astronomy</a:t>
            </a:r>
            <a:endParaRPr lang="en-US" sz="3000" dirty="0"/>
          </a:p>
        </p:txBody>
      </p:sp>
      <p:sp>
        <p:nvSpPr>
          <p:cNvPr id="4" name="Timeline line"/>
          <p:cNvSpPr/>
          <p:nvPr/>
        </p:nvSpPr>
        <p:spPr>
          <a:xfrm>
            <a:off x="640080" y="2606040"/>
            <a:ext cx="7863840" cy="0"/>
          </a:xfrm>
          <a:prstGeom prst="line">
            <a:avLst/>
          </a:prstGeom>
          <a:noFill/>
          <a:ln w="38100">
            <a:solidFill>
              <a:schemeClr val="accent4"/>
            </a:solidFill>
            <a:prstDash val="solid"/>
          </a:ln>
        </p:spPr>
      </p:sp>
      <p:sp>
        <p:nvSpPr>
          <p:cNvPr id="5" name="Stem"/>
          <p:cNvSpPr/>
          <p:nvPr/>
        </p:nvSpPr>
        <p:spPr>
          <a:xfrm>
            <a:off x="1325880" y="2148840"/>
            <a:ext cx="0" cy="457200"/>
          </a:xfrm>
          <a:prstGeom prst="line">
            <a:avLst/>
          </a:prstGeom>
          <a:noFill/>
          <a:ln w="19050">
            <a:solidFill>
              <a:schemeClr val="accent4"/>
            </a:solidFill>
            <a:prstDash val="solid"/>
          </a:ln>
        </p:spPr>
      </p:sp>
      <p:sp>
        <p:nvSpPr>
          <p:cNvPr id="6" name="Timeline node"/>
          <p:cNvSpPr/>
          <p:nvPr/>
        </p:nvSpPr>
        <p:spPr>
          <a:xfrm>
            <a:off x="1170432" y="2450592"/>
            <a:ext cx="310896" cy="310896"/>
          </a:xfrm>
          <a:prstGeom prst="ellipse">
            <a:avLst/>
          </a:prstGeom>
          <a:solidFill>
            <a:schemeClr val="accent1"/>
          </a:solidFill>
          <a:ln w="19050">
            <a:solidFill>
              <a:schemeClr val="tx1"/>
            </a:solidFill>
            <a:prstDash val="solid"/>
          </a:ln>
        </p:spPr>
      </p:sp>
      <p:sp>
        <p:nvSpPr>
          <p:cNvPr id="7" name="Event 129 BCE"/>
          <p:cNvSpPr/>
          <p:nvPr/>
        </p:nvSpPr>
        <p:spPr>
          <a:xfrm>
            <a:off x="457200" y="105156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8" name="Text 5"/>
          <p:cNvSpPr txBox="1"/>
          <p:nvPr/>
        </p:nvSpPr>
        <p:spPr>
          <a:xfrm>
            <a:off x="548640" y="109728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129 BCE</a:t>
            </a:r>
            <a:endParaRPr lang="en-US" sz="1600" dirty="0"/>
          </a:p>
        </p:txBody>
      </p:sp>
      <p:sp>
        <p:nvSpPr>
          <p:cNvPr id="9" name="Text 6"/>
          <p:cNvSpPr txBox="1"/>
          <p:nvPr/>
        </p:nvSpPr>
        <p:spPr>
          <a:xfrm>
            <a:off x="548640" y="141732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Hipparchus – first star catalogue</a:t>
            </a:r>
            <a:endParaRPr lang="en-US" sz="1300" dirty="0"/>
          </a:p>
        </p:txBody>
      </p:sp>
      <p:sp>
        <p:nvSpPr>
          <p:cNvPr id="10" name="Stem"/>
          <p:cNvSpPr/>
          <p:nvPr/>
        </p:nvSpPr>
        <p:spPr>
          <a:xfrm>
            <a:off x="2253343" y="2606040"/>
            <a:ext cx="0" cy="411480"/>
          </a:xfrm>
          <a:prstGeom prst="line">
            <a:avLst/>
          </a:prstGeom>
          <a:noFill/>
          <a:ln w="19050">
            <a:solidFill>
              <a:schemeClr val="accent4"/>
            </a:solidFill>
            <a:prstDash val="solid"/>
          </a:ln>
        </p:spPr>
      </p:sp>
      <p:sp>
        <p:nvSpPr>
          <p:cNvPr id="11" name="Timeline node"/>
          <p:cNvSpPr/>
          <p:nvPr/>
        </p:nvSpPr>
        <p:spPr>
          <a:xfrm>
            <a:off x="2097895" y="2450592"/>
            <a:ext cx="310896" cy="310896"/>
          </a:xfrm>
          <a:prstGeom prst="ellipse">
            <a:avLst/>
          </a:prstGeom>
          <a:solidFill>
            <a:schemeClr val="accent2"/>
          </a:solidFill>
          <a:ln w="19050">
            <a:solidFill>
              <a:schemeClr val="tx1"/>
            </a:solidFill>
            <a:prstDash val="solid"/>
          </a:ln>
        </p:spPr>
      </p:sp>
      <p:sp>
        <p:nvSpPr>
          <p:cNvPr id="12" name="Event 1543"/>
          <p:cNvSpPr/>
          <p:nvPr/>
        </p:nvSpPr>
        <p:spPr>
          <a:xfrm>
            <a:off x="1384663" y="301752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Text 10"/>
          <p:cNvSpPr txBox="1"/>
          <p:nvPr/>
        </p:nvSpPr>
        <p:spPr>
          <a:xfrm>
            <a:off x="1476103" y="306324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1543</a:t>
            </a:r>
            <a:endParaRPr lang="en-US" sz="1600" dirty="0"/>
          </a:p>
        </p:txBody>
      </p:sp>
      <p:sp>
        <p:nvSpPr>
          <p:cNvPr id="14" name="Text 11"/>
          <p:cNvSpPr txBox="1"/>
          <p:nvPr/>
        </p:nvSpPr>
        <p:spPr>
          <a:xfrm>
            <a:off x="1476103" y="338328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Copernicus – Earth goes round Sun</a:t>
            </a:r>
            <a:endParaRPr lang="en-US" sz="1300" dirty="0"/>
          </a:p>
        </p:txBody>
      </p:sp>
      <p:sp>
        <p:nvSpPr>
          <p:cNvPr id="15" name="Stem"/>
          <p:cNvSpPr/>
          <p:nvPr/>
        </p:nvSpPr>
        <p:spPr>
          <a:xfrm>
            <a:off x="3180806" y="2148840"/>
            <a:ext cx="0" cy="457200"/>
          </a:xfrm>
          <a:prstGeom prst="line">
            <a:avLst/>
          </a:prstGeom>
          <a:noFill/>
          <a:ln w="19050">
            <a:solidFill>
              <a:schemeClr val="accent4"/>
            </a:solidFill>
            <a:prstDash val="solid"/>
          </a:ln>
        </p:spPr>
      </p:sp>
      <p:sp>
        <p:nvSpPr>
          <p:cNvPr id="16" name="Timeline node"/>
          <p:cNvSpPr/>
          <p:nvPr/>
        </p:nvSpPr>
        <p:spPr>
          <a:xfrm>
            <a:off x="3025358" y="2450592"/>
            <a:ext cx="310896" cy="310896"/>
          </a:xfrm>
          <a:prstGeom prst="ellipse">
            <a:avLst/>
          </a:prstGeom>
          <a:solidFill>
            <a:schemeClr val="accent3"/>
          </a:solidFill>
          <a:ln w="19050">
            <a:solidFill>
              <a:schemeClr val="tx1"/>
            </a:solidFill>
            <a:prstDash val="solid"/>
          </a:ln>
        </p:spPr>
      </p:sp>
      <p:sp>
        <p:nvSpPr>
          <p:cNvPr id="17" name="Event 1576"/>
          <p:cNvSpPr/>
          <p:nvPr/>
        </p:nvSpPr>
        <p:spPr>
          <a:xfrm>
            <a:off x="2312126" y="105156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Text 15"/>
          <p:cNvSpPr txBox="1"/>
          <p:nvPr/>
        </p:nvSpPr>
        <p:spPr>
          <a:xfrm>
            <a:off x="2403566" y="109728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1576</a:t>
            </a:r>
            <a:endParaRPr lang="en-US" sz="1600" dirty="0"/>
          </a:p>
        </p:txBody>
      </p:sp>
      <p:sp>
        <p:nvSpPr>
          <p:cNvPr id="19" name="Text 16"/>
          <p:cNvSpPr txBox="1"/>
          <p:nvPr/>
        </p:nvSpPr>
        <p:spPr>
          <a:xfrm>
            <a:off x="2403566" y="141732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Brahe – naked-eye observatory</a:t>
            </a:r>
            <a:endParaRPr lang="en-US" sz="1300" dirty="0"/>
          </a:p>
        </p:txBody>
      </p:sp>
      <p:sp>
        <p:nvSpPr>
          <p:cNvPr id="20" name="Stem"/>
          <p:cNvSpPr/>
          <p:nvPr/>
        </p:nvSpPr>
        <p:spPr>
          <a:xfrm>
            <a:off x="4108269" y="2606040"/>
            <a:ext cx="0" cy="411480"/>
          </a:xfrm>
          <a:prstGeom prst="line">
            <a:avLst/>
          </a:prstGeom>
          <a:noFill/>
          <a:ln w="19050">
            <a:solidFill>
              <a:schemeClr val="accent4"/>
            </a:solidFill>
            <a:prstDash val="solid"/>
          </a:ln>
        </p:spPr>
      </p:sp>
      <p:sp>
        <p:nvSpPr>
          <p:cNvPr id="21" name="Timeline node"/>
          <p:cNvSpPr/>
          <p:nvPr/>
        </p:nvSpPr>
        <p:spPr>
          <a:xfrm>
            <a:off x="3952821" y="2450592"/>
            <a:ext cx="310896" cy="310896"/>
          </a:xfrm>
          <a:prstGeom prst="ellipse">
            <a:avLst/>
          </a:prstGeom>
          <a:solidFill>
            <a:schemeClr val="accent4"/>
          </a:solidFill>
          <a:ln w="19050">
            <a:solidFill>
              <a:schemeClr val="tx1"/>
            </a:solidFill>
            <a:prstDash val="solid"/>
          </a:ln>
        </p:spPr>
      </p:sp>
      <p:sp>
        <p:nvSpPr>
          <p:cNvPr id="22" name="Event Early 1600s"/>
          <p:cNvSpPr/>
          <p:nvPr/>
        </p:nvSpPr>
        <p:spPr>
          <a:xfrm>
            <a:off x="3239589" y="301752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3" name="Text 20"/>
          <p:cNvSpPr txBox="1"/>
          <p:nvPr/>
        </p:nvSpPr>
        <p:spPr>
          <a:xfrm>
            <a:off x="3331029" y="306324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Early 1600s</a:t>
            </a:r>
            <a:endParaRPr lang="en-US" sz="1600" dirty="0"/>
          </a:p>
        </p:txBody>
      </p:sp>
      <p:sp>
        <p:nvSpPr>
          <p:cNvPr id="24" name="Text 21"/>
          <p:cNvSpPr txBox="1"/>
          <p:nvPr/>
        </p:nvSpPr>
        <p:spPr>
          <a:xfrm>
            <a:off x="3331029" y="338328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First telescopes – spectacle-makers</a:t>
            </a:r>
            <a:endParaRPr lang="en-US" sz="1300" dirty="0"/>
          </a:p>
        </p:txBody>
      </p:sp>
      <p:sp>
        <p:nvSpPr>
          <p:cNvPr id="25" name="Stem"/>
          <p:cNvSpPr/>
          <p:nvPr/>
        </p:nvSpPr>
        <p:spPr>
          <a:xfrm>
            <a:off x="5035731" y="2148840"/>
            <a:ext cx="0" cy="457200"/>
          </a:xfrm>
          <a:prstGeom prst="line">
            <a:avLst/>
          </a:prstGeom>
          <a:noFill/>
          <a:ln w="19050">
            <a:solidFill>
              <a:schemeClr val="accent4"/>
            </a:solidFill>
            <a:prstDash val="solid"/>
          </a:ln>
        </p:spPr>
      </p:sp>
      <p:sp>
        <p:nvSpPr>
          <p:cNvPr id="26" name="Timeline node"/>
          <p:cNvSpPr/>
          <p:nvPr/>
        </p:nvSpPr>
        <p:spPr>
          <a:xfrm>
            <a:off x="4880283" y="2450592"/>
            <a:ext cx="310896" cy="310896"/>
          </a:xfrm>
          <a:prstGeom prst="ellipse">
            <a:avLst/>
          </a:prstGeom>
          <a:solidFill>
            <a:schemeClr val="accent5"/>
          </a:solidFill>
          <a:ln w="19050">
            <a:solidFill>
              <a:schemeClr val="tx1"/>
            </a:solidFill>
            <a:prstDash val="solid"/>
          </a:ln>
        </p:spPr>
      </p:sp>
      <p:sp>
        <p:nvSpPr>
          <p:cNvPr id="27" name="Event 1609"/>
          <p:cNvSpPr/>
          <p:nvPr/>
        </p:nvSpPr>
        <p:spPr>
          <a:xfrm>
            <a:off x="4167051" y="105156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8" name="Text 25"/>
          <p:cNvSpPr txBox="1"/>
          <p:nvPr/>
        </p:nvSpPr>
        <p:spPr>
          <a:xfrm>
            <a:off x="4258491" y="109728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1609</a:t>
            </a:r>
            <a:endParaRPr lang="en-US" sz="1600" dirty="0"/>
          </a:p>
        </p:txBody>
      </p:sp>
      <p:sp>
        <p:nvSpPr>
          <p:cNvPr id="29" name="Text 26"/>
          <p:cNvSpPr txBox="1"/>
          <p:nvPr/>
        </p:nvSpPr>
        <p:spPr>
          <a:xfrm>
            <a:off x="4258491" y="141732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Galileo – first telescope; proves Copernicus</a:t>
            </a:r>
            <a:endParaRPr lang="en-US" sz="1300" dirty="0"/>
          </a:p>
        </p:txBody>
      </p:sp>
      <p:sp>
        <p:nvSpPr>
          <p:cNvPr id="30" name="Stem"/>
          <p:cNvSpPr/>
          <p:nvPr/>
        </p:nvSpPr>
        <p:spPr>
          <a:xfrm>
            <a:off x="5963194" y="2606040"/>
            <a:ext cx="0" cy="411480"/>
          </a:xfrm>
          <a:prstGeom prst="line">
            <a:avLst/>
          </a:prstGeom>
          <a:noFill/>
          <a:ln w="19050">
            <a:solidFill>
              <a:schemeClr val="accent4"/>
            </a:solidFill>
            <a:prstDash val="solid"/>
          </a:ln>
        </p:spPr>
      </p:sp>
      <p:sp>
        <p:nvSpPr>
          <p:cNvPr id="31" name="Timeline node"/>
          <p:cNvSpPr/>
          <p:nvPr/>
        </p:nvSpPr>
        <p:spPr>
          <a:xfrm>
            <a:off x="5807746" y="2450592"/>
            <a:ext cx="310896" cy="310896"/>
          </a:xfrm>
          <a:prstGeom prst="ellipse">
            <a:avLst/>
          </a:prstGeom>
          <a:solidFill>
            <a:schemeClr val="accent1"/>
          </a:solidFill>
          <a:ln w="19050">
            <a:solidFill>
              <a:schemeClr val="tx1"/>
            </a:solidFill>
            <a:prstDash val="solid"/>
          </a:ln>
        </p:spPr>
      </p:sp>
      <p:sp>
        <p:nvSpPr>
          <p:cNvPr id="32" name="Event 1704"/>
          <p:cNvSpPr/>
          <p:nvPr/>
        </p:nvSpPr>
        <p:spPr>
          <a:xfrm>
            <a:off x="5094514" y="301752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3" name="Text 30"/>
          <p:cNvSpPr txBox="1"/>
          <p:nvPr/>
        </p:nvSpPr>
        <p:spPr>
          <a:xfrm>
            <a:off x="5185954" y="306324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1704</a:t>
            </a:r>
            <a:endParaRPr lang="en-US" sz="1600" dirty="0"/>
          </a:p>
        </p:txBody>
      </p:sp>
      <p:sp>
        <p:nvSpPr>
          <p:cNvPr id="34" name="Text 31"/>
          <p:cNvSpPr txBox="1"/>
          <p:nvPr/>
        </p:nvSpPr>
        <p:spPr>
          <a:xfrm>
            <a:off x="5185954" y="338328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Newton – reflector telescope</a:t>
            </a:r>
            <a:endParaRPr lang="en-US" sz="1300" dirty="0"/>
          </a:p>
        </p:txBody>
      </p:sp>
      <p:sp>
        <p:nvSpPr>
          <p:cNvPr id="35" name="Stem"/>
          <p:cNvSpPr/>
          <p:nvPr/>
        </p:nvSpPr>
        <p:spPr>
          <a:xfrm>
            <a:off x="6890657" y="2148840"/>
            <a:ext cx="0" cy="457200"/>
          </a:xfrm>
          <a:prstGeom prst="line">
            <a:avLst/>
          </a:prstGeom>
          <a:noFill/>
          <a:ln w="19050">
            <a:solidFill>
              <a:schemeClr val="accent4"/>
            </a:solidFill>
            <a:prstDash val="solid"/>
          </a:ln>
        </p:spPr>
      </p:sp>
      <p:sp>
        <p:nvSpPr>
          <p:cNvPr id="36" name="Timeline node"/>
          <p:cNvSpPr/>
          <p:nvPr/>
        </p:nvSpPr>
        <p:spPr>
          <a:xfrm>
            <a:off x="6735209" y="2450592"/>
            <a:ext cx="310896" cy="310896"/>
          </a:xfrm>
          <a:prstGeom prst="ellipse">
            <a:avLst/>
          </a:prstGeom>
          <a:solidFill>
            <a:schemeClr val="accent2"/>
          </a:solidFill>
          <a:ln w="19050">
            <a:solidFill>
              <a:schemeClr val="tx1"/>
            </a:solidFill>
            <a:prstDash val="solid"/>
          </a:ln>
        </p:spPr>
      </p:sp>
      <p:sp>
        <p:nvSpPr>
          <p:cNvPr id="37" name="Event 1926"/>
          <p:cNvSpPr/>
          <p:nvPr/>
        </p:nvSpPr>
        <p:spPr>
          <a:xfrm>
            <a:off x="6021977" y="105156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8" name="Text 35"/>
          <p:cNvSpPr txBox="1"/>
          <p:nvPr/>
        </p:nvSpPr>
        <p:spPr>
          <a:xfrm>
            <a:off x="6113417" y="109728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1926</a:t>
            </a:r>
            <a:endParaRPr lang="en-US" sz="1600" dirty="0"/>
          </a:p>
        </p:txBody>
      </p:sp>
      <p:sp>
        <p:nvSpPr>
          <p:cNvPr id="39" name="Text 36"/>
          <p:cNvSpPr txBox="1"/>
          <p:nvPr/>
        </p:nvSpPr>
        <p:spPr>
          <a:xfrm>
            <a:off x="6113417" y="141732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Goddard – liquid-fuelled rocket</a:t>
            </a:r>
            <a:endParaRPr lang="en-US" sz="1300" dirty="0"/>
          </a:p>
        </p:txBody>
      </p:sp>
      <p:sp>
        <p:nvSpPr>
          <p:cNvPr id="40" name="Stem"/>
          <p:cNvSpPr/>
          <p:nvPr/>
        </p:nvSpPr>
        <p:spPr>
          <a:xfrm>
            <a:off x="7818120" y="2606040"/>
            <a:ext cx="0" cy="411480"/>
          </a:xfrm>
          <a:prstGeom prst="line">
            <a:avLst/>
          </a:prstGeom>
          <a:noFill/>
          <a:ln w="19050">
            <a:solidFill>
              <a:schemeClr val="accent4"/>
            </a:solidFill>
            <a:prstDash val="solid"/>
          </a:ln>
        </p:spPr>
      </p:sp>
      <p:sp>
        <p:nvSpPr>
          <p:cNvPr id="41" name="Timeline node"/>
          <p:cNvSpPr/>
          <p:nvPr/>
        </p:nvSpPr>
        <p:spPr>
          <a:xfrm>
            <a:off x="7662672" y="2450592"/>
            <a:ext cx="310896" cy="310896"/>
          </a:xfrm>
          <a:prstGeom prst="ellipse">
            <a:avLst/>
          </a:prstGeom>
          <a:solidFill>
            <a:schemeClr val="accent3"/>
          </a:solidFill>
          <a:ln w="19050">
            <a:solidFill>
              <a:schemeClr val="tx1"/>
            </a:solidFill>
            <a:prstDash val="solid"/>
          </a:ln>
        </p:spPr>
      </p:sp>
      <p:sp>
        <p:nvSpPr>
          <p:cNvPr id="42" name="Event 1946"/>
          <p:cNvSpPr/>
          <p:nvPr/>
        </p:nvSpPr>
        <p:spPr>
          <a:xfrm>
            <a:off x="6949440" y="301752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43" name="Text 40"/>
          <p:cNvSpPr txBox="1"/>
          <p:nvPr/>
        </p:nvSpPr>
        <p:spPr>
          <a:xfrm>
            <a:off x="7040880" y="306324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1946</a:t>
            </a:r>
            <a:endParaRPr lang="en-US" sz="1600" dirty="0"/>
          </a:p>
        </p:txBody>
      </p:sp>
      <p:sp>
        <p:nvSpPr>
          <p:cNvPr id="44" name="Text 41"/>
          <p:cNvSpPr txBox="1"/>
          <p:nvPr/>
        </p:nvSpPr>
        <p:spPr>
          <a:xfrm>
            <a:off x="7040880" y="338328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Spitzer – idea of space telescope</a:t>
            </a:r>
            <a:endParaRPr lang="en-US" sz="13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Model timeline 2: the space race</a:t>
            </a:r>
            <a:endParaRPr lang="en-US" sz="3000" dirty="0"/>
          </a:p>
        </p:txBody>
      </p:sp>
      <p:sp>
        <p:nvSpPr>
          <p:cNvPr id="4" name="Timeline line"/>
          <p:cNvSpPr/>
          <p:nvPr/>
        </p:nvSpPr>
        <p:spPr>
          <a:xfrm>
            <a:off x="640080" y="2606040"/>
            <a:ext cx="7863840" cy="0"/>
          </a:xfrm>
          <a:prstGeom prst="line">
            <a:avLst/>
          </a:prstGeom>
          <a:noFill/>
          <a:ln w="38100">
            <a:solidFill>
              <a:schemeClr val="accent4"/>
            </a:solidFill>
            <a:prstDash val="solid"/>
          </a:ln>
        </p:spPr>
      </p:sp>
      <p:sp>
        <p:nvSpPr>
          <p:cNvPr id="5" name="Stem"/>
          <p:cNvSpPr/>
          <p:nvPr/>
        </p:nvSpPr>
        <p:spPr>
          <a:xfrm>
            <a:off x="1325880" y="2148840"/>
            <a:ext cx="0" cy="457200"/>
          </a:xfrm>
          <a:prstGeom prst="line">
            <a:avLst/>
          </a:prstGeom>
          <a:noFill/>
          <a:ln w="19050">
            <a:solidFill>
              <a:schemeClr val="accent4"/>
            </a:solidFill>
            <a:prstDash val="solid"/>
          </a:ln>
        </p:spPr>
      </p:sp>
      <p:sp>
        <p:nvSpPr>
          <p:cNvPr id="6" name="Timeline node"/>
          <p:cNvSpPr/>
          <p:nvPr/>
        </p:nvSpPr>
        <p:spPr>
          <a:xfrm>
            <a:off x="1170432" y="2450592"/>
            <a:ext cx="310896" cy="310896"/>
          </a:xfrm>
          <a:prstGeom prst="ellipse">
            <a:avLst/>
          </a:prstGeom>
          <a:solidFill>
            <a:schemeClr val="accent1"/>
          </a:solidFill>
          <a:ln w="19050">
            <a:solidFill>
              <a:schemeClr val="tx1"/>
            </a:solidFill>
            <a:prstDash val="solid"/>
          </a:ln>
        </p:spPr>
      </p:sp>
      <p:sp>
        <p:nvSpPr>
          <p:cNvPr id="7" name="Event 1957"/>
          <p:cNvSpPr/>
          <p:nvPr/>
        </p:nvSpPr>
        <p:spPr>
          <a:xfrm>
            <a:off x="457200" y="105156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8" name="Text 5"/>
          <p:cNvSpPr txBox="1"/>
          <p:nvPr/>
        </p:nvSpPr>
        <p:spPr>
          <a:xfrm>
            <a:off x="548640" y="109728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1957</a:t>
            </a:r>
            <a:endParaRPr lang="en-US" sz="1600" dirty="0"/>
          </a:p>
        </p:txBody>
      </p:sp>
      <p:sp>
        <p:nvSpPr>
          <p:cNvPr id="9" name="Text 6"/>
          <p:cNvSpPr txBox="1"/>
          <p:nvPr/>
        </p:nvSpPr>
        <p:spPr>
          <a:xfrm>
            <a:off x="548640" y="141732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USSR – Sputnik I, first artificial satellite</a:t>
            </a:r>
            <a:endParaRPr lang="en-US" sz="1300" dirty="0"/>
          </a:p>
        </p:txBody>
      </p:sp>
      <p:sp>
        <p:nvSpPr>
          <p:cNvPr id="10" name="Stem"/>
          <p:cNvSpPr/>
          <p:nvPr/>
        </p:nvSpPr>
        <p:spPr>
          <a:xfrm>
            <a:off x="2407920" y="2606040"/>
            <a:ext cx="0" cy="411480"/>
          </a:xfrm>
          <a:prstGeom prst="line">
            <a:avLst/>
          </a:prstGeom>
          <a:noFill/>
          <a:ln w="19050">
            <a:solidFill>
              <a:schemeClr val="accent4"/>
            </a:solidFill>
            <a:prstDash val="solid"/>
          </a:ln>
        </p:spPr>
      </p:sp>
      <p:sp>
        <p:nvSpPr>
          <p:cNvPr id="11" name="Timeline node"/>
          <p:cNvSpPr/>
          <p:nvPr/>
        </p:nvSpPr>
        <p:spPr>
          <a:xfrm>
            <a:off x="2252472" y="2450592"/>
            <a:ext cx="310896" cy="310896"/>
          </a:xfrm>
          <a:prstGeom prst="ellipse">
            <a:avLst/>
          </a:prstGeom>
          <a:solidFill>
            <a:schemeClr val="accent2"/>
          </a:solidFill>
          <a:ln w="19050">
            <a:solidFill>
              <a:schemeClr val="tx1"/>
            </a:solidFill>
            <a:prstDash val="solid"/>
          </a:ln>
        </p:spPr>
      </p:sp>
      <p:sp>
        <p:nvSpPr>
          <p:cNvPr id="12" name="Event 1961"/>
          <p:cNvSpPr/>
          <p:nvPr/>
        </p:nvSpPr>
        <p:spPr>
          <a:xfrm>
            <a:off x="1539240" y="301752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Text 10"/>
          <p:cNvSpPr txBox="1"/>
          <p:nvPr/>
        </p:nvSpPr>
        <p:spPr>
          <a:xfrm>
            <a:off x="1630680" y="306324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1961</a:t>
            </a:r>
            <a:endParaRPr lang="en-US" sz="1600" dirty="0"/>
          </a:p>
        </p:txBody>
      </p:sp>
      <p:sp>
        <p:nvSpPr>
          <p:cNvPr id="14" name="Text 11"/>
          <p:cNvSpPr txBox="1"/>
          <p:nvPr/>
        </p:nvSpPr>
        <p:spPr>
          <a:xfrm>
            <a:off x="1630680" y="338328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Gagarin – first person in space, 108 min</a:t>
            </a:r>
            <a:endParaRPr lang="en-US" sz="1300" dirty="0"/>
          </a:p>
        </p:txBody>
      </p:sp>
      <p:sp>
        <p:nvSpPr>
          <p:cNvPr id="15" name="Stem"/>
          <p:cNvSpPr/>
          <p:nvPr/>
        </p:nvSpPr>
        <p:spPr>
          <a:xfrm>
            <a:off x="3489960" y="2148840"/>
            <a:ext cx="0" cy="457200"/>
          </a:xfrm>
          <a:prstGeom prst="line">
            <a:avLst/>
          </a:prstGeom>
          <a:noFill/>
          <a:ln w="19050">
            <a:solidFill>
              <a:schemeClr val="accent4"/>
            </a:solidFill>
            <a:prstDash val="solid"/>
          </a:ln>
        </p:spPr>
      </p:sp>
      <p:sp>
        <p:nvSpPr>
          <p:cNvPr id="16" name="Timeline node"/>
          <p:cNvSpPr/>
          <p:nvPr/>
        </p:nvSpPr>
        <p:spPr>
          <a:xfrm>
            <a:off x="3334512" y="2450592"/>
            <a:ext cx="310896" cy="310896"/>
          </a:xfrm>
          <a:prstGeom prst="ellipse">
            <a:avLst/>
          </a:prstGeom>
          <a:solidFill>
            <a:schemeClr val="accent3"/>
          </a:solidFill>
          <a:ln w="19050">
            <a:solidFill>
              <a:schemeClr val="tx1"/>
            </a:solidFill>
            <a:prstDash val="solid"/>
          </a:ln>
        </p:spPr>
      </p:sp>
      <p:sp>
        <p:nvSpPr>
          <p:cNvPr id="17" name="Event 1963"/>
          <p:cNvSpPr/>
          <p:nvPr/>
        </p:nvSpPr>
        <p:spPr>
          <a:xfrm>
            <a:off x="2621280" y="105156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Text 15"/>
          <p:cNvSpPr txBox="1"/>
          <p:nvPr/>
        </p:nvSpPr>
        <p:spPr>
          <a:xfrm>
            <a:off x="2712720" y="109728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1963</a:t>
            </a:r>
            <a:endParaRPr lang="en-US" sz="1600" dirty="0"/>
          </a:p>
        </p:txBody>
      </p:sp>
      <p:sp>
        <p:nvSpPr>
          <p:cNvPr id="19" name="Text 16"/>
          <p:cNvSpPr txBox="1"/>
          <p:nvPr/>
        </p:nvSpPr>
        <p:spPr>
          <a:xfrm>
            <a:off x="2712720" y="141732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Tereshkova – first woman in space</a:t>
            </a:r>
            <a:endParaRPr lang="en-US" sz="1300" dirty="0"/>
          </a:p>
        </p:txBody>
      </p:sp>
      <p:sp>
        <p:nvSpPr>
          <p:cNvPr id="20" name="Stem"/>
          <p:cNvSpPr/>
          <p:nvPr/>
        </p:nvSpPr>
        <p:spPr>
          <a:xfrm>
            <a:off x="4572000" y="2606040"/>
            <a:ext cx="0" cy="411480"/>
          </a:xfrm>
          <a:prstGeom prst="line">
            <a:avLst/>
          </a:prstGeom>
          <a:noFill/>
          <a:ln w="19050">
            <a:solidFill>
              <a:schemeClr val="accent4"/>
            </a:solidFill>
            <a:prstDash val="solid"/>
          </a:ln>
        </p:spPr>
      </p:sp>
      <p:sp>
        <p:nvSpPr>
          <p:cNvPr id="21" name="Timeline node"/>
          <p:cNvSpPr/>
          <p:nvPr/>
        </p:nvSpPr>
        <p:spPr>
          <a:xfrm>
            <a:off x="4416552" y="2450592"/>
            <a:ext cx="310896" cy="310896"/>
          </a:xfrm>
          <a:prstGeom prst="ellipse">
            <a:avLst/>
          </a:prstGeom>
          <a:solidFill>
            <a:schemeClr val="accent4"/>
          </a:solidFill>
          <a:ln w="19050">
            <a:solidFill>
              <a:schemeClr val="tx1"/>
            </a:solidFill>
            <a:prstDash val="solid"/>
          </a:ln>
        </p:spPr>
      </p:sp>
      <p:sp>
        <p:nvSpPr>
          <p:cNvPr id="22" name="Event 1969"/>
          <p:cNvSpPr/>
          <p:nvPr/>
        </p:nvSpPr>
        <p:spPr>
          <a:xfrm>
            <a:off x="3703320" y="301752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3" name="Text 20"/>
          <p:cNvSpPr txBox="1"/>
          <p:nvPr/>
        </p:nvSpPr>
        <p:spPr>
          <a:xfrm>
            <a:off x="3794760" y="306324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1969</a:t>
            </a:r>
            <a:endParaRPr lang="en-US" sz="1600" dirty="0"/>
          </a:p>
        </p:txBody>
      </p:sp>
      <p:sp>
        <p:nvSpPr>
          <p:cNvPr id="24" name="Text 21"/>
          <p:cNvSpPr txBox="1"/>
          <p:nvPr/>
        </p:nvSpPr>
        <p:spPr>
          <a:xfrm>
            <a:off x="3794760" y="338328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Armstrong &amp; Aldrin – first on the moon</a:t>
            </a:r>
            <a:endParaRPr lang="en-US" sz="1300" dirty="0"/>
          </a:p>
        </p:txBody>
      </p:sp>
      <p:sp>
        <p:nvSpPr>
          <p:cNvPr id="25" name="Stem"/>
          <p:cNvSpPr/>
          <p:nvPr/>
        </p:nvSpPr>
        <p:spPr>
          <a:xfrm>
            <a:off x="5654040" y="2148840"/>
            <a:ext cx="0" cy="457200"/>
          </a:xfrm>
          <a:prstGeom prst="line">
            <a:avLst/>
          </a:prstGeom>
          <a:noFill/>
          <a:ln w="19050">
            <a:solidFill>
              <a:schemeClr val="accent4"/>
            </a:solidFill>
            <a:prstDash val="solid"/>
          </a:ln>
        </p:spPr>
      </p:sp>
      <p:sp>
        <p:nvSpPr>
          <p:cNvPr id="26" name="Timeline node"/>
          <p:cNvSpPr/>
          <p:nvPr/>
        </p:nvSpPr>
        <p:spPr>
          <a:xfrm>
            <a:off x="5498592" y="2450592"/>
            <a:ext cx="310896" cy="310896"/>
          </a:xfrm>
          <a:prstGeom prst="ellipse">
            <a:avLst/>
          </a:prstGeom>
          <a:solidFill>
            <a:schemeClr val="accent5"/>
          </a:solidFill>
          <a:ln w="19050">
            <a:solidFill>
              <a:schemeClr val="tx1"/>
            </a:solidFill>
            <a:prstDash val="solid"/>
          </a:ln>
        </p:spPr>
      </p:sp>
      <p:sp>
        <p:nvSpPr>
          <p:cNvPr id="27" name="Event 1971"/>
          <p:cNvSpPr/>
          <p:nvPr/>
        </p:nvSpPr>
        <p:spPr>
          <a:xfrm>
            <a:off x="4785360" y="105156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8" name="Text 25"/>
          <p:cNvSpPr txBox="1"/>
          <p:nvPr/>
        </p:nvSpPr>
        <p:spPr>
          <a:xfrm>
            <a:off x="4876800" y="109728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1971</a:t>
            </a:r>
            <a:endParaRPr lang="en-US" sz="1600" dirty="0"/>
          </a:p>
        </p:txBody>
      </p:sp>
      <p:sp>
        <p:nvSpPr>
          <p:cNvPr id="29" name="Text 26"/>
          <p:cNvSpPr txBox="1"/>
          <p:nvPr/>
        </p:nvSpPr>
        <p:spPr>
          <a:xfrm>
            <a:off x="4876800" y="141732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USSR – Salyut I, first space station</a:t>
            </a:r>
            <a:endParaRPr lang="en-US" sz="1300" dirty="0"/>
          </a:p>
        </p:txBody>
      </p:sp>
      <p:sp>
        <p:nvSpPr>
          <p:cNvPr id="30" name="Stem"/>
          <p:cNvSpPr/>
          <p:nvPr/>
        </p:nvSpPr>
        <p:spPr>
          <a:xfrm>
            <a:off x="6736080" y="2606040"/>
            <a:ext cx="0" cy="411480"/>
          </a:xfrm>
          <a:prstGeom prst="line">
            <a:avLst/>
          </a:prstGeom>
          <a:noFill/>
          <a:ln w="19050">
            <a:solidFill>
              <a:schemeClr val="accent4"/>
            </a:solidFill>
            <a:prstDash val="solid"/>
          </a:ln>
        </p:spPr>
      </p:sp>
      <p:sp>
        <p:nvSpPr>
          <p:cNvPr id="31" name="Timeline node"/>
          <p:cNvSpPr/>
          <p:nvPr/>
        </p:nvSpPr>
        <p:spPr>
          <a:xfrm>
            <a:off x="6580632" y="2450592"/>
            <a:ext cx="310896" cy="310896"/>
          </a:xfrm>
          <a:prstGeom prst="ellipse">
            <a:avLst/>
          </a:prstGeom>
          <a:solidFill>
            <a:schemeClr val="accent1"/>
          </a:solidFill>
          <a:ln w="19050">
            <a:solidFill>
              <a:schemeClr val="tx1"/>
            </a:solidFill>
            <a:prstDash val="solid"/>
          </a:ln>
        </p:spPr>
      </p:sp>
      <p:sp>
        <p:nvSpPr>
          <p:cNvPr id="32" name="Event 1983"/>
          <p:cNvSpPr/>
          <p:nvPr/>
        </p:nvSpPr>
        <p:spPr>
          <a:xfrm>
            <a:off x="5867400" y="301752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3" name="Text 30"/>
          <p:cNvSpPr txBox="1"/>
          <p:nvPr/>
        </p:nvSpPr>
        <p:spPr>
          <a:xfrm>
            <a:off x="5958840" y="306324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1983</a:t>
            </a:r>
            <a:endParaRPr lang="en-US" sz="1600" dirty="0"/>
          </a:p>
        </p:txBody>
      </p:sp>
      <p:sp>
        <p:nvSpPr>
          <p:cNvPr id="34" name="Text 31"/>
          <p:cNvSpPr txBox="1"/>
          <p:nvPr/>
        </p:nvSpPr>
        <p:spPr>
          <a:xfrm>
            <a:off x="5958840" y="338328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Sally Ride – first American woman</a:t>
            </a:r>
            <a:endParaRPr lang="en-US" sz="1300" dirty="0"/>
          </a:p>
        </p:txBody>
      </p:sp>
      <p:sp>
        <p:nvSpPr>
          <p:cNvPr id="35" name="Stem"/>
          <p:cNvSpPr/>
          <p:nvPr/>
        </p:nvSpPr>
        <p:spPr>
          <a:xfrm>
            <a:off x="7818120" y="2148840"/>
            <a:ext cx="0" cy="457200"/>
          </a:xfrm>
          <a:prstGeom prst="line">
            <a:avLst/>
          </a:prstGeom>
          <a:noFill/>
          <a:ln w="19050">
            <a:solidFill>
              <a:schemeClr val="accent4"/>
            </a:solidFill>
            <a:prstDash val="solid"/>
          </a:ln>
        </p:spPr>
      </p:sp>
      <p:sp>
        <p:nvSpPr>
          <p:cNvPr id="36" name="Timeline node"/>
          <p:cNvSpPr/>
          <p:nvPr/>
        </p:nvSpPr>
        <p:spPr>
          <a:xfrm>
            <a:off x="7662672" y="2450592"/>
            <a:ext cx="310896" cy="310896"/>
          </a:xfrm>
          <a:prstGeom prst="ellipse">
            <a:avLst/>
          </a:prstGeom>
          <a:solidFill>
            <a:schemeClr val="accent2"/>
          </a:solidFill>
          <a:ln w="19050">
            <a:solidFill>
              <a:schemeClr val="tx1"/>
            </a:solidFill>
            <a:prstDash val="solid"/>
          </a:ln>
        </p:spPr>
      </p:sp>
      <p:sp>
        <p:nvSpPr>
          <p:cNvPr id="37" name="Event 1986"/>
          <p:cNvSpPr/>
          <p:nvPr/>
        </p:nvSpPr>
        <p:spPr>
          <a:xfrm>
            <a:off x="6949440" y="105156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8" name="Text 35"/>
          <p:cNvSpPr txBox="1"/>
          <p:nvPr/>
        </p:nvSpPr>
        <p:spPr>
          <a:xfrm>
            <a:off x="7040880" y="109728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1986</a:t>
            </a:r>
            <a:endParaRPr lang="en-US" sz="1600" dirty="0"/>
          </a:p>
        </p:txBody>
      </p:sp>
      <p:sp>
        <p:nvSpPr>
          <p:cNvPr id="39" name="Text 36"/>
          <p:cNvSpPr txBox="1"/>
          <p:nvPr/>
        </p:nvSpPr>
        <p:spPr>
          <a:xfrm>
            <a:off x="7040880" y="141732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Challenger exploded after launch</a:t>
            </a:r>
            <a:endParaRPr lang="en-US" sz="13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Model timeline 3: living in space</a:t>
            </a:r>
            <a:endParaRPr lang="en-US" sz="3000" dirty="0"/>
          </a:p>
        </p:txBody>
      </p:sp>
      <p:sp>
        <p:nvSpPr>
          <p:cNvPr id="4" name="Timeline line"/>
          <p:cNvSpPr/>
          <p:nvPr/>
        </p:nvSpPr>
        <p:spPr>
          <a:xfrm>
            <a:off x="640080" y="2606040"/>
            <a:ext cx="7863840" cy="0"/>
          </a:xfrm>
          <a:prstGeom prst="line">
            <a:avLst/>
          </a:prstGeom>
          <a:noFill/>
          <a:ln w="38100">
            <a:solidFill>
              <a:schemeClr val="accent4"/>
            </a:solidFill>
            <a:prstDash val="solid"/>
          </a:ln>
        </p:spPr>
      </p:sp>
      <p:sp>
        <p:nvSpPr>
          <p:cNvPr id="5" name="Stem"/>
          <p:cNvSpPr/>
          <p:nvPr/>
        </p:nvSpPr>
        <p:spPr>
          <a:xfrm>
            <a:off x="1325880" y="2148840"/>
            <a:ext cx="0" cy="457200"/>
          </a:xfrm>
          <a:prstGeom prst="line">
            <a:avLst/>
          </a:prstGeom>
          <a:noFill/>
          <a:ln w="19050">
            <a:solidFill>
              <a:schemeClr val="accent4"/>
            </a:solidFill>
            <a:prstDash val="solid"/>
          </a:ln>
        </p:spPr>
      </p:sp>
      <p:sp>
        <p:nvSpPr>
          <p:cNvPr id="6" name="Timeline node"/>
          <p:cNvSpPr/>
          <p:nvPr/>
        </p:nvSpPr>
        <p:spPr>
          <a:xfrm>
            <a:off x="1170432" y="2450592"/>
            <a:ext cx="310896" cy="310896"/>
          </a:xfrm>
          <a:prstGeom prst="ellipse">
            <a:avLst/>
          </a:prstGeom>
          <a:solidFill>
            <a:schemeClr val="accent1"/>
          </a:solidFill>
          <a:ln w="19050">
            <a:solidFill>
              <a:schemeClr val="tx1"/>
            </a:solidFill>
            <a:prstDash val="solid"/>
          </a:ln>
        </p:spPr>
      </p:sp>
      <p:sp>
        <p:nvSpPr>
          <p:cNvPr id="7" name="Event 1991"/>
          <p:cNvSpPr/>
          <p:nvPr/>
        </p:nvSpPr>
        <p:spPr>
          <a:xfrm>
            <a:off x="457200" y="105156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8" name="Text 5"/>
          <p:cNvSpPr txBox="1"/>
          <p:nvPr/>
        </p:nvSpPr>
        <p:spPr>
          <a:xfrm>
            <a:off x="548640" y="109728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1991</a:t>
            </a:r>
            <a:endParaRPr lang="en-US" sz="1600" dirty="0"/>
          </a:p>
        </p:txBody>
      </p:sp>
      <p:sp>
        <p:nvSpPr>
          <p:cNvPr id="9" name="Text 6"/>
          <p:cNvSpPr txBox="1"/>
          <p:nvPr/>
        </p:nvSpPr>
        <p:spPr>
          <a:xfrm>
            <a:off x="548640" y="141732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Helen Sharman – first British person in space</a:t>
            </a:r>
            <a:endParaRPr lang="en-US" sz="1300" dirty="0"/>
          </a:p>
        </p:txBody>
      </p:sp>
      <p:sp>
        <p:nvSpPr>
          <p:cNvPr id="10" name="Stem"/>
          <p:cNvSpPr/>
          <p:nvPr/>
        </p:nvSpPr>
        <p:spPr>
          <a:xfrm>
            <a:off x="2624328" y="2606040"/>
            <a:ext cx="0" cy="411480"/>
          </a:xfrm>
          <a:prstGeom prst="line">
            <a:avLst/>
          </a:prstGeom>
          <a:noFill/>
          <a:ln w="19050">
            <a:solidFill>
              <a:schemeClr val="accent4"/>
            </a:solidFill>
            <a:prstDash val="solid"/>
          </a:ln>
        </p:spPr>
      </p:sp>
      <p:sp>
        <p:nvSpPr>
          <p:cNvPr id="11" name="Timeline node"/>
          <p:cNvSpPr/>
          <p:nvPr/>
        </p:nvSpPr>
        <p:spPr>
          <a:xfrm>
            <a:off x="2468880" y="2450592"/>
            <a:ext cx="310896" cy="310896"/>
          </a:xfrm>
          <a:prstGeom prst="ellipse">
            <a:avLst/>
          </a:prstGeom>
          <a:solidFill>
            <a:schemeClr val="accent2"/>
          </a:solidFill>
          <a:ln w="19050">
            <a:solidFill>
              <a:schemeClr val="tx1"/>
            </a:solidFill>
            <a:prstDash val="solid"/>
          </a:ln>
        </p:spPr>
      </p:sp>
      <p:sp>
        <p:nvSpPr>
          <p:cNvPr id="12" name="Event 1995"/>
          <p:cNvSpPr/>
          <p:nvPr/>
        </p:nvSpPr>
        <p:spPr>
          <a:xfrm>
            <a:off x="1755648" y="301752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Text 10"/>
          <p:cNvSpPr txBox="1"/>
          <p:nvPr/>
        </p:nvSpPr>
        <p:spPr>
          <a:xfrm>
            <a:off x="1847088" y="306324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1995</a:t>
            </a:r>
            <a:endParaRPr lang="en-US" sz="1600" dirty="0"/>
          </a:p>
        </p:txBody>
      </p:sp>
      <p:sp>
        <p:nvSpPr>
          <p:cNvPr id="14" name="Text 11"/>
          <p:cNvSpPr txBox="1"/>
          <p:nvPr/>
        </p:nvSpPr>
        <p:spPr>
          <a:xfrm>
            <a:off x="1847088" y="338328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Polyakov – 437 days, longest flight</a:t>
            </a:r>
            <a:endParaRPr lang="en-US" sz="1300" dirty="0"/>
          </a:p>
        </p:txBody>
      </p:sp>
      <p:sp>
        <p:nvSpPr>
          <p:cNvPr id="15" name="Stem"/>
          <p:cNvSpPr/>
          <p:nvPr/>
        </p:nvSpPr>
        <p:spPr>
          <a:xfrm>
            <a:off x="3922776" y="2148840"/>
            <a:ext cx="0" cy="457200"/>
          </a:xfrm>
          <a:prstGeom prst="line">
            <a:avLst/>
          </a:prstGeom>
          <a:noFill/>
          <a:ln w="19050">
            <a:solidFill>
              <a:schemeClr val="accent4"/>
            </a:solidFill>
            <a:prstDash val="solid"/>
          </a:ln>
        </p:spPr>
      </p:sp>
      <p:sp>
        <p:nvSpPr>
          <p:cNvPr id="16" name="Timeline node"/>
          <p:cNvSpPr/>
          <p:nvPr/>
        </p:nvSpPr>
        <p:spPr>
          <a:xfrm>
            <a:off x="3767328" y="2450592"/>
            <a:ext cx="310896" cy="310896"/>
          </a:xfrm>
          <a:prstGeom prst="ellipse">
            <a:avLst/>
          </a:prstGeom>
          <a:solidFill>
            <a:schemeClr val="accent3"/>
          </a:solidFill>
          <a:ln w="19050">
            <a:solidFill>
              <a:schemeClr val="tx1"/>
            </a:solidFill>
            <a:prstDash val="solid"/>
          </a:ln>
        </p:spPr>
      </p:sp>
      <p:sp>
        <p:nvSpPr>
          <p:cNvPr id="17" name="Event 2000"/>
          <p:cNvSpPr/>
          <p:nvPr/>
        </p:nvSpPr>
        <p:spPr>
          <a:xfrm>
            <a:off x="3054096" y="105156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Text 15"/>
          <p:cNvSpPr txBox="1"/>
          <p:nvPr/>
        </p:nvSpPr>
        <p:spPr>
          <a:xfrm>
            <a:off x="3145536" y="109728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2000</a:t>
            </a:r>
            <a:endParaRPr lang="en-US" sz="1600" dirty="0"/>
          </a:p>
        </p:txBody>
      </p:sp>
      <p:sp>
        <p:nvSpPr>
          <p:cNvPr id="19" name="Text 16"/>
          <p:cNvSpPr txBox="1"/>
          <p:nvPr/>
        </p:nvSpPr>
        <p:spPr>
          <a:xfrm>
            <a:off x="3145536" y="141732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First crew moves into ISS</a:t>
            </a:r>
            <a:endParaRPr lang="en-US" sz="1300" dirty="0"/>
          </a:p>
        </p:txBody>
      </p:sp>
      <p:sp>
        <p:nvSpPr>
          <p:cNvPr id="20" name="Stem"/>
          <p:cNvSpPr/>
          <p:nvPr/>
        </p:nvSpPr>
        <p:spPr>
          <a:xfrm>
            <a:off x="5221224" y="2606040"/>
            <a:ext cx="0" cy="411480"/>
          </a:xfrm>
          <a:prstGeom prst="line">
            <a:avLst/>
          </a:prstGeom>
          <a:noFill/>
          <a:ln w="19050">
            <a:solidFill>
              <a:schemeClr val="accent4"/>
            </a:solidFill>
            <a:prstDash val="solid"/>
          </a:ln>
        </p:spPr>
      </p:sp>
      <p:sp>
        <p:nvSpPr>
          <p:cNvPr id="21" name="Timeline node"/>
          <p:cNvSpPr/>
          <p:nvPr/>
        </p:nvSpPr>
        <p:spPr>
          <a:xfrm>
            <a:off x="5065776" y="2450592"/>
            <a:ext cx="310896" cy="310896"/>
          </a:xfrm>
          <a:prstGeom prst="ellipse">
            <a:avLst/>
          </a:prstGeom>
          <a:solidFill>
            <a:schemeClr val="accent4"/>
          </a:solidFill>
          <a:ln w="19050">
            <a:solidFill>
              <a:schemeClr val="tx1"/>
            </a:solidFill>
            <a:prstDash val="solid"/>
          </a:ln>
        </p:spPr>
      </p:sp>
      <p:sp>
        <p:nvSpPr>
          <p:cNvPr id="22" name="Event 2003"/>
          <p:cNvSpPr/>
          <p:nvPr/>
        </p:nvSpPr>
        <p:spPr>
          <a:xfrm>
            <a:off x="4352544" y="301752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3" name="Text 20"/>
          <p:cNvSpPr txBox="1"/>
          <p:nvPr/>
        </p:nvSpPr>
        <p:spPr>
          <a:xfrm>
            <a:off x="4443984" y="306324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2003</a:t>
            </a:r>
            <a:endParaRPr lang="en-US" sz="1600" dirty="0"/>
          </a:p>
        </p:txBody>
      </p:sp>
      <p:sp>
        <p:nvSpPr>
          <p:cNvPr id="24" name="Text 21"/>
          <p:cNvSpPr txBox="1"/>
          <p:nvPr/>
        </p:nvSpPr>
        <p:spPr>
          <a:xfrm>
            <a:off x="4443984" y="338328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Chawla – first Indian woman; died on re-entry</a:t>
            </a:r>
            <a:endParaRPr lang="en-US" sz="1300" dirty="0"/>
          </a:p>
        </p:txBody>
      </p:sp>
      <p:sp>
        <p:nvSpPr>
          <p:cNvPr id="25" name="Stem"/>
          <p:cNvSpPr/>
          <p:nvPr/>
        </p:nvSpPr>
        <p:spPr>
          <a:xfrm>
            <a:off x="6519672" y="2148840"/>
            <a:ext cx="0" cy="457200"/>
          </a:xfrm>
          <a:prstGeom prst="line">
            <a:avLst/>
          </a:prstGeom>
          <a:noFill/>
          <a:ln w="19050">
            <a:solidFill>
              <a:schemeClr val="accent4"/>
            </a:solidFill>
            <a:prstDash val="solid"/>
          </a:ln>
        </p:spPr>
      </p:sp>
      <p:sp>
        <p:nvSpPr>
          <p:cNvPr id="26" name="Timeline node"/>
          <p:cNvSpPr/>
          <p:nvPr/>
        </p:nvSpPr>
        <p:spPr>
          <a:xfrm>
            <a:off x="6364224" y="2450592"/>
            <a:ext cx="310896" cy="310896"/>
          </a:xfrm>
          <a:prstGeom prst="ellipse">
            <a:avLst/>
          </a:prstGeom>
          <a:solidFill>
            <a:schemeClr val="accent5"/>
          </a:solidFill>
          <a:ln w="19050">
            <a:solidFill>
              <a:schemeClr val="tx1"/>
            </a:solidFill>
            <a:prstDash val="solid"/>
          </a:ln>
        </p:spPr>
      </p:sp>
      <p:sp>
        <p:nvSpPr>
          <p:cNvPr id="27" name="Event 2012"/>
          <p:cNvSpPr/>
          <p:nvPr/>
        </p:nvSpPr>
        <p:spPr>
          <a:xfrm>
            <a:off x="5650992" y="105156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8" name="Text 25"/>
          <p:cNvSpPr txBox="1"/>
          <p:nvPr/>
        </p:nvSpPr>
        <p:spPr>
          <a:xfrm>
            <a:off x="5742432" y="109728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2012</a:t>
            </a:r>
            <a:endParaRPr lang="en-US" sz="1600" dirty="0"/>
          </a:p>
        </p:txBody>
      </p:sp>
      <p:sp>
        <p:nvSpPr>
          <p:cNvPr id="29" name="Text 26"/>
          <p:cNvSpPr txBox="1"/>
          <p:nvPr/>
        </p:nvSpPr>
        <p:spPr>
          <a:xfrm>
            <a:off x="5742432" y="141732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Liu Yang – first Chinese woman</a:t>
            </a:r>
            <a:endParaRPr lang="en-US" sz="1300" dirty="0"/>
          </a:p>
        </p:txBody>
      </p:sp>
      <p:sp>
        <p:nvSpPr>
          <p:cNvPr id="30" name="Stem"/>
          <p:cNvSpPr/>
          <p:nvPr/>
        </p:nvSpPr>
        <p:spPr>
          <a:xfrm>
            <a:off x="7818120" y="2606040"/>
            <a:ext cx="0" cy="411480"/>
          </a:xfrm>
          <a:prstGeom prst="line">
            <a:avLst/>
          </a:prstGeom>
          <a:noFill/>
          <a:ln w="19050">
            <a:solidFill>
              <a:schemeClr val="accent4"/>
            </a:solidFill>
            <a:prstDash val="solid"/>
          </a:ln>
        </p:spPr>
      </p:sp>
      <p:sp>
        <p:nvSpPr>
          <p:cNvPr id="31" name="Timeline node"/>
          <p:cNvSpPr/>
          <p:nvPr/>
        </p:nvSpPr>
        <p:spPr>
          <a:xfrm>
            <a:off x="7662672" y="2450592"/>
            <a:ext cx="310896" cy="310896"/>
          </a:xfrm>
          <a:prstGeom prst="ellipse">
            <a:avLst/>
          </a:prstGeom>
          <a:solidFill>
            <a:schemeClr val="accent1"/>
          </a:solidFill>
          <a:ln w="19050">
            <a:solidFill>
              <a:schemeClr val="tx1"/>
            </a:solidFill>
            <a:prstDash val="solid"/>
          </a:ln>
        </p:spPr>
      </p:sp>
      <p:sp>
        <p:nvSpPr>
          <p:cNvPr id="32" name="Event 2019"/>
          <p:cNvSpPr/>
          <p:nvPr/>
        </p:nvSpPr>
        <p:spPr>
          <a:xfrm>
            <a:off x="6949440" y="3017520"/>
            <a:ext cx="1737360" cy="1097280"/>
          </a:xfrm>
          <a:prstGeom prst="roundRect">
            <a:avLst>
              <a:gd name="adj" fmla="val 1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3" name="Text 30"/>
          <p:cNvSpPr txBox="1"/>
          <p:nvPr/>
        </p:nvSpPr>
        <p:spPr>
          <a:xfrm>
            <a:off x="7040880" y="3063240"/>
            <a:ext cx="1554480" cy="320040"/>
          </a:xfrm>
          <a:prstGeom prst="rect">
            <a:avLst/>
          </a:prstGeom>
          <a:noFill/>
          <a:ln/>
        </p:spPr>
        <p:txBody>
          <a:bodyPr wrap="square" lIns="0" tIns="0" rIns="0" bIns="0" rtlCol="0" anchor="ctr"/>
          <a:lstStyle/>
          <a:p>
            <a:pPr marL="0" indent="0" algn="ctr">
              <a:buNone/>
            </a:pPr>
            <a:r>
              <a:rPr lang="en-US" sz="1600" b="1" dirty="0">
                <a:solidFill>
                  <a:schemeClr val="accent4"/>
                </a:solidFill>
                <a:latin typeface="+mj-lt" pitchFamily="34" charset="0"/>
                <a:ea typeface="+mj-lt" pitchFamily="34" charset="-122"/>
                <a:cs typeface="+mj-lt" pitchFamily="34" charset="-120"/>
              </a:rPr>
              <a:t>2019</a:t>
            </a:r>
            <a:endParaRPr lang="en-US" sz="1600" dirty="0"/>
          </a:p>
        </p:txBody>
      </p:sp>
      <p:sp>
        <p:nvSpPr>
          <p:cNvPr id="34" name="Text 31"/>
          <p:cNvSpPr txBox="1"/>
          <p:nvPr/>
        </p:nvSpPr>
        <p:spPr>
          <a:xfrm>
            <a:off x="7040880" y="3383280"/>
            <a:ext cx="1554480" cy="685800"/>
          </a:xfrm>
          <a:prstGeom prst="rect">
            <a:avLst/>
          </a:prstGeom>
          <a:noFill/>
          <a:ln/>
        </p:spPr>
        <p:txBody>
          <a:bodyPr wrap="square" lIns="0" tIns="0" rIns="0" bIns="0" rtlCol="0" anchor="t"/>
          <a:lstStyle/>
          <a:p>
            <a:pPr marL="0" indent="0" algn="ctr">
              <a:buNone/>
            </a:pPr>
            <a:r>
              <a:rPr lang="en-US" sz="1300" dirty="0">
                <a:solidFill>
                  <a:schemeClr val="tx1"/>
                </a:solidFill>
              </a:rPr>
              <a:t>Chandrayaan-2 – India’s lunar south pole attempt</a:t>
            </a:r>
            <a:endParaRPr lang="en-US" sz="13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Describe your timeline</a:t>
            </a:r>
            <a:endParaRPr lang="en-US" sz="3000" dirty="0"/>
          </a:p>
        </p:txBody>
      </p:sp>
      <p:sp>
        <p:nvSpPr>
          <p:cNvPr id="4" name="Speaker card"/>
          <p:cNvSpPr/>
          <p:nvPr/>
        </p:nvSpPr>
        <p:spPr>
          <a:xfrm>
            <a:off x="457200" y="1097280"/>
            <a:ext cx="4846320" cy="3108960"/>
          </a:xfrm>
          <a:prstGeom prst="roundRect">
            <a:avLst>
              <a:gd name="adj" fmla="val 35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Text 2"/>
          <p:cNvSpPr txBox="1"/>
          <p:nvPr/>
        </p:nvSpPr>
        <p:spPr>
          <a:xfrm>
            <a:off x="685800" y="1188720"/>
            <a:ext cx="4389120" cy="320040"/>
          </a:xfrm>
          <a:prstGeom prst="rect">
            <a:avLst/>
          </a:prstGeom>
          <a:noFill/>
          <a:ln/>
        </p:spPr>
        <p:txBody>
          <a:bodyPr wrap="square" lIns="0" tIns="0" rIns="0" bIns="0" rtlCol="0" anchor="ctr"/>
          <a:lstStyle/>
          <a:p>
            <a:pPr marL="0" indent="0">
              <a:buNone/>
            </a:pPr>
            <a:r>
              <a:rPr lang="en-US" sz="1300" b="1" dirty="0">
                <a:solidFill>
                  <a:schemeClr val="accent4"/>
                </a:solidFill>
              </a:rPr>
              <a:t>SPEAKER: use your timeline</a:t>
            </a:r>
            <a:endParaRPr lang="en-US" sz="1300" dirty="0"/>
          </a:p>
        </p:txBody>
      </p:sp>
      <p:sp>
        <p:nvSpPr>
          <p:cNvPr id="6" name="Text 3"/>
          <p:cNvSpPr txBox="1"/>
          <p:nvPr/>
        </p:nvSpPr>
        <p:spPr>
          <a:xfrm>
            <a:off x="685800" y="1600200"/>
            <a:ext cx="4389120" cy="24688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First, in 129 BCE, …</a:t>
            </a:r>
            <a:endParaRPr lang="en-US" sz="1800" dirty="0"/>
          </a:p>
          <a:p>
            <a:pPr marL="342900" indent="-342900">
              <a:spcAft>
                <a:spcPts val="1000"/>
              </a:spcAft>
              <a:buSzPct val="100000"/>
              <a:buChar char="•"/>
            </a:pPr>
            <a:r>
              <a:rPr lang="en-US" sz="1800" dirty="0">
                <a:solidFill>
                  <a:schemeClr val="tx1"/>
                </a:solidFill>
              </a:rPr>
              <a:t>Next, in 1543, …</a:t>
            </a:r>
            <a:endParaRPr lang="en-US" sz="1800" dirty="0"/>
          </a:p>
          <a:p>
            <a:pPr marL="342900" indent="-342900">
              <a:spcAft>
                <a:spcPts val="1000"/>
              </a:spcAft>
              <a:buSzPct val="100000"/>
              <a:buChar char="•"/>
            </a:pPr>
            <a:r>
              <a:rPr lang="en-US" sz="1800" dirty="0">
                <a:solidFill>
                  <a:schemeClr val="tx1"/>
                </a:solidFill>
              </a:rPr>
              <a:t>Then, in 1609, …</a:t>
            </a:r>
            <a:endParaRPr lang="en-US" sz="1800" dirty="0"/>
          </a:p>
          <a:p>
            <a:pPr marL="342900" indent="-342900">
              <a:spcAft>
                <a:spcPts val="1000"/>
              </a:spcAft>
              <a:buSzPct val="100000"/>
              <a:buChar char="•"/>
            </a:pPr>
            <a:r>
              <a:rPr lang="en-US" sz="1800" dirty="0">
                <a:solidFill>
                  <a:schemeClr val="tx1"/>
                </a:solidFill>
              </a:rPr>
              <a:t>After that, in 1957, …</a:t>
            </a:r>
            <a:endParaRPr lang="en-US" sz="1800" dirty="0"/>
          </a:p>
          <a:p>
            <a:pPr marL="342900" indent="-342900">
              <a:spcAft>
                <a:spcPts val="1000"/>
              </a:spcAft>
              <a:buSzPct val="100000"/>
              <a:buChar char="•"/>
            </a:pPr>
            <a:r>
              <a:rPr lang="en-US" sz="1800" dirty="0">
                <a:solidFill>
                  <a:schemeClr val="tx1"/>
                </a:solidFill>
              </a:rPr>
              <a:t>Finally, in 2019, …</a:t>
            </a:r>
            <a:endParaRPr lang="en-US" sz="1800" dirty="0"/>
          </a:p>
        </p:txBody>
      </p:sp>
      <p:sp>
        <p:nvSpPr>
          <p:cNvPr id="7" name="Listener card"/>
          <p:cNvSpPr/>
          <p:nvPr/>
        </p:nvSpPr>
        <p:spPr>
          <a:xfrm>
            <a:off x="5486400" y="1097280"/>
            <a:ext cx="3200400" cy="3108960"/>
          </a:xfrm>
          <a:prstGeom prst="roundRect">
            <a:avLst>
              <a:gd name="adj" fmla="val 3529"/>
            </a:avLst>
          </a:prstGeom>
          <a:solidFill>
            <a:schemeClr val="accent2"/>
          </a:solidFill>
          <a:ln w="9525">
            <a:solidFill>
              <a:schemeClr val="accent2"/>
            </a:solidFill>
            <a:prstDash val="solid"/>
          </a:ln>
        </p:spPr>
      </p:sp>
      <p:sp>
        <p:nvSpPr>
          <p:cNvPr id="8" name="Text 5"/>
          <p:cNvSpPr txBox="1"/>
          <p:nvPr/>
        </p:nvSpPr>
        <p:spPr>
          <a:xfrm>
            <a:off x="5669280" y="1188720"/>
            <a:ext cx="2834640" cy="320040"/>
          </a:xfrm>
          <a:prstGeom prst="rect">
            <a:avLst/>
          </a:prstGeom>
          <a:noFill/>
          <a:ln/>
        </p:spPr>
        <p:txBody>
          <a:bodyPr wrap="square" lIns="0" tIns="0" rIns="0" bIns="0" rtlCol="0" anchor="ctr"/>
          <a:lstStyle/>
          <a:p>
            <a:pPr marL="0" indent="0">
              <a:buNone/>
            </a:pPr>
            <a:r>
              <a:rPr lang="en-US" sz="1300" b="1" dirty="0">
                <a:solidFill>
                  <a:schemeClr val="tx1"/>
                </a:solidFill>
              </a:rPr>
              <a:t>LISTENER: check</a:t>
            </a:r>
            <a:endParaRPr lang="en-US" sz="1300" dirty="0"/>
          </a:p>
        </p:txBody>
      </p:sp>
      <p:sp>
        <p:nvSpPr>
          <p:cNvPr id="9" name="Text 6"/>
          <p:cNvSpPr txBox="1"/>
          <p:nvPr/>
        </p:nvSpPr>
        <p:spPr>
          <a:xfrm>
            <a:off x="5669280" y="1600200"/>
            <a:ext cx="2834640" cy="24688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Are the events in order?</a:t>
            </a:r>
            <a:endParaRPr lang="en-US" sz="1600" dirty="0"/>
          </a:p>
          <a:p>
            <a:pPr marL="342900" indent="-342900">
              <a:spcAft>
                <a:spcPts val="1000"/>
              </a:spcAft>
              <a:buSzPct val="100000"/>
              <a:buChar char="•"/>
            </a:pPr>
            <a:r>
              <a:rPr lang="en-US" sz="1600" dirty="0">
                <a:solidFill>
                  <a:schemeClr val="tx1"/>
                </a:solidFill>
              </a:rPr>
              <a:t>Did they say the dates?</a:t>
            </a:r>
            <a:endParaRPr lang="en-US" sz="1600" dirty="0"/>
          </a:p>
          <a:p>
            <a:pPr marL="342900" indent="-342900">
              <a:spcAft>
                <a:spcPts val="1000"/>
              </a:spcAft>
              <a:buSzPct val="100000"/>
              <a:buChar char="•"/>
            </a:pPr>
            <a:r>
              <a:rPr lang="en-US" sz="1600" dirty="0">
                <a:solidFill>
                  <a:schemeClr val="tx1"/>
                </a:solidFill>
              </a:rPr>
              <a:t>Can I picture each event?</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Part chip"/>
          <p:cNvSpPr/>
          <p:nvPr/>
        </p:nvSpPr>
        <p:spPr>
          <a:xfrm>
            <a:off x="731520" y="1417320"/>
            <a:ext cx="1371600" cy="347472"/>
          </a:xfrm>
          <a:prstGeom prst="roundRect">
            <a:avLst>
              <a:gd name="adj" fmla="val 31579"/>
            </a:avLst>
          </a:prstGeom>
          <a:solidFill>
            <a:schemeClr val="accent1"/>
          </a:solidFill>
          <a:ln w="9525">
            <a:solidFill>
              <a:schemeClr val="accent1"/>
            </a:solidFill>
            <a:prstDash val="solid"/>
          </a:ln>
        </p:spPr>
      </p:sp>
      <p:sp>
        <p:nvSpPr>
          <p:cNvPr id="3" name="Text 1"/>
          <p:cNvSpPr txBox="1"/>
          <p:nvPr/>
        </p:nvSpPr>
        <p:spPr>
          <a:xfrm>
            <a:off x="731520" y="1417320"/>
            <a:ext cx="1371600" cy="347472"/>
          </a:xfrm>
          <a:prstGeom prst="rect">
            <a:avLst/>
          </a:prstGeom>
          <a:noFill/>
          <a:ln/>
        </p:spPr>
        <p:txBody>
          <a:bodyPr wrap="square" lIns="0" tIns="0" rIns="0" bIns="0" rtlCol="0" anchor="ctr"/>
          <a:lstStyle/>
          <a:p>
            <a:pPr marL="0" indent="0" algn="ctr">
              <a:buNone/>
            </a:pPr>
            <a:r>
              <a:rPr lang="en-US" sz="1300" b="1" dirty="0">
                <a:solidFill>
                  <a:schemeClr val="tx1"/>
                </a:solidFill>
              </a:rPr>
              <a:t>PART 2</a:t>
            </a:r>
            <a:endParaRPr lang="en-US" sz="1300" dirty="0"/>
          </a:p>
        </p:txBody>
      </p:sp>
      <p:sp>
        <p:nvSpPr>
          <p:cNvPr id="4" name="Text 2"/>
          <p:cNvSpPr txBox="1"/>
          <p:nvPr/>
        </p:nvSpPr>
        <p:spPr>
          <a:xfrm>
            <a:off x="731520" y="1920240"/>
            <a:ext cx="5486400" cy="1005840"/>
          </a:xfrm>
          <a:prstGeom prst="rect">
            <a:avLst/>
          </a:prstGeom>
          <a:noFill/>
          <a:ln/>
        </p:spPr>
        <p:txBody>
          <a:bodyPr wrap="square" lIns="0" tIns="0" rIns="0" bIns="0" rtlCol="0" anchor="ctr"/>
          <a:lstStyle/>
          <a:p>
            <a:pPr marL="0" indent="0">
              <a:buNone/>
            </a:pPr>
            <a:r>
              <a:rPr lang="en-US" sz="4000" b="1" dirty="0">
                <a:solidFill>
                  <a:schemeClr val="accent5"/>
                </a:solidFill>
                <a:latin typeface="+mj-lt" pitchFamily="34" charset="0"/>
                <a:ea typeface="+mj-lt" pitchFamily="34" charset="-122"/>
                <a:cs typeface="+mj-lt" pitchFamily="34" charset="-120"/>
              </a:rPr>
              <a:t>Compound Sentences</a:t>
            </a:r>
            <a:endParaRPr lang="en-US" sz="4000" dirty="0"/>
          </a:p>
        </p:txBody>
      </p:sp>
      <p:sp>
        <p:nvSpPr>
          <p:cNvPr id="5" name="Text 3"/>
          <p:cNvSpPr txBox="1"/>
          <p:nvPr/>
        </p:nvSpPr>
        <p:spPr>
          <a:xfrm>
            <a:off x="731520" y="3017520"/>
            <a:ext cx="5120640" cy="457200"/>
          </a:xfrm>
          <a:prstGeom prst="rect">
            <a:avLst/>
          </a:prstGeom>
          <a:noFill/>
          <a:ln/>
        </p:spPr>
        <p:txBody>
          <a:bodyPr wrap="square" lIns="0" tIns="0" rIns="0" bIns="0" rtlCol="0" anchor="ctr"/>
          <a:lstStyle/>
          <a:p>
            <a:pPr marL="0" indent="0">
              <a:buNone/>
            </a:pPr>
            <a:r>
              <a:rPr lang="en-US" sz="1800" i="1" dirty="0">
                <a:solidFill>
                  <a:schemeClr val="bg1"/>
                </a:solidFill>
              </a:rPr>
              <a:t>Activity 2 · a to d</a:t>
            </a:r>
            <a:endParaRPr lang="en-US" sz="18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1"/>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Language focus: simple sentences</a:t>
            </a:r>
            <a:endParaRPr lang="en-US" sz="3000" dirty="0"/>
          </a:p>
        </p:txBody>
      </p:sp>
      <p:sp>
        <p:nvSpPr>
          <p:cNvPr id="4" name="Simple sentence card"/>
          <p:cNvSpPr/>
          <p:nvPr/>
        </p:nvSpPr>
        <p:spPr>
          <a:xfrm>
            <a:off x="457200" y="1097280"/>
            <a:ext cx="4754880" cy="2926080"/>
          </a:xfrm>
          <a:prstGeom prst="roundRect">
            <a:avLst>
              <a:gd name="adj" fmla="val 375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Text 2"/>
          <p:cNvSpPr txBox="1"/>
          <p:nvPr/>
        </p:nvSpPr>
        <p:spPr>
          <a:xfrm>
            <a:off x="685800" y="1188720"/>
            <a:ext cx="4297680" cy="365760"/>
          </a:xfrm>
          <a:prstGeom prst="rect">
            <a:avLst/>
          </a:prstGeom>
          <a:noFill/>
          <a:ln/>
        </p:spPr>
        <p:txBody>
          <a:bodyPr wrap="square" lIns="0" tIns="0" rIns="0" bIns="0" rtlCol="0" anchor="ctr"/>
          <a:lstStyle/>
          <a:p>
            <a:pPr marL="0" indent="0">
              <a:buNone/>
            </a:pPr>
            <a:r>
              <a:rPr lang="en-US" sz="1800" b="1" dirty="0">
                <a:solidFill>
                  <a:schemeClr val="accent4"/>
                </a:solidFill>
                <a:latin typeface="+mj-lt" pitchFamily="34" charset="0"/>
                <a:ea typeface="+mj-lt" pitchFamily="34" charset="-122"/>
                <a:cs typeface="+mj-lt" pitchFamily="34" charset="-120"/>
              </a:rPr>
              <a:t>A simple sentence…</a:t>
            </a:r>
            <a:endParaRPr lang="en-US" sz="1800" dirty="0"/>
          </a:p>
        </p:txBody>
      </p:sp>
      <p:sp>
        <p:nvSpPr>
          <p:cNvPr id="6" name="Text 3"/>
          <p:cNvSpPr txBox="1"/>
          <p:nvPr/>
        </p:nvSpPr>
        <p:spPr>
          <a:xfrm>
            <a:off x="685800" y="1645920"/>
            <a:ext cx="434340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always has a </a:t>
            </a:r>
            <a:r>
              <a:rPr lang="en-US" sz="1500" b="1" dirty="0">
                <a:solidFill>
                  <a:schemeClr val="accent4"/>
                </a:solidFill>
              </a:rPr>
              <a:t>subject</a:t>
            </a:r>
            <a:r>
              <a:rPr lang="en-US" sz="1500" dirty="0">
                <a:solidFill>
                  <a:schemeClr val="tx1"/>
                </a:solidFill>
              </a:rPr>
              <a:t> – who or what is doing the action</a:t>
            </a:r>
            <a:endParaRPr lang="en-US" sz="1500" dirty="0"/>
          </a:p>
          <a:p>
            <a:pPr marL="342900" indent="-342900">
              <a:spcAft>
                <a:spcPts val="800"/>
              </a:spcAft>
              <a:buSzPct val="100000"/>
              <a:buChar char="•"/>
            </a:pPr>
            <a:r>
              <a:rPr lang="en-US" sz="1500" dirty="0">
                <a:solidFill>
                  <a:schemeClr val="tx1"/>
                </a:solidFill>
              </a:rPr>
              <a:t>always has a </a:t>
            </a:r>
            <a:r>
              <a:rPr lang="en-US" sz="1500" b="1" dirty="0">
                <a:solidFill>
                  <a:schemeClr val="accent4"/>
                </a:solidFill>
              </a:rPr>
              <a:t>finite verb</a:t>
            </a:r>
            <a:r>
              <a:rPr lang="en-US" sz="1500" dirty="0">
                <a:solidFill>
                  <a:schemeClr val="tx1"/>
                </a:solidFill>
              </a:rPr>
              <a:t> – action or state of being</a:t>
            </a:r>
            <a:endParaRPr lang="en-US" sz="1500" dirty="0"/>
          </a:p>
          <a:p>
            <a:pPr marL="342900" indent="-342900">
              <a:spcAft>
                <a:spcPts val="800"/>
              </a:spcAft>
              <a:buSzPct val="100000"/>
              <a:buChar char="•"/>
            </a:pPr>
            <a:r>
              <a:rPr lang="en-US" sz="1500" dirty="0">
                <a:solidFill>
                  <a:schemeClr val="tx1"/>
                </a:solidFill>
              </a:rPr>
              <a:t>usually has an </a:t>
            </a:r>
            <a:r>
              <a:rPr lang="en-US" sz="1500" b="1" dirty="0">
                <a:solidFill>
                  <a:schemeClr val="accent4"/>
                </a:solidFill>
              </a:rPr>
              <a:t>object</a:t>
            </a:r>
            <a:r>
              <a:rPr lang="en-US" sz="1500" dirty="0">
                <a:solidFill>
                  <a:schemeClr val="tx1"/>
                </a:solidFill>
              </a:rPr>
              <a:t> – has the action done to it</a:t>
            </a:r>
            <a:endParaRPr lang="en-US" sz="1500" dirty="0"/>
          </a:p>
          <a:p>
            <a:pPr marL="342900" indent="-342900">
              <a:spcAft>
                <a:spcPts val="800"/>
              </a:spcAft>
              <a:buSzPct val="100000"/>
              <a:buChar char="•"/>
            </a:pPr>
            <a:r>
              <a:rPr lang="en-US" sz="1500" dirty="0">
                <a:solidFill>
                  <a:schemeClr val="tx1"/>
                </a:solidFill>
              </a:rPr>
              <a:t>deals with </a:t>
            </a:r>
            <a:r>
              <a:rPr lang="en-US" sz="1500" b="1" dirty="0">
                <a:solidFill>
                  <a:schemeClr val="accent4"/>
                </a:solidFill>
              </a:rPr>
              <a:t>one idea</a:t>
            </a:r>
            <a:endParaRPr lang="en-US" sz="1500" dirty="0"/>
          </a:p>
        </p:txBody>
      </p:sp>
      <p:sp>
        <p:nvSpPr>
          <p:cNvPr id="7" name="Example card"/>
          <p:cNvSpPr/>
          <p:nvPr/>
        </p:nvSpPr>
        <p:spPr>
          <a:xfrm>
            <a:off x="5394960" y="1097280"/>
            <a:ext cx="3291840" cy="2926080"/>
          </a:xfrm>
          <a:prstGeom prst="roundRect">
            <a:avLst>
              <a:gd name="adj" fmla="val 3750"/>
            </a:avLst>
          </a:prstGeom>
          <a:solidFill>
            <a:schemeClr val="accent4"/>
          </a:solidFill>
          <a:ln w="9525">
            <a:solidFill>
              <a:schemeClr val="accent4"/>
            </a:solidFill>
            <a:prstDash val="solid"/>
          </a:ln>
        </p:spPr>
      </p:sp>
      <p:sp>
        <p:nvSpPr>
          <p:cNvPr id="8" name="Text 5"/>
          <p:cNvSpPr txBox="1"/>
          <p:nvPr/>
        </p:nvSpPr>
        <p:spPr>
          <a:xfrm>
            <a:off x="5577840" y="1188720"/>
            <a:ext cx="2743200" cy="274320"/>
          </a:xfrm>
          <a:prstGeom prst="rect">
            <a:avLst/>
          </a:prstGeom>
          <a:noFill/>
          <a:ln/>
        </p:spPr>
        <p:txBody>
          <a:bodyPr wrap="square" lIns="0" tIns="0" rIns="0" bIns="0" rtlCol="0" anchor="ctr"/>
          <a:lstStyle/>
          <a:p>
            <a:pPr marL="0" indent="0">
              <a:buNone/>
            </a:pPr>
            <a:r>
              <a:rPr lang="en-US" sz="1200" b="1" dirty="0">
                <a:solidFill>
                  <a:schemeClr val="accent5"/>
                </a:solidFill>
              </a:rPr>
              <a:t>EXAMPLE</a:t>
            </a:r>
            <a:endParaRPr lang="en-US" sz="1200" dirty="0"/>
          </a:p>
        </p:txBody>
      </p:sp>
      <p:sp>
        <p:nvSpPr>
          <p:cNvPr id="9" name="Role tag"/>
          <p:cNvSpPr/>
          <p:nvPr/>
        </p:nvSpPr>
        <p:spPr>
          <a:xfrm>
            <a:off x="5577840" y="1554480"/>
            <a:ext cx="1143000" cy="548640"/>
          </a:xfrm>
          <a:prstGeom prst="roundRect">
            <a:avLst>
              <a:gd name="adj" fmla="val 16667"/>
            </a:avLst>
          </a:prstGeom>
          <a:solidFill>
            <a:schemeClr val="accent1"/>
          </a:solidFill>
          <a:ln w="6350">
            <a:solidFill>
              <a:schemeClr val="accent1"/>
            </a:solidFill>
            <a:prstDash val="solid"/>
          </a:ln>
        </p:spPr>
      </p:sp>
      <p:sp>
        <p:nvSpPr>
          <p:cNvPr id="10" name="Text 7"/>
          <p:cNvSpPr txBox="1"/>
          <p:nvPr/>
        </p:nvSpPr>
        <p:spPr>
          <a:xfrm>
            <a:off x="5577840" y="1554480"/>
            <a:ext cx="1143000" cy="548640"/>
          </a:xfrm>
          <a:prstGeom prst="rect">
            <a:avLst/>
          </a:prstGeom>
          <a:noFill/>
          <a:ln/>
        </p:spPr>
        <p:txBody>
          <a:bodyPr wrap="square" lIns="0" tIns="0" rIns="0" bIns="0" rtlCol="0" anchor="ctr"/>
          <a:lstStyle/>
          <a:p>
            <a:pPr marL="0" indent="0" algn="ctr">
              <a:buNone/>
            </a:pPr>
            <a:r>
              <a:rPr lang="en-US" sz="1200" b="1" dirty="0">
                <a:solidFill>
                  <a:schemeClr val="tx1"/>
                </a:solidFill>
              </a:rPr>
              <a:t>SUBJECT</a:t>
            </a:r>
            <a:endParaRPr lang="en-US" sz="1200" dirty="0"/>
          </a:p>
        </p:txBody>
      </p:sp>
      <p:sp>
        <p:nvSpPr>
          <p:cNvPr id="11" name="Text 8"/>
          <p:cNvSpPr txBox="1"/>
          <p:nvPr/>
        </p:nvSpPr>
        <p:spPr>
          <a:xfrm>
            <a:off x="6812280" y="1554480"/>
            <a:ext cx="1783080" cy="548640"/>
          </a:xfrm>
          <a:prstGeom prst="rect">
            <a:avLst/>
          </a:prstGeom>
          <a:noFill/>
          <a:ln/>
        </p:spPr>
        <p:txBody>
          <a:bodyPr wrap="square" lIns="0" tIns="0" rIns="0" bIns="0" rtlCol="0" anchor="ctr"/>
          <a:lstStyle/>
          <a:p>
            <a:pPr marL="0" indent="0">
              <a:buNone/>
            </a:pPr>
            <a:r>
              <a:rPr lang="en-US" sz="1500" b="1" dirty="0">
                <a:solidFill>
                  <a:schemeClr val="bg1"/>
                </a:solidFill>
              </a:rPr>
              <a:t>The astronauts</a:t>
            </a:r>
            <a:endParaRPr lang="en-US" sz="1500" dirty="0"/>
          </a:p>
        </p:txBody>
      </p:sp>
      <p:sp>
        <p:nvSpPr>
          <p:cNvPr id="12" name="Role tag"/>
          <p:cNvSpPr/>
          <p:nvPr/>
        </p:nvSpPr>
        <p:spPr>
          <a:xfrm>
            <a:off x="5577840" y="2359152"/>
            <a:ext cx="1143000" cy="548640"/>
          </a:xfrm>
          <a:prstGeom prst="roundRect">
            <a:avLst>
              <a:gd name="adj" fmla="val 16667"/>
            </a:avLst>
          </a:prstGeom>
          <a:solidFill>
            <a:schemeClr val="accent2"/>
          </a:solidFill>
          <a:ln w="6350">
            <a:solidFill>
              <a:schemeClr val="accent2"/>
            </a:solidFill>
            <a:prstDash val="solid"/>
          </a:ln>
        </p:spPr>
      </p:sp>
      <p:sp>
        <p:nvSpPr>
          <p:cNvPr id="13" name="Text 10"/>
          <p:cNvSpPr txBox="1"/>
          <p:nvPr/>
        </p:nvSpPr>
        <p:spPr>
          <a:xfrm>
            <a:off x="5577840" y="2359152"/>
            <a:ext cx="1143000" cy="548640"/>
          </a:xfrm>
          <a:prstGeom prst="rect">
            <a:avLst/>
          </a:prstGeom>
          <a:noFill/>
          <a:ln/>
        </p:spPr>
        <p:txBody>
          <a:bodyPr wrap="square" lIns="0" tIns="0" rIns="0" bIns="0" rtlCol="0" anchor="ctr"/>
          <a:lstStyle/>
          <a:p>
            <a:pPr marL="0" indent="0" algn="ctr">
              <a:buNone/>
            </a:pPr>
            <a:r>
              <a:rPr lang="en-US" sz="1200" b="1" dirty="0">
                <a:solidFill>
                  <a:schemeClr val="tx1"/>
                </a:solidFill>
              </a:rPr>
              <a:t>VERB</a:t>
            </a:r>
            <a:endParaRPr lang="en-US" sz="1200" dirty="0"/>
          </a:p>
        </p:txBody>
      </p:sp>
      <p:sp>
        <p:nvSpPr>
          <p:cNvPr id="14" name="Text 11"/>
          <p:cNvSpPr txBox="1"/>
          <p:nvPr/>
        </p:nvSpPr>
        <p:spPr>
          <a:xfrm>
            <a:off x="6812280" y="2359152"/>
            <a:ext cx="1783080" cy="548640"/>
          </a:xfrm>
          <a:prstGeom prst="rect">
            <a:avLst/>
          </a:prstGeom>
          <a:noFill/>
          <a:ln/>
        </p:spPr>
        <p:txBody>
          <a:bodyPr wrap="square" lIns="0" tIns="0" rIns="0" bIns="0" rtlCol="0" anchor="ctr"/>
          <a:lstStyle/>
          <a:p>
            <a:pPr marL="0" indent="0">
              <a:buNone/>
            </a:pPr>
            <a:r>
              <a:rPr lang="en-US" sz="1500" b="1" dirty="0">
                <a:solidFill>
                  <a:schemeClr val="bg1"/>
                </a:solidFill>
              </a:rPr>
              <a:t>entered</a:t>
            </a:r>
            <a:endParaRPr lang="en-US" sz="1500" dirty="0"/>
          </a:p>
        </p:txBody>
      </p:sp>
      <p:sp>
        <p:nvSpPr>
          <p:cNvPr id="15" name="Role tag"/>
          <p:cNvSpPr/>
          <p:nvPr/>
        </p:nvSpPr>
        <p:spPr>
          <a:xfrm>
            <a:off x="5577840" y="3163824"/>
            <a:ext cx="1143000" cy="548640"/>
          </a:xfrm>
          <a:prstGeom prst="roundRect">
            <a:avLst>
              <a:gd name="adj" fmla="val 16667"/>
            </a:avLst>
          </a:prstGeom>
          <a:solidFill>
            <a:schemeClr val="accent3"/>
          </a:solidFill>
          <a:ln w="6350">
            <a:solidFill>
              <a:schemeClr val="accent3"/>
            </a:solidFill>
            <a:prstDash val="solid"/>
          </a:ln>
        </p:spPr>
      </p:sp>
      <p:sp>
        <p:nvSpPr>
          <p:cNvPr id="16" name="Text 13"/>
          <p:cNvSpPr txBox="1"/>
          <p:nvPr/>
        </p:nvSpPr>
        <p:spPr>
          <a:xfrm>
            <a:off x="5577840" y="3163824"/>
            <a:ext cx="1143000" cy="548640"/>
          </a:xfrm>
          <a:prstGeom prst="rect">
            <a:avLst/>
          </a:prstGeom>
          <a:noFill/>
          <a:ln/>
        </p:spPr>
        <p:txBody>
          <a:bodyPr wrap="square" lIns="0" tIns="0" rIns="0" bIns="0" rtlCol="0" anchor="ctr"/>
          <a:lstStyle/>
          <a:p>
            <a:pPr marL="0" indent="0" algn="ctr">
              <a:buNone/>
            </a:pPr>
            <a:r>
              <a:rPr lang="en-US" sz="1200" b="1" dirty="0">
                <a:solidFill>
                  <a:schemeClr val="tx1"/>
                </a:solidFill>
              </a:rPr>
              <a:t>OBJECT</a:t>
            </a:r>
            <a:endParaRPr lang="en-US" sz="1200" dirty="0"/>
          </a:p>
        </p:txBody>
      </p:sp>
      <p:sp>
        <p:nvSpPr>
          <p:cNvPr id="17" name="Text 14"/>
          <p:cNvSpPr txBox="1"/>
          <p:nvPr/>
        </p:nvSpPr>
        <p:spPr>
          <a:xfrm>
            <a:off x="6812280" y="3163824"/>
            <a:ext cx="1783080" cy="548640"/>
          </a:xfrm>
          <a:prstGeom prst="rect">
            <a:avLst/>
          </a:prstGeom>
          <a:noFill/>
          <a:ln/>
        </p:spPr>
        <p:txBody>
          <a:bodyPr wrap="square" lIns="0" tIns="0" rIns="0" bIns="0" rtlCol="0" anchor="ctr"/>
          <a:lstStyle/>
          <a:p>
            <a:pPr marL="0" indent="0">
              <a:buNone/>
            </a:pPr>
            <a:r>
              <a:rPr lang="en-US" sz="1500" b="1" dirty="0">
                <a:solidFill>
                  <a:schemeClr val="bg1"/>
                </a:solidFill>
              </a:rPr>
              <a:t>the spacecraft</a:t>
            </a:r>
            <a:endParaRPr lang="en-US" sz="1500" dirty="0"/>
          </a:p>
        </p:txBody>
      </p:sp>
      <p:sp>
        <p:nvSpPr>
          <p:cNvPr id="18" name="Callout"/>
          <p:cNvSpPr/>
          <p:nvPr/>
        </p:nvSpPr>
        <p:spPr>
          <a:xfrm>
            <a:off x="457200" y="4160520"/>
            <a:ext cx="8229600" cy="411480"/>
          </a:xfrm>
          <a:prstGeom prst="roundRect">
            <a:avLst>
              <a:gd name="adj" fmla="val 26667"/>
            </a:avLst>
          </a:prstGeom>
          <a:solidFill>
            <a:schemeClr val="accent5"/>
          </a:solidFill>
          <a:ln w="9525">
            <a:solidFill>
              <a:schemeClr val="accent5"/>
            </a:solidFill>
            <a:prstDash val="solid"/>
          </a:ln>
        </p:spPr>
      </p:sp>
      <p:sp>
        <p:nvSpPr>
          <p:cNvPr id="19" name="Text 16"/>
          <p:cNvSpPr txBox="1"/>
          <p:nvPr/>
        </p:nvSpPr>
        <p:spPr>
          <a:xfrm>
            <a:off x="640080" y="4160520"/>
            <a:ext cx="7863840" cy="411480"/>
          </a:xfrm>
          <a:prstGeom prst="rect">
            <a:avLst/>
          </a:prstGeom>
          <a:noFill/>
          <a:ln/>
        </p:spPr>
        <p:txBody>
          <a:bodyPr wrap="square" lIns="0" tIns="0" rIns="0" bIns="0" rtlCol="0" anchor="ctr"/>
          <a:lstStyle/>
          <a:p>
            <a:pPr marL="0" indent="0" algn="ctr">
              <a:buNone/>
            </a:pPr>
            <a:r>
              <a:rPr lang="en-US" sz="1600" b="1" dirty="0">
                <a:solidFill>
                  <a:schemeClr val="tx1"/>
                </a:solidFill>
              </a:rPr>
              <a:t>One subject + one finite verb + one idea</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Language focus: compound sentences</a:t>
            </a:r>
            <a:endParaRPr lang="en-US" sz="3000" dirty="0"/>
          </a:p>
        </p:txBody>
      </p:sp>
      <p:sp>
        <p:nvSpPr>
          <p:cNvPr id="4" name="Text 1"/>
          <p:cNvSpPr txBox="1"/>
          <p:nvPr/>
        </p:nvSpPr>
        <p:spPr>
          <a:xfrm>
            <a:off x="457200" y="1005840"/>
            <a:ext cx="2743200" cy="274320"/>
          </a:xfrm>
          <a:prstGeom prst="rect">
            <a:avLst/>
          </a:prstGeom>
          <a:noFill/>
          <a:ln/>
        </p:spPr>
        <p:txBody>
          <a:bodyPr wrap="square" lIns="0" tIns="0" rIns="0" bIns="0" rtlCol="0" anchor="ctr"/>
          <a:lstStyle/>
          <a:p>
            <a:pPr marL="0" indent="0">
              <a:buNone/>
            </a:pPr>
            <a:r>
              <a:rPr lang="en-US" sz="1200" b="1" dirty="0">
                <a:solidFill>
                  <a:schemeClr val="accent4"/>
                </a:solidFill>
              </a:rPr>
              <a:t>FORMULA</a:t>
            </a:r>
            <a:endParaRPr lang="en-US" sz="1200" dirty="0"/>
          </a:p>
        </p:txBody>
      </p:sp>
      <p:sp>
        <p:nvSpPr>
          <p:cNvPr id="5" name="Formula part"/>
          <p:cNvSpPr/>
          <p:nvPr/>
        </p:nvSpPr>
        <p:spPr>
          <a:xfrm>
            <a:off x="457200" y="1325880"/>
            <a:ext cx="2103120" cy="731520"/>
          </a:xfrm>
          <a:prstGeom prst="roundRect">
            <a:avLst>
              <a:gd name="adj" fmla="val 12500"/>
            </a:avLst>
          </a:prstGeom>
          <a:solidFill>
            <a:schemeClr val="accent2"/>
          </a:solidFill>
          <a:ln w="6350">
            <a:solidFill>
              <a:schemeClr val="accent2"/>
            </a:solidFill>
            <a:prstDash val="solid"/>
          </a:ln>
        </p:spPr>
      </p:sp>
      <p:sp>
        <p:nvSpPr>
          <p:cNvPr id="6" name="Text 3"/>
          <p:cNvSpPr txBox="1"/>
          <p:nvPr/>
        </p:nvSpPr>
        <p:spPr>
          <a:xfrm>
            <a:off x="502920" y="1325880"/>
            <a:ext cx="2011680" cy="731520"/>
          </a:xfrm>
          <a:prstGeom prst="rect">
            <a:avLst/>
          </a:prstGeom>
          <a:noFill/>
          <a:ln/>
        </p:spPr>
        <p:txBody>
          <a:bodyPr wrap="square" lIns="0" tIns="0" rIns="0" bIns="0" rtlCol="0" anchor="ctr"/>
          <a:lstStyle/>
          <a:p>
            <a:pPr marL="0" indent="0" algn="ctr">
              <a:buNone/>
            </a:pPr>
            <a:r>
              <a:rPr lang="en-US" sz="1400" b="1" dirty="0">
                <a:solidFill>
                  <a:schemeClr val="tx1"/>
                </a:solidFill>
              </a:rPr>
              <a:t>Simple sentence</a:t>
            </a:r>
            <a:endParaRPr lang="en-US" sz="1400" dirty="0"/>
          </a:p>
        </p:txBody>
      </p:sp>
      <p:sp>
        <p:nvSpPr>
          <p:cNvPr id="7" name="Text 4"/>
          <p:cNvSpPr txBox="1"/>
          <p:nvPr/>
        </p:nvSpPr>
        <p:spPr>
          <a:xfrm>
            <a:off x="2560320" y="1325880"/>
            <a:ext cx="365760" cy="731520"/>
          </a:xfrm>
          <a:prstGeom prst="rect">
            <a:avLst/>
          </a:prstGeom>
          <a:noFill/>
          <a:ln/>
        </p:spPr>
        <p:txBody>
          <a:bodyPr wrap="square" lIns="0" tIns="0" rIns="0" bIns="0" rtlCol="0" anchor="ctr"/>
          <a:lstStyle/>
          <a:p>
            <a:pPr marL="0" indent="0" algn="ctr">
              <a:buNone/>
            </a:pPr>
            <a:r>
              <a:rPr lang="en-US" sz="2600" b="1" dirty="0">
                <a:solidFill>
                  <a:schemeClr val="tx1"/>
                </a:solidFill>
              </a:rPr>
              <a:t>+</a:t>
            </a:r>
            <a:endParaRPr lang="en-US" sz="2600" dirty="0"/>
          </a:p>
        </p:txBody>
      </p:sp>
      <p:sp>
        <p:nvSpPr>
          <p:cNvPr id="8" name="Formula part"/>
          <p:cNvSpPr/>
          <p:nvPr/>
        </p:nvSpPr>
        <p:spPr>
          <a:xfrm>
            <a:off x="2926080" y="1325880"/>
            <a:ext cx="1554480" cy="731520"/>
          </a:xfrm>
          <a:prstGeom prst="roundRect">
            <a:avLst>
              <a:gd name="adj" fmla="val 12500"/>
            </a:avLst>
          </a:prstGeom>
          <a:solidFill>
            <a:schemeClr val="accent1"/>
          </a:solidFill>
          <a:ln w="6350">
            <a:solidFill>
              <a:schemeClr val="accent1"/>
            </a:solidFill>
            <a:prstDash val="solid"/>
          </a:ln>
        </p:spPr>
      </p:sp>
      <p:sp>
        <p:nvSpPr>
          <p:cNvPr id="9" name="Text 6"/>
          <p:cNvSpPr txBox="1"/>
          <p:nvPr/>
        </p:nvSpPr>
        <p:spPr>
          <a:xfrm>
            <a:off x="2971800" y="1325880"/>
            <a:ext cx="1463040" cy="731520"/>
          </a:xfrm>
          <a:prstGeom prst="rect">
            <a:avLst/>
          </a:prstGeom>
          <a:noFill/>
          <a:ln/>
        </p:spPr>
        <p:txBody>
          <a:bodyPr wrap="square" lIns="0" tIns="0" rIns="0" bIns="0" rtlCol="0" anchor="ctr"/>
          <a:lstStyle/>
          <a:p>
            <a:pPr marL="0" indent="0" algn="ctr">
              <a:buNone/>
            </a:pPr>
            <a:r>
              <a:rPr lang="en-US" sz="1400" b="1" dirty="0">
                <a:solidFill>
                  <a:schemeClr val="tx1"/>
                </a:solidFill>
              </a:rPr>
              <a:t>connective</a:t>
            </a:r>
            <a:endParaRPr lang="en-US" sz="1400" dirty="0"/>
          </a:p>
        </p:txBody>
      </p:sp>
      <p:sp>
        <p:nvSpPr>
          <p:cNvPr id="10" name="Text 7"/>
          <p:cNvSpPr txBox="1"/>
          <p:nvPr/>
        </p:nvSpPr>
        <p:spPr>
          <a:xfrm>
            <a:off x="4480560" y="1325880"/>
            <a:ext cx="365760" cy="731520"/>
          </a:xfrm>
          <a:prstGeom prst="rect">
            <a:avLst/>
          </a:prstGeom>
          <a:noFill/>
          <a:ln/>
        </p:spPr>
        <p:txBody>
          <a:bodyPr wrap="square" lIns="0" tIns="0" rIns="0" bIns="0" rtlCol="0" anchor="ctr"/>
          <a:lstStyle/>
          <a:p>
            <a:pPr marL="0" indent="0" algn="ctr">
              <a:buNone/>
            </a:pPr>
            <a:r>
              <a:rPr lang="en-US" sz="2600" b="1" dirty="0">
                <a:solidFill>
                  <a:schemeClr val="tx1"/>
                </a:solidFill>
              </a:rPr>
              <a:t>+</a:t>
            </a:r>
            <a:endParaRPr lang="en-US" sz="2600" dirty="0"/>
          </a:p>
        </p:txBody>
      </p:sp>
      <p:sp>
        <p:nvSpPr>
          <p:cNvPr id="11" name="Formula part"/>
          <p:cNvSpPr/>
          <p:nvPr/>
        </p:nvSpPr>
        <p:spPr>
          <a:xfrm>
            <a:off x="4846320" y="1325880"/>
            <a:ext cx="2103120" cy="731520"/>
          </a:xfrm>
          <a:prstGeom prst="roundRect">
            <a:avLst>
              <a:gd name="adj" fmla="val 12500"/>
            </a:avLst>
          </a:prstGeom>
          <a:solidFill>
            <a:schemeClr val="accent2"/>
          </a:solidFill>
          <a:ln w="6350">
            <a:solidFill>
              <a:schemeClr val="accent2"/>
            </a:solidFill>
            <a:prstDash val="solid"/>
          </a:ln>
        </p:spPr>
      </p:sp>
      <p:sp>
        <p:nvSpPr>
          <p:cNvPr id="12" name="Text 9"/>
          <p:cNvSpPr txBox="1"/>
          <p:nvPr/>
        </p:nvSpPr>
        <p:spPr>
          <a:xfrm>
            <a:off x="4892040" y="1325880"/>
            <a:ext cx="2011680" cy="731520"/>
          </a:xfrm>
          <a:prstGeom prst="rect">
            <a:avLst/>
          </a:prstGeom>
          <a:noFill/>
          <a:ln/>
        </p:spPr>
        <p:txBody>
          <a:bodyPr wrap="square" lIns="0" tIns="0" rIns="0" bIns="0" rtlCol="0" anchor="ctr"/>
          <a:lstStyle/>
          <a:p>
            <a:pPr marL="0" indent="0" algn="ctr">
              <a:buNone/>
            </a:pPr>
            <a:r>
              <a:rPr lang="en-US" sz="1400" b="1" dirty="0">
                <a:solidFill>
                  <a:schemeClr val="tx1"/>
                </a:solidFill>
              </a:rPr>
              <a:t>Simple sentence</a:t>
            </a:r>
            <a:endParaRPr lang="en-US" sz="1400" dirty="0"/>
          </a:p>
        </p:txBody>
      </p:sp>
      <p:sp>
        <p:nvSpPr>
          <p:cNvPr id="13" name="Text 10"/>
          <p:cNvSpPr txBox="1"/>
          <p:nvPr/>
        </p:nvSpPr>
        <p:spPr>
          <a:xfrm>
            <a:off x="6949440" y="1325880"/>
            <a:ext cx="365760" cy="731520"/>
          </a:xfrm>
          <a:prstGeom prst="rect">
            <a:avLst/>
          </a:prstGeom>
          <a:noFill/>
          <a:ln/>
        </p:spPr>
        <p:txBody>
          <a:bodyPr wrap="square" lIns="0" tIns="0" rIns="0" bIns="0" rtlCol="0" anchor="ctr"/>
          <a:lstStyle/>
          <a:p>
            <a:pPr marL="0" indent="0" algn="ctr">
              <a:buNone/>
            </a:pPr>
            <a:r>
              <a:rPr lang="en-US" sz="2600" b="1" dirty="0">
                <a:solidFill>
                  <a:schemeClr val="tx1"/>
                </a:solidFill>
              </a:rPr>
              <a:t>=</a:t>
            </a:r>
            <a:endParaRPr lang="en-US" sz="2600" dirty="0"/>
          </a:p>
        </p:txBody>
      </p:sp>
      <p:sp>
        <p:nvSpPr>
          <p:cNvPr id="14" name="Formula part"/>
          <p:cNvSpPr/>
          <p:nvPr/>
        </p:nvSpPr>
        <p:spPr>
          <a:xfrm>
            <a:off x="7315200" y="1325880"/>
            <a:ext cx="1371600" cy="731520"/>
          </a:xfrm>
          <a:prstGeom prst="roundRect">
            <a:avLst>
              <a:gd name="adj" fmla="val 12500"/>
            </a:avLst>
          </a:prstGeom>
          <a:solidFill>
            <a:schemeClr val="accent4"/>
          </a:solidFill>
          <a:ln w="6350">
            <a:solidFill>
              <a:schemeClr val="accent4"/>
            </a:solidFill>
            <a:prstDash val="solid"/>
          </a:ln>
        </p:spPr>
      </p:sp>
      <p:sp>
        <p:nvSpPr>
          <p:cNvPr id="15" name="Text 12"/>
          <p:cNvSpPr txBox="1"/>
          <p:nvPr/>
        </p:nvSpPr>
        <p:spPr>
          <a:xfrm>
            <a:off x="7360920" y="1325880"/>
            <a:ext cx="1280160" cy="731520"/>
          </a:xfrm>
          <a:prstGeom prst="rect">
            <a:avLst/>
          </a:prstGeom>
          <a:noFill/>
          <a:ln/>
        </p:spPr>
        <p:txBody>
          <a:bodyPr wrap="square" lIns="0" tIns="0" rIns="0" bIns="0" rtlCol="0" anchor="ctr"/>
          <a:lstStyle/>
          <a:p>
            <a:pPr marL="0" indent="0" algn="ctr">
              <a:buNone/>
            </a:pPr>
            <a:r>
              <a:rPr lang="en-US" sz="1400" b="1" dirty="0">
                <a:solidFill>
                  <a:schemeClr val="bg1"/>
                </a:solidFill>
              </a:rPr>
              <a:t>Compound sentence</a:t>
            </a:r>
            <a:endParaRPr lang="en-US" sz="1400" dirty="0"/>
          </a:p>
        </p:txBody>
      </p:sp>
      <p:sp>
        <p:nvSpPr>
          <p:cNvPr id="16" name="Example card"/>
          <p:cNvSpPr/>
          <p:nvPr/>
        </p:nvSpPr>
        <p:spPr>
          <a:xfrm>
            <a:off x="457200" y="2331720"/>
            <a:ext cx="8229600" cy="1325880"/>
          </a:xfrm>
          <a:prstGeom prst="roundRect">
            <a:avLst>
              <a:gd name="adj" fmla="val 827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Text 14"/>
          <p:cNvSpPr txBox="1"/>
          <p:nvPr/>
        </p:nvSpPr>
        <p:spPr>
          <a:xfrm>
            <a:off x="640080" y="2395728"/>
            <a:ext cx="2743200" cy="274320"/>
          </a:xfrm>
          <a:prstGeom prst="rect">
            <a:avLst/>
          </a:prstGeom>
          <a:noFill/>
          <a:ln/>
        </p:spPr>
        <p:txBody>
          <a:bodyPr wrap="square" lIns="0" tIns="0" rIns="0" bIns="0" rtlCol="0" anchor="ctr"/>
          <a:lstStyle/>
          <a:p>
            <a:pPr marL="0" indent="0">
              <a:buNone/>
            </a:pPr>
            <a:r>
              <a:rPr lang="en-US" sz="1200" b="1" dirty="0">
                <a:solidFill>
                  <a:schemeClr val="accent4"/>
                </a:solidFill>
              </a:rPr>
              <a:t>EXAMPLE</a:t>
            </a:r>
            <a:endParaRPr lang="en-US" sz="1200" dirty="0"/>
          </a:p>
        </p:txBody>
      </p:sp>
      <p:sp>
        <p:nvSpPr>
          <p:cNvPr id="18" name="Example part"/>
          <p:cNvSpPr/>
          <p:nvPr/>
        </p:nvSpPr>
        <p:spPr>
          <a:xfrm>
            <a:off x="685800" y="2743200"/>
            <a:ext cx="3246120" cy="731520"/>
          </a:xfrm>
          <a:prstGeom prst="roundRect">
            <a:avLst>
              <a:gd name="adj" fmla="val 12500"/>
            </a:avLst>
          </a:prstGeom>
          <a:solidFill>
            <a:schemeClr val="accent2"/>
          </a:solidFill>
          <a:ln w="6350">
            <a:solidFill>
              <a:schemeClr val="accent2"/>
            </a:solidFill>
            <a:prstDash val="solid"/>
          </a:ln>
        </p:spPr>
      </p:sp>
      <p:sp>
        <p:nvSpPr>
          <p:cNvPr id="19" name="Text 16"/>
          <p:cNvSpPr txBox="1"/>
          <p:nvPr/>
        </p:nvSpPr>
        <p:spPr>
          <a:xfrm>
            <a:off x="758952" y="2743200"/>
            <a:ext cx="3099816" cy="731520"/>
          </a:xfrm>
          <a:prstGeom prst="rect">
            <a:avLst/>
          </a:prstGeom>
          <a:noFill/>
          <a:ln/>
        </p:spPr>
        <p:txBody>
          <a:bodyPr wrap="square" lIns="0" tIns="0" rIns="0" bIns="0" rtlCol="0" anchor="ctr"/>
          <a:lstStyle/>
          <a:p>
            <a:pPr marL="0" indent="0" algn="ctr">
              <a:buNone/>
            </a:pPr>
            <a:r>
              <a:rPr lang="en-US" sz="1500" b="1" dirty="0">
                <a:solidFill>
                  <a:schemeClr val="tx1"/>
                </a:solidFill>
              </a:rPr>
              <a:t>The astronauts entered the spacecraft</a:t>
            </a:r>
            <a:endParaRPr lang="en-US" sz="1500" dirty="0"/>
          </a:p>
        </p:txBody>
      </p:sp>
      <p:sp>
        <p:nvSpPr>
          <p:cNvPr id="20" name="Example part"/>
          <p:cNvSpPr/>
          <p:nvPr/>
        </p:nvSpPr>
        <p:spPr>
          <a:xfrm>
            <a:off x="4069080" y="2743200"/>
            <a:ext cx="822960" cy="731520"/>
          </a:xfrm>
          <a:prstGeom prst="roundRect">
            <a:avLst>
              <a:gd name="adj" fmla="val 12500"/>
            </a:avLst>
          </a:prstGeom>
          <a:solidFill>
            <a:schemeClr val="accent1"/>
          </a:solidFill>
          <a:ln w="6350">
            <a:solidFill>
              <a:schemeClr val="accent1"/>
            </a:solidFill>
            <a:prstDash val="solid"/>
          </a:ln>
        </p:spPr>
      </p:sp>
      <p:sp>
        <p:nvSpPr>
          <p:cNvPr id="21" name="Text 18"/>
          <p:cNvSpPr txBox="1"/>
          <p:nvPr/>
        </p:nvSpPr>
        <p:spPr>
          <a:xfrm>
            <a:off x="4142232" y="2743200"/>
            <a:ext cx="676656" cy="731520"/>
          </a:xfrm>
          <a:prstGeom prst="rect">
            <a:avLst/>
          </a:prstGeom>
          <a:noFill/>
          <a:ln/>
        </p:spPr>
        <p:txBody>
          <a:bodyPr wrap="square" lIns="0" tIns="0" rIns="0" bIns="0" rtlCol="0" anchor="ctr"/>
          <a:lstStyle/>
          <a:p>
            <a:pPr marL="0" indent="0" algn="ctr">
              <a:buNone/>
            </a:pPr>
            <a:r>
              <a:rPr lang="en-US" sz="1500" b="1" dirty="0">
                <a:solidFill>
                  <a:schemeClr val="tx1"/>
                </a:solidFill>
              </a:rPr>
              <a:t>and</a:t>
            </a:r>
            <a:endParaRPr lang="en-US" sz="1500" dirty="0"/>
          </a:p>
        </p:txBody>
      </p:sp>
      <p:sp>
        <p:nvSpPr>
          <p:cNvPr id="22" name="Example part"/>
          <p:cNvSpPr/>
          <p:nvPr/>
        </p:nvSpPr>
        <p:spPr>
          <a:xfrm>
            <a:off x="5029200" y="2743200"/>
            <a:ext cx="2743200" cy="731520"/>
          </a:xfrm>
          <a:prstGeom prst="roundRect">
            <a:avLst>
              <a:gd name="adj" fmla="val 12500"/>
            </a:avLst>
          </a:prstGeom>
          <a:solidFill>
            <a:schemeClr val="accent2"/>
          </a:solidFill>
          <a:ln w="6350">
            <a:solidFill>
              <a:schemeClr val="accent2"/>
            </a:solidFill>
            <a:prstDash val="solid"/>
          </a:ln>
        </p:spPr>
      </p:sp>
      <p:sp>
        <p:nvSpPr>
          <p:cNvPr id="23" name="Text 20"/>
          <p:cNvSpPr txBox="1"/>
          <p:nvPr/>
        </p:nvSpPr>
        <p:spPr>
          <a:xfrm>
            <a:off x="5102352" y="2743200"/>
            <a:ext cx="2596896" cy="731520"/>
          </a:xfrm>
          <a:prstGeom prst="rect">
            <a:avLst/>
          </a:prstGeom>
          <a:noFill/>
          <a:ln/>
        </p:spPr>
        <p:txBody>
          <a:bodyPr wrap="square" lIns="0" tIns="0" rIns="0" bIns="0" rtlCol="0" anchor="ctr"/>
          <a:lstStyle/>
          <a:p>
            <a:pPr marL="0" indent="0" algn="ctr">
              <a:buNone/>
            </a:pPr>
            <a:r>
              <a:rPr lang="en-US" sz="1500" b="1" dirty="0">
                <a:solidFill>
                  <a:schemeClr val="tx1"/>
                </a:solidFill>
              </a:rPr>
              <a:t>they blasted into space.</a:t>
            </a:r>
            <a:endParaRPr lang="en-US" sz="1500" dirty="0"/>
          </a:p>
        </p:txBody>
      </p:sp>
      <p:sp>
        <p:nvSpPr>
          <p:cNvPr id="24" name="Callout"/>
          <p:cNvSpPr/>
          <p:nvPr/>
        </p:nvSpPr>
        <p:spPr>
          <a:xfrm>
            <a:off x="457200" y="3886200"/>
            <a:ext cx="8229600" cy="457200"/>
          </a:xfrm>
          <a:prstGeom prst="roundRect">
            <a:avLst>
              <a:gd name="adj" fmla="val 24000"/>
            </a:avLst>
          </a:prstGeom>
          <a:solidFill>
            <a:schemeClr val="accent5"/>
          </a:solidFill>
          <a:ln w="9525">
            <a:solidFill>
              <a:schemeClr val="accent5"/>
            </a:solidFill>
            <a:prstDash val="solid"/>
          </a:ln>
        </p:spPr>
      </p:sp>
      <p:sp>
        <p:nvSpPr>
          <p:cNvPr id="25" name="Text 22"/>
          <p:cNvSpPr txBox="1"/>
          <p:nvPr/>
        </p:nvSpPr>
        <p:spPr>
          <a:xfrm>
            <a:off x="640080" y="3886200"/>
            <a:ext cx="7863840" cy="457200"/>
          </a:xfrm>
          <a:prstGeom prst="rect">
            <a:avLst/>
          </a:prstGeom>
          <a:noFill/>
          <a:ln/>
        </p:spPr>
        <p:txBody>
          <a:bodyPr wrap="square" lIns="0" tIns="0" rIns="0" bIns="0" rtlCol="0" anchor="ctr"/>
          <a:lstStyle/>
          <a:p>
            <a:pPr marL="0" indent="0" algn="ctr">
              <a:buNone/>
            </a:pPr>
            <a:r>
              <a:rPr lang="en-US" sz="1600" b="1" dirty="0">
                <a:solidFill>
                  <a:schemeClr val="tx1"/>
                </a:solidFill>
              </a:rPr>
              <a:t>A compound sentence is multi-clause: it has more than one clause.</a:t>
            </a:r>
            <a:endParaRPr lang="en-US" sz="16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Parts of a compound sentence</a:t>
            </a:r>
            <a:endParaRPr lang="en-US" sz="3000" dirty="0"/>
          </a:p>
        </p:txBody>
      </p:sp>
      <p:sp>
        <p:nvSpPr>
          <p:cNvPr id="4" name="Sentence part"/>
          <p:cNvSpPr/>
          <p:nvPr/>
        </p:nvSpPr>
        <p:spPr>
          <a:xfrm>
            <a:off x="502920" y="1188720"/>
            <a:ext cx="1600200" cy="640080"/>
          </a:xfrm>
          <a:prstGeom prst="roundRect">
            <a:avLst>
              <a:gd name="adj" fmla="val 14286"/>
            </a:avLst>
          </a:prstGeom>
          <a:solidFill>
            <a:schemeClr val="accent1"/>
          </a:solidFill>
          <a:ln w="12700">
            <a:solidFill>
              <a:schemeClr val="accent1"/>
            </a:solidFill>
            <a:prstDash val="solid"/>
          </a:ln>
        </p:spPr>
      </p:sp>
      <p:sp>
        <p:nvSpPr>
          <p:cNvPr id="5" name="Text 2"/>
          <p:cNvSpPr txBox="1"/>
          <p:nvPr/>
        </p:nvSpPr>
        <p:spPr>
          <a:xfrm>
            <a:off x="502920" y="1188720"/>
            <a:ext cx="1600200" cy="640080"/>
          </a:xfrm>
          <a:prstGeom prst="rect">
            <a:avLst/>
          </a:prstGeom>
          <a:noFill/>
          <a:ln/>
        </p:spPr>
        <p:txBody>
          <a:bodyPr wrap="square" lIns="0" tIns="0" rIns="0" bIns="0" rtlCol="0" anchor="ctr"/>
          <a:lstStyle/>
          <a:p>
            <a:pPr marL="0" indent="0" algn="ctr">
              <a:buNone/>
            </a:pPr>
            <a:r>
              <a:rPr lang="en-US" sz="1500" b="1" dirty="0">
                <a:solidFill>
                  <a:schemeClr val="tx1"/>
                </a:solidFill>
              </a:rPr>
              <a:t>The astronauts</a:t>
            </a:r>
            <a:endParaRPr lang="en-US" sz="1500" dirty="0"/>
          </a:p>
        </p:txBody>
      </p:sp>
      <p:sp>
        <p:nvSpPr>
          <p:cNvPr id="6" name="Text 3"/>
          <p:cNvSpPr txBox="1"/>
          <p:nvPr/>
        </p:nvSpPr>
        <p:spPr>
          <a:xfrm>
            <a:off x="411480" y="1874520"/>
            <a:ext cx="1783080" cy="274320"/>
          </a:xfrm>
          <a:prstGeom prst="rect">
            <a:avLst/>
          </a:prstGeom>
          <a:noFill/>
          <a:ln/>
        </p:spPr>
        <p:txBody>
          <a:bodyPr wrap="square" lIns="0" tIns="0" rIns="0" bIns="0" rtlCol="0" anchor="ctr"/>
          <a:lstStyle/>
          <a:p>
            <a:pPr marL="0" indent="0" algn="ctr">
              <a:buNone/>
            </a:pPr>
            <a:r>
              <a:rPr lang="en-US" sz="1100" b="1" dirty="0">
                <a:solidFill>
                  <a:schemeClr val="accent4"/>
                </a:solidFill>
              </a:rPr>
              <a:t>SUBJECT</a:t>
            </a:r>
            <a:endParaRPr lang="en-US" sz="1100" dirty="0"/>
          </a:p>
        </p:txBody>
      </p:sp>
      <p:sp>
        <p:nvSpPr>
          <p:cNvPr id="7" name="Sentence part"/>
          <p:cNvSpPr/>
          <p:nvPr/>
        </p:nvSpPr>
        <p:spPr>
          <a:xfrm>
            <a:off x="2194560" y="1188720"/>
            <a:ext cx="1051560" cy="640080"/>
          </a:xfrm>
          <a:prstGeom prst="roundRect">
            <a:avLst>
              <a:gd name="adj" fmla="val 14286"/>
            </a:avLst>
          </a:prstGeom>
          <a:solidFill>
            <a:schemeClr val="accent2"/>
          </a:solidFill>
          <a:ln w="12700">
            <a:solidFill>
              <a:schemeClr val="accent2"/>
            </a:solidFill>
            <a:prstDash val="solid"/>
          </a:ln>
        </p:spPr>
      </p:sp>
      <p:sp>
        <p:nvSpPr>
          <p:cNvPr id="8" name="Text 5"/>
          <p:cNvSpPr txBox="1"/>
          <p:nvPr/>
        </p:nvSpPr>
        <p:spPr>
          <a:xfrm>
            <a:off x="2194560" y="1188720"/>
            <a:ext cx="1051560" cy="640080"/>
          </a:xfrm>
          <a:prstGeom prst="rect">
            <a:avLst/>
          </a:prstGeom>
          <a:noFill/>
          <a:ln/>
        </p:spPr>
        <p:txBody>
          <a:bodyPr wrap="square" lIns="0" tIns="0" rIns="0" bIns="0" rtlCol="0" anchor="ctr"/>
          <a:lstStyle/>
          <a:p>
            <a:pPr marL="0" indent="0" algn="ctr">
              <a:buNone/>
            </a:pPr>
            <a:r>
              <a:rPr lang="en-US" sz="1500" b="1" dirty="0">
                <a:solidFill>
                  <a:schemeClr val="tx1"/>
                </a:solidFill>
              </a:rPr>
              <a:t>entered</a:t>
            </a:r>
            <a:endParaRPr lang="en-US" sz="1500" dirty="0"/>
          </a:p>
        </p:txBody>
      </p:sp>
      <p:sp>
        <p:nvSpPr>
          <p:cNvPr id="9" name="Text 6"/>
          <p:cNvSpPr txBox="1"/>
          <p:nvPr/>
        </p:nvSpPr>
        <p:spPr>
          <a:xfrm>
            <a:off x="2103120" y="1874520"/>
            <a:ext cx="1234440" cy="274320"/>
          </a:xfrm>
          <a:prstGeom prst="rect">
            <a:avLst/>
          </a:prstGeom>
          <a:noFill/>
          <a:ln/>
        </p:spPr>
        <p:txBody>
          <a:bodyPr wrap="square" lIns="0" tIns="0" rIns="0" bIns="0" rtlCol="0" anchor="ctr"/>
          <a:lstStyle/>
          <a:p>
            <a:pPr marL="0" indent="0" algn="ctr">
              <a:buNone/>
            </a:pPr>
            <a:r>
              <a:rPr lang="en-US" sz="1100" b="1" dirty="0">
                <a:solidFill>
                  <a:schemeClr val="accent4"/>
                </a:solidFill>
              </a:rPr>
              <a:t>FINITE VERB</a:t>
            </a:r>
            <a:endParaRPr lang="en-US" sz="1100" dirty="0"/>
          </a:p>
        </p:txBody>
      </p:sp>
      <p:sp>
        <p:nvSpPr>
          <p:cNvPr id="10" name="Sentence part"/>
          <p:cNvSpPr/>
          <p:nvPr/>
        </p:nvSpPr>
        <p:spPr>
          <a:xfrm>
            <a:off x="3337560" y="1188720"/>
            <a:ext cx="1600200" cy="640080"/>
          </a:xfrm>
          <a:prstGeom prst="roundRect">
            <a:avLst>
              <a:gd name="adj" fmla="val 14286"/>
            </a:avLst>
          </a:prstGeom>
          <a:solidFill>
            <a:schemeClr val="accent3"/>
          </a:solidFill>
          <a:ln w="12700">
            <a:solidFill>
              <a:schemeClr val="accent3"/>
            </a:solidFill>
            <a:prstDash val="solid"/>
          </a:ln>
        </p:spPr>
      </p:sp>
      <p:sp>
        <p:nvSpPr>
          <p:cNvPr id="11" name="Text 8"/>
          <p:cNvSpPr txBox="1"/>
          <p:nvPr/>
        </p:nvSpPr>
        <p:spPr>
          <a:xfrm>
            <a:off x="3337560" y="1188720"/>
            <a:ext cx="1600200" cy="640080"/>
          </a:xfrm>
          <a:prstGeom prst="rect">
            <a:avLst/>
          </a:prstGeom>
          <a:noFill/>
          <a:ln/>
        </p:spPr>
        <p:txBody>
          <a:bodyPr wrap="square" lIns="0" tIns="0" rIns="0" bIns="0" rtlCol="0" anchor="ctr"/>
          <a:lstStyle/>
          <a:p>
            <a:pPr marL="0" indent="0" algn="ctr">
              <a:buNone/>
            </a:pPr>
            <a:r>
              <a:rPr lang="en-US" sz="1500" b="1" dirty="0">
                <a:solidFill>
                  <a:schemeClr val="tx1"/>
                </a:solidFill>
              </a:rPr>
              <a:t>the spacecraft</a:t>
            </a:r>
            <a:endParaRPr lang="en-US" sz="1500" dirty="0"/>
          </a:p>
        </p:txBody>
      </p:sp>
      <p:sp>
        <p:nvSpPr>
          <p:cNvPr id="12" name="Text 9"/>
          <p:cNvSpPr txBox="1"/>
          <p:nvPr/>
        </p:nvSpPr>
        <p:spPr>
          <a:xfrm>
            <a:off x="3246120" y="1874520"/>
            <a:ext cx="1783080" cy="274320"/>
          </a:xfrm>
          <a:prstGeom prst="rect">
            <a:avLst/>
          </a:prstGeom>
          <a:noFill/>
          <a:ln/>
        </p:spPr>
        <p:txBody>
          <a:bodyPr wrap="square" lIns="0" tIns="0" rIns="0" bIns="0" rtlCol="0" anchor="ctr"/>
          <a:lstStyle/>
          <a:p>
            <a:pPr marL="0" indent="0" algn="ctr">
              <a:buNone/>
            </a:pPr>
            <a:r>
              <a:rPr lang="en-US" sz="1100" b="1" dirty="0">
                <a:solidFill>
                  <a:schemeClr val="accent4"/>
                </a:solidFill>
              </a:rPr>
              <a:t>OBJECT</a:t>
            </a:r>
            <a:endParaRPr lang="en-US" sz="1100" dirty="0"/>
          </a:p>
        </p:txBody>
      </p:sp>
      <p:sp>
        <p:nvSpPr>
          <p:cNvPr id="13" name="Sentence part"/>
          <p:cNvSpPr/>
          <p:nvPr/>
        </p:nvSpPr>
        <p:spPr>
          <a:xfrm>
            <a:off x="5029200" y="1188720"/>
            <a:ext cx="731520" cy="640080"/>
          </a:xfrm>
          <a:prstGeom prst="roundRect">
            <a:avLst>
              <a:gd name="adj" fmla="val 14286"/>
            </a:avLst>
          </a:prstGeom>
          <a:solidFill>
            <a:schemeClr val="accent5"/>
          </a:solidFill>
          <a:ln w="12700">
            <a:solidFill>
              <a:schemeClr val="accent5"/>
            </a:solidFill>
            <a:prstDash val="solid"/>
          </a:ln>
        </p:spPr>
      </p:sp>
      <p:sp>
        <p:nvSpPr>
          <p:cNvPr id="14" name="Text 11"/>
          <p:cNvSpPr txBox="1"/>
          <p:nvPr/>
        </p:nvSpPr>
        <p:spPr>
          <a:xfrm>
            <a:off x="5029200" y="1188720"/>
            <a:ext cx="731520" cy="640080"/>
          </a:xfrm>
          <a:prstGeom prst="rect">
            <a:avLst/>
          </a:prstGeom>
          <a:noFill/>
          <a:ln/>
        </p:spPr>
        <p:txBody>
          <a:bodyPr wrap="square" lIns="0" tIns="0" rIns="0" bIns="0" rtlCol="0" anchor="ctr"/>
          <a:lstStyle/>
          <a:p>
            <a:pPr marL="0" indent="0" algn="ctr">
              <a:buNone/>
            </a:pPr>
            <a:r>
              <a:rPr lang="en-US" sz="1500" b="1" dirty="0">
                <a:solidFill>
                  <a:schemeClr val="tx1"/>
                </a:solidFill>
              </a:rPr>
              <a:t>and</a:t>
            </a:r>
            <a:endParaRPr lang="en-US" sz="1500" dirty="0"/>
          </a:p>
        </p:txBody>
      </p:sp>
      <p:sp>
        <p:nvSpPr>
          <p:cNvPr id="15" name="Text 12"/>
          <p:cNvSpPr txBox="1"/>
          <p:nvPr/>
        </p:nvSpPr>
        <p:spPr>
          <a:xfrm>
            <a:off x="4937760" y="1874520"/>
            <a:ext cx="914400" cy="274320"/>
          </a:xfrm>
          <a:prstGeom prst="rect">
            <a:avLst/>
          </a:prstGeom>
          <a:noFill/>
          <a:ln/>
        </p:spPr>
        <p:txBody>
          <a:bodyPr wrap="square" lIns="0" tIns="0" rIns="0" bIns="0" rtlCol="0" anchor="ctr"/>
          <a:lstStyle/>
          <a:p>
            <a:pPr marL="0" indent="0" algn="ctr">
              <a:buNone/>
            </a:pPr>
            <a:r>
              <a:rPr lang="en-US" sz="1100" b="1" dirty="0">
                <a:solidFill>
                  <a:schemeClr val="accent4"/>
                </a:solidFill>
              </a:rPr>
              <a:t>CONNECTIVE</a:t>
            </a:r>
            <a:endParaRPr lang="en-US" sz="1100" dirty="0"/>
          </a:p>
        </p:txBody>
      </p:sp>
      <p:sp>
        <p:nvSpPr>
          <p:cNvPr id="16" name="Sentence part"/>
          <p:cNvSpPr/>
          <p:nvPr/>
        </p:nvSpPr>
        <p:spPr>
          <a:xfrm>
            <a:off x="5852160" y="1188720"/>
            <a:ext cx="731520" cy="640080"/>
          </a:xfrm>
          <a:prstGeom prst="roundRect">
            <a:avLst>
              <a:gd name="adj" fmla="val 14286"/>
            </a:avLst>
          </a:prstGeom>
          <a:solidFill>
            <a:schemeClr val="accent1"/>
          </a:solidFill>
          <a:ln w="12700">
            <a:solidFill>
              <a:schemeClr val="accent1"/>
            </a:solidFill>
            <a:prstDash val="solid"/>
          </a:ln>
        </p:spPr>
      </p:sp>
      <p:sp>
        <p:nvSpPr>
          <p:cNvPr id="17" name="Text 14"/>
          <p:cNvSpPr txBox="1"/>
          <p:nvPr/>
        </p:nvSpPr>
        <p:spPr>
          <a:xfrm>
            <a:off x="5852160" y="1188720"/>
            <a:ext cx="731520" cy="640080"/>
          </a:xfrm>
          <a:prstGeom prst="rect">
            <a:avLst/>
          </a:prstGeom>
          <a:noFill/>
          <a:ln/>
        </p:spPr>
        <p:txBody>
          <a:bodyPr wrap="square" lIns="0" tIns="0" rIns="0" bIns="0" rtlCol="0" anchor="ctr"/>
          <a:lstStyle/>
          <a:p>
            <a:pPr marL="0" indent="0" algn="ctr">
              <a:buNone/>
            </a:pPr>
            <a:r>
              <a:rPr lang="en-US" sz="1500" b="1" dirty="0">
                <a:solidFill>
                  <a:schemeClr val="tx1"/>
                </a:solidFill>
              </a:rPr>
              <a:t>they</a:t>
            </a:r>
            <a:endParaRPr lang="en-US" sz="1500" dirty="0"/>
          </a:p>
        </p:txBody>
      </p:sp>
      <p:sp>
        <p:nvSpPr>
          <p:cNvPr id="18" name="Text 15"/>
          <p:cNvSpPr txBox="1"/>
          <p:nvPr/>
        </p:nvSpPr>
        <p:spPr>
          <a:xfrm>
            <a:off x="5760720" y="1874520"/>
            <a:ext cx="914400" cy="274320"/>
          </a:xfrm>
          <a:prstGeom prst="rect">
            <a:avLst/>
          </a:prstGeom>
          <a:noFill/>
          <a:ln/>
        </p:spPr>
        <p:txBody>
          <a:bodyPr wrap="square" lIns="0" tIns="0" rIns="0" bIns="0" rtlCol="0" anchor="ctr"/>
          <a:lstStyle/>
          <a:p>
            <a:pPr marL="0" indent="0" algn="ctr">
              <a:buNone/>
            </a:pPr>
            <a:r>
              <a:rPr lang="en-US" sz="1100" b="1" dirty="0">
                <a:solidFill>
                  <a:schemeClr val="accent4"/>
                </a:solidFill>
              </a:rPr>
              <a:t>SUBJECT</a:t>
            </a:r>
            <a:endParaRPr lang="en-US" sz="1100" dirty="0"/>
          </a:p>
        </p:txBody>
      </p:sp>
      <p:sp>
        <p:nvSpPr>
          <p:cNvPr id="19" name="Sentence part"/>
          <p:cNvSpPr/>
          <p:nvPr/>
        </p:nvSpPr>
        <p:spPr>
          <a:xfrm>
            <a:off x="6675120" y="1188720"/>
            <a:ext cx="1005840" cy="640080"/>
          </a:xfrm>
          <a:prstGeom prst="roundRect">
            <a:avLst>
              <a:gd name="adj" fmla="val 14286"/>
            </a:avLst>
          </a:prstGeom>
          <a:solidFill>
            <a:schemeClr val="accent2"/>
          </a:solidFill>
          <a:ln w="12700">
            <a:solidFill>
              <a:schemeClr val="accent2"/>
            </a:solidFill>
            <a:prstDash val="solid"/>
          </a:ln>
        </p:spPr>
      </p:sp>
      <p:sp>
        <p:nvSpPr>
          <p:cNvPr id="20" name="Text 17"/>
          <p:cNvSpPr txBox="1"/>
          <p:nvPr/>
        </p:nvSpPr>
        <p:spPr>
          <a:xfrm>
            <a:off x="6675120" y="1188720"/>
            <a:ext cx="1005840" cy="640080"/>
          </a:xfrm>
          <a:prstGeom prst="rect">
            <a:avLst/>
          </a:prstGeom>
          <a:noFill/>
          <a:ln/>
        </p:spPr>
        <p:txBody>
          <a:bodyPr wrap="square" lIns="0" tIns="0" rIns="0" bIns="0" rtlCol="0" anchor="ctr"/>
          <a:lstStyle/>
          <a:p>
            <a:pPr marL="0" indent="0" algn="ctr">
              <a:buNone/>
            </a:pPr>
            <a:r>
              <a:rPr lang="en-US" sz="1500" b="1" dirty="0">
                <a:solidFill>
                  <a:schemeClr val="tx1"/>
                </a:solidFill>
              </a:rPr>
              <a:t>blasted</a:t>
            </a:r>
            <a:endParaRPr lang="en-US" sz="1500" dirty="0"/>
          </a:p>
        </p:txBody>
      </p:sp>
      <p:sp>
        <p:nvSpPr>
          <p:cNvPr id="21" name="Text 18"/>
          <p:cNvSpPr txBox="1"/>
          <p:nvPr/>
        </p:nvSpPr>
        <p:spPr>
          <a:xfrm>
            <a:off x="6583680" y="1874520"/>
            <a:ext cx="1188720" cy="274320"/>
          </a:xfrm>
          <a:prstGeom prst="rect">
            <a:avLst/>
          </a:prstGeom>
          <a:noFill/>
          <a:ln/>
        </p:spPr>
        <p:txBody>
          <a:bodyPr wrap="square" lIns="0" tIns="0" rIns="0" bIns="0" rtlCol="0" anchor="ctr"/>
          <a:lstStyle/>
          <a:p>
            <a:pPr marL="0" indent="0" algn="ctr">
              <a:buNone/>
            </a:pPr>
            <a:r>
              <a:rPr lang="en-US" sz="1100" b="1" dirty="0">
                <a:solidFill>
                  <a:schemeClr val="accent4"/>
                </a:solidFill>
              </a:rPr>
              <a:t>FINITE VERB</a:t>
            </a:r>
            <a:endParaRPr lang="en-US" sz="1100" dirty="0"/>
          </a:p>
        </p:txBody>
      </p:sp>
      <p:sp>
        <p:nvSpPr>
          <p:cNvPr id="22" name="Sentence part"/>
          <p:cNvSpPr/>
          <p:nvPr/>
        </p:nvSpPr>
        <p:spPr>
          <a:xfrm>
            <a:off x="7772400" y="1188720"/>
            <a:ext cx="1188720" cy="640080"/>
          </a:xfrm>
          <a:prstGeom prst="roundRect">
            <a:avLst>
              <a:gd name="adj" fmla="val 14286"/>
            </a:avLst>
          </a:prstGeom>
          <a:solidFill>
            <a:schemeClr val="bg1"/>
          </a:solidFill>
          <a:ln w="12700">
            <a:solidFill>
              <a:schemeClr val="accent4"/>
            </a:solidFill>
            <a:prstDash val="solid"/>
          </a:ln>
        </p:spPr>
      </p:sp>
      <p:sp>
        <p:nvSpPr>
          <p:cNvPr id="23" name="Text 20"/>
          <p:cNvSpPr txBox="1"/>
          <p:nvPr/>
        </p:nvSpPr>
        <p:spPr>
          <a:xfrm>
            <a:off x="7772400" y="1188720"/>
            <a:ext cx="1188720" cy="640080"/>
          </a:xfrm>
          <a:prstGeom prst="rect">
            <a:avLst/>
          </a:prstGeom>
          <a:noFill/>
          <a:ln/>
        </p:spPr>
        <p:txBody>
          <a:bodyPr wrap="square" lIns="0" tIns="0" rIns="0" bIns="0" rtlCol="0" anchor="ctr"/>
          <a:lstStyle/>
          <a:p>
            <a:pPr marL="0" indent="0" algn="ctr">
              <a:buNone/>
            </a:pPr>
            <a:r>
              <a:rPr lang="en-US" sz="1500" b="1" dirty="0">
                <a:solidFill>
                  <a:schemeClr val="tx1"/>
                </a:solidFill>
              </a:rPr>
              <a:t>into space</a:t>
            </a:r>
            <a:endParaRPr lang="en-US" sz="1500" dirty="0"/>
          </a:p>
        </p:txBody>
      </p:sp>
      <p:sp>
        <p:nvSpPr>
          <p:cNvPr id="24" name="Clause bracket"/>
          <p:cNvSpPr/>
          <p:nvPr/>
        </p:nvSpPr>
        <p:spPr>
          <a:xfrm>
            <a:off x="502920" y="2286000"/>
            <a:ext cx="4434840" cy="0"/>
          </a:xfrm>
          <a:prstGeom prst="line">
            <a:avLst/>
          </a:prstGeom>
          <a:noFill/>
          <a:ln w="31750">
            <a:solidFill>
              <a:schemeClr val="accent4"/>
            </a:solidFill>
            <a:prstDash val="solid"/>
          </a:ln>
        </p:spPr>
      </p:sp>
      <p:sp>
        <p:nvSpPr>
          <p:cNvPr id="25" name="Text 22"/>
          <p:cNvSpPr txBox="1"/>
          <p:nvPr/>
        </p:nvSpPr>
        <p:spPr>
          <a:xfrm>
            <a:off x="502920" y="2331720"/>
            <a:ext cx="4434840" cy="274320"/>
          </a:xfrm>
          <a:prstGeom prst="rect">
            <a:avLst/>
          </a:prstGeom>
          <a:noFill/>
          <a:ln/>
        </p:spPr>
        <p:txBody>
          <a:bodyPr wrap="square" lIns="0" tIns="0" rIns="0" bIns="0" rtlCol="0" anchor="ctr"/>
          <a:lstStyle/>
          <a:p>
            <a:pPr marL="0" indent="0" algn="ctr">
              <a:buNone/>
            </a:pPr>
            <a:r>
              <a:rPr lang="en-US" sz="1200" b="1" dirty="0">
                <a:solidFill>
                  <a:schemeClr val="accent4"/>
                </a:solidFill>
              </a:rPr>
              <a:t>CLAUSE 1</a:t>
            </a:r>
            <a:endParaRPr lang="en-US" sz="1200" dirty="0"/>
          </a:p>
        </p:txBody>
      </p:sp>
      <p:sp>
        <p:nvSpPr>
          <p:cNvPr id="26" name="Clause bracket"/>
          <p:cNvSpPr/>
          <p:nvPr/>
        </p:nvSpPr>
        <p:spPr>
          <a:xfrm>
            <a:off x="5852160" y="2286000"/>
            <a:ext cx="3108960" cy="0"/>
          </a:xfrm>
          <a:prstGeom prst="line">
            <a:avLst/>
          </a:prstGeom>
          <a:noFill/>
          <a:ln w="31750">
            <a:solidFill>
              <a:schemeClr val="accent4"/>
            </a:solidFill>
            <a:prstDash val="solid"/>
          </a:ln>
        </p:spPr>
      </p:sp>
      <p:sp>
        <p:nvSpPr>
          <p:cNvPr id="27" name="Text 24"/>
          <p:cNvSpPr txBox="1"/>
          <p:nvPr/>
        </p:nvSpPr>
        <p:spPr>
          <a:xfrm>
            <a:off x="5852160" y="2331720"/>
            <a:ext cx="3108960" cy="274320"/>
          </a:xfrm>
          <a:prstGeom prst="rect">
            <a:avLst/>
          </a:prstGeom>
          <a:noFill/>
          <a:ln/>
        </p:spPr>
        <p:txBody>
          <a:bodyPr wrap="square" lIns="0" tIns="0" rIns="0" bIns="0" rtlCol="0" anchor="ctr"/>
          <a:lstStyle/>
          <a:p>
            <a:pPr marL="0" indent="0" algn="ctr">
              <a:buNone/>
            </a:pPr>
            <a:r>
              <a:rPr lang="en-US" sz="1200" b="1" dirty="0">
                <a:solidFill>
                  <a:schemeClr val="accent4"/>
                </a:solidFill>
              </a:rPr>
              <a:t>CLAUSE 2</a:t>
            </a:r>
            <a:endParaRPr lang="en-US" sz="1200" dirty="0"/>
          </a:p>
        </p:txBody>
      </p:sp>
      <p:sp>
        <p:nvSpPr>
          <p:cNvPr id="28" name="Term finite verb"/>
          <p:cNvSpPr/>
          <p:nvPr/>
        </p:nvSpPr>
        <p:spPr>
          <a:xfrm>
            <a:off x="457200" y="2926080"/>
            <a:ext cx="2651760" cy="1508760"/>
          </a:xfrm>
          <a:prstGeom prst="roundRect">
            <a:avLst>
              <a:gd name="adj" fmla="val 727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9" name="Text 26"/>
          <p:cNvSpPr txBox="1"/>
          <p:nvPr/>
        </p:nvSpPr>
        <p:spPr>
          <a:xfrm>
            <a:off x="640080" y="3017520"/>
            <a:ext cx="2286000" cy="365760"/>
          </a:xfrm>
          <a:prstGeom prst="rect">
            <a:avLst/>
          </a:prstGeom>
          <a:noFill/>
          <a:ln/>
        </p:spPr>
        <p:txBody>
          <a:bodyPr wrap="square" lIns="0" tIns="0" rIns="0" bIns="0" rtlCol="0" anchor="ctr"/>
          <a:lstStyle/>
          <a:p>
            <a:pPr marL="0" indent="0">
              <a:buNone/>
            </a:pPr>
            <a:r>
              <a:rPr lang="en-US" sz="1700" b="1" dirty="0">
                <a:solidFill>
                  <a:schemeClr val="accent4"/>
                </a:solidFill>
                <a:latin typeface="+mj-lt" pitchFamily="34" charset="0"/>
                <a:ea typeface="+mj-lt" pitchFamily="34" charset="-122"/>
                <a:cs typeface="+mj-lt" pitchFamily="34" charset="-120"/>
              </a:rPr>
              <a:t>finite verb</a:t>
            </a:r>
            <a:endParaRPr lang="en-US" sz="1700" dirty="0"/>
          </a:p>
        </p:txBody>
      </p:sp>
      <p:sp>
        <p:nvSpPr>
          <p:cNvPr id="30" name="Text 27"/>
          <p:cNvSpPr txBox="1"/>
          <p:nvPr/>
        </p:nvSpPr>
        <p:spPr>
          <a:xfrm>
            <a:off x="640080" y="3429000"/>
            <a:ext cx="2286000" cy="960120"/>
          </a:xfrm>
          <a:prstGeom prst="rect">
            <a:avLst/>
          </a:prstGeom>
          <a:noFill/>
          <a:ln/>
        </p:spPr>
        <p:txBody>
          <a:bodyPr wrap="square" lIns="0" tIns="0" rIns="0" bIns="0" rtlCol="0" anchor="t"/>
          <a:lstStyle/>
          <a:p>
            <a:pPr marL="0" indent="0">
              <a:buNone/>
            </a:pPr>
            <a:r>
              <a:rPr lang="en-US" sz="1400" dirty="0">
                <a:solidFill>
                  <a:schemeClr val="tx1"/>
                </a:solidFill>
              </a:rPr>
              <a:t>a verb that can stand on its own without a helping verb: it has a subject and tense</a:t>
            </a:r>
            <a:endParaRPr lang="en-US" sz="1400" dirty="0"/>
          </a:p>
        </p:txBody>
      </p:sp>
      <p:sp>
        <p:nvSpPr>
          <p:cNvPr id="31" name="Term clause"/>
          <p:cNvSpPr/>
          <p:nvPr/>
        </p:nvSpPr>
        <p:spPr>
          <a:xfrm>
            <a:off x="3246120" y="2926080"/>
            <a:ext cx="2651760" cy="1508760"/>
          </a:xfrm>
          <a:prstGeom prst="roundRect">
            <a:avLst>
              <a:gd name="adj" fmla="val 727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2" name="Text 29"/>
          <p:cNvSpPr txBox="1"/>
          <p:nvPr/>
        </p:nvSpPr>
        <p:spPr>
          <a:xfrm>
            <a:off x="3429000" y="3017520"/>
            <a:ext cx="2286000" cy="365760"/>
          </a:xfrm>
          <a:prstGeom prst="rect">
            <a:avLst/>
          </a:prstGeom>
          <a:noFill/>
          <a:ln/>
        </p:spPr>
        <p:txBody>
          <a:bodyPr wrap="square" lIns="0" tIns="0" rIns="0" bIns="0" rtlCol="0" anchor="ctr"/>
          <a:lstStyle/>
          <a:p>
            <a:pPr marL="0" indent="0">
              <a:buNone/>
            </a:pPr>
            <a:r>
              <a:rPr lang="en-US" sz="1700" b="1" dirty="0">
                <a:solidFill>
                  <a:schemeClr val="accent4"/>
                </a:solidFill>
                <a:latin typeface="+mj-lt" pitchFamily="34" charset="0"/>
                <a:ea typeface="+mj-lt" pitchFamily="34" charset="-122"/>
                <a:cs typeface="+mj-lt" pitchFamily="34" charset="-120"/>
              </a:rPr>
              <a:t>clause</a:t>
            </a:r>
            <a:endParaRPr lang="en-US" sz="1700" dirty="0"/>
          </a:p>
        </p:txBody>
      </p:sp>
      <p:sp>
        <p:nvSpPr>
          <p:cNvPr id="33" name="Text 30"/>
          <p:cNvSpPr txBox="1"/>
          <p:nvPr/>
        </p:nvSpPr>
        <p:spPr>
          <a:xfrm>
            <a:off x="3429000" y="3429000"/>
            <a:ext cx="2286000" cy="960120"/>
          </a:xfrm>
          <a:prstGeom prst="rect">
            <a:avLst/>
          </a:prstGeom>
          <a:noFill/>
          <a:ln/>
        </p:spPr>
        <p:txBody>
          <a:bodyPr wrap="square" lIns="0" tIns="0" rIns="0" bIns="0" rtlCol="0" anchor="t"/>
          <a:lstStyle/>
          <a:p>
            <a:pPr marL="0" indent="0">
              <a:buNone/>
            </a:pPr>
            <a:r>
              <a:rPr lang="en-US" sz="1400" dirty="0">
                <a:solidFill>
                  <a:schemeClr val="tx1"/>
                </a:solidFill>
              </a:rPr>
              <a:t>a group of words with a subject and a finite verb</a:t>
            </a:r>
            <a:endParaRPr lang="en-US" sz="1400" dirty="0"/>
          </a:p>
        </p:txBody>
      </p:sp>
      <p:sp>
        <p:nvSpPr>
          <p:cNvPr id="34" name="Term connective"/>
          <p:cNvSpPr/>
          <p:nvPr/>
        </p:nvSpPr>
        <p:spPr>
          <a:xfrm>
            <a:off x="6035040" y="2926080"/>
            <a:ext cx="2651760" cy="1508760"/>
          </a:xfrm>
          <a:prstGeom prst="roundRect">
            <a:avLst>
              <a:gd name="adj" fmla="val 727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5" name="Text 32"/>
          <p:cNvSpPr txBox="1"/>
          <p:nvPr/>
        </p:nvSpPr>
        <p:spPr>
          <a:xfrm>
            <a:off x="6217920" y="3017520"/>
            <a:ext cx="2286000" cy="365760"/>
          </a:xfrm>
          <a:prstGeom prst="rect">
            <a:avLst/>
          </a:prstGeom>
          <a:noFill/>
          <a:ln/>
        </p:spPr>
        <p:txBody>
          <a:bodyPr wrap="square" lIns="0" tIns="0" rIns="0" bIns="0" rtlCol="0" anchor="ctr"/>
          <a:lstStyle/>
          <a:p>
            <a:pPr marL="0" indent="0">
              <a:buNone/>
            </a:pPr>
            <a:r>
              <a:rPr lang="en-US" sz="1700" b="1" dirty="0">
                <a:solidFill>
                  <a:schemeClr val="accent4"/>
                </a:solidFill>
                <a:latin typeface="+mj-lt" pitchFamily="34" charset="0"/>
                <a:ea typeface="+mj-lt" pitchFamily="34" charset="-122"/>
                <a:cs typeface="+mj-lt" pitchFamily="34" charset="-120"/>
              </a:rPr>
              <a:t>connective</a:t>
            </a:r>
            <a:endParaRPr lang="en-US" sz="1700" dirty="0"/>
          </a:p>
        </p:txBody>
      </p:sp>
      <p:sp>
        <p:nvSpPr>
          <p:cNvPr id="36" name="Text 33"/>
          <p:cNvSpPr txBox="1"/>
          <p:nvPr/>
        </p:nvSpPr>
        <p:spPr>
          <a:xfrm>
            <a:off x="6217920" y="3429000"/>
            <a:ext cx="2286000" cy="960120"/>
          </a:xfrm>
          <a:prstGeom prst="rect">
            <a:avLst/>
          </a:prstGeom>
          <a:noFill/>
          <a:ln/>
        </p:spPr>
        <p:txBody>
          <a:bodyPr wrap="square" lIns="0" tIns="0" rIns="0" bIns="0" rtlCol="0" anchor="t"/>
          <a:lstStyle/>
          <a:p>
            <a:pPr marL="0" indent="0">
              <a:buNone/>
            </a:pPr>
            <a:r>
              <a:rPr lang="en-US" sz="1400" dirty="0">
                <a:solidFill>
                  <a:schemeClr val="tx1"/>
                </a:solidFill>
              </a:rPr>
              <a:t>a word that joins two clauses together</a:t>
            </a:r>
            <a:endParaRPr lang="en-US" sz="14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FANBOYS: the seven connectives</a:t>
            </a:r>
            <a:endParaRPr lang="en-US" sz="3000" dirty="0"/>
          </a:p>
        </p:txBody>
      </p:sp>
      <p:sp>
        <p:nvSpPr>
          <p:cNvPr id="4" name="Connective For"/>
          <p:cNvSpPr/>
          <p:nvPr/>
        </p:nvSpPr>
        <p:spPr>
          <a:xfrm>
            <a:off x="457200" y="1097280"/>
            <a:ext cx="19659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234440"/>
            <a:ext cx="502920" cy="502920"/>
          </a:xfrm>
          <a:prstGeom prst="ellipse">
            <a:avLst/>
          </a:prstGeom>
          <a:solidFill>
            <a:schemeClr val="accent1"/>
          </a:solidFill>
          <a:ln w="6350">
            <a:solidFill>
              <a:schemeClr val="accent1"/>
            </a:solidFill>
            <a:prstDash val="solid"/>
          </a:ln>
        </p:spPr>
      </p:sp>
      <p:sp>
        <p:nvSpPr>
          <p:cNvPr id="6" name="Text 3"/>
          <p:cNvSpPr txBox="1"/>
          <p:nvPr/>
        </p:nvSpPr>
        <p:spPr>
          <a:xfrm>
            <a:off x="594360" y="1234440"/>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F</a:t>
            </a:r>
            <a:endParaRPr lang="en-US" sz="1500" dirty="0"/>
          </a:p>
        </p:txBody>
      </p:sp>
      <p:sp>
        <p:nvSpPr>
          <p:cNvPr id="7" name="Text 4"/>
          <p:cNvSpPr txBox="1"/>
          <p:nvPr/>
        </p:nvSpPr>
        <p:spPr>
          <a:xfrm>
            <a:off x="1188720" y="1234440"/>
            <a:ext cx="1188720" cy="50292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For</a:t>
            </a:r>
            <a:endParaRPr lang="en-US" sz="2200" dirty="0"/>
          </a:p>
        </p:txBody>
      </p:sp>
      <p:sp>
        <p:nvSpPr>
          <p:cNvPr id="8" name="Text 5"/>
          <p:cNvSpPr txBox="1"/>
          <p:nvPr/>
        </p:nvSpPr>
        <p:spPr>
          <a:xfrm>
            <a:off x="594360" y="1828800"/>
            <a:ext cx="1691640" cy="640080"/>
          </a:xfrm>
          <a:prstGeom prst="rect">
            <a:avLst/>
          </a:prstGeom>
          <a:noFill/>
          <a:ln/>
        </p:spPr>
        <p:txBody>
          <a:bodyPr wrap="square" lIns="0" tIns="0" rIns="0" bIns="0" rtlCol="0" anchor="t"/>
          <a:lstStyle/>
          <a:p>
            <a:pPr marL="0" indent="0">
              <a:buNone/>
            </a:pPr>
            <a:r>
              <a:rPr lang="en-US" sz="1400" dirty="0">
                <a:solidFill>
                  <a:schemeClr val="tx1"/>
                </a:solidFill>
              </a:rPr>
              <a:t>gives a reason (because)</a:t>
            </a:r>
            <a:endParaRPr lang="en-US" sz="1400" dirty="0"/>
          </a:p>
        </p:txBody>
      </p:sp>
      <p:sp>
        <p:nvSpPr>
          <p:cNvPr id="9" name="Connective And"/>
          <p:cNvSpPr/>
          <p:nvPr/>
        </p:nvSpPr>
        <p:spPr>
          <a:xfrm>
            <a:off x="2542032" y="1097280"/>
            <a:ext cx="19659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2679192" y="1234440"/>
            <a:ext cx="502920" cy="502920"/>
          </a:xfrm>
          <a:prstGeom prst="ellipse">
            <a:avLst/>
          </a:prstGeom>
          <a:solidFill>
            <a:schemeClr val="accent2"/>
          </a:solidFill>
          <a:ln w="6350">
            <a:solidFill>
              <a:schemeClr val="accent2"/>
            </a:solidFill>
            <a:prstDash val="solid"/>
          </a:ln>
        </p:spPr>
      </p:sp>
      <p:sp>
        <p:nvSpPr>
          <p:cNvPr id="11" name="Text 8"/>
          <p:cNvSpPr txBox="1"/>
          <p:nvPr/>
        </p:nvSpPr>
        <p:spPr>
          <a:xfrm>
            <a:off x="2679192" y="1234440"/>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12" name="Text 9"/>
          <p:cNvSpPr txBox="1"/>
          <p:nvPr/>
        </p:nvSpPr>
        <p:spPr>
          <a:xfrm>
            <a:off x="3273552" y="1234440"/>
            <a:ext cx="1188720" cy="50292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And</a:t>
            </a:r>
            <a:endParaRPr lang="en-US" sz="2200" dirty="0"/>
          </a:p>
        </p:txBody>
      </p:sp>
      <p:sp>
        <p:nvSpPr>
          <p:cNvPr id="13" name="Text 10"/>
          <p:cNvSpPr txBox="1"/>
          <p:nvPr/>
        </p:nvSpPr>
        <p:spPr>
          <a:xfrm>
            <a:off x="2679192" y="1828800"/>
            <a:ext cx="1691640" cy="640080"/>
          </a:xfrm>
          <a:prstGeom prst="rect">
            <a:avLst/>
          </a:prstGeom>
          <a:noFill/>
          <a:ln/>
        </p:spPr>
        <p:txBody>
          <a:bodyPr wrap="square" lIns="0" tIns="0" rIns="0" bIns="0" rtlCol="0" anchor="t"/>
          <a:lstStyle/>
          <a:p>
            <a:pPr marL="0" indent="0">
              <a:buNone/>
            </a:pPr>
            <a:r>
              <a:rPr lang="en-US" sz="1400" dirty="0">
                <a:solidFill>
                  <a:schemeClr val="tx1"/>
                </a:solidFill>
              </a:rPr>
              <a:t>adds more information</a:t>
            </a:r>
            <a:endParaRPr lang="en-US" sz="1400" dirty="0"/>
          </a:p>
        </p:txBody>
      </p:sp>
      <p:sp>
        <p:nvSpPr>
          <p:cNvPr id="14" name="Connective Nor"/>
          <p:cNvSpPr/>
          <p:nvPr/>
        </p:nvSpPr>
        <p:spPr>
          <a:xfrm>
            <a:off x="4626864" y="1097280"/>
            <a:ext cx="19659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4764024" y="1234440"/>
            <a:ext cx="502920" cy="502920"/>
          </a:xfrm>
          <a:prstGeom prst="ellipse">
            <a:avLst/>
          </a:prstGeom>
          <a:solidFill>
            <a:schemeClr val="accent3"/>
          </a:solidFill>
          <a:ln w="6350">
            <a:solidFill>
              <a:schemeClr val="accent3"/>
            </a:solidFill>
            <a:prstDash val="solid"/>
          </a:ln>
        </p:spPr>
      </p:sp>
      <p:sp>
        <p:nvSpPr>
          <p:cNvPr id="16" name="Text 13"/>
          <p:cNvSpPr txBox="1"/>
          <p:nvPr/>
        </p:nvSpPr>
        <p:spPr>
          <a:xfrm>
            <a:off x="4764024" y="1234440"/>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N</a:t>
            </a:r>
            <a:endParaRPr lang="en-US" sz="1500" dirty="0"/>
          </a:p>
        </p:txBody>
      </p:sp>
      <p:sp>
        <p:nvSpPr>
          <p:cNvPr id="17" name="Text 14"/>
          <p:cNvSpPr txBox="1"/>
          <p:nvPr/>
        </p:nvSpPr>
        <p:spPr>
          <a:xfrm>
            <a:off x="5358384" y="1234440"/>
            <a:ext cx="1188720" cy="50292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Nor</a:t>
            </a:r>
            <a:endParaRPr lang="en-US" sz="2200" dirty="0"/>
          </a:p>
        </p:txBody>
      </p:sp>
      <p:sp>
        <p:nvSpPr>
          <p:cNvPr id="18" name="Text 15"/>
          <p:cNvSpPr txBox="1"/>
          <p:nvPr/>
        </p:nvSpPr>
        <p:spPr>
          <a:xfrm>
            <a:off x="4764024" y="1828800"/>
            <a:ext cx="1691640" cy="640080"/>
          </a:xfrm>
          <a:prstGeom prst="rect">
            <a:avLst/>
          </a:prstGeom>
          <a:noFill/>
          <a:ln/>
        </p:spPr>
        <p:txBody>
          <a:bodyPr wrap="square" lIns="0" tIns="0" rIns="0" bIns="0" rtlCol="0" anchor="t"/>
          <a:lstStyle/>
          <a:p>
            <a:pPr marL="0" indent="0">
              <a:buNone/>
            </a:pPr>
            <a:r>
              <a:rPr lang="en-US" sz="1400" dirty="0">
                <a:solidFill>
                  <a:schemeClr val="tx1"/>
                </a:solidFill>
              </a:rPr>
              <a:t>adds another negative</a:t>
            </a:r>
            <a:endParaRPr lang="en-US" sz="1400" dirty="0"/>
          </a:p>
        </p:txBody>
      </p:sp>
      <p:sp>
        <p:nvSpPr>
          <p:cNvPr id="19" name="Connective But"/>
          <p:cNvSpPr/>
          <p:nvPr/>
        </p:nvSpPr>
        <p:spPr>
          <a:xfrm>
            <a:off x="6711696" y="1097280"/>
            <a:ext cx="19659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0" name="Badge"/>
          <p:cNvSpPr/>
          <p:nvPr/>
        </p:nvSpPr>
        <p:spPr>
          <a:xfrm>
            <a:off x="6848856" y="1234440"/>
            <a:ext cx="502920" cy="502920"/>
          </a:xfrm>
          <a:prstGeom prst="ellipse">
            <a:avLst/>
          </a:prstGeom>
          <a:solidFill>
            <a:schemeClr val="accent4"/>
          </a:solidFill>
          <a:ln w="6350">
            <a:solidFill>
              <a:schemeClr val="accent4"/>
            </a:solidFill>
            <a:prstDash val="solid"/>
          </a:ln>
        </p:spPr>
      </p:sp>
      <p:sp>
        <p:nvSpPr>
          <p:cNvPr id="21" name="Text 18"/>
          <p:cNvSpPr txBox="1"/>
          <p:nvPr/>
        </p:nvSpPr>
        <p:spPr>
          <a:xfrm>
            <a:off x="6848856" y="123444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B</a:t>
            </a:r>
            <a:endParaRPr lang="en-US" sz="1500" dirty="0"/>
          </a:p>
        </p:txBody>
      </p:sp>
      <p:sp>
        <p:nvSpPr>
          <p:cNvPr id="22" name="Text 19"/>
          <p:cNvSpPr txBox="1"/>
          <p:nvPr/>
        </p:nvSpPr>
        <p:spPr>
          <a:xfrm>
            <a:off x="7443216" y="1234440"/>
            <a:ext cx="1188720" cy="50292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But</a:t>
            </a:r>
            <a:endParaRPr lang="en-US" sz="2200" dirty="0"/>
          </a:p>
        </p:txBody>
      </p:sp>
      <p:sp>
        <p:nvSpPr>
          <p:cNvPr id="23" name="Text 20"/>
          <p:cNvSpPr txBox="1"/>
          <p:nvPr/>
        </p:nvSpPr>
        <p:spPr>
          <a:xfrm>
            <a:off x="6848856" y="1828800"/>
            <a:ext cx="1691640" cy="640080"/>
          </a:xfrm>
          <a:prstGeom prst="rect">
            <a:avLst/>
          </a:prstGeom>
          <a:noFill/>
          <a:ln/>
        </p:spPr>
        <p:txBody>
          <a:bodyPr wrap="square" lIns="0" tIns="0" rIns="0" bIns="0" rtlCol="0" anchor="t"/>
          <a:lstStyle/>
          <a:p>
            <a:pPr marL="0" indent="0">
              <a:buNone/>
            </a:pPr>
            <a:r>
              <a:rPr lang="en-US" sz="1400" dirty="0">
                <a:solidFill>
                  <a:schemeClr val="tx1"/>
                </a:solidFill>
              </a:rPr>
              <a:t>shows a contrast</a:t>
            </a:r>
            <a:endParaRPr lang="en-US" sz="1400" dirty="0"/>
          </a:p>
        </p:txBody>
      </p:sp>
      <p:sp>
        <p:nvSpPr>
          <p:cNvPr id="24" name="Connective Or"/>
          <p:cNvSpPr/>
          <p:nvPr/>
        </p:nvSpPr>
        <p:spPr>
          <a:xfrm>
            <a:off x="457200" y="2697480"/>
            <a:ext cx="19659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5" name="Badge"/>
          <p:cNvSpPr/>
          <p:nvPr/>
        </p:nvSpPr>
        <p:spPr>
          <a:xfrm>
            <a:off x="594360" y="2834640"/>
            <a:ext cx="502920" cy="502920"/>
          </a:xfrm>
          <a:prstGeom prst="ellipse">
            <a:avLst/>
          </a:prstGeom>
          <a:solidFill>
            <a:schemeClr val="accent5"/>
          </a:solidFill>
          <a:ln w="6350">
            <a:solidFill>
              <a:schemeClr val="accent5"/>
            </a:solidFill>
            <a:prstDash val="solid"/>
          </a:ln>
        </p:spPr>
      </p:sp>
      <p:sp>
        <p:nvSpPr>
          <p:cNvPr id="26" name="Text 23"/>
          <p:cNvSpPr txBox="1"/>
          <p:nvPr/>
        </p:nvSpPr>
        <p:spPr>
          <a:xfrm>
            <a:off x="594360" y="2834640"/>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O</a:t>
            </a:r>
            <a:endParaRPr lang="en-US" sz="1500" dirty="0"/>
          </a:p>
        </p:txBody>
      </p:sp>
      <p:sp>
        <p:nvSpPr>
          <p:cNvPr id="27" name="Text 24"/>
          <p:cNvSpPr txBox="1"/>
          <p:nvPr/>
        </p:nvSpPr>
        <p:spPr>
          <a:xfrm>
            <a:off x="1188720" y="2834640"/>
            <a:ext cx="1188720" cy="50292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Or</a:t>
            </a:r>
            <a:endParaRPr lang="en-US" sz="2200" dirty="0"/>
          </a:p>
        </p:txBody>
      </p:sp>
      <p:sp>
        <p:nvSpPr>
          <p:cNvPr id="28" name="Text 25"/>
          <p:cNvSpPr txBox="1"/>
          <p:nvPr/>
        </p:nvSpPr>
        <p:spPr>
          <a:xfrm>
            <a:off x="594360" y="3429000"/>
            <a:ext cx="1691640" cy="640080"/>
          </a:xfrm>
          <a:prstGeom prst="rect">
            <a:avLst/>
          </a:prstGeom>
          <a:noFill/>
          <a:ln/>
        </p:spPr>
        <p:txBody>
          <a:bodyPr wrap="square" lIns="0" tIns="0" rIns="0" bIns="0" rtlCol="0" anchor="t"/>
          <a:lstStyle/>
          <a:p>
            <a:pPr marL="0" indent="0">
              <a:buNone/>
            </a:pPr>
            <a:r>
              <a:rPr lang="en-US" sz="1400" dirty="0">
                <a:solidFill>
                  <a:schemeClr val="tx1"/>
                </a:solidFill>
              </a:rPr>
              <a:t>gives a choice</a:t>
            </a:r>
            <a:endParaRPr lang="en-US" sz="1400" dirty="0"/>
          </a:p>
        </p:txBody>
      </p:sp>
      <p:sp>
        <p:nvSpPr>
          <p:cNvPr id="29" name="Connective Yet"/>
          <p:cNvSpPr/>
          <p:nvPr/>
        </p:nvSpPr>
        <p:spPr>
          <a:xfrm>
            <a:off x="2542032" y="2697480"/>
            <a:ext cx="19659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0" name="Badge"/>
          <p:cNvSpPr/>
          <p:nvPr/>
        </p:nvSpPr>
        <p:spPr>
          <a:xfrm>
            <a:off x="2679192" y="2834640"/>
            <a:ext cx="502920" cy="502920"/>
          </a:xfrm>
          <a:prstGeom prst="ellipse">
            <a:avLst/>
          </a:prstGeom>
          <a:solidFill>
            <a:schemeClr val="accent1"/>
          </a:solidFill>
          <a:ln w="6350">
            <a:solidFill>
              <a:schemeClr val="accent1"/>
            </a:solidFill>
            <a:prstDash val="solid"/>
          </a:ln>
        </p:spPr>
      </p:sp>
      <p:sp>
        <p:nvSpPr>
          <p:cNvPr id="31" name="Text 28"/>
          <p:cNvSpPr txBox="1"/>
          <p:nvPr/>
        </p:nvSpPr>
        <p:spPr>
          <a:xfrm>
            <a:off x="2679192" y="2834640"/>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Y</a:t>
            </a:r>
            <a:endParaRPr lang="en-US" sz="1500" dirty="0"/>
          </a:p>
        </p:txBody>
      </p:sp>
      <p:sp>
        <p:nvSpPr>
          <p:cNvPr id="32" name="Text 29"/>
          <p:cNvSpPr txBox="1"/>
          <p:nvPr/>
        </p:nvSpPr>
        <p:spPr>
          <a:xfrm>
            <a:off x="3273552" y="2834640"/>
            <a:ext cx="1188720" cy="50292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Yet</a:t>
            </a:r>
            <a:endParaRPr lang="en-US" sz="2200" dirty="0"/>
          </a:p>
        </p:txBody>
      </p:sp>
      <p:sp>
        <p:nvSpPr>
          <p:cNvPr id="33" name="Text 30"/>
          <p:cNvSpPr txBox="1"/>
          <p:nvPr/>
        </p:nvSpPr>
        <p:spPr>
          <a:xfrm>
            <a:off x="2679192" y="3429000"/>
            <a:ext cx="1691640" cy="640080"/>
          </a:xfrm>
          <a:prstGeom prst="rect">
            <a:avLst/>
          </a:prstGeom>
          <a:noFill/>
          <a:ln/>
        </p:spPr>
        <p:txBody>
          <a:bodyPr wrap="square" lIns="0" tIns="0" rIns="0" bIns="0" rtlCol="0" anchor="t"/>
          <a:lstStyle/>
          <a:p>
            <a:pPr marL="0" indent="0">
              <a:buNone/>
            </a:pPr>
            <a:r>
              <a:rPr lang="en-US" sz="1400" dirty="0">
                <a:solidFill>
                  <a:schemeClr val="tx1"/>
                </a:solidFill>
              </a:rPr>
              <a:t>a surprising contrast</a:t>
            </a:r>
            <a:endParaRPr lang="en-US" sz="1400" dirty="0"/>
          </a:p>
        </p:txBody>
      </p:sp>
      <p:sp>
        <p:nvSpPr>
          <p:cNvPr id="34" name="Connective So"/>
          <p:cNvSpPr/>
          <p:nvPr/>
        </p:nvSpPr>
        <p:spPr>
          <a:xfrm>
            <a:off x="4626864" y="2697480"/>
            <a:ext cx="1965960" cy="1417320"/>
          </a:xfrm>
          <a:prstGeom prst="roundRect">
            <a:avLst>
              <a:gd name="adj" fmla="val 774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35" name="Badge"/>
          <p:cNvSpPr/>
          <p:nvPr/>
        </p:nvSpPr>
        <p:spPr>
          <a:xfrm>
            <a:off x="4764024" y="2834640"/>
            <a:ext cx="502920" cy="502920"/>
          </a:xfrm>
          <a:prstGeom prst="ellipse">
            <a:avLst/>
          </a:prstGeom>
          <a:solidFill>
            <a:schemeClr val="accent2"/>
          </a:solidFill>
          <a:ln w="6350">
            <a:solidFill>
              <a:schemeClr val="accent2"/>
            </a:solidFill>
            <a:prstDash val="solid"/>
          </a:ln>
        </p:spPr>
      </p:sp>
      <p:sp>
        <p:nvSpPr>
          <p:cNvPr id="36" name="Text 33"/>
          <p:cNvSpPr txBox="1"/>
          <p:nvPr/>
        </p:nvSpPr>
        <p:spPr>
          <a:xfrm>
            <a:off x="4764024" y="2834640"/>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S</a:t>
            </a:r>
            <a:endParaRPr lang="en-US" sz="1500" dirty="0"/>
          </a:p>
        </p:txBody>
      </p:sp>
      <p:sp>
        <p:nvSpPr>
          <p:cNvPr id="37" name="Text 34"/>
          <p:cNvSpPr txBox="1"/>
          <p:nvPr/>
        </p:nvSpPr>
        <p:spPr>
          <a:xfrm>
            <a:off x="5358384" y="2834640"/>
            <a:ext cx="1188720" cy="50292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So</a:t>
            </a:r>
            <a:endParaRPr lang="en-US" sz="2200" dirty="0"/>
          </a:p>
        </p:txBody>
      </p:sp>
      <p:sp>
        <p:nvSpPr>
          <p:cNvPr id="38" name="Text 35"/>
          <p:cNvSpPr txBox="1"/>
          <p:nvPr/>
        </p:nvSpPr>
        <p:spPr>
          <a:xfrm>
            <a:off x="4764024" y="3429000"/>
            <a:ext cx="1691640" cy="640080"/>
          </a:xfrm>
          <a:prstGeom prst="rect">
            <a:avLst/>
          </a:prstGeom>
          <a:noFill/>
          <a:ln/>
        </p:spPr>
        <p:txBody>
          <a:bodyPr wrap="square" lIns="0" tIns="0" rIns="0" bIns="0" rtlCol="0" anchor="t"/>
          <a:lstStyle/>
          <a:p>
            <a:pPr marL="0" indent="0">
              <a:buNone/>
            </a:pPr>
            <a:r>
              <a:rPr lang="en-US" sz="1400" dirty="0">
                <a:solidFill>
                  <a:schemeClr val="tx1"/>
                </a:solidFill>
              </a:rPr>
              <a:t>shows a result</a:t>
            </a:r>
            <a:endParaRPr lang="en-US" sz="1400" dirty="0"/>
          </a:p>
        </p:txBody>
      </p:sp>
      <p:sp>
        <p:nvSpPr>
          <p:cNvPr id="39" name="Writing tip"/>
          <p:cNvSpPr/>
          <p:nvPr/>
        </p:nvSpPr>
        <p:spPr>
          <a:xfrm>
            <a:off x="6711696" y="2697480"/>
            <a:ext cx="1965960" cy="1417320"/>
          </a:xfrm>
          <a:prstGeom prst="roundRect">
            <a:avLst>
              <a:gd name="adj" fmla="val 7742"/>
            </a:avLst>
          </a:prstGeom>
          <a:solidFill>
            <a:schemeClr val="accent5"/>
          </a:solidFill>
          <a:ln w="9525">
            <a:solidFill>
              <a:schemeClr val="accent5"/>
            </a:solidFill>
            <a:prstDash val="solid"/>
          </a:ln>
        </p:spPr>
      </p:sp>
      <p:sp>
        <p:nvSpPr>
          <p:cNvPr id="40" name="Text 37"/>
          <p:cNvSpPr txBox="1"/>
          <p:nvPr/>
        </p:nvSpPr>
        <p:spPr>
          <a:xfrm>
            <a:off x="6848856" y="2743200"/>
            <a:ext cx="1737360" cy="274320"/>
          </a:xfrm>
          <a:prstGeom prst="rect">
            <a:avLst/>
          </a:prstGeom>
          <a:noFill/>
          <a:ln/>
        </p:spPr>
        <p:txBody>
          <a:bodyPr wrap="square" lIns="0" tIns="0" rIns="0" bIns="0" rtlCol="0" anchor="ctr"/>
          <a:lstStyle/>
          <a:p>
            <a:pPr marL="0" indent="0">
              <a:buNone/>
            </a:pPr>
            <a:r>
              <a:rPr lang="en-US" sz="1300" b="1" dirty="0">
                <a:solidFill>
                  <a:schemeClr val="tx2"/>
                </a:solidFill>
              </a:rPr>
              <a:t>Writing tip</a:t>
            </a:r>
            <a:endParaRPr lang="en-US" sz="1300" dirty="0"/>
          </a:p>
        </p:txBody>
      </p:sp>
      <p:sp>
        <p:nvSpPr>
          <p:cNvPr id="41" name="Text 38"/>
          <p:cNvSpPr txBox="1"/>
          <p:nvPr/>
        </p:nvSpPr>
        <p:spPr>
          <a:xfrm>
            <a:off x="6848856" y="3017520"/>
            <a:ext cx="1737360" cy="1005840"/>
          </a:xfrm>
          <a:prstGeom prst="rect">
            <a:avLst/>
          </a:prstGeom>
          <a:noFill/>
          <a:ln/>
        </p:spPr>
        <p:txBody>
          <a:bodyPr wrap="square" lIns="0" tIns="0" rIns="0" bIns="0" rtlCol="0" anchor="t"/>
          <a:lstStyle/>
          <a:p>
            <a:pPr marL="0" indent="0">
              <a:buNone/>
            </a:pPr>
            <a:r>
              <a:rPr lang="en-US" sz="1400" b="1" dirty="0">
                <a:solidFill>
                  <a:schemeClr val="tx1"/>
                </a:solidFill>
              </a:rPr>
              <a:t>Learn FANBOYS: For And Nor But Or Yet So</a:t>
            </a:r>
            <a:endParaRPr lang="en-US" sz="14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FANBOYS in action (1 of 2)</a:t>
            </a:r>
            <a:endParaRPr lang="en-US" sz="3000" dirty="0"/>
          </a:p>
        </p:txBody>
      </p:sp>
      <p:sp>
        <p:nvSpPr>
          <p:cNvPr id="4" name="FANBOYS For"/>
          <p:cNvSpPr/>
          <p:nvPr/>
        </p:nvSpPr>
        <p:spPr>
          <a:xfrm>
            <a:off x="457200" y="1005840"/>
            <a:ext cx="822960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179576"/>
            <a:ext cx="457200" cy="457200"/>
          </a:xfrm>
          <a:prstGeom prst="ellipse">
            <a:avLst/>
          </a:prstGeom>
          <a:solidFill>
            <a:schemeClr val="accent1"/>
          </a:solidFill>
          <a:ln w="6350">
            <a:solidFill>
              <a:schemeClr val="accent1"/>
            </a:solidFill>
            <a:prstDash val="solid"/>
          </a:ln>
        </p:spPr>
      </p:sp>
      <p:sp>
        <p:nvSpPr>
          <p:cNvPr id="6" name="Text 3"/>
          <p:cNvSpPr txBox="1"/>
          <p:nvPr/>
        </p:nvSpPr>
        <p:spPr>
          <a:xfrm>
            <a:off x="594360" y="1179576"/>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F</a:t>
            </a:r>
            <a:endParaRPr lang="en-US" sz="1500" dirty="0"/>
          </a:p>
        </p:txBody>
      </p:sp>
      <p:sp>
        <p:nvSpPr>
          <p:cNvPr id="7" name="Text 4"/>
          <p:cNvSpPr txBox="1"/>
          <p:nvPr/>
        </p:nvSpPr>
        <p:spPr>
          <a:xfrm>
            <a:off x="1234440" y="1060704"/>
            <a:ext cx="2103120" cy="384048"/>
          </a:xfrm>
          <a:prstGeom prst="rect">
            <a:avLst/>
          </a:prstGeom>
          <a:noFill/>
          <a:ln/>
        </p:spPr>
        <p:txBody>
          <a:bodyPr wrap="square" lIns="0" tIns="0" rIns="0" bIns="0" rtlCol="0" anchor="ctr"/>
          <a:lstStyle/>
          <a:p>
            <a:pPr marL="0" indent="0">
              <a:buNone/>
            </a:pPr>
            <a:r>
              <a:rPr lang="en-US" sz="2000" b="1" dirty="0">
                <a:solidFill>
                  <a:schemeClr val="tx1"/>
                </a:solidFill>
                <a:latin typeface="+mj-lt" pitchFamily="34" charset="0"/>
                <a:ea typeface="+mj-lt" pitchFamily="34" charset="-122"/>
                <a:cs typeface="+mj-lt" pitchFamily="34" charset="-120"/>
              </a:rPr>
              <a:t>For</a:t>
            </a:r>
            <a:endParaRPr lang="en-US" sz="2000" dirty="0"/>
          </a:p>
        </p:txBody>
      </p:sp>
      <p:sp>
        <p:nvSpPr>
          <p:cNvPr id="8" name="Text 5"/>
          <p:cNvSpPr txBox="1"/>
          <p:nvPr/>
        </p:nvSpPr>
        <p:spPr>
          <a:xfrm>
            <a:off x="1234440" y="1444752"/>
            <a:ext cx="2194560" cy="329184"/>
          </a:xfrm>
          <a:prstGeom prst="rect">
            <a:avLst/>
          </a:prstGeom>
          <a:noFill/>
          <a:ln/>
        </p:spPr>
        <p:txBody>
          <a:bodyPr wrap="square" lIns="0" tIns="0" rIns="0" bIns="0" rtlCol="0" anchor="t"/>
          <a:lstStyle/>
          <a:p>
            <a:pPr marL="0" indent="0">
              <a:buNone/>
            </a:pPr>
            <a:r>
              <a:rPr lang="en-US" sz="1200" i="1" dirty="0">
                <a:solidFill>
                  <a:schemeClr val="tx2"/>
                </a:solidFill>
              </a:rPr>
              <a:t>gives a reason: for = because</a:t>
            </a:r>
            <a:endParaRPr lang="en-US" sz="1200" dirty="0"/>
          </a:p>
        </p:txBody>
      </p:sp>
      <p:sp>
        <p:nvSpPr>
          <p:cNvPr id="9" name="Text 6"/>
          <p:cNvSpPr txBox="1"/>
          <p:nvPr/>
        </p:nvSpPr>
        <p:spPr>
          <a:xfrm>
            <a:off x="3520440" y="1005840"/>
            <a:ext cx="4983480" cy="804672"/>
          </a:xfrm>
          <a:prstGeom prst="rect">
            <a:avLst/>
          </a:prstGeom>
          <a:noFill/>
          <a:ln/>
        </p:spPr>
        <p:txBody>
          <a:bodyPr wrap="square" lIns="0" tIns="0" rIns="0" bIns="0" rtlCol="0" anchor="ctr"/>
          <a:lstStyle/>
          <a:p>
            <a:pPr marL="0" indent="0">
              <a:buNone/>
            </a:pPr>
            <a:r>
              <a:rPr lang="en-US" sz="1500" dirty="0">
                <a:solidFill>
                  <a:schemeClr val="tx1"/>
                </a:solidFill>
              </a:rPr>
              <a:t>The astronauts trained for years, </a:t>
            </a:r>
            <a:r>
              <a:rPr lang="en-US" sz="1500" b="1" dirty="0">
                <a:solidFill>
                  <a:schemeClr val="tx1"/>
                </a:solidFill>
                <a:highlight>
                  <a:srgbClr val="FFD166"/>
                </a:highlight>
              </a:rPr>
              <a:t>for</a:t>
            </a:r>
            <a:r>
              <a:rPr lang="en-US" sz="1500" dirty="0">
                <a:solidFill>
                  <a:schemeClr val="tx1"/>
                </a:solidFill>
              </a:rPr>
              <a:t> the mission was dangerous.</a:t>
            </a:r>
            <a:endParaRPr lang="en-US" sz="1500" dirty="0"/>
          </a:p>
          <a:p>
            <a:pPr marL="0" indent="0">
              <a:buNone/>
            </a:pPr>
            <a:r>
              <a:rPr lang="en-US" sz="1300" i="1" dirty="0">
                <a:solidFill>
                  <a:schemeClr val="tx1"/>
                </a:solidFill>
              </a:rPr>
              <a:t>= The astronauts trained for years </a:t>
            </a:r>
            <a:r>
              <a:rPr lang="en-US" sz="1300" b="1" i="1" dirty="0">
                <a:solidFill>
                  <a:schemeClr val="tx1"/>
                </a:solidFill>
                <a:highlight>
                  <a:srgbClr val="FFD166"/>
                </a:highlight>
              </a:rPr>
              <a:t>because</a:t>
            </a:r>
            <a:r>
              <a:rPr lang="en-US" sz="1300" i="1" dirty="0">
                <a:solidFill>
                  <a:schemeClr val="tx1"/>
                </a:solidFill>
              </a:rPr>
              <a:t> the mission was dangerous.</a:t>
            </a:r>
            <a:endParaRPr lang="en-US" sz="1500" dirty="0"/>
          </a:p>
        </p:txBody>
      </p:sp>
      <p:sp>
        <p:nvSpPr>
          <p:cNvPr id="10" name="FANBOYS And"/>
          <p:cNvSpPr/>
          <p:nvPr/>
        </p:nvSpPr>
        <p:spPr>
          <a:xfrm>
            <a:off x="457200" y="1901952"/>
            <a:ext cx="822960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1" name="Badge"/>
          <p:cNvSpPr/>
          <p:nvPr/>
        </p:nvSpPr>
        <p:spPr>
          <a:xfrm>
            <a:off x="594360" y="2075688"/>
            <a:ext cx="457200" cy="457200"/>
          </a:xfrm>
          <a:prstGeom prst="ellipse">
            <a:avLst/>
          </a:prstGeom>
          <a:solidFill>
            <a:schemeClr val="accent2"/>
          </a:solidFill>
          <a:ln w="6350">
            <a:solidFill>
              <a:schemeClr val="accent2"/>
            </a:solidFill>
            <a:prstDash val="solid"/>
          </a:ln>
        </p:spPr>
      </p:sp>
      <p:sp>
        <p:nvSpPr>
          <p:cNvPr id="12" name="Text 9"/>
          <p:cNvSpPr txBox="1"/>
          <p:nvPr/>
        </p:nvSpPr>
        <p:spPr>
          <a:xfrm>
            <a:off x="594360" y="2075688"/>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13" name="Text 10"/>
          <p:cNvSpPr txBox="1"/>
          <p:nvPr/>
        </p:nvSpPr>
        <p:spPr>
          <a:xfrm>
            <a:off x="1234440" y="1956816"/>
            <a:ext cx="2103120" cy="384048"/>
          </a:xfrm>
          <a:prstGeom prst="rect">
            <a:avLst/>
          </a:prstGeom>
          <a:noFill/>
          <a:ln/>
        </p:spPr>
        <p:txBody>
          <a:bodyPr wrap="square" lIns="0" tIns="0" rIns="0" bIns="0" rtlCol="0" anchor="ctr"/>
          <a:lstStyle/>
          <a:p>
            <a:pPr marL="0" indent="0">
              <a:buNone/>
            </a:pPr>
            <a:r>
              <a:rPr lang="en-US" sz="2000" b="1" dirty="0">
                <a:solidFill>
                  <a:schemeClr val="tx1"/>
                </a:solidFill>
                <a:latin typeface="+mj-lt" pitchFamily="34" charset="0"/>
                <a:ea typeface="+mj-lt" pitchFamily="34" charset="-122"/>
                <a:cs typeface="+mj-lt" pitchFamily="34" charset="-120"/>
              </a:rPr>
              <a:t>And</a:t>
            </a:r>
            <a:endParaRPr lang="en-US" sz="2000" dirty="0"/>
          </a:p>
        </p:txBody>
      </p:sp>
      <p:sp>
        <p:nvSpPr>
          <p:cNvPr id="14" name="Text 11"/>
          <p:cNvSpPr txBox="1"/>
          <p:nvPr/>
        </p:nvSpPr>
        <p:spPr>
          <a:xfrm>
            <a:off x="1234440" y="2340864"/>
            <a:ext cx="2194560" cy="329184"/>
          </a:xfrm>
          <a:prstGeom prst="rect">
            <a:avLst/>
          </a:prstGeom>
          <a:noFill/>
          <a:ln/>
        </p:spPr>
        <p:txBody>
          <a:bodyPr wrap="square" lIns="0" tIns="0" rIns="0" bIns="0" rtlCol="0" anchor="t"/>
          <a:lstStyle/>
          <a:p>
            <a:pPr marL="0" indent="0">
              <a:buNone/>
            </a:pPr>
            <a:r>
              <a:rPr lang="en-US" sz="1200" i="1" dirty="0">
                <a:solidFill>
                  <a:schemeClr val="tx2"/>
                </a:solidFill>
              </a:rPr>
              <a:t>adds more information</a:t>
            </a:r>
            <a:endParaRPr lang="en-US" sz="1200" dirty="0"/>
          </a:p>
        </p:txBody>
      </p:sp>
      <p:sp>
        <p:nvSpPr>
          <p:cNvPr id="15" name="Text 12"/>
          <p:cNvSpPr txBox="1"/>
          <p:nvPr/>
        </p:nvSpPr>
        <p:spPr>
          <a:xfrm>
            <a:off x="3520440" y="1901952"/>
            <a:ext cx="4983480" cy="804672"/>
          </a:xfrm>
          <a:prstGeom prst="rect">
            <a:avLst/>
          </a:prstGeom>
          <a:noFill/>
          <a:ln/>
        </p:spPr>
        <p:txBody>
          <a:bodyPr wrap="square" lIns="0" tIns="0" rIns="0" bIns="0" rtlCol="0" anchor="ctr"/>
          <a:lstStyle/>
          <a:p>
            <a:pPr marL="0" indent="0">
              <a:buNone/>
            </a:pPr>
            <a:r>
              <a:rPr lang="en-US" sz="1500" dirty="0">
                <a:solidFill>
                  <a:schemeClr val="tx1"/>
                </a:solidFill>
              </a:rPr>
              <a:t>Sputnik I orbited the Earth, </a:t>
            </a:r>
            <a:r>
              <a:rPr lang="en-US" sz="1500" b="1" dirty="0">
                <a:solidFill>
                  <a:schemeClr val="tx1"/>
                </a:solidFill>
                <a:highlight>
                  <a:srgbClr val="FFD166"/>
                </a:highlight>
              </a:rPr>
              <a:t>and</a:t>
            </a:r>
            <a:r>
              <a:rPr lang="en-US" sz="1500" dirty="0">
                <a:solidFill>
                  <a:schemeClr val="tx1"/>
                </a:solidFill>
              </a:rPr>
              <a:t> it sent signals back.</a:t>
            </a:r>
            <a:endParaRPr lang="en-US" sz="1500" dirty="0"/>
          </a:p>
        </p:txBody>
      </p:sp>
      <p:sp>
        <p:nvSpPr>
          <p:cNvPr id="16" name="FANBOYS Nor"/>
          <p:cNvSpPr/>
          <p:nvPr/>
        </p:nvSpPr>
        <p:spPr>
          <a:xfrm>
            <a:off x="457200" y="2798064"/>
            <a:ext cx="822960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Badge"/>
          <p:cNvSpPr/>
          <p:nvPr/>
        </p:nvSpPr>
        <p:spPr>
          <a:xfrm>
            <a:off x="594360" y="2971800"/>
            <a:ext cx="457200" cy="457200"/>
          </a:xfrm>
          <a:prstGeom prst="ellipse">
            <a:avLst/>
          </a:prstGeom>
          <a:solidFill>
            <a:schemeClr val="accent3"/>
          </a:solidFill>
          <a:ln w="6350">
            <a:solidFill>
              <a:schemeClr val="accent3"/>
            </a:solidFill>
            <a:prstDash val="solid"/>
          </a:ln>
        </p:spPr>
      </p:sp>
      <p:sp>
        <p:nvSpPr>
          <p:cNvPr id="18" name="Text 15"/>
          <p:cNvSpPr txBox="1"/>
          <p:nvPr/>
        </p:nvSpPr>
        <p:spPr>
          <a:xfrm>
            <a:off x="594360" y="297180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N</a:t>
            </a:r>
            <a:endParaRPr lang="en-US" sz="1500" dirty="0"/>
          </a:p>
        </p:txBody>
      </p:sp>
      <p:sp>
        <p:nvSpPr>
          <p:cNvPr id="19" name="Text 16"/>
          <p:cNvSpPr txBox="1"/>
          <p:nvPr/>
        </p:nvSpPr>
        <p:spPr>
          <a:xfrm>
            <a:off x="1234440" y="2852928"/>
            <a:ext cx="2103120" cy="384048"/>
          </a:xfrm>
          <a:prstGeom prst="rect">
            <a:avLst/>
          </a:prstGeom>
          <a:noFill/>
          <a:ln/>
        </p:spPr>
        <p:txBody>
          <a:bodyPr wrap="square" lIns="0" tIns="0" rIns="0" bIns="0" rtlCol="0" anchor="ctr"/>
          <a:lstStyle/>
          <a:p>
            <a:pPr marL="0" indent="0">
              <a:buNone/>
            </a:pPr>
            <a:r>
              <a:rPr lang="en-US" sz="2000" b="1" dirty="0">
                <a:solidFill>
                  <a:schemeClr val="tx1"/>
                </a:solidFill>
                <a:latin typeface="+mj-lt" pitchFamily="34" charset="0"/>
                <a:ea typeface="+mj-lt" pitchFamily="34" charset="-122"/>
                <a:cs typeface="+mj-lt" pitchFamily="34" charset="-120"/>
              </a:rPr>
              <a:t>Nor</a:t>
            </a:r>
            <a:endParaRPr lang="en-US" sz="2000" dirty="0"/>
          </a:p>
        </p:txBody>
      </p:sp>
      <p:sp>
        <p:nvSpPr>
          <p:cNvPr id="20" name="Text 17"/>
          <p:cNvSpPr txBox="1"/>
          <p:nvPr/>
        </p:nvSpPr>
        <p:spPr>
          <a:xfrm>
            <a:off x="1234440" y="3236976"/>
            <a:ext cx="2194560" cy="329184"/>
          </a:xfrm>
          <a:prstGeom prst="rect">
            <a:avLst/>
          </a:prstGeom>
          <a:noFill/>
          <a:ln/>
        </p:spPr>
        <p:txBody>
          <a:bodyPr wrap="square" lIns="0" tIns="0" rIns="0" bIns="0" rtlCol="0" anchor="t"/>
          <a:lstStyle/>
          <a:p>
            <a:pPr marL="0" indent="0">
              <a:buNone/>
            </a:pPr>
            <a:r>
              <a:rPr lang="en-US" sz="1200" i="1" dirty="0">
                <a:solidFill>
                  <a:schemeClr val="tx2"/>
                </a:solidFill>
              </a:rPr>
              <a:t>adds a second negative (the verb comes before the subject)</a:t>
            </a:r>
            <a:endParaRPr lang="en-US" sz="1200" dirty="0"/>
          </a:p>
        </p:txBody>
      </p:sp>
      <p:sp>
        <p:nvSpPr>
          <p:cNvPr id="21" name="Text 18"/>
          <p:cNvSpPr txBox="1"/>
          <p:nvPr/>
        </p:nvSpPr>
        <p:spPr>
          <a:xfrm>
            <a:off x="3520440" y="2798064"/>
            <a:ext cx="4983480" cy="804672"/>
          </a:xfrm>
          <a:prstGeom prst="rect">
            <a:avLst/>
          </a:prstGeom>
          <a:noFill/>
          <a:ln/>
        </p:spPr>
        <p:txBody>
          <a:bodyPr wrap="square" lIns="0" tIns="0" rIns="0" bIns="0" rtlCol="0" anchor="ctr"/>
          <a:lstStyle/>
          <a:p>
            <a:pPr marL="0" indent="0">
              <a:buNone/>
            </a:pPr>
            <a:r>
              <a:rPr lang="en-US" sz="1500" dirty="0">
                <a:solidFill>
                  <a:schemeClr val="tx1"/>
                </a:solidFill>
              </a:rPr>
              <a:t>Early astronomers had no telescopes, </a:t>
            </a:r>
            <a:r>
              <a:rPr lang="en-US" sz="1500" b="1" dirty="0">
                <a:solidFill>
                  <a:schemeClr val="tx1"/>
                </a:solidFill>
                <a:highlight>
                  <a:srgbClr val="FFD166"/>
                </a:highlight>
              </a:rPr>
              <a:t>nor</a:t>
            </a:r>
            <a:r>
              <a:rPr lang="en-US" sz="1500" dirty="0">
                <a:solidFill>
                  <a:schemeClr val="tx1"/>
                </a:solidFill>
              </a:rPr>
              <a:t> did they have rockets.</a:t>
            </a:r>
            <a:endParaRPr lang="en-US" sz="1500" dirty="0"/>
          </a:p>
        </p:txBody>
      </p:sp>
      <p:sp>
        <p:nvSpPr>
          <p:cNvPr id="22" name="FANBOYS But"/>
          <p:cNvSpPr/>
          <p:nvPr/>
        </p:nvSpPr>
        <p:spPr>
          <a:xfrm>
            <a:off x="457200" y="3694176"/>
            <a:ext cx="822960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3" name="Badge"/>
          <p:cNvSpPr/>
          <p:nvPr/>
        </p:nvSpPr>
        <p:spPr>
          <a:xfrm>
            <a:off x="594360" y="3867912"/>
            <a:ext cx="457200" cy="457200"/>
          </a:xfrm>
          <a:prstGeom prst="ellipse">
            <a:avLst/>
          </a:prstGeom>
          <a:solidFill>
            <a:schemeClr val="accent4"/>
          </a:solidFill>
          <a:ln w="6350">
            <a:solidFill>
              <a:schemeClr val="accent4"/>
            </a:solidFill>
            <a:prstDash val="solid"/>
          </a:ln>
        </p:spPr>
      </p:sp>
      <p:sp>
        <p:nvSpPr>
          <p:cNvPr id="24" name="Text 21"/>
          <p:cNvSpPr txBox="1"/>
          <p:nvPr/>
        </p:nvSpPr>
        <p:spPr>
          <a:xfrm>
            <a:off x="594360" y="3867912"/>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B</a:t>
            </a:r>
            <a:endParaRPr lang="en-US" sz="1500" dirty="0"/>
          </a:p>
        </p:txBody>
      </p:sp>
      <p:sp>
        <p:nvSpPr>
          <p:cNvPr id="25" name="Text 22"/>
          <p:cNvSpPr txBox="1"/>
          <p:nvPr/>
        </p:nvSpPr>
        <p:spPr>
          <a:xfrm>
            <a:off x="1234440" y="3749040"/>
            <a:ext cx="2103120" cy="384048"/>
          </a:xfrm>
          <a:prstGeom prst="rect">
            <a:avLst/>
          </a:prstGeom>
          <a:noFill/>
          <a:ln/>
        </p:spPr>
        <p:txBody>
          <a:bodyPr wrap="square" lIns="0" tIns="0" rIns="0" bIns="0" rtlCol="0" anchor="ctr"/>
          <a:lstStyle/>
          <a:p>
            <a:pPr marL="0" indent="0">
              <a:buNone/>
            </a:pPr>
            <a:r>
              <a:rPr lang="en-US" sz="2000" b="1" dirty="0">
                <a:solidFill>
                  <a:schemeClr val="tx1"/>
                </a:solidFill>
                <a:latin typeface="+mj-lt" pitchFamily="34" charset="0"/>
                <a:ea typeface="+mj-lt" pitchFamily="34" charset="-122"/>
                <a:cs typeface="+mj-lt" pitchFamily="34" charset="-120"/>
              </a:rPr>
              <a:t>But</a:t>
            </a:r>
            <a:endParaRPr lang="en-US" sz="2000" dirty="0"/>
          </a:p>
        </p:txBody>
      </p:sp>
      <p:sp>
        <p:nvSpPr>
          <p:cNvPr id="26" name="Text 23"/>
          <p:cNvSpPr txBox="1"/>
          <p:nvPr/>
        </p:nvSpPr>
        <p:spPr>
          <a:xfrm>
            <a:off x="1234440" y="4133088"/>
            <a:ext cx="2194560" cy="329184"/>
          </a:xfrm>
          <a:prstGeom prst="rect">
            <a:avLst/>
          </a:prstGeom>
          <a:noFill/>
          <a:ln/>
        </p:spPr>
        <p:txBody>
          <a:bodyPr wrap="square" lIns="0" tIns="0" rIns="0" bIns="0" rtlCol="0" anchor="t"/>
          <a:lstStyle/>
          <a:p>
            <a:pPr marL="0" indent="0">
              <a:buNone/>
            </a:pPr>
            <a:r>
              <a:rPr lang="en-US" sz="1200" i="1" dirty="0">
                <a:solidFill>
                  <a:schemeClr val="tx2"/>
                </a:solidFill>
              </a:rPr>
              <a:t>shows a contrast</a:t>
            </a:r>
            <a:endParaRPr lang="en-US" sz="1200" dirty="0"/>
          </a:p>
        </p:txBody>
      </p:sp>
      <p:sp>
        <p:nvSpPr>
          <p:cNvPr id="27" name="Text 24"/>
          <p:cNvSpPr txBox="1"/>
          <p:nvPr/>
        </p:nvSpPr>
        <p:spPr>
          <a:xfrm>
            <a:off x="3520440" y="3694176"/>
            <a:ext cx="4983480" cy="804672"/>
          </a:xfrm>
          <a:prstGeom prst="rect">
            <a:avLst/>
          </a:prstGeom>
          <a:noFill/>
          <a:ln/>
        </p:spPr>
        <p:txBody>
          <a:bodyPr wrap="square" lIns="0" tIns="0" rIns="0" bIns="0" rtlCol="0" anchor="ctr"/>
          <a:lstStyle/>
          <a:p>
            <a:pPr marL="0" indent="0">
              <a:buNone/>
            </a:pPr>
            <a:r>
              <a:rPr lang="en-US" sz="1500" dirty="0">
                <a:solidFill>
                  <a:schemeClr val="tx1"/>
                </a:solidFill>
              </a:rPr>
              <a:t>We can fly to the moon, </a:t>
            </a:r>
            <a:r>
              <a:rPr lang="en-US" sz="1500" b="1" dirty="0">
                <a:solidFill>
                  <a:schemeClr val="tx1"/>
                </a:solidFill>
                <a:highlight>
                  <a:srgbClr val="FFD166"/>
                </a:highlight>
              </a:rPr>
              <a:t>but</a:t>
            </a:r>
            <a:r>
              <a:rPr lang="en-US" sz="1500" dirty="0">
                <a:solidFill>
                  <a:schemeClr val="tx1"/>
                </a:solidFill>
              </a:rPr>
              <a:t> we can’t live there yet.</a:t>
            </a:r>
            <a:endParaRPr lang="en-US" sz="1500" dirty="0"/>
          </a:p>
        </p:txBody>
      </p:sp>
      <p:sp>
        <p:nvSpPr>
          <p:cNvPr id="28" name="Text 25"/>
          <p:cNvSpPr txBox="1"/>
          <p:nvPr/>
        </p:nvSpPr>
        <p:spPr>
          <a:xfrm>
            <a:off x="457200" y="4572000"/>
            <a:ext cx="8229600" cy="228600"/>
          </a:xfrm>
          <a:prstGeom prst="rect">
            <a:avLst/>
          </a:prstGeom>
          <a:noFill/>
          <a:ln/>
        </p:spPr>
        <p:txBody>
          <a:bodyPr wrap="square" lIns="0" tIns="0" rIns="0" bIns="0" rtlCol="0" anchor="ctr"/>
          <a:lstStyle/>
          <a:p>
            <a:pPr marL="0" indent="0" algn="ctr">
              <a:buNone/>
            </a:pPr>
            <a:r>
              <a:rPr lang="en-US" sz="1200" i="1" dirty="0">
                <a:solidFill>
                  <a:schemeClr val="tx2"/>
                </a:solidFill>
              </a:rPr>
              <a:t>Note: ‘because’ is not a FANBOYS word. ‘For’ is the more formal choice and always follows a comma.</a:t>
            </a:r>
            <a:endParaRPr lang="en-US" sz="12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FANBOYS in action (2 of 2)</a:t>
            </a:r>
            <a:endParaRPr lang="en-US" sz="3000" dirty="0"/>
          </a:p>
        </p:txBody>
      </p:sp>
      <p:sp>
        <p:nvSpPr>
          <p:cNvPr id="4" name="FANBOYS Or"/>
          <p:cNvSpPr/>
          <p:nvPr/>
        </p:nvSpPr>
        <p:spPr>
          <a:xfrm>
            <a:off x="457200" y="1005840"/>
            <a:ext cx="822960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179576"/>
            <a:ext cx="457200" cy="457200"/>
          </a:xfrm>
          <a:prstGeom prst="ellipse">
            <a:avLst/>
          </a:prstGeom>
          <a:solidFill>
            <a:schemeClr val="accent5"/>
          </a:solidFill>
          <a:ln w="6350">
            <a:solidFill>
              <a:schemeClr val="accent5"/>
            </a:solidFill>
            <a:prstDash val="solid"/>
          </a:ln>
        </p:spPr>
      </p:sp>
      <p:sp>
        <p:nvSpPr>
          <p:cNvPr id="6" name="Text 3"/>
          <p:cNvSpPr txBox="1"/>
          <p:nvPr/>
        </p:nvSpPr>
        <p:spPr>
          <a:xfrm>
            <a:off x="594360" y="1179576"/>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O</a:t>
            </a:r>
            <a:endParaRPr lang="en-US" sz="1500" dirty="0"/>
          </a:p>
        </p:txBody>
      </p:sp>
      <p:sp>
        <p:nvSpPr>
          <p:cNvPr id="7" name="Text 4"/>
          <p:cNvSpPr txBox="1"/>
          <p:nvPr/>
        </p:nvSpPr>
        <p:spPr>
          <a:xfrm>
            <a:off x="1234440" y="1060704"/>
            <a:ext cx="2103120" cy="384048"/>
          </a:xfrm>
          <a:prstGeom prst="rect">
            <a:avLst/>
          </a:prstGeom>
          <a:noFill/>
          <a:ln/>
        </p:spPr>
        <p:txBody>
          <a:bodyPr wrap="square" lIns="0" tIns="0" rIns="0" bIns="0" rtlCol="0" anchor="ctr"/>
          <a:lstStyle/>
          <a:p>
            <a:pPr marL="0" indent="0">
              <a:buNone/>
            </a:pPr>
            <a:r>
              <a:rPr lang="en-US" sz="2000" b="1" dirty="0">
                <a:solidFill>
                  <a:schemeClr val="tx1"/>
                </a:solidFill>
                <a:latin typeface="+mj-lt" pitchFamily="34" charset="0"/>
                <a:ea typeface="+mj-lt" pitchFamily="34" charset="-122"/>
                <a:cs typeface="+mj-lt" pitchFamily="34" charset="-120"/>
              </a:rPr>
              <a:t>Or</a:t>
            </a:r>
            <a:endParaRPr lang="en-US" sz="2000" dirty="0"/>
          </a:p>
        </p:txBody>
      </p:sp>
      <p:sp>
        <p:nvSpPr>
          <p:cNvPr id="8" name="Text 5"/>
          <p:cNvSpPr txBox="1"/>
          <p:nvPr/>
        </p:nvSpPr>
        <p:spPr>
          <a:xfrm>
            <a:off x="1234440" y="1444752"/>
            <a:ext cx="2194560" cy="329184"/>
          </a:xfrm>
          <a:prstGeom prst="rect">
            <a:avLst/>
          </a:prstGeom>
          <a:noFill/>
          <a:ln/>
        </p:spPr>
        <p:txBody>
          <a:bodyPr wrap="square" lIns="0" tIns="0" rIns="0" bIns="0" rtlCol="0" anchor="t"/>
          <a:lstStyle/>
          <a:p>
            <a:pPr marL="0" indent="0">
              <a:buNone/>
            </a:pPr>
            <a:r>
              <a:rPr lang="en-US" sz="1200" i="1" dirty="0">
                <a:solidFill>
                  <a:schemeClr val="tx2"/>
                </a:solidFill>
              </a:rPr>
              <a:t>gives a choice</a:t>
            </a:r>
            <a:endParaRPr lang="en-US" sz="1200" dirty="0"/>
          </a:p>
        </p:txBody>
      </p:sp>
      <p:sp>
        <p:nvSpPr>
          <p:cNvPr id="9" name="Text 6"/>
          <p:cNvSpPr txBox="1"/>
          <p:nvPr/>
        </p:nvSpPr>
        <p:spPr>
          <a:xfrm>
            <a:off x="3520440" y="1005840"/>
            <a:ext cx="4983480" cy="804672"/>
          </a:xfrm>
          <a:prstGeom prst="rect">
            <a:avLst/>
          </a:prstGeom>
          <a:noFill/>
          <a:ln/>
        </p:spPr>
        <p:txBody>
          <a:bodyPr wrap="square" lIns="0" tIns="0" rIns="0" bIns="0" rtlCol="0" anchor="ctr"/>
          <a:lstStyle/>
          <a:p>
            <a:pPr marL="0" indent="0">
              <a:buNone/>
            </a:pPr>
            <a:r>
              <a:rPr lang="en-US" sz="1500" dirty="0">
                <a:solidFill>
                  <a:schemeClr val="tx1"/>
                </a:solidFill>
              </a:rPr>
              <a:t>You can become an astronaut, </a:t>
            </a:r>
            <a:r>
              <a:rPr lang="en-US" sz="1500" b="1" dirty="0">
                <a:solidFill>
                  <a:schemeClr val="tx1"/>
                </a:solidFill>
                <a:highlight>
                  <a:srgbClr val="FFD166"/>
                </a:highlight>
              </a:rPr>
              <a:t>or</a:t>
            </a:r>
            <a:r>
              <a:rPr lang="en-US" sz="1500" dirty="0">
                <a:solidFill>
                  <a:schemeClr val="tx1"/>
                </a:solidFill>
              </a:rPr>
              <a:t> you can become a scientist.</a:t>
            </a:r>
            <a:endParaRPr lang="en-US" sz="1500" dirty="0"/>
          </a:p>
        </p:txBody>
      </p:sp>
      <p:sp>
        <p:nvSpPr>
          <p:cNvPr id="10" name="FANBOYS Yet"/>
          <p:cNvSpPr/>
          <p:nvPr/>
        </p:nvSpPr>
        <p:spPr>
          <a:xfrm>
            <a:off x="457200" y="1901952"/>
            <a:ext cx="822960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1" name="Badge"/>
          <p:cNvSpPr/>
          <p:nvPr/>
        </p:nvSpPr>
        <p:spPr>
          <a:xfrm>
            <a:off x="594360" y="2075688"/>
            <a:ext cx="457200" cy="457200"/>
          </a:xfrm>
          <a:prstGeom prst="ellipse">
            <a:avLst/>
          </a:prstGeom>
          <a:solidFill>
            <a:schemeClr val="accent1"/>
          </a:solidFill>
          <a:ln w="6350">
            <a:solidFill>
              <a:schemeClr val="accent1"/>
            </a:solidFill>
            <a:prstDash val="solid"/>
          </a:ln>
        </p:spPr>
      </p:sp>
      <p:sp>
        <p:nvSpPr>
          <p:cNvPr id="12" name="Text 9"/>
          <p:cNvSpPr txBox="1"/>
          <p:nvPr/>
        </p:nvSpPr>
        <p:spPr>
          <a:xfrm>
            <a:off x="594360" y="2075688"/>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Y</a:t>
            </a:r>
            <a:endParaRPr lang="en-US" sz="1500" dirty="0"/>
          </a:p>
        </p:txBody>
      </p:sp>
      <p:sp>
        <p:nvSpPr>
          <p:cNvPr id="13" name="Text 10"/>
          <p:cNvSpPr txBox="1"/>
          <p:nvPr/>
        </p:nvSpPr>
        <p:spPr>
          <a:xfrm>
            <a:off x="1234440" y="1956816"/>
            <a:ext cx="2103120" cy="384048"/>
          </a:xfrm>
          <a:prstGeom prst="rect">
            <a:avLst/>
          </a:prstGeom>
          <a:noFill/>
          <a:ln/>
        </p:spPr>
        <p:txBody>
          <a:bodyPr wrap="square" lIns="0" tIns="0" rIns="0" bIns="0" rtlCol="0" anchor="ctr"/>
          <a:lstStyle/>
          <a:p>
            <a:pPr marL="0" indent="0">
              <a:buNone/>
            </a:pPr>
            <a:r>
              <a:rPr lang="en-US" sz="2000" b="1" dirty="0">
                <a:solidFill>
                  <a:schemeClr val="tx1"/>
                </a:solidFill>
                <a:latin typeface="+mj-lt" pitchFamily="34" charset="0"/>
                <a:ea typeface="+mj-lt" pitchFamily="34" charset="-122"/>
                <a:cs typeface="+mj-lt" pitchFamily="34" charset="-120"/>
              </a:rPr>
              <a:t>Yet</a:t>
            </a:r>
            <a:endParaRPr lang="en-US" sz="2000" dirty="0"/>
          </a:p>
        </p:txBody>
      </p:sp>
      <p:sp>
        <p:nvSpPr>
          <p:cNvPr id="14" name="Text 11"/>
          <p:cNvSpPr txBox="1"/>
          <p:nvPr/>
        </p:nvSpPr>
        <p:spPr>
          <a:xfrm>
            <a:off x="1234440" y="2340864"/>
            <a:ext cx="2194560" cy="329184"/>
          </a:xfrm>
          <a:prstGeom prst="rect">
            <a:avLst/>
          </a:prstGeom>
          <a:noFill/>
          <a:ln/>
        </p:spPr>
        <p:txBody>
          <a:bodyPr wrap="square" lIns="0" tIns="0" rIns="0" bIns="0" rtlCol="0" anchor="t"/>
          <a:lstStyle/>
          <a:p>
            <a:pPr marL="0" indent="0">
              <a:buNone/>
            </a:pPr>
            <a:r>
              <a:rPr lang="en-US" sz="1200" i="1" dirty="0">
                <a:solidFill>
                  <a:schemeClr val="tx2"/>
                </a:solidFill>
              </a:rPr>
              <a:t>shows a surprising contrast</a:t>
            </a:r>
            <a:endParaRPr lang="en-US" sz="1200" dirty="0"/>
          </a:p>
        </p:txBody>
      </p:sp>
      <p:sp>
        <p:nvSpPr>
          <p:cNvPr id="15" name="Text 12"/>
          <p:cNvSpPr txBox="1"/>
          <p:nvPr/>
        </p:nvSpPr>
        <p:spPr>
          <a:xfrm>
            <a:off x="3520440" y="1901952"/>
            <a:ext cx="4983480" cy="804672"/>
          </a:xfrm>
          <a:prstGeom prst="rect">
            <a:avLst/>
          </a:prstGeom>
          <a:noFill/>
          <a:ln/>
        </p:spPr>
        <p:txBody>
          <a:bodyPr wrap="square" lIns="0" tIns="0" rIns="0" bIns="0" rtlCol="0" anchor="ctr"/>
          <a:lstStyle/>
          <a:p>
            <a:pPr marL="0" indent="0">
              <a:buNone/>
            </a:pPr>
            <a:r>
              <a:rPr lang="en-US" sz="1500" dirty="0">
                <a:solidFill>
                  <a:schemeClr val="tx1"/>
                </a:solidFill>
              </a:rPr>
              <a:t>The satellite is old, </a:t>
            </a:r>
            <a:r>
              <a:rPr lang="en-US" sz="1500" b="1" dirty="0">
                <a:solidFill>
                  <a:schemeClr val="tx1"/>
                </a:solidFill>
                <a:highlight>
                  <a:srgbClr val="FFD166"/>
                </a:highlight>
              </a:rPr>
              <a:t>yet</a:t>
            </a:r>
            <a:r>
              <a:rPr lang="en-US" sz="1500" dirty="0">
                <a:solidFill>
                  <a:schemeClr val="tx1"/>
                </a:solidFill>
              </a:rPr>
              <a:t> it is operating well.</a:t>
            </a:r>
            <a:endParaRPr lang="en-US" sz="1500" dirty="0"/>
          </a:p>
        </p:txBody>
      </p:sp>
      <p:sp>
        <p:nvSpPr>
          <p:cNvPr id="16" name="FANBOYS So"/>
          <p:cNvSpPr/>
          <p:nvPr/>
        </p:nvSpPr>
        <p:spPr>
          <a:xfrm>
            <a:off x="457200" y="2798064"/>
            <a:ext cx="822960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Badge"/>
          <p:cNvSpPr/>
          <p:nvPr/>
        </p:nvSpPr>
        <p:spPr>
          <a:xfrm>
            <a:off x="594360" y="2971800"/>
            <a:ext cx="457200" cy="457200"/>
          </a:xfrm>
          <a:prstGeom prst="ellipse">
            <a:avLst/>
          </a:prstGeom>
          <a:solidFill>
            <a:schemeClr val="accent2"/>
          </a:solidFill>
          <a:ln w="6350">
            <a:solidFill>
              <a:schemeClr val="accent2"/>
            </a:solidFill>
            <a:prstDash val="solid"/>
          </a:ln>
        </p:spPr>
      </p:sp>
      <p:sp>
        <p:nvSpPr>
          <p:cNvPr id="18" name="Text 15"/>
          <p:cNvSpPr txBox="1"/>
          <p:nvPr/>
        </p:nvSpPr>
        <p:spPr>
          <a:xfrm>
            <a:off x="594360" y="297180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S</a:t>
            </a:r>
            <a:endParaRPr lang="en-US" sz="1500" dirty="0"/>
          </a:p>
        </p:txBody>
      </p:sp>
      <p:sp>
        <p:nvSpPr>
          <p:cNvPr id="19" name="Text 16"/>
          <p:cNvSpPr txBox="1"/>
          <p:nvPr/>
        </p:nvSpPr>
        <p:spPr>
          <a:xfrm>
            <a:off x="1234440" y="2852928"/>
            <a:ext cx="2103120" cy="384048"/>
          </a:xfrm>
          <a:prstGeom prst="rect">
            <a:avLst/>
          </a:prstGeom>
          <a:noFill/>
          <a:ln/>
        </p:spPr>
        <p:txBody>
          <a:bodyPr wrap="square" lIns="0" tIns="0" rIns="0" bIns="0" rtlCol="0" anchor="ctr"/>
          <a:lstStyle/>
          <a:p>
            <a:pPr marL="0" indent="0">
              <a:buNone/>
            </a:pPr>
            <a:r>
              <a:rPr lang="en-US" sz="2000" b="1" dirty="0">
                <a:solidFill>
                  <a:schemeClr val="tx1"/>
                </a:solidFill>
                <a:latin typeface="+mj-lt" pitchFamily="34" charset="0"/>
                <a:ea typeface="+mj-lt" pitchFamily="34" charset="-122"/>
                <a:cs typeface="+mj-lt" pitchFamily="34" charset="-120"/>
              </a:rPr>
              <a:t>So</a:t>
            </a:r>
            <a:endParaRPr lang="en-US" sz="2000" dirty="0"/>
          </a:p>
        </p:txBody>
      </p:sp>
      <p:sp>
        <p:nvSpPr>
          <p:cNvPr id="20" name="Text 17"/>
          <p:cNvSpPr txBox="1"/>
          <p:nvPr/>
        </p:nvSpPr>
        <p:spPr>
          <a:xfrm>
            <a:off x="1234440" y="3236976"/>
            <a:ext cx="2194560" cy="329184"/>
          </a:xfrm>
          <a:prstGeom prst="rect">
            <a:avLst/>
          </a:prstGeom>
          <a:noFill/>
          <a:ln/>
        </p:spPr>
        <p:txBody>
          <a:bodyPr wrap="square" lIns="0" tIns="0" rIns="0" bIns="0" rtlCol="0" anchor="t"/>
          <a:lstStyle/>
          <a:p>
            <a:pPr marL="0" indent="0">
              <a:buNone/>
            </a:pPr>
            <a:r>
              <a:rPr lang="en-US" sz="1200" i="1" dirty="0">
                <a:solidFill>
                  <a:schemeClr val="tx2"/>
                </a:solidFill>
              </a:rPr>
              <a:t>shows a result</a:t>
            </a:r>
            <a:endParaRPr lang="en-US" sz="1200" dirty="0"/>
          </a:p>
        </p:txBody>
      </p:sp>
      <p:sp>
        <p:nvSpPr>
          <p:cNvPr id="21" name="Text 18"/>
          <p:cNvSpPr txBox="1"/>
          <p:nvPr/>
        </p:nvSpPr>
        <p:spPr>
          <a:xfrm>
            <a:off x="3520440" y="2798064"/>
            <a:ext cx="4983480" cy="804672"/>
          </a:xfrm>
          <a:prstGeom prst="rect">
            <a:avLst/>
          </a:prstGeom>
          <a:noFill/>
          <a:ln/>
        </p:spPr>
        <p:txBody>
          <a:bodyPr wrap="square" lIns="0" tIns="0" rIns="0" bIns="0" rtlCol="0" anchor="ctr"/>
          <a:lstStyle/>
          <a:p>
            <a:pPr marL="0" indent="0">
              <a:buNone/>
            </a:pPr>
            <a:r>
              <a:rPr lang="en-US" sz="1500" dirty="0">
                <a:solidFill>
                  <a:schemeClr val="tx1"/>
                </a:solidFill>
              </a:rPr>
              <a:t>Galileo built a telescope, </a:t>
            </a:r>
            <a:r>
              <a:rPr lang="en-US" sz="1500" b="1" dirty="0">
                <a:solidFill>
                  <a:schemeClr val="tx1"/>
                </a:solidFill>
                <a:highlight>
                  <a:srgbClr val="FFD166"/>
                </a:highlight>
              </a:rPr>
              <a:t>so</a:t>
            </a:r>
            <a:r>
              <a:rPr lang="en-US" sz="1500" dirty="0">
                <a:solidFill>
                  <a:schemeClr val="tx1"/>
                </a:solidFill>
              </a:rPr>
              <a:t> he could prove Copernicus’s theory correct.</a:t>
            </a:r>
            <a:endParaRPr lang="en-US" sz="1500" dirty="0"/>
          </a:p>
        </p:txBody>
      </p:sp>
      <p:sp>
        <p:nvSpPr>
          <p:cNvPr id="22" name="Comma rule"/>
          <p:cNvSpPr/>
          <p:nvPr/>
        </p:nvSpPr>
        <p:spPr>
          <a:xfrm>
            <a:off x="457200" y="3794760"/>
            <a:ext cx="8229600" cy="731520"/>
          </a:xfrm>
          <a:prstGeom prst="roundRect">
            <a:avLst>
              <a:gd name="adj" fmla="val 15000"/>
            </a:avLst>
          </a:prstGeom>
          <a:solidFill>
            <a:schemeClr val="accent5"/>
          </a:solidFill>
          <a:ln w="9525">
            <a:solidFill>
              <a:schemeClr val="accent5"/>
            </a:solidFill>
            <a:prstDash val="solid"/>
          </a:ln>
        </p:spPr>
      </p:sp>
      <p:sp>
        <p:nvSpPr>
          <p:cNvPr id="23" name="Text 20"/>
          <p:cNvSpPr txBox="1"/>
          <p:nvPr/>
        </p:nvSpPr>
        <p:spPr>
          <a:xfrm>
            <a:off x="640080" y="3794760"/>
            <a:ext cx="7863840" cy="731520"/>
          </a:xfrm>
          <a:prstGeom prst="rect">
            <a:avLst/>
          </a:prstGeom>
          <a:noFill/>
          <a:ln/>
        </p:spPr>
        <p:txBody>
          <a:bodyPr wrap="square" lIns="0" tIns="0" rIns="0" bIns="0" rtlCol="0" anchor="ctr"/>
          <a:lstStyle/>
          <a:p>
            <a:pPr marL="0" indent="0">
              <a:buNone/>
            </a:pPr>
            <a:r>
              <a:rPr lang="en-US" sz="1500" b="1" dirty="0">
                <a:solidFill>
                  <a:schemeClr val="tx1"/>
                </a:solidFill>
              </a:rPr>
              <a:t>Remember: </a:t>
            </a:r>
            <a:r>
              <a:rPr lang="en-US" sz="1500" dirty="0">
                <a:solidFill>
                  <a:schemeClr val="tx1"/>
                </a:solidFill>
              </a:rPr>
              <a:t>put a comma before the connective, and each side needs its own subject and finite verb.</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Careful: ‘because’ is not FANBOYS</a:t>
            </a:r>
            <a:endParaRPr lang="en-US" sz="3000" dirty="0"/>
          </a:p>
        </p:txBody>
      </p:sp>
      <p:sp>
        <p:nvSpPr>
          <p:cNvPr id="4" name="COMPOUND card"/>
          <p:cNvSpPr/>
          <p:nvPr/>
        </p:nvSpPr>
        <p:spPr>
          <a:xfrm>
            <a:off x="457200" y="1051560"/>
            <a:ext cx="4023360" cy="2834640"/>
          </a:xfrm>
          <a:prstGeom prst="roundRect">
            <a:avLst>
              <a:gd name="adj" fmla="val 38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Header"/>
          <p:cNvSpPr/>
          <p:nvPr/>
        </p:nvSpPr>
        <p:spPr>
          <a:xfrm>
            <a:off x="594360" y="1170432"/>
            <a:ext cx="3749040" cy="457200"/>
          </a:xfrm>
          <a:prstGeom prst="roundRect">
            <a:avLst>
              <a:gd name="adj" fmla="val 20000"/>
            </a:avLst>
          </a:prstGeom>
          <a:solidFill>
            <a:schemeClr val="accent2"/>
          </a:solidFill>
          <a:ln w="6350">
            <a:solidFill>
              <a:schemeClr val="accent2"/>
            </a:solidFill>
            <a:prstDash val="solid"/>
          </a:ln>
        </p:spPr>
      </p:sp>
      <p:sp>
        <p:nvSpPr>
          <p:cNvPr id="6" name="Text 3"/>
          <p:cNvSpPr txBox="1"/>
          <p:nvPr/>
        </p:nvSpPr>
        <p:spPr>
          <a:xfrm>
            <a:off x="594360" y="1170432"/>
            <a:ext cx="3749040" cy="457200"/>
          </a:xfrm>
          <a:prstGeom prst="rect">
            <a:avLst/>
          </a:prstGeom>
          <a:noFill/>
          <a:ln/>
        </p:spPr>
        <p:txBody>
          <a:bodyPr wrap="square" lIns="0" tIns="0" rIns="0" bIns="0" rtlCol="0" anchor="ctr"/>
          <a:lstStyle/>
          <a:p>
            <a:pPr marL="0" indent="0" algn="ctr">
              <a:buNone/>
            </a:pPr>
            <a:r>
              <a:rPr lang="en-US" sz="1600" b="1" dirty="0">
                <a:solidFill>
                  <a:schemeClr val="tx1"/>
                </a:solidFill>
              </a:rPr>
              <a:t>COMPOUND  </a:t>
            </a:r>
            <a:r>
              <a:rPr lang="en-US" sz="1300" dirty="0">
                <a:solidFill>
                  <a:schemeClr val="tx1"/>
                </a:solidFill>
              </a:rPr>
              <a:t>uses a FANBOYS connective</a:t>
            </a:r>
            <a:endParaRPr lang="en-US" sz="1600" dirty="0"/>
          </a:p>
        </p:txBody>
      </p:sp>
      <p:sp>
        <p:nvSpPr>
          <p:cNvPr id="7" name="Text 4"/>
          <p:cNvSpPr txBox="1"/>
          <p:nvPr/>
        </p:nvSpPr>
        <p:spPr>
          <a:xfrm>
            <a:off x="731520" y="1737360"/>
            <a:ext cx="3474720" cy="365760"/>
          </a:xfrm>
          <a:prstGeom prst="rect">
            <a:avLst/>
          </a:prstGeom>
          <a:noFill/>
          <a:ln/>
        </p:spPr>
        <p:txBody>
          <a:bodyPr wrap="square" lIns="0" tIns="0" rIns="0" bIns="0" rtlCol="0" anchor="ctr"/>
          <a:lstStyle/>
          <a:p>
            <a:pPr marL="0" indent="0">
              <a:buNone/>
            </a:pPr>
            <a:r>
              <a:rPr lang="en-US" sz="1500" b="1" dirty="0">
                <a:solidFill>
                  <a:schemeClr val="tx1"/>
                </a:solidFill>
              </a:rPr>
              <a:t>The astronauts trained for years,</a:t>
            </a:r>
            <a:endParaRPr lang="en-US" sz="1500" dirty="0"/>
          </a:p>
        </p:txBody>
      </p:sp>
      <p:sp>
        <p:nvSpPr>
          <p:cNvPr id="8" name="Text 5"/>
          <p:cNvSpPr txBox="1"/>
          <p:nvPr/>
        </p:nvSpPr>
        <p:spPr>
          <a:xfrm>
            <a:off x="731520" y="2084832"/>
            <a:ext cx="3474720" cy="228600"/>
          </a:xfrm>
          <a:prstGeom prst="rect">
            <a:avLst/>
          </a:prstGeom>
          <a:noFill/>
          <a:ln/>
        </p:spPr>
        <p:txBody>
          <a:bodyPr wrap="square" lIns="0" tIns="0" rIns="0" bIns="0" rtlCol="0" anchor="ctr"/>
          <a:lstStyle/>
          <a:p>
            <a:pPr marL="0" indent="0">
              <a:buNone/>
            </a:pPr>
            <a:r>
              <a:rPr lang="en-US" sz="1200" i="1" dirty="0">
                <a:solidFill>
                  <a:schemeClr val="accent4"/>
                </a:solidFill>
              </a:rPr>
              <a:t>can stand alone as a sentence</a:t>
            </a:r>
            <a:endParaRPr lang="en-US" sz="1200" dirty="0"/>
          </a:p>
        </p:txBody>
      </p:sp>
      <p:sp>
        <p:nvSpPr>
          <p:cNvPr id="9" name="Connective chip"/>
          <p:cNvSpPr/>
          <p:nvPr/>
        </p:nvSpPr>
        <p:spPr>
          <a:xfrm>
            <a:off x="731520" y="2395728"/>
            <a:ext cx="1280160" cy="365760"/>
          </a:xfrm>
          <a:prstGeom prst="roundRect">
            <a:avLst>
              <a:gd name="adj" fmla="val 25000"/>
            </a:avLst>
          </a:prstGeom>
          <a:solidFill>
            <a:schemeClr val="accent5"/>
          </a:solidFill>
          <a:ln w="6350">
            <a:solidFill>
              <a:schemeClr val="accent5"/>
            </a:solidFill>
            <a:prstDash val="solid"/>
          </a:ln>
        </p:spPr>
      </p:sp>
      <p:sp>
        <p:nvSpPr>
          <p:cNvPr id="10" name="Text 7"/>
          <p:cNvSpPr txBox="1"/>
          <p:nvPr/>
        </p:nvSpPr>
        <p:spPr>
          <a:xfrm>
            <a:off x="731520" y="2395728"/>
            <a:ext cx="1280160" cy="365760"/>
          </a:xfrm>
          <a:prstGeom prst="rect">
            <a:avLst/>
          </a:prstGeom>
          <a:noFill/>
          <a:ln/>
        </p:spPr>
        <p:txBody>
          <a:bodyPr wrap="square" lIns="0" tIns="0" rIns="0" bIns="0" rtlCol="0" anchor="ctr"/>
          <a:lstStyle/>
          <a:p>
            <a:pPr marL="0" indent="0" algn="ctr">
              <a:buNone/>
            </a:pPr>
            <a:r>
              <a:rPr lang="en-US" sz="1500" b="1" dirty="0">
                <a:solidFill>
                  <a:schemeClr val="tx1"/>
                </a:solidFill>
              </a:rPr>
              <a:t>for</a:t>
            </a:r>
            <a:endParaRPr lang="en-US" sz="1500" dirty="0"/>
          </a:p>
        </p:txBody>
      </p:sp>
      <p:sp>
        <p:nvSpPr>
          <p:cNvPr id="11" name="Text 8"/>
          <p:cNvSpPr txBox="1"/>
          <p:nvPr/>
        </p:nvSpPr>
        <p:spPr>
          <a:xfrm>
            <a:off x="731520" y="2880360"/>
            <a:ext cx="3474720" cy="365760"/>
          </a:xfrm>
          <a:prstGeom prst="rect">
            <a:avLst/>
          </a:prstGeom>
          <a:noFill/>
          <a:ln/>
        </p:spPr>
        <p:txBody>
          <a:bodyPr wrap="square" lIns="0" tIns="0" rIns="0" bIns="0" rtlCol="0" anchor="ctr"/>
          <a:lstStyle/>
          <a:p>
            <a:pPr marL="0" indent="0">
              <a:buNone/>
            </a:pPr>
            <a:r>
              <a:rPr lang="en-US" sz="1500" b="1" dirty="0">
                <a:solidFill>
                  <a:schemeClr val="tx1"/>
                </a:solidFill>
              </a:rPr>
              <a:t>the mission was dangerous.</a:t>
            </a:r>
            <a:endParaRPr lang="en-US" sz="1500" dirty="0"/>
          </a:p>
        </p:txBody>
      </p:sp>
      <p:sp>
        <p:nvSpPr>
          <p:cNvPr id="12" name="Text 9"/>
          <p:cNvSpPr txBox="1"/>
          <p:nvPr/>
        </p:nvSpPr>
        <p:spPr>
          <a:xfrm>
            <a:off x="731520" y="3227832"/>
            <a:ext cx="3474720" cy="228600"/>
          </a:xfrm>
          <a:prstGeom prst="rect">
            <a:avLst/>
          </a:prstGeom>
          <a:noFill/>
          <a:ln/>
        </p:spPr>
        <p:txBody>
          <a:bodyPr wrap="square" lIns="0" tIns="0" rIns="0" bIns="0" rtlCol="0" anchor="ctr"/>
          <a:lstStyle/>
          <a:p>
            <a:pPr marL="0" indent="0">
              <a:buNone/>
            </a:pPr>
            <a:r>
              <a:rPr lang="en-US" sz="1200" i="1" dirty="0">
                <a:solidFill>
                  <a:schemeClr val="accent4"/>
                </a:solidFill>
              </a:rPr>
              <a:t>can stand alone as a sentence</a:t>
            </a:r>
            <a:endParaRPr lang="en-US" sz="1200" dirty="0"/>
          </a:p>
        </p:txBody>
      </p:sp>
      <p:sp>
        <p:nvSpPr>
          <p:cNvPr id="13" name="Text 10"/>
          <p:cNvSpPr txBox="1"/>
          <p:nvPr/>
        </p:nvSpPr>
        <p:spPr>
          <a:xfrm>
            <a:off x="731520" y="3493008"/>
            <a:ext cx="3474720" cy="274320"/>
          </a:xfrm>
          <a:prstGeom prst="rect">
            <a:avLst/>
          </a:prstGeom>
          <a:noFill/>
          <a:ln/>
        </p:spPr>
        <p:txBody>
          <a:bodyPr wrap="square" lIns="0" tIns="0" rIns="0" bIns="0" rtlCol="0" anchor="ctr"/>
          <a:lstStyle/>
          <a:p>
            <a:pPr marL="0" indent="0">
              <a:buNone/>
            </a:pPr>
            <a:r>
              <a:rPr lang="en-US" sz="1300" b="1" dirty="0">
                <a:solidFill>
                  <a:schemeClr val="tx1"/>
                </a:solidFill>
              </a:rPr>
              <a:t>✔ compound sentence</a:t>
            </a:r>
            <a:endParaRPr lang="en-US" sz="1300" dirty="0"/>
          </a:p>
        </p:txBody>
      </p:sp>
      <p:sp>
        <p:nvSpPr>
          <p:cNvPr id="14" name="NOT COMPOUND card"/>
          <p:cNvSpPr/>
          <p:nvPr/>
        </p:nvSpPr>
        <p:spPr>
          <a:xfrm>
            <a:off x="4663440" y="1051560"/>
            <a:ext cx="4023360" cy="2834640"/>
          </a:xfrm>
          <a:prstGeom prst="roundRect">
            <a:avLst>
              <a:gd name="adj" fmla="val 38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Header"/>
          <p:cNvSpPr/>
          <p:nvPr/>
        </p:nvSpPr>
        <p:spPr>
          <a:xfrm>
            <a:off x="4800600" y="1170432"/>
            <a:ext cx="3749040" cy="457200"/>
          </a:xfrm>
          <a:prstGeom prst="roundRect">
            <a:avLst>
              <a:gd name="adj" fmla="val 20000"/>
            </a:avLst>
          </a:prstGeom>
          <a:solidFill>
            <a:schemeClr val="accent3"/>
          </a:solidFill>
          <a:ln w="6350">
            <a:solidFill>
              <a:schemeClr val="accent3"/>
            </a:solidFill>
            <a:prstDash val="solid"/>
          </a:ln>
        </p:spPr>
      </p:sp>
      <p:sp>
        <p:nvSpPr>
          <p:cNvPr id="16" name="Text 13"/>
          <p:cNvSpPr txBox="1"/>
          <p:nvPr/>
        </p:nvSpPr>
        <p:spPr>
          <a:xfrm>
            <a:off x="4800600" y="1170432"/>
            <a:ext cx="3749040" cy="457200"/>
          </a:xfrm>
          <a:prstGeom prst="rect">
            <a:avLst/>
          </a:prstGeom>
          <a:noFill/>
          <a:ln/>
        </p:spPr>
        <p:txBody>
          <a:bodyPr wrap="square" lIns="0" tIns="0" rIns="0" bIns="0" rtlCol="0" anchor="ctr"/>
          <a:lstStyle/>
          <a:p>
            <a:pPr marL="0" indent="0" algn="ctr">
              <a:buNone/>
            </a:pPr>
            <a:r>
              <a:rPr lang="en-US" sz="1600" b="1" dirty="0">
                <a:solidFill>
                  <a:schemeClr val="tx1"/>
                </a:solidFill>
              </a:rPr>
              <a:t>NOT COMPOUND  </a:t>
            </a:r>
            <a:r>
              <a:rPr lang="en-US" sz="1300" dirty="0">
                <a:solidFill>
                  <a:schemeClr val="tx1"/>
                </a:solidFill>
              </a:rPr>
              <a:t>uses ‘because’</a:t>
            </a:r>
            <a:endParaRPr lang="en-US" sz="1600" dirty="0"/>
          </a:p>
        </p:txBody>
      </p:sp>
      <p:sp>
        <p:nvSpPr>
          <p:cNvPr id="17" name="Text 14"/>
          <p:cNvSpPr txBox="1"/>
          <p:nvPr/>
        </p:nvSpPr>
        <p:spPr>
          <a:xfrm>
            <a:off x="4937760" y="1737360"/>
            <a:ext cx="3474720" cy="365760"/>
          </a:xfrm>
          <a:prstGeom prst="rect">
            <a:avLst/>
          </a:prstGeom>
          <a:noFill/>
          <a:ln/>
        </p:spPr>
        <p:txBody>
          <a:bodyPr wrap="square" lIns="0" tIns="0" rIns="0" bIns="0" rtlCol="0" anchor="ctr"/>
          <a:lstStyle/>
          <a:p>
            <a:pPr marL="0" indent="0">
              <a:buNone/>
            </a:pPr>
            <a:r>
              <a:rPr lang="en-US" sz="1500" b="1" dirty="0">
                <a:solidFill>
                  <a:schemeClr val="tx1"/>
                </a:solidFill>
              </a:rPr>
              <a:t>The astronauts trained for years,</a:t>
            </a:r>
            <a:endParaRPr lang="en-US" sz="1500" dirty="0"/>
          </a:p>
        </p:txBody>
      </p:sp>
      <p:sp>
        <p:nvSpPr>
          <p:cNvPr id="18" name="Text 15"/>
          <p:cNvSpPr txBox="1"/>
          <p:nvPr/>
        </p:nvSpPr>
        <p:spPr>
          <a:xfrm>
            <a:off x="4937760" y="2084832"/>
            <a:ext cx="3474720" cy="228600"/>
          </a:xfrm>
          <a:prstGeom prst="rect">
            <a:avLst/>
          </a:prstGeom>
          <a:noFill/>
          <a:ln/>
        </p:spPr>
        <p:txBody>
          <a:bodyPr wrap="square" lIns="0" tIns="0" rIns="0" bIns="0" rtlCol="0" anchor="ctr"/>
          <a:lstStyle/>
          <a:p>
            <a:pPr marL="0" indent="0">
              <a:buNone/>
            </a:pPr>
            <a:r>
              <a:rPr lang="en-US" sz="1200" i="1" dirty="0">
                <a:solidFill>
                  <a:schemeClr val="accent4"/>
                </a:solidFill>
              </a:rPr>
              <a:t>can stand alone as a sentence</a:t>
            </a:r>
            <a:endParaRPr lang="en-US" sz="1200" dirty="0"/>
          </a:p>
        </p:txBody>
      </p:sp>
      <p:sp>
        <p:nvSpPr>
          <p:cNvPr id="19" name="Connective chip"/>
          <p:cNvSpPr/>
          <p:nvPr/>
        </p:nvSpPr>
        <p:spPr>
          <a:xfrm>
            <a:off x="4937760" y="2395728"/>
            <a:ext cx="1280160" cy="365760"/>
          </a:xfrm>
          <a:prstGeom prst="roundRect">
            <a:avLst>
              <a:gd name="adj" fmla="val 25000"/>
            </a:avLst>
          </a:prstGeom>
          <a:solidFill>
            <a:schemeClr val="accent5"/>
          </a:solidFill>
          <a:ln w="6350">
            <a:solidFill>
              <a:schemeClr val="accent5"/>
            </a:solidFill>
            <a:prstDash val="solid"/>
          </a:ln>
        </p:spPr>
      </p:sp>
      <p:sp>
        <p:nvSpPr>
          <p:cNvPr id="20" name="Text 17"/>
          <p:cNvSpPr txBox="1"/>
          <p:nvPr/>
        </p:nvSpPr>
        <p:spPr>
          <a:xfrm>
            <a:off x="4937760" y="2395728"/>
            <a:ext cx="1280160" cy="365760"/>
          </a:xfrm>
          <a:prstGeom prst="rect">
            <a:avLst/>
          </a:prstGeom>
          <a:noFill/>
          <a:ln/>
        </p:spPr>
        <p:txBody>
          <a:bodyPr wrap="square" lIns="0" tIns="0" rIns="0" bIns="0" rtlCol="0" anchor="ctr"/>
          <a:lstStyle/>
          <a:p>
            <a:pPr marL="0" indent="0" algn="ctr">
              <a:buNone/>
            </a:pPr>
            <a:r>
              <a:rPr lang="en-US" sz="1500" b="1" dirty="0">
                <a:solidFill>
                  <a:schemeClr val="tx1"/>
                </a:solidFill>
              </a:rPr>
              <a:t>because</a:t>
            </a:r>
            <a:endParaRPr lang="en-US" sz="1500" dirty="0"/>
          </a:p>
        </p:txBody>
      </p:sp>
      <p:sp>
        <p:nvSpPr>
          <p:cNvPr id="21" name="Text 18"/>
          <p:cNvSpPr txBox="1"/>
          <p:nvPr/>
        </p:nvSpPr>
        <p:spPr>
          <a:xfrm>
            <a:off x="4937760" y="2880360"/>
            <a:ext cx="3474720" cy="365760"/>
          </a:xfrm>
          <a:prstGeom prst="rect">
            <a:avLst/>
          </a:prstGeom>
          <a:noFill/>
          <a:ln/>
        </p:spPr>
        <p:txBody>
          <a:bodyPr wrap="square" lIns="0" tIns="0" rIns="0" bIns="0" rtlCol="0" anchor="ctr"/>
          <a:lstStyle/>
          <a:p>
            <a:pPr marL="0" indent="0">
              <a:buNone/>
            </a:pPr>
            <a:r>
              <a:rPr lang="en-US" sz="1500" b="1" dirty="0">
                <a:solidFill>
                  <a:schemeClr val="tx1"/>
                </a:solidFill>
              </a:rPr>
              <a:t>the mission was dangerous.</a:t>
            </a:r>
            <a:endParaRPr lang="en-US" sz="1500" dirty="0"/>
          </a:p>
        </p:txBody>
      </p:sp>
      <p:sp>
        <p:nvSpPr>
          <p:cNvPr id="22" name="Text 19"/>
          <p:cNvSpPr txBox="1"/>
          <p:nvPr/>
        </p:nvSpPr>
        <p:spPr>
          <a:xfrm>
            <a:off x="4937760" y="3227832"/>
            <a:ext cx="3474720" cy="228600"/>
          </a:xfrm>
          <a:prstGeom prst="rect">
            <a:avLst/>
          </a:prstGeom>
          <a:noFill/>
          <a:ln/>
        </p:spPr>
        <p:txBody>
          <a:bodyPr wrap="square" lIns="0" tIns="0" rIns="0" bIns="0" rtlCol="0" anchor="ctr"/>
          <a:lstStyle/>
          <a:p>
            <a:pPr marL="0" indent="0">
              <a:buNone/>
            </a:pPr>
            <a:r>
              <a:rPr lang="en-US" sz="1200" b="1" i="1" dirty="0">
                <a:solidFill>
                  <a:schemeClr val="tx1"/>
                </a:solidFill>
              </a:rPr>
              <a:t>cannot stand alone as a sentence</a:t>
            </a:r>
            <a:endParaRPr lang="en-US" sz="1200" dirty="0"/>
          </a:p>
        </p:txBody>
      </p:sp>
      <p:sp>
        <p:nvSpPr>
          <p:cNvPr id="23" name="Text 20"/>
          <p:cNvSpPr txBox="1"/>
          <p:nvPr/>
        </p:nvSpPr>
        <p:spPr>
          <a:xfrm>
            <a:off x="4937760" y="3493008"/>
            <a:ext cx="3474720" cy="274320"/>
          </a:xfrm>
          <a:prstGeom prst="rect">
            <a:avLst/>
          </a:prstGeom>
          <a:noFill/>
          <a:ln/>
        </p:spPr>
        <p:txBody>
          <a:bodyPr wrap="square" lIns="0" tIns="0" rIns="0" bIns="0" rtlCol="0" anchor="ctr"/>
          <a:lstStyle/>
          <a:p>
            <a:pPr marL="0" indent="0">
              <a:buNone/>
            </a:pPr>
            <a:r>
              <a:rPr lang="en-US" sz="1300" b="1" dirty="0">
                <a:solidFill>
                  <a:schemeClr val="tx1"/>
                </a:solidFill>
              </a:rPr>
              <a:t>complex sentence, not compound</a:t>
            </a:r>
            <a:endParaRPr lang="en-US" sz="1300" dirty="0"/>
          </a:p>
        </p:txBody>
      </p:sp>
      <p:sp>
        <p:nvSpPr>
          <p:cNvPr id="24" name="Callout"/>
          <p:cNvSpPr/>
          <p:nvPr/>
        </p:nvSpPr>
        <p:spPr>
          <a:xfrm>
            <a:off x="457200" y="4069080"/>
            <a:ext cx="8229600" cy="457200"/>
          </a:xfrm>
          <a:prstGeom prst="roundRect">
            <a:avLst>
              <a:gd name="adj" fmla="val 24000"/>
            </a:avLst>
          </a:prstGeom>
          <a:solidFill>
            <a:schemeClr val="accent5"/>
          </a:solidFill>
          <a:ln w="9525">
            <a:solidFill>
              <a:schemeClr val="accent5"/>
            </a:solidFill>
            <a:prstDash val="solid"/>
          </a:ln>
        </p:spPr>
      </p:sp>
      <p:sp>
        <p:nvSpPr>
          <p:cNvPr id="25" name="Text 22"/>
          <p:cNvSpPr txBox="1"/>
          <p:nvPr/>
        </p:nvSpPr>
        <p:spPr>
          <a:xfrm>
            <a:off x="640080" y="4069080"/>
            <a:ext cx="7863840" cy="457200"/>
          </a:xfrm>
          <a:prstGeom prst="rect">
            <a:avLst/>
          </a:prstGeom>
          <a:noFill/>
          <a:ln/>
        </p:spPr>
        <p:txBody>
          <a:bodyPr wrap="square" lIns="0" tIns="0" rIns="0" bIns="0" rtlCol="0" anchor="ctr"/>
          <a:lstStyle/>
          <a:p>
            <a:pPr marL="0" indent="0" algn="ctr">
              <a:buNone/>
            </a:pPr>
            <a:r>
              <a:rPr lang="en-US" sz="1600" b="1" dirty="0">
                <a:solidFill>
                  <a:schemeClr val="tx1"/>
                </a:solidFill>
              </a:rPr>
              <a:t>Test: can each part stand alone as a sentence?</a:t>
            </a:r>
            <a:endParaRPr lang="en-US" sz="16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Choose the simple sentence</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Choose the correct answer.</a:t>
            </a:r>
            <a:endParaRPr lang="en-US" sz="1600" dirty="0"/>
          </a:p>
        </p:txBody>
      </p:sp>
      <p:sp>
        <p:nvSpPr>
          <p:cNvPr id="5" name="Option A"/>
          <p:cNvSpPr/>
          <p:nvPr/>
        </p:nvSpPr>
        <p:spPr>
          <a:xfrm>
            <a:off x="457200" y="1463040"/>
            <a:ext cx="4023360" cy="1188720"/>
          </a:xfrm>
          <a:prstGeom prst="roundRect">
            <a:avLst>
              <a:gd name="adj" fmla="val 923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640080" y="1801368"/>
            <a:ext cx="502920" cy="502920"/>
          </a:xfrm>
          <a:prstGeom prst="ellipse">
            <a:avLst/>
          </a:prstGeom>
          <a:solidFill>
            <a:schemeClr val="accent1"/>
          </a:solidFill>
          <a:ln w="6350">
            <a:solidFill>
              <a:schemeClr val="accent1"/>
            </a:solidFill>
            <a:prstDash val="solid"/>
          </a:ln>
        </p:spPr>
      </p:sp>
      <p:sp>
        <p:nvSpPr>
          <p:cNvPr id="7" name="Text 4"/>
          <p:cNvSpPr txBox="1"/>
          <p:nvPr/>
        </p:nvSpPr>
        <p:spPr>
          <a:xfrm>
            <a:off x="640080" y="1801368"/>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8" name="Text 5"/>
          <p:cNvSpPr txBox="1"/>
          <p:nvPr/>
        </p:nvSpPr>
        <p:spPr>
          <a:xfrm>
            <a:off x="1325880" y="1463040"/>
            <a:ext cx="3017520" cy="1188720"/>
          </a:xfrm>
          <a:prstGeom prst="rect">
            <a:avLst/>
          </a:prstGeom>
          <a:noFill/>
          <a:ln/>
        </p:spPr>
        <p:txBody>
          <a:bodyPr wrap="square" lIns="0" tIns="0" rIns="0" bIns="0" rtlCol="0" anchor="ctr"/>
          <a:lstStyle/>
          <a:p>
            <a:pPr marL="0" indent="0">
              <a:buNone/>
            </a:pPr>
            <a:r>
              <a:rPr lang="en-US" sz="1500" dirty="0">
                <a:solidFill>
                  <a:schemeClr val="tx1"/>
                </a:solidFill>
              </a:rPr>
              <a:t>Sputnik I orbited the Earth, and it sent signals back.</a:t>
            </a:r>
            <a:endParaRPr lang="en-US" sz="1500" dirty="0"/>
          </a:p>
        </p:txBody>
      </p:sp>
      <p:sp>
        <p:nvSpPr>
          <p:cNvPr id="9" name="Option B"/>
          <p:cNvSpPr/>
          <p:nvPr/>
        </p:nvSpPr>
        <p:spPr>
          <a:xfrm>
            <a:off x="4663440" y="1463040"/>
            <a:ext cx="4023360" cy="1188720"/>
          </a:xfrm>
          <a:prstGeom prst="roundRect">
            <a:avLst>
              <a:gd name="adj" fmla="val 923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4846320" y="1801368"/>
            <a:ext cx="502920" cy="502920"/>
          </a:xfrm>
          <a:prstGeom prst="ellipse">
            <a:avLst/>
          </a:prstGeom>
          <a:solidFill>
            <a:schemeClr val="accent2"/>
          </a:solidFill>
          <a:ln w="6350">
            <a:solidFill>
              <a:schemeClr val="accent2"/>
            </a:solidFill>
            <a:prstDash val="solid"/>
          </a:ln>
        </p:spPr>
      </p:sp>
      <p:sp>
        <p:nvSpPr>
          <p:cNvPr id="11" name="Text 8"/>
          <p:cNvSpPr txBox="1"/>
          <p:nvPr/>
        </p:nvSpPr>
        <p:spPr>
          <a:xfrm>
            <a:off x="4846320" y="1801368"/>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2" name="Text 9"/>
          <p:cNvSpPr txBox="1"/>
          <p:nvPr/>
        </p:nvSpPr>
        <p:spPr>
          <a:xfrm>
            <a:off x="5532120" y="1463040"/>
            <a:ext cx="3017520" cy="1188720"/>
          </a:xfrm>
          <a:prstGeom prst="rect">
            <a:avLst/>
          </a:prstGeom>
          <a:noFill/>
          <a:ln/>
        </p:spPr>
        <p:txBody>
          <a:bodyPr wrap="square" lIns="0" tIns="0" rIns="0" bIns="0" rtlCol="0" anchor="ctr"/>
          <a:lstStyle/>
          <a:p>
            <a:pPr marL="0" indent="0">
              <a:buNone/>
            </a:pPr>
            <a:r>
              <a:rPr lang="en-US" sz="1500" dirty="0">
                <a:solidFill>
                  <a:schemeClr val="tx1"/>
                </a:solidFill>
              </a:rPr>
              <a:t>The astronauts trained hard because the mission was dangerous.</a:t>
            </a:r>
            <a:endParaRPr lang="en-US" sz="1500" dirty="0"/>
          </a:p>
        </p:txBody>
      </p:sp>
      <p:sp>
        <p:nvSpPr>
          <p:cNvPr id="13" name="Option C"/>
          <p:cNvSpPr/>
          <p:nvPr/>
        </p:nvSpPr>
        <p:spPr>
          <a:xfrm>
            <a:off x="457200" y="2788920"/>
            <a:ext cx="4023360" cy="1188720"/>
          </a:xfrm>
          <a:prstGeom prst="roundRect">
            <a:avLst>
              <a:gd name="adj" fmla="val 923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640080" y="3127248"/>
            <a:ext cx="502920" cy="502920"/>
          </a:xfrm>
          <a:prstGeom prst="ellipse">
            <a:avLst/>
          </a:prstGeom>
          <a:solidFill>
            <a:schemeClr val="accent3"/>
          </a:solidFill>
          <a:ln w="6350">
            <a:solidFill>
              <a:schemeClr val="accent3"/>
            </a:solidFill>
            <a:prstDash val="solid"/>
          </a:ln>
        </p:spPr>
      </p:sp>
      <p:sp>
        <p:nvSpPr>
          <p:cNvPr id="15" name="Text 12"/>
          <p:cNvSpPr txBox="1"/>
          <p:nvPr/>
        </p:nvSpPr>
        <p:spPr>
          <a:xfrm>
            <a:off x="640080" y="3127248"/>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6" name="Text 13"/>
          <p:cNvSpPr txBox="1"/>
          <p:nvPr/>
        </p:nvSpPr>
        <p:spPr>
          <a:xfrm>
            <a:off x="1325880" y="2788920"/>
            <a:ext cx="3017520" cy="1188720"/>
          </a:xfrm>
          <a:prstGeom prst="rect">
            <a:avLst/>
          </a:prstGeom>
          <a:noFill/>
          <a:ln/>
        </p:spPr>
        <p:txBody>
          <a:bodyPr wrap="square" lIns="0" tIns="0" rIns="0" bIns="0" rtlCol="0" anchor="ctr"/>
          <a:lstStyle/>
          <a:p>
            <a:pPr marL="0" indent="0">
              <a:buNone/>
            </a:pPr>
            <a:r>
              <a:rPr lang="en-US" sz="1500" dirty="0">
                <a:solidFill>
                  <a:schemeClr val="tx1"/>
                </a:solidFill>
              </a:rPr>
              <a:t>Valentina Tereshkova became the first woman in space in 1963.</a:t>
            </a:r>
            <a:endParaRPr lang="en-US" sz="1500" dirty="0"/>
          </a:p>
        </p:txBody>
      </p:sp>
      <p:sp>
        <p:nvSpPr>
          <p:cNvPr id="17" name="Option D"/>
          <p:cNvSpPr/>
          <p:nvPr/>
        </p:nvSpPr>
        <p:spPr>
          <a:xfrm>
            <a:off x="4663440" y="2788920"/>
            <a:ext cx="4023360" cy="1188720"/>
          </a:xfrm>
          <a:prstGeom prst="roundRect">
            <a:avLst>
              <a:gd name="adj" fmla="val 923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4846320" y="3127248"/>
            <a:ext cx="502920" cy="502920"/>
          </a:xfrm>
          <a:prstGeom prst="ellipse">
            <a:avLst/>
          </a:prstGeom>
          <a:solidFill>
            <a:schemeClr val="accent4"/>
          </a:solidFill>
          <a:ln w="6350">
            <a:solidFill>
              <a:schemeClr val="accent4"/>
            </a:solidFill>
            <a:prstDash val="solid"/>
          </a:ln>
        </p:spPr>
      </p:sp>
      <p:sp>
        <p:nvSpPr>
          <p:cNvPr id="19" name="Text 16"/>
          <p:cNvSpPr txBox="1"/>
          <p:nvPr/>
        </p:nvSpPr>
        <p:spPr>
          <a:xfrm>
            <a:off x="4846320" y="3127248"/>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D</a:t>
            </a:r>
            <a:endParaRPr lang="en-US" sz="1500" dirty="0"/>
          </a:p>
        </p:txBody>
      </p:sp>
      <p:sp>
        <p:nvSpPr>
          <p:cNvPr id="20" name="Text 17"/>
          <p:cNvSpPr txBox="1"/>
          <p:nvPr/>
        </p:nvSpPr>
        <p:spPr>
          <a:xfrm>
            <a:off x="5532120" y="2788920"/>
            <a:ext cx="3017520" cy="1188720"/>
          </a:xfrm>
          <a:prstGeom prst="rect">
            <a:avLst/>
          </a:prstGeom>
          <a:noFill/>
          <a:ln/>
        </p:spPr>
        <p:txBody>
          <a:bodyPr wrap="square" lIns="0" tIns="0" rIns="0" bIns="0" rtlCol="0" anchor="ctr"/>
          <a:lstStyle/>
          <a:p>
            <a:pPr marL="0" indent="0">
              <a:buNone/>
            </a:pPr>
            <a:r>
              <a:rPr lang="en-US" sz="1500" dirty="0">
                <a:solidFill>
                  <a:schemeClr val="tx1"/>
                </a:solidFill>
              </a:rPr>
              <a:t>We can fly to the moon, but we can’t live there yet.</a:t>
            </a:r>
            <a:endParaRPr lang="en-US" sz="1500" dirty="0"/>
          </a:p>
        </p:txBody>
      </p:sp>
      <p:sp>
        <p:nvSpPr>
          <p:cNvPr id="21" name="Callout"/>
          <p:cNvSpPr/>
          <p:nvPr/>
        </p:nvSpPr>
        <p:spPr>
          <a:xfrm>
            <a:off x="457200" y="4160520"/>
            <a:ext cx="8229600" cy="411480"/>
          </a:xfrm>
          <a:prstGeom prst="roundRect">
            <a:avLst>
              <a:gd name="adj" fmla="val 26667"/>
            </a:avLst>
          </a:prstGeom>
          <a:solidFill>
            <a:schemeClr val="accent5"/>
          </a:solidFill>
          <a:ln w="9525">
            <a:solidFill>
              <a:schemeClr val="accent5"/>
            </a:solidFill>
            <a:prstDash val="solid"/>
          </a:ln>
        </p:spPr>
      </p:sp>
      <p:sp>
        <p:nvSpPr>
          <p:cNvPr id="22" name="Text 19"/>
          <p:cNvSpPr txBox="1"/>
          <p:nvPr/>
        </p:nvSpPr>
        <p:spPr>
          <a:xfrm>
            <a:off x="640080" y="4160520"/>
            <a:ext cx="7863840" cy="411480"/>
          </a:xfrm>
          <a:prstGeom prst="rect">
            <a:avLst/>
          </a:prstGeom>
          <a:noFill/>
          <a:ln/>
        </p:spPr>
        <p:txBody>
          <a:bodyPr wrap="square" lIns="0" tIns="0" rIns="0" bIns="0" rtlCol="0" anchor="ctr"/>
          <a:lstStyle/>
          <a:p>
            <a:pPr marL="0" indent="0" algn="ctr">
              <a:buNone/>
            </a:pPr>
            <a:r>
              <a:rPr lang="en-US" sz="1600" b="1" dirty="0">
                <a:solidFill>
                  <a:schemeClr val="tx1"/>
                </a:solidFill>
              </a:rPr>
              <a:t>Think: how many clauses? Is there a connective?</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Answer: the simple sentence</a:t>
            </a:r>
            <a:endParaRPr lang="en-US" sz="3000" dirty="0"/>
          </a:p>
        </p:txBody>
      </p:sp>
      <p:sp>
        <p:nvSpPr>
          <p:cNvPr id="4" name="Correct answer"/>
          <p:cNvSpPr/>
          <p:nvPr/>
        </p:nvSpPr>
        <p:spPr>
          <a:xfrm>
            <a:off x="457200" y="1051560"/>
            <a:ext cx="8229600" cy="1280160"/>
          </a:xfrm>
          <a:prstGeom prst="roundRect">
            <a:avLst>
              <a:gd name="adj" fmla="val 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640080" y="1325880"/>
            <a:ext cx="594360" cy="594360"/>
          </a:xfrm>
          <a:prstGeom prst="ellipse">
            <a:avLst/>
          </a:prstGeom>
          <a:solidFill>
            <a:schemeClr val="accent2"/>
          </a:solidFill>
          <a:ln w="6350">
            <a:solidFill>
              <a:schemeClr val="accent2"/>
            </a:solidFill>
            <a:prstDash val="solid"/>
          </a:ln>
        </p:spPr>
      </p:sp>
      <p:sp>
        <p:nvSpPr>
          <p:cNvPr id="6" name="Text 3"/>
          <p:cNvSpPr txBox="1"/>
          <p:nvPr/>
        </p:nvSpPr>
        <p:spPr>
          <a:xfrm>
            <a:off x="640080" y="1325880"/>
            <a:ext cx="594360" cy="594360"/>
          </a:xfrm>
          <a:prstGeom prst="rect">
            <a:avLst/>
          </a:prstGeom>
          <a:noFill/>
          <a:ln/>
        </p:spPr>
        <p:txBody>
          <a:bodyPr wrap="square" lIns="0" tIns="0" rIns="0" bIns="0" rtlCol="0" anchor="ctr"/>
          <a:lstStyle/>
          <a:p>
            <a:pPr marL="0" indent="0" algn="ctr">
              <a:buNone/>
            </a:pPr>
            <a:r>
              <a:rPr lang="en-US" sz="2600" b="1" dirty="0">
                <a:solidFill>
                  <a:schemeClr val="tx1"/>
                </a:solidFill>
                <a:latin typeface="+mj-lt" pitchFamily="34" charset="0"/>
                <a:ea typeface="+mj-lt" pitchFamily="34" charset="-122"/>
                <a:cs typeface="+mj-lt" pitchFamily="34" charset="-120"/>
              </a:rPr>
              <a:t>C</a:t>
            </a:r>
            <a:endParaRPr lang="en-US" sz="2600" dirty="0"/>
          </a:p>
        </p:txBody>
      </p:sp>
      <p:sp>
        <p:nvSpPr>
          <p:cNvPr id="7" name="Text 4"/>
          <p:cNvSpPr txBox="1"/>
          <p:nvPr/>
        </p:nvSpPr>
        <p:spPr>
          <a:xfrm>
            <a:off x="1463040" y="1097280"/>
            <a:ext cx="7040880" cy="685800"/>
          </a:xfrm>
          <a:prstGeom prst="rect">
            <a:avLst/>
          </a:prstGeom>
          <a:noFill/>
          <a:ln/>
        </p:spPr>
        <p:txBody>
          <a:bodyPr wrap="square" lIns="0" tIns="0" rIns="0" bIns="0" rtlCol="0" anchor="ctr"/>
          <a:lstStyle/>
          <a:p>
            <a:pPr marL="0" indent="0">
              <a:buNone/>
            </a:pPr>
            <a:r>
              <a:rPr lang="en-US" sz="1700" dirty="0">
                <a:solidFill>
                  <a:schemeClr val="tx1"/>
                </a:solidFill>
              </a:rPr>
              <a:t>Valentina Tereshkova </a:t>
            </a:r>
            <a:r>
              <a:rPr lang="en-US" sz="1700" b="1" u="sng" dirty="0">
                <a:solidFill>
                  <a:schemeClr val="tx1"/>
                </a:solidFill>
              </a:rPr>
              <a:t>became</a:t>
            </a:r>
            <a:r>
              <a:rPr lang="en-US" sz="1700" dirty="0">
                <a:solidFill>
                  <a:schemeClr val="tx1"/>
                </a:solidFill>
              </a:rPr>
              <a:t> the first woman in space in 1963.</a:t>
            </a:r>
            <a:endParaRPr lang="en-US" sz="1700" dirty="0"/>
          </a:p>
        </p:txBody>
      </p:sp>
      <p:sp>
        <p:nvSpPr>
          <p:cNvPr id="8" name="Text 5"/>
          <p:cNvSpPr txBox="1"/>
          <p:nvPr/>
        </p:nvSpPr>
        <p:spPr>
          <a:xfrm>
            <a:off x="1463040" y="1783080"/>
            <a:ext cx="7040880" cy="457200"/>
          </a:xfrm>
          <a:prstGeom prst="rect">
            <a:avLst/>
          </a:prstGeom>
          <a:noFill/>
          <a:ln/>
        </p:spPr>
        <p:txBody>
          <a:bodyPr wrap="square" lIns="0" tIns="0" rIns="0" bIns="0" rtlCol="0" anchor="t"/>
          <a:lstStyle/>
          <a:p>
            <a:pPr marL="0" indent="0">
              <a:buNone/>
            </a:pPr>
            <a:r>
              <a:rPr lang="en-US" sz="1400" i="1" dirty="0">
                <a:solidFill>
                  <a:schemeClr val="accent4"/>
                </a:solidFill>
              </a:rPr>
              <a:t>One subject, one finite verb and one idea: a simple sentence.</a:t>
            </a:r>
            <a:endParaRPr lang="en-US" sz="1400" dirty="0"/>
          </a:p>
        </p:txBody>
      </p:sp>
      <p:sp>
        <p:nvSpPr>
          <p:cNvPr id="9" name="Why not A"/>
          <p:cNvSpPr/>
          <p:nvPr/>
        </p:nvSpPr>
        <p:spPr>
          <a:xfrm>
            <a:off x="457200" y="251460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48640" y="2606040"/>
            <a:ext cx="365760" cy="365760"/>
          </a:xfrm>
          <a:prstGeom prst="ellipse">
            <a:avLst/>
          </a:prstGeom>
          <a:solidFill>
            <a:schemeClr val="bg2"/>
          </a:solidFill>
          <a:ln w="6350">
            <a:solidFill>
              <a:schemeClr val="bg2"/>
            </a:solidFill>
            <a:prstDash val="solid"/>
          </a:ln>
        </p:spPr>
      </p:sp>
      <p:sp>
        <p:nvSpPr>
          <p:cNvPr id="11" name="Text 8"/>
          <p:cNvSpPr txBox="1"/>
          <p:nvPr/>
        </p:nvSpPr>
        <p:spPr>
          <a:xfrm>
            <a:off x="548640" y="260604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12" name="Text 9"/>
          <p:cNvSpPr txBox="1"/>
          <p:nvPr/>
        </p:nvSpPr>
        <p:spPr>
          <a:xfrm>
            <a:off x="1097280" y="2514600"/>
            <a:ext cx="7406640" cy="548640"/>
          </a:xfrm>
          <a:prstGeom prst="rect">
            <a:avLst/>
          </a:prstGeom>
          <a:noFill/>
          <a:ln/>
        </p:spPr>
        <p:txBody>
          <a:bodyPr wrap="square" lIns="0" tIns="0" rIns="0" bIns="0" rtlCol="0" anchor="ctr"/>
          <a:lstStyle/>
          <a:p>
            <a:pPr marL="0" indent="0">
              <a:buNone/>
            </a:pPr>
            <a:r>
              <a:rPr lang="en-US" sz="1300" dirty="0">
                <a:solidFill>
                  <a:schemeClr val="tx1"/>
                </a:solidFill>
              </a:rPr>
              <a:t>two clauses joined by ‘and’: a compound sentence</a:t>
            </a:r>
            <a:endParaRPr lang="en-US" sz="1300" dirty="0"/>
          </a:p>
        </p:txBody>
      </p:sp>
      <p:sp>
        <p:nvSpPr>
          <p:cNvPr id="13" name="Why not B"/>
          <p:cNvSpPr/>
          <p:nvPr/>
        </p:nvSpPr>
        <p:spPr>
          <a:xfrm>
            <a:off x="457200" y="315468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548640" y="3246120"/>
            <a:ext cx="365760" cy="365760"/>
          </a:xfrm>
          <a:prstGeom prst="ellipse">
            <a:avLst/>
          </a:prstGeom>
          <a:solidFill>
            <a:schemeClr val="bg2"/>
          </a:solidFill>
          <a:ln w="6350">
            <a:solidFill>
              <a:schemeClr val="bg2"/>
            </a:solidFill>
            <a:prstDash val="solid"/>
          </a:ln>
        </p:spPr>
      </p:sp>
      <p:sp>
        <p:nvSpPr>
          <p:cNvPr id="15" name="Text 12"/>
          <p:cNvSpPr txBox="1"/>
          <p:nvPr/>
        </p:nvSpPr>
        <p:spPr>
          <a:xfrm>
            <a:off x="548640" y="32461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6" name="Text 13"/>
          <p:cNvSpPr txBox="1"/>
          <p:nvPr/>
        </p:nvSpPr>
        <p:spPr>
          <a:xfrm>
            <a:off x="1097280" y="3154680"/>
            <a:ext cx="7406640" cy="548640"/>
          </a:xfrm>
          <a:prstGeom prst="rect">
            <a:avLst/>
          </a:prstGeom>
          <a:noFill/>
          <a:ln/>
        </p:spPr>
        <p:txBody>
          <a:bodyPr wrap="square" lIns="0" tIns="0" rIns="0" bIns="0" rtlCol="0" anchor="ctr"/>
          <a:lstStyle/>
          <a:p>
            <a:pPr marL="0" indent="0">
              <a:buNone/>
            </a:pPr>
            <a:r>
              <a:rPr lang="en-US" sz="1300" dirty="0">
                <a:solidFill>
                  <a:schemeClr val="tx1"/>
                </a:solidFill>
              </a:rPr>
              <a:t>‘because’ adds a clause that cannot stand alone: a complex sentence</a:t>
            </a:r>
            <a:endParaRPr lang="en-US" sz="1300" dirty="0"/>
          </a:p>
        </p:txBody>
      </p:sp>
      <p:sp>
        <p:nvSpPr>
          <p:cNvPr id="17" name="Why not D"/>
          <p:cNvSpPr/>
          <p:nvPr/>
        </p:nvSpPr>
        <p:spPr>
          <a:xfrm>
            <a:off x="457200" y="379476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548640" y="3886200"/>
            <a:ext cx="365760" cy="365760"/>
          </a:xfrm>
          <a:prstGeom prst="ellipse">
            <a:avLst/>
          </a:prstGeom>
          <a:solidFill>
            <a:schemeClr val="bg2"/>
          </a:solidFill>
          <a:ln w="6350">
            <a:solidFill>
              <a:schemeClr val="bg2"/>
            </a:solidFill>
            <a:prstDash val="solid"/>
          </a:ln>
        </p:spPr>
      </p:sp>
      <p:sp>
        <p:nvSpPr>
          <p:cNvPr id="19" name="Text 16"/>
          <p:cNvSpPr txBox="1"/>
          <p:nvPr/>
        </p:nvSpPr>
        <p:spPr>
          <a:xfrm>
            <a:off x="548640" y="388620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D</a:t>
            </a:r>
            <a:endParaRPr lang="en-US" sz="1500" dirty="0"/>
          </a:p>
        </p:txBody>
      </p:sp>
      <p:sp>
        <p:nvSpPr>
          <p:cNvPr id="20" name="Text 17"/>
          <p:cNvSpPr txBox="1"/>
          <p:nvPr/>
        </p:nvSpPr>
        <p:spPr>
          <a:xfrm>
            <a:off x="1097280" y="3794760"/>
            <a:ext cx="7406640" cy="548640"/>
          </a:xfrm>
          <a:prstGeom prst="rect">
            <a:avLst/>
          </a:prstGeom>
          <a:noFill/>
          <a:ln/>
        </p:spPr>
        <p:txBody>
          <a:bodyPr wrap="square" lIns="0" tIns="0" rIns="0" bIns="0" rtlCol="0" anchor="ctr"/>
          <a:lstStyle/>
          <a:p>
            <a:pPr marL="0" indent="0">
              <a:buNone/>
            </a:pPr>
            <a:r>
              <a:rPr lang="en-US" sz="1300" dirty="0">
                <a:solidFill>
                  <a:schemeClr val="tx1"/>
                </a:solidFill>
              </a:rPr>
              <a:t>two clauses joined by ‘but’: a compound sentence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Choose the compound sentence</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Choose the correct answer.</a:t>
            </a:r>
            <a:endParaRPr lang="en-US" sz="1600" dirty="0"/>
          </a:p>
        </p:txBody>
      </p:sp>
      <p:sp>
        <p:nvSpPr>
          <p:cNvPr id="5" name="Option A"/>
          <p:cNvSpPr/>
          <p:nvPr/>
        </p:nvSpPr>
        <p:spPr>
          <a:xfrm>
            <a:off x="457200" y="1463040"/>
            <a:ext cx="4023360" cy="1188720"/>
          </a:xfrm>
          <a:prstGeom prst="roundRect">
            <a:avLst>
              <a:gd name="adj" fmla="val 923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640080" y="1801368"/>
            <a:ext cx="502920" cy="502920"/>
          </a:xfrm>
          <a:prstGeom prst="ellipse">
            <a:avLst/>
          </a:prstGeom>
          <a:solidFill>
            <a:schemeClr val="accent1"/>
          </a:solidFill>
          <a:ln w="6350">
            <a:solidFill>
              <a:schemeClr val="accent1"/>
            </a:solidFill>
            <a:prstDash val="solid"/>
          </a:ln>
        </p:spPr>
      </p:sp>
      <p:sp>
        <p:nvSpPr>
          <p:cNvPr id="7" name="Text 4"/>
          <p:cNvSpPr txBox="1"/>
          <p:nvPr/>
        </p:nvSpPr>
        <p:spPr>
          <a:xfrm>
            <a:off x="640080" y="1801368"/>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8" name="Text 5"/>
          <p:cNvSpPr txBox="1"/>
          <p:nvPr/>
        </p:nvSpPr>
        <p:spPr>
          <a:xfrm>
            <a:off x="1325880" y="1463040"/>
            <a:ext cx="3017520" cy="1188720"/>
          </a:xfrm>
          <a:prstGeom prst="rect">
            <a:avLst/>
          </a:prstGeom>
          <a:noFill/>
          <a:ln/>
        </p:spPr>
        <p:txBody>
          <a:bodyPr wrap="square" lIns="0" tIns="0" rIns="0" bIns="0" rtlCol="0" anchor="ctr"/>
          <a:lstStyle/>
          <a:p>
            <a:pPr marL="0" indent="0">
              <a:buNone/>
            </a:pPr>
            <a:r>
              <a:rPr lang="en-US" sz="1500" dirty="0">
                <a:solidFill>
                  <a:schemeClr val="tx1"/>
                </a:solidFill>
              </a:rPr>
              <a:t>The satellite orbits the Earth every day.</a:t>
            </a:r>
            <a:endParaRPr lang="en-US" sz="1500" dirty="0"/>
          </a:p>
        </p:txBody>
      </p:sp>
      <p:sp>
        <p:nvSpPr>
          <p:cNvPr id="9" name="Option B"/>
          <p:cNvSpPr/>
          <p:nvPr/>
        </p:nvSpPr>
        <p:spPr>
          <a:xfrm>
            <a:off x="4663440" y="1463040"/>
            <a:ext cx="4023360" cy="1188720"/>
          </a:xfrm>
          <a:prstGeom prst="roundRect">
            <a:avLst>
              <a:gd name="adj" fmla="val 923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4846320" y="1801368"/>
            <a:ext cx="502920" cy="502920"/>
          </a:xfrm>
          <a:prstGeom prst="ellipse">
            <a:avLst/>
          </a:prstGeom>
          <a:solidFill>
            <a:schemeClr val="accent2"/>
          </a:solidFill>
          <a:ln w="6350">
            <a:solidFill>
              <a:schemeClr val="accent2"/>
            </a:solidFill>
            <a:prstDash val="solid"/>
          </a:ln>
        </p:spPr>
      </p:sp>
      <p:sp>
        <p:nvSpPr>
          <p:cNvPr id="11" name="Text 8"/>
          <p:cNvSpPr txBox="1"/>
          <p:nvPr/>
        </p:nvSpPr>
        <p:spPr>
          <a:xfrm>
            <a:off x="4846320" y="1801368"/>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2" name="Text 9"/>
          <p:cNvSpPr txBox="1"/>
          <p:nvPr/>
        </p:nvSpPr>
        <p:spPr>
          <a:xfrm>
            <a:off x="5532120" y="1463040"/>
            <a:ext cx="3017520" cy="1188720"/>
          </a:xfrm>
          <a:prstGeom prst="rect">
            <a:avLst/>
          </a:prstGeom>
          <a:noFill/>
          <a:ln/>
        </p:spPr>
        <p:txBody>
          <a:bodyPr wrap="square" lIns="0" tIns="0" rIns="0" bIns="0" rtlCol="0" anchor="ctr"/>
          <a:lstStyle/>
          <a:p>
            <a:pPr marL="0" indent="0">
              <a:buNone/>
            </a:pPr>
            <a:r>
              <a:rPr lang="en-US" sz="1500" dirty="0">
                <a:solidFill>
                  <a:schemeClr val="tx1"/>
                </a:solidFill>
              </a:rPr>
              <a:t>Early astronomers studied the skies, for they were fascinated by the stars.</a:t>
            </a:r>
            <a:endParaRPr lang="en-US" sz="1500" dirty="0"/>
          </a:p>
        </p:txBody>
      </p:sp>
      <p:sp>
        <p:nvSpPr>
          <p:cNvPr id="13" name="Option C"/>
          <p:cNvSpPr/>
          <p:nvPr/>
        </p:nvSpPr>
        <p:spPr>
          <a:xfrm>
            <a:off x="457200" y="2788920"/>
            <a:ext cx="4023360" cy="1188720"/>
          </a:xfrm>
          <a:prstGeom prst="roundRect">
            <a:avLst>
              <a:gd name="adj" fmla="val 923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640080" y="3127248"/>
            <a:ext cx="502920" cy="502920"/>
          </a:xfrm>
          <a:prstGeom prst="ellipse">
            <a:avLst/>
          </a:prstGeom>
          <a:solidFill>
            <a:schemeClr val="accent3"/>
          </a:solidFill>
          <a:ln w="6350">
            <a:solidFill>
              <a:schemeClr val="accent3"/>
            </a:solidFill>
            <a:prstDash val="solid"/>
          </a:ln>
        </p:spPr>
      </p:sp>
      <p:sp>
        <p:nvSpPr>
          <p:cNvPr id="15" name="Text 12"/>
          <p:cNvSpPr txBox="1"/>
          <p:nvPr/>
        </p:nvSpPr>
        <p:spPr>
          <a:xfrm>
            <a:off x="640080" y="3127248"/>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6" name="Text 13"/>
          <p:cNvSpPr txBox="1"/>
          <p:nvPr/>
        </p:nvSpPr>
        <p:spPr>
          <a:xfrm>
            <a:off x="1325880" y="2788920"/>
            <a:ext cx="3017520" cy="1188720"/>
          </a:xfrm>
          <a:prstGeom prst="rect">
            <a:avLst/>
          </a:prstGeom>
          <a:noFill/>
          <a:ln/>
        </p:spPr>
        <p:txBody>
          <a:bodyPr wrap="square" lIns="0" tIns="0" rIns="0" bIns="0" rtlCol="0" anchor="ctr"/>
          <a:lstStyle/>
          <a:p>
            <a:pPr marL="0" indent="0">
              <a:buNone/>
            </a:pPr>
            <a:r>
              <a:rPr lang="en-US" sz="1500" dirty="0">
                <a:solidFill>
                  <a:schemeClr val="tx1"/>
                </a:solidFill>
              </a:rPr>
              <a:t>Astronauts train for many years before a mission.</a:t>
            </a:r>
            <a:endParaRPr lang="en-US" sz="1500" dirty="0"/>
          </a:p>
        </p:txBody>
      </p:sp>
      <p:sp>
        <p:nvSpPr>
          <p:cNvPr id="17" name="Option D"/>
          <p:cNvSpPr/>
          <p:nvPr/>
        </p:nvSpPr>
        <p:spPr>
          <a:xfrm>
            <a:off x="4663440" y="2788920"/>
            <a:ext cx="4023360" cy="1188720"/>
          </a:xfrm>
          <a:prstGeom prst="roundRect">
            <a:avLst>
              <a:gd name="adj" fmla="val 923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4846320" y="3127248"/>
            <a:ext cx="502920" cy="502920"/>
          </a:xfrm>
          <a:prstGeom prst="ellipse">
            <a:avLst/>
          </a:prstGeom>
          <a:solidFill>
            <a:schemeClr val="accent4"/>
          </a:solidFill>
          <a:ln w="6350">
            <a:solidFill>
              <a:schemeClr val="accent4"/>
            </a:solidFill>
            <a:prstDash val="solid"/>
          </a:ln>
        </p:spPr>
      </p:sp>
      <p:sp>
        <p:nvSpPr>
          <p:cNvPr id="19" name="Text 16"/>
          <p:cNvSpPr txBox="1"/>
          <p:nvPr/>
        </p:nvSpPr>
        <p:spPr>
          <a:xfrm>
            <a:off x="4846320" y="3127248"/>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D</a:t>
            </a:r>
            <a:endParaRPr lang="en-US" sz="1500" dirty="0"/>
          </a:p>
        </p:txBody>
      </p:sp>
      <p:sp>
        <p:nvSpPr>
          <p:cNvPr id="20" name="Text 17"/>
          <p:cNvSpPr txBox="1"/>
          <p:nvPr/>
        </p:nvSpPr>
        <p:spPr>
          <a:xfrm>
            <a:off x="5532120" y="2788920"/>
            <a:ext cx="3017520" cy="1188720"/>
          </a:xfrm>
          <a:prstGeom prst="rect">
            <a:avLst/>
          </a:prstGeom>
          <a:noFill/>
          <a:ln/>
        </p:spPr>
        <p:txBody>
          <a:bodyPr wrap="square" lIns="0" tIns="0" rIns="0" bIns="0" rtlCol="0" anchor="ctr"/>
          <a:lstStyle/>
          <a:p>
            <a:pPr marL="0" indent="0">
              <a:buNone/>
            </a:pPr>
            <a:r>
              <a:rPr lang="en-US" sz="1500" dirty="0">
                <a:solidFill>
                  <a:schemeClr val="tx1"/>
                </a:solidFill>
              </a:rPr>
              <a:t>Scientists build rockets because they want to explore space.</a:t>
            </a:r>
            <a:endParaRPr lang="en-US" sz="1500" dirty="0"/>
          </a:p>
        </p:txBody>
      </p:sp>
      <p:sp>
        <p:nvSpPr>
          <p:cNvPr id="21" name="Callout"/>
          <p:cNvSpPr/>
          <p:nvPr/>
        </p:nvSpPr>
        <p:spPr>
          <a:xfrm>
            <a:off x="457200" y="4160520"/>
            <a:ext cx="8229600" cy="411480"/>
          </a:xfrm>
          <a:prstGeom prst="roundRect">
            <a:avLst>
              <a:gd name="adj" fmla="val 26667"/>
            </a:avLst>
          </a:prstGeom>
          <a:solidFill>
            <a:schemeClr val="accent5"/>
          </a:solidFill>
          <a:ln w="9525">
            <a:solidFill>
              <a:schemeClr val="accent5"/>
            </a:solidFill>
            <a:prstDash val="solid"/>
          </a:ln>
        </p:spPr>
      </p:sp>
      <p:sp>
        <p:nvSpPr>
          <p:cNvPr id="22" name="Text 19"/>
          <p:cNvSpPr txBox="1"/>
          <p:nvPr/>
        </p:nvSpPr>
        <p:spPr>
          <a:xfrm>
            <a:off x="640080" y="4160520"/>
            <a:ext cx="7863840" cy="411480"/>
          </a:xfrm>
          <a:prstGeom prst="rect">
            <a:avLst/>
          </a:prstGeom>
          <a:noFill/>
          <a:ln/>
        </p:spPr>
        <p:txBody>
          <a:bodyPr wrap="square" lIns="0" tIns="0" rIns="0" bIns="0" rtlCol="0" anchor="ctr"/>
          <a:lstStyle/>
          <a:p>
            <a:pPr marL="0" indent="0" algn="ctr">
              <a:buNone/>
            </a:pPr>
            <a:r>
              <a:rPr lang="en-US" sz="1600" b="1" dirty="0">
                <a:solidFill>
                  <a:schemeClr val="tx1"/>
                </a:solidFill>
              </a:rPr>
              <a:t>Think: two clauses + a FANBOYS connective?</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Answer: the compound sentence</a:t>
            </a:r>
            <a:endParaRPr lang="en-US" sz="3000" dirty="0"/>
          </a:p>
        </p:txBody>
      </p:sp>
      <p:sp>
        <p:nvSpPr>
          <p:cNvPr id="4" name="Correct answer"/>
          <p:cNvSpPr/>
          <p:nvPr/>
        </p:nvSpPr>
        <p:spPr>
          <a:xfrm>
            <a:off x="457200" y="1051560"/>
            <a:ext cx="8229600" cy="1280160"/>
          </a:xfrm>
          <a:prstGeom prst="roundRect">
            <a:avLst>
              <a:gd name="adj" fmla="val 857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640080" y="1325880"/>
            <a:ext cx="594360" cy="594360"/>
          </a:xfrm>
          <a:prstGeom prst="ellipse">
            <a:avLst/>
          </a:prstGeom>
          <a:solidFill>
            <a:schemeClr val="accent2"/>
          </a:solidFill>
          <a:ln w="6350">
            <a:solidFill>
              <a:schemeClr val="accent2"/>
            </a:solidFill>
            <a:prstDash val="solid"/>
          </a:ln>
        </p:spPr>
      </p:sp>
      <p:sp>
        <p:nvSpPr>
          <p:cNvPr id="6" name="Text 3"/>
          <p:cNvSpPr txBox="1"/>
          <p:nvPr/>
        </p:nvSpPr>
        <p:spPr>
          <a:xfrm>
            <a:off x="640080" y="1325880"/>
            <a:ext cx="594360" cy="594360"/>
          </a:xfrm>
          <a:prstGeom prst="rect">
            <a:avLst/>
          </a:prstGeom>
          <a:noFill/>
          <a:ln/>
        </p:spPr>
        <p:txBody>
          <a:bodyPr wrap="square" lIns="0" tIns="0" rIns="0" bIns="0" rtlCol="0" anchor="ctr"/>
          <a:lstStyle/>
          <a:p>
            <a:pPr marL="0" indent="0" algn="ctr">
              <a:buNone/>
            </a:pPr>
            <a:r>
              <a:rPr lang="en-US" sz="2600" b="1" dirty="0">
                <a:solidFill>
                  <a:schemeClr val="tx1"/>
                </a:solidFill>
                <a:latin typeface="+mj-lt" pitchFamily="34" charset="0"/>
                <a:ea typeface="+mj-lt" pitchFamily="34" charset="-122"/>
                <a:cs typeface="+mj-lt" pitchFamily="34" charset="-120"/>
              </a:rPr>
              <a:t>B</a:t>
            </a:r>
            <a:endParaRPr lang="en-US" sz="2600" dirty="0"/>
          </a:p>
        </p:txBody>
      </p:sp>
      <p:sp>
        <p:nvSpPr>
          <p:cNvPr id="7" name="Text 4"/>
          <p:cNvSpPr txBox="1"/>
          <p:nvPr/>
        </p:nvSpPr>
        <p:spPr>
          <a:xfrm>
            <a:off x="1463040" y="1097280"/>
            <a:ext cx="7040880" cy="685800"/>
          </a:xfrm>
          <a:prstGeom prst="rect">
            <a:avLst/>
          </a:prstGeom>
          <a:noFill/>
          <a:ln/>
        </p:spPr>
        <p:txBody>
          <a:bodyPr wrap="square" lIns="0" tIns="0" rIns="0" bIns="0" rtlCol="0" anchor="ctr"/>
          <a:lstStyle/>
          <a:p>
            <a:pPr marL="0" indent="0">
              <a:buNone/>
            </a:pPr>
            <a:r>
              <a:rPr lang="en-US" sz="1700" dirty="0">
                <a:solidFill>
                  <a:schemeClr val="tx1"/>
                </a:solidFill>
              </a:rPr>
              <a:t>Early astronomers </a:t>
            </a:r>
            <a:r>
              <a:rPr lang="en-US" sz="1700" b="1" u="sng" dirty="0">
                <a:solidFill>
                  <a:schemeClr val="tx1"/>
                </a:solidFill>
              </a:rPr>
              <a:t>studied</a:t>
            </a:r>
            <a:r>
              <a:rPr lang="en-US" sz="1700" dirty="0">
                <a:solidFill>
                  <a:schemeClr val="tx1"/>
                </a:solidFill>
              </a:rPr>
              <a:t> the skies, </a:t>
            </a:r>
            <a:r>
              <a:rPr lang="en-US" sz="1700" b="1" dirty="0">
                <a:solidFill>
                  <a:schemeClr val="tx1"/>
                </a:solidFill>
                <a:highlight>
                  <a:srgbClr val="FFD166"/>
                </a:highlight>
              </a:rPr>
              <a:t>for</a:t>
            </a:r>
            <a:r>
              <a:rPr lang="en-US" sz="1700" dirty="0">
                <a:solidFill>
                  <a:schemeClr val="tx1"/>
                </a:solidFill>
              </a:rPr>
              <a:t> they </a:t>
            </a:r>
            <a:r>
              <a:rPr lang="en-US" sz="1700" b="1" u="sng" dirty="0">
                <a:solidFill>
                  <a:schemeClr val="tx1"/>
                </a:solidFill>
              </a:rPr>
              <a:t>were</a:t>
            </a:r>
            <a:r>
              <a:rPr lang="en-US" sz="1700" dirty="0">
                <a:solidFill>
                  <a:schemeClr val="tx1"/>
                </a:solidFill>
              </a:rPr>
              <a:t> fascinated by the stars.</a:t>
            </a:r>
            <a:endParaRPr lang="en-US" sz="1700" dirty="0"/>
          </a:p>
        </p:txBody>
      </p:sp>
      <p:sp>
        <p:nvSpPr>
          <p:cNvPr id="8" name="Text 5"/>
          <p:cNvSpPr txBox="1"/>
          <p:nvPr/>
        </p:nvSpPr>
        <p:spPr>
          <a:xfrm>
            <a:off x="1463040" y="1783080"/>
            <a:ext cx="7040880" cy="457200"/>
          </a:xfrm>
          <a:prstGeom prst="rect">
            <a:avLst/>
          </a:prstGeom>
          <a:noFill/>
          <a:ln/>
        </p:spPr>
        <p:txBody>
          <a:bodyPr wrap="square" lIns="0" tIns="0" rIns="0" bIns="0" rtlCol="0" anchor="t"/>
          <a:lstStyle/>
          <a:p>
            <a:pPr marL="0" indent="0">
              <a:buNone/>
            </a:pPr>
            <a:r>
              <a:rPr lang="en-US" sz="1400" i="1" dirty="0">
                <a:solidFill>
                  <a:schemeClr val="accent4"/>
                </a:solidFill>
              </a:rPr>
              <a:t>Two clauses joined by the FANBOYS connective ‘for’: a compound sentence.</a:t>
            </a:r>
            <a:endParaRPr lang="en-US" sz="1400" dirty="0"/>
          </a:p>
        </p:txBody>
      </p:sp>
      <p:sp>
        <p:nvSpPr>
          <p:cNvPr id="9" name="Why not A"/>
          <p:cNvSpPr/>
          <p:nvPr/>
        </p:nvSpPr>
        <p:spPr>
          <a:xfrm>
            <a:off x="457200" y="251460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48640" y="2606040"/>
            <a:ext cx="365760" cy="365760"/>
          </a:xfrm>
          <a:prstGeom prst="ellipse">
            <a:avLst/>
          </a:prstGeom>
          <a:solidFill>
            <a:schemeClr val="bg2"/>
          </a:solidFill>
          <a:ln w="6350">
            <a:solidFill>
              <a:schemeClr val="bg2"/>
            </a:solidFill>
            <a:prstDash val="solid"/>
          </a:ln>
        </p:spPr>
      </p:sp>
      <p:sp>
        <p:nvSpPr>
          <p:cNvPr id="11" name="Text 8"/>
          <p:cNvSpPr txBox="1"/>
          <p:nvPr/>
        </p:nvSpPr>
        <p:spPr>
          <a:xfrm>
            <a:off x="548640" y="260604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12" name="Text 9"/>
          <p:cNvSpPr txBox="1"/>
          <p:nvPr/>
        </p:nvSpPr>
        <p:spPr>
          <a:xfrm>
            <a:off x="1097280" y="2514600"/>
            <a:ext cx="7406640" cy="548640"/>
          </a:xfrm>
          <a:prstGeom prst="rect">
            <a:avLst/>
          </a:prstGeom>
          <a:noFill/>
          <a:ln/>
        </p:spPr>
        <p:txBody>
          <a:bodyPr wrap="square" lIns="0" tIns="0" rIns="0" bIns="0" rtlCol="0" anchor="ctr"/>
          <a:lstStyle/>
          <a:p>
            <a:pPr marL="0" indent="0">
              <a:buNone/>
            </a:pPr>
            <a:r>
              <a:rPr lang="en-US" sz="1300" dirty="0">
                <a:solidFill>
                  <a:schemeClr val="tx1"/>
                </a:solidFill>
              </a:rPr>
              <a:t>one clause only: a simple sentence</a:t>
            </a:r>
            <a:endParaRPr lang="en-US" sz="1300" dirty="0"/>
          </a:p>
        </p:txBody>
      </p:sp>
      <p:sp>
        <p:nvSpPr>
          <p:cNvPr id="13" name="Why not C"/>
          <p:cNvSpPr/>
          <p:nvPr/>
        </p:nvSpPr>
        <p:spPr>
          <a:xfrm>
            <a:off x="457200" y="315468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548640" y="3246120"/>
            <a:ext cx="365760" cy="365760"/>
          </a:xfrm>
          <a:prstGeom prst="ellipse">
            <a:avLst/>
          </a:prstGeom>
          <a:solidFill>
            <a:schemeClr val="bg2"/>
          </a:solidFill>
          <a:ln w="6350">
            <a:solidFill>
              <a:schemeClr val="bg2"/>
            </a:solidFill>
            <a:prstDash val="solid"/>
          </a:ln>
        </p:spPr>
      </p:sp>
      <p:sp>
        <p:nvSpPr>
          <p:cNvPr id="15" name="Text 12"/>
          <p:cNvSpPr txBox="1"/>
          <p:nvPr/>
        </p:nvSpPr>
        <p:spPr>
          <a:xfrm>
            <a:off x="548640" y="32461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6" name="Text 13"/>
          <p:cNvSpPr txBox="1"/>
          <p:nvPr/>
        </p:nvSpPr>
        <p:spPr>
          <a:xfrm>
            <a:off x="1097280" y="3154680"/>
            <a:ext cx="7406640" cy="548640"/>
          </a:xfrm>
          <a:prstGeom prst="rect">
            <a:avLst/>
          </a:prstGeom>
          <a:noFill/>
          <a:ln/>
        </p:spPr>
        <p:txBody>
          <a:bodyPr wrap="square" lIns="0" tIns="0" rIns="0" bIns="0" rtlCol="0" anchor="ctr"/>
          <a:lstStyle/>
          <a:p>
            <a:pPr marL="0" indent="0">
              <a:buNone/>
            </a:pPr>
            <a:r>
              <a:rPr lang="en-US" sz="1300" dirty="0">
                <a:solidFill>
                  <a:schemeClr val="tx1"/>
                </a:solidFill>
              </a:rPr>
              <a:t>one clause only: a simple sentence</a:t>
            </a:r>
            <a:endParaRPr lang="en-US" sz="1300" dirty="0"/>
          </a:p>
        </p:txBody>
      </p:sp>
      <p:sp>
        <p:nvSpPr>
          <p:cNvPr id="17" name="Why not D"/>
          <p:cNvSpPr/>
          <p:nvPr/>
        </p:nvSpPr>
        <p:spPr>
          <a:xfrm>
            <a:off x="457200" y="3794760"/>
            <a:ext cx="8229600" cy="548640"/>
          </a:xfrm>
          <a:prstGeom prst="roundRect">
            <a:avLst>
              <a:gd name="adj" fmla="val 20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548640" y="3886200"/>
            <a:ext cx="365760" cy="365760"/>
          </a:xfrm>
          <a:prstGeom prst="ellipse">
            <a:avLst/>
          </a:prstGeom>
          <a:solidFill>
            <a:schemeClr val="bg2"/>
          </a:solidFill>
          <a:ln w="6350">
            <a:solidFill>
              <a:schemeClr val="bg2"/>
            </a:solidFill>
            <a:prstDash val="solid"/>
          </a:ln>
        </p:spPr>
      </p:sp>
      <p:sp>
        <p:nvSpPr>
          <p:cNvPr id="19" name="Text 16"/>
          <p:cNvSpPr txBox="1"/>
          <p:nvPr/>
        </p:nvSpPr>
        <p:spPr>
          <a:xfrm>
            <a:off x="548640" y="388620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D</a:t>
            </a:r>
            <a:endParaRPr lang="en-US" sz="1500" dirty="0"/>
          </a:p>
        </p:txBody>
      </p:sp>
      <p:sp>
        <p:nvSpPr>
          <p:cNvPr id="20" name="Text 17"/>
          <p:cNvSpPr txBox="1"/>
          <p:nvPr/>
        </p:nvSpPr>
        <p:spPr>
          <a:xfrm>
            <a:off x="1097280" y="3794760"/>
            <a:ext cx="7406640" cy="548640"/>
          </a:xfrm>
          <a:prstGeom prst="rect">
            <a:avLst/>
          </a:prstGeom>
          <a:noFill/>
          <a:ln/>
        </p:spPr>
        <p:txBody>
          <a:bodyPr wrap="square" lIns="0" tIns="0" rIns="0" bIns="0" rtlCol="0" anchor="ctr"/>
          <a:lstStyle/>
          <a:p>
            <a:pPr marL="0" indent="0">
              <a:buNone/>
            </a:pPr>
            <a:r>
              <a:rPr lang="en-US" sz="1300" dirty="0">
                <a:solidFill>
                  <a:schemeClr val="tx1"/>
                </a:solidFill>
              </a:rPr>
              <a:t>‘because’ is not a FANBOYS word, so this is not compound</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Simple or compound?</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Sort each sentence. How do you know?</a:t>
            </a:r>
            <a:endParaRPr lang="en-US" sz="1600" dirty="0"/>
          </a:p>
        </p:txBody>
      </p:sp>
      <p:sp>
        <p:nvSpPr>
          <p:cNvPr id="5" name="Sentence A"/>
          <p:cNvSpPr/>
          <p:nvPr/>
        </p:nvSpPr>
        <p:spPr>
          <a:xfrm>
            <a:off x="457200" y="1463040"/>
            <a:ext cx="4023360" cy="1234440"/>
          </a:xfrm>
          <a:prstGeom prst="roundRect">
            <a:avLst>
              <a:gd name="adj" fmla="val 888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640080" y="1828800"/>
            <a:ext cx="502920" cy="502920"/>
          </a:xfrm>
          <a:prstGeom prst="ellipse">
            <a:avLst/>
          </a:prstGeom>
          <a:solidFill>
            <a:schemeClr val="accent1"/>
          </a:solidFill>
          <a:ln w="6350">
            <a:solidFill>
              <a:schemeClr val="accent1"/>
            </a:solidFill>
            <a:prstDash val="solid"/>
          </a:ln>
        </p:spPr>
      </p:sp>
      <p:sp>
        <p:nvSpPr>
          <p:cNvPr id="7" name="Text 4"/>
          <p:cNvSpPr txBox="1"/>
          <p:nvPr/>
        </p:nvSpPr>
        <p:spPr>
          <a:xfrm>
            <a:off x="640080" y="1828800"/>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8" name="Text 5"/>
          <p:cNvSpPr txBox="1"/>
          <p:nvPr/>
        </p:nvSpPr>
        <p:spPr>
          <a:xfrm>
            <a:off x="1325880" y="1463040"/>
            <a:ext cx="3017520" cy="1234440"/>
          </a:xfrm>
          <a:prstGeom prst="rect">
            <a:avLst/>
          </a:prstGeom>
          <a:noFill/>
          <a:ln/>
        </p:spPr>
        <p:txBody>
          <a:bodyPr wrap="square" lIns="0" tIns="0" rIns="0" bIns="0" rtlCol="0" anchor="ctr"/>
          <a:lstStyle/>
          <a:p>
            <a:pPr marL="0" indent="0">
              <a:buNone/>
            </a:pPr>
            <a:r>
              <a:rPr lang="en-US" sz="1500" dirty="0">
                <a:solidFill>
                  <a:schemeClr val="tx1"/>
                </a:solidFill>
              </a:rPr>
              <a:t>The astronauts entered the spacecraft.</a:t>
            </a:r>
            <a:endParaRPr lang="en-US" sz="1500" dirty="0"/>
          </a:p>
        </p:txBody>
      </p:sp>
      <p:sp>
        <p:nvSpPr>
          <p:cNvPr id="9" name="Sentence B"/>
          <p:cNvSpPr/>
          <p:nvPr/>
        </p:nvSpPr>
        <p:spPr>
          <a:xfrm>
            <a:off x="4663440" y="1463040"/>
            <a:ext cx="4023360" cy="1234440"/>
          </a:xfrm>
          <a:prstGeom prst="roundRect">
            <a:avLst>
              <a:gd name="adj" fmla="val 888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4846320" y="1828800"/>
            <a:ext cx="502920" cy="502920"/>
          </a:xfrm>
          <a:prstGeom prst="ellipse">
            <a:avLst/>
          </a:prstGeom>
          <a:solidFill>
            <a:schemeClr val="accent2"/>
          </a:solidFill>
          <a:ln w="6350">
            <a:solidFill>
              <a:schemeClr val="accent2"/>
            </a:solidFill>
            <a:prstDash val="solid"/>
          </a:ln>
        </p:spPr>
      </p:sp>
      <p:sp>
        <p:nvSpPr>
          <p:cNvPr id="11" name="Text 8"/>
          <p:cNvSpPr txBox="1"/>
          <p:nvPr/>
        </p:nvSpPr>
        <p:spPr>
          <a:xfrm>
            <a:off x="4846320" y="1828800"/>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2" name="Text 9"/>
          <p:cNvSpPr txBox="1"/>
          <p:nvPr/>
        </p:nvSpPr>
        <p:spPr>
          <a:xfrm>
            <a:off x="5532120" y="1463040"/>
            <a:ext cx="3017520" cy="1234440"/>
          </a:xfrm>
          <a:prstGeom prst="rect">
            <a:avLst/>
          </a:prstGeom>
          <a:noFill/>
          <a:ln/>
        </p:spPr>
        <p:txBody>
          <a:bodyPr wrap="square" lIns="0" tIns="0" rIns="0" bIns="0" rtlCol="0" anchor="ctr"/>
          <a:lstStyle/>
          <a:p>
            <a:pPr marL="0" indent="0">
              <a:buNone/>
            </a:pPr>
            <a:r>
              <a:rPr lang="en-US" sz="1500" dirty="0">
                <a:solidFill>
                  <a:schemeClr val="tx1"/>
                </a:solidFill>
              </a:rPr>
              <a:t>The astronauts entered the spacecraft and they blasted into space.</a:t>
            </a:r>
            <a:endParaRPr lang="en-US" sz="1500" dirty="0"/>
          </a:p>
        </p:txBody>
      </p:sp>
      <p:sp>
        <p:nvSpPr>
          <p:cNvPr id="13" name="Sentence C"/>
          <p:cNvSpPr/>
          <p:nvPr/>
        </p:nvSpPr>
        <p:spPr>
          <a:xfrm>
            <a:off x="457200" y="2880360"/>
            <a:ext cx="4023360" cy="1234440"/>
          </a:xfrm>
          <a:prstGeom prst="roundRect">
            <a:avLst>
              <a:gd name="adj" fmla="val 888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640080" y="3246120"/>
            <a:ext cx="502920" cy="502920"/>
          </a:xfrm>
          <a:prstGeom prst="ellipse">
            <a:avLst/>
          </a:prstGeom>
          <a:solidFill>
            <a:schemeClr val="accent3"/>
          </a:solidFill>
          <a:ln w="6350">
            <a:solidFill>
              <a:schemeClr val="accent3"/>
            </a:solidFill>
            <a:prstDash val="solid"/>
          </a:ln>
        </p:spPr>
      </p:sp>
      <p:sp>
        <p:nvSpPr>
          <p:cNvPr id="15" name="Text 12"/>
          <p:cNvSpPr txBox="1"/>
          <p:nvPr/>
        </p:nvSpPr>
        <p:spPr>
          <a:xfrm>
            <a:off x="640080" y="3246120"/>
            <a:ext cx="502920" cy="50292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6" name="Text 13"/>
          <p:cNvSpPr txBox="1"/>
          <p:nvPr/>
        </p:nvSpPr>
        <p:spPr>
          <a:xfrm>
            <a:off x="1325880" y="2880360"/>
            <a:ext cx="3017520" cy="1234440"/>
          </a:xfrm>
          <a:prstGeom prst="rect">
            <a:avLst/>
          </a:prstGeom>
          <a:noFill/>
          <a:ln/>
        </p:spPr>
        <p:txBody>
          <a:bodyPr wrap="square" lIns="0" tIns="0" rIns="0" bIns="0" rtlCol="0" anchor="ctr"/>
          <a:lstStyle/>
          <a:p>
            <a:pPr marL="0" indent="0">
              <a:buNone/>
            </a:pPr>
            <a:r>
              <a:rPr lang="en-US" sz="1500" dirty="0">
                <a:solidFill>
                  <a:schemeClr val="tx1"/>
                </a:solidFill>
              </a:rPr>
              <a:t>Sputnik I orbited the Earth.</a:t>
            </a:r>
            <a:endParaRPr lang="en-US" sz="1500" dirty="0"/>
          </a:p>
        </p:txBody>
      </p:sp>
      <p:sp>
        <p:nvSpPr>
          <p:cNvPr id="17" name="Sentence D"/>
          <p:cNvSpPr/>
          <p:nvPr/>
        </p:nvSpPr>
        <p:spPr>
          <a:xfrm>
            <a:off x="4663440" y="2880360"/>
            <a:ext cx="4023360" cy="1234440"/>
          </a:xfrm>
          <a:prstGeom prst="roundRect">
            <a:avLst>
              <a:gd name="adj" fmla="val 888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4846320" y="3246120"/>
            <a:ext cx="502920" cy="502920"/>
          </a:xfrm>
          <a:prstGeom prst="ellipse">
            <a:avLst/>
          </a:prstGeom>
          <a:solidFill>
            <a:schemeClr val="accent4"/>
          </a:solidFill>
          <a:ln w="6350">
            <a:solidFill>
              <a:schemeClr val="accent4"/>
            </a:solidFill>
            <a:prstDash val="solid"/>
          </a:ln>
        </p:spPr>
      </p:sp>
      <p:sp>
        <p:nvSpPr>
          <p:cNvPr id="19" name="Text 16"/>
          <p:cNvSpPr txBox="1"/>
          <p:nvPr/>
        </p:nvSpPr>
        <p:spPr>
          <a:xfrm>
            <a:off x="4846320" y="324612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D</a:t>
            </a:r>
            <a:endParaRPr lang="en-US" sz="1500" dirty="0"/>
          </a:p>
        </p:txBody>
      </p:sp>
      <p:sp>
        <p:nvSpPr>
          <p:cNvPr id="20" name="Text 17"/>
          <p:cNvSpPr txBox="1"/>
          <p:nvPr/>
        </p:nvSpPr>
        <p:spPr>
          <a:xfrm>
            <a:off x="5532120" y="2880360"/>
            <a:ext cx="3017520" cy="1234440"/>
          </a:xfrm>
          <a:prstGeom prst="rect">
            <a:avLst/>
          </a:prstGeom>
          <a:noFill/>
          <a:ln/>
        </p:spPr>
        <p:txBody>
          <a:bodyPr wrap="square" lIns="0" tIns="0" rIns="0" bIns="0" rtlCol="0" anchor="ctr"/>
          <a:lstStyle/>
          <a:p>
            <a:pPr marL="0" indent="0">
              <a:buNone/>
            </a:pPr>
            <a:r>
              <a:rPr lang="en-US" sz="1500" dirty="0">
                <a:solidFill>
                  <a:schemeClr val="tx1"/>
                </a:solidFill>
              </a:rPr>
              <a:t>Gagarin orbited the Earth, but he did not land on the Moon.</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Answers: simple or compound?</a:t>
            </a:r>
            <a:endParaRPr lang="en-US" sz="3000" dirty="0"/>
          </a:p>
        </p:txBody>
      </p:sp>
      <p:sp>
        <p:nvSpPr>
          <p:cNvPr id="4" name="Answer A"/>
          <p:cNvSpPr/>
          <p:nvPr/>
        </p:nvSpPr>
        <p:spPr>
          <a:xfrm>
            <a:off x="457200" y="1097280"/>
            <a:ext cx="8229600" cy="713232"/>
          </a:xfrm>
          <a:prstGeom prst="roundRect">
            <a:avLst>
              <a:gd name="adj" fmla="val 1538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225296"/>
            <a:ext cx="457200" cy="457200"/>
          </a:xfrm>
          <a:prstGeom prst="ellipse">
            <a:avLst/>
          </a:prstGeom>
          <a:solidFill>
            <a:schemeClr val="accent1"/>
          </a:solidFill>
          <a:ln w="6350">
            <a:solidFill>
              <a:schemeClr val="accent1"/>
            </a:solidFill>
            <a:prstDash val="solid"/>
          </a:ln>
        </p:spPr>
      </p:sp>
      <p:sp>
        <p:nvSpPr>
          <p:cNvPr id="6" name="Text 3"/>
          <p:cNvSpPr txBox="1"/>
          <p:nvPr/>
        </p:nvSpPr>
        <p:spPr>
          <a:xfrm>
            <a:off x="594360" y="1225296"/>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A</a:t>
            </a:r>
            <a:endParaRPr lang="en-US" sz="1500" dirty="0"/>
          </a:p>
        </p:txBody>
      </p:sp>
      <p:sp>
        <p:nvSpPr>
          <p:cNvPr id="7" name="Text 4"/>
          <p:cNvSpPr txBox="1"/>
          <p:nvPr/>
        </p:nvSpPr>
        <p:spPr>
          <a:xfrm>
            <a:off x="1234440" y="1097280"/>
            <a:ext cx="1645920" cy="713232"/>
          </a:xfrm>
          <a:prstGeom prst="rect">
            <a:avLst/>
          </a:prstGeom>
          <a:noFill/>
          <a:ln/>
        </p:spPr>
        <p:txBody>
          <a:bodyPr wrap="square" lIns="0" tIns="0" rIns="0" bIns="0" rtlCol="0" anchor="ctr"/>
          <a:lstStyle/>
          <a:p>
            <a:pPr marL="0" indent="0">
              <a:buNone/>
            </a:pPr>
            <a:r>
              <a:rPr lang="en-US" sz="1800" b="1" dirty="0">
                <a:solidFill>
                  <a:schemeClr val="accent4"/>
                </a:solidFill>
                <a:latin typeface="+mj-lt" pitchFamily="34" charset="0"/>
                <a:ea typeface="+mj-lt" pitchFamily="34" charset="-122"/>
                <a:cs typeface="+mj-lt" pitchFamily="34" charset="-120"/>
              </a:rPr>
              <a:t>SIMPLE</a:t>
            </a:r>
            <a:endParaRPr lang="en-US" sz="1800" dirty="0"/>
          </a:p>
        </p:txBody>
      </p:sp>
      <p:sp>
        <p:nvSpPr>
          <p:cNvPr id="8" name="Text 5"/>
          <p:cNvSpPr txBox="1"/>
          <p:nvPr/>
        </p:nvSpPr>
        <p:spPr>
          <a:xfrm>
            <a:off x="2926080" y="1097280"/>
            <a:ext cx="5577840" cy="713232"/>
          </a:xfrm>
          <a:prstGeom prst="rect">
            <a:avLst/>
          </a:prstGeom>
          <a:noFill/>
          <a:ln/>
        </p:spPr>
        <p:txBody>
          <a:bodyPr wrap="square" lIns="0" tIns="0" rIns="0" bIns="0" rtlCol="0" anchor="ctr"/>
          <a:lstStyle/>
          <a:p>
            <a:pPr marL="0" indent="0">
              <a:buNone/>
            </a:pPr>
            <a:r>
              <a:rPr lang="en-US" sz="1500" dirty="0">
                <a:solidFill>
                  <a:schemeClr val="tx1"/>
                </a:solidFill>
              </a:rPr>
              <a:t>One clause: subject ‘the astronauts’ + verb ‘entered’.</a:t>
            </a:r>
            <a:endParaRPr lang="en-US" sz="1500" dirty="0"/>
          </a:p>
        </p:txBody>
      </p:sp>
      <p:sp>
        <p:nvSpPr>
          <p:cNvPr id="9" name="Answer B"/>
          <p:cNvSpPr/>
          <p:nvPr/>
        </p:nvSpPr>
        <p:spPr>
          <a:xfrm>
            <a:off x="457200" y="1920240"/>
            <a:ext cx="8229600" cy="713232"/>
          </a:xfrm>
          <a:prstGeom prst="roundRect">
            <a:avLst>
              <a:gd name="adj" fmla="val 1538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94360" y="2048256"/>
            <a:ext cx="457200" cy="457200"/>
          </a:xfrm>
          <a:prstGeom prst="ellipse">
            <a:avLst/>
          </a:prstGeom>
          <a:solidFill>
            <a:schemeClr val="accent2"/>
          </a:solidFill>
          <a:ln w="6350">
            <a:solidFill>
              <a:schemeClr val="accent2"/>
            </a:solidFill>
            <a:prstDash val="solid"/>
          </a:ln>
        </p:spPr>
      </p:sp>
      <p:sp>
        <p:nvSpPr>
          <p:cNvPr id="11" name="Text 8"/>
          <p:cNvSpPr txBox="1"/>
          <p:nvPr/>
        </p:nvSpPr>
        <p:spPr>
          <a:xfrm>
            <a:off x="594360" y="2048256"/>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B</a:t>
            </a:r>
            <a:endParaRPr lang="en-US" sz="1500" dirty="0"/>
          </a:p>
        </p:txBody>
      </p:sp>
      <p:sp>
        <p:nvSpPr>
          <p:cNvPr id="12" name="Text 9"/>
          <p:cNvSpPr txBox="1"/>
          <p:nvPr/>
        </p:nvSpPr>
        <p:spPr>
          <a:xfrm>
            <a:off x="1234440" y="1920240"/>
            <a:ext cx="1645920" cy="713232"/>
          </a:xfrm>
          <a:prstGeom prst="rect">
            <a:avLst/>
          </a:prstGeom>
          <a:noFill/>
          <a:ln/>
        </p:spPr>
        <p:txBody>
          <a:bodyPr wrap="square" lIns="0" tIns="0" rIns="0" bIns="0" rtlCol="0" anchor="ctr"/>
          <a:lstStyle/>
          <a:p>
            <a:pPr marL="0" indent="0">
              <a:buNone/>
            </a:pPr>
            <a:r>
              <a:rPr lang="en-US" sz="1800" b="1" dirty="0">
                <a:solidFill>
                  <a:schemeClr val="accent1"/>
                </a:solidFill>
                <a:latin typeface="+mj-lt" pitchFamily="34" charset="0"/>
                <a:ea typeface="+mj-lt" pitchFamily="34" charset="-122"/>
                <a:cs typeface="+mj-lt" pitchFamily="34" charset="-120"/>
              </a:rPr>
              <a:t>COMPOUND</a:t>
            </a:r>
            <a:endParaRPr lang="en-US" sz="1800" dirty="0"/>
          </a:p>
        </p:txBody>
      </p:sp>
      <p:sp>
        <p:nvSpPr>
          <p:cNvPr id="13" name="Text 10"/>
          <p:cNvSpPr txBox="1"/>
          <p:nvPr/>
        </p:nvSpPr>
        <p:spPr>
          <a:xfrm>
            <a:off x="2926080" y="1920240"/>
            <a:ext cx="5577840" cy="713232"/>
          </a:xfrm>
          <a:prstGeom prst="rect">
            <a:avLst/>
          </a:prstGeom>
          <a:noFill/>
          <a:ln/>
        </p:spPr>
        <p:txBody>
          <a:bodyPr wrap="square" lIns="0" tIns="0" rIns="0" bIns="0" rtlCol="0" anchor="ctr"/>
          <a:lstStyle/>
          <a:p>
            <a:pPr marL="0" indent="0">
              <a:buNone/>
            </a:pPr>
            <a:r>
              <a:rPr lang="en-US" sz="1500" dirty="0">
                <a:solidFill>
                  <a:schemeClr val="tx1"/>
                </a:solidFill>
              </a:rPr>
              <a:t>Two clauses joined by ‘and’.</a:t>
            </a:r>
            <a:endParaRPr lang="en-US" sz="1500" dirty="0"/>
          </a:p>
        </p:txBody>
      </p:sp>
      <p:sp>
        <p:nvSpPr>
          <p:cNvPr id="14" name="Answer C"/>
          <p:cNvSpPr/>
          <p:nvPr/>
        </p:nvSpPr>
        <p:spPr>
          <a:xfrm>
            <a:off x="457200" y="2743200"/>
            <a:ext cx="8229600" cy="713232"/>
          </a:xfrm>
          <a:prstGeom prst="roundRect">
            <a:avLst>
              <a:gd name="adj" fmla="val 1538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594360" y="2871216"/>
            <a:ext cx="457200" cy="457200"/>
          </a:xfrm>
          <a:prstGeom prst="ellipse">
            <a:avLst/>
          </a:prstGeom>
          <a:solidFill>
            <a:schemeClr val="accent3"/>
          </a:solidFill>
          <a:ln w="6350">
            <a:solidFill>
              <a:schemeClr val="accent3"/>
            </a:solidFill>
            <a:prstDash val="solid"/>
          </a:ln>
        </p:spPr>
      </p:sp>
      <p:sp>
        <p:nvSpPr>
          <p:cNvPr id="16" name="Text 13"/>
          <p:cNvSpPr txBox="1"/>
          <p:nvPr/>
        </p:nvSpPr>
        <p:spPr>
          <a:xfrm>
            <a:off x="594360" y="2871216"/>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C</a:t>
            </a:r>
            <a:endParaRPr lang="en-US" sz="1500" dirty="0"/>
          </a:p>
        </p:txBody>
      </p:sp>
      <p:sp>
        <p:nvSpPr>
          <p:cNvPr id="17" name="Text 14"/>
          <p:cNvSpPr txBox="1"/>
          <p:nvPr/>
        </p:nvSpPr>
        <p:spPr>
          <a:xfrm>
            <a:off x="1234440" y="2743200"/>
            <a:ext cx="1645920" cy="713232"/>
          </a:xfrm>
          <a:prstGeom prst="rect">
            <a:avLst/>
          </a:prstGeom>
          <a:noFill/>
          <a:ln/>
        </p:spPr>
        <p:txBody>
          <a:bodyPr wrap="square" lIns="0" tIns="0" rIns="0" bIns="0" rtlCol="0" anchor="ctr"/>
          <a:lstStyle/>
          <a:p>
            <a:pPr marL="0" indent="0">
              <a:buNone/>
            </a:pPr>
            <a:r>
              <a:rPr lang="en-US" sz="1800" b="1" dirty="0">
                <a:solidFill>
                  <a:schemeClr val="accent4"/>
                </a:solidFill>
                <a:latin typeface="+mj-lt" pitchFamily="34" charset="0"/>
                <a:ea typeface="+mj-lt" pitchFamily="34" charset="-122"/>
                <a:cs typeface="+mj-lt" pitchFamily="34" charset="-120"/>
              </a:rPr>
              <a:t>SIMPLE</a:t>
            </a:r>
            <a:endParaRPr lang="en-US" sz="1800" dirty="0"/>
          </a:p>
        </p:txBody>
      </p:sp>
      <p:sp>
        <p:nvSpPr>
          <p:cNvPr id="18" name="Text 15"/>
          <p:cNvSpPr txBox="1"/>
          <p:nvPr/>
        </p:nvSpPr>
        <p:spPr>
          <a:xfrm>
            <a:off x="2926080" y="2743200"/>
            <a:ext cx="5577840" cy="713232"/>
          </a:xfrm>
          <a:prstGeom prst="rect">
            <a:avLst/>
          </a:prstGeom>
          <a:noFill/>
          <a:ln/>
        </p:spPr>
        <p:txBody>
          <a:bodyPr wrap="square" lIns="0" tIns="0" rIns="0" bIns="0" rtlCol="0" anchor="ctr"/>
          <a:lstStyle/>
          <a:p>
            <a:pPr marL="0" indent="0">
              <a:buNone/>
            </a:pPr>
            <a:r>
              <a:rPr lang="en-US" sz="1500" dirty="0">
                <a:solidFill>
                  <a:schemeClr val="tx1"/>
                </a:solidFill>
              </a:rPr>
              <a:t>One clause: subject ‘Sputnik I’ + verb ‘orbited’.</a:t>
            </a:r>
            <a:endParaRPr lang="en-US" sz="1500" dirty="0"/>
          </a:p>
        </p:txBody>
      </p:sp>
      <p:sp>
        <p:nvSpPr>
          <p:cNvPr id="19" name="Answer D"/>
          <p:cNvSpPr/>
          <p:nvPr/>
        </p:nvSpPr>
        <p:spPr>
          <a:xfrm>
            <a:off x="457200" y="3566160"/>
            <a:ext cx="8229600" cy="713232"/>
          </a:xfrm>
          <a:prstGeom prst="roundRect">
            <a:avLst>
              <a:gd name="adj" fmla="val 15385"/>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0" name="Badge"/>
          <p:cNvSpPr/>
          <p:nvPr/>
        </p:nvSpPr>
        <p:spPr>
          <a:xfrm>
            <a:off x="594360" y="3694176"/>
            <a:ext cx="457200" cy="457200"/>
          </a:xfrm>
          <a:prstGeom prst="ellipse">
            <a:avLst/>
          </a:prstGeom>
          <a:solidFill>
            <a:schemeClr val="accent4"/>
          </a:solidFill>
          <a:ln w="6350">
            <a:solidFill>
              <a:schemeClr val="accent4"/>
            </a:solidFill>
            <a:prstDash val="solid"/>
          </a:ln>
        </p:spPr>
      </p:sp>
      <p:sp>
        <p:nvSpPr>
          <p:cNvPr id="21" name="Text 18"/>
          <p:cNvSpPr txBox="1"/>
          <p:nvPr/>
        </p:nvSpPr>
        <p:spPr>
          <a:xfrm>
            <a:off x="594360" y="3694176"/>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D</a:t>
            </a:r>
            <a:endParaRPr lang="en-US" sz="1500" dirty="0"/>
          </a:p>
        </p:txBody>
      </p:sp>
      <p:sp>
        <p:nvSpPr>
          <p:cNvPr id="22" name="Text 19"/>
          <p:cNvSpPr txBox="1"/>
          <p:nvPr/>
        </p:nvSpPr>
        <p:spPr>
          <a:xfrm>
            <a:off x="1234440" y="3566160"/>
            <a:ext cx="1645920" cy="713232"/>
          </a:xfrm>
          <a:prstGeom prst="rect">
            <a:avLst/>
          </a:prstGeom>
          <a:noFill/>
          <a:ln/>
        </p:spPr>
        <p:txBody>
          <a:bodyPr wrap="square" lIns="0" tIns="0" rIns="0" bIns="0" rtlCol="0" anchor="ctr"/>
          <a:lstStyle/>
          <a:p>
            <a:pPr marL="0" indent="0">
              <a:buNone/>
            </a:pPr>
            <a:r>
              <a:rPr lang="en-US" sz="1800" b="1" dirty="0">
                <a:solidFill>
                  <a:schemeClr val="accent1"/>
                </a:solidFill>
                <a:latin typeface="+mj-lt" pitchFamily="34" charset="0"/>
                <a:ea typeface="+mj-lt" pitchFamily="34" charset="-122"/>
                <a:cs typeface="+mj-lt" pitchFamily="34" charset="-120"/>
              </a:rPr>
              <a:t>COMPOUND</a:t>
            </a:r>
            <a:endParaRPr lang="en-US" sz="1800" dirty="0"/>
          </a:p>
        </p:txBody>
      </p:sp>
      <p:sp>
        <p:nvSpPr>
          <p:cNvPr id="23" name="Text 20"/>
          <p:cNvSpPr txBox="1"/>
          <p:nvPr/>
        </p:nvSpPr>
        <p:spPr>
          <a:xfrm>
            <a:off x="2926080" y="3566160"/>
            <a:ext cx="5577840" cy="713232"/>
          </a:xfrm>
          <a:prstGeom prst="rect">
            <a:avLst/>
          </a:prstGeom>
          <a:noFill/>
          <a:ln/>
        </p:spPr>
        <p:txBody>
          <a:bodyPr wrap="square" lIns="0" tIns="0" rIns="0" bIns="0" rtlCol="0" anchor="ctr"/>
          <a:lstStyle/>
          <a:p>
            <a:pPr marL="0" indent="0">
              <a:buNone/>
            </a:pPr>
            <a:r>
              <a:rPr lang="en-US" sz="1500" dirty="0">
                <a:solidFill>
                  <a:schemeClr val="tx1"/>
                </a:solidFill>
              </a:rPr>
              <a:t>Two clauses joined by ‘but’ (a contrast).</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2a: simple or compound in the text?</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Look at ‘A brief history of space’ in session 2.1.</a:t>
            </a:r>
            <a:endParaRPr lang="en-US" sz="1600" dirty="0"/>
          </a:p>
        </p:txBody>
      </p:sp>
      <p:sp>
        <p:nvSpPr>
          <p:cNvPr id="5" name="Row 1"/>
          <p:cNvSpPr/>
          <p:nvPr/>
        </p:nvSpPr>
        <p:spPr>
          <a:xfrm>
            <a:off x="457200" y="1508760"/>
            <a:ext cx="8229600" cy="731520"/>
          </a:xfrm>
          <a:prstGeom prst="roundRect">
            <a:avLst>
              <a:gd name="adj" fmla="val 15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594360" y="1691640"/>
            <a:ext cx="365760" cy="365760"/>
          </a:xfrm>
          <a:prstGeom prst="ellipse">
            <a:avLst/>
          </a:prstGeom>
          <a:solidFill>
            <a:schemeClr val="accent1"/>
          </a:solidFill>
          <a:ln w="6350">
            <a:solidFill>
              <a:schemeClr val="accent1"/>
            </a:solidFill>
            <a:prstDash val="solid"/>
          </a:ln>
        </p:spPr>
      </p:sp>
      <p:sp>
        <p:nvSpPr>
          <p:cNvPr id="7" name="Text 4"/>
          <p:cNvSpPr txBox="1"/>
          <p:nvPr/>
        </p:nvSpPr>
        <p:spPr>
          <a:xfrm>
            <a:off x="594360" y="169164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8" name="Text 5"/>
          <p:cNvSpPr txBox="1"/>
          <p:nvPr/>
        </p:nvSpPr>
        <p:spPr>
          <a:xfrm>
            <a:off x="1143000" y="1508760"/>
            <a:ext cx="7315200" cy="731520"/>
          </a:xfrm>
          <a:prstGeom prst="rect">
            <a:avLst/>
          </a:prstGeom>
          <a:noFill/>
          <a:ln/>
        </p:spPr>
        <p:txBody>
          <a:bodyPr wrap="square" lIns="0" tIns="0" rIns="0" bIns="0" rtlCol="0" anchor="ctr"/>
          <a:lstStyle/>
          <a:p>
            <a:pPr marL="0" indent="0">
              <a:buNone/>
            </a:pPr>
            <a:r>
              <a:rPr lang="en-US" sz="1700" dirty="0">
                <a:solidFill>
                  <a:schemeClr val="tx1"/>
                </a:solidFill>
              </a:rPr>
              <a:t>Find one simple sentence and one compound sentence.</a:t>
            </a:r>
            <a:endParaRPr lang="en-US" sz="1700" dirty="0"/>
          </a:p>
        </p:txBody>
      </p:sp>
      <p:sp>
        <p:nvSpPr>
          <p:cNvPr id="9" name="Row 2"/>
          <p:cNvSpPr/>
          <p:nvPr/>
        </p:nvSpPr>
        <p:spPr>
          <a:xfrm>
            <a:off x="457200" y="2377440"/>
            <a:ext cx="8229600" cy="731520"/>
          </a:xfrm>
          <a:prstGeom prst="roundRect">
            <a:avLst>
              <a:gd name="adj" fmla="val 15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94360" y="2560320"/>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56032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2377440"/>
            <a:ext cx="7315200" cy="731520"/>
          </a:xfrm>
          <a:prstGeom prst="rect">
            <a:avLst/>
          </a:prstGeom>
          <a:noFill/>
          <a:ln/>
        </p:spPr>
        <p:txBody>
          <a:bodyPr wrap="square" lIns="0" tIns="0" rIns="0" bIns="0" rtlCol="0" anchor="ctr"/>
          <a:lstStyle/>
          <a:p>
            <a:pPr marL="0" indent="0">
              <a:buNone/>
            </a:pPr>
            <a:r>
              <a:rPr lang="en-US" sz="1700" dirty="0">
                <a:solidFill>
                  <a:schemeClr val="tx1"/>
                </a:solidFill>
              </a:rPr>
              <a:t>Which type of sentence is used more? Why?</a:t>
            </a:r>
            <a:endParaRPr lang="en-US" sz="1700" dirty="0"/>
          </a:p>
        </p:txBody>
      </p:sp>
      <p:sp>
        <p:nvSpPr>
          <p:cNvPr id="13" name="Row 3"/>
          <p:cNvSpPr/>
          <p:nvPr/>
        </p:nvSpPr>
        <p:spPr>
          <a:xfrm>
            <a:off x="457200" y="3246120"/>
            <a:ext cx="8229600" cy="731520"/>
          </a:xfrm>
          <a:prstGeom prst="roundRect">
            <a:avLst>
              <a:gd name="adj" fmla="val 15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594360" y="3429000"/>
            <a:ext cx="365760" cy="365760"/>
          </a:xfrm>
          <a:prstGeom prst="ellipse">
            <a:avLst/>
          </a:prstGeom>
          <a:solidFill>
            <a:schemeClr val="accent3"/>
          </a:solidFill>
          <a:ln w="6350">
            <a:solidFill>
              <a:schemeClr val="accent3"/>
            </a:solidFill>
            <a:prstDash val="solid"/>
          </a:ln>
        </p:spPr>
      </p:sp>
      <p:sp>
        <p:nvSpPr>
          <p:cNvPr id="15" name="Text 12"/>
          <p:cNvSpPr txBox="1"/>
          <p:nvPr/>
        </p:nvSpPr>
        <p:spPr>
          <a:xfrm>
            <a:off x="594360" y="342900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6" name="Text 13"/>
          <p:cNvSpPr txBox="1"/>
          <p:nvPr/>
        </p:nvSpPr>
        <p:spPr>
          <a:xfrm>
            <a:off x="1143000" y="3246120"/>
            <a:ext cx="7315200" cy="731520"/>
          </a:xfrm>
          <a:prstGeom prst="rect">
            <a:avLst/>
          </a:prstGeom>
          <a:noFill/>
          <a:ln/>
        </p:spPr>
        <p:txBody>
          <a:bodyPr wrap="square" lIns="0" tIns="0" rIns="0" bIns="0" rtlCol="0" anchor="ctr"/>
          <a:lstStyle/>
          <a:p>
            <a:pPr marL="0" indent="0">
              <a:buNone/>
            </a:pPr>
            <a:r>
              <a:rPr lang="en-US" sz="1700" dirty="0">
                <a:solidFill>
                  <a:schemeClr val="tx1"/>
                </a:solidFill>
              </a:rPr>
              <a:t>Give an example of each type.</a:t>
            </a:r>
            <a:endParaRPr lang="en-US" sz="1700" dirty="0"/>
          </a:p>
        </p:txBody>
      </p:sp>
      <p:sp>
        <p:nvSpPr>
          <p:cNvPr id="17" name="Callout"/>
          <p:cNvSpPr/>
          <p:nvPr/>
        </p:nvSpPr>
        <p:spPr>
          <a:xfrm>
            <a:off x="457200" y="4069080"/>
            <a:ext cx="8229600" cy="457200"/>
          </a:xfrm>
          <a:prstGeom prst="roundRect">
            <a:avLst>
              <a:gd name="adj" fmla="val 24000"/>
            </a:avLst>
          </a:prstGeom>
          <a:solidFill>
            <a:schemeClr val="accent5"/>
          </a:solidFill>
          <a:ln w="9525">
            <a:solidFill>
              <a:schemeClr val="accent5"/>
            </a:solidFill>
            <a:prstDash val="solid"/>
          </a:ln>
        </p:spPr>
      </p:sp>
      <p:sp>
        <p:nvSpPr>
          <p:cNvPr id="18" name="Text 15"/>
          <p:cNvSpPr txBox="1"/>
          <p:nvPr/>
        </p:nvSpPr>
        <p:spPr>
          <a:xfrm>
            <a:off x="640080" y="4069080"/>
            <a:ext cx="7863840" cy="457200"/>
          </a:xfrm>
          <a:prstGeom prst="rect">
            <a:avLst/>
          </a:prstGeom>
          <a:noFill/>
          <a:ln/>
        </p:spPr>
        <p:txBody>
          <a:bodyPr wrap="square" lIns="0" tIns="0" rIns="0" bIns="0" rtlCol="0" anchor="ctr"/>
          <a:lstStyle/>
          <a:p>
            <a:pPr marL="0" indent="0" algn="ctr">
              <a:buNone/>
            </a:pPr>
            <a:r>
              <a:rPr lang="en-US" sz="1600" b="1" dirty="0">
                <a:solidFill>
                  <a:schemeClr val="tx1"/>
                </a:solidFill>
              </a:rPr>
              <a:t>Tip: look for a connective (for, and, nor, but, or, yet, so)</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2a: model answers</a:t>
            </a:r>
            <a:endParaRPr lang="en-US" sz="3000" dirty="0"/>
          </a:p>
        </p:txBody>
      </p:sp>
      <p:sp>
        <p:nvSpPr>
          <p:cNvPr id="4" name="Which is used more"/>
          <p:cNvSpPr/>
          <p:nvPr/>
        </p:nvSpPr>
        <p:spPr>
          <a:xfrm>
            <a:off x="457200" y="1051560"/>
            <a:ext cx="8229600" cy="1005840"/>
          </a:xfrm>
          <a:prstGeom prst="roundRect">
            <a:avLst>
              <a:gd name="adj" fmla="val 10909"/>
            </a:avLst>
          </a:prstGeom>
          <a:solidFill>
            <a:schemeClr val="accent4"/>
          </a:solidFill>
          <a:ln w="9525">
            <a:solidFill>
              <a:schemeClr val="accent4"/>
            </a:solidFill>
            <a:prstDash val="solid"/>
          </a:ln>
        </p:spPr>
      </p:sp>
      <p:sp>
        <p:nvSpPr>
          <p:cNvPr id="5" name="Text 2"/>
          <p:cNvSpPr txBox="1"/>
          <p:nvPr/>
        </p:nvSpPr>
        <p:spPr>
          <a:xfrm>
            <a:off x="685800" y="1051560"/>
            <a:ext cx="7772400" cy="1005840"/>
          </a:xfrm>
          <a:prstGeom prst="rect">
            <a:avLst/>
          </a:prstGeom>
          <a:noFill/>
          <a:ln/>
        </p:spPr>
        <p:txBody>
          <a:bodyPr wrap="square" lIns="0" tIns="0" rIns="0" bIns="0" rtlCol="0" anchor="ctr"/>
          <a:lstStyle/>
          <a:p>
            <a:pPr marL="0" indent="0">
              <a:buNone/>
            </a:pPr>
            <a:r>
              <a:rPr lang="en-US" sz="1600" b="1" dirty="0">
                <a:solidFill>
                  <a:schemeClr val="accent5"/>
                </a:solidFill>
              </a:rPr>
              <a:t>Simple sentences are used more. </a:t>
            </a:r>
            <a:r>
              <a:rPr lang="en-US" sz="1600" dirty="0">
                <a:solidFill>
                  <a:schemeClr val="bg1"/>
                </a:solidFill>
              </a:rPr>
              <a:t>The text is a timeline of facts: each event is one idea, so short, clear sentences work best.</a:t>
            </a:r>
            <a:endParaRPr lang="en-US" sz="1600" dirty="0"/>
          </a:p>
        </p:txBody>
      </p:sp>
      <p:sp>
        <p:nvSpPr>
          <p:cNvPr id="6" name="Simple example"/>
          <p:cNvSpPr/>
          <p:nvPr/>
        </p:nvSpPr>
        <p:spPr>
          <a:xfrm>
            <a:off x="457200" y="2240280"/>
            <a:ext cx="4023360" cy="2148840"/>
          </a:xfrm>
          <a:prstGeom prst="roundRect">
            <a:avLst>
              <a:gd name="adj" fmla="val 510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7" name="Text 4"/>
          <p:cNvSpPr txBox="1"/>
          <p:nvPr/>
        </p:nvSpPr>
        <p:spPr>
          <a:xfrm>
            <a:off x="640080" y="2331720"/>
            <a:ext cx="1828800" cy="274320"/>
          </a:xfrm>
          <a:prstGeom prst="rect">
            <a:avLst/>
          </a:prstGeom>
          <a:noFill/>
          <a:ln/>
        </p:spPr>
        <p:txBody>
          <a:bodyPr wrap="square" lIns="0" tIns="0" rIns="0" bIns="0" rtlCol="0" anchor="ctr"/>
          <a:lstStyle/>
          <a:p>
            <a:pPr marL="0" indent="0">
              <a:buNone/>
            </a:pPr>
            <a:r>
              <a:rPr lang="en-US" sz="1300" b="1" dirty="0">
                <a:solidFill>
                  <a:schemeClr val="accent4"/>
                </a:solidFill>
              </a:rPr>
              <a:t>SIMPLE</a:t>
            </a:r>
            <a:endParaRPr lang="en-US" sz="1300" dirty="0"/>
          </a:p>
        </p:txBody>
      </p:sp>
      <p:sp>
        <p:nvSpPr>
          <p:cNvPr id="8" name="Text 5"/>
          <p:cNvSpPr txBox="1"/>
          <p:nvPr/>
        </p:nvSpPr>
        <p:spPr>
          <a:xfrm>
            <a:off x="640080" y="2651760"/>
            <a:ext cx="3657600" cy="914400"/>
          </a:xfrm>
          <a:prstGeom prst="rect">
            <a:avLst/>
          </a:prstGeom>
          <a:noFill/>
          <a:ln/>
        </p:spPr>
        <p:txBody>
          <a:bodyPr wrap="square" lIns="0" tIns="0" rIns="0" bIns="0" rtlCol="0" anchor="t"/>
          <a:lstStyle/>
          <a:p>
            <a:pPr marL="0" indent="0">
              <a:buNone/>
            </a:pPr>
            <a:r>
              <a:rPr lang="en-US" sz="1400" dirty="0">
                <a:solidFill>
                  <a:schemeClr val="tx1"/>
                </a:solidFill>
              </a:rPr>
              <a:t>In 1957, the USSR launched the first artificial satellite, Sputnik I, into space.</a:t>
            </a:r>
            <a:endParaRPr lang="en-US" sz="1400" dirty="0"/>
          </a:p>
        </p:txBody>
      </p:sp>
      <p:sp>
        <p:nvSpPr>
          <p:cNvPr id="9" name="Text 6"/>
          <p:cNvSpPr txBox="1"/>
          <p:nvPr/>
        </p:nvSpPr>
        <p:spPr>
          <a:xfrm>
            <a:off x="640080" y="3611880"/>
            <a:ext cx="3657600" cy="640080"/>
          </a:xfrm>
          <a:prstGeom prst="rect">
            <a:avLst/>
          </a:prstGeom>
          <a:noFill/>
          <a:ln/>
        </p:spPr>
        <p:txBody>
          <a:bodyPr wrap="square" lIns="0" tIns="0" rIns="0" bIns="0" rtlCol="0" anchor="t"/>
          <a:lstStyle/>
          <a:p>
            <a:pPr marL="0" indent="0">
              <a:buNone/>
            </a:pPr>
            <a:r>
              <a:rPr lang="en-US" sz="1200" i="1" dirty="0">
                <a:solidFill>
                  <a:schemeClr val="tx2"/>
                </a:solidFill>
              </a:rPr>
              <a:t>subject: the USSR · verb: launched · object: the satellite</a:t>
            </a:r>
            <a:endParaRPr lang="en-US" sz="1200" dirty="0"/>
          </a:p>
        </p:txBody>
      </p:sp>
      <p:sp>
        <p:nvSpPr>
          <p:cNvPr id="10" name="Compound example"/>
          <p:cNvSpPr/>
          <p:nvPr/>
        </p:nvSpPr>
        <p:spPr>
          <a:xfrm>
            <a:off x="4663440" y="2240280"/>
            <a:ext cx="4023360" cy="2148840"/>
          </a:xfrm>
          <a:prstGeom prst="roundRect">
            <a:avLst>
              <a:gd name="adj" fmla="val 510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1" name="Text 8"/>
          <p:cNvSpPr txBox="1"/>
          <p:nvPr/>
        </p:nvSpPr>
        <p:spPr>
          <a:xfrm>
            <a:off x="4846320" y="2331720"/>
            <a:ext cx="1828800" cy="274320"/>
          </a:xfrm>
          <a:prstGeom prst="rect">
            <a:avLst/>
          </a:prstGeom>
          <a:noFill/>
          <a:ln/>
        </p:spPr>
        <p:txBody>
          <a:bodyPr wrap="square" lIns="0" tIns="0" rIns="0" bIns="0" rtlCol="0" anchor="ctr"/>
          <a:lstStyle/>
          <a:p>
            <a:pPr marL="0" indent="0">
              <a:buNone/>
            </a:pPr>
            <a:r>
              <a:rPr lang="en-US" sz="1300" b="1" dirty="0">
                <a:solidFill>
                  <a:schemeClr val="accent1"/>
                </a:solidFill>
              </a:rPr>
              <a:t>COMPOUND</a:t>
            </a:r>
            <a:endParaRPr lang="en-US" sz="1300" dirty="0"/>
          </a:p>
        </p:txBody>
      </p:sp>
      <p:sp>
        <p:nvSpPr>
          <p:cNvPr id="12" name="Text 9"/>
          <p:cNvSpPr txBox="1"/>
          <p:nvPr/>
        </p:nvSpPr>
        <p:spPr>
          <a:xfrm>
            <a:off x="4846320" y="2651760"/>
            <a:ext cx="3657600" cy="914400"/>
          </a:xfrm>
          <a:prstGeom prst="rect">
            <a:avLst/>
          </a:prstGeom>
          <a:noFill/>
          <a:ln/>
        </p:spPr>
        <p:txBody>
          <a:bodyPr wrap="square" lIns="0" tIns="0" rIns="0" bIns="0" rtlCol="0" anchor="t"/>
          <a:lstStyle/>
          <a:p>
            <a:pPr marL="0" indent="0">
              <a:buNone/>
            </a:pPr>
            <a:r>
              <a:rPr lang="en-US" sz="1400" dirty="0">
                <a:solidFill>
                  <a:schemeClr val="tx1"/>
                </a:solidFill>
              </a:rPr>
              <a:t>In 2000, the first crew moved into the ISS, </a:t>
            </a:r>
            <a:r>
              <a:rPr lang="en-US" sz="1400" b="1" dirty="0">
                <a:solidFill>
                  <a:schemeClr val="tx1"/>
                </a:solidFill>
                <a:highlight>
                  <a:srgbClr val="FFD166"/>
                </a:highlight>
              </a:rPr>
              <a:t>and</a:t>
            </a:r>
            <a:r>
              <a:rPr lang="en-US" sz="1400" dirty="0">
                <a:solidFill>
                  <a:schemeClr val="tx1"/>
                </a:solidFill>
              </a:rPr>
              <a:t> it has been occupied ever since.</a:t>
            </a:r>
            <a:endParaRPr lang="en-US" sz="1400" dirty="0"/>
          </a:p>
        </p:txBody>
      </p:sp>
      <p:sp>
        <p:nvSpPr>
          <p:cNvPr id="13" name="Text 10"/>
          <p:cNvSpPr txBox="1"/>
          <p:nvPr/>
        </p:nvSpPr>
        <p:spPr>
          <a:xfrm>
            <a:off x="4846320" y="3611880"/>
            <a:ext cx="3657600" cy="640080"/>
          </a:xfrm>
          <a:prstGeom prst="rect">
            <a:avLst/>
          </a:prstGeom>
          <a:noFill/>
          <a:ln/>
        </p:spPr>
        <p:txBody>
          <a:bodyPr wrap="square" lIns="0" tIns="0" rIns="0" bIns="0" rtlCol="0" anchor="t"/>
          <a:lstStyle/>
          <a:p>
            <a:pPr marL="0" indent="0">
              <a:buNone/>
            </a:pPr>
            <a:r>
              <a:rPr lang="en-US" sz="1200" i="1" dirty="0">
                <a:solidFill>
                  <a:schemeClr val="tx2"/>
                </a:solidFill>
              </a:rPr>
              <a:t>We joined two of the text’s short sentences with ‘and’.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2b: rewrite the compound sentences</a:t>
            </a:r>
            <a:endParaRPr lang="en-US" sz="3000" dirty="0"/>
          </a:p>
        </p:txBody>
      </p:sp>
      <p:sp>
        <p:nvSpPr>
          <p:cNvPr id="4" name="Text 1"/>
          <p:cNvSpPr txBox="1"/>
          <p:nvPr/>
        </p:nvSpPr>
        <p:spPr>
          <a:xfrm>
            <a:off x="457200" y="960120"/>
            <a:ext cx="7315200" cy="365760"/>
          </a:xfrm>
          <a:prstGeom prst="rect">
            <a:avLst/>
          </a:prstGeom>
          <a:noFill/>
          <a:ln/>
        </p:spPr>
        <p:txBody>
          <a:bodyPr wrap="square" lIns="0" tIns="0" rIns="0" bIns="0" rtlCol="0" anchor="ctr"/>
          <a:lstStyle/>
          <a:p>
            <a:pPr marL="0" indent="0">
              <a:buNone/>
            </a:pPr>
            <a:r>
              <a:rPr lang="en-US" sz="1600" i="1" dirty="0">
                <a:solidFill>
                  <a:schemeClr val="tx2"/>
                </a:solidFill>
              </a:rPr>
              <a:t>Underline the verbs. Highlight the connectives.</a:t>
            </a:r>
            <a:endParaRPr lang="en-US" sz="1600" dirty="0"/>
          </a:p>
        </p:txBody>
      </p:sp>
      <p:sp>
        <p:nvSpPr>
          <p:cNvPr id="5" name="Sentence 1"/>
          <p:cNvSpPr/>
          <p:nvPr/>
        </p:nvSpPr>
        <p:spPr>
          <a:xfrm>
            <a:off x="457200" y="1371600"/>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Badge"/>
          <p:cNvSpPr/>
          <p:nvPr/>
        </p:nvSpPr>
        <p:spPr>
          <a:xfrm>
            <a:off x="548640" y="1426464"/>
            <a:ext cx="347472" cy="347472"/>
          </a:xfrm>
          <a:prstGeom prst="ellipse">
            <a:avLst/>
          </a:prstGeom>
          <a:solidFill>
            <a:schemeClr val="accent1"/>
          </a:solidFill>
          <a:ln w="6350">
            <a:solidFill>
              <a:schemeClr val="accent1"/>
            </a:solidFill>
            <a:prstDash val="solid"/>
          </a:ln>
        </p:spPr>
      </p:sp>
      <p:sp>
        <p:nvSpPr>
          <p:cNvPr id="7" name="Text 4"/>
          <p:cNvSpPr txBox="1"/>
          <p:nvPr/>
        </p:nvSpPr>
        <p:spPr>
          <a:xfrm>
            <a:off x="548640" y="1426464"/>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8" name="Text 5"/>
          <p:cNvSpPr txBox="1"/>
          <p:nvPr/>
        </p:nvSpPr>
        <p:spPr>
          <a:xfrm>
            <a:off x="1051560" y="1371600"/>
            <a:ext cx="7498080" cy="457200"/>
          </a:xfrm>
          <a:prstGeom prst="rect">
            <a:avLst/>
          </a:prstGeom>
          <a:noFill/>
          <a:ln/>
        </p:spPr>
        <p:txBody>
          <a:bodyPr wrap="square" lIns="0" tIns="0" rIns="0" bIns="0" rtlCol="0" anchor="ctr"/>
          <a:lstStyle/>
          <a:p>
            <a:pPr marL="0" indent="0">
              <a:buNone/>
            </a:pPr>
            <a:r>
              <a:rPr lang="en-US" sz="1500" dirty="0">
                <a:solidFill>
                  <a:schemeClr val="tx1"/>
                </a:solidFill>
              </a:rPr>
              <a:t>He invented the telescope but it was not powerful enough.</a:t>
            </a:r>
            <a:endParaRPr lang="en-US" sz="1500" dirty="0"/>
          </a:p>
        </p:txBody>
      </p:sp>
      <p:sp>
        <p:nvSpPr>
          <p:cNvPr id="9" name="Sentence 2"/>
          <p:cNvSpPr/>
          <p:nvPr/>
        </p:nvSpPr>
        <p:spPr>
          <a:xfrm>
            <a:off x="457200" y="1901952"/>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48640" y="1956816"/>
            <a:ext cx="347472" cy="347472"/>
          </a:xfrm>
          <a:prstGeom prst="ellipse">
            <a:avLst/>
          </a:prstGeom>
          <a:solidFill>
            <a:schemeClr val="accent2"/>
          </a:solidFill>
          <a:ln w="6350">
            <a:solidFill>
              <a:schemeClr val="accent2"/>
            </a:solidFill>
            <a:prstDash val="solid"/>
          </a:ln>
        </p:spPr>
      </p:sp>
      <p:sp>
        <p:nvSpPr>
          <p:cNvPr id="11" name="Text 8"/>
          <p:cNvSpPr txBox="1"/>
          <p:nvPr/>
        </p:nvSpPr>
        <p:spPr>
          <a:xfrm>
            <a:off x="548640" y="1956816"/>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051560" y="1901952"/>
            <a:ext cx="7498080" cy="457200"/>
          </a:xfrm>
          <a:prstGeom prst="rect">
            <a:avLst/>
          </a:prstGeom>
          <a:noFill/>
          <a:ln/>
        </p:spPr>
        <p:txBody>
          <a:bodyPr wrap="square" lIns="0" tIns="0" rIns="0" bIns="0" rtlCol="0" anchor="ctr"/>
          <a:lstStyle/>
          <a:p>
            <a:pPr marL="0" indent="0">
              <a:buNone/>
            </a:pPr>
            <a:r>
              <a:rPr lang="en-US" sz="1500" dirty="0">
                <a:solidFill>
                  <a:schemeClr val="tx1"/>
                </a:solidFill>
              </a:rPr>
              <a:t>Early astronomers studied the skies for they were fascinated by the stars.</a:t>
            </a:r>
            <a:endParaRPr lang="en-US" sz="1500" dirty="0"/>
          </a:p>
        </p:txBody>
      </p:sp>
      <p:sp>
        <p:nvSpPr>
          <p:cNvPr id="13" name="Sentence 3"/>
          <p:cNvSpPr/>
          <p:nvPr/>
        </p:nvSpPr>
        <p:spPr>
          <a:xfrm>
            <a:off x="457200" y="2432304"/>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4" name="Badge"/>
          <p:cNvSpPr/>
          <p:nvPr/>
        </p:nvSpPr>
        <p:spPr>
          <a:xfrm>
            <a:off x="548640" y="2487168"/>
            <a:ext cx="347472" cy="347472"/>
          </a:xfrm>
          <a:prstGeom prst="ellipse">
            <a:avLst/>
          </a:prstGeom>
          <a:solidFill>
            <a:schemeClr val="accent3"/>
          </a:solidFill>
          <a:ln w="6350">
            <a:solidFill>
              <a:schemeClr val="accent3"/>
            </a:solidFill>
            <a:prstDash val="solid"/>
          </a:ln>
        </p:spPr>
      </p:sp>
      <p:sp>
        <p:nvSpPr>
          <p:cNvPr id="15" name="Text 12"/>
          <p:cNvSpPr txBox="1"/>
          <p:nvPr/>
        </p:nvSpPr>
        <p:spPr>
          <a:xfrm>
            <a:off x="548640" y="2487168"/>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6" name="Text 13"/>
          <p:cNvSpPr txBox="1"/>
          <p:nvPr/>
        </p:nvSpPr>
        <p:spPr>
          <a:xfrm>
            <a:off x="1051560" y="2432304"/>
            <a:ext cx="7498080" cy="457200"/>
          </a:xfrm>
          <a:prstGeom prst="rect">
            <a:avLst/>
          </a:prstGeom>
          <a:noFill/>
          <a:ln/>
        </p:spPr>
        <p:txBody>
          <a:bodyPr wrap="square" lIns="0" tIns="0" rIns="0" bIns="0" rtlCol="0" anchor="ctr"/>
          <a:lstStyle/>
          <a:p>
            <a:pPr marL="0" indent="0">
              <a:buNone/>
            </a:pPr>
            <a:r>
              <a:rPr lang="en-US" sz="1500" dirty="0">
                <a:solidFill>
                  <a:schemeClr val="tx1"/>
                </a:solidFill>
              </a:rPr>
              <a:t>Scientists invent new rockets so astronauts can go further into space.</a:t>
            </a:r>
            <a:endParaRPr lang="en-US" sz="1500" dirty="0"/>
          </a:p>
        </p:txBody>
      </p:sp>
      <p:sp>
        <p:nvSpPr>
          <p:cNvPr id="17" name="Sentence 4"/>
          <p:cNvSpPr/>
          <p:nvPr/>
        </p:nvSpPr>
        <p:spPr>
          <a:xfrm>
            <a:off x="457200" y="2962656"/>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8" name="Badge"/>
          <p:cNvSpPr/>
          <p:nvPr/>
        </p:nvSpPr>
        <p:spPr>
          <a:xfrm>
            <a:off x="548640" y="3017520"/>
            <a:ext cx="347472" cy="347472"/>
          </a:xfrm>
          <a:prstGeom prst="ellipse">
            <a:avLst/>
          </a:prstGeom>
          <a:solidFill>
            <a:schemeClr val="accent4"/>
          </a:solidFill>
          <a:ln w="6350">
            <a:solidFill>
              <a:schemeClr val="accent4"/>
            </a:solidFill>
            <a:prstDash val="solid"/>
          </a:ln>
        </p:spPr>
      </p:sp>
      <p:sp>
        <p:nvSpPr>
          <p:cNvPr id="19" name="Text 16"/>
          <p:cNvSpPr txBox="1"/>
          <p:nvPr/>
        </p:nvSpPr>
        <p:spPr>
          <a:xfrm>
            <a:off x="548640" y="3017520"/>
            <a:ext cx="347472" cy="347472"/>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0" name="Text 17"/>
          <p:cNvSpPr txBox="1"/>
          <p:nvPr/>
        </p:nvSpPr>
        <p:spPr>
          <a:xfrm>
            <a:off x="1051560" y="2962656"/>
            <a:ext cx="7498080" cy="457200"/>
          </a:xfrm>
          <a:prstGeom prst="rect">
            <a:avLst/>
          </a:prstGeom>
          <a:noFill/>
          <a:ln/>
        </p:spPr>
        <p:txBody>
          <a:bodyPr wrap="square" lIns="0" tIns="0" rIns="0" bIns="0" rtlCol="0" anchor="ctr"/>
          <a:lstStyle/>
          <a:p>
            <a:pPr marL="0" indent="0">
              <a:buNone/>
            </a:pPr>
            <a:r>
              <a:rPr lang="en-US" sz="1500" dirty="0">
                <a:solidFill>
                  <a:schemeClr val="tx1"/>
                </a:solidFill>
              </a:rPr>
              <a:t>You can become an astronaut or you can become a scientist.</a:t>
            </a:r>
            <a:endParaRPr lang="en-US" sz="1500" dirty="0"/>
          </a:p>
        </p:txBody>
      </p:sp>
      <p:sp>
        <p:nvSpPr>
          <p:cNvPr id="21" name="Sentence 5"/>
          <p:cNvSpPr/>
          <p:nvPr/>
        </p:nvSpPr>
        <p:spPr>
          <a:xfrm>
            <a:off x="457200" y="3493008"/>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2" name="Badge"/>
          <p:cNvSpPr/>
          <p:nvPr/>
        </p:nvSpPr>
        <p:spPr>
          <a:xfrm>
            <a:off x="548640" y="3547872"/>
            <a:ext cx="347472" cy="347472"/>
          </a:xfrm>
          <a:prstGeom prst="ellipse">
            <a:avLst/>
          </a:prstGeom>
          <a:solidFill>
            <a:schemeClr val="accent5"/>
          </a:solidFill>
          <a:ln w="6350">
            <a:solidFill>
              <a:schemeClr val="accent5"/>
            </a:solidFill>
            <a:prstDash val="solid"/>
          </a:ln>
        </p:spPr>
      </p:sp>
      <p:sp>
        <p:nvSpPr>
          <p:cNvPr id="23" name="Text 20"/>
          <p:cNvSpPr txBox="1"/>
          <p:nvPr/>
        </p:nvSpPr>
        <p:spPr>
          <a:xfrm>
            <a:off x="548640" y="3547872"/>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4" name="Text 21"/>
          <p:cNvSpPr txBox="1"/>
          <p:nvPr/>
        </p:nvSpPr>
        <p:spPr>
          <a:xfrm>
            <a:off x="1051560" y="3493008"/>
            <a:ext cx="7498080" cy="457200"/>
          </a:xfrm>
          <a:prstGeom prst="rect">
            <a:avLst/>
          </a:prstGeom>
          <a:noFill/>
          <a:ln/>
        </p:spPr>
        <p:txBody>
          <a:bodyPr wrap="square" lIns="0" tIns="0" rIns="0" bIns="0" rtlCol="0" anchor="ctr"/>
          <a:lstStyle/>
          <a:p>
            <a:pPr marL="0" indent="0">
              <a:buNone/>
            </a:pPr>
            <a:r>
              <a:rPr lang="en-US" sz="1500" dirty="0">
                <a:solidFill>
                  <a:schemeClr val="tx1"/>
                </a:solidFill>
              </a:rPr>
              <a:t>The satellite is old yet it is operating well.</a:t>
            </a:r>
            <a:endParaRPr lang="en-US" sz="1500" dirty="0"/>
          </a:p>
        </p:txBody>
      </p:sp>
      <p:sp>
        <p:nvSpPr>
          <p:cNvPr id="25" name="Sentence 6"/>
          <p:cNvSpPr/>
          <p:nvPr/>
        </p:nvSpPr>
        <p:spPr>
          <a:xfrm>
            <a:off x="457200" y="4023360"/>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6" name="Badge"/>
          <p:cNvSpPr/>
          <p:nvPr/>
        </p:nvSpPr>
        <p:spPr>
          <a:xfrm>
            <a:off x="548640" y="4078224"/>
            <a:ext cx="347472" cy="347472"/>
          </a:xfrm>
          <a:prstGeom prst="ellipse">
            <a:avLst/>
          </a:prstGeom>
          <a:solidFill>
            <a:schemeClr val="accent1"/>
          </a:solidFill>
          <a:ln w="6350">
            <a:solidFill>
              <a:schemeClr val="accent1"/>
            </a:solidFill>
            <a:prstDash val="solid"/>
          </a:ln>
        </p:spPr>
      </p:sp>
      <p:sp>
        <p:nvSpPr>
          <p:cNvPr id="27" name="Text 24"/>
          <p:cNvSpPr txBox="1"/>
          <p:nvPr/>
        </p:nvSpPr>
        <p:spPr>
          <a:xfrm>
            <a:off x="548640" y="4078224"/>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6</a:t>
            </a:r>
            <a:endParaRPr lang="en-US" sz="1500" dirty="0"/>
          </a:p>
        </p:txBody>
      </p:sp>
      <p:sp>
        <p:nvSpPr>
          <p:cNvPr id="28" name="Text 25"/>
          <p:cNvSpPr txBox="1"/>
          <p:nvPr/>
        </p:nvSpPr>
        <p:spPr>
          <a:xfrm>
            <a:off x="1051560" y="4023360"/>
            <a:ext cx="7498080" cy="457200"/>
          </a:xfrm>
          <a:prstGeom prst="rect">
            <a:avLst/>
          </a:prstGeom>
          <a:noFill/>
          <a:ln/>
        </p:spPr>
        <p:txBody>
          <a:bodyPr wrap="square" lIns="0" tIns="0" rIns="0" bIns="0" rtlCol="0" anchor="ctr"/>
          <a:lstStyle/>
          <a:p>
            <a:pPr marL="0" indent="0">
              <a:buNone/>
            </a:pPr>
            <a:r>
              <a:rPr lang="en-US" sz="1500" dirty="0">
                <a:solidFill>
                  <a:schemeClr val="tx1"/>
                </a:solidFill>
              </a:rPr>
              <a:t>I have never met an astronaut nor have I spoken to one.</a:t>
            </a:r>
            <a:endParaRPr lang="en-US" sz="15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2b: model answers</a:t>
            </a:r>
            <a:endParaRPr lang="en-US" sz="3000" dirty="0"/>
          </a:p>
        </p:txBody>
      </p:sp>
      <p:sp>
        <p:nvSpPr>
          <p:cNvPr id="4" name="Answer 1"/>
          <p:cNvSpPr/>
          <p:nvPr/>
        </p:nvSpPr>
        <p:spPr>
          <a:xfrm>
            <a:off x="457200" y="1005840"/>
            <a:ext cx="8229600" cy="493776"/>
          </a:xfrm>
          <a:prstGeom prst="roundRect">
            <a:avLst>
              <a:gd name="adj" fmla="val 2222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48640" y="1078992"/>
            <a:ext cx="347472" cy="347472"/>
          </a:xfrm>
          <a:prstGeom prst="ellipse">
            <a:avLst/>
          </a:prstGeom>
          <a:solidFill>
            <a:schemeClr val="accent1"/>
          </a:solidFill>
          <a:ln w="6350">
            <a:solidFill>
              <a:schemeClr val="accent1"/>
            </a:solidFill>
            <a:prstDash val="solid"/>
          </a:ln>
        </p:spPr>
      </p:sp>
      <p:sp>
        <p:nvSpPr>
          <p:cNvPr id="6" name="Text 3"/>
          <p:cNvSpPr txBox="1"/>
          <p:nvPr/>
        </p:nvSpPr>
        <p:spPr>
          <a:xfrm>
            <a:off x="548640" y="1078992"/>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051560" y="1005840"/>
            <a:ext cx="7498080" cy="493776"/>
          </a:xfrm>
          <a:prstGeom prst="rect">
            <a:avLst/>
          </a:prstGeom>
          <a:noFill/>
          <a:ln/>
        </p:spPr>
        <p:txBody>
          <a:bodyPr wrap="square" lIns="0" tIns="0" rIns="0" bIns="0" rtlCol="0" anchor="ctr"/>
          <a:lstStyle/>
          <a:p>
            <a:pPr marL="0" indent="0">
              <a:buNone/>
            </a:pPr>
            <a:r>
              <a:rPr lang="en-US" sz="1500" dirty="0">
                <a:solidFill>
                  <a:schemeClr val="tx1"/>
                </a:solidFill>
              </a:rPr>
              <a:t>He </a:t>
            </a:r>
            <a:r>
              <a:rPr lang="en-US" sz="1500" b="1" u="sng" dirty="0">
                <a:solidFill>
                  <a:schemeClr val="tx1"/>
                </a:solidFill>
              </a:rPr>
              <a:t>invented</a:t>
            </a:r>
            <a:r>
              <a:rPr lang="en-US" sz="1500" dirty="0">
                <a:solidFill>
                  <a:schemeClr val="tx1"/>
                </a:solidFill>
              </a:rPr>
              <a:t> the telescope, </a:t>
            </a:r>
            <a:r>
              <a:rPr lang="en-US" sz="1500" b="1" dirty="0">
                <a:solidFill>
                  <a:schemeClr val="tx1"/>
                </a:solidFill>
                <a:highlight>
                  <a:srgbClr val="FFD166"/>
                </a:highlight>
              </a:rPr>
              <a:t>but</a:t>
            </a:r>
            <a:r>
              <a:rPr lang="en-US" sz="1500" dirty="0">
                <a:solidFill>
                  <a:schemeClr val="tx1"/>
                </a:solidFill>
              </a:rPr>
              <a:t> it </a:t>
            </a:r>
            <a:r>
              <a:rPr lang="en-US" sz="1500" b="1" u="sng" dirty="0">
                <a:solidFill>
                  <a:schemeClr val="tx1"/>
                </a:solidFill>
              </a:rPr>
              <a:t>was</a:t>
            </a:r>
            <a:r>
              <a:rPr lang="en-US" sz="1500" dirty="0">
                <a:solidFill>
                  <a:schemeClr val="tx1"/>
                </a:solidFill>
              </a:rPr>
              <a:t> not powerful enough.</a:t>
            </a:r>
            <a:endParaRPr lang="en-US" sz="1500" dirty="0"/>
          </a:p>
        </p:txBody>
      </p:sp>
      <p:sp>
        <p:nvSpPr>
          <p:cNvPr id="8" name="Answer 2"/>
          <p:cNvSpPr/>
          <p:nvPr/>
        </p:nvSpPr>
        <p:spPr>
          <a:xfrm>
            <a:off x="457200" y="1572768"/>
            <a:ext cx="8229600" cy="493776"/>
          </a:xfrm>
          <a:prstGeom prst="roundRect">
            <a:avLst>
              <a:gd name="adj" fmla="val 2222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548640" y="1645920"/>
            <a:ext cx="347472" cy="347472"/>
          </a:xfrm>
          <a:prstGeom prst="ellipse">
            <a:avLst/>
          </a:prstGeom>
          <a:solidFill>
            <a:schemeClr val="accent2"/>
          </a:solidFill>
          <a:ln w="6350">
            <a:solidFill>
              <a:schemeClr val="accent2"/>
            </a:solidFill>
            <a:prstDash val="solid"/>
          </a:ln>
        </p:spPr>
      </p:sp>
      <p:sp>
        <p:nvSpPr>
          <p:cNvPr id="10" name="Text 7"/>
          <p:cNvSpPr txBox="1"/>
          <p:nvPr/>
        </p:nvSpPr>
        <p:spPr>
          <a:xfrm>
            <a:off x="548640" y="1645920"/>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1" name="Text 8"/>
          <p:cNvSpPr txBox="1"/>
          <p:nvPr/>
        </p:nvSpPr>
        <p:spPr>
          <a:xfrm>
            <a:off x="1051560" y="1572768"/>
            <a:ext cx="7498080" cy="493776"/>
          </a:xfrm>
          <a:prstGeom prst="rect">
            <a:avLst/>
          </a:prstGeom>
          <a:noFill/>
          <a:ln/>
        </p:spPr>
        <p:txBody>
          <a:bodyPr wrap="square" lIns="0" tIns="0" rIns="0" bIns="0" rtlCol="0" anchor="ctr"/>
          <a:lstStyle/>
          <a:p>
            <a:pPr marL="0" indent="0">
              <a:buNone/>
            </a:pPr>
            <a:r>
              <a:rPr lang="en-US" sz="1500" dirty="0">
                <a:solidFill>
                  <a:schemeClr val="tx1"/>
                </a:solidFill>
              </a:rPr>
              <a:t>Early astronomers </a:t>
            </a:r>
            <a:r>
              <a:rPr lang="en-US" sz="1500" b="1" u="sng" dirty="0">
                <a:solidFill>
                  <a:schemeClr val="tx1"/>
                </a:solidFill>
              </a:rPr>
              <a:t>studied</a:t>
            </a:r>
            <a:r>
              <a:rPr lang="en-US" sz="1500" dirty="0">
                <a:solidFill>
                  <a:schemeClr val="tx1"/>
                </a:solidFill>
              </a:rPr>
              <a:t> the skies, </a:t>
            </a:r>
            <a:r>
              <a:rPr lang="en-US" sz="1500" b="1" dirty="0">
                <a:solidFill>
                  <a:schemeClr val="tx1"/>
                </a:solidFill>
                <a:highlight>
                  <a:srgbClr val="FFD166"/>
                </a:highlight>
              </a:rPr>
              <a:t>for</a:t>
            </a:r>
            <a:r>
              <a:rPr lang="en-US" sz="1500" dirty="0">
                <a:solidFill>
                  <a:schemeClr val="tx1"/>
                </a:solidFill>
              </a:rPr>
              <a:t> they </a:t>
            </a:r>
            <a:r>
              <a:rPr lang="en-US" sz="1500" b="1" u="sng" dirty="0">
                <a:solidFill>
                  <a:schemeClr val="tx1"/>
                </a:solidFill>
              </a:rPr>
              <a:t>were</a:t>
            </a:r>
            <a:r>
              <a:rPr lang="en-US" sz="1500" dirty="0">
                <a:solidFill>
                  <a:schemeClr val="tx1"/>
                </a:solidFill>
              </a:rPr>
              <a:t> fascinated by the stars.</a:t>
            </a:r>
            <a:endParaRPr lang="en-US" sz="1500" dirty="0"/>
          </a:p>
        </p:txBody>
      </p:sp>
      <p:sp>
        <p:nvSpPr>
          <p:cNvPr id="12" name="Answer 3"/>
          <p:cNvSpPr/>
          <p:nvPr/>
        </p:nvSpPr>
        <p:spPr>
          <a:xfrm>
            <a:off x="457200" y="2139696"/>
            <a:ext cx="8229600" cy="493776"/>
          </a:xfrm>
          <a:prstGeom prst="roundRect">
            <a:avLst>
              <a:gd name="adj" fmla="val 2222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Badge"/>
          <p:cNvSpPr/>
          <p:nvPr/>
        </p:nvSpPr>
        <p:spPr>
          <a:xfrm>
            <a:off x="548640" y="2212848"/>
            <a:ext cx="347472" cy="347472"/>
          </a:xfrm>
          <a:prstGeom prst="ellipse">
            <a:avLst/>
          </a:prstGeom>
          <a:solidFill>
            <a:schemeClr val="accent3"/>
          </a:solidFill>
          <a:ln w="6350">
            <a:solidFill>
              <a:schemeClr val="accent3"/>
            </a:solidFill>
            <a:prstDash val="solid"/>
          </a:ln>
        </p:spPr>
      </p:sp>
      <p:sp>
        <p:nvSpPr>
          <p:cNvPr id="14" name="Text 11"/>
          <p:cNvSpPr txBox="1"/>
          <p:nvPr/>
        </p:nvSpPr>
        <p:spPr>
          <a:xfrm>
            <a:off x="548640" y="2212848"/>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5" name="Text 12"/>
          <p:cNvSpPr txBox="1"/>
          <p:nvPr/>
        </p:nvSpPr>
        <p:spPr>
          <a:xfrm>
            <a:off x="1051560" y="2139696"/>
            <a:ext cx="7498080" cy="493776"/>
          </a:xfrm>
          <a:prstGeom prst="rect">
            <a:avLst/>
          </a:prstGeom>
          <a:noFill/>
          <a:ln/>
        </p:spPr>
        <p:txBody>
          <a:bodyPr wrap="square" lIns="0" tIns="0" rIns="0" bIns="0" rtlCol="0" anchor="ctr"/>
          <a:lstStyle/>
          <a:p>
            <a:pPr marL="0" indent="0">
              <a:buNone/>
            </a:pPr>
            <a:r>
              <a:rPr lang="en-US" sz="1500" dirty="0">
                <a:solidFill>
                  <a:schemeClr val="tx1"/>
                </a:solidFill>
              </a:rPr>
              <a:t>Scientists </a:t>
            </a:r>
            <a:r>
              <a:rPr lang="en-US" sz="1500" b="1" u="sng" dirty="0">
                <a:solidFill>
                  <a:schemeClr val="tx1"/>
                </a:solidFill>
              </a:rPr>
              <a:t>invent</a:t>
            </a:r>
            <a:r>
              <a:rPr lang="en-US" sz="1500" dirty="0">
                <a:solidFill>
                  <a:schemeClr val="tx1"/>
                </a:solidFill>
              </a:rPr>
              <a:t> new rockets, </a:t>
            </a:r>
            <a:r>
              <a:rPr lang="en-US" sz="1500" b="1" dirty="0">
                <a:solidFill>
                  <a:schemeClr val="tx1"/>
                </a:solidFill>
                <a:highlight>
                  <a:srgbClr val="FFD166"/>
                </a:highlight>
              </a:rPr>
              <a:t>so</a:t>
            </a:r>
            <a:r>
              <a:rPr lang="en-US" sz="1500" dirty="0">
                <a:solidFill>
                  <a:schemeClr val="tx1"/>
                </a:solidFill>
              </a:rPr>
              <a:t> astronauts </a:t>
            </a:r>
            <a:r>
              <a:rPr lang="en-US" sz="1500" b="1" u="sng" dirty="0">
                <a:solidFill>
                  <a:schemeClr val="tx1"/>
                </a:solidFill>
              </a:rPr>
              <a:t>can go</a:t>
            </a:r>
            <a:r>
              <a:rPr lang="en-US" sz="1500" dirty="0">
                <a:solidFill>
                  <a:schemeClr val="tx1"/>
                </a:solidFill>
              </a:rPr>
              <a:t> further into space.</a:t>
            </a:r>
            <a:endParaRPr lang="en-US" sz="1500" dirty="0"/>
          </a:p>
        </p:txBody>
      </p:sp>
      <p:sp>
        <p:nvSpPr>
          <p:cNvPr id="16" name="Answer 4"/>
          <p:cNvSpPr/>
          <p:nvPr/>
        </p:nvSpPr>
        <p:spPr>
          <a:xfrm>
            <a:off x="457200" y="2706624"/>
            <a:ext cx="8229600" cy="493776"/>
          </a:xfrm>
          <a:prstGeom prst="roundRect">
            <a:avLst>
              <a:gd name="adj" fmla="val 2222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7" name="Badge"/>
          <p:cNvSpPr/>
          <p:nvPr/>
        </p:nvSpPr>
        <p:spPr>
          <a:xfrm>
            <a:off x="548640" y="2779776"/>
            <a:ext cx="347472" cy="347472"/>
          </a:xfrm>
          <a:prstGeom prst="ellipse">
            <a:avLst/>
          </a:prstGeom>
          <a:solidFill>
            <a:schemeClr val="accent4"/>
          </a:solidFill>
          <a:ln w="6350">
            <a:solidFill>
              <a:schemeClr val="accent4"/>
            </a:solidFill>
            <a:prstDash val="solid"/>
          </a:ln>
        </p:spPr>
      </p:sp>
      <p:sp>
        <p:nvSpPr>
          <p:cNvPr id="18" name="Text 15"/>
          <p:cNvSpPr txBox="1"/>
          <p:nvPr/>
        </p:nvSpPr>
        <p:spPr>
          <a:xfrm>
            <a:off x="548640" y="2779776"/>
            <a:ext cx="347472" cy="347472"/>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19" name="Text 16"/>
          <p:cNvSpPr txBox="1"/>
          <p:nvPr/>
        </p:nvSpPr>
        <p:spPr>
          <a:xfrm>
            <a:off x="1051560" y="2706624"/>
            <a:ext cx="7498080" cy="493776"/>
          </a:xfrm>
          <a:prstGeom prst="rect">
            <a:avLst/>
          </a:prstGeom>
          <a:noFill/>
          <a:ln/>
        </p:spPr>
        <p:txBody>
          <a:bodyPr wrap="square" lIns="0" tIns="0" rIns="0" bIns="0" rtlCol="0" anchor="ctr"/>
          <a:lstStyle/>
          <a:p>
            <a:pPr marL="0" indent="0">
              <a:buNone/>
            </a:pPr>
            <a:r>
              <a:rPr lang="en-US" sz="1500" dirty="0">
                <a:solidFill>
                  <a:schemeClr val="tx1"/>
                </a:solidFill>
              </a:rPr>
              <a:t>You </a:t>
            </a:r>
            <a:r>
              <a:rPr lang="en-US" sz="1500" b="1" u="sng" dirty="0">
                <a:solidFill>
                  <a:schemeClr val="tx1"/>
                </a:solidFill>
              </a:rPr>
              <a:t>can become</a:t>
            </a:r>
            <a:r>
              <a:rPr lang="en-US" sz="1500" dirty="0">
                <a:solidFill>
                  <a:schemeClr val="tx1"/>
                </a:solidFill>
              </a:rPr>
              <a:t> an astronaut, </a:t>
            </a:r>
            <a:r>
              <a:rPr lang="en-US" sz="1500" b="1" dirty="0">
                <a:solidFill>
                  <a:schemeClr val="tx1"/>
                </a:solidFill>
                <a:highlight>
                  <a:srgbClr val="FFD166"/>
                </a:highlight>
              </a:rPr>
              <a:t>or</a:t>
            </a:r>
            <a:r>
              <a:rPr lang="en-US" sz="1500" dirty="0">
                <a:solidFill>
                  <a:schemeClr val="tx1"/>
                </a:solidFill>
              </a:rPr>
              <a:t> you </a:t>
            </a:r>
            <a:r>
              <a:rPr lang="en-US" sz="1500" b="1" u="sng" dirty="0">
                <a:solidFill>
                  <a:schemeClr val="tx1"/>
                </a:solidFill>
              </a:rPr>
              <a:t>can become</a:t>
            </a:r>
            <a:r>
              <a:rPr lang="en-US" sz="1500" dirty="0">
                <a:solidFill>
                  <a:schemeClr val="tx1"/>
                </a:solidFill>
              </a:rPr>
              <a:t> a scientist.</a:t>
            </a:r>
            <a:endParaRPr lang="en-US" sz="1500" dirty="0"/>
          </a:p>
        </p:txBody>
      </p:sp>
      <p:sp>
        <p:nvSpPr>
          <p:cNvPr id="20" name="Answer 5"/>
          <p:cNvSpPr/>
          <p:nvPr/>
        </p:nvSpPr>
        <p:spPr>
          <a:xfrm>
            <a:off x="457200" y="3273552"/>
            <a:ext cx="8229600" cy="493776"/>
          </a:xfrm>
          <a:prstGeom prst="roundRect">
            <a:avLst>
              <a:gd name="adj" fmla="val 2222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1" name="Badge"/>
          <p:cNvSpPr/>
          <p:nvPr/>
        </p:nvSpPr>
        <p:spPr>
          <a:xfrm>
            <a:off x="548640" y="3346704"/>
            <a:ext cx="347472" cy="347472"/>
          </a:xfrm>
          <a:prstGeom prst="ellipse">
            <a:avLst/>
          </a:prstGeom>
          <a:solidFill>
            <a:schemeClr val="accent5"/>
          </a:solidFill>
          <a:ln w="6350">
            <a:solidFill>
              <a:schemeClr val="accent5"/>
            </a:solidFill>
            <a:prstDash val="solid"/>
          </a:ln>
        </p:spPr>
      </p:sp>
      <p:sp>
        <p:nvSpPr>
          <p:cNvPr id="22" name="Text 19"/>
          <p:cNvSpPr txBox="1"/>
          <p:nvPr/>
        </p:nvSpPr>
        <p:spPr>
          <a:xfrm>
            <a:off x="548640" y="3346704"/>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3" name="Text 20"/>
          <p:cNvSpPr txBox="1"/>
          <p:nvPr/>
        </p:nvSpPr>
        <p:spPr>
          <a:xfrm>
            <a:off x="1051560" y="3273552"/>
            <a:ext cx="7498080" cy="493776"/>
          </a:xfrm>
          <a:prstGeom prst="rect">
            <a:avLst/>
          </a:prstGeom>
          <a:noFill/>
          <a:ln/>
        </p:spPr>
        <p:txBody>
          <a:bodyPr wrap="square" lIns="0" tIns="0" rIns="0" bIns="0" rtlCol="0" anchor="ctr"/>
          <a:lstStyle/>
          <a:p>
            <a:pPr marL="0" indent="0">
              <a:buNone/>
            </a:pPr>
            <a:r>
              <a:rPr lang="en-US" sz="1500" dirty="0">
                <a:solidFill>
                  <a:schemeClr val="tx1"/>
                </a:solidFill>
              </a:rPr>
              <a:t>The satellite </a:t>
            </a:r>
            <a:r>
              <a:rPr lang="en-US" sz="1500" b="1" u="sng" dirty="0">
                <a:solidFill>
                  <a:schemeClr val="tx1"/>
                </a:solidFill>
              </a:rPr>
              <a:t>is</a:t>
            </a:r>
            <a:r>
              <a:rPr lang="en-US" sz="1500" dirty="0">
                <a:solidFill>
                  <a:schemeClr val="tx1"/>
                </a:solidFill>
              </a:rPr>
              <a:t> old, </a:t>
            </a:r>
            <a:r>
              <a:rPr lang="en-US" sz="1500" b="1" dirty="0">
                <a:solidFill>
                  <a:schemeClr val="tx1"/>
                </a:solidFill>
                <a:highlight>
                  <a:srgbClr val="FFD166"/>
                </a:highlight>
              </a:rPr>
              <a:t>yet</a:t>
            </a:r>
            <a:r>
              <a:rPr lang="en-US" sz="1500" dirty="0">
                <a:solidFill>
                  <a:schemeClr val="tx1"/>
                </a:solidFill>
              </a:rPr>
              <a:t> it </a:t>
            </a:r>
            <a:r>
              <a:rPr lang="en-US" sz="1500" b="1" u="sng" dirty="0">
                <a:solidFill>
                  <a:schemeClr val="tx1"/>
                </a:solidFill>
              </a:rPr>
              <a:t>is operating</a:t>
            </a:r>
            <a:r>
              <a:rPr lang="en-US" sz="1500" dirty="0">
                <a:solidFill>
                  <a:schemeClr val="tx1"/>
                </a:solidFill>
              </a:rPr>
              <a:t> well.</a:t>
            </a:r>
            <a:endParaRPr lang="en-US" sz="1500" dirty="0"/>
          </a:p>
        </p:txBody>
      </p:sp>
      <p:sp>
        <p:nvSpPr>
          <p:cNvPr id="24" name="Answer 6"/>
          <p:cNvSpPr/>
          <p:nvPr/>
        </p:nvSpPr>
        <p:spPr>
          <a:xfrm>
            <a:off x="457200" y="3840480"/>
            <a:ext cx="8229600" cy="493776"/>
          </a:xfrm>
          <a:prstGeom prst="roundRect">
            <a:avLst>
              <a:gd name="adj" fmla="val 22222"/>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5" name="Badge"/>
          <p:cNvSpPr/>
          <p:nvPr/>
        </p:nvSpPr>
        <p:spPr>
          <a:xfrm>
            <a:off x="548640" y="3913632"/>
            <a:ext cx="347472" cy="347472"/>
          </a:xfrm>
          <a:prstGeom prst="ellipse">
            <a:avLst/>
          </a:prstGeom>
          <a:solidFill>
            <a:schemeClr val="accent1"/>
          </a:solidFill>
          <a:ln w="6350">
            <a:solidFill>
              <a:schemeClr val="accent1"/>
            </a:solidFill>
            <a:prstDash val="solid"/>
          </a:ln>
        </p:spPr>
      </p:sp>
      <p:sp>
        <p:nvSpPr>
          <p:cNvPr id="26" name="Text 23"/>
          <p:cNvSpPr txBox="1"/>
          <p:nvPr/>
        </p:nvSpPr>
        <p:spPr>
          <a:xfrm>
            <a:off x="548640" y="3913632"/>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6</a:t>
            </a:r>
            <a:endParaRPr lang="en-US" sz="1500" dirty="0"/>
          </a:p>
        </p:txBody>
      </p:sp>
      <p:sp>
        <p:nvSpPr>
          <p:cNvPr id="27" name="Text 24"/>
          <p:cNvSpPr txBox="1"/>
          <p:nvPr/>
        </p:nvSpPr>
        <p:spPr>
          <a:xfrm>
            <a:off x="1051560" y="3840480"/>
            <a:ext cx="7498080" cy="493776"/>
          </a:xfrm>
          <a:prstGeom prst="rect">
            <a:avLst/>
          </a:prstGeom>
          <a:noFill/>
          <a:ln/>
        </p:spPr>
        <p:txBody>
          <a:bodyPr wrap="square" lIns="0" tIns="0" rIns="0" bIns="0" rtlCol="0" anchor="ctr"/>
          <a:lstStyle/>
          <a:p>
            <a:pPr marL="0" indent="0">
              <a:buNone/>
            </a:pPr>
            <a:r>
              <a:rPr lang="en-US" sz="1500" dirty="0">
                <a:solidFill>
                  <a:schemeClr val="tx1"/>
                </a:solidFill>
              </a:rPr>
              <a:t>I </a:t>
            </a:r>
            <a:r>
              <a:rPr lang="en-US" sz="1500" b="1" u="sng" dirty="0">
                <a:solidFill>
                  <a:schemeClr val="tx1"/>
                </a:solidFill>
              </a:rPr>
              <a:t>have</a:t>
            </a:r>
            <a:r>
              <a:rPr lang="en-US" sz="1500" dirty="0">
                <a:solidFill>
                  <a:schemeClr val="tx1"/>
                </a:solidFill>
              </a:rPr>
              <a:t> never </a:t>
            </a:r>
            <a:r>
              <a:rPr lang="en-US" sz="1500" b="1" u="sng" dirty="0">
                <a:solidFill>
                  <a:schemeClr val="tx1"/>
                </a:solidFill>
              </a:rPr>
              <a:t>met</a:t>
            </a:r>
            <a:r>
              <a:rPr lang="en-US" sz="1500" dirty="0">
                <a:solidFill>
                  <a:schemeClr val="tx1"/>
                </a:solidFill>
              </a:rPr>
              <a:t> an astronaut, </a:t>
            </a:r>
            <a:r>
              <a:rPr lang="en-US" sz="1500" b="1" dirty="0">
                <a:solidFill>
                  <a:schemeClr val="tx1"/>
                </a:solidFill>
                <a:highlight>
                  <a:srgbClr val="FFD166"/>
                </a:highlight>
              </a:rPr>
              <a:t>nor</a:t>
            </a:r>
            <a:r>
              <a:rPr lang="en-US" sz="1500" dirty="0">
                <a:solidFill>
                  <a:schemeClr val="tx1"/>
                </a:solidFill>
              </a:rPr>
              <a:t> </a:t>
            </a:r>
            <a:r>
              <a:rPr lang="en-US" sz="1500" b="1" u="sng" dirty="0">
                <a:solidFill>
                  <a:schemeClr val="tx1"/>
                </a:solidFill>
              </a:rPr>
              <a:t>have</a:t>
            </a:r>
            <a:r>
              <a:rPr lang="en-US" sz="1500" dirty="0">
                <a:solidFill>
                  <a:schemeClr val="tx1"/>
                </a:solidFill>
              </a:rPr>
              <a:t> I </a:t>
            </a:r>
            <a:r>
              <a:rPr lang="en-US" sz="1500" b="1" u="sng" dirty="0">
                <a:solidFill>
                  <a:schemeClr val="tx1"/>
                </a:solidFill>
              </a:rPr>
              <a:t>spoken</a:t>
            </a:r>
            <a:r>
              <a:rPr lang="en-US" sz="1500" dirty="0">
                <a:solidFill>
                  <a:schemeClr val="tx1"/>
                </a:solidFill>
              </a:rPr>
              <a:t> to one.</a:t>
            </a:r>
            <a:endParaRPr lang="en-US" sz="1500" dirty="0"/>
          </a:p>
        </p:txBody>
      </p:sp>
      <p:sp>
        <p:nvSpPr>
          <p:cNvPr id="28" name="Text 25"/>
          <p:cNvSpPr txBox="1"/>
          <p:nvPr/>
        </p:nvSpPr>
        <p:spPr>
          <a:xfrm>
            <a:off x="457200" y="4462272"/>
            <a:ext cx="8229600" cy="274320"/>
          </a:xfrm>
          <a:prstGeom prst="rect">
            <a:avLst/>
          </a:prstGeom>
          <a:noFill/>
          <a:ln/>
        </p:spPr>
        <p:txBody>
          <a:bodyPr wrap="square" lIns="0" tIns="0" rIns="0" bIns="0" rtlCol="0" anchor="ctr"/>
          <a:lstStyle/>
          <a:p>
            <a:pPr marL="0" indent="0" algn="ctr">
              <a:buNone/>
            </a:pPr>
            <a:r>
              <a:rPr lang="en-US" sz="1200" i="1" dirty="0">
                <a:solidFill>
                  <a:schemeClr val="accent6"/>
                </a:solidFill>
              </a:rPr>
              <a:t>underlined = verb      highlighted = connective</a:t>
            </a:r>
            <a:endParaRPr lang="en-US" sz="12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2c: join the simple sentences</a:t>
            </a:r>
            <a:endParaRPr lang="en-US" sz="3000" dirty="0"/>
          </a:p>
        </p:txBody>
      </p:sp>
      <p:sp>
        <p:nvSpPr>
          <p:cNvPr id="4" name="Example"/>
          <p:cNvSpPr/>
          <p:nvPr/>
        </p:nvSpPr>
        <p:spPr>
          <a:xfrm>
            <a:off x="457200" y="1005840"/>
            <a:ext cx="8229600" cy="777240"/>
          </a:xfrm>
          <a:prstGeom prst="roundRect">
            <a:avLst>
              <a:gd name="adj" fmla="val 14118"/>
            </a:avLst>
          </a:prstGeom>
          <a:solidFill>
            <a:schemeClr val="accent5"/>
          </a:solidFill>
          <a:ln w="9525">
            <a:solidFill>
              <a:schemeClr val="accent5"/>
            </a:solidFill>
            <a:prstDash val="solid"/>
          </a:ln>
        </p:spPr>
      </p:sp>
      <p:sp>
        <p:nvSpPr>
          <p:cNvPr id="5" name="Text 2"/>
          <p:cNvSpPr txBox="1"/>
          <p:nvPr/>
        </p:nvSpPr>
        <p:spPr>
          <a:xfrm>
            <a:off x="640080" y="1005840"/>
            <a:ext cx="7863840" cy="777240"/>
          </a:xfrm>
          <a:prstGeom prst="rect">
            <a:avLst/>
          </a:prstGeom>
          <a:noFill/>
          <a:ln/>
        </p:spPr>
        <p:txBody>
          <a:bodyPr wrap="square" lIns="0" tIns="0" rIns="0" bIns="0" rtlCol="0" anchor="ctr"/>
          <a:lstStyle/>
          <a:p>
            <a:pPr marL="0" indent="0">
              <a:buNone/>
            </a:pPr>
            <a:r>
              <a:rPr lang="en-US" sz="1400" b="1" dirty="0">
                <a:solidFill>
                  <a:schemeClr val="tx1"/>
                </a:solidFill>
              </a:rPr>
              <a:t>Example: </a:t>
            </a:r>
            <a:r>
              <a:rPr lang="en-US" sz="1400" dirty="0">
                <a:solidFill>
                  <a:schemeClr val="tx1"/>
                </a:solidFill>
              </a:rPr>
              <a:t>Early astronomers observed the moon. They observed the stars too.</a:t>
            </a:r>
            <a:endParaRPr lang="en-US" sz="1400" dirty="0"/>
          </a:p>
          <a:p>
            <a:pPr marL="0" indent="0">
              <a:buNone/>
            </a:pPr>
            <a:r>
              <a:rPr lang="en-US" sz="1400" b="1" dirty="0">
                <a:solidFill>
                  <a:schemeClr val="tx1"/>
                </a:solidFill>
              </a:rPr>
              <a:t>→ Early astronomers observed the moon, and they observed the stars too.</a:t>
            </a:r>
            <a:endParaRPr lang="en-US" sz="1400" dirty="0"/>
          </a:p>
        </p:txBody>
      </p:sp>
      <p:sp>
        <p:nvSpPr>
          <p:cNvPr id="6" name="Pair 1"/>
          <p:cNvSpPr/>
          <p:nvPr/>
        </p:nvSpPr>
        <p:spPr>
          <a:xfrm>
            <a:off x="457200" y="1920240"/>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7" name="Badge"/>
          <p:cNvSpPr/>
          <p:nvPr/>
        </p:nvSpPr>
        <p:spPr>
          <a:xfrm>
            <a:off x="548640" y="1975104"/>
            <a:ext cx="347472" cy="347472"/>
          </a:xfrm>
          <a:prstGeom prst="ellipse">
            <a:avLst/>
          </a:prstGeom>
          <a:solidFill>
            <a:schemeClr val="accent1"/>
          </a:solidFill>
          <a:ln w="6350">
            <a:solidFill>
              <a:schemeClr val="accent1"/>
            </a:solidFill>
            <a:prstDash val="solid"/>
          </a:ln>
        </p:spPr>
      </p:sp>
      <p:sp>
        <p:nvSpPr>
          <p:cNvPr id="8" name="Text 5"/>
          <p:cNvSpPr txBox="1"/>
          <p:nvPr/>
        </p:nvSpPr>
        <p:spPr>
          <a:xfrm>
            <a:off x="548640" y="1975104"/>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9" name="Text 6"/>
          <p:cNvSpPr txBox="1"/>
          <p:nvPr/>
        </p:nvSpPr>
        <p:spPr>
          <a:xfrm>
            <a:off x="1051560" y="1920240"/>
            <a:ext cx="7498080" cy="457200"/>
          </a:xfrm>
          <a:prstGeom prst="rect">
            <a:avLst/>
          </a:prstGeom>
          <a:noFill/>
          <a:ln/>
        </p:spPr>
        <p:txBody>
          <a:bodyPr wrap="square" lIns="0" tIns="0" rIns="0" bIns="0" rtlCol="0" anchor="ctr"/>
          <a:lstStyle/>
          <a:p>
            <a:pPr marL="0" indent="0">
              <a:buNone/>
            </a:pPr>
            <a:r>
              <a:rPr lang="en-US" sz="1400" dirty="0">
                <a:solidFill>
                  <a:schemeClr val="tx1"/>
                </a:solidFill>
              </a:rPr>
              <a:t>A satellite is a natural object. It is also an artificial object.</a:t>
            </a:r>
            <a:endParaRPr lang="en-US" sz="1400" dirty="0"/>
          </a:p>
        </p:txBody>
      </p:sp>
      <p:sp>
        <p:nvSpPr>
          <p:cNvPr id="10" name="Pair 2"/>
          <p:cNvSpPr/>
          <p:nvPr/>
        </p:nvSpPr>
        <p:spPr>
          <a:xfrm>
            <a:off x="457200" y="2450592"/>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1" name="Badge"/>
          <p:cNvSpPr/>
          <p:nvPr/>
        </p:nvSpPr>
        <p:spPr>
          <a:xfrm>
            <a:off x="548640" y="2505456"/>
            <a:ext cx="347472" cy="347472"/>
          </a:xfrm>
          <a:prstGeom prst="ellipse">
            <a:avLst/>
          </a:prstGeom>
          <a:solidFill>
            <a:schemeClr val="accent2"/>
          </a:solidFill>
          <a:ln w="6350">
            <a:solidFill>
              <a:schemeClr val="accent2"/>
            </a:solidFill>
            <a:prstDash val="solid"/>
          </a:ln>
        </p:spPr>
      </p:sp>
      <p:sp>
        <p:nvSpPr>
          <p:cNvPr id="12" name="Text 9"/>
          <p:cNvSpPr txBox="1"/>
          <p:nvPr/>
        </p:nvSpPr>
        <p:spPr>
          <a:xfrm>
            <a:off x="548640" y="2505456"/>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3" name="Text 10"/>
          <p:cNvSpPr txBox="1"/>
          <p:nvPr/>
        </p:nvSpPr>
        <p:spPr>
          <a:xfrm>
            <a:off x="1051560" y="2450592"/>
            <a:ext cx="7498080" cy="457200"/>
          </a:xfrm>
          <a:prstGeom prst="rect">
            <a:avLst/>
          </a:prstGeom>
          <a:noFill/>
          <a:ln/>
        </p:spPr>
        <p:txBody>
          <a:bodyPr wrap="square" lIns="0" tIns="0" rIns="0" bIns="0" rtlCol="0" anchor="ctr"/>
          <a:lstStyle/>
          <a:p>
            <a:pPr marL="0" indent="0">
              <a:buNone/>
            </a:pPr>
            <a:r>
              <a:rPr lang="en-US" sz="1400" dirty="0">
                <a:solidFill>
                  <a:schemeClr val="tx1"/>
                </a:solidFill>
              </a:rPr>
              <a:t>Galileo built a telescope. He could prove Copernicus’s theory correct.</a:t>
            </a:r>
            <a:endParaRPr lang="en-US" sz="1400" dirty="0"/>
          </a:p>
        </p:txBody>
      </p:sp>
      <p:sp>
        <p:nvSpPr>
          <p:cNvPr id="14" name="Pair 3"/>
          <p:cNvSpPr/>
          <p:nvPr/>
        </p:nvSpPr>
        <p:spPr>
          <a:xfrm>
            <a:off x="457200" y="2980944"/>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548640" y="3035808"/>
            <a:ext cx="347472" cy="347472"/>
          </a:xfrm>
          <a:prstGeom prst="ellipse">
            <a:avLst/>
          </a:prstGeom>
          <a:solidFill>
            <a:schemeClr val="accent3"/>
          </a:solidFill>
          <a:ln w="6350">
            <a:solidFill>
              <a:schemeClr val="accent3"/>
            </a:solidFill>
            <a:prstDash val="solid"/>
          </a:ln>
        </p:spPr>
      </p:sp>
      <p:sp>
        <p:nvSpPr>
          <p:cNvPr id="16" name="Text 13"/>
          <p:cNvSpPr txBox="1"/>
          <p:nvPr/>
        </p:nvSpPr>
        <p:spPr>
          <a:xfrm>
            <a:off x="548640" y="3035808"/>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051560" y="2980944"/>
            <a:ext cx="7498080" cy="457200"/>
          </a:xfrm>
          <a:prstGeom prst="rect">
            <a:avLst/>
          </a:prstGeom>
          <a:noFill/>
          <a:ln/>
        </p:spPr>
        <p:txBody>
          <a:bodyPr wrap="square" lIns="0" tIns="0" rIns="0" bIns="0" rtlCol="0" anchor="ctr"/>
          <a:lstStyle/>
          <a:p>
            <a:pPr marL="0" indent="0">
              <a:buNone/>
            </a:pPr>
            <a:r>
              <a:rPr lang="en-US" sz="1400" dirty="0">
                <a:solidFill>
                  <a:schemeClr val="tx1"/>
                </a:solidFill>
              </a:rPr>
              <a:t>We can fly to the moon. We can’t live there yet.</a:t>
            </a:r>
            <a:endParaRPr lang="en-US" sz="1400" dirty="0"/>
          </a:p>
        </p:txBody>
      </p:sp>
      <p:sp>
        <p:nvSpPr>
          <p:cNvPr id="18" name="Pair 4"/>
          <p:cNvSpPr/>
          <p:nvPr/>
        </p:nvSpPr>
        <p:spPr>
          <a:xfrm>
            <a:off x="457200" y="3511296"/>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9" name="Badge"/>
          <p:cNvSpPr/>
          <p:nvPr/>
        </p:nvSpPr>
        <p:spPr>
          <a:xfrm>
            <a:off x="548640" y="3566160"/>
            <a:ext cx="347472" cy="347472"/>
          </a:xfrm>
          <a:prstGeom prst="ellipse">
            <a:avLst/>
          </a:prstGeom>
          <a:solidFill>
            <a:schemeClr val="accent4"/>
          </a:solidFill>
          <a:ln w="6350">
            <a:solidFill>
              <a:schemeClr val="accent4"/>
            </a:solidFill>
            <a:prstDash val="solid"/>
          </a:ln>
        </p:spPr>
      </p:sp>
      <p:sp>
        <p:nvSpPr>
          <p:cNvPr id="20" name="Text 17"/>
          <p:cNvSpPr txBox="1"/>
          <p:nvPr/>
        </p:nvSpPr>
        <p:spPr>
          <a:xfrm>
            <a:off x="548640" y="3566160"/>
            <a:ext cx="347472" cy="347472"/>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1" name="Text 18"/>
          <p:cNvSpPr txBox="1"/>
          <p:nvPr/>
        </p:nvSpPr>
        <p:spPr>
          <a:xfrm>
            <a:off x="1051560" y="3511296"/>
            <a:ext cx="7498080" cy="457200"/>
          </a:xfrm>
          <a:prstGeom prst="rect">
            <a:avLst/>
          </a:prstGeom>
          <a:noFill/>
          <a:ln/>
        </p:spPr>
        <p:txBody>
          <a:bodyPr wrap="square" lIns="0" tIns="0" rIns="0" bIns="0" rtlCol="0" anchor="ctr"/>
          <a:lstStyle/>
          <a:p>
            <a:pPr marL="0" indent="0">
              <a:buNone/>
            </a:pPr>
            <a:r>
              <a:rPr lang="en-US" sz="1400" dirty="0">
                <a:solidFill>
                  <a:schemeClr val="tx1"/>
                </a:solidFill>
              </a:rPr>
              <a:t>Astronauts enjoy life on the ISS. They do not stay there for long periods.</a:t>
            </a:r>
            <a:endParaRPr lang="en-US" sz="1400" dirty="0"/>
          </a:p>
        </p:txBody>
      </p:sp>
      <p:sp>
        <p:nvSpPr>
          <p:cNvPr id="22" name="Pair 5"/>
          <p:cNvSpPr/>
          <p:nvPr/>
        </p:nvSpPr>
        <p:spPr>
          <a:xfrm>
            <a:off x="457200" y="4041648"/>
            <a:ext cx="8229600" cy="457200"/>
          </a:xfrm>
          <a:prstGeom prst="roundRect">
            <a:avLst>
              <a:gd name="adj" fmla="val 2400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3" name="Badge"/>
          <p:cNvSpPr/>
          <p:nvPr/>
        </p:nvSpPr>
        <p:spPr>
          <a:xfrm>
            <a:off x="548640" y="4096512"/>
            <a:ext cx="347472" cy="347472"/>
          </a:xfrm>
          <a:prstGeom prst="ellipse">
            <a:avLst/>
          </a:prstGeom>
          <a:solidFill>
            <a:schemeClr val="accent5"/>
          </a:solidFill>
          <a:ln w="6350">
            <a:solidFill>
              <a:schemeClr val="accent5"/>
            </a:solidFill>
            <a:prstDash val="solid"/>
          </a:ln>
        </p:spPr>
      </p:sp>
      <p:sp>
        <p:nvSpPr>
          <p:cNvPr id="24" name="Text 21"/>
          <p:cNvSpPr txBox="1"/>
          <p:nvPr/>
        </p:nvSpPr>
        <p:spPr>
          <a:xfrm>
            <a:off x="548640" y="4096512"/>
            <a:ext cx="347472" cy="347472"/>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5" name="Text 22"/>
          <p:cNvSpPr txBox="1"/>
          <p:nvPr/>
        </p:nvSpPr>
        <p:spPr>
          <a:xfrm>
            <a:off x="1051560" y="4041648"/>
            <a:ext cx="7498080" cy="457200"/>
          </a:xfrm>
          <a:prstGeom prst="rect">
            <a:avLst/>
          </a:prstGeom>
          <a:noFill/>
          <a:ln/>
        </p:spPr>
        <p:txBody>
          <a:bodyPr wrap="square" lIns="0" tIns="0" rIns="0" bIns="0" rtlCol="0" anchor="ctr"/>
          <a:lstStyle/>
          <a:p>
            <a:pPr marL="0" indent="0">
              <a:buNone/>
            </a:pPr>
            <a:r>
              <a:rPr lang="en-US" sz="1400" dirty="0">
                <a:solidFill>
                  <a:schemeClr val="tx1"/>
                </a:solidFill>
              </a:rPr>
              <a:t>We can visit the museum. We can visit the space centre.</a:t>
            </a:r>
            <a:endParaRPr lang="en-US" sz="14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2c: model answers</a:t>
            </a:r>
            <a:endParaRPr lang="en-US" sz="3000" dirty="0"/>
          </a:p>
        </p:txBody>
      </p:sp>
      <p:sp>
        <p:nvSpPr>
          <p:cNvPr id="4" name="Answer 1"/>
          <p:cNvSpPr/>
          <p:nvPr/>
        </p:nvSpPr>
        <p:spPr>
          <a:xfrm>
            <a:off x="457200" y="1051560"/>
            <a:ext cx="8229600" cy="585216"/>
          </a:xfrm>
          <a:prstGeom prst="roundRect">
            <a:avLst>
              <a:gd name="adj" fmla="val 1875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48640" y="1161288"/>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48640" y="1161288"/>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097280" y="1051560"/>
            <a:ext cx="5943600" cy="585216"/>
          </a:xfrm>
          <a:prstGeom prst="rect">
            <a:avLst/>
          </a:prstGeom>
          <a:noFill/>
          <a:ln/>
        </p:spPr>
        <p:txBody>
          <a:bodyPr wrap="square" lIns="0" tIns="0" rIns="0" bIns="0" rtlCol="0" anchor="ctr"/>
          <a:lstStyle/>
          <a:p>
            <a:pPr marL="0" indent="0">
              <a:buNone/>
            </a:pPr>
            <a:r>
              <a:rPr lang="en-US" sz="1400" dirty="0">
                <a:solidFill>
                  <a:schemeClr val="tx1"/>
                </a:solidFill>
              </a:rPr>
              <a:t>A satellite is a natural object, </a:t>
            </a:r>
            <a:r>
              <a:rPr lang="en-US" sz="1400" b="1" dirty="0">
                <a:solidFill>
                  <a:schemeClr val="tx1"/>
                </a:solidFill>
                <a:highlight>
                  <a:srgbClr val="FFD166"/>
                </a:highlight>
              </a:rPr>
              <a:t>and</a:t>
            </a:r>
            <a:r>
              <a:rPr lang="en-US" sz="1400" dirty="0">
                <a:solidFill>
                  <a:schemeClr val="tx1"/>
                </a:solidFill>
              </a:rPr>
              <a:t> it is also an artificial object.</a:t>
            </a:r>
            <a:endParaRPr lang="en-US" sz="1400" dirty="0"/>
          </a:p>
        </p:txBody>
      </p:sp>
      <p:sp>
        <p:nvSpPr>
          <p:cNvPr id="8" name="Text 5"/>
          <p:cNvSpPr txBox="1"/>
          <p:nvPr/>
        </p:nvSpPr>
        <p:spPr>
          <a:xfrm>
            <a:off x="7040880" y="1051560"/>
            <a:ext cx="1554480" cy="585216"/>
          </a:xfrm>
          <a:prstGeom prst="rect">
            <a:avLst/>
          </a:prstGeom>
          <a:noFill/>
          <a:ln/>
        </p:spPr>
        <p:txBody>
          <a:bodyPr wrap="square" lIns="0" tIns="0" rIns="0" bIns="0" rtlCol="0" anchor="ctr"/>
          <a:lstStyle/>
          <a:p>
            <a:pPr marL="0" indent="0" algn="r">
              <a:buNone/>
            </a:pPr>
            <a:r>
              <a:rPr lang="en-US" sz="1100" i="1" dirty="0">
                <a:solidFill>
                  <a:schemeClr val="tx2"/>
                </a:solidFill>
              </a:rPr>
              <a:t>also: but / yet</a:t>
            </a:r>
            <a:endParaRPr lang="en-US" sz="1100" dirty="0"/>
          </a:p>
        </p:txBody>
      </p:sp>
      <p:sp>
        <p:nvSpPr>
          <p:cNvPr id="9" name="Answer 2"/>
          <p:cNvSpPr/>
          <p:nvPr/>
        </p:nvSpPr>
        <p:spPr>
          <a:xfrm>
            <a:off x="457200" y="1728216"/>
            <a:ext cx="8229600" cy="585216"/>
          </a:xfrm>
          <a:prstGeom prst="roundRect">
            <a:avLst>
              <a:gd name="adj" fmla="val 1875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48640" y="1837944"/>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48640" y="183794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097280" y="1728216"/>
            <a:ext cx="5943600" cy="585216"/>
          </a:xfrm>
          <a:prstGeom prst="rect">
            <a:avLst/>
          </a:prstGeom>
          <a:noFill/>
          <a:ln/>
        </p:spPr>
        <p:txBody>
          <a:bodyPr wrap="square" lIns="0" tIns="0" rIns="0" bIns="0" rtlCol="0" anchor="ctr"/>
          <a:lstStyle/>
          <a:p>
            <a:pPr marL="0" indent="0">
              <a:buNone/>
            </a:pPr>
            <a:r>
              <a:rPr lang="en-US" sz="1400" dirty="0">
                <a:solidFill>
                  <a:schemeClr val="tx1"/>
                </a:solidFill>
              </a:rPr>
              <a:t>Galileo built a telescope, </a:t>
            </a:r>
            <a:r>
              <a:rPr lang="en-US" sz="1400" b="1" dirty="0">
                <a:solidFill>
                  <a:schemeClr val="tx1"/>
                </a:solidFill>
                <a:highlight>
                  <a:srgbClr val="FFD166"/>
                </a:highlight>
              </a:rPr>
              <a:t>so</a:t>
            </a:r>
            <a:r>
              <a:rPr lang="en-US" sz="1400" dirty="0">
                <a:solidFill>
                  <a:schemeClr val="tx1"/>
                </a:solidFill>
              </a:rPr>
              <a:t> he could prove Copernicus’s theory correct.</a:t>
            </a:r>
            <a:endParaRPr lang="en-US" sz="1400" dirty="0"/>
          </a:p>
        </p:txBody>
      </p:sp>
      <p:sp>
        <p:nvSpPr>
          <p:cNvPr id="13" name="Text 10"/>
          <p:cNvSpPr txBox="1"/>
          <p:nvPr/>
        </p:nvSpPr>
        <p:spPr>
          <a:xfrm>
            <a:off x="7040880" y="1728216"/>
            <a:ext cx="1554480" cy="585216"/>
          </a:xfrm>
          <a:prstGeom prst="rect">
            <a:avLst/>
          </a:prstGeom>
          <a:noFill/>
          <a:ln/>
        </p:spPr>
        <p:txBody>
          <a:bodyPr wrap="square" lIns="0" tIns="0" rIns="0" bIns="0" rtlCol="0" anchor="ctr"/>
          <a:lstStyle/>
          <a:p>
            <a:pPr marL="0" indent="0" algn="r">
              <a:buNone/>
            </a:pPr>
            <a:endParaRPr lang="en-US" sz="1100" dirty="0"/>
          </a:p>
        </p:txBody>
      </p:sp>
      <p:sp>
        <p:nvSpPr>
          <p:cNvPr id="14" name="Answer 3"/>
          <p:cNvSpPr/>
          <p:nvPr/>
        </p:nvSpPr>
        <p:spPr>
          <a:xfrm>
            <a:off x="457200" y="2404872"/>
            <a:ext cx="8229600" cy="585216"/>
          </a:xfrm>
          <a:prstGeom prst="roundRect">
            <a:avLst>
              <a:gd name="adj" fmla="val 1875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548640" y="2514600"/>
            <a:ext cx="365760" cy="365760"/>
          </a:xfrm>
          <a:prstGeom prst="ellipse">
            <a:avLst/>
          </a:prstGeom>
          <a:solidFill>
            <a:schemeClr val="accent3"/>
          </a:solidFill>
          <a:ln w="6350">
            <a:solidFill>
              <a:schemeClr val="accent3"/>
            </a:solidFill>
            <a:prstDash val="solid"/>
          </a:ln>
        </p:spPr>
      </p:sp>
      <p:sp>
        <p:nvSpPr>
          <p:cNvPr id="16" name="Text 13"/>
          <p:cNvSpPr txBox="1"/>
          <p:nvPr/>
        </p:nvSpPr>
        <p:spPr>
          <a:xfrm>
            <a:off x="548640" y="2514600"/>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097280" y="2404872"/>
            <a:ext cx="5943600" cy="585216"/>
          </a:xfrm>
          <a:prstGeom prst="rect">
            <a:avLst/>
          </a:prstGeom>
          <a:noFill/>
          <a:ln/>
        </p:spPr>
        <p:txBody>
          <a:bodyPr wrap="square" lIns="0" tIns="0" rIns="0" bIns="0" rtlCol="0" anchor="ctr"/>
          <a:lstStyle/>
          <a:p>
            <a:pPr marL="0" indent="0">
              <a:buNone/>
            </a:pPr>
            <a:r>
              <a:rPr lang="en-US" sz="1400" dirty="0">
                <a:solidFill>
                  <a:schemeClr val="tx1"/>
                </a:solidFill>
              </a:rPr>
              <a:t>We can fly to the moon, </a:t>
            </a:r>
            <a:r>
              <a:rPr lang="en-US" sz="1400" b="1" dirty="0">
                <a:solidFill>
                  <a:schemeClr val="tx1"/>
                </a:solidFill>
                <a:highlight>
                  <a:srgbClr val="FFD166"/>
                </a:highlight>
              </a:rPr>
              <a:t>but</a:t>
            </a:r>
            <a:r>
              <a:rPr lang="en-US" sz="1400" dirty="0">
                <a:solidFill>
                  <a:schemeClr val="tx1"/>
                </a:solidFill>
              </a:rPr>
              <a:t> we can’t live there yet.</a:t>
            </a:r>
            <a:endParaRPr lang="en-US" sz="1400" dirty="0"/>
          </a:p>
        </p:txBody>
      </p:sp>
      <p:sp>
        <p:nvSpPr>
          <p:cNvPr id="18" name="Text 15"/>
          <p:cNvSpPr txBox="1"/>
          <p:nvPr/>
        </p:nvSpPr>
        <p:spPr>
          <a:xfrm>
            <a:off x="7040880" y="2404872"/>
            <a:ext cx="1554480" cy="585216"/>
          </a:xfrm>
          <a:prstGeom prst="rect">
            <a:avLst/>
          </a:prstGeom>
          <a:noFill/>
          <a:ln/>
        </p:spPr>
        <p:txBody>
          <a:bodyPr wrap="square" lIns="0" tIns="0" rIns="0" bIns="0" rtlCol="0" anchor="ctr"/>
          <a:lstStyle/>
          <a:p>
            <a:pPr marL="0" indent="0" algn="r">
              <a:buNone/>
            </a:pPr>
            <a:r>
              <a:rPr lang="en-US" sz="1100" i="1" dirty="0">
                <a:solidFill>
                  <a:schemeClr val="tx2"/>
                </a:solidFill>
              </a:rPr>
              <a:t>also: yet</a:t>
            </a:r>
            <a:endParaRPr lang="en-US" sz="1100" dirty="0"/>
          </a:p>
        </p:txBody>
      </p:sp>
      <p:sp>
        <p:nvSpPr>
          <p:cNvPr id="19" name="Answer 4"/>
          <p:cNvSpPr/>
          <p:nvPr/>
        </p:nvSpPr>
        <p:spPr>
          <a:xfrm>
            <a:off x="457200" y="3081528"/>
            <a:ext cx="8229600" cy="585216"/>
          </a:xfrm>
          <a:prstGeom prst="roundRect">
            <a:avLst>
              <a:gd name="adj" fmla="val 1875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0" name="Badge"/>
          <p:cNvSpPr/>
          <p:nvPr/>
        </p:nvSpPr>
        <p:spPr>
          <a:xfrm>
            <a:off x="548640" y="3191256"/>
            <a:ext cx="365760" cy="365760"/>
          </a:xfrm>
          <a:prstGeom prst="ellipse">
            <a:avLst/>
          </a:prstGeom>
          <a:solidFill>
            <a:schemeClr val="accent4"/>
          </a:solidFill>
          <a:ln w="6350">
            <a:solidFill>
              <a:schemeClr val="accent4"/>
            </a:solidFill>
            <a:prstDash val="solid"/>
          </a:ln>
        </p:spPr>
      </p:sp>
      <p:sp>
        <p:nvSpPr>
          <p:cNvPr id="21" name="Text 18"/>
          <p:cNvSpPr txBox="1"/>
          <p:nvPr/>
        </p:nvSpPr>
        <p:spPr>
          <a:xfrm>
            <a:off x="548640" y="3191256"/>
            <a:ext cx="365760" cy="365760"/>
          </a:xfrm>
          <a:prstGeom prst="rect">
            <a:avLst/>
          </a:prstGeom>
          <a:noFill/>
          <a:ln/>
        </p:spPr>
        <p:txBody>
          <a:bodyPr wrap="square" lIns="0" tIns="0" rIns="0" bIns="0" rtlCol="0" anchor="ctr"/>
          <a:lstStyle/>
          <a:p>
            <a:pPr marL="0" indent="0" algn="ctr">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2" name="Text 19"/>
          <p:cNvSpPr txBox="1"/>
          <p:nvPr/>
        </p:nvSpPr>
        <p:spPr>
          <a:xfrm>
            <a:off x="1097280" y="3081528"/>
            <a:ext cx="5943600" cy="585216"/>
          </a:xfrm>
          <a:prstGeom prst="rect">
            <a:avLst/>
          </a:prstGeom>
          <a:noFill/>
          <a:ln/>
        </p:spPr>
        <p:txBody>
          <a:bodyPr wrap="square" lIns="0" tIns="0" rIns="0" bIns="0" rtlCol="0" anchor="ctr"/>
          <a:lstStyle/>
          <a:p>
            <a:pPr marL="0" indent="0">
              <a:buNone/>
            </a:pPr>
            <a:r>
              <a:rPr lang="en-US" sz="1400" dirty="0">
                <a:solidFill>
                  <a:schemeClr val="tx1"/>
                </a:solidFill>
              </a:rPr>
              <a:t>Astronauts enjoy life on the ISS, </a:t>
            </a:r>
            <a:r>
              <a:rPr lang="en-US" sz="1400" b="1" dirty="0">
                <a:solidFill>
                  <a:schemeClr val="tx1"/>
                </a:solidFill>
                <a:highlight>
                  <a:srgbClr val="FFD166"/>
                </a:highlight>
              </a:rPr>
              <a:t>but</a:t>
            </a:r>
            <a:r>
              <a:rPr lang="en-US" sz="1400" dirty="0">
                <a:solidFill>
                  <a:schemeClr val="tx1"/>
                </a:solidFill>
              </a:rPr>
              <a:t> they do not stay there for long periods.</a:t>
            </a:r>
            <a:endParaRPr lang="en-US" sz="1400" dirty="0"/>
          </a:p>
        </p:txBody>
      </p:sp>
      <p:sp>
        <p:nvSpPr>
          <p:cNvPr id="23" name="Text 20"/>
          <p:cNvSpPr txBox="1"/>
          <p:nvPr/>
        </p:nvSpPr>
        <p:spPr>
          <a:xfrm>
            <a:off x="7040880" y="3081528"/>
            <a:ext cx="1554480" cy="585216"/>
          </a:xfrm>
          <a:prstGeom prst="rect">
            <a:avLst/>
          </a:prstGeom>
          <a:noFill/>
          <a:ln/>
        </p:spPr>
        <p:txBody>
          <a:bodyPr wrap="square" lIns="0" tIns="0" rIns="0" bIns="0" rtlCol="0" anchor="ctr"/>
          <a:lstStyle/>
          <a:p>
            <a:pPr marL="0" indent="0" algn="r">
              <a:buNone/>
            </a:pPr>
            <a:r>
              <a:rPr lang="en-US" sz="1100" i="1" dirty="0">
                <a:solidFill>
                  <a:schemeClr val="tx2"/>
                </a:solidFill>
              </a:rPr>
              <a:t>also: yet</a:t>
            </a:r>
            <a:endParaRPr lang="en-US" sz="1100" dirty="0"/>
          </a:p>
        </p:txBody>
      </p:sp>
      <p:sp>
        <p:nvSpPr>
          <p:cNvPr id="24" name="Answer 5"/>
          <p:cNvSpPr/>
          <p:nvPr/>
        </p:nvSpPr>
        <p:spPr>
          <a:xfrm>
            <a:off x="457200" y="3758184"/>
            <a:ext cx="8229600" cy="585216"/>
          </a:xfrm>
          <a:prstGeom prst="roundRect">
            <a:avLst>
              <a:gd name="adj" fmla="val 18750"/>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25" name="Badge"/>
          <p:cNvSpPr/>
          <p:nvPr/>
        </p:nvSpPr>
        <p:spPr>
          <a:xfrm>
            <a:off x="548640" y="3867912"/>
            <a:ext cx="365760" cy="365760"/>
          </a:xfrm>
          <a:prstGeom prst="ellipse">
            <a:avLst/>
          </a:prstGeom>
          <a:solidFill>
            <a:schemeClr val="accent5"/>
          </a:solidFill>
          <a:ln w="6350">
            <a:solidFill>
              <a:schemeClr val="accent5"/>
            </a:solidFill>
            <a:prstDash val="solid"/>
          </a:ln>
        </p:spPr>
      </p:sp>
      <p:sp>
        <p:nvSpPr>
          <p:cNvPr id="26" name="Text 23"/>
          <p:cNvSpPr txBox="1"/>
          <p:nvPr/>
        </p:nvSpPr>
        <p:spPr>
          <a:xfrm>
            <a:off x="548640" y="3867912"/>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5</a:t>
            </a:r>
            <a:endParaRPr lang="en-US" sz="1500" dirty="0"/>
          </a:p>
        </p:txBody>
      </p:sp>
      <p:sp>
        <p:nvSpPr>
          <p:cNvPr id="27" name="Text 24"/>
          <p:cNvSpPr txBox="1"/>
          <p:nvPr/>
        </p:nvSpPr>
        <p:spPr>
          <a:xfrm>
            <a:off x="1097280" y="3758184"/>
            <a:ext cx="5943600" cy="585216"/>
          </a:xfrm>
          <a:prstGeom prst="rect">
            <a:avLst/>
          </a:prstGeom>
          <a:noFill/>
          <a:ln/>
        </p:spPr>
        <p:txBody>
          <a:bodyPr wrap="square" lIns="0" tIns="0" rIns="0" bIns="0" rtlCol="0" anchor="ctr"/>
          <a:lstStyle/>
          <a:p>
            <a:pPr marL="0" indent="0">
              <a:buNone/>
            </a:pPr>
            <a:r>
              <a:rPr lang="en-US" sz="1400" dirty="0">
                <a:solidFill>
                  <a:schemeClr val="tx1"/>
                </a:solidFill>
              </a:rPr>
              <a:t>We can visit the museum, </a:t>
            </a:r>
            <a:r>
              <a:rPr lang="en-US" sz="1400" b="1" dirty="0">
                <a:solidFill>
                  <a:schemeClr val="tx1"/>
                </a:solidFill>
                <a:highlight>
                  <a:srgbClr val="FFD166"/>
                </a:highlight>
              </a:rPr>
              <a:t>or</a:t>
            </a:r>
            <a:r>
              <a:rPr lang="en-US" sz="1400" dirty="0">
                <a:solidFill>
                  <a:schemeClr val="tx1"/>
                </a:solidFill>
              </a:rPr>
              <a:t> we can visit the space centre.</a:t>
            </a:r>
            <a:endParaRPr lang="en-US" sz="1400" dirty="0"/>
          </a:p>
        </p:txBody>
      </p:sp>
      <p:sp>
        <p:nvSpPr>
          <p:cNvPr id="28" name="Text 25"/>
          <p:cNvSpPr txBox="1"/>
          <p:nvPr/>
        </p:nvSpPr>
        <p:spPr>
          <a:xfrm>
            <a:off x="7040880" y="3758184"/>
            <a:ext cx="1554480" cy="585216"/>
          </a:xfrm>
          <a:prstGeom prst="rect">
            <a:avLst/>
          </a:prstGeom>
          <a:noFill/>
          <a:ln/>
        </p:spPr>
        <p:txBody>
          <a:bodyPr wrap="square" lIns="0" tIns="0" rIns="0" bIns="0" rtlCol="0" anchor="ctr"/>
          <a:lstStyle/>
          <a:p>
            <a:pPr marL="0" indent="0" algn="r">
              <a:buNone/>
            </a:pPr>
            <a:r>
              <a:rPr lang="en-US" sz="1100" i="1" dirty="0">
                <a:solidFill>
                  <a:schemeClr val="tx2"/>
                </a:solidFill>
              </a:rPr>
              <a:t>also: and</a:t>
            </a:r>
            <a:endParaRPr lang="en-US" sz="11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2d: write your own sentences</a:t>
            </a:r>
            <a:endParaRPr lang="en-US" sz="3000" dirty="0"/>
          </a:p>
        </p:txBody>
      </p:sp>
      <p:sp>
        <p:nvSpPr>
          <p:cNvPr id="4" name="Text 1"/>
          <p:cNvSpPr txBox="1"/>
          <p:nvPr/>
        </p:nvSpPr>
        <p:spPr>
          <a:xfrm>
            <a:off x="457200" y="914400"/>
            <a:ext cx="7589520" cy="548640"/>
          </a:xfrm>
          <a:prstGeom prst="rect">
            <a:avLst/>
          </a:prstGeom>
          <a:noFill/>
          <a:ln/>
        </p:spPr>
        <p:txBody>
          <a:bodyPr wrap="square" lIns="0" tIns="0" rIns="0" bIns="0" rtlCol="0" anchor="ctr"/>
          <a:lstStyle/>
          <a:p>
            <a:pPr marL="0" indent="0">
              <a:buNone/>
            </a:pPr>
            <a:r>
              <a:rPr lang="en-US" sz="1600" i="1" dirty="0">
                <a:solidFill>
                  <a:schemeClr val="tx2"/>
                </a:solidFill>
              </a:rPr>
              <a:t>Write three of your own compound sentences to explain what you’ve learnt about the history of space.</a:t>
            </a:r>
            <a:endParaRPr lang="en-US" sz="1600" dirty="0"/>
          </a:p>
        </p:txBody>
      </p:sp>
      <p:sp>
        <p:nvSpPr>
          <p:cNvPr id="5" name="Frames card"/>
          <p:cNvSpPr/>
          <p:nvPr/>
        </p:nvSpPr>
        <p:spPr>
          <a:xfrm>
            <a:off x="457200" y="1554480"/>
            <a:ext cx="4846320" cy="2606040"/>
          </a:xfrm>
          <a:prstGeom prst="roundRect">
            <a:avLst>
              <a:gd name="adj" fmla="val 4211"/>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6" name="Text 3"/>
          <p:cNvSpPr txBox="1"/>
          <p:nvPr/>
        </p:nvSpPr>
        <p:spPr>
          <a:xfrm>
            <a:off x="685800" y="1645920"/>
            <a:ext cx="4389120" cy="274320"/>
          </a:xfrm>
          <a:prstGeom prst="rect">
            <a:avLst/>
          </a:prstGeom>
          <a:noFill/>
          <a:ln/>
        </p:spPr>
        <p:txBody>
          <a:bodyPr wrap="square" lIns="0" tIns="0" rIns="0" bIns="0" rtlCol="0" anchor="ctr"/>
          <a:lstStyle/>
          <a:p>
            <a:pPr marL="0" indent="0">
              <a:buNone/>
            </a:pPr>
            <a:r>
              <a:rPr lang="en-US" sz="1300" b="1" dirty="0">
                <a:solidFill>
                  <a:schemeClr val="accent4"/>
                </a:solidFill>
              </a:rPr>
              <a:t>SENTENCE FRAMES</a:t>
            </a:r>
            <a:endParaRPr lang="en-US" sz="1300" dirty="0"/>
          </a:p>
        </p:txBody>
      </p:sp>
      <p:sp>
        <p:nvSpPr>
          <p:cNvPr id="7" name="Text 4"/>
          <p:cNvSpPr txBox="1"/>
          <p:nvPr/>
        </p:nvSpPr>
        <p:spPr>
          <a:xfrm>
            <a:off x="685800" y="2011680"/>
            <a:ext cx="4389120" cy="10058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______ in 19__, so ______.</a:t>
            </a:r>
            <a:endParaRPr lang="en-US" sz="1800" dirty="0"/>
          </a:p>
          <a:p>
            <a:pPr marL="342900" indent="-342900">
              <a:spcAft>
                <a:spcPts val="800"/>
              </a:spcAft>
              <a:buSzPct val="100000"/>
              <a:buChar char="•"/>
            </a:pPr>
            <a:r>
              <a:rPr lang="en-US" sz="1800" dirty="0">
                <a:solidFill>
                  <a:schemeClr val="tx1"/>
                </a:solidFill>
              </a:rPr>
              <a:t>______ , but ______ .</a:t>
            </a:r>
            <a:endParaRPr lang="en-US" sz="1800" dirty="0"/>
          </a:p>
          <a:p>
            <a:pPr marL="342900" indent="-342900">
              <a:spcAft>
                <a:spcPts val="800"/>
              </a:spcAft>
              <a:buSzPct val="100000"/>
              <a:buChar char="•"/>
            </a:pPr>
            <a:r>
              <a:rPr lang="en-US" sz="1800" dirty="0">
                <a:solidFill>
                  <a:schemeClr val="tx1"/>
                </a:solidFill>
              </a:rPr>
              <a:t>______ , and ______ .</a:t>
            </a:r>
            <a:endParaRPr lang="en-US" sz="1800" dirty="0"/>
          </a:p>
        </p:txBody>
      </p:sp>
      <p:sp>
        <p:nvSpPr>
          <p:cNvPr id="8" name="Text 5"/>
          <p:cNvSpPr txBox="1"/>
          <p:nvPr/>
        </p:nvSpPr>
        <p:spPr>
          <a:xfrm>
            <a:off x="685800" y="3108960"/>
            <a:ext cx="4389120" cy="274320"/>
          </a:xfrm>
          <a:prstGeom prst="rect">
            <a:avLst/>
          </a:prstGeom>
          <a:noFill/>
          <a:ln/>
        </p:spPr>
        <p:txBody>
          <a:bodyPr wrap="square" lIns="0" tIns="0" rIns="0" bIns="0" rtlCol="0" anchor="ctr"/>
          <a:lstStyle/>
          <a:p>
            <a:pPr marL="0" indent="0">
              <a:buNone/>
            </a:pPr>
            <a:r>
              <a:rPr lang="en-US" sz="1300" b="1" dirty="0">
                <a:solidFill>
                  <a:schemeClr val="accent4"/>
                </a:solidFill>
              </a:rPr>
              <a:t>IDEAS</a:t>
            </a:r>
            <a:endParaRPr lang="en-US" sz="1300" dirty="0"/>
          </a:p>
        </p:txBody>
      </p:sp>
      <p:sp>
        <p:nvSpPr>
          <p:cNvPr id="9" name="Text 6"/>
          <p:cNvSpPr txBox="1"/>
          <p:nvPr/>
        </p:nvSpPr>
        <p:spPr>
          <a:xfrm>
            <a:off x="685800" y="3383280"/>
            <a:ext cx="4389120" cy="640080"/>
          </a:xfrm>
          <a:prstGeom prst="rect">
            <a:avLst/>
          </a:prstGeom>
          <a:noFill/>
          <a:ln/>
        </p:spPr>
        <p:txBody>
          <a:bodyPr wrap="square" lIns="0" tIns="0" rIns="0" bIns="0" rtlCol="0" anchor="t"/>
          <a:lstStyle/>
          <a:p>
            <a:pPr marL="0" indent="0">
              <a:buNone/>
            </a:pPr>
            <a:r>
              <a:rPr lang="en-US" sz="1500" dirty="0">
                <a:solidFill>
                  <a:schemeClr val="tx1"/>
                </a:solidFill>
              </a:rPr>
              <a:t>Sputnik I · Gagarin · the moon · telescope · ISS · satellite</a:t>
            </a:r>
            <a:endParaRPr lang="en-US" sz="1500" dirty="0"/>
          </a:p>
        </p:txBody>
      </p:sp>
      <p:sp>
        <p:nvSpPr>
          <p:cNvPr id="10" name="Checklist"/>
          <p:cNvSpPr/>
          <p:nvPr/>
        </p:nvSpPr>
        <p:spPr>
          <a:xfrm>
            <a:off x="5486400" y="1554480"/>
            <a:ext cx="3200400" cy="2606040"/>
          </a:xfrm>
          <a:prstGeom prst="roundRect">
            <a:avLst>
              <a:gd name="adj" fmla="val 4211"/>
            </a:avLst>
          </a:prstGeom>
          <a:solidFill>
            <a:schemeClr val="accent5"/>
          </a:solidFill>
          <a:ln w="9525">
            <a:solidFill>
              <a:schemeClr val="accent5"/>
            </a:solidFill>
            <a:prstDash val="solid"/>
          </a:ln>
        </p:spPr>
      </p:sp>
      <p:sp>
        <p:nvSpPr>
          <p:cNvPr id="11" name="Text 8"/>
          <p:cNvSpPr txBox="1"/>
          <p:nvPr/>
        </p:nvSpPr>
        <p:spPr>
          <a:xfrm>
            <a:off x="5669280" y="1645920"/>
            <a:ext cx="2834640" cy="3657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Check each sentence</a:t>
            </a:r>
            <a:endParaRPr lang="en-US" sz="1600" dirty="0"/>
          </a:p>
        </p:txBody>
      </p:sp>
      <p:sp>
        <p:nvSpPr>
          <p:cNvPr id="12" name="Text 9"/>
          <p:cNvSpPr txBox="1"/>
          <p:nvPr/>
        </p:nvSpPr>
        <p:spPr>
          <a:xfrm>
            <a:off x="5669280" y="2103120"/>
            <a:ext cx="283464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two clauses</a:t>
            </a:r>
            <a:endParaRPr lang="en-US" sz="1500" dirty="0"/>
          </a:p>
          <a:p>
            <a:pPr marL="342900" indent="-342900">
              <a:spcAft>
                <a:spcPts val="800"/>
              </a:spcAft>
              <a:buSzPct val="100000"/>
              <a:buChar char="•"/>
            </a:pPr>
            <a:r>
              <a:rPr lang="en-US" sz="1500" dirty="0">
                <a:solidFill>
                  <a:schemeClr val="tx1"/>
                </a:solidFill>
              </a:rPr>
              <a:t>one FANBOYS connective</a:t>
            </a:r>
            <a:endParaRPr lang="en-US" sz="1500" dirty="0"/>
          </a:p>
          <a:p>
            <a:pPr marL="342900" indent="-342900">
              <a:spcAft>
                <a:spcPts val="800"/>
              </a:spcAft>
              <a:buSzPct val="100000"/>
              <a:buChar char="•"/>
            </a:pPr>
            <a:r>
              <a:rPr lang="en-US" sz="1500" dirty="0">
                <a:solidFill>
                  <a:schemeClr val="tx1"/>
                </a:solidFill>
              </a:rPr>
              <a:t>a comma before it</a:t>
            </a:r>
            <a:endParaRPr lang="en-US" sz="1500" dirty="0"/>
          </a:p>
          <a:p>
            <a:pPr marL="342900" indent="-342900">
              <a:spcAft>
                <a:spcPts val="800"/>
              </a:spcAft>
              <a:buSzPct val="100000"/>
              <a:buChar char="•"/>
            </a:pPr>
            <a:r>
              <a:rPr lang="en-US" sz="1500" dirty="0">
                <a:solidFill>
                  <a:schemeClr val="tx1"/>
                </a:solidFill>
              </a:rPr>
              <a:t>the past tense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2d: model answers</a:t>
            </a:r>
            <a:endParaRPr lang="en-US" sz="3000" dirty="0"/>
          </a:p>
        </p:txBody>
      </p:sp>
      <p:sp>
        <p:nvSpPr>
          <p:cNvPr id="4" name="Model 1"/>
          <p:cNvSpPr/>
          <p:nvPr/>
        </p:nvSpPr>
        <p:spPr>
          <a:xfrm>
            <a:off x="457200" y="1097280"/>
            <a:ext cx="8229600" cy="822960"/>
          </a:xfrm>
          <a:prstGeom prst="roundRect">
            <a:avLst>
              <a:gd name="adj" fmla="val 1333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280160"/>
            <a:ext cx="457200" cy="457200"/>
          </a:xfrm>
          <a:prstGeom prst="ellipse">
            <a:avLst/>
          </a:prstGeom>
          <a:solidFill>
            <a:schemeClr val="accent1"/>
          </a:solidFill>
          <a:ln w="6350">
            <a:solidFill>
              <a:schemeClr val="accent1"/>
            </a:solidFill>
            <a:prstDash val="solid"/>
          </a:ln>
        </p:spPr>
      </p:sp>
      <p:sp>
        <p:nvSpPr>
          <p:cNvPr id="6" name="Text 3"/>
          <p:cNvSpPr txBox="1"/>
          <p:nvPr/>
        </p:nvSpPr>
        <p:spPr>
          <a:xfrm>
            <a:off x="594360" y="128016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234440" y="1097280"/>
            <a:ext cx="7223760" cy="822960"/>
          </a:xfrm>
          <a:prstGeom prst="rect">
            <a:avLst/>
          </a:prstGeom>
          <a:noFill/>
          <a:ln/>
        </p:spPr>
        <p:txBody>
          <a:bodyPr wrap="square" lIns="0" tIns="0" rIns="0" bIns="0" rtlCol="0" anchor="ctr"/>
          <a:lstStyle/>
          <a:p>
            <a:pPr marL="0" indent="0">
              <a:buNone/>
            </a:pPr>
            <a:r>
              <a:rPr lang="en-US" sz="1600" dirty="0">
                <a:solidFill>
                  <a:schemeClr val="tx1"/>
                </a:solidFill>
              </a:rPr>
              <a:t>Galileo built the first telescope, </a:t>
            </a:r>
            <a:r>
              <a:rPr lang="en-US" sz="1600" b="1" dirty="0">
                <a:solidFill>
                  <a:schemeClr val="tx1"/>
                </a:solidFill>
                <a:highlight>
                  <a:srgbClr val="FFD166"/>
                </a:highlight>
              </a:rPr>
              <a:t>so</a:t>
            </a:r>
            <a:r>
              <a:rPr lang="en-US" sz="1600" dirty="0">
                <a:solidFill>
                  <a:schemeClr val="tx1"/>
                </a:solidFill>
              </a:rPr>
              <a:t> he could prove Copernicus’s theory correct.</a:t>
            </a:r>
            <a:endParaRPr lang="en-US" sz="1600" dirty="0"/>
          </a:p>
        </p:txBody>
      </p:sp>
      <p:sp>
        <p:nvSpPr>
          <p:cNvPr id="8" name="Model 2"/>
          <p:cNvSpPr/>
          <p:nvPr/>
        </p:nvSpPr>
        <p:spPr>
          <a:xfrm>
            <a:off x="457200" y="2057400"/>
            <a:ext cx="8229600" cy="822960"/>
          </a:xfrm>
          <a:prstGeom prst="roundRect">
            <a:avLst>
              <a:gd name="adj" fmla="val 1333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594360" y="2240280"/>
            <a:ext cx="457200" cy="457200"/>
          </a:xfrm>
          <a:prstGeom prst="ellipse">
            <a:avLst/>
          </a:prstGeom>
          <a:solidFill>
            <a:schemeClr val="accent2"/>
          </a:solidFill>
          <a:ln w="6350">
            <a:solidFill>
              <a:schemeClr val="accent2"/>
            </a:solidFill>
            <a:prstDash val="solid"/>
          </a:ln>
        </p:spPr>
      </p:sp>
      <p:sp>
        <p:nvSpPr>
          <p:cNvPr id="10" name="Text 7"/>
          <p:cNvSpPr txBox="1"/>
          <p:nvPr/>
        </p:nvSpPr>
        <p:spPr>
          <a:xfrm>
            <a:off x="594360" y="224028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1" name="Text 8"/>
          <p:cNvSpPr txBox="1"/>
          <p:nvPr/>
        </p:nvSpPr>
        <p:spPr>
          <a:xfrm>
            <a:off x="1234440" y="2057400"/>
            <a:ext cx="7223760" cy="822960"/>
          </a:xfrm>
          <a:prstGeom prst="rect">
            <a:avLst/>
          </a:prstGeom>
          <a:noFill/>
          <a:ln/>
        </p:spPr>
        <p:txBody>
          <a:bodyPr wrap="square" lIns="0" tIns="0" rIns="0" bIns="0" rtlCol="0" anchor="ctr"/>
          <a:lstStyle/>
          <a:p>
            <a:pPr marL="0" indent="0">
              <a:buNone/>
            </a:pPr>
            <a:r>
              <a:rPr lang="en-US" sz="1600" dirty="0">
                <a:solidFill>
                  <a:schemeClr val="tx1"/>
                </a:solidFill>
              </a:rPr>
              <a:t>The USSR launched Sputnik I in 1957, </a:t>
            </a:r>
            <a:r>
              <a:rPr lang="en-US" sz="1600" b="1" dirty="0">
                <a:solidFill>
                  <a:schemeClr val="tx1"/>
                </a:solidFill>
                <a:highlight>
                  <a:srgbClr val="FFD166"/>
                </a:highlight>
              </a:rPr>
              <a:t>and</a:t>
            </a:r>
            <a:r>
              <a:rPr lang="en-US" sz="1600" dirty="0">
                <a:solidFill>
                  <a:schemeClr val="tx1"/>
                </a:solidFill>
              </a:rPr>
              <a:t> Yuri Gagarin became the first person in space in 1961.</a:t>
            </a:r>
            <a:endParaRPr lang="en-US" sz="1600" dirty="0"/>
          </a:p>
        </p:txBody>
      </p:sp>
      <p:sp>
        <p:nvSpPr>
          <p:cNvPr id="12" name="Model 3"/>
          <p:cNvSpPr/>
          <p:nvPr/>
        </p:nvSpPr>
        <p:spPr>
          <a:xfrm>
            <a:off x="457200" y="3017520"/>
            <a:ext cx="8229600" cy="822960"/>
          </a:xfrm>
          <a:prstGeom prst="roundRect">
            <a:avLst>
              <a:gd name="adj" fmla="val 13333"/>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Badge"/>
          <p:cNvSpPr/>
          <p:nvPr/>
        </p:nvSpPr>
        <p:spPr>
          <a:xfrm>
            <a:off x="594360" y="3200400"/>
            <a:ext cx="457200" cy="457200"/>
          </a:xfrm>
          <a:prstGeom prst="ellipse">
            <a:avLst/>
          </a:prstGeom>
          <a:solidFill>
            <a:schemeClr val="accent3"/>
          </a:solidFill>
          <a:ln w="6350">
            <a:solidFill>
              <a:schemeClr val="accent3"/>
            </a:solidFill>
            <a:prstDash val="solid"/>
          </a:ln>
        </p:spPr>
      </p:sp>
      <p:sp>
        <p:nvSpPr>
          <p:cNvPr id="14" name="Text 11"/>
          <p:cNvSpPr txBox="1"/>
          <p:nvPr/>
        </p:nvSpPr>
        <p:spPr>
          <a:xfrm>
            <a:off x="594360" y="3200400"/>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5" name="Text 12"/>
          <p:cNvSpPr txBox="1"/>
          <p:nvPr/>
        </p:nvSpPr>
        <p:spPr>
          <a:xfrm>
            <a:off x="1234440" y="3017520"/>
            <a:ext cx="7223760" cy="822960"/>
          </a:xfrm>
          <a:prstGeom prst="rect">
            <a:avLst/>
          </a:prstGeom>
          <a:noFill/>
          <a:ln/>
        </p:spPr>
        <p:txBody>
          <a:bodyPr wrap="square" lIns="0" tIns="0" rIns="0" bIns="0" rtlCol="0" anchor="ctr"/>
          <a:lstStyle/>
          <a:p>
            <a:pPr marL="0" indent="0">
              <a:buNone/>
            </a:pPr>
            <a:r>
              <a:rPr lang="en-US" sz="1600" dirty="0">
                <a:solidFill>
                  <a:schemeClr val="tx1"/>
                </a:solidFill>
              </a:rPr>
              <a:t>Astronauts walked on the moon in 1969, </a:t>
            </a:r>
            <a:r>
              <a:rPr lang="en-US" sz="1600" b="1" dirty="0">
                <a:solidFill>
                  <a:schemeClr val="tx1"/>
                </a:solidFill>
                <a:highlight>
                  <a:srgbClr val="FFD166"/>
                </a:highlight>
              </a:rPr>
              <a:t>but</a:t>
            </a:r>
            <a:r>
              <a:rPr lang="en-US" sz="1600" dirty="0">
                <a:solidFill>
                  <a:schemeClr val="tx1"/>
                </a:solidFill>
              </a:rPr>
              <a:t> people cannot live there yet.</a:t>
            </a:r>
            <a:endParaRPr lang="en-US" sz="1600" dirty="0"/>
          </a:p>
        </p:txBody>
      </p:sp>
      <p:sp>
        <p:nvSpPr>
          <p:cNvPr id="16" name="Callout"/>
          <p:cNvSpPr/>
          <p:nvPr/>
        </p:nvSpPr>
        <p:spPr>
          <a:xfrm>
            <a:off x="457200" y="4069080"/>
            <a:ext cx="8229600" cy="457200"/>
          </a:xfrm>
          <a:prstGeom prst="roundRect">
            <a:avLst>
              <a:gd name="adj" fmla="val 24000"/>
            </a:avLst>
          </a:prstGeom>
          <a:solidFill>
            <a:schemeClr val="accent2"/>
          </a:solidFill>
          <a:ln w="9525">
            <a:solidFill>
              <a:schemeClr val="accent2"/>
            </a:solidFill>
            <a:prstDash val="solid"/>
          </a:ln>
        </p:spPr>
      </p:sp>
      <p:sp>
        <p:nvSpPr>
          <p:cNvPr id="17" name="Text 14"/>
          <p:cNvSpPr txBox="1"/>
          <p:nvPr/>
        </p:nvSpPr>
        <p:spPr>
          <a:xfrm>
            <a:off x="640080" y="4069080"/>
            <a:ext cx="7863840" cy="457200"/>
          </a:xfrm>
          <a:prstGeom prst="rect">
            <a:avLst/>
          </a:prstGeom>
          <a:noFill/>
          <a:ln/>
        </p:spPr>
        <p:txBody>
          <a:bodyPr wrap="square" lIns="0" tIns="0" rIns="0" bIns="0" rtlCol="0" anchor="ctr"/>
          <a:lstStyle/>
          <a:p>
            <a:pPr marL="0" indent="0" algn="ctr">
              <a:buNone/>
            </a:pPr>
            <a:r>
              <a:rPr lang="en-US" sz="1600" b="1" dirty="0">
                <a:solidFill>
                  <a:schemeClr val="tx1"/>
                </a:solidFill>
              </a:rPr>
              <a:t>Check: 2 clauses ✓   FANBOYS connective ✓   comma ✓   past tense ✓</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Exit ticket</a:t>
            </a:r>
            <a:endParaRPr lang="en-US" sz="3000" dirty="0"/>
          </a:p>
        </p:txBody>
      </p:sp>
      <p:sp>
        <p:nvSpPr>
          <p:cNvPr id="4" name="Exit question 1"/>
          <p:cNvSpPr/>
          <p:nvPr/>
        </p:nvSpPr>
        <p:spPr>
          <a:xfrm>
            <a:off x="457200" y="1097280"/>
            <a:ext cx="8229600" cy="658368"/>
          </a:xfrm>
          <a:prstGeom prst="roundRect">
            <a:avLst>
              <a:gd name="adj" fmla="val 16667"/>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243584"/>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94360" y="124358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43000" y="1097280"/>
            <a:ext cx="7406640" cy="658368"/>
          </a:xfrm>
          <a:prstGeom prst="rect">
            <a:avLst/>
          </a:prstGeom>
          <a:noFill/>
          <a:ln/>
        </p:spPr>
        <p:txBody>
          <a:bodyPr wrap="square" lIns="0" tIns="0" rIns="0" bIns="0" rtlCol="0" anchor="ctr"/>
          <a:lstStyle/>
          <a:p>
            <a:pPr marL="0" indent="0">
              <a:buNone/>
            </a:pPr>
            <a:r>
              <a:rPr lang="en-US" sz="1600" dirty="0">
                <a:solidFill>
                  <a:schemeClr val="tx1"/>
                </a:solidFill>
              </a:rPr>
              <a:t>What is a timeline? What does chronological mean?</a:t>
            </a:r>
            <a:endParaRPr lang="en-US" sz="1600" dirty="0"/>
          </a:p>
        </p:txBody>
      </p:sp>
      <p:sp>
        <p:nvSpPr>
          <p:cNvPr id="8" name="Exit question 2"/>
          <p:cNvSpPr/>
          <p:nvPr/>
        </p:nvSpPr>
        <p:spPr>
          <a:xfrm>
            <a:off x="457200" y="1874520"/>
            <a:ext cx="8229600" cy="658368"/>
          </a:xfrm>
          <a:prstGeom prst="roundRect">
            <a:avLst>
              <a:gd name="adj" fmla="val 16667"/>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9" name="Badge"/>
          <p:cNvSpPr/>
          <p:nvPr/>
        </p:nvSpPr>
        <p:spPr>
          <a:xfrm>
            <a:off x="594360" y="2020824"/>
            <a:ext cx="365760" cy="365760"/>
          </a:xfrm>
          <a:prstGeom prst="ellipse">
            <a:avLst/>
          </a:prstGeom>
          <a:solidFill>
            <a:schemeClr val="accent2"/>
          </a:solidFill>
          <a:ln w="6350">
            <a:solidFill>
              <a:schemeClr val="accent2"/>
            </a:solidFill>
            <a:prstDash val="solid"/>
          </a:ln>
        </p:spPr>
      </p:sp>
      <p:sp>
        <p:nvSpPr>
          <p:cNvPr id="10" name="Text 7"/>
          <p:cNvSpPr txBox="1"/>
          <p:nvPr/>
        </p:nvSpPr>
        <p:spPr>
          <a:xfrm>
            <a:off x="594360" y="202082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1" name="Text 8"/>
          <p:cNvSpPr txBox="1"/>
          <p:nvPr/>
        </p:nvSpPr>
        <p:spPr>
          <a:xfrm>
            <a:off x="1143000" y="1874520"/>
            <a:ext cx="7406640" cy="658368"/>
          </a:xfrm>
          <a:prstGeom prst="rect">
            <a:avLst/>
          </a:prstGeom>
          <a:noFill/>
          <a:ln/>
        </p:spPr>
        <p:txBody>
          <a:bodyPr wrap="square" lIns="0" tIns="0" rIns="0" bIns="0" rtlCol="0" anchor="ctr"/>
          <a:lstStyle/>
          <a:p>
            <a:pPr marL="0" indent="0">
              <a:buNone/>
            </a:pPr>
            <a:r>
              <a:rPr lang="en-US" sz="1600" dirty="0">
                <a:solidFill>
                  <a:schemeClr val="tx1"/>
                </a:solidFill>
              </a:rPr>
              <a:t>Say the seven connectives (FANBOYS).</a:t>
            </a:r>
            <a:endParaRPr lang="en-US" sz="1600" dirty="0"/>
          </a:p>
        </p:txBody>
      </p:sp>
      <p:sp>
        <p:nvSpPr>
          <p:cNvPr id="12" name="Exit question 3"/>
          <p:cNvSpPr/>
          <p:nvPr/>
        </p:nvSpPr>
        <p:spPr>
          <a:xfrm>
            <a:off x="457200" y="2651760"/>
            <a:ext cx="8229600" cy="658368"/>
          </a:xfrm>
          <a:prstGeom prst="roundRect">
            <a:avLst>
              <a:gd name="adj" fmla="val 16667"/>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3" name="Badge"/>
          <p:cNvSpPr/>
          <p:nvPr/>
        </p:nvSpPr>
        <p:spPr>
          <a:xfrm>
            <a:off x="594360" y="2798064"/>
            <a:ext cx="365760" cy="365760"/>
          </a:xfrm>
          <a:prstGeom prst="ellipse">
            <a:avLst/>
          </a:prstGeom>
          <a:solidFill>
            <a:schemeClr val="accent3"/>
          </a:solidFill>
          <a:ln w="6350">
            <a:solidFill>
              <a:schemeClr val="accent3"/>
            </a:solidFill>
            <a:prstDash val="solid"/>
          </a:ln>
        </p:spPr>
      </p:sp>
      <p:sp>
        <p:nvSpPr>
          <p:cNvPr id="14" name="Text 11"/>
          <p:cNvSpPr txBox="1"/>
          <p:nvPr/>
        </p:nvSpPr>
        <p:spPr>
          <a:xfrm>
            <a:off x="594360" y="2798064"/>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5" name="Text 12"/>
          <p:cNvSpPr txBox="1"/>
          <p:nvPr/>
        </p:nvSpPr>
        <p:spPr>
          <a:xfrm>
            <a:off x="1143000" y="2651760"/>
            <a:ext cx="7406640" cy="658368"/>
          </a:xfrm>
          <a:prstGeom prst="rect">
            <a:avLst/>
          </a:prstGeom>
          <a:noFill/>
          <a:ln/>
        </p:spPr>
        <p:txBody>
          <a:bodyPr wrap="square" lIns="0" tIns="0" rIns="0" bIns="0" rtlCol="0" anchor="ctr"/>
          <a:lstStyle/>
          <a:p>
            <a:pPr marL="0" indent="0">
              <a:buNone/>
            </a:pPr>
            <a:r>
              <a:rPr lang="en-US" sz="1600" dirty="0">
                <a:solidFill>
                  <a:schemeClr val="tx1"/>
                </a:solidFill>
              </a:rPr>
              <a:t>Write one compound sentence about space using but, so or yet.</a:t>
            </a:r>
            <a:endParaRPr lang="en-US" sz="1600" dirty="0"/>
          </a:p>
        </p:txBody>
      </p:sp>
      <p:sp>
        <p:nvSpPr>
          <p:cNvPr id="16" name="Text 13"/>
          <p:cNvSpPr txBox="1"/>
          <p:nvPr/>
        </p:nvSpPr>
        <p:spPr>
          <a:xfrm>
            <a:off x="457200" y="3520440"/>
            <a:ext cx="5029200" cy="640080"/>
          </a:xfrm>
          <a:prstGeom prst="rect">
            <a:avLst/>
          </a:prstGeom>
          <a:noFill/>
          <a:ln/>
        </p:spPr>
        <p:txBody>
          <a:bodyPr wrap="square" lIns="0" tIns="0" rIns="0" bIns="0" rtlCol="0" anchor="ctr"/>
          <a:lstStyle/>
          <a:p>
            <a:pPr marL="0" indent="0">
              <a:buNone/>
            </a:pPr>
            <a:r>
              <a:rPr lang="en-US" sz="1700" b="1" dirty="0">
                <a:solidFill>
                  <a:schemeClr val="bg1"/>
                </a:solidFill>
              </a:rPr>
              <a:t>How confident do you feel about compound sentences?</a:t>
            </a:r>
            <a:endParaRPr lang="en-US" sz="1700" dirty="0"/>
          </a:p>
        </p:txBody>
      </p:sp>
      <p:sp>
        <p:nvSpPr>
          <p:cNvPr id="17" name="Traffic light"/>
          <p:cNvSpPr/>
          <p:nvPr/>
        </p:nvSpPr>
        <p:spPr>
          <a:xfrm>
            <a:off x="5669280" y="3474720"/>
            <a:ext cx="548640" cy="548640"/>
          </a:xfrm>
          <a:prstGeom prst="ellipse">
            <a:avLst/>
          </a:prstGeom>
          <a:solidFill>
            <a:schemeClr val="accent2"/>
          </a:solidFill>
          <a:ln w="6350">
            <a:solidFill>
              <a:schemeClr val="accent2"/>
            </a:solidFill>
            <a:prstDash val="solid"/>
          </a:ln>
        </p:spPr>
      </p:sp>
      <p:sp>
        <p:nvSpPr>
          <p:cNvPr id="18" name="Text 15"/>
          <p:cNvSpPr txBox="1"/>
          <p:nvPr/>
        </p:nvSpPr>
        <p:spPr>
          <a:xfrm>
            <a:off x="5486400" y="4069080"/>
            <a:ext cx="914400" cy="274320"/>
          </a:xfrm>
          <a:prstGeom prst="rect">
            <a:avLst/>
          </a:prstGeom>
          <a:noFill/>
          <a:ln/>
        </p:spPr>
        <p:txBody>
          <a:bodyPr wrap="square" lIns="0" tIns="0" rIns="0" bIns="0" rtlCol="0" anchor="ctr"/>
          <a:lstStyle/>
          <a:p>
            <a:pPr marL="0" indent="0" algn="ctr">
              <a:buNone/>
            </a:pPr>
            <a:r>
              <a:rPr lang="en-US" sz="1200" dirty="0">
                <a:solidFill>
                  <a:schemeClr val="bg1"/>
                </a:solidFill>
              </a:rPr>
              <a:t>Got it!</a:t>
            </a:r>
            <a:endParaRPr lang="en-US" sz="1200" dirty="0"/>
          </a:p>
        </p:txBody>
      </p:sp>
      <p:sp>
        <p:nvSpPr>
          <p:cNvPr id="19" name="Traffic light"/>
          <p:cNvSpPr/>
          <p:nvPr/>
        </p:nvSpPr>
        <p:spPr>
          <a:xfrm>
            <a:off x="6766560" y="3474720"/>
            <a:ext cx="548640" cy="548640"/>
          </a:xfrm>
          <a:prstGeom prst="ellipse">
            <a:avLst/>
          </a:prstGeom>
          <a:solidFill>
            <a:schemeClr val="accent5"/>
          </a:solidFill>
          <a:ln w="6350">
            <a:solidFill>
              <a:schemeClr val="accent5"/>
            </a:solidFill>
            <a:prstDash val="solid"/>
          </a:ln>
        </p:spPr>
      </p:sp>
      <p:sp>
        <p:nvSpPr>
          <p:cNvPr id="20" name="Text 17"/>
          <p:cNvSpPr txBox="1"/>
          <p:nvPr/>
        </p:nvSpPr>
        <p:spPr>
          <a:xfrm>
            <a:off x="6583680" y="4069080"/>
            <a:ext cx="914400" cy="274320"/>
          </a:xfrm>
          <a:prstGeom prst="rect">
            <a:avLst/>
          </a:prstGeom>
          <a:noFill/>
          <a:ln/>
        </p:spPr>
        <p:txBody>
          <a:bodyPr wrap="square" lIns="0" tIns="0" rIns="0" bIns="0" rtlCol="0" anchor="ctr"/>
          <a:lstStyle/>
          <a:p>
            <a:pPr marL="0" indent="0" algn="ctr">
              <a:buNone/>
            </a:pPr>
            <a:r>
              <a:rPr lang="en-US" sz="1200" dirty="0">
                <a:solidFill>
                  <a:schemeClr val="bg1"/>
                </a:solidFill>
              </a:rPr>
              <a:t>Nearly</a:t>
            </a:r>
            <a:endParaRPr lang="en-US" sz="1200" dirty="0"/>
          </a:p>
        </p:txBody>
      </p:sp>
      <p:sp>
        <p:nvSpPr>
          <p:cNvPr id="21" name="Traffic light"/>
          <p:cNvSpPr/>
          <p:nvPr/>
        </p:nvSpPr>
        <p:spPr>
          <a:xfrm>
            <a:off x="7863840" y="3474720"/>
            <a:ext cx="548640" cy="548640"/>
          </a:xfrm>
          <a:prstGeom prst="ellipse">
            <a:avLst/>
          </a:prstGeom>
          <a:solidFill>
            <a:schemeClr val="accent3"/>
          </a:solidFill>
          <a:ln w="6350">
            <a:solidFill>
              <a:schemeClr val="accent3"/>
            </a:solidFill>
            <a:prstDash val="solid"/>
          </a:ln>
        </p:spPr>
      </p:sp>
      <p:sp>
        <p:nvSpPr>
          <p:cNvPr id="22" name="Text 19"/>
          <p:cNvSpPr txBox="1"/>
          <p:nvPr/>
        </p:nvSpPr>
        <p:spPr>
          <a:xfrm>
            <a:off x="7680960" y="4069080"/>
            <a:ext cx="914400" cy="274320"/>
          </a:xfrm>
          <a:prstGeom prst="rect">
            <a:avLst/>
          </a:prstGeom>
          <a:noFill/>
          <a:ln/>
        </p:spPr>
        <p:txBody>
          <a:bodyPr wrap="square" lIns="0" tIns="0" rIns="0" bIns="0" rtlCol="0" anchor="ctr"/>
          <a:lstStyle/>
          <a:p>
            <a:pPr marL="0" indent="0" algn="ctr">
              <a:buNone/>
            </a:pPr>
            <a:r>
              <a:rPr lang="en-US" sz="1200" dirty="0">
                <a:solidFill>
                  <a:schemeClr val="bg1"/>
                </a:solidFill>
              </a:rPr>
              <a:t>Need help</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accent5"/>
                </a:solidFill>
              </a:rPr>
              <a:t>Model answers: exit ticket</a:t>
            </a:r>
            <a:endParaRPr lang="en-US" sz="3000" dirty="0"/>
          </a:p>
        </p:txBody>
      </p:sp>
      <p:sp>
        <p:nvSpPr>
          <p:cNvPr id="4" name="Exit model 1"/>
          <p:cNvSpPr/>
          <p:nvPr/>
        </p:nvSpPr>
        <p:spPr>
          <a:xfrm>
            <a:off x="457200" y="1097280"/>
            <a:ext cx="822960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389888"/>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94360" y="1389888"/>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43000" y="1097280"/>
            <a:ext cx="2468880" cy="960120"/>
          </a:xfrm>
          <a:prstGeom prst="rect">
            <a:avLst/>
          </a:prstGeom>
          <a:noFill/>
          <a:ln/>
        </p:spPr>
        <p:txBody>
          <a:bodyPr wrap="square" lIns="0" tIns="0" rIns="0" bIns="0" rtlCol="0" anchor="ctr"/>
          <a:lstStyle/>
          <a:p>
            <a:pPr marL="0" indent="0">
              <a:buNone/>
            </a:pPr>
            <a:r>
              <a:rPr lang="en-US" sz="1500" b="1" dirty="0">
                <a:solidFill>
                  <a:schemeClr val="accent4"/>
                </a:solidFill>
              </a:rPr>
              <a:t>Timeline and chronological</a:t>
            </a:r>
            <a:endParaRPr lang="en-US" sz="1500" dirty="0"/>
          </a:p>
        </p:txBody>
      </p:sp>
      <p:sp>
        <p:nvSpPr>
          <p:cNvPr id="8" name="Text 5"/>
          <p:cNvSpPr txBox="1"/>
          <p:nvPr/>
        </p:nvSpPr>
        <p:spPr>
          <a:xfrm>
            <a:off x="3657600" y="1097280"/>
            <a:ext cx="4846320" cy="960120"/>
          </a:xfrm>
          <a:prstGeom prst="rect">
            <a:avLst/>
          </a:prstGeom>
          <a:noFill/>
          <a:ln/>
        </p:spPr>
        <p:txBody>
          <a:bodyPr wrap="square" lIns="0" tIns="0" rIns="0" bIns="0" rtlCol="0" anchor="ctr"/>
          <a:lstStyle/>
          <a:p>
            <a:pPr marL="0" indent="0">
              <a:buNone/>
            </a:pPr>
            <a:r>
              <a:rPr lang="en-US" sz="1400" dirty="0">
                <a:solidFill>
                  <a:schemeClr val="tx1"/>
                </a:solidFill>
              </a:rPr>
              <a:t>A timeline is a line that shows events in the order they happened. Chronological means in time order.</a:t>
            </a:r>
            <a:endParaRPr lang="en-US" sz="1400" dirty="0"/>
          </a:p>
        </p:txBody>
      </p:sp>
      <p:sp>
        <p:nvSpPr>
          <p:cNvPr id="9" name="Exit model 2"/>
          <p:cNvSpPr/>
          <p:nvPr/>
        </p:nvSpPr>
        <p:spPr>
          <a:xfrm>
            <a:off x="457200" y="2194560"/>
            <a:ext cx="822960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94360" y="2487168"/>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487168"/>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2194560"/>
            <a:ext cx="2468880" cy="960120"/>
          </a:xfrm>
          <a:prstGeom prst="rect">
            <a:avLst/>
          </a:prstGeom>
          <a:noFill/>
          <a:ln/>
        </p:spPr>
        <p:txBody>
          <a:bodyPr wrap="square" lIns="0" tIns="0" rIns="0" bIns="0" rtlCol="0" anchor="ctr"/>
          <a:lstStyle/>
          <a:p>
            <a:pPr marL="0" indent="0">
              <a:buNone/>
            </a:pPr>
            <a:r>
              <a:rPr lang="en-US" sz="1500" b="1" dirty="0">
                <a:solidFill>
                  <a:schemeClr val="accent4"/>
                </a:solidFill>
              </a:rPr>
              <a:t>FANBOYS</a:t>
            </a:r>
            <a:endParaRPr lang="en-US" sz="1500" dirty="0"/>
          </a:p>
        </p:txBody>
      </p:sp>
      <p:sp>
        <p:nvSpPr>
          <p:cNvPr id="13" name="Text 10"/>
          <p:cNvSpPr txBox="1"/>
          <p:nvPr/>
        </p:nvSpPr>
        <p:spPr>
          <a:xfrm>
            <a:off x="3657600" y="2194560"/>
            <a:ext cx="4846320" cy="960120"/>
          </a:xfrm>
          <a:prstGeom prst="rect">
            <a:avLst/>
          </a:prstGeom>
          <a:noFill/>
          <a:ln/>
        </p:spPr>
        <p:txBody>
          <a:bodyPr wrap="square" lIns="0" tIns="0" rIns="0" bIns="0" rtlCol="0" anchor="ctr"/>
          <a:lstStyle/>
          <a:p>
            <a:pPr marL="0" indent="0">
              <a:buNone/>
            </a:pPr>
            <a:r>
              <a:rPr lang="en-US" sz="1400" dirty="0">
                <a:solidFill>
                  <a:schemeClr val="tx1"/>
                </a:solidFill>
              </a:rPr>
              <a:t>For, And, Nor, But, Or, Yet, So.</a:t>
            </a:r>
            <a:endParaRPr lang="en-US" sz="1400" dirty="0"/>
          </a:p>
        </p:txBody>
      </p:sp>
      <p:sp>
        <p:nvSpPr>
          <p:cNvPr id="14" name="Exit model 3"/>
          <p:cNvSpPr/>
          <p:nvPr/>
        </p:nvSpPr>
        <p:spPr>
          <a:xfrm>
            <a:off x="457200" y="3291840"/>
            <a:ext cx="8229600" cy="960120"/>
          </a:xfrm>
          <a:prstGeom prst="roundRect">
            <a:avLst>
              <a:gd name="adj" fmla="val 11429"/>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594360" y="3584448"/>
            <a:ext cx="365760" cy="365760"/>
          </a:xfrm>
          <a:prstGeom prst="ellipse">
            <a:avLst/>
          </a:prstGeom>
          <a:solidFill>
            <a:schemeClr val="accent3"/>
          </a:solidFill>
          <a:ln w="6350">
            <a:solidFill>
              <a:schemeClr val="accent3"/>
            </a:solidFill>
            <a:prstDash val="solid"/>
          </a:ln>
        </p:spPr>
      </p:sp>
      <p:sp>
        <p:nvSpPr>
          <p:cNvPr id="16" name="Text 13"/>
          <p:cNvSpPr txBox="1"/>
          <p:nvPr/>
        </p:nvSpPr>
        <p:spPr>
          <a:xfrm>
            <a:off x="594360" y="3584448"/>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143000" y="3291840"/>
            <a:ext cx="2468880" cy="960120"/>
          </a:xfrm>
          <a:prstGeom prst="rect">
            <a:avLst/>
          </a:prstGeom>
          <a:noFill/>
          <a:ln/>
        </p:spPr>
        <p:txBody>
          <a:bodyPr wrap="square" lIns="0" tIns="0" rIns="0" bIns="0" rtlCol="0" anchor="ctr"/>
          <a:lstStyle/>
          <a:p>
            <a:pPr marL="0" indent="0">
              <a:buNone/>
            </a:pPr>
            <a:r>
              <a:rPr lang="en-US" sz="1500" b="1" dirty="0">
                <a:solidFill>
                  <a:schemeClr val="accent4"/>
                </a:solidFill>
              </a:rPr>
              <a:t>A compound sentence</a:t>
            </a:r>
            <a:endParaRPr lang="en-US" sz="1500" dirty="0"/>
          </a:p>
        </p:txBody>
      </p:sp>
      <p:sp>
        <p:nvSpPr>
          <p:cNvPr id="18" name="Text 15"/>
          <p:cNvSpPr txBox="1"/>
          <p:nvPr/>
        </p:nvSpPr>
        <p:spPr>
          <a:xfrm>
            <a:off x="3657600" y="3291840"/>
            <a:ext cx="4846320" cy="960120"/>
          </a:xfrm>
          <a:prstGeom prst="rect">
            <a:avLst/>
          </a:prstGeom>
          <a:noFill/>
          <a:ln/>
        </p:spPr>
        <p:txBody>
          <a:bodyPr wrap="square" lIns="0" tIns="0" rIns="0" bIns="0" rtlCol="0" anchor="ctr"/>
          <a:lstStyle/>
          <a:p>
            <a:pPr marL="0" indent="0">
              <a:buNone/>
            </a:pPr>
            <a:r>
              <a:rPr lang="en-US" sz="1400" dirty="0">
                <a:solidFill>
                  <a:schemeClr val="tx1"/>
                </a:solidFill>
              </a:rPr>
              <a:t>Rockets can reach the moon, but astronauts cannot live there yet.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a:spLocks noGrp="1"/>
          </p:cNvSpPr>
          <p:nvPr>
            <p:ph type="title" idx="104"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Homework</a:t>
            </a:r>
            <a:endParaRPr lang="en-US" sz="3000" dirty="0"/>
          </a:p>
        </p:txBody>
      </p:sp>
      <p:sp>
        <p:nvSpPr>
          <p:cNvPr id="4" name="Homework task 1"/>
          <p:cNvSpPr/>
          <p:nvPr/>
        </p:nvSpPr>
        <p:spPr>
          <a:xfrm>
            <a:off x="457200" y="1051560"/>
            <a:ext cx="822960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5" name="Badge"/>
          <p:cNvSpPr/>
          <p:nvPr/>
        </p:nvSpPr>
        <p:spPr>
          <a:xfrm>
            <a:off x="594360" y="1271016"/>
            <a:ext cx="365760" cy="365760"/>
          </a:xfrm>
          <a:prstGeom prst="ellipse">
            <a:avLst/>
          </a:prstGeom>
          <a:solidFill>
            <a:schemeClr val="accent1"/>
          </a:solidFill>
          <a:ln w="6350">
            <a:solidFill>
              <a:schemeClr val="accent1"/>
            </a:solidFill>
            <a:prstDash val="solid"/>
          </a:ln>
        </p:spPr>
      </p:sp>
      <p:sp>
        <p:nvSpPr>
          <p:cNvPr id="6" name="Text 3"/>
          <p:cNvSpPr txBox="1"/>
          <p:nvPr/>
        </p:nvSpPr>
        <p:spPr>
          <a:xfrm>
            <a:off x="594360" y="127101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1</a:t>
            </a:r>
            <a:endParaRPr lang="en-US" sz="1500" dirty="0"/>
          </a:p>
        </p:txBody>
      </p:sp>
      <p:sp>
        <p:nvSpPr>
          <p:cNvPr id="7" name="Text 4"/>
          <p:cNvSpPr txBox="1"/>
          <p:nvPr/>
        </p:nvSpPr>
        <p:spPr>
          <a:xfrm>
            <a:off x="1143000" y="1051560"/>
            <a:ext cx="2011680" cy="804672"/>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Timeline</a:t>
            </a:r>
            <a:endParaRPr lang="en-US" sz="1600" dirty="0"/>
          </a:p>
        </p:txBody>
      </p:sp>
      <p:sp>
        <p:nvSpPr>
          <p:cNvPr id="8" name="Text 5"/>
          <p:cNvSpPr txBox="1"/>
          <p:nvPr/>
        </p:nvSpPr>
        <p:spPr>
          <a:xfrm>
            <a:off x="3154680" y="1051560"/>
            <a:ext cx="5394960" cy="804672"/>
          </a:xfrm>
          <a:prstGeom prst="rect">
            <a:avLst/>
          </a:prstGeom>
          <a:noFill/>
          <a:ln/>
        </p:spPr>
        <p:txBody>
          <a:bodyPr wrap="square" lIns="0" tIns="0" rIns="0" bIns="0" rtlCol="0" anchor="ctr"/>
          <a:lstStyle/>
          <a:p>
            <a:pPr marL="0" indent="0">
              <a:buNone/>
            </a:pPr>
            <a:r>
              <a:rPr lang="en-US" sz="1400" dirty="0">
                <a:solidFill>
                  <a:schemeClr val="tx1"/>
                </a:solidFill>
              </a:rPr>
              <a:t>Add colour or pictures to your timeline. Add three more events from the text.</a:t>
            </a:r>
            <a:endParaRPr lang="en-US" sz="1400" dirty="0"/>
          </a:p>
        </p:txBody>
      </p:sp>
      <p:sp>
        <p:nvSpPr>
          <p:cNvPr id="9" name="Homework task 2"/>
          <p:cNvSpPr/>
          <p:nvPr/>
        </p:nvSpPr>
        <p:spPr>
          <a:xfrm>
            <a:off x="457200" y="1965960"/>
            <a:ext cx="822960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0" name="Badge"/>
          <p:cNvSpPr/>
          <p:nvPr/>
        </p:nvSpPr>
        <p:spPr>
          <a:xfrm>
            <a:off x="594360" y="2185416"/>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594360" y="218541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2</a:t>
            </a:r>
            <a:endParaRPr lang="en-US" sz="1500" dirty="0"/>
          </a:p>
        </p:txBody>
      </p:sp>
      <p:sp>
        <p:nvSpPr>
          <p:cNvPr id="12" name="Text 9"/>
          <p:cNvSpPr txBox="1"/>
          <p:nvPr/>
        </p:nvSpPr>
        <p:spPr>
          <a:xfrm>
            <a:off x="1143000" y="1965960"/>
            <a:ext cx="2011680" cy="804672"/>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Sentences</a:t>
            </a:r>
            <a:endParaRPr lang="en-US" sz="1600" dirty="0"/>
          </a:p>
        </p:txBody>
      </p:sp>
      <p:sp>
        <p:nvSpPr>
          <p:cNvPr id="13" name="Text 10"/>
          <p:cNvSpPr txBox="1"/>
          <p:nvPr/>
        </p:nvSpPr>
        <p:spPr>
          <a:xfrm>
            <a:off x="3154680" y="1965960"/>
            <a:ext cx="5394960" cy="804672"/>
          </a:xfrm>
          <a:prstGeom prst="rect">
            <a:avLst/>
          </a:prstGeom>
          <a:noFill/>
          <a:ln/>
        </p:spPr>
        <p:txBody>
          <a:bodyPr wrap="square" lIns="0" tIns="0" rIns="0" bIns="0" rtlCol="0" anchor="ctr"/>
          <a:lstStyle/>
          <a:p>
            <a:pPr marL="0" indent="0">
              <a:buNone/>
            </a:pPr>
            <a:r>
              <a:rPr lang="en-US" sz="1400" dirty="0">
                <a:solidFill>
                  <a:schemeClr val="tx1"/>
                </a:solidFill>
              </a:rPr>
              <a:t>Write five compound sentences about space. Use a different connective in each. Underline the verbs and highlight the connective.</a:t>
            </a:r>
            <a:endParaRPr lang="en-US" sz="1400" dirty="0"/>
          </a:p>
        </p:txBody>
      </p:sp>
      <p:sp>
        <p:nvSpPr>
          <p:cNvPr id="14" name="Homework task 3"/>
          <p:cNvSpPr/>
          <p:nvPr/>
        </p:nvSpPr>
        <p:spPr>
          <a:xfrm>
            <a:off x="457200" y="2880360"/>
            <a:ext cx="8229600" cy="804672"/>
          </a:xfrm>
          <a:prstGeom prst="roundRect">
            <a:avLst>
              <a:gd name="adj" fmla="val 13636"/>
            </a:avLst>
          </a:prstGeom>
          <a:solidFill>
            <a:schemeClr val="bg1"/>
          </a:solidFill>
          <a:ln w="9525">
            <a:solidFill>
              <a:schemeClr val="bg1"/>
            </a:solidFill>
            <a:prstDash val="solid"/>
          </a:ln>
          <a:effectLst>
            <a:outerShdw blurRad="76200" dist="25400" dir="5400000" algn="bl" rotWithShape="0">
              <a:srgbClr val="0E1537">
                <a:alpha val="14000"/>
              </a:srgbClr>
            </a:outerShdw>
          </a:effectLst>
        </p:spPr>
      </p:sp>
      <p:sp>
        <p:nvSpPr>
          <p:cNvPr id="15" name="Badge"/>
          <p:cNvSpPr/>
          <p:nvPr/>
        </p:nvSpPr>
        <p:spPr>
          <a:xfrm>
            <a:off x="594360" y="3099816"/>
            <a:ext cx="365760" cy="365760"/>
          </a:xfrm>
          <a:prstGeom prst="ellipse">
            <a:avLst/>
          </a:prstGeom>
          <a:solidFill>
            <a:schemeClr val="accent3"/>
          </a:solidFill>
          <a:ln w="6350">
            <a:solidFill>
              <a:schemeClr val="accent3"/>
            </a:solidFill>
            <a:prstDash val="solid"/>
          </a:ln>
        </p:spPr>
      </p:sp>
      <p:sp>
        <p:nvSpPr>
          <p:cNvPr id="16" name="Text 13"/>
          <p:cNvSpPr txBox="1"/>
          <p:nvPr/>
        </p:nvSpPr>
        <p:spPr>
          <a:xfrm>
            <a:off x="594360" y="3099816"/>
            <a:ext cx="365760" cy="365760"/>
          </a:xfrm>
          <a:prstGeom prst="rect">
            <a:avLst/>
          </a:prstGeom>
          <a:noFill/>
          <a:ln/>
        </p:spPr>
        <p:txBody>
          <a:bodyPr wrap="square" lIns="0" tIns="0" rIns="0" bIns="0" rtlCol="0" anchor="ctr"/>
          <a:lstStyle/>
          <a:p>
            <a:pPr marL="0" indent="0" algn="ctr">
              <a:buNone/>
            </a:pPr>
            <a:r>
              <a:rPr lang="en-US" sz="1500" b="1" dirty="0">
                <a:solidFill>
                  <a:schemeClr val="tx1"/>
                </a:solidFill>
                <a:latin typeface="+mj-lt" pitchFamily="34" charset="0"/>
                <a:ea typeface="+mj-lt" pitchFamily="34" charset="-122"/>
                <a:cs typeface="+mj-lt" pitchFamily="34" charset="-120"/>
              </a:rPr>
              <a:t>3</a:t>
            </a:r>
            <a:endParaRPr lang="en-US" sz="1500" dirty="0"/>
          </a:p>
        </p:txBody>
      </p:sp>
      <p:sp>
        <p:nvSpPr>
          <p:cNvPr id="17" name="Text 14"/>
          <p:cNvSpPr txBox="1"/>
          <p:nvPr/>
        </p:nvSpPr>
        <p:spPr>
          <a:xfrm>
            <a:off x="1143000" y="2880360"/>
            <a:ext cx="2011680" cy="804672"/>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FANBOYS</a:t>
            </a:r>
            <a:endParaRPr lang="en-US" sz="1600" dirty="0"/>
          </a:p>
        </p:txBody>
      </p:sp>
      <p:sp>
        <p:nvSpPr>
          <p:cNvPr id="18" name="Text 15"/>
          <p:cNvSpPr txBox="1"/>
          <p:nvPr/>
        </p:nvSpPr>
        <p:spPr>
          <a:xfrm>
            <a:off x="3154680" y="2880360"/>
            <a:ext cx="5394960" cy="804672"/>
          </a:xfrm>
          <a:prstGeom prst="rect">
            <a:avLst/>
          </a:prstGeom>
          <a:noFill/>
          <a:ln/>
        </p:spPr>
        <p:txBody>
          <a:bodyPr wrap="square" lIns="0" tIns="0" rIns="0" bIns="0" rtlCol="0" anchor="ctr"/>
          <a:lstStyle/>
          <a:p>
            <a:pPr marL="0" indent="0">
              <a:buNone/>
            </a:pPr>
            <a:r>
              <a:rPr lang="en-US" sz="1400" dirty="0">
                <a:solidFill>
                  <a:schemeClr val="tx1"/>
                </a:solidFill>
              </a:rPr>
              <a:t>Learn the seven connectives and what each one does. Test someone at home.</a:t>
            </a:r>
            <a:endParaRPr lang="en-US" sz="1400" dirty="0"/>
          </a:p>
        </p:txBody>
      </p:sp>
      <p:sp>
        <p:nvSpPr>
          <p:cNvPr id="19" name="Challenge"/>
          <p:cNvSpPr/>
          <p:nvPr/>
        </p:nvSpPr>
        <p:spPr>
          <a:xfrm>
            <a:off x="457200" y="3886200"/>
            <a:ext cx="8229600" cy="731520"/>
          </a:xfrm>
          <a:prstGeom prst="roundRect">
            <a:avLst>
              <a:gd name="adj" fmla="val 15000"/>
            </a:avLst>
          </a:prstGeom>
          <a:solidFill>
            <a:schemeClr val="accent5"/>
          </a:solidFill>
          <a:ln w="9525">
            <a:solidFill>
              <a:schemeClr val="accent5"/>
            </a:solidFill>
            <a:prstDash val="solid"/>
          </a:ln>
        </p:spPr>
      </p:sp>
      <p:sp>
        <p:nvSpPr>
          <p:cNvPr id="20" name="Text 17"/>
          <p:cNvSpPr txBox="1"/>
          <p:nvPr/>
        </p:nvSpPr>
        <p:spPr>
          <a:xfrm>
            <a:off x="640080" y="3886200"/>
            <a:ext cx="7863840" cy="731520"/>
          </a:xfrm>
          <a:prstGeom prst="rect">
            <a:avLst/>
          </a:prstGeom>
          <a:noFill/>
          <a:ln/>
        </p:spPr>
        <p:txBody>
          <a:bodyPr wrap="square" lIns="0" tIns="0" rIns="0" bIns="0" rtlCol="0" anchor="ctr"/>
          <a:lstStyle/>
          <a:p>
            <a:pPr marL="0" indent="0">
              <a:buNone/>
            </a:pPr>
            <a:r>
              <a:rPr lang="en-US" sz="1400" b="1" dirty="0">
                <a:solidFill>
                  <a:schemeClr val="tx1"/>
                </a:solidFill>
              </a:rPr>
              <a:t>CHALLENGE: </a:t>
            </a:r>
            <a:r>
              <a:rPr lang="en-US" sz="1400" dirty="0">
                <a:solidFill>
                  <a:schemeClr val="tx1"/>
                </a:solidFill>
              </a:rPr>
              <a:t>Join three simple sentences with two connectives. Example: The astronauts entered the spacecraft, and they blasted into space, so the mission began.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40</a:t>
            </a:fld>
            <a:endParaRPr lang="en-US"/>
          </a:p>
        </p:txBody>
      </p:sp>
    </p:spTree>
  </p:cSld>
  <p:clrMapOvr>
    <a:masterClrMapping/>
  </p:clrMapOvr>
</p:sld>
</file>

<file path=ppt/theme/theme1.xml><?xml version="1.0" encoding="utf-8"?>
<a:theme xmlns:a="http://schemas.openxmlformats.org/drawingml/2006/main" name="Space Explorers">
  <a:themeElements>
    <a:clrScheme name="Space Explorers">
      <a:dk1>
        <a:srgbClr val="0E1537"/>
      </a:dk1>
      <a:lt1>
        <a:srgbClr val="FFFFFF"/>
      </a:lt1>
      <a:dk2>
        <a:srgbClr val="3A3F85"/>
      </a:dk2>
      <a:lt2>
        <a:srgbClr val="F1F3FF"/>
      </a:lt2>
      <a:accent1>
        <a:srgbClr val="FF8A3D"/>
      </a:accent1>
      <a:accent2>
        <a:srgbClr val="2EC4B6"/>
      </a:accent2>
      <a:accent3>
        <a:srgbClr val="FF6B8B"/>
      </a:accent3>
      <a:accent4>
        <a:srgbClr val="7B5CE0"/>
      </a:accent4>
      <a:accent5>
        <a:srgbClr val="FFD166"/>
      </a:accent5>
      <a:accent6>
        <a:srgbClr val="4CC9F0"/>
      </a:accent6>
      <a:hlink>
        <a:srgbClr val="4CC9F0"/>
      </a:hlink>
      <a:folHlink>
        <a:srgbClr val="7B5CE0"/>
      </a:folHlink>
    </a:clrScheme>
    <a:fontScheme name="Space Explore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4493</Words>
  <Application>Microsoft Office PowerPoint</Application>
  <PresentationFormat>On-screen Show (16:9)</PresentationFormat>
  <Paragraphs>600</Paragraphs>
  <Slides>40</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Cambria</vt:lpstr>
      <vt:lpstr>Space Explorers</vt:lpstr>
      <vt:lpstr>PowerPoint Presentation</vt:lpstr>
      <vt:lpstr>Today’s mission</vt:lpstr>
      <vt:lpstr>Getting started: describe the text</vt:lpstr>
      <vt:lpstr>Getting started: model answers</vt:lpstr>
      <vt:lpstr>PowerPoint Presentation</vt:lpstr>
      <vt:lpstr>Word 1: TIMELINE</vt:lpstr>
      <vt:lpstr>Use &amp; check: timeline</vt:lpstr>
      <vt:lpstr>Word 2: CHRONOLOGICAL</vt:lpstr>
      <vt:lpstr>Use &amp; check: chronological</vt:lpstr>
      <vt:lpstr>Draw a timeline</vt:lpstr>
      <vt:lpstr>From sentence to note</vt:lpstr>
      <vt:lpstr>Model timeline 1: early astronomy</vt:lpstr>
      <vt:lpstr>Model timeline 2: the space race</vt:lpstr>
      <vt:lpstr>Model timeline 3: living in space</vt:lpstr>
      <vt:lpstr>Describe your timeline</vt:lpstr>
      <vt:lpstr>PowerPoint Presentation</vt:lpstr>
      <vt:lpstr>Language focus: simple sentences</vt:lpstr>
      <vt:lpstr>Language focus: compound sentences</vt:lpstr>
      <vt:lpstr>Parts of a compound sentence</vt:lpstr>
      <vt:lpstr>FANBOYS: the seven connectives</vt:lpstr>
      <vt:lpstr>FANBOYS in action (1 of 2)</vt:lpstr>
      <vt:lpstr>FANBOYS in action (2 of 2)</vt:lpstr>
      <vt:lpstr>Careful: ‘because’ is not FANBOYS</vt:lpstr>
      <vt:lpstr>Choose the simple sentence</vt:lpstr>
      <vt:lpstr>Answer: the simple sentence</vt:lpstr>
      <vt:lpstr>Choose the compound sentence</vt:lpstr>
      <vt:lpstr>Answer: the compound sentence</vt:lpstr>
      <vt:lpstr>Simple or compound?</vt:lpstr>
      <vt:lpstr>Answers: simple or compound?</vt:lpstr>
      <vt:lpstr>2a: simple or compound in the text?</vt:lpstr>
      <vt:lpstr>2a: model answers</vt:lpstr>
      <vt:lpstr>2b: rewrite the compound sentences</vt:lpstr>
      <vt:lpstr>2b: model answers</vt:lpstr>
      <vt:lpstr>2c: join the simple sentences</vt:lpstr>
      <vt:lpstr>2c: model answers</vt:lpstr>
      <vt:lpstr>2d: write your own sentences</vt:lpstr>
      <vt:lpstr>2d: model answers</vt:lpstr>
      <vt:lpstr>Exit ticket</vt:lpstr>
      <vt:lpstr>Model answers: exit ticket</vt:lpstr>
      <vt:lpstr>Homework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Simple Start – Year 5 Unit 2 Lesson 2</dc:title>
  <dc:subject>PptxGenJS Presentation</dc:subject>
  <dc:creator>Year 5 English</dc:creator>
  <cp:lastModifiedBy>pc</cp:lastModifiedBy>
  <cp:revision>1</cp:revision>
  <dcterms:created xsi:type="dcterms:W3CDTF">2026-10-17T16:36:16Z</dcterms:created>
  <dcterms:modified xsi:type="dcterms:W3CDTF">2026-10-17T16:38:25Z</dcterms:modified>
</cp:coreProperties>
</file>