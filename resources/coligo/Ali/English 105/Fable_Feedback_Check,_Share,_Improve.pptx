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820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goal: pupils check their fable against the homework checklist, give partner feedback (one strength, one improvement) and fix the problems that were most common in the Lesson 4 homework. All examples are your pupils' real sentences from the Lesson 4 homework. Skip any example that could embarrass a pupil. Timing guide: Strengths 9, Class problems 30, Self-check 12, Partner feedback 10, Improve 12, Plenary 3, Exit ticket 4. Before the lesson: pupils need their homework fable, a pencil or highlighter and a purple pen.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Link: you wrote Paragraphs 1 to 4 in Lesson 4 and for homework wrote the whole fable. Today we find what still needs fixing, and fix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Read each quote aloud and name the writer: they will be proud. Say which skill it shows (result linked by because/so/as a result, a choice that shows the trait, a change). Check the writer names against your marking before presenting; two pupils named Noor and two named Joud appear in this lesson, so the story is shown in brackets.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Same routine: read, name the writer, say the skill. Point out that two of these morals use the frames from Lesson 4 and that none of them contain a name.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Make sure every pupil has been named for something good. Adjust or replace any card where you want to praise something different, using the homework itself.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Counts are approximate (taken from reading the 15 homework fables), so adjust them from your own marking. Say: the more fables needed a fix, the more likely YOUR fable needs it too. Walk through the list on the right: that is today's order.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Read each left box, ask what is missing, then reveal the right box. Ali's and Mahmoud's fables were three separate mini-stories (Mahmoud's matches Ali's, so ask them to talk to you). Dana's piece described the lion but did not tell a story: show the trait through a choice, not 'bad, bad, bad'. Remind pupils the trait box on the sheet holds ONE word.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Seif explained the trait instead of showing it with a choice. Abdallah joined everything with 'then': teach because/so/as a result. Ask pupils to say which words show the result.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Rule: when a sentence starts with Because, put a comma after the because part. Check the verb tense (did not prepare, was shivering). Kinan, Noor and Joud had the right idea: the result happens because of the choice. Ask pupils to underline their link word.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A moral is a general lesson for everyone, in present tense, with no character names, and it must fit the story. Mai's named the owl; Abdallah's mixed 'he' and 'you'; Ali's was repeated after every paragraph. Pupils choose a frame and say their moral aloud to a partner.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Three fables stopped before the moral. Pupils compare: each right-hand moral uses a frame and fits the story. Ask which frame each one uses (Patience catches more than speed: a general truth; Prepare ahead, or…: Do ___, or ___; A bully who…may: A ___ who ___ may ___).</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Teach the speech rule: comma before the speech marks, capital letter to begin the speech, end punctuation inside the speech marks, new sentences get full stops. Noor's long speech needs full stops. Ask pupils to check every piece of speech in their own fable.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Two rules: keep the same tense (a fable is told in the past tense) and match was/were, has/have. After did/didn't use the base verb (didn't find). Ask pupils to say the rule aloud and find one verb in their own fable.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Real misspellings from the fables (names show the writer). Pupils copy topic words from their plan or the class word bank before writing. Remind pupils: Because has a capital letter only at the start of a sentence.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mini-whiteboards. Real sentences from the fables. Read each, pupils write the corrected sentence, show boards.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at a time and name each rule. Accept any correct version.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Each pupil finds their own name and reads their target. Say: your target is the first thing to check when you self-check your fable. Pupils who wrote well still have a target. Targets come straight from the homework; edit any to match your own marking.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each pupil finds their own name and reads their target. Two pupils named Noor and two named Joud appear, so each shows the story title.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use this checklist to self-check. Read each aloud. Left: the checklist from the homework sheet. Right: today's class targets. Remind pupils to find evidence for every tick.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Independent. Pupils read the whole fable quietly, mark it, tick the checklist and choose ONE target (start with the target on the targets slide). Circulate: conference with pupils who find it hard to give evidence. Pencil or highlighter for marking; keep the purple pen for improvements.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Timing: swap and read 3, find and talk 3, write slip 3, thank you 1. Circulate and listen for quoted words and checklist language.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copy this layout on a slip or at the end of their fable. The improvement must link to a checklist item or class target. Stems are optional help.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Pupils read the feedback they received, compare it with their own target, then rewrite. Purple pen for every improvement so progress is visible. Support group first: conference on one paragraph. Move pupils up if they finish early.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the improving time. It collects the formulas from the six problems.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Take 2 or 3 pupils to read an improved sentence aloud. Ask the class: which fix was it? Then traffic lights: pupils show a colour or put a dot on their fable. Use the results to plan the editing session.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because, so, as a result. 2 Mia said, “I will help you.” 3 No, it names the character; any general moral with no names that fits, for example Always be kind to others, or you may be left alone.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finish the fable using the feedback. Pupils need their feedback slip, their target and the purple pen. Fables are edited next lesson.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5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7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B365D"/>
                </a:solidFill>
                <a:latin typeface="Georgia" pitchFamily="34" charset="0"/>
                <a:ea typeface="Georgia" pitchFamily="34" charset="-122"/>
                <a:cs typeface="Georgia"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96641"/>
            <a:ext cx="10566400" cy="4348559"/>
          </a:xfrm>
          <a:prstGeom prst="rect">
            <a:avLst/>
          </a:prstGeom>
          <a:noFill/>
          <a:ln/>
        </p:spPr>
        <p:txBody>
          <a:bodyPr wrap="square" lIns="0" tIns="0" rIns="0" bIns="0" rtlCol="0" anchor="t"/>
          <a:lstStyle>
            <a:lvl1pPr marL="0" indent="0" algn="l">
              <a:lnSpc>
                <a:spcPct val="140000"/>
              </a:lnSpc>
              <a:buNone/>
              <a:defRPr lang="en-US" sz="1600" dirty="0">
                <a:solidFill>
                  <a:srgbClr val="1B365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7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B365D"/>
                </a:solidFill>
                <a:latin typeface="Georgia" pitchFamily="34" charset="0"/>
                <a:ea typeface="Georgia" pitchFamily="34" charset="-122"/>
                <a:cs typeface="Georgia"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96641"/>
            <a:ext cx="10566400" cy="4348559"/>
          </a:xfrm>
          <a:prstGeom prst="rect">
            <a:avLst/>
          </a:prstGeom>
          <a:noFill/>
          <a:ln/>
        </p:spPr>
        <p:txBody>
          <a:bodyPr wrap="square" lIns="0" tIns="0" rIns="0" bIns="0" rtlCol="0" anchor="t"/>
          <a:lstStyle>
            <a:lvl1pPr marL="0" indent="0" algn="l">
              <a:lnSpc>
                <a:spcPct val="140000"/>
              </a:lnSpc>
              <a:buNone/>
              <a:defRPr lang="en-US" sz="1600" dirty="0">
                <a:solidFill>
                  <a:srgbClr val="1B365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a:effectLst/>
      </p:bgPr>
    </p:bg>
    <p:spTree>
      <p:nvGrpSpPr>
        <p:cNvPr id="1" name=""/>
        <p:cNvGrpSpPr/>
        <p:nvPr/>
      </p:nvGrpSpPr>
      <p:grpSpPr>
        <a:xfrm>
          <a:off x="0" y="0"/>
          <a:ext cx="0" cy="0"/>
          <a:chOff x="0" y="0"/>
          <a:chExt cx="0" cy="0"/>
        </a:xfrm>
      </p:grpSpPr>
      <p:sp>
        <p:nvSpPr>
          <p:cNvPr id="2" name="Text 0"/>
          <p:cNvSpPr/>
          <p:nvPr/>
        </p:nvSpPr>
        <p:spPr>
          <a:xfrm>
            <a:off x="812800" y="1815306"/>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880"/>
                </a:solidFill>
                <a:latin typeface="Arial" pitchFamily="34" charset="0"/>
                <a:ea typeface="Arial" pitchFamily="34" charset="-122"/>
                <a:cs typeface="Arial" pitchFamily="34" charset="-120"/>
              </a:rPr>
              <a:t>YEAR 5 · WRITING · LESSON 5 · FEEDBACK</a:t>
            </a:r>
            <a:endParaRPr lang="en-US" sz="1400" dirty="0"/>
          </a:p>
        </p:txBody>
      </p:sp>
      <p:sp>
        <p:nvSpPr>
          <p:cNvPr id="3" name="Text 1"/>
          <p:cNvSpPr>
            <a:spLocks noGrp="1"/>
          </p:cNvSpPr>
          <p:nvPr>
            <p:ph type="title"/>
          </p:nvPr>
        </p:nvSpPr>
        <p:spPr>
          <a:xfrm>
            <a:off x="812800" y="2229247"/>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FFFFF"/>
                </a:solidFill>
                <a:latin typeface="Georgia" pitchFamily="18" charset="0"/>
                <a:ea typeface="Georgia" pitchFamily="18" charset="-122"/>
                <a:cs typeface="Georgia" pitchFamily="18" charset="-120"/>
              </a:rPr>
              <a:t>Fable Doctors</a:t>
            </a:r>
            <a:endParaRPr lang="en-US" sz="5600" dirty="0"/>
          </a:p>
        </p:txBody>
      </p:sp>
      <p:sp>
        <p:nvSpPr>
          <p:cNvPr id="4" name="Text 2"/>
          <p:cNvSpPr/>
          <p:nvPr/>
        </p:nvSpPr>
        <p:spPr>
          <a:xfrm>
            <a:off x="812800" y="3141067"/>
            <a:ext cx="10883392" cy="452041"/>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E8EEF6"/>
                </a:solidFill>
                <a:latin typeface="Arial" pitchFamily="34" charset="0"/>
                <a:ea typeface="Arial" pitchFamily="34" charset="-122"/>
                <a:cs typeface="Arial" pitchFamily="34" charset="-120"/>
              </a:rPr>
              <a:t>Feedback: Check, Share, Improve</a:t>
            </a:r>
            <a:endParaRPr lang="en-US" sz="2400" dirty="0"/>
          </a:p>
        </p:txBody>
      </p:sp>
      <p:sp>
        <p:nvSpPr>
          <p:cNvPr id="5" name="Shape 3"/>
          <p:cNvSpPr/>
          <p:nvPr/>
        </p:nvSpPr>
        <p:spPr>
          <a:xfrm>
            <a:off x="812800" y="3732808"/>
            <a:ext cx="10566400" cy="895945"/>
          </a:xfrm>
          <a:prstGeom prst="roundRect">
            <a:avLst>
              <a:gd name="adj" fmla="val 11340"/>
            </a:avLst>
          </a:prstGeom>
          <a:solidFill>
            <a:srgbClr val="2A4A78"/>
          </a:solidFill>
          <a:ln/>
        </p:spPr>
      </p:sp>
      <p:sp>
        <p:nvSpPr>
          <p:cNvPr id="6" name="Text 4"/>
          <p:cNvSpPr/>
          <p:nvPr/>
        </p:nvSpPr>
        <p:spPr>
          <a:xfrm>
            <a:off x="1066800" y="3923308"/>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880"/>
                </a:solidFill>
                <a:latin typeface="Arial" pitchFamily="34" charset="0"/>
                <a:ea typeface="Arial" pitchFamily="34" charset="-122"/>
                <a:cs typeface="Arial" pitchFamily="34" charset="-120"/>
              </a:rPr>
              <a:t>BIG QUESTION</a:t>
            </a:r>
            <a:endParaRPr lang="en-US" sz="1200" dirty="0"/>
          </a:p>
        </p:txBody>
      </p:sp>
      <p:sp>
        <p:nvSpPr>
          <p:cNvPr id="7" name="Text 5"/>
          <p:cNvSpPr/>
          <p:nvPr/>
        </p:nvSpPr>
        <p:spPr>
          <a:xfrm>
            <a:off x="1066800" y="4136628"/>
            <a:ext cx="10360152" cy="327025"/>
          </a:xfrm>
          <a:prstGeom prst="rect">
            <a:avLst/>
          </a:prstGeom>
          <a:noFill/>
          <a:ln/>
        </p:spPr>
        <p:txBody>
          <a:bodyPr wrap="square" lIns="0" tIns="0" rIns="0" bIns="0" rtlCol="0" anchor="t">
            <a:normAutofit/>
          </a:bodyPr>
          <a:lstStyle/>
          <a:p>
            <a:pPr marL="0" indent="0" algn="l">
              <a:lnSpc>
                <a:spcPts val="2375"/>
              </a:lnSpc>
              <a:buNone/>
            </a:pPr>
            <a:r>
              <a:rPr lang="en-US" sz="1900" dirty="0">
                <a:solidFill>
                  <a:srgbClr val="FFFFFF"/>
                </a:solidFill>
                <a:latin typeface="Arial" pitchFamily="34" charset="0"/>
                <a:ea typeface="Arial" pitchFamily="34" charset="-122"/>
                <a:cs typeface="Arial" pitchFamily="34" charset="-120"/>
              </a:rPr>
              <a:t>What do we need to fix in our fables, and how can we fix it?</a:t>
            </a:r>
            <a:endParaRPr lang="en-US" sz="1900" dirty="0"/>
          </a:p>
        </p:txBody>
      </p:sp>
      <p:sp>
        <p:nvSpPr>
          <p:cNvPr id="8" name="Text 6"/>
          <p:cNvSpPr/>
          <p:nvPr/>
        </p:nvSpPr>
        <p:spPr>
          <a:xfrm>
            <a:off x="812800" y="479385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8"/>
                </a:solidFill>
                <a:latin typeface="Arial" pitchFamily="34" charset="0"/>
                <a:ea typeface="Arial" pitchFamily="34" charset="-122"/>
                <a:cs typeface="Arial" pitchFamily="34" charset="-120"/>
              </a:rPr>
              <a:t>80 minutes · Write a Fable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GOALS</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Today we will learn to…</a:t>
            </a:r>
            <a:endParaRPr lang="en-US" sz="2800" dirty="0"/>
          </a:p>
        </p:txBody>
      </p:sp>
      <p:sp>
        <p:nvSpPr>
          <p:cNvPr id="4" name="Shape 2"/>
          <p:cNvSpPr/>
          <p:nvPr/>
        </p:nvSpPr>
        <p:spPr>
          <a:xfrm>
            <a:off x="819150" y="1575991"/>
            <a:ext cx="5207000" cy="769541"/>
          </a:xfrm>
          <a:prstGeom prst="roundRect">
            <a:avLst>
              <a:gd name="adj" fmla="val 10727"/>
            </a:avLst>
          </a:prstGeom>
          <a:solidFill>
            <a:srgbClr val="FFFFFF"/>
          </a:solidFill>
          <a:ln w="12700">
            <a:solidFill>
              <a:srgbClr val="D9DEE5"/>
            </a:solidFill>
            <a:prstDash val="solid"/>
          </a:ln>
        </p:spPr>
      </p:sp>
      <p:sp>
        <p:nvSpPr>
          <p:cNvPr id="5" name="Text 3"/>
          <p:cNvSpPr/>
          <p:nvPr/>
        </p:nvSpPr>
        <p:spPr>
          <a:xfrm>
            <a:off x="1016000" y="1747441"/>
            <a:ext cx="489585" cy="452041"/>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1F2933"/>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563688" y="1833761"/>
            <a:ext cx="3090386"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F2933"/>
                </a:solidFill>
                <a:latin typeface="Arial" pitchFamily="34" charset="0"/>
                <a:ea typeface="Arial" pitchFamily="34" charset="-122"/>
                <a:cs typeface="Arial" pitchFamily="34" charset="-120"/>
              </a:rPr>
              <a:t>See what we already do well</a:t>
            </a:r>
            <a:endParaRPr lang="en-US" sz="1600" dirty="0"/>
          </a:p>
        </p:txBody>
      </p:sp>
      <p:sp>
        <p:nvSpPr>
          <p:cNvPr id="7" name="Shape 5"/>
          <p:cNvSpPr/>
          <p:nvPr/>
        </p:nvSpPr>
        <p:spPr>
          <a:xfrm>
            <a:off x="6165850" y="1575991"/>
            <a:ext cx="5207000" cy="769541"/>
          </a:xfrm>
          <a:prstGeom prst="roundRect">
            <a:avLst>
              <a:gd name="adj" fmla="val 10727"/>
            </a:avLst>
          </a:prstGeom>
          <a:solidFill>
            <a:srgbClr val="FFFFFF"/>
          </a:solidFill>
          <a:ln w="12700">
            <a:solidFill>
              <a:srgbClr val="D9DEE5"/>
            </a:solidFill>
            <a:prstDash val="solid"/>
          </a:ln>
        </p:spPr>
      </p:sp>
      <p:sp>
        <p:nvSpPr>
          <p:cNvPr id="8" name="Text 6"/>
          <p:cNvSpPr/>
          <p:nvPr/>
        </p:nvSpPr>
        <p:spPr>
          <a:xfrm>
            <a:off x="6362700" y="1747441"/>
            <a:ext cx="502206" cy="452041"/>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1F2933"/>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6920905" y="1833761"/>
            <a:ext cx="4445595"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F2933"/>
                </a:solidFill>
                <a:latin typeface="Arial" pitchFamily="34" charset="0"/>
                <a:ea typeface="Arial" pitchFamily="34" charset="-122"/>
                <a:cs typeface="Arial" pitchFamily="34" charset="-120"/>
              </a:rPr>
              <a:t>Give feedback: one strength, one improvement</a:t>
            </a:r>
            <a:endParaRPr lang="en-US" sz="1600" dirty="0"/>
          </a:p>
        </p:txBody>
      </p:sp>
      <p:sp>
        <p:nvSpPr>
          <p:cNvPr id="10" name="Shape 8"/>
          <p:cNvSpPr/>
          <p:nvPr/>
        </p:nvSpPr>
        <p:spPr>
          <a:xfrm>
            <a:off x="819150" y="2485231"/>
            <a:ext cx="5207000" cy="769541"/>
          </a:xfrm>
          <a:prstGeom prst="roundRect">
            <a:avLst>
              <a:gd name="adj" fmla="val 10727"/>
            </a:avLst>
          </a:prstGeom>
          <a:solidFill>
            <a:srgbClr val="FFFFFF"/>
          </a:solidFill>
          <a:ln w="12700">
            <a:solidFill>
              <a:srgbClr val="D9DEE5"/>
            </a:solidFill>
            <a:prstDash val="solid"/>
          </a:ln>
        </p:spPr>
      </p:sp>
      <p:sp>
        <p:nvSpPr>
          <p:cNvPr id="11" name="Text 9"/>
          <p:cNvSpPr/>
          <p:nvPr/>
        </p:nvSpPr>
        <p:spPr>
          <a:xfrm>
            <a:off x="1016000" y="2656681"/>
            <a:ext cx="502206" cy="452041"/>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1F2933"/>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1574205" y="2743002"/>
            <a:ext cx="4445595"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F2933"/>
                </a:solidFill>
                <a:latin typeface="Arial" pitchFamily="34" charset="0"/>
                <a:ea typeface="Arial" pitchFamily="34" charset="-122"/>
                <a:cs typeface="Arial" pitchFamily="34" charset="-120"/>
              </a:rPr>
              <a:t>Fix the most common problems in our fables</a:t>
            </a:r>
            <a:endParaRPr lang="en-US" sz="1600" dirty="0"/>
          </a:p>
        </p:txBody>
      </p:sp>
      <p:sp>
        <p:nvSpPr>
          <p:cNvPr id="13" name="Shape 11"/>
          <p:cNvSpPr/>
          <p:nvPr/>
        </p:nvSpPr>
        <p:spPr>
          <a:xfrm>
            <a:off x="6165850" y="2485231"/>
            <a:ext cx="5207000" cy="769541"/>
          </a:xfrm>
          <a:prstGeom prst="roundRect">
            <a:avLst>
              <a:gd name="adj" fmla="val 10727"/>
            </a:avLst>
          </a:prstGeom>
          <a:solidFill>
            <a:srgbClr val="FFFFFF"/>
          </a:solidFill>
          <a:ln w="12700">
            <a:solidFill>
              <a:srgbClr val="D9DEE5"/>
            </a:solidFill>
            <a:prstDash val="solid"/>
          </a:ln>
        </p:spPr>
      </p:sp>
      <p:sp>
        <p:nvSpPr>
          <p:cNvPr id="14" name="Text 12"/>
          <p:cNvSpPr/>
          <p:nvPr/>
        </p:nvSpPr>
        <p:spPr>
          <a:xfrm>
            <a:off x="6362700" y="2656681"/>
            <a:ext cx="502206" cy="452041"/>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1F2933"/>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6920905" y="2743002"/>
            <a:ext cx="3578185"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F2933"/>
                </a:solidFill>
                <a:latin typeface="Arial" pitchFamily="34" charset="0"/>
                <a:ea typeface="Arial" pitchFamily="34" charset="-122"/>
                <a:cs typeface="Arial" pitchFamily="34" charset="-120"/>
              </a:rPr>
              <a:t>Improve my fable using feedback</a:t>
            </a:r>
            <a:endParaRPr lang="en-US" sz="1600" dirty="0"/>
          </a:p>
        </p:txBody>
      </p:sp>
      <p:sp>
        <p:nvSpPr>
          <p:cNvPr id="16" name="Shape 14"/>
          <p:cNvSpPr/>
          <p:nvPr/>
        </p:nvSpPr>
        <p:spPr>
          <a:xfrm>
            <a:off x="819150" y="3394472"/>
            <a:ext cx="5207000" cy="769541"/>
          </a:xfrm>
          <a:prstGeom prst="roundRect">
            <a:avLst>
              <a:gd name="adj" fmla="val 10727"/>
            </a:avLst>
          </a:prstGeom>
          <a:solidFill>
            <a:srgbClr val="FFFFFF"/>
          </a:solidFill>
          <a:ln w="12700">
            <a:solidFill>
              <a:srgbClr val="D9DEE5"/>
            </a:solidFill>
            <a:prstDash val="solid"/>
          </a:ln>
        </p:spPr>
      </p:sp>
      <p:sp>
        <p:nvSpPr>
          <p:cNvPr id="17" name="Text 15"/>
          <p:cNvSpPr/>
          <p:nvPr/>
        </p:nvSpPr>
        <p:spPr>
          <a:xfrm>
            <a:off x="1016000" y="3565922"/>
            <a:ext cx="502206" cy="452041"/>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1F2933"/>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74205" y="3652242"/>
            <a:ext cx="3943945"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F2933"/>
                </a:solidFill>
                <a:latin typeface="Arial" pitchFamily="34" charset="0"/>
                <a:ea typeface="Arial" pitchFamily="34" charset="-122"/>
                <a:cs typeface="Arial" pitchFamily="34" charset="-120"/>
              </a:rPr>
              <a:t>Check my fable against the checklist</a:t>
            </a:r>
            <a:endParaRPr lang="en-US" sz="1600" dirty="0"/>
          </a:p>
        </p:txBody>
      </p:sp>
      <p:sp>
        <p:nvSpPr>
          <p:cNvPr id="19" name="Shape 17"/>
          <p:cNvSpPr/>
          <p:nvPr/>
        </p:nvSpPr>
        <p:spPr>
          <a:xfrm>
            <a:off x="6165850" y="3394472"/>
            <a:ext cx="5207000" cy="769541"/>
          </a:xfrm>
          <a:prstGeom prst="roundRect">
            <a:avLst>
              <a:gd name="adj" fmla="val 10727"/>
            </a:avLst>
          </a:prstGeom>
          <a:solidFill>
            <a:srgbClr val="FFFFFF"/>
          </a:solidFill>
          <a:ln w="12700">
            <a:solidFill>
              <a:srgbClr val="D9DEE5"/>
            </a:solidFill>
            <a:prstDash val="solid"/>
          </a:ln>
        </p:spPr>
      </p:sp>
      <p:sp>
        <p:nvSpPr>
          <p:cNvPr id="20" name="Text 18"/>
          <p:cNvSpPr/>
          <p:nvPr/>
        </p:nvSpPr>
        <p:spPr>
          <a:xfrm>
            <a:off x="6362700" y="3565922"/>
            <a:ext cx="502206" cy="452041"/>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1F2933"/>
                </a:solidFill>
                <a:latin typeface="Arial" pitchFamily="34" charset="0"/>
                <a:ea typeface="Arial" pitchFamily="34" charset="-122"/>
                <a:cs typeface="Arial" pitchFamily="34" charset="-120"/>
              </a:rPr>
              <a:t>🎯</a:t>
            </a:r>
            <a:endParaRPr lang="en-US" sz="2400" dirty="0"/>
          </a:p>
        </p:txBody>
      </p:sp>
      <p:sp>
        <p:nvSpPr>
          <p:cNvPr id="21" name="Text 19"/>
          <p:cNvSpPr/>
          <p:nvPr/>
        </p:nvSpPr>
        <p:spPr>
          <a:xfrm>
            <a:off x="6920905" y="3652242"/>
            <a:ext cx="3171468"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F2933"/>
                </a:solidFill>
                <a:latin typeface="Arial" pitchFamily="34" charset="0"/>
                <a:ea typeface="Arial" pitchFamily="34" charset="-122"/>
                <a:cs typeface="Arial" pitchFamily="34" charset="-120"/>
              </a:rPr>
              <a:t>Set myself a target for editing</a:t>
            </a:r>
            <a:endParaRPr lang="en-US" sz="1600" dirty="0"/>
          </a:p>
        </p:txBody>
      </p:sp>
      <p:sp>
        <p:nvSpPr>
          <p:cNvPr id="22" name="Text 20"/>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Last lesson you wrote your whole fable. Today we find what still needs fixing, and fix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STRENGTHS</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What you did well (1)</a:t>
            </a:r>
            <a:endParaRPr lang="en-US" sz="2800" dirty="0"/>
          </a:p>
        </p:txBody>
      </p:sp>
      <p:sp>
        <p:nvSpPr>
          <p:cNvPr id="4" name="Shape 2"/>
          <p:cNvSpPr/>
          <p:nvPr/>
        </p:nvSpPr>
        <p:spPr>
          <a:xfrm>
            <a:off x="812800" y="1569641"/>
            <a:ext cx="5219700" cy="980281"/>
          </a:xfrm>
          <a:prstGeom prst="roundRect">
            <a:avLst>
              <a:gd name="adj" fmla="val 9069"/>
            </a:avLst>
          </a:prstGeom>
          <a:solidFill>
            <a:srgbClr val="FCE9D6"/>
          </a:solidFill>
          <a:ln/>
        </p:spPr>
      </p:sp>
      <p:sp>
        <p:nvSpPr>
          <p:cNvPr id="5" name="Shape 3"/>
          <p:cNvSpPr/>
          <p:nvPr/>
        </p:nvSpPr>
        <p:spPr>
          <a:xfrm>
            <a:off x="812800" y="1569641"/>
            <a:ext cx="5219700" cy="980281"/>
          </a:xfrm>
          <a:custGeom>
            <a:avLst/>
            <a:gdLst/>
            <a:ahLst/>
            <a:cxnLst/>
            <a:rect l="l" t="t" r="r" b="b"/>
            <a:pathLst>
              <a:path w="5219700" h="980281">
                <a:moveTo>
                  <a:pt x="88900" y="980281"/>
                </a:moveTo>
                <a:lnTo>
                  <a:pt x="88900" y="980281"/>
                </a:lnTo>
                <a:arcTo wR="88900" hR="88900" stAng="5400000" swAng="5400000"/>
                <a:lnTo>
                  <a:pt x="0" y="88900"/>
                </a:lnTo>
                <a:arcTo wR="88900" hR="88900" stAng="10800000" swAng="5400000"/>
                <a:lnTo>
                  <a:pt x="88900" y="0"/>
                </a:lnTo>
                <a:arcTo wR="25400" hR="88900" stAng="16200000" swAng="-5400000"/>
                <a:lnTo>
                  <a:pt x="63500" y="891381"/>
                </a:lnTo>
                <a:arcTo wR="25400" hR="88900" stAng="10800000" swAng="-5400000"/>
                <a:close/>
              </a:path>
            </a:pathLst>
          </a:custGeom>
          <a:solidFill>
            <a:srgbClr val="B4570A"/>
          </a:solidFill>
          <a:ln/>
        </p:spPr>
      </p:sp>
      <p:sp>
        <p:nvSpPr>
          <p:cNvPr id="6" name="Text 4"/>
          <p:cNvSpPr/>
          <p:nvPr/>
        </p:nvSpPr>
        <p:spPr>
          <a:xfrm>
            <a:off x="1041400" y="169664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METAWALLI · RESULT LINKED TO CHOICE</a:t>
            </a:r>
            <a:endParaRPr lang="en-US" sz="1200" dirty="0"/>
          </a:p>
        </p:txBody>
      </p:sp>
      <p:sp>
        <p:nvSpPr>
          <p:cNvPr id="7" name="Text 5"/>
          <p:cNvSpPr/>
          <p:nvPr/>
        </p:nvSpPr>
        <p:spPr>
          <a:xfrm>
            <a:off x="1041400" y="1960761"/>
            <a:ext cx="4970780"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Leo had spared Pip, the tiny mouse heard his roars and quickly ran to the net.”</a:t>
            </a:r>
            <a:endParaRPr lang="en-US" sz="1400" dirty="0"/>
          </a:p>
        </p:txBody>
      </p:sp>
      <p:sp>
        <p:nvSpPr>
          <p:cNvPr id="8" name="Shape 6"/>
          <p:cNvSpPr/>
          <p:nvPr/>
        </p:nvSpPr>
        <p:spPr>
          <a:xfrm>
            <a:off x="6159500" y="1569641"/>
            <a:ext cx="5219700" cy="980281"/>
          </a:xfrm>
          <a:prstGeom prst="roundRect">
            <a:avLst>
              <a:gd name="adj" fmla="val 9069"/>
            </a:avLst>
          </a:prstGeom>
          <a:solidFill>
            <a:srgbClr val="FCE9D6"/>
          </a:solidFill>
          <a:ln/>
        </p:spPr>
      </p:sp>
      <p:sp>
        <p:nvSpPr>
          <p:cNvPr id="9" name="Shape 7"/>
          <p:cNvSpPr/>
          <p:nvPr/>
        </p:nvSpPr>
        <p:spPr>
          <a:xfrm>
            <a:off x="6159500" y="1569641"/>
            <a:ext cx="5219700" cy="980281"/>
          </a:xfrm>
          <a:custGeom>
            <a:avLst/>
            <a:gdLst/>
            <a:ahLst/>
            <a:cxnLst/>
            <a:rect l="l" t="t" r="r" b="b"/>
            <a:pathLst>
              <a:path w="5219700" h="980281">
                <a:moveTo>
                  <a:pt x="88900" y="980281"/>
                </a:moveTo>
                <a:lnTo>
                  <a:pt x="88900" y="980281"/>
                </a:lnTo>
                <a:arcTo wR="88900" hR="88900" stAng="5400000" swAng="5400000"/>
                <a:lnTo>
                  <a:pt x="0" y="88900"/>
                </a:lnTo>
                <a:arcTo wR="88900" hR="88900" stAng="10800000" swAng="5400000"/>
                <a:lnTo>
                  <a:pt x="88900" y="0"/>
                </a:lnTo>
                <a:arcTo wR="25400" hR="88900" stAng="16200000" swAng="-5400000"/>
                <a:lnTo>
                  <a:pt x="63500" y="891381"/>
                </a:lnTo>
                <a:arcTo wR="25400" hR="88900" stAng="10800000" swAng="-5400000"/>
                <a:close/>
              </a:path>
            </a:pathLst>
          </a:custGeom>
          <a:solidFill>
            <a:srgbClr val="B4570A"/>
          </a:solidFill>
          <a:ln/>
        </p:spPr>
      </p:sp>
      <p:sp>
        <p:nvSpPr>
          <p:cNvPr id="10" name="Text 8"/>
          <p:cNvSpPr/>
          <p:nvPr/>
        </p:nvSpPr>
        <p:spPr>
          <a:xfrm>
            <a:off x="6388100" y="169664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FARIDA · BECAUSE … SO … AS A RESULT</a:t>
            </a:r>
            <a:endParaRPr lang="en-US" sz="1200" dirty="0"/>
          </a:p>
        </p:txBody>
      </p:sp>
      <p:sp>
        <p:nvSpPr>
          <p:cNvPr id="11" name="Text 9"/>
          <p:cNvSpPr/>
          <p:nvPr/>
        </p:nvSpPr>
        <p:spPr>
          <a:xfrm>
            <a:off x="6388100" y="1960761"/>
            <a:ext cx="4970780"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Leo was humble and said sorry, Mia felt kind, so she chewed the net. As a result, Leo was free.”</a:t>
            </a:r>
            <a:endParaRPr lang="en-US" sz="1400" dirty="0"/>
          </a:p>
        </p:txBody>
      </p:sp>
      <p:sp>
        <p:nvSpPr>
          <p:cNvPr id="12" name="Shape 10"/>
          <p:cNvSpPr/>
          <p:nvPr/>
        </p:nvSpPr>
        <p:spPr>
          <a:xfrm>
            <a:off x="812800" y="2676922"/>
            <a:ext cx="5219700" cy="980281"/>
          </a:xfrm>
          <a:prstGeom prst="roundRect">
            <a:avLst>
              <a:gd name="adj" fmla="val 9069"/>
            </a:avLst>
          </a:prstGeom>
          <a:solidFill>
            <a:srgbClr val="FCE9D6"/>
          </a:solidFill>
          <a:ln/>
        </p:spPr>
      </p:sp>
      <p:sp>
        <p:nvSpPr>
          <p:cNvPr id="13" name="Shape 11"/>
          <p:cNvSpPr/>
          <p:nvPr/>
        </p:nvSpPr>
        <p:spPr>
          <a:xfrm>
            <a:off x="812800" y="2676922"/>
            <a:ext cx="5219700" cy="980281"/>
          </a:xfrm>
          <a:custGeom>
            <a:avLst/>
            <a:gdLst/>
            <a:ahLst/>
            <a:cxnLst/>
            <a:rect l="l" t="t" r="r" b="b"/>
            <a:pathLst>
              <a:path w="5219700" h="980281">
                <a:moveTo>
                  <a:pt x="88900" y="980281"/>
                </a:moveTo>
                <a:lnTo>
                  <a:pt x="88900" y="980281"/>
                </a:lnTo>
                <a:arcTo wR="88900" hR="88900" stAng="5400000" swAng="5400000"/>
                <a:lnTo>
                  <a:pt x="0" y="88900"/>
                </a:lnTo>
                <a:arcTo wR="88900" hR="88900" stAng="10800000" swAng="5400000"/>
                <a:lnTo>
                  <a:pt x="88900" y="0"/>
                </a:lnTo>
                <a:arcTo wR="25400" hR="88900" stAng="16200000" swAng="-5400000"/>
                <a:lnTo>
                  <a:pt x="63500" y="891381"/>
                </a:lnTo>
                <a:arcTo wR="25400" hR="88900" stAng="10800000" swAng="-5400000"/>
                <a:close/>
              </a:path>
            </a:pathLst>
          </a:custGeom>
          <a:solidFill>
            <a:srgbClr val="B4570A"/>
          </a:solidFill>
          <a:ln/>
        </p:spPr>
      </p:sp>
      <p:sp>
        <p:nvSpPr>
          <p:cNvPr id="14" name="Text 12"/>
          <p:cNvSpPr/>
          <p:nvPr/>
        </p:nvSpPr>
        <p:spPr>
          <a:xfrm>
            <a:off x="1041400" y="2803922"/>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JOUD AL-FATIH · RESULT FROM A CHOICE</a:t>
            </a:r>
            <a:endParaRPr lang="en-US" sz="1200" dirty="0"/>
          </a:p>
        </p:txBody>
      </p:sp>
      <p:sp>
        <p:nvSpPr>
          <p:cNvPr id="15" name="Text 13"/>
          <p:cNvSpPr/>
          <p:nvPr/>
        </p:nvSpPr>
        <p:spPr>
          <a:xfrm>
            <a:off x="1041400" y="3068042"/>
            <a:ext cx="4970780"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my brother called for help, my mum heard him, so he was safe.”</a:t>
            </a:r>
            <a:endParaRPr lang="en-US" sz="1400" dirty="0"/>
          </a:p>
        </p:txBody>
      </p:sp>
      <p:sp>
        <p:nvSpPr>
          <p:cNvPr id="16" name="Shape 14"/>
          <p:cNvSpPr/>
          <p:nvPr/>
        </p:nvSpPr>
        <p:spPr>
          <a:xfrm>
            <a:off x="6159500" y="2676922"/>
            <a:ext cx="5219700" cy="980281"/>
          </a:xfrm>
          <a:prstGeom prst="roundRect">
            <a:avLst>
              <a:gd name="adj" fmla="val 9069"/>
            </a:avLst>
          </a:prstGeom>
          <a:solidFill>
            <a:srgbClr val="FCE9D6"/>
          </a:solidFill>
          <a:ln/>
        </p:spPr>
      </p:sp>
      <p:sp>
        <p:nvSpPr>
          <p:cNvPr id="17" name="Shape 15"/>
          <p:cNvSpPr/>
          <p:nvPr/>
        </p:nvSpPr>
        <p:spPr>
          <a:xfrm>
            <a:off x="6159500" y="2676922"/>
            <a:ext cx="5219700" cy="980281"/>
          </a:xfrm>
          <a:custGeom>
            <a:avLst/>
            <a:gdLst/>
            <a:ahLst/>
            <a:cxnLst/>
            <a:rect l="l" t="t" r="r" b="b"/>
            <a:pathLst>
              <a:path w="5219700" h="980281">
                <a:moveTo>
                  <a:pt x="88900" y="980281"/>
                </a:moveTo>
                <a:lnTo>
                  <a:pt x="88900" y="980281"/>
                </a:lnTo>
                <a:arcTo wR="88900" hR="88900" stAng="5400000" swAng="5400000"/>
                <a:lnTo>
                  <a:pt x="0" y="88900"/>
                </a:lnTo>
                <a:arcTo wR="88900" hR="88900" stAng="10800000" swAng="5400000"/>
                <a:lnTo>
                  <a:pt x="88900" y="0"/>
                </a:lnTo>
                <a:arcTo wR="25400" hR="88900" stAng="16200000" swAng="-5400000"/>
                <a:lnTo>
                  <a:pt x="63500" y="891381"/>
                </a:lnTo>
                <a:arcTo wR="25400" hR="88900" stAng="10800000" swAng="-5400000"/>
                <a:close/>
              </a:path>
            </a:pathLst>
          </a:custGeom>
          <a:solidFill>
            <a:srgbClr val="B4570A"/>
          </a:solidFill>
          <a:ln/>
        </p:spPr>
      </p:sp>
      <p:sp>
        <p:nvSpPr>
          <p:cNvPr id="18" name="Text 16"/>
          <p:cNvSpPr/>
          <p:nvPr/>
        </p:nvSpPr>
        <p:spPr>
          <a:xfrm>
            <a:off x="6388100" y="2803922"/>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NADA · A CHOICE THAT SHOWS A TRAIT</a:t>
            </a:r>
            <a:endParaRPr lang="en-US" sz="1200" dirty="0"/>
          </a:p>
        </p:txBody>
      </p:sp>
      <p:sp>
        <p:nvSpPr>
          <p:cNvPr id="19" name="Text 17"/>
          <p:cNvSpPr/>
          <p:nvPr/>
        </p:nvSpPr>
        <p:spPr>
          <a:xfrm>
            <a:off x="6388100" y="3068042"/>
            <a:ext cx="4970780"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“Instead of flying away in fear, Pip took a deep breath on her branch and decided to sing.”</a:t>
            </a:r>
            <a:endParaRPr lang="en-US" sz="1400" dirty="0"/>
          </a:p>
        </p:txBody>
      </p:sp>
      <p:sp>
        <p:nvSpPr>
          <p:cNvPr id="20" name="Shape 18"/>
          <p:cNvSpPr/>
          <p:nvPr/>
        </p:nvSpPr>
        <p:spPr>
          <a:xfrm>
            <a:off x="812800" y="3784203"/>
            <a:ext cx="5219700" cy="980281"/>
          </a:xfrm>
          <a:prstGeom prst="roundRect">
            <a:avLst>
              <a:gd name="adj" fmla="val 9069"/>
            </a:avLst>
          </a:prstGeom>
          <a:solidFill>
            <a:srgbClr val="FCE9D6"/>
          </a:solidFill>
          <a:ln/>
        </p:spPr>
      </p:sp>
      <p:sp>
        <p:nvSpPr>
          <p:cNvPr id="21" name="Shape 19"/>
          <p:cNvSpPr/>
          <p:nvPr/>
        </p:nvSpPr>
        <p:spPr>
          <a:xfrm>
            <a:off x="812800" y="3784203"/>
            <a:ext cx="5219700" cy="980281"/>
          </a:xfrm>
          <a:custGeom>
            <a:avLst/>
            <a:gdLst/>
            <a:ahLst/>
            <a:cxnLst/>
            <a:rect l="l" t="t" r="r" b="b"/>
            <a:pathLst>
              <a:path w="5219700" h="980281">
                <a:moveTo>
                  <a:pt x="88900" y="980281"/>
                </a:moveTo>
                <a:lnTo>
                  <a:pt x="88900" y="980281"/>
                </a:lnTo>
                <a:arcTo wR="88900" hR="88900" stAng="5400000" swAng="5400000"/>
                <a:lnTo>
                  <a:pt x="0" y="88900"/>
                </a:lnTo>
                <a:arcTo wR="88900" hR="88900" stAng="10800000" swAng="5400000"/>
                <a:lnTo>
                  <a:pt x="88900" y="0"/>
                </a:lnTo>
                <a:arcTo wR="25400" hR="88900" stAng="16200000" swAng="-5400000"/>
                <a:lnTo>
                  <a:pt x="63500" y="891381"/>
                </a:lnTo>
                <a:arcTo wR="25400" hR="88900" stAng="10800000" swAng="-5400000"/>
                <a:close/>
              </a:path>
            </a:pathLst>
          </a:custGeom>
          <a:solidFill>
            <a:srgbClr val="B4570A"/>
          </a:solidFill>
          <a:ln/>
        </p:spPr>
      </p:sp>
      <p:sp>
        <p:nvSpPr>
          <p:cNvPr id="22" name="Text 20"/>
          <p:cNvSpPr/>
          <p:nvPr/>
        </p:nvSpPr>
        <p:spPr>
          <a:xfrm>
            <a:off x="1041400" y="3911203"/>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MAI · INSTEAD OF… A CHOICE</a:t>
            </a:r>
            <a:endParaRPr lang="en-US" sz="1200" dirty="0"/>
          </a:p>
        </p:txBody>
      </p:sp>
      <p:sp>
        <p:nvSpPr>
          <p:cNvPr id="23" name="Text 21"/>
          <p:cNvSpPr/>
          <p:nvPr/>
        </p:nvSpPr>
        <p:spPr>
          <a:xfrm>
            <a:off x="1041400" y="4175323"/>
            <a:ext cx="497078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“Instead of bullying her, she helped.”</a:t>
            </a:r>
            <a:endParaRPr lang="en-US" sz="1400" dirty="0"/>
          </a:p>
        </p:txBody>
      </p:sp>
      <p:sp>
        <p:nvSpPr>
          <p:cNvPr id="24" name="Shape 22"/>
          <p:cNvSpPr/>
          <p:nvPr/>
        </p:nvSpPr>
        <p:spPr>
          <a:xfrm>
            <a:off x="6159500" y="3784203"/>
            <a:ext cx="5219700" cy="980281"/>
          </a:xfrm>
          <a:prstGeom prst="roundRect">
            <a:avLst>
              <a:gd name="adj" fmla="val 9069"/>
            </a:avLst>
          </a:prstGeom>
          <a:solidFill>
            <a:srgbClr val="ECE4F6"/>
          </a:solidFill>
          <a:ln/>
        </p:spPr>
      </p:sp>
      <p:sp>
        <p:nvSpPr>
          <p:cNvPr id="25" name="Shape 23"/>
          <p:cNvSpPr/>
          <p:nvPr/>
        </p:nvSpPr>
        <p:spPr>
          <a:xfrm>
            <a:off x="6159500" y="3784203"/>
            <a:ext cx="5219700" cy="980281"/>
          </a:xfrm>
          <a:custGeom>
            <a:avLst/>
            <a:gdLst/>
            <a:ahLst/>
            <a:cxnLst/>
            <a:rect l="l" t="t" r="r" b="b"/>
            <a:pathLst>
              <a:path w="5219700" h="980281">
                <a:moveTo>
                  <a:pt x="88900" y="980281"/>
                </a:moveTo>
                <a:lnTo>
                  <a:pt x="88900" y="980281"/>
                </a:lnTo>
                <a:arcTo wR="88900" hR="88900" stAng="5400000" swAng="5400000"/>
                <a:lnTo>
                  <a:pt x="0" y="88900"/>
                </a:lnTo>
                <a:arcTo wR="88900" hR="88900" stAng="10800000" swAng="5400000"/>
                <a:lnTo>
                  <a:pt x="88900" y="0"/>
                </a:lnTo>
                <a:arcTo wR="25400" hR="88900" stAng="16200000" swAng="-5400000"/>
                <a:lnTo>
                  <a:pt x="63500" y="891381"/>
                </a:lnTo>
                <a:arcTo wR="25400" hR="88900" stAng="10800000" swAng="-5400000"/>
                <a:close/>
              </a:path>
            </a:pathLst>
          </a:custGeom>
          <a:solidFill>
            <a:srgbClr val="6B3FA0"/>
          </a:solidFill>
          <a:ln/>
        </p:spPr>
      </p:sp>
      <p:sp>
        <p:nvSpPr>
          <p:cNvPr id="26" name="Text 24"/>
          <p:cNvSpPr/>
          <p:nvPr/>
        </p:nvSpPr>
        <p:spPr>
          <a:xfrm>
            <a:off x="6388100" y="3911203"/>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3FA0"/>
                </a:solidFill>
                <a:latin typeface="Arial" pitchFamily="34" charset="0"/>
                <a:ea typeface="Arial" pitchFamily="34" charset="-122"/>
                <a:cs typeface="Arial" pitchFamily="34" charset="-120"/>
              </a:rPr>
              <a:t>NOOR (LION AND MOUSE) · A CHANGE</a:t>
            </a:r>
            <a:endParaRPr lang="en-US" sz="1200" dirty="0"/>
          </a:p>
        </p:txBody>
      </p:sp>
      <p:sp>
        <p:nvSpPr>
          <p:cNvPr id="27" name="Text 25"/>
          <p:cNvSpPr/>
          <p:nvPr/>
        </p:nvSpPr>
        <p:spPr>
          <a:xfrm>
            <a:off x="6388100" y="4175323"/>
            <a:ext cx="4970780"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“As a result, the lion realized that even a small animal could do something important.”</a:t>
            </a:r>
            <a:endParaRPr lang="en-US" sz="1400" dirty="0"/>
          </a:p>
        </p:txBody>
      </p:sp>
      <p:sp>
        <p:nvSpPr>
          <p:cNvPr id="28" name="Text 26"/>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Strong ideas. Now let’s make every fable even stronger.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STRENGTHS</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What you did well (2)</a:t>
            </a:r>
            <a:endParaRPr lang="en-US" sz="2800" dirty="0"/>
          </a:p>
        </p:txBody>
      </p:sp>
      <p:sp>
        <p:nvSpPr>
          <p:cNvPr id="4" name="Shape 2"/>
          <p:cNvSpPr/>
          <p:nvPr/>
        </p:nvSpPr>
        <p:spPr>
          <a:xfrm>
            <a:off x="812800" y="1569641"/>
            <a:ext cx="5219700" cy="947341"/>
          </a:xfrm>
          <a:prstGeom prst="roundRect">
            <a:avLst>
              <a:gd name="adj" fmla="val 9384"/>
            </a:avLst>
          </a:prstGeom>
          <a:solidFill>
            <a:srgbClr val="ECE4F6"/>
          </a:solidFill>
          <a:ln/>
        </p:spPr>
      </p:sp>
      <p:sp>
        <p:nvSpPr>
          <p:cNvPr id="5" name="Shape 3"/>
          <p:cNvSpPr/>
          <p:nvPr/>
        </p:nvSpPr>
        <p:spPr>
          <a:xfrm>
            <a:off x="812800" y="156964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6B3FA0"/>
          </a:solidFill>
          <a:ln/>
        </p:spPr>
      </p:sp>
      <p:sp>
        <p:nvSpPr>
          <p:cNvPr id="6" name="Text 4"/>
          <p:cNvSpPr/>
          <p:nvPr/>
        </p:nvSpPr>
        <p:spPr>
          <a:xfrm>
            <a:off x="1041400" y="169664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3FA0"/>
                </a:solidFill>
                <a:latin typeface="Arial" pitchFamily="34" charset="0"/>
                <a:ea typeface="Arial" pitchFamily="34" charset="-122"/>
                <a:cs typeface="Arial" pitchFamily="34" charset="-120"/>
              </a:rPr>
              <a:t>KINAN · A CLEAR CHANGE</a:t>
            </a:r>
            <a:endParaRPr lang="en-US" sz="1200" dirty="0"/>
          </a:p>
        </p:txBody>
      </p:sp>
      <p:sp>
        <p:nvSpPr>
          <p:cNvPr id="7" name="Text 5"/>
          <p:cNvSpPr/>
          <p:nvPr/>
        </p:nvSpPr>
        <p:spPr>
          <a:xfrm>
            <a:off x="1041400" y="1960761"/>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“Then he understood that he should prepare for winter and think ahead instead of playing.” (spelling corrected)</a:t>
            </a:r>
            <a:endParaRPr lang="en-US" sz="1300" dirty="0"/>
          </a:p>
        </p:txBody>
      </p:sp>
      <p:sp>
        <p:nvSpPr>
          <p:cNvPr id="8" name="Shape 6"/>
          <p:cNvSpPr/>
          <p:nvPr/>
        </p:nvSpPr>
        <p:spPr>
          <a:xfrm>
            <a:off x="6159500" y="1569641"/>
            <a:ext cx="5219700" cy="947341"/>
          </a:xfrm>
          <a:prstGeom prst="roundRect">
            <a:avLst>
              <a:gd name="adj" fmla="val 9384"/>
            </a:avLst>
          </a:prstGeom>
          <a:solidFill>
            <a:srgbClr val="ECE4F6"/>
          </a:solidFill>
          <a:ln/>
        </p:spPr>
      </p:sp>
      <p:sp>
        <p:nvSpPr>
          <p:cNvPr id="9" name="Shape 7"/>
          <p:cNvSpPr/>
          <p:nvPr/>
        </p:nvSpPr>
        <p:spPr>
          <a:xfrm>
            <a:off x="6159500" y="156964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6B3FA0"/>
          </a:solidFill>
          <a:ln/>
        </p:spPr>
      </p:sp>
      <p:sp>
        <p:nvSpPr>
          <p:cNvPr id="10" name="Text 8"/>
          <p:cNvSpPr/>
          <p:nvPr/>
        </p:nvSpPr>
        <p:spPr>
          <a:xfrm>
            <a:off x="6388100" y="169664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3FA0"/>
                </a:solidFill>
                <a:latin typeface="Arial" pitchFamily="34" charset="0"/>
                <a:ea typeface="Arial" pitchFamily="34" charset="-122"/>
                <a:cs typeface="Arial" pitchFamily="34" charset="-120"/>
              </a:rPr>
              <a:t>DOAA · A REALISATION</a:t>
            </a:r>
            <a:endParaRPr lang="en-US" sz="1200" dirty="0"/>
          </a:p>
        </p:txBody>
      </p:sp>
      <p:sp>
        <p:nvSpPr>
          <p:cNvPr id="11" name="Text 9"/>
          <p:cNvSpPr/>
          <p:nvPr/>
        </p:nvSpPr>
        <p:spPr>
          <a:xfrm>
            <a:off x="6388100" y="1960761"/>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“Sunny realized that taking more than he needed caused him to lose everything in the end.”</a:t>
            </a:r>
            <a:endParaRPr lang="en-US" sz="1300" dirty="0"/>
          </a:p>
        </p:txBody>
      </p:sp>
      <p:sp>
        <p:nvSpPr>
          <p:cNvPr id="12" name="Shape 10"/>
          <p:cNvSpPr/>
          <p:nvPr/>
        </p:nvSpPr>
        <p:spPr>
          <a:xfrm>
            <a:off x="812800" y="2643981"/>
            <a:ext cx="5219700" cy="947341"/>
          </a:xfrm>
          <a:prstGeom prst="roundRect">
            <a:avLst>
              <a:gd name="adj" fmla="val 9384"/>
            </a:avLst>
          </a:prstGeom>
          <a:solidFill>
            <a:srgbClr val="DFF0E4"/>
          </a:solidFill>
          <a:ln/>
        </p:spPr>
      </p:sp>
      <p:sp>
        <p:nvSpPr>
          <p:cNvPr id="13" name="Shape 11"/>
          <p:cNvSpPr/>
          <p:nvPr/>
        </p:nvSpPr>
        <p:spPr>
          <a:xfrm>
            <a:off x="812800" y="264398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2F7D4F"/>
          </a:solidFill>
          <a:ln/>
        </p:spPr>
      </p:sp>
      <p:sp>
        <p:nvSpPr>
          <p:cNvPr id="14" name="Text 12"/>
          <p:cNvSpPr/>
          <p:nvPr/>
        </p:nvSpPr>
        <p:spPr>
          <a:xfrm>
            <a:off x="1041400" y="277098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JOUD (KOALA) · MORAL: ___, BUT ___</a:t>
            </a:r>
            <a:endParaRPr lang="en-US" sz="1200" dirty="0"/>
          </a:p>
        </p:txBody>
      </p:sp>
      <p:sp>
        <p:nvSpPr>
          <p:cNvPr id="15" name="Text 13"/>
          <p:cNvSpPr/>
          <p:nvPr/>
        </p:nvSpPr>
        <p:spPr>
          <a:xfrm>
            <a:off x="1041400" y="3035102"/>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“Relaxing today is important, but preparing for tomorrow matters too.”</a:t>
            </a:r>
            <a:endParaRPr lang="en-US" sz="1300" dirty="0"/>
          </a:p>
        </p:txBody>
      </p:sp>
      <p:sp>
        <p:nvSpPr>
          <p:cNvPr id="16" name="Shape 14"/>
          <p:cNvSpPr/>
          <p:nvPr/>
        </p:nvSpPr>
        <p:spPr>
          <a:xfrm>
            <a:off x="6159500" y="2643981"/>
            <a:ext cx="5219700" cy="947341"/>
          </a:xfrm>
          <a:prstGeom prst="roundRect">
            <a:avLst>
              <a:gd name="adj" fmla="val 9384"/>
            </a:avLst>
          </a:prstGeom>
          <a:solidFill>
            <a:srgbClr val="DFF0E4"/>
          </a:solidFill>
          <a:ln/>
        </p:spPr>
      </p:sp>
      <p:sp>
        <p:nvSpPr>
          <p:cNvPr id="17" name="Shape 15"/>
          <p:cNvSpPr/>
          <p:nvPr/>
        </p:nvSpPr>
        <p:spPr>
          <a:xfrm>
            <a:off x="6159500" y="264398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2F7D4F"/>
          </a:solidFill>
          <a:ln/>
        </p:spPr>
      </p:sp>
      <p:sp>
        <p:nvSpPr>
          <p:cNvPr id="18" name="Text 16"/>
          <p:cNvSpPr/>
          <p:nvPr/>
        </p:nvSpPr>
        <p:spPr>
          <a:xfrm>
            <a:off x="6388100" y="277098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FARIDA · MORAL: A ___ WHO ___ MAY ___</a:t>
            </a:r>
            <a:endParaRPr lang="en-US" sz="1200" dirty="0"/>
          </a:p>
        </p:txBody>
      </p:sp>
      <p:sp>
        <p:nvSpPr>
          <p:cNvPr id="19" name="Text 17"/>
          <p:cNvSpPr/>
          <p:nvPr/>
        </p:nvSpPr>
        <p:spPr>
          <a:xfrm>
            <a:off x="6388100" y="3035102"/>
            <a:ext cx="49707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“A proud one who laughs at others may be left alone.”</a:t>
            </a:r>
            <a:endParaRPr lang="en-US" sz="1300" dirty="0"/>
          </a:p>
        </p:txBody>
      </p:sp>
      <p:sp>
        <p:nvSpPr>
          <p:cNvPr id="20" name="Shape 18"/>
          <p:cNvSpPr/>
          <p:nvPr/>
        </p:nvSpPr>
        <p:spPr>
          <a:xfrm>
            <a:off x="812800" y="3718322"/>
            <a:ext cx="5219700" cy="732730"/>
          </a:xfrm>
          <a:prstGeom prst="roundRect">
            <a:avLst>
              <a:gd name="adj" fmla="val 12133"/>
            </a:avLst>
          </a:prstGeom>
          <a:solidFill>
            <a:srgbClr val="DFF0E4"/>
          </a:solidFill>
          <a:ln/>
        </p:spPr>
      </p:sp>
      <p:sp>
        <p:nvSpPr>
          <p:cNvPr id="21" name="Shape 19"/>
          <p:cNvSpPr/>
          <p:nvPr/>
        </p:nvSpPr>
        <p:spPr>
          <a:xfrm>
            <a:off x="812800" y="3718322"/>
            <a:ext cx="5219700" cy="732730"/>
          </a:xfrm>
          <a:custGeom>
            <a:avLst/>
            <a:gdLst/>
            <a:ahLst/>
            <a:cxnLst/>
            <a:rect l="l" t="t" r="r" b="b"/>
            <a:pathLst>
              <a:path w="5219700" h="732730">
                <a:moveTo>
                  <a:pt x="88900" y="732730"/>
                </a:moveTo>
                <a:lnTo>
                  <a:pt x="88900" y="732730"/>
                </a:lnTo>
                <a:arcTo wR="88900" hR="88900" stAng="5400000" swAng="5400000"/>
                <a:lnTo>
                  <a:pt x="0" y="88900"/>
                </a:lnTo>
                <a:arcTo wR="88900" hR="88900" stAng="10800000" swAng="5400000"/>
                <a:lnTo>
                  <a:pt x="88900" y="0"/>
                </a:lnTo>
                <a:arcTo wR="25400" hR="88900" stAng="16200000" swAng="-5400000"/>
                <a:lnTo>
                  <a:pt x="63500" y="643830"/>
                </a:lnTo>
                <a:arcTo wR="25400" hR="88900" stAng="10800000" swAng="-5400000"/>
                <a:close/>
              </a:path>
            </a:pathLst>
          </a:custGeom>
          <a:solidFill>
            <a:srgbClr val="2F7D4F"/>
          </a:solidFill>
          <a:ln/>
        </p:spPr>
      </p:sp>
      <p:sp>
        <p:nvSpPr>
          <p:cNvPr id="22" name="Text 20"/>
          <p:cNvSpPr/>
          <p:nvPr/>
        </p:nvSpPr>
        <p:spPr>
          <a:xfrm>
            <a:off x="1041400" y="3845322"/>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DOAA · A GENERAL MORAL</a:t>
            </a:r>
            <a:endParaRPr lang="en-US" sz="1200" dirty="0"/>
          </a:p>
        </p:txBody>
      </p:sp>
      <p:sp>
        <p:nvSpPr>
          <p:cNvPr id="23" name="Text 21"/>
          <p:cNvSpPr/>
          <p:nvPr/>
        </p:nvSpPr>
        <p:spPr>
          <a:xfrm>
            <a:off x="1041400" y="4109442"/>
            <a:ext cx="49707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“Greed brings grief, and sharing brings peace.”</a:t>
            </a:r>
            <a:endParaRPr lang="en-US" sz="1300" dirty="0"/>
          </a:p>
        </p:txBody>
      </p:sp>
      <p:sp>
        <p:nvSpPr>
          <p:cNvPr id="24" name="Shape 22"/>
          <p:cNvSpPr/>
          <p:nvPr/>
        </p:nvSpPr>
        <p:spPr>
          <a:xfrm>
            <a:off x="6159500" y="3718322"/>
            <a:ext cx="5219700" cy="732730"/>
          </a:xfrm>
          <a:prstGeom prst="roundRect">
            <a:avLst>
              <a:gd name="adj" fmla="val 12133"/>
            </a:avLst>
          </a:prstGeom>
          <a:solidFill>
            <a:srgbClr val="DFF0E4"/>
          </a:solidFill>
          <a:ln/>
        </p:spPr>
      </p:sp>
      <p:sp>
        <p:nvSpPr>
          <p:cNvPr id="25" name="Shape 23"/>
          <p:cNvSpPr/>
          <p:nvPr/>
        </p:nvSpPr>
        <p:spPr>
          <a:xfrm>
            <a:off x="6159500" y="3718322"/>
            <a:ext cx="5219700" cy="732730"/>
          </a:xfrm>
          <a:custGeom>
            <a:avLst/>
            <a:gdLst/>
            <a:ahLst/>
            <a:cxnLst/>
            <a:rect l="l" t="t" r="r" b="b"/>
            <a:pathLst>
              <a:path w="5219700" h="732730">
                <a:moveTo>
                  <a:pt x="88900" y="732730"/>
                </a:moveTo>
                <a:lnTo>
                  <a:pt x="88900" y="732730"/>
                </a:lnTo>
                <a:arcTo wR="88900" hR="88900" stAng="5400000" swAng="5400000"/>
                <a:lnTo>
                  <a:pt x="0" y="88900"/>
                </a:lnTo>
                <a:arcTo wR="88900" hR="88900" stAng="10800000" swAng="5400000"/>
                <a:lnTo>
                  <a:pt x="88900" y="0"/>
                </a:lnTo>
                <a:arcTo wR="25400" hR="88900" stAng="16200000" swAng="-5400000"/>
                <a:lnTo>
                  <a:pt x="63500" y="643830"/>
                </a:lnTo>
                <a:arcTo wR="25400" hR="88900" stAng="10800000" swAng="-5400000"/>
                <a:close/>
              </a:path>
            </a:pathLst>
          </a:custGeom>
          <a:solidFill>
            <a:srgbClr val="2F7D4F"/>
          </a:solidFill>
          <a:ln/>
        </p:spPr>
      </p:sp>
      <p:sp>
        <p:nvSpPr>
          <p:cNvPr id="26" name="Text 24"/>
          <p:cNvSpPr/>
          <p:nvPr/>
        </p:nvSpPr>
        <p:spPr>
          <a:xfrm>
            <a:off x="6388100" y="3845322"/>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JOUD AL-FATIH · A MORAL THAT FITS</a:t>
            </a:r>
            <a:endParaRPr lang="en-US" sz="1200" dirty="0"/>
          </a:p>
        </p:txBody>
      </p:sp>
      <p:sp>
        <p:nvSpPr>
          <p:cNvPr id="27" name="Text 25"/>
          <p:cNvSpPr/>
          <p:nvPr/>
        </p:nvSpPr>
        <p:spPr>
          <a:xfrm>
            <a:off x="6388100" y="4109442"/>
            <a:ext cx="49707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“It is brave to ask for help when you are scared.”</a:t>
            </a:r>
            <a:endParaRPr lang="en-US" sz="1300" dirty="0"/>
          </a:p>
        </p:txBody>
      </p:sp>
      <p:sp>
        <p:nvSpPr>
          <p:cNvPr id="28" name="Text 26"/>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Strong ideas. Now let’s make every fable even stronger.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STRENGTHS</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What you did well (3)</a:t>
            </a:r>
            <a:endParaRPr lang="en-US" sz="2800" dirty="0"/>
          </a:p>
        </p:txBody>
      </p:sp>
      <p:sp>
        <p:nvSpPr>
          <p:cNvPr id="4" name="Shape 2"/>
          <p:cNvSpPr/>
          <p:nvPr/>
        </p:nvSpPr>
        <p:spPr>
          <a:xfrm>
            <a:off x="812800" y="1569641"/>
            <a:ext cx="5219700" cy="947341"/>
          </a:xfrm>
          <a:prstGeom prst="roundRect">
            <a:avLst>
              <a:gd name="adj" fmla="val 9384"/>
            </a:avLst>
          </a:prstGeom>
          <a:solidFill>
            <a:srgbClr val="FCE9D6"/>
          </a:solidFill>
          <a:ln/>
        </p:spPr>
      </p:sp>
      <p:sp>
        <p:nvSpPr>
          <p:cNvPr id="5" name="Shape 3"/>
          <p:cNvSpPr/>
          <p:nvPr/>
        </p:nvSpPr>
        <p:spPr>
          <a:xfrm>
            <a:off x="812800" y="156964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B4570A"/>
          </a:solidFill>
          <a:ln/>
        </p:spPr>
      </p:sp>
      <p:sp>
        <p:nvSpPr>
          <p:cNvPr id="6" name="Text 4"/>
          <p:cNvSpPr/>
          <p:nvPr/>
        </p:nvSpPr>
        <p:spPr>
          <a:xfrm>
            <a:off x="1041400" y="169664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ABDALLAH · AN ORIGINAL IDEA</a:t>
            </a:r>
            <a:endParaRPr lang="en-US" sz="1200" dirty="0"/>
          </a:p>
        </p:txBody>
      </p:sp>
      <p:sp>
        <p:nvSpPr>
          <p:cNvPr id="7" name="Text 5"/>
          <p:cNvSpPr/>
          <p:nvPr/>
        </p:nvSpPr>
        <p:spPr>
          <a:xfrm>
            <a:off x="1041400" y="1960761"/>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A golden key that is so old no one can find it: a mystery to start the story.</a:t>
            </a:r>
            <a:endParaRPr lang="en-US" sz="1300" dirty="0"/>
          </a:p>
        </p:txBody>
      </p:sp>
      <p:sp>
        <p:nvSpPr>
          <p:cNvPr id="8" name="Shape 6"/>
          <p:cNvSpPr/>
          <p:nvPr/>
        </p:nvSpPr>
        <p:spPr>
          <a:xfrm>
            <a:off x="6159500" y="1569641"/>
            <a:ext cx="5219700" cy="947341"/>
          </a:xfrm>
          <a:prstGeom prst="roundRect">
            <a:avLst>
              <a:gd name="adj" fmla="val 9384"/>
            </a:avLst>
          </a:prstGeom>
          <a:solidFill>
            <a:srgbClr val="FCE9D6"/>
          </a:solidFill>
          <a:ln/>
        </p:spPr>
      </p:sp>
      <p:sp>
        <p:nvSpPr>
          <p:cNvPr id="9" name="Shape 7"/>
          <p:cNvSpPr/>
          <p:nvPr/>
        </p:nvSpPr>
        <p:spPr>
          <a:xfrm>
            <a:off x="6159500" y="156964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B4570A"/>
          </a:solidFill>
          <a:ln/>
        </p:spPr>
      </p:sp>
      <p:sp>
        <p:nvSpPr>
          <p:cNvPr id="10" name="Text 8"/>
          <p:cNvSpPr/>
          <p:nvPr/>
        </p:nvSpPr>
        <p:spPr>
          <a:xfrm>
            <a:off x="6388100" y="169664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NOOR (TIGER) · CORRECT SPEECH</a:t>
            </a:r>
            <a:endParaRPr lang="en-US" sz="1200" dirty="0"/>
          </a:p>
        </p:txBody>
      </p:sp>
      <p:sp>
        <p:nvSpPr>
          <p:cNvPr id="11" name="Text 9"/>
          <p:cNvSpPr/>
          <p:nvPr/>
        </p:nvSpPr>
        <p:spPr>
          <a:xfrm>
            <a:off x="6388100" y="1960761"/>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“You need to be more patient,” said the tiger. (comma inside the speech marks)</a:t>
            </a:r>
            <a:endParaRPr lang="en-US" sz="1300" dirty="0"/>
          </a:p>
        </p:txBody>
      </p:sp>
      <p:sp>
        <p:nvSpPr>
          <p:cNvPr id="12" name="Shape 10"/>
          <p:cNvSpPr/>
          <p:nvPr/>
        </p:nvSpPr>
        <p:spPr>
          <a:xfrm>
            <a:off x="812800" y="2643981"/>
            <a:ext cx="5219700" cy="947341"/>
          </a:xfrm>
          <a:prstGeom prst="roundRect">
            <a:avLst>
              <a:gd name="adj" fmla="val 9384"/>
            </a:avLst>
          </a:prstGeom>
          <a:solidFill>
            <a:srgbClr val="FCE9D6"/>
          </a:solidFill>
          <a:ln/>
        </p:spPr>
      </p:sp>
      <p:sp>
        <p:nvSpPr>
          <p:cNvPr id="13" name="Shape 11"/>
          <p:cNvSpPr/>
          <p:nvPr/>
        </p:nvSpPr>
        <p:spPr>
          <a:xfrm>
            <a:off x="812800" y="264398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B4570A"/>
          </a:solidFill>
          <a:ln/>
        </p:spPr>
      </p:sp>
      <p:sp>
        <p:nvSpPr>
          <p:cNvPr id="14" name="Text 12"/>
          <p:cNvSpPr/>
          <p:nvPr/>
        </p:nvSpPr>
        <p:spPr>
          <a:xfrm>
            <a:off x="1041400" y="277098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DANA · STRONG WORDS</a:t>
            </a:r>
            <a:endParaRPr lang="en-US" sz="1200" dirty="0"/>
          </a:p>
        </p:txBody>
      </p:sp>
      <p:sp>
        <p:nvSpPr>
          <p:cNvPr id="15" name="Text 13"/>
          <p:cNvSpPr/>
          <p:nvPr/>
        </p:nvSpPr>
        <p:spPr>
          <a:xfrm>
            <a:off x="1041400" y="3035102"/>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“scary”, “crazy” and “biggest”: strong describing words about the lion.</a:t>
            </a:r>
            <a:endParaRPr lang="en-US" sz="1300" dirty="0"/>
          </a:p>
        </p:txBody>
      </p:sp>
      <p:sp>
        <p:nvSpPr>
          <p:cNvPr id="16" name="Shape 14"/>
          <p:cNvSpPr/>
          <p:nvPr/>
        </p:nvSpPr>
        <p:spPr>
          <a:xfrm>
            <a:off x="6159500" y="2643981"/>
            <a:ext cx="5219700" cy="947341"/>
          </a:xfrm>
          <a:prstGeom prst="roundRect">
            <a:avLst>
              <a:gd name="adj" fmla="val 9384"/>
            </a:avLst>
          </a:prstGeom>
          <a:solidFill>
            <a:srgbClr val="FCE9D6"/>
          </a:solidFill>
          <a:ln/>
        </p:spPr>
      </p:sp>
      <p:sp>
        <p:nvSpPr>
          <p:cNvPr id="17" name="Shape 15"/>
          <p:cNvSpPr/>
          <p:nvPr/>
        </p:nvSpPr>
        <p:spPr>
          <a:xfrm>
            <a:off x="6159500" y="2643981"/>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B4570A"/>
          </a:solidFill>
          <a:ln/>
        </p:spPr>
      </p:sp>
      <p:sp>
        <p:nvSpPr>
          <p:cNvPr id="18" name="Text 16"/>
          <p:cNvSpPr/>
          <p:nvPr/>
        </p:nvSpPr>
        <p:spPr>
          <a:xfrm>
            <a:off x="6388100" y="277098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SEIF · A CLEAR TRAIT</a:t>
            </a:r>
            <a:endParaRPr lang="en-US" sz="1200" dirty="0"/>
          </a:p>
        </p:txBody>
      </p:sp>
      <p:sp>
        <p:nvSpPr>
          <p:cNvPr id="19" name="Text 17"/>
          <p:cNvSpPr/>
          <p:nvPr/>
        </p:nvSpPr>
        <p:spPr>
          <a:xfrm>
            <a:off x="6388100" y="3035102"/>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The fox is selfish: he wants all the deer for himself. A trait you can build a story on.</a:t>
            </a:r>
            <a:endParaRPr lang="en-US" sz="1300" dirty="0"/>
          </a:p>
        </p:txBody>
      </p:sp>
      <p:sp>
        <p:nvSpPr>
          <p:cNvPr id="20" name="Shape 18"/>
          <p:cNvSpPr/>
          <p:nvPr/>
        </p:nvSpPr>
        <p:spPr>
          <a:xfrm>
            <a:off x="812800" y="3718322"/>
            <a:ext cx="5219700" cy="947341"/>
          </a:xfrm>
          <a:prstGeom prst="roundRect">
            <a:avLst>
              <a:gd name="adj" fmla="val 9384"/>
            </a:avLst>
          </a:prstGeom>
          <a:solidFill>
            <a:srgbClr val="DFF0E4"/>
          </a:solidFill>
          <a:ln/>
        </p:spPr>
      </p:sp>
      <p:sp>
        <p:nvSpPr>
          <p:cNvPr id="21" name="Shape 19"/>
          <p:cNvSpPr/>
          <p:nvPr/>
        </p:nvSpPr>
        <p:spPr>
          <a:xfrm>
            <a:off x="812800" y="3718322"/>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2F7D4F"/>
          </a:solidFill>
          <a:ln/>
        </p:spPr>
      </p:sp>
      <p:sp>
        <p:nvSpPr>
          <p:cNvPr id="22" name="Text 20"/>
          <p:cNvSpPr/>
          <p:nvPr/>
        </p:nvSpPr>
        <p:spPr>
          <a:xfrm>
            <a:off x="1041400" y="3845322"/>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ALI AND MAHMOUD · A KIND LESSON</a:t>
            </a:r>
            <a:endParaRPr lang="en-US" sz="1200" dirty="0"/>
          </a:p>
        </p:txBody>
      </p:sp>
      <p:sp>
        <p:nvSpPr>
          <p:cNvPr id="23" name="Text 21"/>
          <p:cNvSpPr/>
          <p:nvPr/>
        </p:nvSpPr>
        <p:spPr>
          <a:xfrm>
            <a:off x="1041400" y="4109442"/>
            <a:ext cx="497078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Both fables end by telling the reader to be kind. A good lesson to build a moral on.</a:t>
            </a:r>
            <a:endParaRPr lang="en-US" sz="1300" dirty="0"/>
          </a:p>
        </p:txBody>
      </p:sp>
      <p:sp>
        <p:nvSpPr>
          <p:cNvPr id="24" name="Shape 22"/>
          <p:cNvSpPr/>
          <p:nvPr/>
        </p:nvSpPr>
        <p:spPr>
          <a:xfrm>
            <a:off x="6159500" y="3718322"/>
            <a:ext cx="5219700" cy="947341"/>
          </a:xfrm>
          <a:prstGeom prst="roundRect">
            <a:avLst>
              <a:gd name="adj" fmla="val 9384"/>
            </a:avLst>
          </a:prstGeom>
          <a:solidFill>
            <a:srgbClr val="DFF0E4"/>
          </a:solidFill>
          <a:ln/>
        </p:spPr>
      </p:sp>
      <p:sp>
        <p:nvSpPr>
          <p:cNvPr id="25" name="Shape 23"/>
          <p:cNvSpPr/>
          <p:nvPr/>
        </p:nvSpPr>
        <p:spPr>
          <a:xfrm>
            <a:off x="6159500" y="3718322"/>
            <a:ext cx="5219700" cy="947341"/>
          </a:xfrm>
          <a:custGeom>
            <a:avLst/>
            <a:gdLst/>
            <a:ahLst/>
            <a:cxnLst/>
            <a:rect l="l" t="t" r="r" b="b"/>
            <a:pathLst>
              <a:path w="5219700" h="947341">
                <a:moveTo>
                  <a:pt x="88900" y="947341"/>
                </a:moveTo>
                <a:lnTo>
                  <a:pt x="88900" y="947341"/>
                </a:lnTo>
                <a:arcTo wR="88900" hR="88900" stAng="5400000" swAng="5400000"/>
                <a:lnTo>
                  <a:pt x="0" y="88900"/>
                </a:lnTo>
                <a:arcTo wR="88900" hR="88900" stAng="10800000" swAng="5400000"/>
                <a:lnTo>
                  <a:pt x="88900" y="0"/>
                </a:lnTo>
                <a:arcTo wR="25400" hR="88900" stAng="16200000" swAng="-5400000"/>
                <a:lnTo>
                  <a:pt x="63500" y="858441"/>
                </a:lnTo>
                <a:arcTo wR="25400" hR="88900" stAng="10800000" swAng="-5400000"/>
                <a:close/>
              </a:path>
            </a:pathLst>
          </a:custGeom>
          <a:solidFill>
            <a:srgbClr val="2F7D4F"/>
          </a:solidFill>
          <a:ln/>
        </p:spPr>
      </p:sp>
      <p:sp>
        <p:nvSpPr>
          <p:cNvPr id="26" name="Text 24"/>
          <p:cNvSpPr/>
          <p:nvPr/>
        </p:nvSpPr>
        <p:spPr>
          <a:xfrm>
            <a:off x="6388100" y="3845322"/>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METAWALLI · A MORAL</a:t>
            </a:r>
            <a:endParaRPr lang="en-US" sz="1200" dirty="0"/>
          </a:p>
        </p:txBody>
      </p:sp>
      <p:sp>
        <p:nvSpPr>
          <p:cNvPr id="27" name="Text 25"/>
          <p:cNvSpPr/>
          <p:nvPr/>
        </p:nvSpPr>
        <p:spPr>
          <a:xfrm>
            <a:off x="6388100" y="4109442"/>
            <a:ext cx="49707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“Kindness is never wasted.” Short, general and it fits the story.</a:t>
            </a:r>
            <a:endParaRPr lang="en-US" sz="1300" dirty="0"/>
          </a:p>
        </p:txBody>
      </p:sp>
      <p:sp>
        <p:nvSpPr>
          <p:cNvPr id="28" name="Text 26"/>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Every one of you has something to be proud of. Now we make it even better.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FEEDBACK</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What we need to fix</a:t>
            </a:r>
            <a:endParaRPr lang="en-US" sz="2800" dirty="0"/>
          </a:p>
        </p:txBody>
      </p:sp>
      <p:sp>
        <p:nvSpPr>
          <p:cNvPr id="4" name="Shape 2"/>
          <p:cNvSpPr/>
          <p:nvPr/>
        </p:nvSpPr>
        <p:spPr>
          <a:xfrm>
            <a:off x="812800" y="1569641"/>
            <a:ext cx="6445250" cy="3014365"/>
          </a:xfrm>
          <a:prstGeom prst="roundRect">
            <a:avLst>
              <a:gd name="adj" fmla="val 2949"/>
            </a:avLst>
          </a:prstGeom>
          <a:solidFill>
            <a:srgbClr val="FFFFFF"/>
          </a:solidFill>
          <a:ln/>
        </p:spPr>
      </p:sp>
      <p:sp>
        <p:nvSpPr>
          <p:cNvPr id="5" name="Text 3"/>
          <p:cNvSpPr/>
          <p:nvPr/>
        </p:nvSpPr>
        <p:spPr>
          <a:xfrm>
            <a:off x="1028700" y="1747441"/>
            <a:ext cx="619385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How many of the 15 fables needed this fix?</a:t>
            </a:r>
            <a:endParaRPr lang="en-US" sz="1300" dirty="0"/>
          </a:p>
        </p:txBody>
      </p:sp>
      <p:sp>
        <p:nvSpPr>
          <p:cNvPr id="6" name="Text 4"/>
          <p:cNvSpPr/>
          <p:nvPr/>
        </p:nvSpPr>
        <p:spPr>
          <a:xfrm>
            <a:off x="1028700" y="2226072"/>
            <a:ext cx="30740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933"/>
                </a:solidFill>
                <a:latin typeface="Arial" pitchFamily="34" charset="0"/>
                <a:ea typeface="Arial" pitchFamily="34" charset="-122"/>
                <a:cs typeface="Arial" pitchFamily="34" charset="-120"/>
              </a:rPr>
              <a:t>Spelling and capital letters</a:t>
            </a:r>
            <a:endParaRPr lang="en-US" sz="1300" dirty="0"/>
          </a:p>
        </p:txBody>
      </p:sp>
      <p:sp>
        <p:nvSpPr>
          <p:cNvPr id="7" name="Shape 5"/>
          <p:cNvSpPr/>
          <p:nvPr/>
        </p:nvSpPr>
        <p:spPr>
          <a:xfrm>
            <a:off x="4114800" y="2227362"/>
            <a:ext cx="3175000" cy="228600"/>
          </a:xfrm>
          <a:prstGeom prst="roundRect">
            <a:avLst>
              <a:gd name="adj" fmla="val 22222"/>
            </a:avLst>
          </a:prstGeom>
          <a:solidFill>
            <a:srgbClr val="1B365D"/>
          </a:solidFill>
          <a:ln/>
        </p:spPr>
      </p:sp>
      <p:sp>
        <p:nvSpPr>
          <p:cNvPr id="8" name="Text 6"/>
          <p:cNvSpPr/>
          <p:nvPr/>
        </p:nvSpPr>
        <p:spPr>
          <a:xfrm>
            <a:off x="7391400" y="2092821"/>
            <a:ext cx="5080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365D"/>
                </a:solidFill>
                <a:latin typeface="Arial" pitchFamily="34" charset="0"/>
                <a:ea typeface="Arial" pitchFamily="34" charset="-122"/>
                <a:cs typeface="Arial" pitchFamily="34" charset="-120"/>
              </a:rPr>
              <a:t>10</a:t>
            </a:r>
            <a:endParaRPr lang="en-US" sz="1400" dirty="0"/>
          </a:p>
        </p:txBody>
      </p:sp>
      <p:sp>
        <p:nvSpPr>
          <p:cNvPr id="9" name="Text 7"/>
          <p:cNvSpPr/>
          <p:nvPr/>
        </p:nvSpPr>
        <p:spPr>
          <a:xfrm>
            <a:off x="1028700" y="2713633"/>
            <a:ext cx="30740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933"/>
                </a:solidFill>
                <a:latin typeface="Arial" pitchFamily="34" charset="0"/>
                <a:ea typeface="Arial" pitchFamily="34" charset="-122"/>
                <a:cs typeface="Arial" pitchFamily="34" charset="-120"/>
              </a:rPr>
              <a:t>Morals missing or not general</a:t>
            </a:r>
            <a:endParaRPr lang="en-US" sz="1300" dirty="0"/>
          </a:p>
        </p:txBody>
      </p:sp>
      <p:sp>
        <p:nvSpPr>
          <p:cNvPr id="10" name="Shape 8"/>
          <p:cNvSpPr/>
          <p:nvPr/>
        </p:nvSpPr>
        <p:spPr>
          <a:xfrm>
            <a:off x="4114800" y="2714923"/>
            <a:ext cx="2540000" cy="228600"/>
          </a:xfrm>
          <a:prstGeom prst="roundRect">
            <a:avLst>
              <a:gd name="adj" fmla="val 22222"/>
            </a:avLst>
          </a:prstGeom>
          <a:solidFill>
            <a:srgbClr val="1B365D"/>
          </a:solidFill>
          <a:ln/>
        </p:spPr>
      </p:sp>
      <p:sp>
        <p:nvSpPr>
          <p:cNvPr id="11" name="Text 9"/>
          <p:cNvSpPr/>
          <p:nvPr/>
        </p:nvSpPr>
        <p:spPr>
          <a:xfrm>
            <a:off x="6756400" y="2704802"/>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365D"/>
                </a:solidFill>
                <a:latin typeface="Arial" pitchFamily="34" charset="0"/>
                <a:ea typeface="Arial" pitchFamily="34" charset="-122"/>
                <a:cs typeface="Arial" pitchFamily="34" charset="-120"/>
              </a:rPr>
              <a:t>8</a:t>
            </a:r>
            <a:endParaRPr lang="en-US" sz="1400" dirty="0"/>
          </a:p>
        </p:txBody>
      </p:sp>
      <p:sp>
        <p:nvSpPr>
          <p:cNvPr id="12" name="Text 10"/>
          <p:cNvSpPr/>
          <p:nvPr/>
        </p:nvSpPr>
        <p:spPr>
          <a:xfrm>
            <a:off x="1028700" y="3076773"/>
            <a:ext cx="30740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933"/>
                </a:solidFill>
                <a:latin typeface="Arial" pitchFamily="34" charset="0"/>
                <a:ea typeface="Arial" pitchFamily="34" charset="-122"/>
                <a:cs typeface="Arial" pitchFamily="34" charset="-120"/>
              </a:rPr>
              <a:t>Verbs do not agree</a:t>
            </a:r>
            <a:endParaRPr lang="en-US" sz="1300" dirty="0"/>
          </a:p>
        </p:txBody>
      </p:sp>
      <p:sp>
        <p:nvSpPr>
          <p:cNvPr id="13" name="Shape 11"/>
          <p:cNvSpPr/>
          <p:nvPr/>
        </p:nvSpPr>
        <p:spPr>
          <a:xfrm>
            <a:off x="4114800" y="3078063"/>
            <a:ext cx="2540000" cy="228600"/>
          </a:xfrm>
          <a:prstGeom prst="roundRect">
            <a:avLst>
              <a:gd name="adj" fmla="val 22222"/>
            </a:avLst>
          </a:prstGeom>
          <a:solidFill>
            <a:srgbClr val="1B365D"/>
          </a:solidFill>
          <a:ln/>
        </p:spPr>
      </p:sp>
      <p:sp>
        <p:nvSpPr>
          <p:cNvPr id="14" name="Text 12"/>
          <p:cNvSpPr/>
          <p:nvPr/>
        </p:nvSpPr>
        <p:spPr>
          <a:xfrm>
            <a:off x="6756400" y="3067943"/>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365D"/>
                </a:solidFill>
                <a:latin typeface="Arial" pitchFamily="34" charset="0"/>
                <a:ea typeface="Arial" pitchFamily="34" charset="-122"/>
                <a:cs typeface="Arial" pitchFamily="34" charset="-120"/>
              </a:rPr>
              <a:t>8</a:t>
            </a:r>
            <a:endParaRPr lang="en-US" sz="1400" dirty="0"/>
          </a:p>
        </p:txBody>
      </p:sp>
      <p:sp>
        <p:nvSpPr>
          <p:cNvPr id="15" name="Text 13"/>
          <p:cNvSpPr/>
          <p:nvPr/>
        </p:nvSpPr>
        <p:spPr>
          <a:xfrm>
            <a:off x="1028700" y="3439914"/>
            <a:ext cx="30740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933"/>
                </a:solidFill>
                <a:latin typeface="Arial" pitchFamily="34" charset="0"/>
                <a:ea typeface="Arial" pitchFamily="34" charset="-122"/>
                <a:cs typeface="Arial" pitchFamily="34" charset="-120"/>
              </a:rPr>
              <a:t>Not one connected fable</a:t>
            </a:r>
            <a:endParaRPr lang="en-US" sz="1300" dirty="0"/>
          </a:p>
        </p:txBody>
      </p:sp>
      <p:sp>
        <p:nvSpPr>
          <p:cNvPr id="16" name="Shape 14"/>
          <p:cNvSpPr/>
          <p:nvPr/>
        </p:nvSpPr>
        <p:spPr>
          <a:xfrm>
            <a:off x="4114800" y="3441204"/>
            <a:ext cx="1587500" cy="228600"/>
          </a:xfrm>
          <a:prstGeom prst="roundRect">
            <a:avLst>
              <a:gd name="adj" fmla="val 22222"/>
            </a:avLst>
          </a:prstGeom>
          <a:solidFill>
            <a:srgbClr val="1B365D"/>
          </a:solidFill>
          <a:ln/>
        </p:spPr>
      </p:sp>
      <p:sp>
        <p:nvSpPr>
          <p:cNvPr id="17" name="Text 15"/>
          <p:cNvSpPr/>
          <p:nvPr/>
        </p:nvSpPr>
        <p:spPr>
          <a:xfrm>
            <a:off x="5803900" y="3431084"/>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365D"/>
                </a:solidFill>
                <a:latin typeface="Arial" pitchFamily="34" charset="0"/>
                <a:ea typeface="Arial" pitchFamily="34" charset="-122"/>
                <a:cs typeface="Arial" pitchFamily="34" charset="-120"/>
              </a:rPr>
              <a:t>5</a:t>
            </a:r>
            <a:endParaRPr lang="en-US" sz="1400" dirty="0"/>
          </a:p>
        </p:txBody>
      </p:sp>
      <p:sp>
        <p:nvSpPr>
          <p:cNvPr id="18" name="Text 16"/>
          <p:cNvSpPr/>
          <p:nvPr/>
        </p:nvSpPr>
        <p:spPr>
          <a:xfrm>
            <a:off x="1028700" y="3803055"/>
            <a:ext cx="30740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933"/>
                </a:solidFill>
                <a:latin typeface="Arial" pitchFamily="34" charset="0"/>
                <a:ea typeface="Arial" pitchFamily="34" charset="-122"/>
                <a:cs typeface="Arial" pitchFamily="34" charset="-120"/>
              </a:rPr>
              <a:t>Result needs because + comma</a:t>
            </a:r>
            <a:endParaRPr lang="en-US" sz="1300" dirty="0"/>
          </a:p>
        </p:txBody>
      </p:sp>
      <p:sp>
        <p:nvSpPr>
          <p:cNvPr id="19" name="Shape 17"/>
          <p:cNvSpPr/>
          <p:nvPr/>
        </p:nvSpPr>
        <p:spPr>
          <a:xfrm>
            <a:off x="4114800" y="3804345"/>
            <a:ext cx="1587500" cy="228600"/>
          </a:xfrm>
          <a:prstGeom prst="roundRect">
            <a:avLst>
              <a:gd name="adj" fmla="val 22222"/>
            </a:avLst>
          </a:prstGeom>
          <a:solidFill>
            <a:srgbClr val="1B365D"/>
          </a:solidFill>
          <a:ln/>
        </p:spPr>
      </p:sp>
      <p:sp>
        <p:nvSpPr>
          <p:cNvPr id="20" name="Text 18"/>
          <p:cNvSpPr/>
          <p:nvPr/>
        </p:nvSpPr>
        <p:spPr>
          <a:xfrm>
            <a:off x="5803900" y="3794224"/>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365D"/>
                </a:solidFill>
                <a:latin typeface="Arial" pitchFamily="34" charset="0"/>
                <a:ea typeface="Arial" pitchFamily="34" charset="-122"/>
                <a:cs typeface="Arial" pitchFamily="34" charset="-120"/>
              </a:rPr>
              <a:t>5</a:t>
            </a:r>
            <a:endParaRPr lang="en-US" sz="1400" dirty="0"/>
          </a:p>
        </p:txBody>
      </p:sp>
      <p:sp>
        <p:nvSpPr>
          <p:cNvPr id="21" name="Text 19"/>
          <p:cNvSpPr/>
          <p:nvPr/>
        </p:nvSpPr>
        <p:spPr>
          <a:xfrm>
            <a:off x="1028700" y="4166195"/>
            <a:ext cx="30740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933"/>
                </a:solidFill>
                <a:latin typeface="Arial" pitchFamily="34" charset="0"/>
                <a:ea typeface="Arial" pitchFamily="34" charset="-122"/>
                <a:cs typeface="Arial" pitchFamily="34" charset="-120"/>
              </a:rPr>
              <a:t>Speech punctuation</a:t>
            </a:r>
            <a:endParaRPr lang="en-US" sz="1300" dirty="0"/>
          </a:p>
        </p:txBody>
      </p:sp>
      <p:sp>
        <p:nvSpPr>
          <p:cNvPr id="22" name="Shape 20"/>
          <p:cNvSpPr/>
          <p:nvPr/>
        </p:nvSpPr>
        <p:spPr>
          <a:xfrm>
            <a:off x="4114800" y="4167485"/>
            <a:ext cx="1270000" cy="228600"/>
          </a:xfrm>
          <a:prstGeom prst="roundRect">
            <a:avLst>
              <a:gd name="adj" fmla="val 22222"/>
            </a:avLst>
          </a:prstGeom>
          <a:solidFill>
            <a:srgbClr val="1B365D"/>
          </a:solidFill>
          <a:ln/>
        </p:spPr>
      </p:sp>
      <p:sp>
        <p:nvSpPr>
          <p:cNvPr id="23" name="Text 21"/>
          <p:cNvSpPr/>
          <p:nvPr/>
        </p:nvSpPr>
        <p:spPr>
          <a:xfrm>
            <a:off x="5486400" y="4157365"/>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365D"/>
                </a:solidFill>
                <a:latin typeface="Arial" pitchFamily="34" charset="0"/>
                <a:ea typeface="Arial" pitchFamily="34" charset="-122"/>
                <a:cs typeface="Arial" pitchFamily="34" charset="-120"/>
              </a:rPr>
              <a:t>4</a:t>
            </a:r>
            <a:endParaRPr lang="en-US" sz="1400" dirty="0"/>
          </a:p>
        </p:txBody>
      </p:sp>
      <p:sp>
        <p:nvSpPr>
          <p:cNvPr id="24" name="Shape 22"/>
          <p:cNvSpPr/>
          <p:nvPr/>
        </p:nvSpPr>
        <p:spPr>
          <a:xfrm>
            <a:off x="7512050" y="1569641"/>
            <a:ext cx="3867150" cy="3014365"/>
          </a:xfrm>
          <a:prstGeom prst="roundRect">
            <a:avLst>
              <a:gd name="adj" fmla="val 2949"/>
            </a:avLst>
          </a:prstGeom>
          <a:solidFill>
            <a:srgbClr val="FCE9D6"/>
          </a:solidFill>
          <a:ln/>
        </p:spPr>
      </p:sp>
      <p:sp>
        <p:nvSpPr>
          <p:cNvPr id="25" name="Text 23"/>
          <p:cNvSpPr/>
          <p:nvPr/>
        </p:nvSpPr>
        <p:spPr>
          <a:xfrm>
            <a:off x="7727950" y="1747441"/>
            <a:ext cx="353841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70A"/>
                </a:solidFill>
                <a:latin typeface="Arial" pitchFamily="34" charset="0"/>
                <a:ea typeface="Arial" pitchFamily="34" charset="-122"/>
                <a:cs typeface="Arial" pitchFamily="34" charset="-120"/>
              </a:rPr>
              <a:t>TODAY’S ORDER</a:t>
            </a:r>
            <a:endParaRPr lang="en-US" sz="1300" dirty="0"/>
          </a:p>
        </p:txBody>
      </p:sp>
      <p:sp>
        <p:nvSpPr>
          <p:cNvPr id="26" name="Text 24"/>
          <p:cNvSpPr/>
          <p:nvPr/>
        </p:nvSpPr>
        <p:spPr>
          <a:xfrm>
            <a:off x="7730629" y="2067421"/>
            <a:ext cx="3528874" cy="2016621"/>
          </a:xfrm>
          <a:prstGeom prst="rect">
            <a:avLst/>
          </a:prstGeom>
          <a:noFill/>
          <a:ln/>
        </p:spPr>
        <p:txBody>
          <a:bodyPr wrap="square" lIns="0" tIns="0" rIns="0" bIns="0" rtlCol="0" anchor="t">
            <a:normAutofit/>
          </a:bodyPr>
          <a:lstStyle/>
          <a:p>
            <a:pPr marL="225921" indent="-225921" algn="l">
              <a:lnSpc>
                <a:spcPts val="2240"/>
              </a:lnSpc>
              <a:buSzPct val="100000"/>
              <a:buFontTx/>
              <a:buAutoNum type="arabicPeriod"/>
            </a:pPr>
            <a:r>
              <a:rPr lang="en-US" sz="1600" dirty="0">
                <a:solidFill>
                  <a:srgbClr val="1F2933"/>
                </a:solidFill>
                <a:latin typeface="Arial" pitchFamily="34" charset="0"/>
                <a:ea typeface="Arial" pitchFamily="34" charset="-122"/>
                <a:cs typeface="Arial" pitchFamily="34" charset="-120"/>
              </a:rPr>
              <a:t>One fable, one story</a:t>
            </a:r>
            <a:endParaRPr lang="en-US" sz="1600" dirty="0"/>
          </a:p>
          <a:p>
            <a:pPr marL="225921" indent="-225921" algn="l">
              <a:lnSpc>
                <a:spcPts val="2240"/>
              </a:lnSpc>
              <a:buSzPct val="100000"/>
              <a:buFontTx/>
              <a:buAutoNum type="arabicPeriod"/>
            </a:pPr>
            <a:r>
              <a:rPr lang="en-US" sz="1600" dirty="0">
                <a:solidFill>
                  <a:srgbClr val="1F2933"/>
                </a:solidFill>
                <a:latin typeface="Arial" pitchFamily="34" charset="0"/>
                <a:ea typeface="Arial" pitchFamily="34" charset="-122"/>
                <a:cs typeface="Arial" pitchFamily="34" charset="-120"/>
              </a:rPr>
              <a:t>Result: because + comma</a:t>
            </a:r>
            <a:endParaRPr lang="en-US" sz="1600" dirty="0"/>
          </a:p>
          <a:p>
            <a:pPr marL="225921" indent="-225921" algn="l">
              <a:lnSpc>
                <a:spcPts val="2240"/>
              </a:lnSpc>
              <a:buSzPct val="100000"/>
              <a:buFontTx/>
              <a:buAutoNum type="arabicPeriod"/>
            </a:pPr>
            <a:r>
              <a:rPr lang="en-US" sz="1600" dirty="0">
                <a:solidFill>
                  <a:srgbClr val="1F2933"/>
                </a:solidFill>
                <a:latin typeface="Arial" pitchFamily="34" charset="0"/>
                <a:ea typeface="Arial" pitchFamily="34" charset="-122"/>
                <a:cs typeface="Arial" pitchFamily="34" charset="-120"/>
              </a:rPr>
              <a:t>A general moral</a:t>
            </a:r>
            <a:endParaRPr lang="en-US" sz="1600" dirty="0"/>
          </a:p>
          <a:p>
            <a:pPr marL="225921" indent="-225921" algn="l">
              <a:lnSpc>
                <a:spcPts val="2240"/>
              </a:lnSpc>
              <a:buSzPct val="100000"/>
              <a:buFontTx/>
              <a:buAutoNum type="arabicPeriod"/>
            </a:pPr>
            <a:r>
              <a:rPr lang="en-US" sz="1600" dirty="0">
                <a:solidFill>
                  <a:srgbClr val="1F2933"/>
                </a:solidFill>
                <a:latin typeface="Arial" pitchFamily="34" charset="0"/>
                <a:ea typeface="Arial" pitchFamily="34" charset="-122"/>
                <a:cs typeface="Arial" pitchFamily="34" charset="-120"/>
              </a:rPr>
              <a:t>Add the missing moral</a:t>
            </a:r>
            <a:endParaRPr lang="en-US" sz="1600" dirty="0"/>
          </a:p>
          <a:p>
            <a:pPr marL="225921" indent="-225921" algn="l">
              <a:lnSpc>
                <a:spcPts val="2240"/>
              </a:lnSpc>
              <a:buSzPct val="100000"/>
              <a:buFontTx/>
              <a:buAutoNum type="arabicPeriod"/>
            </a:pPr>
            <a:r>
              <a:rPr lang="en-US" sz="1600" dirty="0">
                <a:solidFill>
                  <a:srgbClr val="1F2933"/>
                </a:solidFill>
                <a:latin typeface="Arial" pitchFamily="34" charset="0"/>
                <a:ea typeface="Arial" pitchFamily="34" charset="-122"/>
                <a:cs typeface="Arial" pitchFamily="34" charset="-120"/>
              </a:rPr>
              <a:t>Speech marks and commas</a:t>
            </a:r>
            <a:endParaRPr lang="en-US" sz="1600" dirty="0"/>
          </a:p>
          <a:p>
            <a:pPr marL="225921" indent="-225921" algn="l">
              <a:lnSpc>
                <a:spcPts val="2240"/>
              </a:lnSpc>
              <a:buSzPct val="100000"/>
              <a:buFontTx/>
              <a:buAutoNum type="arabicPeriod"/>
            </a:pPr>
            <a:r>
              <a:rPr lang="en-US" sz="1600" dirty="0">
                <a:solidFill>
                  <a:srgbClr val="1F2933"/>
                </a:solidFill>
                <a:latin typeface="Arial" pitchFamily="34" charset="0"/>
                <a:ea typeface="Arial" pitchFamily="34" charset="-122"/>
                <a:cs typeface="Arial" pitchFamily="34" charset="-120"/>
              </a:rPr>
              <a:t>Verbs agree</a:t>
            </a:r>
            <a:endParaRPr lang="en-US" sz="1600" dirty="0"/>
          </a:p>
          <a:p>
            <a:pPr marL="225921" indent="-225921" algn="l">
              <a:lnSpc>
                <a:spcPts val="2240"/>
              </a:lnSpc>
              <a:buSzPct val="100000"/>
              <a:buFontTx/>
              <a:buAutoNum type="arabicPeriod"/>
            </a:pPr>
            <a:r>
              <a:rPr lang="en-US" sz="1600" dirty="0">
                <a:solidFill>
                  <a:srgbClr val="1F2933"/>
                </a:solidFill>
                <a:latin typeface="Arial" pitchFamily="34" charset="0"/>
                <a:ea typeface="Arial" pitchFamily="34" charset="-122"/>
                <a:cs typeface="Arial" pitchFamily="34" charset="-120"/>
              </a:rPr>
              <a:t>Spelling and capitals</a:t>
            </a:r>
            <a:endParaRPr lang="en-US" sz="1600" dirty="0"/>
          </a:p>
        </p:txBody>
      </p:sp>
      <p:sp>
        <p:nvSpPr>
          <p:cNvPr id="27" name="Text 25"/>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The more fables needed a fix, the more likely YOURS does too.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1: one fable, one story</a:t>
            </a:r>
            <a:endParaRPr lang="en-US" sz="2800" dirty="0"/>
          </a:p>
        </p:txBody>
      </p:sp>
      <p:sp>
        <p:nvSpPr>
          <p:cNvPr id="4" name="Shape 2"/>
          <p:cNvSpPr/>
          <p:nvPr/>
        </p:nvSpPr>
        <p:spPr>
          <a:xfrm>
            <a:off x="812800" y="1569641"/>
            <a:ext cx="5003800" cy="1085751"/>
          </a:xfrm>
          <a:prstGeom prst="roundRect">
            <a:avLst>
              <a:gd name="adj" fmla="val 8188"/>
            </a:avLst>
          </a:prstGeom>
          <a:solidFill>
            <a:srgbClr val="F6E3E0"/>
          </a:solidFill>
          <a:ln/>
        </p:spPr>
      </p:sp>
      <p:sp>
        <p:nvSpPr>
          <p:cNvPr id="5" name="Text 3"/>
          <p:cNvSpPr/>
          <p:nvPr/>
        </p:nvSpPr>
        <p:spPr>
          <a:xfrm>
            <a:off x="9779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ALI</a:t>
            </a:r>
            <a:endParaRPr lang="en-US" sz="1200" dirty="0"/>
          </a:p>
        </p:txBody>
      </p:sp>
      <p:sp>
        <p:nvSpPr>
          <p:cNvPr id="6" name="Text 4"/>
          <p:cNvSpPr/>
          <p:nvPr/>
        </p:nvSpPr>
        <p:spPr>
          <a:xfrm>
            <a:off x="977900" y="1897261"/>
            <a:ext cx="4813808"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Paragraph 1: a lion and a cat. Paragraph 2: a squirrel. Paragraph 3: a rabbit and a parrot. Each ends “You should be kind.”</a:t>
            </a:r>
            <a:endParaRPr lang="en-US" sz="1300" dirty="0"/>
          </a:p>
        </p:txBody>
      </p:sp>
      <p:sp>
        <p:nvSpPr>
          <p:cNvPr id="7" name="Text 5"/>
          <p:cNvSpPr/>
          <p:nvPr/>
        </p:nvSpPr>
        <p:spPr>
          <a:xfrm>
            <a:off x="5892800" y="1916906"/>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6375400" y="1569641"/>
            <a:ext cx="5003800" cy="1085751"/>
          </a:xfrm>
          <a:prstGeom prst="roundRect">
            <a:avLst>
              <a:gd name="adj" fmla="val 8188"/>
            </a:avLst>
          </a:prstGeom>
          <a:solidFill>
            <a:srgbClr val="E3EEF9"/>
          </a:solidFill>
          <a:ln/>
        </p:spPr>
      </p:sp>
      <p:sp>
        <p:nvSpPr>
          <p:cNvPr id="9" name="Text 7"/>
          <p:cNvSpPr/>
          <p:nvPr/>
        </p:nvSpPr>
        <p:spPr>
          <a:xfrm>
            <a:off x="65405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0" name="Text 8"/>
          <p:cNvSpPr/>
          <p:nvPr/>
        </p:nvSpPr>
        <p:spPr>
          <a:xfrm>
            <a:off x="6540500" y="1897261"/>
            <a:ext cx="4813808"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One lion all the way: he is left out, he says sorry, the cat and bird let him play. Moral at the end: Be kind, or you may be left alone.</a:t>
            </a:r>
            <a:endParaRPr lang="en-US" sz="1300" dirty="0"/>
          </a:p>
        </p:txBody>
      </p:sp>
      <p:sp>
        <p:nvSpPr>
          <p:cNvPr id="11" name="Shape 9"/>
          <p:cNvSpPr/>
          <p:nvPr/>
        </p:nvSpPr>
        <p:spPr>
          <a:xfrm>
            <a:off x="812800" y="2833191"/>
            <a:ext cx="5003800" cy="904081"/>
          </a:xfrm>
          <a:prstGeom prst="roundRect">
            <a:avLst>
              <a:gd name="adj" fmla="val 9833"/>
            </a:avLst>
          </a:prstGeom>
          <a:solidFill>
            <a:srgbClr val="F6E3E0"/>
          </a:solidFill>
          <a:ln/>
        </p:spPr>
      </p:sp>
      <p:sp>
        <p:nvSpPr>
          <p:cNvPr id="12" name="Text 10"/>
          <p:cNvSpPr/>
          <p:nvPr/>
        </p:nvSpPr>
        <p:spPr>
          <a:xfrm>
            <a:off x="977900" y="294749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DANA</a:t>
            </a:r>
            <a:endParaRPr lang="en-US" sz="1200" dirty="0"/>
          </a:p>
        </p:txBody>
      </p:sp>
      <p:sp>
        <p:nvSpPr>
          <p:cNvPr id="13" name="Text 11"/>
          <p:cNvSpPr/>
          <p:nvPr/>
        </p:nvSpPr>
        <p:spPr>
          <a:xfrm>
            <a:off x="977900" y="3160812"/>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My character is lion. He lives in forest. He is scary and crazy and he is bad and bad and bad.</a:t>
            </a:r>
            <a:endParaRPr lang="en-US" sz="1400" dirty="0"/>
          </a:p>
        </p:txBody>
      </p:sp>
      <p:sp>
        <p:nvSpPr>
          <p:cNvPr id="14" name="Text 12"/>
          <p:cNvSpPr/>
          <p:nvPr/>
        </p:nvSpPr>
        <p:spPr>
          <a:xfrm>
            <a:off x="5892800" y="3089672"/>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6375400" y="2833191"/>
            <a:ext cx="5003800" cy="904081"/>
          </a:xfrm>
          <a:prstGeom prst="roundRect">
            <a:avLst>
              <a:gd name="adj" fmla="val 9833"/>
            </a:avLst>
          </a:prstGeom>
          <a:solidFill>
            <a:srgbClr val="E3EEF9"/>
          </a:solidFill>
          <a:ln/>
        </p:spPr>
      </p:sp>
      <p:sp>
        <p:nvSpPr>
          <p:cNvPr id="16" name="Text 14"/>
          <p:cNvSpPr/>
          <p:nvPr/>
        </p:nvSpPr>
        <p:spPr>
          <a:xfrm>
            <a:off x="6540500" y="294749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7" name="Text 15"/>
          <p:cNvSpPr/>
          <p:nvPr/>
        </p:nvSpPr>
        <p:spPr>
          <a:xfrm>
            <a:off x="6540500" y="3160812"/>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Leo was a scary lion who roared at every animal that came near, so nobody dared to visit him.</a:t>
            </a:r>
            <a:endParaRPr lang="en-US" sz="1400" dirty="0"/>
          </a:p>
        </p:txBody>
      </p:sp>
      <p:sp>
        <p:nvSpPr>
          <p:cNvPr id="18" name="Shape 16"/>
          <p:cNvSpPr/>
          <p:nvPr/>
        </p:nvSpPr>
        <p:spPr>
          <a:xfrm>
            <a:off x="812800" y="3915073"/>
            <a:ext cx="10566400" cy="434280"/>
          </a:xfrm>
          <a:prstGeom prst="roundRect">
            <a:avLst>
              <a:gd name="adj" fmla="val 20471"/>
            </a:avLst>
          </a:prstGeom>
          <a:solidFill>
            <a:srgbClr val="FFFFFF"/>
          </a:solidFill>
          <a:ln/>
        </p:spPr>
      </p:sp>
      <p:sp>
        <p:nvSpPr>
          <p:cNvPr id="19" name="Text 17"/>
          <p:cNvSpPr/>
          <p:nvPr/>
        </p:nvSpPr>
        <p:spPr>
          <a:xfrm>
            <a:off x="990600" y="4025503"/>
            <a:ext cx="10669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REMEMBER</a:t>
            </a:r>
            <a:endParaRPr lang="en-US" sz="1200" dirty="0"/>
          </a:p>
        </p:txBody>
      </p:sp>
      <p:sp>
        <p:nvSpPr>
          <p:cNvPr id="20" name="Text 18"/>
          <p:cNvSpPr/>
          <p:nvPr/>
        </p:nvSpPr>
        <p:spPr>
          <a:xfrm>
            <a:off x="2082899" y="4016673"/>
            <a:ext cx="723388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One character · one trait · one problem · one choice · result · change · moral</a:t>
            </a:r>
            <a:endParaRPr lang="en-US" sz="1400" dirty="0"/>
          </a:p>
        </p:txBody>
      </p:sp>
      <p:sp>
        <p:nvSpPr>
          <p:cNvPr id="21" name="Text 19"/>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Paragraphs 1 to 4 must be ONE fable.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1 (continued): show, don’t only tell</a:t>
            </a:r>
            <a:endParaRPr lang="en-US" sz="2800" dirty="0"/>
          </a:p>
        </p:txBody>
      </p:sp>
      <p:sp>
        <p:nvSpPr>
          <p:cNvPr id="4" name="Shape 2"/>
          <p:cNvSpPr/>
          <p:nvPr/>
        </p:nvSpPr>
        <p:spPr>
          <a:xfrm>
            <a:off x="812800" y="1569641"/>
            <a:ext cx="5003800" cy="904081"/>
          </a:xfrm>
          <a:prstGeom prst="roundRect">
            <a:avLst>
              <a:gd name="adj" fmla="val 9833"/>
            </a:avLst>
          </a:prstGeom>
          <a:solidFill>
            <a:srgbClr val="F6E3E0"/>
          </a:solidFill>
          <a:ln/>
        </p:spPr>
      </p:sp>
      <p:sp>
        <p:nvSpPr>
          <p:cNvPr id="5" name="Text 3"/>
          <p:cNvSpPr/>
          <p:nvPr/>
        </p:nvSpPr>
        <p:spPr>
          <a:xfrm>
            <a:off x="9779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SEIF</a:t>
            </a:r>
            <a:endParaRPr lang="en-US" sz="1200" dirty="0"/>
          </a:p>
        </p:txBody>
      </p:sp>
      <p:sp>
        <p:nvSpPr>
          <p:cNvPr id="6" name="Text 4"/>
          <p:cNvSpPr/>
          <p:nvPr/>
        </p:nvSpPr>
        <p:spPr>
          <a:xfrm>
            <a:off x="977900" y="1897261"/>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The trait of the fox is selfish because he wants to eat all of the deer.</a:t>
            </a:r>
            <a:endParaRPr lang="en-US" sz="1400" dirty="0"/>
          </a:p>
        </p:txBody>
      </p:sp>
      <p:sp>
        <p:nvSpPr>
          <p:cNvPr id="7" name="Text 5"/>
          <p:cNvSpPr/>
          <p:nvPr/>
        </p:nvSpPr>
        <p:spPr>
          <a:xfrm>
            <a:off x="5892800" y="1826121"/>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6375400" y="1569641"/>
            <a:ext cx="5003800" cy="904081"/>
          </a:xfrm>
          <a:prstGeom prst="roundRect">
            <a:avLst>
              <a:gd name="adj" fmla="val 9833"/>
            </a:avLst>
          </a:prstGeom>
          <a:solidFill>
            <a:srgbClr val="E3EEF9"/>
          </a:solidFill>
          <a:ln/>
        </p:spPr>
      </p:sp>
      <p:sp>
        <p:nvSpPr>
          <p:cNvPr id="9" name="Text 7"/>
          <p:cNvSpPr/>
          <p:nvPr/>
        </p:nvSpPr>
        <p:spPr>
          <a:xfrm>
            <a:off x="65405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0" name="Text 8"/>
          <p:cNvSpPr/>
          <p:nvPr/>
        </p:nvSpPr>
        <p:spPr>
          <a:xfrm>
            <a:off x="6540500" y="1897261"/>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The fox wanted all the deer for himself, so he beat the lion up and sent him away. (The choice shows he is selfish.)</a:t>
            </a:r>
            <a:endParaRPr lang="en-US" sz="1400" dirty="0"/>
          </a:p>
        </p:txBody>
      </p:sp>
      <p:sp>
        <p:nvSpPr>
          <p:cNvPr id="11" name="Shape 9"/>
          <p:cNvSpPr/>
          <p:nvPr/>
        </p:nvSpPr>
        <p:spPr>
          <a:xfrm>
            <a:off x="812800" y="2651522"/>
            <a:ext cx="5003800" cy="904081"/>
          </a:xfrm>
          <a:prstGeom prst="roundRect">
            <a:avLst>
              <a:gd name="adj" fmla="val 9833"/>
            </a:avLst>
          </a:prstGeom>
          <a:solidFill>
            <a:srgbClr val="F6E3E0"/>
          </a:solidFill>
          <a:ln/>
        </p:spPr>
      </p:sp>
      <p:sp>
        <p:nvSpPr>
          <p:cNvPr id="12" name="Text 10"/>
          <p:cNvSpPr/>
          <p:nvPr/>
        </p:nvSpPr>
        <p:spPr>
          <a:xfrm>
            <a:off x="9779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ABDALLAH</a:t>
            </a:r>
            <a:endParaRPr lang="en-US" sz="1200" dirty="0"/>
          </a:p>
        </p:txBody>
      </p:sp>
      <p:sp>
        <p:nvSpPr>
          <p:cNvPr id="13" name="Text 11"/>
          <p:cNvSpPr/>
          <p:nvPr/>
        </p:nvSpPr>
        <p:spPr>
          <a:xfrm>
            <a:off x="977900" y="2979142"/>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Then he turned a box and it have lock then he try to open it then it open…</a:t>
            </a:r>
            <a:endParaRPr lang="en-US" sz="1400" dirty="0"/>
          </a:p>
        </p:txBody>
      </p:sp>
      <p:sp>
        <p:nvSpPr>
          <p:cNvPr id="14" name="Text 12"/>
          <p:cNvSpPr/>
          <p:nvPr/>
        </p:nvSpPr>
        <p:spPr>
          <a:xfrm>
            <a:off x="5892800" y="2908002"/>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6375400" y="2651522"/>
            <a:ext cx="5003800" cy="904081"/>
          </a:xfrm>
          <a:prstGeom prst="roundRect">
            <a:avLst>
              <a:gd name="adj" fmla="val 9833"/>
            </a:avLst>
          </a:prstGeom>
          <a:solidFill>
            <a:srgbClr val="E3EEF9"/>
          </a:solidFill>
          <a:ln/>
        </p:spPr>
      </p:sp>
      <p:sp>
        <p:nvSpPr>
          <p:cNvPr id="16" name="Text 14"/>
          <p:cNvSpPr/>
          <p:nvPr/>
        </p:nvSpPr>
        <p:spPr>
          <a:xfrm>
            <a:off x="65405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7" name="Text 15"/>
          <p:cNvSpPr/>
          <p:nvPr/>
        </p:nvSpPr>
        <p:spPr>
          <a:xfrm>
            <a:off x="6540500" y="2979142"/>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he tried the golden key, the lock opened. Inside the box he found a toy car.</a:t>
            </a:r>
            <a:endParaRPr lang="en-US" sz="1400" dirty="0"/>
          </a:p>
        </p:txBody>
      </p:sp>
      <p:sp>
        <p:nvSpPr>
          <p:cNvPr id="18" name="Shape 16"/>
          <p:cNvSpPr/>
          <p:nvPr/>
        </p:nvSpPr>
        <p:spPr>
          <a:xfrm>
            <a:off x="812800" y="3733403"/>
            <a:ext cx="10566400" cy="434280"/>
          </a:xfrm>
          <a:prstGeom prst="roundRect">
            <a:avLst>
              <a:gd name="adj" fmla="val 20471"/>
            </a:avLst>
          </a:prstGeom>
          <a:solidFill>
            <a:srgbClr val="FFFFFF"/>
          </a:solidFill>
          <a:ln/>
        </p:spPr>
      </p:sp>
      <p:sp>
        <p:nvSpPr>
          <p:cNvPr id="19" name="Text 17"/>
          <p:cNvSpPr/>
          <p:nvPr/>
        </p:nvSpPr>
        <p:spPr>
          <a:xfrm>
            <a:off x="990600" y="3843834"/>
            <a:ext cx="11784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LINK WORDS</a:t>
            </a:r>
            <a:endParaRPr lang="en-US" sz="1200" dirty="0"/>
          </a:p>
        </p:txBody>
      </p:sp>
      <p:sp>
        <p:nvSpPr>
          <p:cNvPr id="20" name="Text 18"/>
          <p:cNvSpPr/>
          <p:nvPr/>
        </p:nvSpPr>
        <p:spPr>
          <a:xfrm>
            <a:off x="2175867" y="3835003"/>
            <a:ext cx="6487239"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 so · as a result: use them instead of “then … then … then”</a:t>
            </a:r>
            <a:endParaRPr lang="en-US" sz="1400" dirty="0"/>
          </a:p>
        </p:txBody>
      </p:sp>
      <p:sp>
        <p:nvSpPr>
          <p:cNvPr id="21" name="Text 19"/>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Show the trait with what your character DOES.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2: because needs a comma and a verb</a:t>
            </a:r>
            <a:endParaRPr lang="en-US" sz="2800" dirty="0"/>
          </a:p>
        </p:txBody>
      </p:sp>
      <p:sp>
        <p:nvSpPr>
          <p:cNvPr id="4" name="Shape 2"/>
          <p:cNvSpPr/>
          <p:nvPr/>
        </p:nvSpPr>
        <p:spPr>
          <a:xfrm>
            <a:off x="812800" y="1569641"/>
            <a:ext cx="5003800" cy="904081"/>
          </a:xfrm>
          <a:prstGeom prst="roundRect">
            <a:avLst>
              <a:gd name="adj" fmla="val 9833"/>
            </a:avLst>
          </a:prstGeom>
          <a:solidFill>
            <a:srgbClr val="F6E3E0"/>
          </a:solidFill>
          <a:ln/>
        </p:spPr>
      </p:sp>
      <p:sp>
        <p:nvSpPr>
          <p:cNvPr id="5" name="Text 3"/>
          <p:cNvSpPr/>
          <p:nvPr/>
        </p:nvSpPr>
        <p:spPr>
          <a:xfrm>
            <a:off x="9779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KINAN</a:t>
            </a:r>
            <a:endParaRPr lang="en-US" sz="1200" dirty="0"/>
          </a:p>
        </p:txBody>
      </p:sp>
      <p:sp>
        <p:nvSpPr>
          <p:cNvPr id="6" name="Text 4"/>
          <p:cNvSpPr/>
          <p:nvPr/>
        </p:nvSpPr>
        <p:spPr>
          <a:xfrm>
            <a:off x="977900" y="1897261"/>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the Grasshopper don’t prepar he so shivering and weak.</a:t>
            </a:r>
            <a:endParaRPr lang="en-US" sz="1400" dirty="0"/>
          </a:p>
        </p:txBody>
      </p:sp>
      <p:sp>
        <p:nvSpPr>
          <p:cNvPr id="7" name="Text 5"/>
          <p:cNvSpPr/>
          <p:nvPr/>
        </p:nvSpPr>
        <p:spPr>
          <a:xfrm>
            <a:off x="5892800" y="1826121"/>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6375400" y="1569641"/>
            <a:ext cx="5003800" cy="904081"/>
          </a:xfrm>
          <a:prstGeom prst="roundRect">
            <a:avLst>
              <a:gd name="adj" fmla="val 9833"/>
            </a:avLst>
          </a:prstGeom>
          <a:solidFill>
            <a:srgbClr val="E3EEF9"/>
          </a:solidFill>
          <a:ln/>
        </p:spPr>
      </p:sp>
      <p:sp>
        <p:nvSpPr>
          <p:cNvPr id="9" name="Text 7"/>
          <p:cNvSpPr/>
          <p:nvPr/>
        </p:nvSpPr>
        <p:spPr>
          <a:xfrm>
            <a:off x="65405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0" name="Text 8"/>
          <p:cNvSpPr/>
          <p:nvPr/>
        </p:nvSpPr>
        <p:spPr>
          <a:xfrm>
            <a:off x="6540500" y="1897261"/>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the grasshopper did not prepare, he was shivering and weak.</a:t>
            </a:r>
            <a:endParaRPr lang="en-US" sz="1400" dirty="0"/>
          </a:p>
        </p:txBody>
      </p:sp>
      <p:sp>
        <p:nvSpPr>
          <p:cNvPr id="11" name="Shape 9"/>
          <p:cNvSpPr/>
          <p:nvPr/>
        </p:nvSpPr>
        <p:spPr>
          <a:xfrm>
            <a:off x="812800" y="2651522"/>
            <a:ext cx="5003800" cy="904081"/>
          </a:xfrm>
          <a:prstGeom prst="roundRect">
            <a:avLst>
              <a:gd name="adj" fmla="val 9833"/>
            </a:avLst>
          </a:prstGeom>
          <a:solidFill>
            <a:srgbClr val="F6E3E0"/>
          </a:solidFill>
          <a:ln/>
        </p:spPr>
      </p:sp>
      <p:sp>
        <p:nvSpPr>
          <p:cNvPr id="12" name="Text 10"/>
          <p:cNvSpPr/>
          <p:nvPr/>
        </p:nvSpPr>
        <p:spPr>
          <a:xfrm>
            <a:off x="9779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NOOR (TIGER)</a:t>
            </a:r>
            <a:endParaRPr lang="en-US" sz="1200" dirty="0"/>
          </a:p>
        </p:txBody>
      </p:sp>
      <p:sp>
        <p:nvSpPr>
          <p:cNvPr id="13" name="Text 11"/>
          <p:cNvSpPr/>
          <p:nvPr/>
        </p:nvSpPr>
        <p:spPr>
          <a:xfrm>
            <a:off x="977900" y="2979142"/>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Jeffey wanted to catch his prey immediately he rushed after every animal…</a:t>
            </a:r>
            <a:endParaRPr lang="en-US" sz="1400" dirty="0"/>
          </a:p>
        </p:txBody>
      </p:sp>
      <p:sp>
        <p:nvSpPr>
          <p:cNvPr id="14" name="Text 12"/>
          <p:cNvSpPr/>
          <p:nvPr/>
        </p:nvSpPr>
        <p:spPr>
          <a:xfrm>
            <a:off x="5892800" y="2908002"/>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6375400" y="2651522"/>
            <a:ext cx="5003800" cy="904081"/>
          </a:xfrm>
          <a:prstGeom prst="roundRect">
            <a:avLst>
              <a:gd name="adj" fmla="val 9833"/>
            </a:avLst>
          </a:prstGeom>
          <a:solidFill>
            <a:srgbClr val="E3EEF9"/>
          </a:solidFill>
          <a:ln/>
        </p:spPr>
      </p:sp>
      <p:sp>
        <p:nvSpPr>
          <p:cNvPr id="16" name="Text 14"/>
          <p:cNvSpPr/>
          <p:nvPr/>
        </p:nvSpPr>
        <p:spPr>
          <a:xfrm>
            <a:off x="65405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7" name="Text 15"/>
          <p:cNvSpPr/>
          <p:nvPr/>
        </p:nvSpPr>
        <p:spPr>
          <a:xfrm>
            <a:off x="6540500" y="2979142"/>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Jeffrey wanted to catch his prey immediately, he rushed after every animal…</a:t>
            </a:r>
            <a:endParaRPr lang="en-US" sz="1400" dirty="0"/>
          </a:p>
        </p:txBody>
      </p:sp>
      <p:sp>
        <p:nvSpPr>
          <p:cNvPr id="18" name="Shape 16"/>
          <p:cNvSpPr/>
          <p:nvPr/>
        </p:nvSpPr>
        <p:spPr>
          <a:xfrm>
            <a:off x="812800" y="3733403"/>
            <a:ext cx="5003800" cy="904081"/>
          </a:xfrm>
          <a:prstGeom prst="roundRect">
            <a:avLst>
              <a:gd name="adj" fmla="val 9833"/>
            </a:avLst>
          </a:prstGeom>
          <a:solidFill>
            <a:srgbClr val="F6E3E0"/>
          </a:solidFill>
          <a:ln/>
        </p:spPr>
      </p:sp>
      <p:sp>
        <p:nvSpPr>
          <p:cNvPr id="19" name="Text 17"/>
          <p:cNvSpPr/>
          <p:nvPr/>
        </p:nvSpPr>
        <p:spPr>
          <a:xfrm>
            <a:off x="977900" y="384770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JOUD (KOALA)</a:t>
            </a:r>
            <a:endParaRPr lang="en-US" sz="1200" dirty="0"/>
          </a:p>
        </p:txBody>
      </p:sp>
      <p:sp>
        <p:nvSpPr>
          <p:cNvPr id="20" name="Text 18"/>
          <p:cNvSpPr/>
          <p:nvPr/>
        </p:nvSpPr>
        <p:spPr>
          <a:xfrm>
            <a:off x="977900" y="4061023"/>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So she decided to change and prepar well and sleeping well.</a:t>
            </a:r>
            <a:endParaRPr lang="en-US" sz="1400" dirty="0"/>
          </a:p>
        </p:txBody>
      </p:sp>
      <p:sp>
        <p:nvSpPr>
          <p:cNvPr id="21" name="Text 19"/>
          <p:cNvSpPr/>
          <p:nvPr/>
        </p:nvSpPr>
        <p:spPr>
          <a:xfrm>
            <a:off x="5892800" y="3989884"/>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22" name="Shape 20"/>
          <p:cNvSpPr/>
          <p:nvPr/>
        </p:nvSpPr>
        <p:spPr>
          <a:xfrm>
            <a:off x="6375400" y="3733403"/>
            <a:ext cx="5003800" cy="904081"/>
          </a:xfrm>
          <a:prstGeom prst="roundRect">
            <a:avLst>
              <a:gd name="adj" fmla="val 9833"/>
            </a:avLst>
          </a:prstGeom>
          <a:solidFill>
            <a:srgbClr val="E3EEF9"/>
          </a:solidFill>
          <a:ln/>
        </p:spPr>
      </p:sp>
      <p:sp>
        <p:nvSpPr>
          <p:cNvPr id="23" name="Text 21"/>
          <p:cNvSpPr/>
          <p:nvPr/>
        </p:nvSpPr>
        <p:spPr>
          <a:xfrm>
            <a:off x="6540500" y="384770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24" name="Text 22"/>
          <p:cNvSpPr/>
          <p:nvPr/>
        </p:nvSpPr>
        <p:spPr>
          <a:xfrm>
            <a:off x="6540500" y="4061023"/>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She realised her mistake, so she decided to change and prepare well.</a:t>
            </a:r>
            <a:endParaRPr lang="en-US" sz="1400" dirty="0"/>
          </a:p>
        </p:txBody>
      </p:sp>
      <p:sp>
        <p:nvSpPr>
          <p:cNvPr id="25" name="Text 23"/>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Because ___, ___. The comma comes after the because part.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3: a moral is a general lesson</a:t>
            </a:r>
            <a:endParaRPr lang="en-US" sz="2800" dirty="0"/>
          </a:p>
        </p:txBody>
      </p:sp>
      <p:sp>
        <p:nvSpPr>
          <p:cNvPr id="4" name="Shape 2"/>
          <p:cNvSpPr/>
          <p:nvPr/>
        </p:nvSpPr>
        <p:spPr>
          <a:xfrm>
            <a:off x="812800" y="1685131"/>
            <a:ext cx="5003800" cy="673001"/>
          </a:xfrm>
          <a:prstGeom prst="roundRect">
            <a:avLst>
              <a:gd name="adj" fmla="val 13209"/>
            </a:avLst>
          </a:prstGeom>
          <a:solidFill>
            <a:srgbClr val="F6E3E0"/>
          </a:solidFill>
          <a:ln/>
        </p:spPr>
      </p:sp>
      <p:sp>
        <p:nvSpPr>
          <p:cNvPr id="5" name="Text 3"/>
          <p:cNvSpPr/>
          <p:nvPr/>
        </p:nvSpPr>
        <p:spPr>
          <a:xfrm>
            <a:off x="977900" y="179943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MAI</a:t>
            </a:r>
            <a:endParaRPr lang="en-US" sz="1200" dirty="0"/>
          </a:p>
        </p:txBody>
      </p:sp>
      <p:sp>
        <p:nvSpPr>
          <p:cNvPr id="6" name="Text 4"/>
          <p:cNvSpPr/>
          <p:nvPr/>
        </p:nvSpPr>
        <p:spPr>
          <a:xfrm>
            <a:off x="977900" y="2012752"/>
            <a:ext cx="483870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…the owl learned that she should always be kind to other.</a:t>
            </a:r>
            <a:endParaRPr lang="en-US" sz="1400" dirty="0"/>
          </a:p>
        </p:txBody>
      </p:sp>
      <p:sp>
        <p:nvSpPr>
          <p:cNvPr id="7" name="Text 5"/>
          <p:cNvSpPr/>
          <p:nvPr/>
        </p:nvSpPr>
        <p:spPr>
          <a:xfrm>
            <a:off x="5892800" y="1826121"/>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6375400" y="1569641"/>
            <a:ext cx="5003800" cy="904081"/>
          </a:xfrm>
          <a:prstGeom prst="roundRect">
            <a:avLst>
              <a:gd name="adj" fmla="val 9833"/>
            </a:avLst>
          </a:prstGeom>
          <a:solidFill>
            <a:srgbClr val="E3EEF9"/>
          </a:solidFill>
          <a:ln/>
        </p:spPr>
      </p:sp>
      <p:sp>
        <p:nvSpPr>
          <p:cNvPr id="9" name="Text 7"/>
          <p:cNvSpPr/>
          <p:nvPr/>
        </p:nvSpPr>
        <p:spPr>
          <a:xfrm>
            <a:off x="65405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0" name="Text 8"/>
          <p:cNvSpPr/>
          <p:nvPr/>
        </p:nvSpPr>
        <p:spPr>
          <a:xfrm>
            <a:off x="6540500" y="1897261"/>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Always be kind to others, because kindness comes back. (No “the owl”, no “she”.)</a:t>
            </a:r>
            <a:endParaRPr lang="en-US" sz="1400" dirty="0"/>
          </a:p>
        </p:txBody>
      </p:sp>
      <p:sp>
        <p:nvSpPr>
          <p:cNvPr id="11" name="Shape 9"/>
          <p:cNvSpPr/>
          <p:nvPr/>
        </p:nvSpPr>
        <p:spPr>
          <a:xfrm>
            <a:off x="812800" y="2651522"/>
            <a:ext cx="5003800" cy="673001"/>
          </a:xfrm>
          <a:prstGeom prst="roundRect">
            <a:avLst>
              <a:gd name="adj" fmla="val 13209"/>
            </a:avLst>
          </a:prstGeom>
          <a:solidFill>
            <a:srgbClr val="F6E3E0"/>
          </a:solidFill>
          <a:ln/>
        </p:spPr>
      </p:sp>
      <p:sp>
        <p:nvSpPr>
          <p:cNvPr id="12" name="Text 10"/>
          <p:cNvSpPr/>
          <p:nvPr/>
        </p:nvSpPr>
        <p:spPr>
          <a:xfrm>
            <a:off x="9779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ABDALLAH</a:t>
            </a:r>
            <a:endParaRPr lang="en-US" sz="1200" dirty="0"/>
          </a:p>
        </p:txBody>
      </p:sp>
      <p:sp>
        <p:nvSpPr>
          <p:cNvPr id="13" name="Text 11"/>
          <p:cNvSpPr/>
          <p:nvPr/>
        </p:nvSpPr>
        <p:spPr>
          <a:xfrm>
            <a:off x="977900" y="2979142"/>
            <a:ext cx="481380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Now he have to think befor you lere.</a:t>
            </a:r>
            <a:endParaRPr lang="en-US" sz="1400" dirty="0"/>
          </a:p>
        </p:txBody>
      </p:sp>
      <p:sp>
        <p:nvSpPr>
          <p:cNvPr id="14" name="Text 12"/>
          <p:cNvSpPr/>
          <p:nvPr/>
        </p:nvSpPr>
        <p:spPr>
          <a:xfrm>
            <a:off x="5892800" y="2792413"/>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6375400" y="2651522"/>
            <a:ext cx="5003800" cy="673001"/>
          </a:xfrm>
          <a:prstGeom prst="roundRect">
            <a:avLst>
              <a:gd name="adj" fmla="val 13209"/>
            </a:avLst>
          </a:prstGeom>
          <a:solidFill>
            <a:srgbClr val="E3EEF9"/>
          </a:solidFill>
          <a:ln/>
        </p:spPr>
      </p:sp>
      <p:sp>
        <p:nvSpPr>
          <p:cNvPr id="16" name="Text 14"/>
          <p:cNvSpPr/>
          <p:nvPr/>
        </p:nvSpPr>
        <p:spPr>
          <a:xfrm>
            <a:off x="65405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7" name="Text 15"/>
          <p:cNvSpPr/>
          <p:nvPr/>
        </p:nvSpPr>
        <p:spPr>
          <a:xfrm>
            <a:off x="6540500" y="2979142"/>
            <a:ext cx="481380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Think before you act, or you may regret it.</a:t>
            </a:r>
            <a:endParaRPr lang="en-US" sz="1400" dirty="0"/>
          </a:p>
        </p:txBody>
      </p:sp>
      <p:sp>
        <p:nvSpPr>
          <p:cNvPr id="18" name="Shape 16"/>
          <p:cNvSpPr/>
          <p:nvPr/>
        </p:nvSpPr>
        <p:spPr>
          <a:xfrm>
            <a:off x="812800" y="3502323"/>
            <a:ext cx="5003800" cy="904081"/>
          </a:xfrm>
          <a:prstGeom prst="roundRect">
            <a:avLst>
              <a:gd name="adj" fmla="val 9833"/>
            </a:avLst>
          </a:prstGeom>
          <a:solidFill>
            <a:srgbClr val="F6E3E0"/>
          </a:solidFill>
          <a:ln/>
        </p:spPr>
      </p:sp>
      <p:sp>
        <p:nvSpPr>
          <p:cNvPr id="19" name="Text 17"/>
          <p:cNvSpPr/>
          <p:nvPr/>
        </p:nvSpPr>
        <p:spPr>
          <a:xfrm>
            <a:off x="977900" y="361662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ALI</a:t>
            </a:r>
            <a:endParaRPr lang="en-US" sz="1200" dirty="0"/>
          </a:p>
        </p:txBody>
      </p:sp>
      <p:sp>
        <p:nvSpPr>
          <p:cNvPr id="20" name="Text 18"/>
          <p:cNvSpPr/>
          <p:nvPr/>
        </p:nvSpPr>
        <p:spPr>
          <a:xfrm>
            <a:off x="977900" y="3829943"/>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You should be kindly. (the same sentence after each paragraph)</a:t>
            </a:r>
            <a:endParaRPr lang="en-US" sz="1400" dirty="0"/>
          </a:p>
        </p:txBody>
      </p:sp>
      <p:sp>
        <p:nvSpPr>
          <p:cNvPr id="21" name="Text 19"/>
          <p:cNvSpPr/>
          <p:nvPr/>
        </p:nvSpPr>
        <p:spPr>
          <a:xfrm>
            <a:off x="5892800" y="3758803"/>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22" name="Shape 20"/>
          <p:cNvSpPr/>
          <p:nvPr/>
        </p:nvSpPr>
        <p:spPr>
          <a:xfrm>
            <a:off x="6375400" y="3502323"/>
            <a:ext cx="5003800" cy="904081"/>
          </a:xfrm>
          <a:prstGeom prst="roundRect">
            <a:avLst>
              <a:gd name="adj" fmla="val 9833"/>
            </a:avLst>
          </a:prstGeom>
          <a:solidFill>
            <a:srgbClr val="E3EEF9"/>
          </a:solidFill>
          <a:ln/>
        </p:spPr>
      </p:sp>
      <p:sp>
        <p:nvSpPr>
          <p:cNvPr id="23" name="Text 21"/>
          <p:cNvSpPr/>
          <p:nvPr/>
        </p:nvSpPr>
        <p:spPr>
          <a:xfrm>
            <a:off x="6540500" y="361662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24" name="Text 22"/>
          <p:cNvSpPr/>
          <p:nvPr/>
        </p:nvSpPr>
        <p:spPr>
          <a:xfrm>
            <a:off x="6540500" y="3829943"/>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 kind to others, or you may be left alone. (once, at the very end)</a:t>
            </a:r>
            <a:endParaRPr lang="en-US" sz="1400" dirty="0"/>
          </a:p>
        </p:txBody>
      </p:sp>
      <p:sp>
        <p:nvSpPr>
          <p:cNvPr id="25" name="Shape 23"/>
          <p:cNvSpPr/>
          <p:nvPr/>
        </p:nvSpPr>
        <p:spPr>
          <a:xfrm>
            <a:off x="812800" y="4584204"/>
            <a:ext cx="10566400" cy="434280"/>
          </a:xfrm>
          <a:prstGeom prst="roundRect">
            <a:avLst>
              <a:gd name="adj" fmla="val 20471"/>
            </a:avLst>
          </a:prstGeom>
          <a:solidFill>
            <a:srgbClr val="DFF0E4"/>
          </a:solidFill>
          <a:ln/>
        </p:spPr>
      </p:sp>
      <p:sp>
        <p:nvSpPr>
          <p:cNvPr id="26" name="Text 24"/>
          <p:cNvSpPr/>
          <p:nvPr/>
        </p:nvSpPr>
        <p:spPr>
          <a:xfrm>
            <a:off x="990600" y="4694634"/>
            <a:ext cx="14450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MORAL FRAMES</a:t>
            </a:r>
            <a:endParaRPr lang="en-US" sz="1200" dirty="0"/>
          </a:p>
        </p:txBody>
      </p:sp>
      <p:sp>
        <p:nvSpPr>
          <p:cNvPr id="27" name="Text 25"/>
          <p:cNvSpPr/>
          <p:nvPr/>
        </p:nvSpPr>
        <p:spPr>
          <a:xfrm>
            <a:off x="2435622" y="4685804"/>
            <a:ext cx="5171956"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Do ___, or ___. A ___ who ___ may ___. ___, but ___.</a:t>
            </a:r>
            <a:endParaRPr lang="en-US" sz="1400" dirty="0"/>
          </a:p>
        </p:txBody>
      </p:sp>
      <p:sp>
        <p:nvSpPr>
          <p:cNvPr id="28" name="Text 26"/>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Circle any names in your moral. If you see a name, rewrite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3 (continued): add the missing moral</a:t>
            </a:r>
            <a:endParaRPr lang="en-US" sz="2800" dirty="0"/>
          </a:p>
        </p:txBody>
      </p:sp>
      <p:sp>
        <p:nvSpPr>
          <p:cNvPr id="4" name="Shape 2"/>
          <p:cNvSpPr/>
          <p:nvPr/>
        </p:nvSpPr>
        <p:spPr>
          <a:xfrm>
            <a:off x="812800" y="1569641"/>
            <a:ext cx="5003800" cy="904081"/>
          </a:xfrm>
          <a:prstGeom prst="roundRect">
            <a:avLst>
              <a:gd name="adj" fmla="val 9833"/>
            </a:avLst>
          </a:prstGeom>
          <a:solidFill>
            <a:srgbClr val="F6E3E0"/>
          </a:solidFill>
          <a:ln/>
        </p:spPr>
      </p:sp>
      <p:sp>
        <p:nvSpPr>
          <p:cNvPr id="5" name="Text 3"/>
          <p:cNvSpPr/>
          <p:nvPr/>
        </p:nvSpPr>
        <p:spPr>
          <a:xfrm>
            <a:off x="9779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NOOR (TIGER)</a:t>
            </a:r>
            <a:endParaRPr lang="en-US" sz="1200" dirty="0"/>
          </a:p>
        </p:txBody>
      </p:sp>
      <p:sp>
        <p:nvSpPr>
          <p:cNvPr id="6" name="Text 4"/>
          <p:cNvSpPr/>
          <p:nvPr/>
        </p:nvSpPr>
        <p:spPr>
          <a:xfrm>
            <a:off x="977900" y="1897261"/>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Paragraph 4 ends with a long thank-you speech. There is no moral.</a:t>
            </a:r>
            <a:endParaRPr lang="en-US" sz="1400" dirty="0"/>
          </a:p>
        </p:txBody>
      </p:sp>
      <p:sp>
        <p:nvSpPr>
          <p:cNvPr id="7" name="Text 5"/>
          <p:cNvSpPr/>
          <p:nvPr/>
        </p:nvSpPr>
        <p:spPr>
          <a:xfrm>
            <a:off x="5892800" y="1826121"/>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6375400" y="1685131"/>
            <a:ext cx="5003800" cy="673001"/>
          </a:xfrm>
          <a:prstGeom prst="roundRect">
            <a:avLst>
              <a:gd name="adj" fmla="val 13209"/>
            </a:avLst>
          </a:prstGeom>
          <a:solidFill>
            <a:srgbClr val="E3EEF9"/>
          </a:solidFill>
          <a:ln/>
        </p:spPr>
      </p:sp>
      <p:sp>
        <p:nvSpPr>
          <p:cNvPr id="9" name="Text 7"/>
          <p:cNvSpPr/>
          <p:nvPr/>
        </p:nvSpPr>
        <p:spPr>
          <a:xfrm>
            <a:off x="6540500" y="179943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0" name="Text 8"/>
          <p:cNvSpPr/>
          <p:nvPr/>
        </p:nvSpPr>
        <p:spPr>
          <a:xfrm>
            <a:off x="6540500" y="2012752"/>
            <a:ext cx="481380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Moral: Patience catches more than speed.</a:t>
            </a:r>
            <a:endParaRPr lang="en-US" sz="1400" dirty="0"/>
          </a:p>
        </p:txBody>
      </p:sp>
      <p:sp>
        <p:nvSpPr>
          <p:cNvPr id="11" name="Shape 9"/>
          <p:cNvSpPr/>
          <p:nvPr/>
        </p:nvSpPr>
        <p:spPr>
          <a:xfrm>
            <a:off x="812800" y="2651522"/>
            <a:ext cx="5003800" cy="904081"/>
          </a:xfrm>
          <a:prstGeom prst="roundRect">
            <a:avLst>
              <a:gd name="adj" fmla="val 9833"/>
            </a:avLst>
          </a:prstGeom>
          <a:solidFill>
            <a:srgbClr val="F6E3E0"/>
          </a:solidFill>
          <a:ln/>
        </p:spPr>
      </p:sp>
      <p:sp>
        <p:nvSpPr>
          <p:cNvPr id="12" name="Text 10"/>
          <p:cNvSpPr/>
          <p:nvPr/>
        </p:nvSpPr>
        <p:spPr>
          <a:xfrm>
            <a:off x="9779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KINAN</a:t>
            </a:r>
            <a:endParaRPr lang="en-US" sz="1200" dirty="0"/>
          </a:p>
        </p:txBody>
      </p:sp>
      <p:sp>
        <p:nvSpPr>
          <p:cNvPr id="13" name="Text 11"/>
          <p:cNvSpPr/>
          <p:nvPr/>
        </p:nvSpPr>
        <p:spPr>
          <a:xfrm>
            <a:off x="977900" y="2979142"/>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…he should prepare for winter and think ahead instead of playing. (no moral)</a:t>
            </a:r>
            <a:endParaRPr lang="en-US" sz="1400" dirty="0"/>
          </a:p>
        </p:txBody>
      </p:sp>
      <p:sp>
        <p:nvSpPr>
          <p:cNvPr id="14" name="Text 12"/>
          <p:cNvSpPr/>
          <p:nvPr/>
        </p:nvSpPr>
        <p:spPr>
          <a:xfrm>
            <a:off x="5892800" y="2908002"/>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6375400" y="2767013"/>
            <a:ext cx="5003800" cy="673001"/>
          </a:xfrm>
          <a:prstGeom prst="roundRect">
            <a:avLst>
              <a:gd name="adj" fmla="val 13209"/>
            </a:avLst>
          </a:prstGeom>
          <a:solidFill>
            <a:srgbClr val="E3EEF9"/>
          </a:solidFill>
          <a:ln/>
        </p:spPr>
      </p:sp>
      <p:sp>
        <p:nvSpPr>
          <p:cNvPr id="16" name="Text 14"/>
          <p:cNvSpPr/>
          <p:nvPr/>
        </p:nvSpPr>
        <p:spPr>
          <a:xfrm>
            <a:off x="6540500" y="288131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7" name="Text 15"/>
          <p:cNvSpPr/>
          <p:nvPr/>
        </p:nvSpPr>
        <p:spPr>
          <a:xfrm>
            <a:off x="6540500" y="3094633"/>
            <a:ext cx="481380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Moral: Prepare ahead, or you may go cold and hungry.</a:t>
            </a:r>
            <a:endParaRPr lang="en-US" sz="1400" dirty="0"/>
          </a:p>
        </p:txBody>
      </p:sp>
      <p:sp>
        <p:nvSpPr>
          <p:cNvPr id="18" name="Shape 16"/>
          <p:cNvSpPr/>
          <p:nvPr/>
        </p:nvSpPr>
        <p:spPr>
          <a:xfrm>
            <a:off x="812800" y="3733403"/>
            <a:ext cx="5003800" cy="673001"/>
          </a:xfrm>
          <a:prstGeom prst="roundRect">
            <a:avLst>
              <a:gd name="adj" fmla="val 13209"/>
            </a:avLst>
          </a:prstGeom>
          <a:solidFill>
            <a:srgbClr val="F6E3E0"/>
          </a:solidFill>
          <a:ln/>
        </p:spPr>
      </p:sp>
      <p:sp>
        <p:nvSpPr>
          <p:cNvPr id="19" name="Text 17"/>
          <p:cNvSpPr/>
          <p:nvPr/>
        </p:nvSpPr>
        <p:spPr>
          <a:xfrm>
            <a:off x="977900" y="384770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DANA</a:t>
            </a:r>
            <a:endParaRPr lang="en-US" sz="1200" dirty="0"/>
          </a:p>
        </p:txBody>
      </p:sp>
      <p:sp>
        <p:nvSpPr>
          <p:cNvPr id="20" name="Text 18"/>
          <p:cNvSpPr/>
          <p:nvPr/>
        </p:nvSpPr>
        <p:spPr>
          <a:xfrm>
            <a:off x="977900" y="4061023"/>
            <a:ext cx="481380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The lion is bad… (no moral)</a:t>
            </a:r>
            <a:endParaRPr lang="en-US" sz="1400" dirty="0"/>
          </a:p>
        </p:txBody>
      </p:sp>
      <p:sp>
        <p:nvSpPr>
          <p:cNvPr id="21" name="Text 19"/>
          <p:cNvSpPr/>
          <p:nvPr/>
        </p:nvSpPr>
        <p:spPr>
          <a:xfrm>
            <a:off x="5892800" y="3874294"/>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22" name="Shape 20"/>
          <p:cNvSpPr/>
          <p:nvPr/>
        </p:nvSpPr>
        <p:spPr>
          <a:xfrm>
            <a:off x="6375400" y="3733403"/>
            <a:ext cx="5003800" cy="673001"/>
          </a:xfrm>
          <a:prstGeom prst="roundRect">
            <a:avLst>
              <a:gd name="adj" fmla="val 13209"/>
            </a:avLst>
          </a:prstGeom>
          <a:solidFill>
            <a:srgbClr val="E3EEF9"/>
          </a:solidFill>
          <a:ln/>
        </p:spPr>
      </p:sp>
      <p:sp>
        <p:nvSpPr>
          <p:cNvPr id="23" name="Text 21"/>
          <p:cNvSpPr/>
          <p:nvPr/>
        </p:nvSpPr>
        <p:spPr>
          <a:xfrm>
            <a:off x="6540500" y="384770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24" name="Text 22"/>
          <p:cNvSpPr/>
          <p:nvPr/>
        </p:nvSpPr>
        <p:spPr>
          <a:xfrm>
            <a:off x="6540500" y="4061023"/>
            <a:ext cx="481380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Moral: A bully who scares everyone may end up alone.</a:t>
            </a:r>
            <a:endParaRPr lang="en-US" sz="1400" dirty="0"/>
          </a:p>
        </p:txBody>
      </p:sp>
      <p:sp>
        <p:nvSpPr>
          <p:cNvPr id="25" name="Text 23"/>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Moral last: result, change, then moral.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4: punctuating speech</a:t>
            </a:r>
            <a:endParaRPr lang="en-US" sz="2800" dirty="0"/>
          </a:p>
        </p:txBody>
      </p:sp>
      <p:sp>
        <p:nvSpPr>
          <p:cNvPr id="4" name="Shape 2"/>
          <p:cNvSpPr/>
          <p:nvPr/>
        </p:nvSpPr>
        <p:spPr>
          <a:xfrm>
            <a:off x="812800" y="1685131"/>
            <a:ext cx="5003800" cy="673001"/>
          </a:xfrm>
          <a:prstGeom prst="roundRect">
            <a:avLst>
              <a:gd name="adj" fmla="val 13209"/>
            </a:avLst>
          </a:prstGeom>
          <a:solidFill>
            <a:srgbClr val="F6E3E0"/>
          </a:solidFill>
          <a:ln/>
        </p:spPr>
      </p:sp>
      <p:sp>
        <p:nvSpPr>
          <p:cNvPr id="5" name="Text 3"/>
          <p:cNvSpPr/>
          <p:nvPr/>
        </p:nvSpPr>
        <p:spPr>
          <a:xfrm>
            <a:off x="977900" y="179943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NOOR (TIGER)</a:t>
            </a:r>
            <a:endParaRPr lang="en-US" sz="1200" dirty="0"/>
          </a:p>
        </p:txBody>
      </p:sp>
      <p:sp>
        <p:nvSpPr>
          <p:cNvPr id="6" name="Text 4"/>
          <p:cNvSpPr/>
          <p:nvPr/>
        </p:nvSpPr>
        <p:spPr>
          <a:xfrm>
            <a:off x="977900" y="2012752"/>
            <a:ext cx="481380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Jeffey screamed"Come on, just catch it already!"</a:t>
            </a:r>
            <a:endParaRPr lang="en-US" sz="1400" dirty="0"/>
          </a:p>
        </p:txBody>
      </p:sp>
      <p:sp>
        <p:nvSpPr>
          <p:cNvPr id="7" name="Text 5"/>
          <p:cNvSpPr/>
          <p:nvPr/>
        </p:nvSpPr>
        <p:spPr>
          <a:xfrm>
            <a:off x="5892800" y="1826121"/>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6375400" y="1569641"/>
            <a:ext cx="5003800" cy="904081"/>
          </a:xfrm>
          <a:prstGeom prst="roundRect">
            <a:avLst>
              <a:gd name="adj" fmla="val 9833"/>
            </a:avLst>
          </a:prstGeom>
          <a:solidFill>
            <a:srgbClr val="E3EEF9"/>
          </a:solidFill>
          <a:ln/>
        </p:spPr>
      </p:sp>
      <p:sp>
        <p:nvSpPr>
          <p:cNvPr id="9" name="Text 7"/>
          <p:cNvSpPr/>
          <p:nvPr/>
        </p:nvSpPr>
        <p:spPr>
          <a:xfrm>
            <a:off x="6540500" y="168394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0" name="Text 8"/>
          <p:cNvSpPr/>
          <p:nvPr/>
        </p:nvSpPr>
        <p:spPr>
          <a:xfrm>
            <a:off x="6540500" y="1897261"/>
            <a:ext cx="4813808"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Jeffrey screamed, “Come on, just catch it already!” (comma, then a space; spell the name the same way)</a:t>
            </a:r>
            <a:endParaRPr lang="en-US" sz="1400" dirty="0"/>
          </a:p>
        </p:txBody>
      </p:sp>
      <p:sp>
        <p:nvSpPr>
          <p:cNvPr id="11" name="Shape 9"/>
          <p:cNvSpPr/>
          <p:nvPr/>
        </p:nvSpPr>
        <p:spPr>
          <a:xfrm>
            <a:off x="812800" y="2758777"/>
            <a:ext cx="5003800" cy="656530"/>
          </a:xfrm>
          <a:prstGeom prst="roundRect">
            <a:avLst>
              <a:gd name="adj" fmla="val 13541"/>
            </a:avLst>
          </a:prstGeom>
          <a:solidFill>
            <a:srgbClr val="F6E3E0"/>
          </a:solidFill>
          <a:ln/>
        </p:spPr>
      </p:sp>
      <p:sp>
        <p:nvSpPr>
          <p:cNvPr id="12" name="Text 10"/>
          <p:cNvSpPr/>
          <p:nvPr/>
        </p:nvSpPr>
        <p:spPr>
          <a:xfrm>
            <a:off x="977900" y="2873077"/>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KINAN</a:t>
            </a:r>
            <a:endParaRPr lang="en-US" sz="1200" dirty="0"/>
          </a:p>
        </p:txBody>
      </p:sp>
      <p:sp>
        <p:nvSpPr>
          <p:cNvPr id="13" name="Text 11"/>
          <p:cNvSpPr/>
          <p:nvPr/>
        </p:nvSpPr>
        <p:spPr>
          <a:xfrm>
            <a:off x="977900" y="3086398"/>
            <a:ext cx="4813808"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Then he ask the ant “would you help me”</a:t>
            </a:r>
            <a:endParaRPr lang="en-US" sz="1300" dirty="0"/>
          </a:p>
        </p:txBody>
      </p:sp>
      <p:sp>
        <p:nvSpPr>
          <p:cNvPr id="14" name="Text 12"/>
          <p:cNvSpPr/>
          <p:nvPr/>
        </p:nvSpPr>
        <p:spPr>
          <a:xfrm>
            <a:off x="5892800" y="2891532"/>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6375400" y="2651522"/>
            <a:ext cx="5003800" cy="871141"/>
          </a:xfrm>
          <a:prstGeom prst="roundRect">
            <a:avLst>
              <a:gd name="adj" fmla="val 10205"/>
            </a:avLst>
          </a:prstGeom>
          <a:solidFill>
            <a:srgbClr val="E3EEF9"/>
          </a:solidFill>
          <a:ln/>
        </p:spPr>
      </p:sp>
      <p:sp>
        <p:nvSpPr>
          <p:cNvPr id="16" name="Text 14"/>
          <p:cNvSpPr/>
          <p:nvPr/>
        </p:nvSpPr>
        <p:spPr>
          <a:xfrm>
            <a:off x="6540500" y="2765822"/>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17" name="Text 15"/>
          <p:cNvSpPr/>
          <p:nvPr/>
        </p:nvSpPr>
        <p:spPr>
          <a:xfrm>
            <a:off x="6540500" y="2979142"/>
            <a:ext cx="4813808"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Then he asked the ant, “Would you help me?” (comma, capital letter, question mark inside)</a:t>
            </a:r>
            <a:endParaRPr lang="en-US" sz="1300" dirty="0"/>
          </a:p>
        </p:txBody>
      </p:sp>
      <p:sp>
        <p:nvSpPr>
          <p:cNvPr id="18" name="Shape 16"/>
          <p:cNvSpPr/>
          <p:nvPr/>
        </p:nvSpPr>
        <p:spPr>
          <a:xfrm>
            <a:off x="812800" y="3700463"/>
            <a:ext cx="5003800" cy="871141"/>
          </a:xfrm>
          <a:prstGeom prst="roundRect">
            <a:avLst>
              <a:gd name="adj" fmla="val 10205"/>
            </a:avLst>
          </a:prstGeom>
          <a:solidFill>
            <a:srgbClr val="F6E3E0"/>
          </a:solidFill>
          <a:ln/>
        </p:spPr>
      </p:sp>
      <p:sp>
        <p:nvSpPr>
          <p:cNvPr id="19" name="Text 17"/>
          <p:cNvSpPr/>
          <p:nvPr/>
        </p:nvSpPr>
        <p:spPr>
          <a:xfrm>
            <a:off x="977900" y="381476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NOOR (TIGER)</a:t>
            </a:r>
            <a:endParaRPr lang="en-US" sz="1200" dirty="0"/>
          </a:p>
        </p:txBody>
      </p:sp>
      <p:sp>
        <p:nvSpPr>
          <p:cNvPr id="20" name="Text 18"/>
          <p:cNvSpPr/>
          <p:nvPr/>
        </p:nvSpPr>
        <p:spPr>
          <a:xfrm>
            <a:off x="977900" y="4028083"/>
            <a:ext cx="4813808"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Thank you so much I don’t know how to repay your kindness I promise I’ll listen…</a:t>
            </a:r>
            <a:endParaRPr lang="en-US" sz="1300" dirty="0"/>
          </a:p>
        </p:txBody>
      </p:sp>
      <p:sp>
        <p:nvSpPr>
          <p:cNvPr id="21" name="Text 19"/>
          <p:cNvSpPr/>
          <p:nvPr/>
        </p:nvSpPr>
        <p:spPr>
          <a:xfrm>
            <a:off x="5892800" y="3940473"/>
            <a:ext cx="40640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22" name="Shape 20"/>
          <p:cNvSpPr/>
          <p:nvPr/>
        </p:nvSpPr>
        <p:spPr>
          <a:xfrm>
            <a:off x="6375400" y="3700463"/>
            <a:ext cx="5003800" cy="871141"/>
          </a:xfrm>
          <a:prstGeom prst="roundRect">
            <a:avLst>
              <a:gd name="adj" fmla="val 10205"/>
            </a:avLst>
          </a:prstGeom>
          <a:solidFill>
            <a:srgbClr val="E3EEF9"/>
          </a:solidFill>
          <a:ln/>
        </p:spPr>
      </p:sp>
      <p:sp>
        <p:nvSpPr>
          <p:cNvPr id="23" name="Text 21"/>
          <p:cNvSpPr/>
          <p:nvPr/>
        </p:nvSpPr>
        <p:spPr>
          <a:xfrm>
            <a:off x="6540500" y="3814763"/>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 VERSION</a:t>
            </a:r>
            <a:endParaRPr lang="en-US" sz="1200" dirty="0"/>
          </a:p>
        </p:txBody>
      </p:sp>
      <p:sp>
        <p:nvSpPr>
          <p:cNvPr id="24" name="Text 22"/>
          <p:cNvSpPr/>
          <p:nvPr/>
        </p:nvSpPr>
        <p:spPr>
          <a:xfrm>
            <a:off x="6540500" y="4028083"/>
            <a:ext cx="4813808"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“Thank you so much. I don’t know how to repay your kindness. I promise I will listen.” (short sentences, full stops)</a:t>
            </a:r>
            <a:endParaRPr lang="en-US" sz="1300" dirty="0"/>
          </a:p>
        </p:txBody>
      </p:sp>
      <p:sp>
        <p:nvSpPr>
          <p:cNvPr id="25" name="Text 23"/>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Speech: , then “ speech ” with the end mark inside.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5: make the verbs agree</a:t>
            </a:r>
            <a:endParaRPr lang="en-US" sz="2800" dirty="0"/>
          </a:p>
        </p:txBody>
      </p:sp>
      <p:sp>
        <p:nvSpPr>
          <p:cNvPr id="4" name="Shape 2"/>
          <p:cNvSpPr/>
          <p:nvPr/>
        </p:nvSpPr>
        <p:spPr>
          <a:xfrm>
            <a:off x="812800" y="1569641"/>
            <a:ext cx="5219700" cy="639961"/>
          </a:xfrm>
          <a:prstGeom prst="roundRect">
            <a:avLst>
              <a:gd name="adj" fmla="val 11907"/>
            </a:avLst>
          </a:prstGeom>
          <a:solidFill>
            <a:srgbClr val="F6E3E0"/>
          </a:solidFill>
          <a:ln/>
        </p:spPr>
      </p:sp>
      <p:sp>
        <p:nvSpPr>
          <p:cNvPr id="5" name="Text 3"/>
          <p:cNvSpPr/>
          <p:nvPr/>
        </p:nvSpPr>
        <p:spPr>
          <a:xfrm>
            <a:off x="965200" y="1658541"/>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ABDALLAH</a:t>
            </a:r>
            <a:endParaRPr lang="en-US" sz="1200" dirty="0"/>
          </a:p>
        </p:txBody>
      </p:sp>
      <p:sp>
        <p:nvSpPr>
          <p:cNvPr id="6" name="Text 4"/>
          <p:cNvSpPr/>
          <p:nvPr/>
        </p:nvSpPr>
        <p:spPr>
          <a:xfrm>
            <a:off x="965200" y="1871861"/>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…it have lock</a:t>
            </a:r>
            <a:endParaRPr lang="en-US" sz="1400" dirty="0"/>
          </a:p>
        </p:txBody>
      </p:sp>
      <p:sp>
        <p:nvSpPr>
          <p:cNvPr id="7" name="Shape 5"/>
          <p:cNvSpPr/>
          <p:nvPr/>
        </p:nvSpPr>
        <p:spPr>
          <a:xfrm>
            <a:off x="6159500" y="1569641"/>
            <a:ext cx="5219700" cy="639961"/>
          </a:xfrm>
          <a:prstGeom prst="roundRect">
            <a:avLst>
              <a:gd name="adj" fmla="val 11907"/>
            </a:avLst>
          </a:prstGeom>
          <a:solidFill>
            <a:srgbClr val="E3EEF9"/>
          </a:solidFill>
          <a:ln/>
        </p:spPr>
      </p:sp>
      <p:sp>
        <p:nvSpPr>
          <p:cNvPr id="8" name="Text 6"/>
          <p:cNvSpPr/>
          <p:nvPr/>
        </p:nvSpPr>
        <p:spPr>
          <a:xfrm>
            <a:off x="6311900" y="1658541"/>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a:t>
            </a:r>
            <a:endParaRPr lang="en-US" sz="1200" dirty="0"/>
          </a:p>
        </p:txBody>
      </p:sp>
      <p:sp>
        <p:nvSpPr>
          <p:cNvPr id="9" name="Text 7"/>
          <p:cNvSpPr/>
          <p:nvPr/>
        </p:nvSpPr>
        <p:spPr>
          <a:xfrm>
            <a:off x="6311900" y="1871861"/>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…it had a lock</a:t>
            </a:r>
            <a:endParaRPr lang="en-US" sz="1400" dirty="0"/>
          </a:p>
        </p:txBody>
      </p:sp>
      <p:sp>
        <p:nvSpPr>
          <p:cNvPr id="10" name="Shape 8"/>
          <p:cNvSpPr/>
          <p:nvPr/>
        </p:nvSpPr>
        <p:spPr>
          <a:xfrm>
            <a:off x="812800" y="2298502"/>
            <a:ext cx="5219700" cy="639961"/>
          </a:xfrm>
          <a:prstGeom prst="roundRect">
            <a:avLst>
              <a:gd name="adj" fmla="val 11907"/>
            </a:avLst>
          </a:prstGeom>
          <a:solidFill>
            <a:srgbClr val="F6E3E0"/>
          </a:solidFill>
          <a:ln/>
        </p:spPr>
      </p:sp>
      <p:sp>
        <p:nvSpPr>
          <p:cNvPr id="11" name="Text 9"/>
          <p:cNvSpPr/>
          <p:nvPr/>
        </p:nvSpPr>
        <p:spPr>
          <a:xfrm>
            <a:off x="965200" y="2387402"/>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SEIF</a:t>
            </a:r>
            <a:endParaRPr lang="en-US" sz="1200" dirty="0"/>
          </a:p>
        </p:txBody>
      </p:sp>
      <p:sp>
        <p:nvSpPr>
          <p:cNvPr id="12" name="Text 10"/>
          <p:cNvSpPr/>
          <p:nvPr/>
        </p:nvSpPr>
        <p:spPr>
          <a:xfrm>
            <a:off x="965200" y="2600722"/>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he went to the fox and say…</a:t>
            </a:r>
            <a:endParaRPr lang="en-US" sz="1400" dirty="0"/>
          </a:p>
        </p:txBody>
      </p:sp>
      <p:sp>
        <p:nvSpPr>
          <p:cNvPr id="13" name="Shape 11"/>
          <p:cNvSpPr/>
          <p:nvPr/>
        </p:nvSpPr>
        <p:spPr>
          <a:xfrm>
            <a:off x="6159500" y="2298502"/>
            <a:ext cx="5219700" cy="639961"/>
          </a:xfrm>
          <a:prstGeom prst="roundRect">
            <a:avLst>
              <a:gd name="adj" fmla="val 11907"/>
            </a:avLst>
          </a:prstGeom>
          <a:solidFill>
            <a:srgbClr val="E3EEF9"/>
          </a:solidFill>
          <a:ln/>
        </p:spPr>
      </p:sp>
      <p:sp>
        <p:nvSpPr>
          <p:cNvPr id="14" name="Text 12"/>
          <p:cNvSpPr/>
          <p:nvPr/>
        </p:nvSpPr>
        <p:spPr>
          <a:xfrm>
            <a:off x="6311900" y="2387402"/>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a:t>
            </a:r>
            <a:endParaRPr lang="en-US" sz="1200" dirty="0"/>
          </a:p>
        </p:txBody>
      </p:sp>
      <p:sp>
        <p:nvSpPr>
          <p:cNvPr id="15" name="Text 13"/>
          <p:cNvSpPr/>
          <p:nvPr/>
        </p:nvSpPr>
        <p:spPr>
          <a:xfrm>
            <a:off x="6311900" y="2600722"/>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he went to the fox and said…</a:t>
            </a:r>
            <a:endParaRPr lang="en-US" sz="1400" dirty="0"/>
          </a:p>
        </p:txBody>
      </p:sp>
      <p:sp>
        <p:nvSpPr>
          <p:cNvPr id="16" name="Shape 14"/>
          <p:cNvSpPr/>
          <p:nvPr/>
        </p:nvSpPr>
        <p:spPr>
          <a:xfrm>
            <a:off x="812800" y="3027363"/>
            <a:ext cx="5219700" cy="639961"/>
          </a:xfrm>
          <a:prstGeom prst="roundRect">
            <a:avLst>
              <a:gd name="adj" fmla="val 11907"/>
            </a:avLst>
          </a:prstGeom>
          <a:solidFill>
            <a:srgbClr val="F6E3E0"/>
          </a:solidFill>
          <a:ln/>
        </p:spPr>
      </p:sp>
      <p:sp>
        <p:nvSpPr>
          <p:cNvPr id="17" name="Text 15"/>
          <p:cNvSpPr/>
          <p:nvPr/>
        </p:nvSpPr>
        <p:spPr>
          <a:xfrm>
            <a:off x="965200" y="311626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MAI</a:t>
            </a:r>
            <a:endParaRPr lang="en-US" sz="1200" dirty="0"/>
          </a:p>
        </p:txBody>
      </p:sp>
      <p:sp>
        <p:nvSpPr>
          <p:cNvPr id="18" name="Text 16"/>
          <p:cNvSpPr/>
          <p:nvPr/>
        </p:nvSpPr>
        <p:spPr>
          <a:xfrm>
            <a:off x="965200" y="3329583"/>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the animals that was bulling the owl</a:t>
            </a:r>
            <a:endParaRPr lang="en-US" sz="1400" dirty="0"/>
          </a:p>
        </p:txBody>
      </p:sp>
      <p:sp>
        <p:nvSpPr>
          <p:cNvPr id="19" name="Shape 17"/>
          <p:cNvSpPr/>
          <p:nvPr/>
        </p:nvSpPr>
        <p:spPr>
          <a:xfrm>
            <a:off x="6159500" y="3027363"/>
            <a:ext cx="5219700" cy="639961"/>
          </a:xfrm>
          <a:prstGeom prst="roundRect">
            <a:avLst>
              <a:gd name="adj" fmla="val 11907"/>
            </a:avLst>
          </a:prstGeom>
          <a:solidFill>
            <a:srgbClr val="E3EEF9"/>
          </a:solidFill>
          <a:ln/>
        </p:spPr>
      </p:sp>
      <p:sp>
        <p:nvSpPr>
          <p:cNvPr id="20" name="Text 18"/>
          <p:cNvSpPr/>
          <p:nvPr/>
        </p:nvSpPr>
        <p:spPr>
          <a:xfrm>
            <a:off x="6311900" y="311626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a:t>
            </a:r>
            <a:endParaRPr lang="en-US" sz="1200" dirty="0"/>
          </a:p>
        </p:txBody>
      </p:sp>
      <p:sp>
        <p:nvSpPr>
          <p:cNvPr id="21" name="Text 19"/>
          <p:cNvSpPr/>
          <p:nvPr/>
        </p:nvSpPr>
        <p:spPr>
          <a:xfrm>
            <a:off x="6311900" y="3329583"/>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the animals that were bullying the owl</a:t>
            </a:r>
            <a:endParaRPr lang="en-US" sz="1400" dirty="0"/>
          </a:p>
        </p:txBody>
      </p:sp>
      <p:sp>
        <p:nvSpPr>
          <p:cNvPr id="22" name="Shape 20"/>
          <p:cNvSpPr/>
          <p:nvPr/>
        </p:nvSpPr>
        <p:spPr>
          <a:xfrm>
            <a:off x="812800" y="3756223"/>
            <a:ext cx="5219700" cy="639961"/>
          </a:xfrm>
          <a:prstGeom prst="roundRect">
            <a:avLst>
              <a:gd name="adj" fmla="val 11907"/>
            </a:avLst>
          </a:prstGeom>
          <a:solidFill>
            <a:srgbClr val="F6E3E0"/>
          </a:solidFill>
          <a:ln/>
        </p:spPr>
      </p:sp>
      <p:sp>
        <p:nvSpPr>
          <p:cNvPr id="23" name="Text 21"/>
          <p:cNvSpPr/>
          <p:nvPr/>
        </p:nvSpPr>
        <p:spPr>
          <a:xfrm>
            <a:off x="965200" y="384512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JOUD (KOALA)</a:t>
            </a:r>
            <a:endParaRPr lang="en-US" sz="1200" dirty="0"/>
          </a:p>
        </p:txBody>
      </p:sp>
      <p:sp>
        <p:nvSpPr>
          <p:cNvPr id="24" name="Text 22"/>
          <p:cNvSpPr/>
          <p:nvPr/>
        </p:nvSpPr>
        <p:spPr>
          <a:xfrm>
            <a:off x="965200" y="4058444"/>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she didn’t found any food</a:t>
            </a:r>
            <a:endParaRPr lang="en-US" sz="1400" dirty="0"/>
          </a:p>
        </p:txBody>
      </p:sp>
      <p:sp>
        <p:nvSpPr>
          <p:cNvPr id="25" name="Shape 23"/>
          <p:cNvSpPr/>
          <p:nvPr/>
        </p:nvSpPr>
        <p:spPr>
          <a:xfrm>
            <a:off x="6159500" y="3756223"/>
            <a:ext cx="5219700" cy="639961"/>
          </a:xfrm>
          <a:prstGeom prst="roundRect">
            <a:avLst>
              <a:gd name="adj" fmla="val 11907"/>
            </a:avLst>
          </a:prstGeom>
          <a:solidFill>
            <a:srgbClr val="E3EEF9"/>
          </a:solidFill>
          <a:ln/>
        </p:spPr>
      </p:sp>
      <p:sp>
        <p:nvSpPr>
          <p:cNvPr id="26" name="Text 24"/>
          <p:cNvSpPr/>
          <p:nvPr/>
        </p:nvSpPr>
        <p:spPr>
          <a:xfrm>
            <a:off x="6311900" y="384512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a:t>
            </a:r>
            <a:endParaRPr lang="en-US" sz="1200" dirty="0"/>
          </a:p>
        </p:txBody>
      </p:sp>
      <p:sp>
        <p:nvSpPr>
          <p:cNvPr id="27" name="Text 25"/>
          <p:cNvSpPr/>
          <p:nvPr/>
        </p:nvSpPr>
        <p:spPr>
          <a:xfrm>
            <a:off x="6311900" y="4058444"/>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she didn’t find any food</a:t>
            </a:r>
            <a:endParaRPr lang="en-US" sz="1400" dirty="0"/>
          </a:p>
        </p:txBody>
      </p:sp>
      <p:sp>
        <p:nvSpPr>
          <p:cNvPr id="28" name="Shape 26"/>
          <p:cNvSpPr/>
          <p:nvPr/>
        </p:nvSpPr>
        <p:spPr>
          <a:xfrm>
            <a:off x="812800" y="4485084"/>
            <a:ext cx="5219700" cy="639961"/>
          </a:xfrm>
          <a:prstGeom prst="roundRect">
            <a:avLst>
              <a:gd name="adj" fmla="val 11907"/>
            </a:avLst>
          </a:prstGeom>
          <a:solidFill>
            <a:srgbClr val="F6E3E0"/>
          </a:solidFill>
          <a:ln/>
        </p:spPr>
      </p:sp>
      <p:sp>
        <p:nvSpPr>
          <p:cNvPr id="29" name="Text 27"/>
          <p:cNvSpPr/>
          <p:nvPr/>
        </p:nvSpPr>
        <p:spPr>
          <a:xfrm>
            <a:off x="965200" y="4573984"/>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B2C2C"/>
                </a:solidFill>
                <a:latin typeface="Arial" pitchFamily="34" charset="0"/>
                <a:ea typeface="Arial" pitchFamily="34" charset="-122"/>
                <a:cs typeface="Arial" pitchFamily="34" charset="-120"/>
              </a:rPr>
              <a:t>❌ KINAN</a:t>
            </a:r>
            <a:endParaRPr lang="en-US" sz="1200" dirty="0"/>
          </a:p>
        </p:txBody>
      </p:sp>
      <p:sp>
        <p:nvSpPr>
          <p:cNvPr id="30" name="Text 28"/>
          <p:cNvSpPr/>
          <p:nvPr/>
        </p:nvSpPr>
        <p:spPr>
          <a:xfrm>
            <a:off x="965200" y="4787305"/>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Then he ask the ant…</a:t>
            </a:r>
            <a:endParaRPr lang="en-US" sz="1400" dirty="0"/>
          </a:p>
        </p:txBody>
      </p:sp>
      <p:sp>
        <p:nvSpPr>
          <p:cNvPr id="31" name="Shape 29"/>
          <p:cNvSpPr/>
          <p:nvPr/>
        </p:nvSpPr>
        <p:spPr>
          <a:xfrm>
            <a:off x="6159500" y="4485084"/>
            <a:ext cx="5219700" cy="639961"/>
          </a:xfrm>
          <a:prstGeom prst="roundRect">
            <a:avLst>
              <a:gd name="adj" fmla="val 11907"/>
            </a:avLst>
          </a:prstGeom>
          <a:solidFill>
            <a:srgbClr val="E3EEF9"/>
          </a:solidFill>
          <a:ln/>
        </p:spPr>
      </p:sp>
      <p:sp>
        <p:nvSpPr>
          <p:cNvPr id="32" name="Text 30"/>
          <p:cNvSpPr/>
          <p:nvPr/>
        </p:nvSpPr>
        <p:spPr>
          <a:xfrm>
            <a:off x="6311900" y="4573984"/>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5E9B"/>
                </a:solidFill>
                <a:latin typeface="Arial" pitchFamily="34" charset="0"/>
                <a:ea typeface="Arial" pitchFamily="34" charset="-122"/>
                <a:cs typeface="Arial" pitchFamily="34" charset="-120"/>
              </a:rPr>
              <a:t>✅ BETTER</a:t>
            </a:r>
            <a:endParaRPr lang="en-US" sz="1200" dirty="0"/>
          </a:p>
        </p:txBody>
      </p:sp>
      <p:sp>
        <p:nvSpPr>
          <p:cNvPr id="33" name="Text 31"/>
          <p:cNvSpPr/>
          <p:nvPr/>
        </p:nvSpPr>
        <p:spPr>
          <a:xfrm>
            <a:off x="6311900" y="4787305"/>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Then he asked the ant…</a:t>
            </a:r>
            <a:endParaRPr lang="en-US" sz="1400" dirty="0"/>
          </a:p>
        </p:txBody>
      </p:sp>
      <p:sp>
        <p:nvSpPr>
          <p:cNvPr id="34" name="Text 32"/>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One animal: it lives. Many animals: they live. Stay in the past tense.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FIX 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Problem 6: spelling, capitals and spaces</a:t>
            </a:r>
            <a:endParaRPr lang="en-US" sz="2800" dirty="0"/>
          </a:p>
        </p:txBody>
      </p:sp>
      <p:sp>
        <p:nvSpPr>
          <p:cNvPr id="4" name="Shape 2"/>
          <p:cNvSpPr/>
          <p:nvPr/>
        </p:nvSpPr>
        <p:spPr>
          <a:xfrm>
            <a:off x="819150" y="1575991"/>
            <a:ext cx="5207000" cy="627261"/>
          </a:xfrm>
          <a:prstGeom prst="roundRect">
            <a:avLst>
              <a:gd name="adj" fmla="val 11136"/>
            </a:avLst>
          </a:prstGeom>
          <a:solidFill>
            <a:srgbClr val="FFFFFF"/>
          </a:solidFill>
          <a:ln w="12700">
            <a:solidFill>
              <a:srgbClr val="D9DEE5"/>
            </a:solidFill>
            <a:prstDash val="solid"/>
          </a:ln>
        </p:spPr>
      </p:sp>
      <p:sp>
        <p:nvSpPr>
          <p:cNvPr id="5" name="Text 3"/>
          <p:cNvSpPr/>
          <p:nvPr/>
        </p:nvSpPr>
        <p:spPr>
          <a:xfrm>
            <a:off x="965200" y="1658541"/>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ABDALLAH</a:t>
            </a:r>
            <a:endParaRPr lang="en-US" sz="1200" dirty="0"/>
          </a:p>
        </p:txBody>
      </p:sp>
      <p:sp>
        <p:nvSpPr>
          <p:cNvPr id="6" name="Text 4"/>
          <p:cNvSpPr/>
          <p:nvPr/>
        </p:nvSpPr>
        <p:spPr>
          <a:xfrm>
            <a:off x="965200" y="1871861"/>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relized  ➜  ✅ realised</a:t>
            </a:r>
            <a:endParaRPr lang="en-US" sz="1400" dirty="0"/>
          </a:p>
        </p:txBody>
      </p:sp>
      <p:sp>
        <p:nvSpPr>
          <p:cNvPr id="7" name="Shape 5"/>
          <p:cNvSpPr/>
          <p:nvPr/>
        </p:nvSpPr>
        <p:spPr>
          <a:xfrm>
            <a:off x="6165850" y="1575991"/>
            <a:ext cx="5207000" cy="627261"/>
          </a:xfrm>
          <a:prstGeom prst="roundRect">
            <a:avLst>
              <a:gd name="adj" fmla="val 11136"/>
            </a:avLst>
          </a:prstGeom>
          <a:solidFill>
            <a:srgbClr val="FFFFFF"/>
          </a:solidFill>
          <a:ln w="12700">
            <a:solidFill>
              <a:srgbClr val="D9DEE5"/>
            </a:solidFill>
            <a:prstDash val="solid"/>
          </a:ln>
        </p:spPr>
      </p:sp>
      <p:sp>
        <p:nvSpPr>
          <p:cNvPr id="8" name="Text 6"/>
          <p:cNvSpPr/>
          <p:nvPr/>
        </p:nvSpPr>
        <p:spPr>
          <a:xfrm>
            <a:off x="6311900" y="1658541"/>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KINAN, JOUD</a:t>
            </a:r>
            <a:endParaRPr lang="en-US" sz="1200" dirty="0"/>
          </a:p>
        </p:txBody>
      </p:sp>
      <p:sp>
        <p:nvSpPr>
          <p:cNvPr id="9" name="Text 7"/>
          <p:cNvSpPr/>
          <p:nvPr/>
        </p:nvSpPr>
        <p:spPr>
          <a:xfrm>
            <a:off x="6311900" y="1871861"/>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prepar  ➜  ✅ prepare</a:t>
            </a:r>
            <a:endParaRPr lang="en-US" sz="1400" dirty="0"/>
          </a:p>
        </p:txBody>
      </p:sp>
      <p:sp>
        <p:nvSpPr>
          <p:cNvPr id="10" name="Shape 8"/>
          <p:cNvSpPr/>
          <p:nvPr/>
        </p:nvSpPr>
        <p:spPr>
          <a:xfrm>
            <a:off x="819150" y="2342952"/>
            <a:ext cx="5207000" cy="627261"/>
          </a:xfrm>
          <a:prstGeom prst="roundRect">
            <a:avLst>
              <a:gd name="adj" fmla="val 11136"/>
            </a:avLst>
          </a:prstGeom>
          <a:solidFill>
            <a:srgbClr val="FFFFFF"/>
          </a:solidFill>
          <a:ln w="12700">
            <a:solidFill>
              <a:srgbClr val="D9DEE5"/>
            </a:solidFill>
            <a:prstDash val="solid"/>
          </a:ln>
        </p:spPr>
      </p:sp>
      <p:sp>
        <p:nvSpPr>
          <p:cNvPr id="11" name="Text 9"/>
          <p:cNvSpPr/>
          <p:nvPr/>
        </p:nvSpPr>
        <p:spPr>
          <a:xfrm>
            <a:off x="965200" y="2425502"/>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KINAN</a:t>
            </a:r>
            <a:endParaRPr lang="en-US" sz="1200" dirty="0"/>
          </a:p>
        </p:txBody>
      </p:sp>
      <p:sp>
        <p:nvSpPr>
          <p:cNvPr id="12" name="Text 10"/>
          <p:cNvSpPr/>
          <p:nvPr/>
        </p:nvSpPr>
        <p:spPr>
          <a:xfrm>
            <a:off x="965200" y="2638822"/>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instel  ➜  ✅ instead</a:t>
            </a:r>
            <a:endParaRPr lang="en-US" sz="1400" dirty="0"/>
          </a:p>
        </p:txBody>
      </p:sp>
      <p:sp>
        <p:nvSpPr>
          <p:cNvPr id="13" name="Shape 11"/>
          <p:cNvSpPr/>
          <p:nvPr/>
        </p:nvSpPr>
        <p:spPr>
          <a:xfrm>
            <a:off x="6165850" y="2342952"/>
            <a:ext cx="5207000" cy="627261"/>
          </a:xfrm>
          <a:prstGeom prst="roundRect">
            <a:avLst>
              <a:gd name="adj" fmla="val 11136"/>
            </a:avLst>
          </a:prstGeom>
          <a:solidFill>
            <a:srgbClr val="FFFFFF"/>
          </a:solidFill>
          <a:ln w="12700">
            <a:solidFill>
              <a:srgbClr val="D9DEE5"/>
            </a:solidFill>
            <a:prstDash val="solid"/>
          </a:ln>
        </p:spPr>
      </p:sp>
      <p:sp>
        <p:nvSpPr>
          <p:cNvPr id="14" name="Text 12"/>
          <p:cNvSpPr/>
          <p:nvPr/>
        </p:nvSpPr>
        <p:spPr>
          <a:xfrm>
            <a:off x="6311900" y="2425502"/>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JOUD (KOALA)</a:t>
            </a:r>
            <a:endParaRPr lang="en-US" sz="1200" dirty="0"/>
          </a:p>
        </p:txBody>
      </p:sp>
      <p:sp>
        <p:nvSpPr>
          <p:cNvPr id="15" name="Text 13"/>
          <p:cNvSpPr/>
          <p:nvPr/>
        </p:nvSpPr>
        <p:spPr>
          <a:xfrm>
            <a:off x="6311900" y="2638822"/>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decieded  ➜  ✅ decided</a:t>
            </a:r>
            <a:endParaRPr lang="en-US" sz="1400" dirty="0"/>
          </a:p>
        </p:txBody>
      </p:sp>
      <p:sp>
        <p:nvSpPr>
          <p:cNvPr id="16" name="Shape 14"/>
          <p:cNvSpPr/>
          <p:nvPr/>
        </p:nvSpPr>
        <p:spPr>
          <a:xfrm>
            <a:off x="819150" y="3109913"/>
            <a:ext cx="5207000" cy="627261"/>
          </a:xfrm>
          <a:prstGeom prst="roundRect">
            <a:avLst>
              <a:gd name="adj" fmla="val 11136"/>
            </a:avLst>
          </a:prstGeom>
          <a:solidFill>
            <a:srgbClr val="FFFFFF"/>
          </a:solidFill>
          <a:ln w="12700">
            <a:solidFill>
              <a:srgbClr val="D9DEE5"/>
            </a:solidFill>
            <a:prstDash val="solid"/>
          </a:ln>
        </p:spPr>
      </p:sp>
      <p:sp>
        <p:nvSpPr>
          <p:cNvPr id="17" name="Text 15"/>
          <p:cNvSpPr/>
          <p:nvPr/>
        </p:nvSpPr>
        <p:spPr>
          <a:xfrm>
            <a:off x="965200" y="319246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FARIDA</a:t>
            </a:r>
            <a:endParaRPr lang="en-US" sz="1200" dirty="0"/>
          </a:p>
        </p:txBody>
      </p:sp>
      <p:sp>
        <p:nvSpPr>
          <p:cNvPr id="18" name="Text 16"/>
          <p:cNvSpPr/>
          <p:nvPr/>
        </p:nvSpPr>
        <p:spPr>
          <a:xfrm>
            <a:off x="965200" y="3405783"/>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Becuas  ➜  ✅ Because</a:t>
            </a:r>
            <a:endParaRPr lang="en-US" sz="1400" dirty="0"/>
          </a:p>
        </p:txBody>
      </p:sp>
      <p:sp>
        <p:nvSpPr>
          <p:cNvPr id="19" name="Shape 17"/>
          <p:cNvSpPr/>
          <p:nvPr/>
        </p:nvSpPr>
        <p:spPr>
          <a:xfrm>
            <a:off x="6165850" y="3109913"/>
            <a:ext cx="5207000" cy="627261"/>
          </a:xfrm>
          <a:prstGeom prst="roundRect">
            <a:avLst>
              <a:gd name="adj" fmla="val 11136"/>
            </a:avLst>
          </a:prstGeom>
          <a:solidFill>
            <a:srgbClr val="FFFFFF"/>
          </a:solidFill>
          <a:ln w="12700">
            <a:solidFill>
              <a:srgbClr val="D9DEE5"/>
            </a:solidFill>
            <a:prstDash val="solid"/>
          </a:ln>
        </p:spPr>
      </p:sp>
      <p:sp>
        <p:nvSpPr>
          <p:cNvPr id="20" name="Text 18"/>
          <p:cNvSpPr/>
          <p:nvPr/>
        </p:nvSpPr>
        <p:spPr>
          <a:xfrm>
            <a:off x="6311900" y="319246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METAWALLI</a:t>
            </a:r>
            <a:endParaRPr lang="en-US" sz="1200" dirty="0"/>
          </a:p>
        </p:txBody>
      </p:sp>
      <p:sp>
        <p:nvSpPr>
          <p:cNvPr id="21" name="Text 19"/>
          <p:cNvSpPr/>
          <p:nvPr/>
        </p:nvSpPr>
        <p:spPr>
          <a:xfrm>
            <a:off x="6311900" y="3405783"/>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stength  ➜  ✅ strength</a:t>
            </a:r>
            <a:endParaRPr lang="en-US" sz="1400" dirty="0"/>
          </a:p>
        </p:txBody>
      </p:sp>
      <p:sp>
        <p:nvSpPr>
          <p:cNvPr id="22" name="Shape 20"/>
          <p:cNvSpPr/>
          <p:nvPr/>
        </p:nvSpPr>
        <p:spPr>
          <a:xfrm>
            <a:off x="819150" y="3876873"/>
            <a:ext cx="5207000" cy="627261"/>
          </a:xfrm>
          <a:prstGeom prst="roundRect">
            <a:avLst>
              <a:gd name="adj" fmla="val 11136"/>
            </a:avLst>
          </a:prstGeom>
          <a:solidFill>
            <a:srgbClr val="FFFFFF"/>
          </a:solidFill>
          <a:ln w="12700">
            <a:solidFill>
              <a:srgbClr val="D9DEE5"/>
            </a:solidFill>
            <a:prstDash val="solid"/>
          </a:ln>
        </p:spPr>
      </p:sp>
      <p:sp>
        <p:nvSpPr>
          <p:cNvPr id="23" name="Text 21"/>
          <p:cNvSpPr/>
          <p:nvPr/>
        </p:nvSpPr>
        <p:spPr>
          <a:xfrm>
            <a:off x="965200" y="395942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METAWALLI</a:t>
            </a:r>
            <a:endParaRPr lang="en-US" sz="1200" dirty="0"/>
          </a:p>
        </p:txBody>
      </p:sp>
      <p:sp>
        <p:nvSpPr>
          <p:cNvPr id="24" name="Text 22"/>
          <p:cNvSpPr/>
          <p:nvPr/>
        </p:nvSpPr>
        <p:spPr>
          <a:xfrm>
            <a:off x="965200" y="4172744"/>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Throught  ➜  ✅ through</a:t>
            </a:r>
            <a:endParaRPr lang="en-US" sz="1400" dirty="0"/>
          </a:p>
        </p:txBody>
      </p:sp>
      <p:sp>
        <p:nvSpPr>
          <p:cNvPr id="25" name="Shape 23"/>
          <p:cNvSpPr/>
          <p:nvPr/>
        </p:nvSpPr>
        <p:spPr>
          <a:xfrm>
            <a:off x="6165850" y="3876873"/>
            <a:ext cx="5207000" cy="627261"/>
          </a:xfrm>
          <a:prstGeom prst="roundRect">
            <a:avLst>
              <a:gd name="adj" fmla="val 11136"/>
            </a:avLst>
          </a:prstGeom>
          <a:solidFill>
            <a:srgbClr val="FFFFFF"/>
          </a:solidFill>
          <a:ln w="12700">
            <a:solidFill>
              <a:srgbClr val="D9DEE5"/>
            </a:solidFill>
            <a:prstDash val="solid"/>
          </a:ln>
        </p:spPr>
      </p:sp>
      <p:sp>
        <p:nvSpPr>
          <p:cNvPr id="26" name="Text 24"/>
          <p:cNvSpPr/>
          <p:nvPr/>
        </p:nvSpPr>
        <p:spPr>
          <a:xfrm>
            <a:off x="6311900" y="3959423"/>
            <a:ext cx="506234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MAI</a:t>
            </a:r>
            <a:endParaRPr lang="en-US" sz="1200" dirty="0"/>
          </a:p>
        </p:txBody>
      </p:sp>
      <p:sp>
        <p:nvSpPr>
          <p:cNvPr id="27" name="Text 25"/>
          <p:cNvSpPr/>
          <p:nvPr/>
        </p:nvSpPr>
        <p:spPr>
          <a:xfrm>
            <a:off x="6311900" y="4172744"/>
            <a:ext cx="50623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 it’s head  ➜  ✅ its head</a:t>
            </a:r>
            <a:endParaRPr lang="en-US" sz="1400" dirty="0"/>
          </a:p>
        </p:txBody>
      </p:sp>
      <p:sp>
        <p:nvSpPr>
          <p:cNvPr id="28" name="Shape 26"/>
          <p:cNvSpPr/>
          <p:nvPr/>
        </p:nvSpPr>
        <p:spPr>
          <a:xfrm>
            <a:off x="812800" y="4688284"/>
            <a:ext cx="10566400" cy="434280"/>
          </a:xfrm>
          <a:prstGeom prst="roundRect">
            <a:avLst>
              <a:gd name="adj" fmla="val 20471"/>
            </a:avLst>
          </a:prstGeom>
          <a:solidFill>
            <a:srgbClr val="ECE4F6"/>
          </a:solidFill>
          <a:ln/>
        </p:spPr>
      </p:sp>
      <p:sp>
        <p:nvSpPr>
          <p:cNvPr id="29" name="Text 27"/>
          <p:cNvSpPr/>
          <p:nvPr/>
        </p:nvSpPr>
        <p:spPr>
          <a:xfrm>
            <a:off x="990600" y="4798715"/>
            <a:ext cx="197852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3FA0"/>
                </a:solidFill>
                <a:latin typeface="Arial" pitchFamily="34" charset="0"/>
                <a:ea typeface="Arial" pitchFamily="34" charset="-122"/>
                <a:cs typeface="Arial" pitchFamily="34" charset="-120"/>
              </a:rPr>
              <a:t>CAPITALS AND SPACES</a:t>
            </a:r>
            <a:endParaRPr lang="en-US" sz="1200" dirty="0"/>
          </a:p>
        </p:txBody>
      </p:sp>
      <p:sp>
        <p:nvSpPr>
          <p:cNvPr id="30" name="Text 28"/>
          <p:cNvSpPr/>
          <p:nvPr/>
        </p:nvSpPr>
        <p:spPr>
          <a:xfrm>
            <a:off x="2969121" y="4789884"/>
            <a:ext cx="8410079"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A capital to start every sentence (Ali, Mahmoud). A finger space between words (Mahmoud).</a:t>
            </a:r>
            <a:endParaRPr lang="en-US" sz="1400" dirty="0"/>
          </a:p>
        </p:txBody>
      </p:sp>
      <p:sp>
        <p:nvSpPr>
          <p:cNvPr id="31" name="Text 29"/>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Copy topic words carefully from your plan or the class word bank.</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PRACTISE</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Fix it fast</a:t>
            </a:r>
            <a:endParaRPr lang="en-US" sz="2800" dirty="0"/>
          </a:p>
        </p:txBody>
      </p:sp>
      <p:sp>
        <p:nvSpPr>
          <p:cNvPr id="4" name="Shape 2"/>
          <p:cNvSpPr/>
          <p:nvPr/>
        </p:nvSpPr>
        <p:spPr>
          <a:xfrm>
            <a:off x="819150" y="1575991"/>
            <a:ext cx="10553700" cy="764480"/>
          </a:xfrm>
          <a:prstGeom prst="roundRect">
            <a:avLst>
              <a:gd name="adj" fmla="val 9137"/>
            </a:avLst>
          </a:prstGeom>
          <a:solidFill>
            <a:srgbClr val="FFFFFF"/>
          </a:solidFill>
          <a:ln w="12700">
            <a:solidFill>
              <a:srgbClr val="D9DEE5"/>
            </a:solidFill>
            <a:prstDash val="solid"/>
          </a:ln>
        </p:spPr>
      </p:sp>
      <p:sp>
        <p:nvSpPr>
          <p:cNvPr id="5" name="Text 3"/>
          <p:cNvSpPr/>
          <p:nvPr/>
        </p:nvSpPr>
        <p:spPr>
          <a:xfrm>
            <a:off x="1003300" y="1709341"/>
            <a:ext cx="225028"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1</a:t>
            </a:r>
            <a:endParaRPr lang="en-US" sz="2800" dirty="0"/>
          </a:p>
        </p:txBody>
      </p:sp>
      <p:sp>
        <p:nvSpPr>
          <p:cNvPr id="6" name="Text 4"/>
          <p:cNvSpPr/>
          <p:nvPr/>
        </p:nvSpPr>
        <p:spPr>
          <a:xfrm>
            <a:off x="1329928" y="1719461"/>
            <a:ext cx="44954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NOOR (TIGER)</a:t>
            </a:r>
            <a:endParaRPr lang="en-US" sz="1200" dirty="0"/>
          </a:p>
        </p:txBody>
      </p:sp>
      <p:sp>
        <p:nvSpPr>
          <p:cNvPr id="7" name="Text 5"/>
          <p:cNvSpPr/>
          <p:nvPr/>
        </p:nvSpPr>
        <p:spPr>
          <a:xfrm>
            <a:off x="1329928" y="1932781"/>
            <a:ext cx="523744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Jeffey screamed"Come on, just catch it already!"</a:t>
            </a:r>
            <a:endParaRPr lang="en-US" sz="1600" dirty="0"/>
          </a:p>
        </p:txBody>
      </p:sp>
      <p:sp>
        <p:nvSpPr>
          <p:cNvPr id="8" name="Shape 6"/>
          <p:cNvSpPr/>
          <p:nvPr/>
        </p:nvSpPr>
        <p:spPr>
          <a:xfrm>
            <a:off x="819150" y="2454771"/>
            <a:ext cx="10553700" cy="764480"/>
          </a:xfrm>
          <a:prstGeom prst="roundRect">
            <a:avLst>
              <a:gd name="adj" fmla="val 9137"/>
            </a:avLst>
          </a:prstGeom>
          <a:solidFill>
            <a:srgbClr val="FFFFFF"/>
          </a:solidFill>
          <a:ln w="12700">
            <a:solidFill>
              <a:srgbClr val="D9DEE5"/>
            </a:solidFill>
            <a:prstDash val="solid"/>
          </a:ln>
        </p:spPr>
      </p:sp>
      <p:sp>
        <p:nvSpPr>
          <p:cNvPr id="9" name="Text 7"/>
          <p:cNvSpPr/>
          <p:nvPr/>
        </p:nvSpPr>
        <p:spPr>
          <a:xfrm>
            <a:off x="1003300" y="2588121"/>
            <a:ext cx="273645"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2</a:t>
            </a:r>
            <a:endParaRPr lang="en-US" sz="2800" dirty="0"/>
          </a:p>
        </p:txBody>
      </p:sp>
      <p:sp>
        <p:nvSpPr>
          <p:cNvPr id="10" name="Text 8"/>
          <p:cNvSpPr/>
          <p:nvPr/>
        </p:nvSpPr>
        <p:spPr>
          <a:xfrm>
            <a:off x="1378545" y="2598241"/>
            <a:ext cx="4192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MAI</a:t>
            </a:r>
            <a:endParaRPr lang="en-US" sz="1200" dirty="0"/>
          </a:p>
        </p:txBody>
      </p:sp>
      <p:sp>
        <p:nvSpPr>
          <p:cNvPr id="11" name="Text 9"/>
          <p:cNvSpPr/>
          <p:nvPr/>
        </p:nvSpPr>
        <p:spPr>
          <a:xfrm>
            <a:off x="1378545" y="2811562"/>
            <a:ext cx="4884063"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The small lowered it’s head and began to cry.</a:t>
            </a:r>
            <a:endParaRPr lang="en-US" sz="1600" dirty="0"/>
          </a:p>
        </p:txBody>
      </p:sp>
      <p:sp>
        <p:nvSpPr>
          <p:cNvPr id="12" name="Shape 10"/>
          <p:cNvSpPr/>
          <p:nvPr/>
        </p:nvSpPr>
        <p:spPr>
          <a:xfrm>
            <a:off x="819150" y="3333552"/>
            <a:ext cx="10553700" cy="764480"/>
          </a:xfrm>
          <a:prstGeom prst="roundRect">
            <a:avLst>
              <a:gd name="adj" fmla="val 9137"/>
            </a:avLst>
          </a:prstGeom>
          <a:solidFill>
            <a:srgbClr val="FFFFFF"/>
          </a:solidFill>
          <a:ln w="12700">
            <a:solidFill>
              <a:srgbClr val="D9DEE5"/>
            </a:solidFill>
            <a:prstDash val="solid"/>
          </a:ln>
        </p:spPr>
      </p:sp>
      <p:sp>
        <p:nvSpPr>
          <p:cNvPr id="13" name="Text 11"/>
          <p:cNvSpPr/>
          <p:nvPr/>
        </p:nvSpPr>
        <p:spPr>
          <a:xfrm>
            <a:off x="1003300" y="3466902"/>
            <a:ext cx="272951"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3</a:t>
            </a:r>
            <a:endParaRPr lang="en-US" sz="2800" dirty="0"/>
          </a:p>
        </p:txBody>
      </p:sp>
      <p:sp>
        <p:nvSpPr>
          <p:cNvPr id="14" name="Text 12"/>
          <p:cNvSpPr/>
          <p:nvPr/>
        </p:nvSpPr>
        <p:spPr>
          <a:xfrm>
            <a:off x="1377851" y="3477022"/>
            <a:ext cx="608491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KINAN</a:t>
            </a:r>
            <a:endParaRPr lang="en-US" sz="1200" dirty="0"/>
          </a:p>
        </p:txBody>
      </p:sp>
      <p:sp>
        <p:nvSpPr>
          <p:cNvPr id="15" name="Text 13"/>
          <p:cNvSpPr/>
          <p:nvPr/>
        </p:nvSpPr>
        <p:spPr>
          <a:xfrm>
            <a:off x="1377851" y="3690342"/>
            <a:ext cx="7089219"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Because the Grasshopper don’t prepar he so shivering and weak.</a:t>
            </a:r>
            <a:endParaRPr lang="en-US" sz="1600" dirty="0"/>
          </a:p>
        </p:txBody>
      </p:sp>
      <p:sp>
        <p:nvSpPr>
          <p:cNvPr id="16" name="Shape 14"/>
          <p:cNvSpPr/>
          <p:nvPr/>
        </p:nvSpPr>
        <p:spPr>
          <a:xfrm>
            <a:off x="819150" y="4212332"/>
            <a:ext cx="10553700" cy="764480"/>
          </a:xfrm>
          <a:prstGeom prst="roundRect">
            <a:avLst>
              <a:gd name="adj" fmla="val 9137"/>
            </a:avLst>
          </a:prstGeom>
          <a:solidFill>
            <a:srgbClr val="FFFFFF"/>
          </a:solidFill>
          <a:ln w="12700">
            <a:solidFill>
              <a:srgbClr val="D9DEE5"/>
            </a:solidFill>
            <a:prstDash val="solid"/>
          </a:ln>
        </p:spPr>
      </p:sp>
      <p:sp>
        <p:nvSpPr>
          <p:cNvPr id="17" name="Text 15"/>
          <p:cNvSpPr/>
          <p:nvPr/>
        </p:nvSpPr>
        <p:spPr>
          <a:xfrm>
            <a:off x="1003300" y="4345682"/>
            <a:ext cx="281781"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4</a:t>
            </a:r>
            <a:endParaRPr lang="en-US" sz="2800" dirty="0"/>
          </a:p>
        </p:txBody>
      </p:sp>
      <p:sp>
        <p:nvSpPr>
          <p:cNvPr id="18" name="Text 16"/>
          <p:cNvSpPr/>
          <p:nvPr/>
        </p:nvSpPr>
        <p:spPr>
          <a:xfrm>
            <a:off x="1386681" y="4355802"/>
            <a:ext cx="49792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Arial" pitchFamily="34" charset="0"/>
                <a:ea typeface="Arial" pitchFamily="34" charset="-122"/>
                <a:cs typeface="Arial" pitchFamily="34" charset="-120"/>
              </a:rPr>
              <a:t>FARIDA</a:t>
            </a:r>
            <a:endParaRPr lang="en-US" sz="1200" dirty="0"/>
          </a:p>
        </p:txBody>
      </p:sp>
      <p:sp>
        <p:nvSpPr>
          <p:cNvPr id="19" name="Text 17"/>
          <p:cNvSpPr/>
          <p:nvPr/>
        </p:nvSpPr>
        <p:spPr>
          <a:xfrm>
            <a:off x="1386681" y="4569123"/>
            <a:ext cx="5801082"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…at last he understood that even small are important.</a:t>
            </a:r>
            <a:endParaRPr lang="en-US" sz="1600" dirty="0"/>
          </a:p>
        </p:txBody>
      </p:sp>
      <p:sp>
        <p:nvSpPr>
          <p:cNvPr id="20" name="Text 18"/>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Write the corrected sentence on your whiteboard.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ANSWER</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Fix it fast: answers</a:t>
            </a:r>
            <a:endParaRPr lang="en-US" sz="2800" dirty="0"/>
          </a:p>
        </p:txBody>
      </p:sp>
      <p:sp>
        <p:nvSpPr>
          <p:cNvPr id="4" name="Shape 2"/>
          <p:cNvSpPr/>
          <p:nvPr/>
        </p:nvSpPr>
        <p:spPr>
          <a:xfrm>
            <a:off x="812800" y="1569641"/>
            <a:ext cx="10566400" cy="726380"/>
          </a:xfrm>
          <a:prstGeom prst="roundRect">
            <a:avLst>
              <a:gd name="adj" fmla="val 10490"/>
            </a:avLst>
          </a:prstGeom>
          <a:solidFill>
            <a:srgbClr val="E3EEF9"/>
          </a:solidFill>
          <a:ln/>
        </p:spPr>
      </p:sp>
      <p:sp>
        <p:nvSpPr>
          <p:cNvPr id="5" name="Text 3"/>
          <p:cNvSpPr/>
          <p:nvPr/>
        </p:nvSpPr>
        <p:spPr>
          <a:xfrm>
            <a:off x="990600" y="1683941"/>
            <a:ext cx="225028"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B5E9B"/>
                </a:solidFill>
                <a:latin typeface="Georgia" pitchFamily="18" charset="0"/>
                <a:ea typeface="Georgia" pitchFamily="18" charset="-122"/>
                <a:cs typeface="Georgia" pitchFamily="18" charset="-120"/>
              </a:rPr>
              <a:t>1</a:t>
            </a:r>
            <a:endParaRPr lang="en-US" sz="2800" dirty="0"/>
          </a:p>
        </p:txBody>
      </p:sp>
      <p:sp>
        <p:nvSpPr>
          <p:cNvPr id="6" name="Text 4"/>
          <p:cNvSpPr/>
          <p:nvPr/>
        </p:nvSpPr>
        <p:spPr>
          <a:xfrm>
            <a:off x="1317228" y="1694061"/>
            <a:ext cx="5443418"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Jeffrey screamed, “Come on, just catch it already!”</a:t>
            </a:r>
            <a:endParaRPr lang="en-US" sz="1600" dirty="0"/>
          </a:p>
        </p:txBody>
      </p:sp>
      <p:sp>
        <p:nvSpPr>
          <p:cNvPr id="7" name="Text 5"/>
          <p:cNvSpPr/>
          <p:nvPr/>
        </p:nvSpPr>
        <p:spPr>
          <a:xfrm>
            <a:off x="1317228" y="1958181"/>
            <a:ext cx="46722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Arial" pitchFamily="34" charset="0"/>
                <a:ea typeface="Arial" pitchFamily="34" charset="-122"/>
                <a:cs typeface="Arial" pitchFamily="34" charset="-120"/>
              </a:rPr>
              <a:t>comma and a space before the speech marks · Noor</a:t>
            </a:r>
            <a:endParaRPr lang="en-US" sz="1200" dirty="0"/>
          </a:p>
        </p:txBody>
      </p:sp>
      <p:sp>
        <p:nvSpPr>
          <p:cNvPr id="8" name="Shape 6"/>
          <p:cNvSpPr/>
          <p:nvPr/>
        </p:nvSpPr>
        <p:spPr>
          <a:xfrm>
            <a:off x="812800" y="2397621"/>
            <a:ext cx="10566400" cy="726380"/>
          </a:xfrm>
          <a:prstGeom prst="roundRect">
            <a:avLst>
              <a:gd name="adj" fmla="val 10490"/>
            </a:avLst>
          </a:prstGeom>
          <a:solidFill>
            <a:srgbClr val="E3EEF9"/>
          </a:solidFill>
          <a:ln/>
        </p:spPr>
      </p:sp>
      <p:sp>
        <p:nvSpPr>
          <p:cNvPr id="9" name="Text 7"/>
          <p:cNvSpPr/>
          <p:nvPr/>
        </p:nvSpPr>
        <p:spPr>
          <a:xfrm>
            <a:off x="990600" y="2511921"/>
            <a:ext cx="273645"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B5E9B"/>
                </a:solidFill>
                <a:latin typeface="Georgia" pitchFamily="18" charset="0"/>
                <a:ea typeface="Georgia" pitchFamily="18" charset="-122"/>
                <a:cs typeface="Georgia" pitchFamily="18" charset="-120"/>
              </a:rPr>
              <a:t>2</a:t>
            </a:r>
            <a:endParaRPr lang="en-US" sz="2800" dirty="0"/>
          </a:p>
        </p:txBody>
      </p:sp>
      <p:sp>
        <p:nvSpPr>
          <p:cNvPr id="10" name="Text 8"/>
          <p:cNvSpPr/>
          <p:nvPr/>
        </p:nvSpPr>
        <p:spPr>
          <a:xfrm>
            <a:off x="1365845" y="2522041"/>
            <a:ext cx="530864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The small bird lowered its head and began to cry.</a:t>
            </a:r>
            <a:endParaRPr lang="en-US" sz="1600" dirty="0"/>
          </a:p>
        </p:txBody>
      </p:sp>
      <p:sp>
        <p:nvSpPr>
          <p:cNvPr id="11" name="Text 9"/>
          <p:cNvSpPr/>
          <p:nvPr/>
        </p:nvSpPr>
        <p:spPr>
          <a:xfrm>
            <a:off x="1365845" y="2786162"/>
            <a:ext cx="45565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Arial" pitchFamily="34" charset="0"/>
                <a:ea typeface="Arial" pitchFamily="34" charset="-122"/>
                <a:cs typeface="Arial" pitchFamily="34" charset="-120"/>
              </a:rPr>
              <a:t>its = belonging to it; name the animal · Mai</a:t>
            </a:r>
            <a:endParaRPr lang="en-US" sz="1200" dirty="0"/>
          </a:p>
        </p:txBody>
      </p:sp>
      <p:sp>
        <p:nvSpPr>
          <p:cNvPr id="12" name="Shape 10"/>
          <p:cNvSpPr/>
          <p:nvPr/>
        </p:nvSpPr>
        <p:spPr>
          <a:xfrm>
            <a:off x="812800" y="3225602"/>
            <a:ext cx="10566400" cy="726380"/>
          </a:xfrm>
          <a:prstGeom prst="roundRect">
            <a:avLst>
              <a:gd name="adj" fmla="val 10490"/>
            </a:avLst>
          </a:prstGeom>
          <a:solidFill>
            <a:srgbClr val="E3EEF9"/>
          </a:solidFill>
          <a:ln/>
        </p:spPr>
      </p:sp>
      <p:sp>
        <p:nvSpPr>
          <p:cNvPr id="13" name="Text 11"/>
          <p:cNvSpPr/>
          <p:nvPr/>
        </p:nvSpPr>
        <p:spPr>
          <a:xfrm>
            <a:off x="990600" y="3339902"/>
            <a:ext cx="272951"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B5E9B"/>
                </a:solidFill>
                <a:latin typeface="Georgia" pitchFamily="18" charset="0"/>
                <a:ea typeface="Georgia" pitchFamily="18" charset="-122"/>
                <a:cs typeface="Georgia" pitchFamily="18" charset="-120"/>
              </a:rPr>
              <a:t>3</a:t>
            </a:r>
            <a:endParaRPr lang="en-US" sz="2800" dirty="0"/>
          </a:p>
        </p:txBody>
      </p:sp>
      <p:sp>
        <p:nvSpPr>
          <p:cNvPr id="14" name="Text 12"/>
          <p:cNvSpPr/>
          <p:nvPr/>
        </p:nvSpPr>
        <p:spPr>
          <a:xfrm>
            <a:off x="1365151" y="3350022"/>
            <a:ext cx="761797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Because the grasshopper did not prepare, he was shivering and weak.</a:t>
            </a:r>
            <a:endParaRPr lang="en-US" sz="1600" dirty="0"/>
          </a:p>
        </p:txBody>
      </p:sp>
      <p:sp>
        <p:nvSpPr>
          <p:cNvPr id="15" name="Text 13"/>
          <p:cNvSpPr/>
          <p:nvPr/>
        </p:nvSpPr>
        <p:spPr>
          <a:xfrm>
            <a:off x="1365151" y="3614142"/>
            <a:ext cx="653876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Arial" pitchFamily="34" charset="0"/>
                <a:ea typeface="Arial" pitchFamily="34" charset="-122"/>
                <a:cs typeface="Arial" pitchFamily="34" charset="-120"/>
              </a:rPr>
              <a:t>comma after the because part; did not + verb; spelling · Kinan</a:t>
            </a:r>
            <a:endParaRPr lang="en-US" sz="1200" dirty="0"/>
          </a:p>
        </p:txBody>
      </p:sp>
      <p:sp>
        <p:nvSpPr>
          <p:cNvPr id="16" name="Shape 14"/>
          <p:cNvSpPr/>
          <p:nvPr/>
        </p:nvSpPr>
        <p:spPr>
          <a:xfrm>
            <a:off x="812800" y="4053582"/>
            <a:ext cx="10566400" cy="726380"/>
          </a:xfrm>
          <a:prstGeom prst="roundRect">
            <a:avLst>
              <a:gd name="adj" fmla="val 10490"/>
            </a:avLst>
          </a:prstGeom>
          <a:solidFill>
            <a:srgbClr val="E3EEF9"/>
          </a:solidFill>
          <a:ln/>
        </p:spPr>
      </p:sp>
      <p:sp>
        <p:nvSpPr>
          <p:cNvPr id="17" name="Text 15"/>
          <p:cNvSpPr/>
          <p:nvPr/>
        </p:nvSpPr>
        <p:spPr>
          <a:xfrm>
            <a:off x="990600" y="4167882"/>
            <a:ext cx="281781"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B5E9B"/>
                </a:solidFill>
                <a:latin typeface="Georgia" pitchFamily="18" charset="0"/>
                <a:ea typeface="Georgia" pitchFamily="18" charset="-122"/>
                <a:cs typeface="Georgia" pitchFamily="18" charset="-120"/>
              </a:rPr>
              <a:t>4</a:t>
            </a:r>
            <a:endParaRPr lang="en-US" sz="2800" dirty="0"/>
          </a:p>
        </p:txBody>
      </p:sp>
      <p:sp>
        <p:nvSpPr>
          <p:cNvPr id="18" name="Text 16"/>
          <p:cNvSpPr/>
          <p:nvPr/>
        </p:nvSpPr>
        <p:spPr>
          <a:xfrm>
            <a:off x="1373981" y="4178002"/>
            <a:ext cx="6709053"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…at last he understood that even small animals are important.</a:t>
            </a:r>
            <a:endParaRPr lang="en-US" sz="1600" dirty="0"/>
          </a:p>
        </p:txBody>
      </p:sp>
      <p:sp>
        <p:nvSpPr>
          <p:cNvPr id="19" name="Text 17"/>
          <p:cNvSpPr/>
          <p:nvPr/>
        </p:nvSpPr>
        <p:spPr>
          <a:xfrm>
            <a:off x="1373981" y="4442123"/>
            <a:ext cx="57586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Arial" pitchFamily="34" charset="0"/>
                <a:ea typeface="Arial" pitchFamily="34" charset="-122"/>
                <a:cs typeface="Arial" pitchFamily="34" charset="-120"/>
              </a:rPr>
              <a:t>small what? Add the noun · Farida</a:t>
            </a:r>
            <a:endParaRPr lang="en-US" sz="1200" dirty="0"/>
          </a:p>
        </p:txBody>
      </p:sp>
      <p:sp>
        <p:nvSpPr>
          <p:cNvPr id="20" name="Text 18"/>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Now find the same problems in your own fable.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TARGETS</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Your next targets (1)</a:t>
            </a:r>
            <a:endParaRPr lang="en-US" sz="2800" dirty="0"/>
          </a:p>
        </p:txBody>
      </p:sp>
      <p:sp>
        <p:nvSpPr>
          <p:cNvPr id="4" name="Shape 2"/>
          <p:cNvSpPr/>
          <p:nvPr/>
        </p:nvSpPr>
        <p:spPr>
          <a:xfrm>
            <a:off x="812800" y="1569641"/>
            <a:ext cx="5219700" cy="845741"/>
          </a:xfrm>
          <a:prstGeom prst="roundRect">
            <a:avLst>
              <a:gd name="adj" fmla="val 9010"/>
            </a:avLst>
          </a:prstGeom>
          <a:solidFill>
            <a:srgbClr val="FFFFFF"/>
          </a:solidFill>
          <a:ln/>
        </p:spPr>
      </p:sp>
      <p:sp>
        <p:nvSpPr>
          <p:cNvPr id="5" name="Shape 3"/>
          <p:cNvSpPr/>
          <p:nvPr/>
        </p:nvSpPr>
        <p:spPr>
          <a:xfrm>
            <a:off x="812800" y="156964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6" name="Text 4"/>
          <p:cNvSpPr/>
          <p:nvPr/>
        </p:nvSpPr>
        <p:spPr>
          <a:xfrm>
            <a:off x="1028700" y="167124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ABDALLAH · The golden key</a:t>
            </a:r>
            <a:endParaRPr lang="en-US" sz="1200" dirty="0"/>
          </a:p>
        </p:txBody>
      </p:sp>
      <p:sp>
        <p:nvSpPr>
          <p:cNvPr id="7" name="Text 5"/>
          <p:cNvSpPr/>
          <p:nvPr/>
        </p:nvSpPr>
        <p:spPr>
          <a:xfrm>
            <a:off x="1028700" y="1884561"/>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Start each sentence with a capital letter and use because / so instead of “then … then”. Finish with a moral.</a:t>
            </a:r>
            <a:endParaRPr lang="en-US" sz="1300" dirty="0"/>
          </a:p>
        </p:txBody>
      </p:sp>
      <p:sp>
        <p:nvSpPr>
          <p:cNvPr id="8" name="Shape 6"/>
          <p:cNvSpPr/>
          <p:nvPr/>
        </p:nvSpPr>
        <p:spPr>
          <a:xfrm>
            <a:off x="6159500" y="1569641"/>
            <a:ext cx="5219700" cy="845741"/>
          </a:xfrm>
          <a:prstGeom prst="roundRect">
            <a:avLst>
              <a:gd name="adj" fmla="val 9010"/>
            </a:avLst>
          </a:prstGeom>
          <a:solidFill>
            <a:srgbClr val="FFFFFF"/>
          </a:solidFill>
          <a:ln/>
        </p:spPr>
      </p:sp>
      <p:sp>
        <p:nvSpPr>
          <p:cNvPr id="9" name="Shape 7"/>
          <p:cNvSpPr/>
          <p:nvPr/>
        </p:nvSpPr>
        <p:spPr>
          <a:xfrm>
            <a:off x="6159500" y="156964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10" name="Text 8"/>
          <p:cNvSpPr/>
          <p:nvPr/>
        </p:nvSpPr>
        <p:spPr>
          <a:xfrm>
            <a:off x="6375400" y="167124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METAWALLI · Lion and mouse</a:t>
            </a:r>
            <a:endParaRPr lang="en-US" sz="1200" dirty="0"/>
          </a:p>
        </p:txBody>
      </p:sp>
      <p:sp>
        <p:nvSpPr>
          <p:cNvPr id="11" name="Text 9"/>
          <p:cNvSpPr/>
          <p:nvPr/>
        </p:nvSpPr>
        <p:spPr>
          <a:xfrm>
            <a:off x="6375400" y="1884561"/>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Check spelling: strength, through, stepped. Add one line of dialogue in your result.</a:t>
            </a:r>
            <a:endParaRPr lang="en-US" sz="1300" dirty="0"/>
          </a:p>
        </p:txBody>
      </p:sp>
      <p:sp>
        <p:nvSpPr>
          <p:cNvPr id="12" name="Shape 10"/>
          <p:cNvSpPr/>
          <p:nvPr/>
        </p:nvSpPr>
        <p:spPr>
          <a:xfrm>
            <a:off x="812800" y="2542381"/>
            <a:ext cx="5219700" cy="845741"/>
          </a:xfrm>
          <a:prstGeom prst="roundRect">
            <a:avLst>
              <a:gd name="adj" fmla="val 9010"/>
            </a:avLst>
          </a:prstGeom>
          <a:solidFill>
            <a:srgbClr val="FFFFFF"/>
          </a:solidFill>
          <a:ln/>
        </p:spPr>
      </p:sp>
      <p:sp>
        <p:nvSpPr>
          <p:cNvPr id="13" name="Shape 11"/>
          <p:cNvSpPr/>
          <p:nvPr/>
        </p:nvSpPr>
        <p:spPr>
          <a:xfrm>
            <a:off x="812800" y="254238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14" name="Text 12"/>
          <p:cNvSpPr/>
          <p:nvPr/>
        </p:nvSpPr>
        <p:spPr>
          <a:xfrm>
            <a:off x="1028700" y="264398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NOOR · Lion and mouse</a:t>
            </a:r>
            <a:endParaRPr lang="en-US" sz="1200" dirty="0"/>
          </a:p>
        </p:txBody>
      </p:sp>
      <p:sp>
        <p:nvSpPr>
          <p:cNvPr id="15" name="Text 13"/>
          <p:cNvSpPr/>
          <p:nvPr/>
        </p:nvSpPr>
        <p:spPr>
          <a:xfrm>
            <a:off x="1028700" y="285730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Check that your moral is general and has no names. Fill in the Title, Character and Trait boxes.</a:t>
            </a:r>
            <a:endParaRPr lang="en-US" sz="1300" dirty="0"/>
          </a:p>
        </p:txBody>
      </p:sp>
      <p:sp>
        <p:nvSpPr>
          <p:cNvPr id="16" name="Shape 14"/>
          <p:cNvSpPr/>
          <p:nvPr/>
        </p:nvSpPr>
        <p:spPr>
          <a:xfrm>
            <a:off x="6159500" y="2542381"/>
            <a:ext cx="5219700" cy="845741"/>
          </a:xfrm>
          <a:prstGeom prst="roundRect">
            <a:avLst>
              <a:gd name="adj" fmla="val 9010"/>
            </a:avLst>
          </a:prstGeom>
          <a:solidFill>
            <a:srgbClr val="FFFFFF"/>
          </a:solidFill>
          <a:ln/>
        </p:spPr>
      </p:sp>
      <p:sp>
        <p:nvSpPr>
          <p:cNvPr id="17" name="Shape 15"/>
          <p:cNvSpPr/>
          <p:nvPr/>
        </p:nvSpPr>
        <p:spPr>
          <a:xfrm>
            <a:off x="6159500" y="254238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18" name="Text 16"/>
          <p:cNvSpPr/>
          <p:nvPr/>
        </p:nvSpPr>
        <p:spPr>
          <a:xfrm>
            <a:off x="6375400" y="264398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SEIF · Lion and fox</a:t>
            </a:r>
            <a:endParaRPr lang="en-US" sz="1200" dirty="0"/>
          </a:p>
        </p:txBody>
      </p:sp>
      <p:sp>
        <p:nvSpPr>
          <p:cNvPr id="19" name="Text 17"/>
          <p:cNvSpPr/>
          <p:nvPr/>
        </p:nvSpPr>
        <p:spPr>
          <a:xfrm>
            <a:off x="6375400" y="285730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Write four connected paragraphs. Show the trait with a choice and end with a moral that has no names.</a:t>
            </a:r>
            <a:endParaRPr lang="en-US" sz="1300" dirty="0"/>
          </a:p>
        </p:txBody>
      </p:sp>
      <p:sp>
        <p:nvSpPr>
          <p:cNvPr id="20" name="Shape 18"/>
          <p:cNvSpPr/>
          <p:nvPr/>
        </p:nvSpPr>
        <p:spPr>
          <a:xfrm>
            <a:off x="812800" y="3515122"/>
            <a:ext cx="5219700" cy="845741"/>
          </a:xfrm>
          <a:prstGeom prst="roundRect">
            <a:avLst>
              <a:gd name="adj" fmla="val 9010"/>
            </a:avLst>
          </a:prstGeom>
          <a:solidFill>
            <a:srgbClr val="FFFFFF"/>
          </a:solidFill>
          <a:ln/>
        </p:spPr>
      </p:sp>
      <p:sp>
        <p:nvSpPr>
          <p:cNvPr id="21" name="Shape 19"/>
          <p:cNvSpPr/>
          <p:nvPr/>
        </p:nvSpPr>
        <p:spPr>
          <a:xfrm>
            <a:off x="812800" y="3515122"/>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22" name="Text 20"/>
          <p:cNvSpPr/>
          <p:nvPr/>
        </p:nvSpPr>
        <p:spPr>
          <a:xfrm>
            <a:off x="1028700" y="3616722"/>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KINAN · Grasshopper</a:t>
            </a:r>
            <a:endParaRPr lang="en-US" sz="1200" dirty="0"/>
          </a:p>
        </p:txBody>
      </p:sp>
      <p:sp>
        <p:nvSpPr>
          <p:cNvPr id="23" name="Text 21"/>
          <p:cNvSpPr/>
          <p:nvPr/>
        </p:nvSpPr>
        <p:spPr>
          <a:xfrm>
            <a:off x="1028700" y="383004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Write all four paragraphs. Add a moral. Check verbs: did not prepare, he asked.</a:t>
            </a:r>
            <a:endParaRPr lang="en-US" sz="1300" dirty="0"/>
          </a:p>
        </p:txBody>
      </p:sp>
      <p:sp>
        <p:nvSpPr>
          <p:cNvPr id="24" name="Shape 22"/>
          <p:cNvSpPr/>
          <p:nvPr/>
        </p:nvSpPr>
        <p:spPr>
          <a:xfrm>
            <a:off x="6159500" y="3515122"/>
            <a:ext cx="5219700" cy="845741"/>
          </a:xfrm>
          <a:prstGeom prst="roundRect">
            <a:avLst>
              <a:gd name="adj" fmla="val 9010"/>
            </a:avLst>
          </a:prstGeom>
          <a:solidFill>
            <a:srgbClr val="FFFFFF"/>
          </a:solidFill>
          <a:ln/>
        </p:spPr>
      </p:sp>
      <p:sp>
        <p:nvSpPr>
          <p:cNvPr id="25" name="Shape 23"/>
          <p:cNvSpPr/>
          <p:nvPr/>
        </p:nvSpPr>
        <p:spPr>
          <a:xfrm>
            <a:off x="6159500" y="3515122"/>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26" name="Text 24"/>
          <p:cNvSpPr/>
          <p:nvPr/>
        </p:nvSpPr>
        <p:spPr>
          <a:xfrm>
            <a:off x="6375400" y="3616722"/>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NADA · Pip and Sky</a:t>
            </a:r>
            <a:endParaRPr lang="en-US" sz="1200" dirty="0"/>
          </a:p>
        </p:txBody>
      </p:sp>
      <p:sp>
        <p:nvSpPr>
          <p:cNvPr id="27" name="Text 25"/>
          <p:cNvSpPr/>
          <p:nvPr/>
        </p:nvSpPr>
        <p:spPr>
          <a:xfrm>
            <a:off x="6375400" y="383004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Finish your moral sentence. Check that every sentence you wrote ends with a full stop.</a:t>
            </a:r>
            <a:endParaRPr lang="en-US" sz="1300" dirty="0"/>
          </a:p>
        </p:txBody>
      </p:sp>
      <p:sp>
        <p:nvSpPr>
          <p:cNvPr id="28" name="Shape 26"/>
          <p:cNvSpPr/>
          <p:nvPr/>
        </p:nvSpPr>
        <p:spPr>
          <a:xfrm>
            <a:off x="812800" y="4487863"/>
            <a:ext cx="5219700" cy="845741"/>
          </a:xfrm>
          <a:prstGeom prst="roundRect">
            <a:avLst>
              <a:gd name="adj" fmla="val 9010"/>
            </a:avLst>
          </a:prstGeom>
          <a:solidFill>
            <a:srgbClr val="FFFFFF"/>
          </a:solidFill>
          <a:ln/>
        </p:spPr>
      </p:sp>
      <p:sp>
        <p:nvSpPr>
          <p:cNvPr id="29" name="Shape 27"/>
          <p:cNvSpPr/>
          <p:nvPr/>
        </p:nvSpPr>
        <p:spPr>
          <a:xfrm>
            <a:off x="812800" y="4487863"/>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30" name="Text 28"/>
          <p:cNvSpPr/>
          <p:nvPr/>
        </p:nvSpPr>
        <p:spPr>
          <a:xfrm>
            <a:off x="1028700" y="4589463"/>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FARIDA · Leo and Mia</a:t>
            </a:r>
            <a:endParaRPr lang="en-US" sz="1200" dirty="0"/>
          </a:p>
        </p:txBody>
      </p:sp>
      <p:sp>
        <p:nvSpPr>
          <p:cNvPr id="31" name="Text 29"/>
          <p:cNvSpPr/>
          <p:nvPr/>
        </p:nvSpPr>
        <p:spPr>
          <a:xfrm>
            <a:off x="1028700" y="4802783"/>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Check spelling of Because. Say who is important: even small animals are important.</a:t>
            </a:r>
            <a:endParaRPr lang="en-US" sz="1300" dirty="0"/>
          </a:p>
        </p:txBody>
      </p:sp>
      <p:sp>
        <p:nvSpPr>
          <p:cNvPr id="32" name="Shape 30"/>
          <p:cNvSpPr/>
          <p:nvPr/>
        </p:nvSpPr>
        <p:spPr>
          <a:xfrm>
            <a:off x="6159500" y="4487863"/>
            <a:ext cx="5219700" cy="845741"/>
          </a:xfrm>
          <a:prstGeom prst="roundRect">
            <a:avLst>
              <a:gd name="adj" fmla="val 9010"/>
            </a:avLst>
          </a:prstGeom>
          <a:solidFill>
            <a:srgbClr val="FFFFFF"/>
          </a:solidFill>
          <a:ln/>
        </p:spPr>
      </p:sp>
      <p:sp>
        <p:nvSpPr>
          <p:cNvPr id="33" name="Shape 31"/>
          <p:cNvSpPr/>
          <p:nvPr/>
        </p:nvSpPr>
        <p:spPr>
          <a:xfrm>
            <a:off x="6159500" y="4487863"/>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34" name="Text 32"/>
          <p:cNvSpPr/>
          <p:nvPr/>
        </p:nvSpPr>
        <p:spPr>
          <a:xfrm>
            <a:off x="6375400" y="4589463"/>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ALI · Lion, squirrel, rabbit</a:t>
            </a:r>
            <a:endParaRPr lang="en-US" sz="1200" dirty="0"/>
          </a:p>
        </p:txBody>
      </p:sp>
      <p:sp>
        <p:nvSpPr>
          <p:cNvPr id="35" name="Text 33"/>
          <p:cNvSpPr/>
          <p:nvPr/>
        </p:nvSpPr>
        <p:spPr>
          <a:xfrm>
            <a:off x="6375400" y="4802783"/>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Write ONE fable about one character through all four paragraphs, with one moral at the end.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TARGETS</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Your next targets (2)</a:t>
            </a:r>
            <a:endParaRPr lang="en-US" sz="2800" dirty="0"/>
          </a:p>
        </p:txBody>
      </p:sp>
      <p:sp>
        <p:nvSpPr>
          <p:cNvPr id="4" name="Shape 2"/>
          <p:cNvSpPr/>
          <p:nvPr/>
        </p:nvSpPr>
        <p:spPr>
          <a:xfrm>
            <a:off x="812800" y="1569641"/>
            <a:ext cx="5219700" cy="845741"/>
          </a:xfrm>
          <a:prstGeom prst="roundRect">
            <a:avLst>
              <a:gd name="adj" fmla="val 9010"/>
            </a:avLst>
          </a:prstGeom>
          <a:solidFill>
            <a:srgbClr val="FFFFFF"/>
          </a:solidFill>
          <a:ln/>
        </p:spPr>
      </p:sp>
      <p:sp>
        <p:nvSpPr>
          <p:cNvPr id="5" name="Shape 3"/>
          <p:cNvSpPr/>
          <p:nvPr/>
        </p:nvSpPr>
        <p:spPr>
          <a:xfrm>
            <a:off x="812800" y="156964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6" name="Text 4"/>
          <p:cNvSpPr/>
          <p:nvPr/>
        </p:nvSpPr>
        <p:spPr>
          <a:xfrm>
            <a:off x="1028700" y="167124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MAHMOUD · Lion and cat</a:t>
            </a:r>
            <a:endParaRPr lang="en-US" sz="1200" dirty="0"/>
          </a:p>
        </p:txBody>
      </p:sp>
      <p:sp>
        <p:nvSpPr>
          <p:cNvPr id="7" name="Text 5"/>
          <p:cNvSpPr/>
          <p:nvPr/>
        </p:nvSpPr>
        <p:spPr>
          <a:xfrm>
            <a:off x="1028700" y="1884561"/>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Write one connected fable. Use capital letters and finger spaces. End with one moral.</a:t>
            </a:r>
            <a:endParaRPr lang="en-US" sz="1300" dirty="0"/>
          </a:p>
        </p:txBody>
      </p:sp>
      <p:sp>
        <p:nvSpPr>
          <p:cNvPr id="8" name="Shape 6"/>
          <p:cNvSpPr/>
          <p:nvPr/>
        </p:nvSpPr>
        <p:spPr>
          <a:xfrm>
            <a:off x="6159500" y="1569641"/>
            <a:ext cx="5219700" cy="845741"/>
          </a:xfrm>
          <a:prstGeom prst="roundRect">
            <a:avLst>
              <a:gd name="adj" fmla="val 9010"/>
            </a:avLst>
          </a:prstGeom>
          <a:solidFill>
            <a:srgbClr val="FFFFFF"/>
          </a:solidFill>
          <a:ln/>
        </p:spPr>
      </p:sp>
      <p:sp>
        <p:nvSpPr>
          <p:cNvPr id="9" name="Shape 7"/>
          <p:cNvSpPr/>
          <p:nvPr/>
        </p:nvSpPr>
        <p:spPr>
          <a:xfrm>
            <a:off x="6159500" y="156964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10" name="Text 8"/>
          <p:cNvSpPr/>
          <p:nvPr/>
        </p:nvSpPr>
        <p:spPr>
          <a:xfrm>
            <a:off x="6375400" y="167124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NOOR · The Impatient Tiger</a:t>
            </a:r>
            <a:endParaRPr lang="en-US" sz="1200" dirty="0"/>
          </a:p>
        </p:txBody>
      </p:sp>
      <p:sp>
        <p:nvSpPr>
          <p:cNvPr id="11" name="Text 9"/>
          <p:cNvSpPr/>
          <p:nvPr/>
        </p:nvSpPr>
        <p:spPr>
          <a:xfrm>
            <a:off x="6375400" y="1884561"/>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Add a short moral. Punctuate speech: comma, capital letter, end mark inside. Spell Jeffrey the same way.</a:t>
            </a:r>
            <a:endParaRPr lang="en-US" sz="1300" dirty="0"/>
          </a:p>
        </p:txBody>
      </p:sp>
      <p:sp>
        <p:nvSpPr>
          <p:cNvPr id="12" name="Shape 10"/>
          <p:cNvSpPr/>
          <p:nvPr/>
        </p:nvSpPr>
        <p:spPr>
          <a:xfrm>
            <a:off x="812800" y="2542381"/>
            <a:ext cx="5219700" cy="845741"/>
          </a:xfrm>
          <a:prstGeom prst="roundRect">
            <a:avLst>
              <a:gd name="adj" fmla="val 9010"/>
            </a:avLst>
          </a:prstGeom>
          <a:solidFill>
            <a:srgbClr val="FFFFFF"/>
          </a:solidFill>
          <a:ln/>
        </p:spPr>
      </p:sp>
      <p:sp>
        <p:nvSpPr>
          <p:cNvPr id="13" name="Shape 11"/>
          <p:cNvSpPr/>
          <p:nvPr/>
        </p:nvSpPr>
        <p:spPr>
          <a:xfrm>
            <a:off x="812800" y="254238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14" name="Text 12"/>
          <p:cNvSpPr/>
          <p:nvPr/>
        </p:nvSpPr>
        <p:spPr>
          <a:xfrm>
            <a:off x="1028700" y="264398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DANA · The lion</a:t>
            </a:r>
            <a:endParaRPr lang="en-US" sz="1200" dirty="0"/>
          </a:p>
        </p:txBody>
      </p:sp>
      <p:sp>
        <p:nvSpPr>
          <p:cNvPr id="15" name="Text 13"/>
          <p:cNvSpPr/>
          <p:nvPr/>
        </p:nvSpPr>
        <p:spPr>
          <a:xfrm>
            <a:off x="1028700" y="285730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Tell a story: what goes wrong, what the lion chooses, the result and the moral. Show the trait.</a:t>
            </a:r>
            <a:endParaRPr lang="en-US" sz="1300" dirty="0"/>
          </a:p>
        </p:txBody>
      </p:sp>
      <p:sp>
        <p:nvSpPr>
          <p:cNvPr id="16" name="Shape 14"/>
          <p:cNvSpPr/>
          <p:nvPr/>
        </p:nvSpPr>
        <p:spPr>
          <a:xfrm>
            <a:off x="6159500" y="2542381"/>
            <a:ext cx="5219700" cy="845741"/>
          </a:xfrm>
          <a:prstGeom prst="roundRect">
            <a:avLst>
              <a:gd name="adj" fmla="val 9010"/>
            </a:avLst>
          </a:prstGeom>
          <a:solidFill>
            <a:srgbClr val="FFFFFF"/>
          </a:solidFill>
          <a:ln/>
        </p:spPr>
      </p:sp>
      <p:sp>
        <p:nvSpPr>
          <p:cNvPr id="17" name="Shape 15"/>
          <p:cNvSpPr/>
          <p:nvPr/>
        </p:nvSpPr>
        <p:spPr>
          <a:xfrm>
            <a:off x="6159500" y="2542381"/>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18" name="Text 16"/>
          <p:cNvSpPr/>
          <p:nvPr/>
        </p:nvSpPr>
        <p:spPr>
          <a:xfrm>
            <a:off x="6375400" y="2643981"/>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MAI · The mean owl</a:t>
            </a:r>
            <a:endParaRPr lang="en-US" sz="1200" dirty="0"/>
          </a:p>
        </p:txBody>
      </p:sp>
      <p:sp>
        <p:nvSpPr>
          <p:cNvPr id="19" name="Text 17"/>
          <p:cNvSpPr/>
          <p:nvPr/>
        </p:nvSpPr>
        <p:spPr>
          <a:xfrm>
            <a:off x="6375400" y="285730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Write a moral with no “the owl”: Always be kind to others. Check its / it’s and “that were”.</a:t>
            </a:r>
            <a:endParaRPr lang="en-US" sz="1300" dirty="0"/>
          </a:p>
        </p:txBody>
      </p:sp>
      <p:sp>
        <p:nvSpPr>
          <p:cNvPr id="20" name="Shape 18"/>
          <p:cNvSpPr/>
          <p:nvPr/>
        </p:nvSpPr>
        <p:spPr>
          <a:xfrm>
            <a:off x="812800" y="3515122"/>
            <a:ext cx="5219700" cy="845741"/>
          </a:xfrm>
          <a:prstGeom prst="roundRect">
            <a:avLst>
              <a:gd name="adj" fmla="val 9010"/>
            </a:avLst>
          </a:prstGeom>
          <a:solidFill>
            <a:srgbClr val="FFFFFF"/>
          </a:solidFill>
          <a:ln/>
        </p:spPr>
      </p:sp>
      <p:sp>
        <p:nvSpPr>
          <p:cNvPr id="21" name="Shape 19"/>
          <p:cNvSpPr/>
          <p:nvPr/>
        </p:nvSpPr>
        <p:spPr>
          <a:xfrm>
            <a:off x="812800" y="3515122"/>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22" name="Text 20"/>
          <p:cNvSpPr/>
          <p:nvPr/>
        </p:nvSpPr>
        <p:spPr>
          <a:xfrm>
            <a:off x="1028700" y="3616722"/>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DOAA · Sunny the squirrel</a:t>
            </a:r>
            <a:endParaRPr lang="en-US" sz="1200" dirty="0"/>
          </a:p>
        </p:txBody>
      </p:sp>
      <p:sp>
        <p:nvSpPr>
          <p:cNvPr id="23" name="Text 21"/>
          <p:cNvSpPr/>
          <p:nvPr/>
        </p:nvSpPr>
        <p:spPr>
          <a:xfrm>
            <a:off x="1028700" y="383004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Fill in the Title, Character and Trait boxes. Keep your strong ideas and read your fable aloud.</a:t>
            </a:r>
            <a:endParaRPr lang="en-US" sz="1300" dirty="0"/>
          </a:p>
        </p:txBody>
      </p:sp>
      <p:sp>
        <p:nvSpPr>
          <p:cNvPr id="24" name="Shape 22"/>
          <p:cNvSpPr/>
          <p:nvPr/>
        </p:nvSpPr>
        <p:spPr>
          <a:xfrm>
            <a:off x="6159500" y="3515122"/>
            <a:ext cx="5219700" cy="845741"/>
          </a:xfrm>
          <a:prstGeom prst="roundRect">
            <a:avLst>
              <a:gd name="adj" fmla="val 9010"/>
            </a:avLst>
          </a:prstGeom>
          <a:solidFill>
            <a:srgbClr val="FFFFFF"/>
          </a:solidFill>
          <a:ln/>
        </p:spPr>
      </p:sp>
      <p:sp>
        <p:nvSpPr>
          <p:cNvPr id="25" name="Shape 23"/>
          <p:cNvSpPr/>
          <p:nvPr/>
        </p:nvSpPr>
        <p:spPr>
          <a:xfrm>
            <a:off x="6159500" y="3515122"/>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26" name="Text 24"/>
          <p:cNvSpPr/>
          <p:nvPr/>
        </p:nvSpPr>
        <p:spPr>
          <a:xfrm>
            <a:off x="6375400" y="3616722"/>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JOUD · The lazy koala</a:t>
            </a:r>
            <a:endParaRPr lang="en-US" sz="1200" dirty="0"/>
          </a:p>
        </p:txBody>
      </p:sp>
      <p:sp>
        <p:nvSpPr>
          <p:cNvPr id="27" name="Text 25"/>
          <p:cNvSpPr/>
          <p:nvPr/>
        </p:nvSpPr>
        <p:spPr>
          <a:xfrm>
            <a:off x="6375400" y="3830042"/>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Check spelling: prepare, decided. Add one clear sentence: She realised… Check verbs: didn’t find.</a:t>
            </a:r>
            <a:endParaRPr lang="en-US" sz="1300" dirty="0"/>
          </a:p>
        </p:txBody>
      </p:sp>
      <p:sp>
        <p:nvSpPr>
          <p:cNvPr id="28" name="Shape 26"/>
          <p:cNvSpPr/>
          <p:nvPr/>
        </p:nvSpPr>
        <p:spPr>
          <a:xfrm>
            <a:off x="812800" y="4487863"/>
            <a:ext cx="5219700" cy="845741"/>
          </a:xfrm>
          <a:prstGeom prst="roundRect">
            <a:avLst>
              <a:gd name="adj" fmla="val 9010"/>
            </a:avLst>
          </a:prstGeom>
          <a:solidFill>
            <a:srgbClr val="FFFFFF"/>
          </a:solidFill>
          <a:ln/>
        </p:spPr>
      </p:sp>
      <p:sp>
        <p:nvSpPr>
          <p:cNvPr id="29" name="Shape 27"/>
          <p:cNvSpPr/>
          <p:nvPr/>
        </p:nvSpPr>
        <p:spPr>
          <a:xfrm>
            <a:off x="812800" y="4487863"/>
            <a:ext cx="5219700" cy="845741"/>
          </a:xfrm>
          <a:custGeom>
            <a:avLst/>
            <a:gdLst/>
            <a:ahLst/>
            <a:cxnLst/>
            <a:rect l="l" t="t" r="r" b="b"/>
            <a:pathLst>
              <a:path w="5219700" h="845741">
                <a:moveTo>
                  <a:pt x="76200" y="845741"/>
                </a:moveTo>
                <a:lnTo>
                  <a:pt x="76200" y="845741"/>
                </a:lnTo>
                <a:arcTo wR="76200" hR="76200" stAng="5400000" swAng="5400000"/>
                <a:lnTo>
                  <a:pt x="0" y="76200"/>
                </a:lnTo>
                <a:arcTo wR="76200" hR="76200" stAng="10800000" swAng="5400000"/>
                <a:lnTo>
                  <a:pt x="76200" y="0"/>
                </a:lnTo>
                <a:arcTo wR="12700" hR="76200" stAng="16200000" swAng="-5400000"/>
                <a:lnTo>
                  <a:pt x="63500" y="769541"/>
                </a:lnTo>
                <a:arcTo wR="12700" hR="76200" stAng="10800000" swAng="-5400000"/>
                <a:close/>
              </a:path>
            </a:pathLst>
          </a:custGeom>
          <a:solidFill>
            <a:srgbClr val="1B365D"/>
          </a:solidFill>
          <a:ln/>
        </p:spPr>
      </p:sp>
      <p:sp>
        <p:nvSpPr>
          <p:cNvPr id="30" name="Text 28"/>
          <p:cNvSpPr/>
          <p:nvPr/>
        </p:nvSpPr>
        <p:spPr>
          <a:xfrm>
            <a:off x="1028700" y="4589463"/>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JOUD AL-FATIH · The mean dog</a:t>
            </a:r>
            <a:endParaRPr lang="en-US" sz="1200" dirty="0"/>
          </a:p>
        </p:txBody>
      </p:sp>
      <p:sp>
        <p:nvSpPr>
          <p:cNvPr id="31" name="Text 29"/>
          <p:cNvSpPr/>
          <p:nvPr/>
        </p:nvSpPr>
        <p:spPr>
          <a:xfrm>
            <a:off x="1028700" y="4802783"/>
            <a:ext cx="499694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F2933"/>
                </a:solidFill>
                <a:latin typeface="Arial" pitchFamily="34" charset="0"/>
                <a:ea typeface="Arial" pitchFamily="34" charset="-122"/>
                <a:cs typeface="Arial" pitchFamily="34" charset="-120"/>
              </a:rPr>
              <a:t>Write the word Moral with a colon, then your moral. Check commas around your speech.</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SELF-CHECK</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Check your fable: checklist and class targets</a:t>
            </a:r>
            <a:endParaRPr lang="en-US" sz="2800" dirty="0"/>
          </a:p>
        </p:txBody>
      </p:sp>
      <p:sp>
        <p:nvSpPr>
          <p:cNvPr id="4" name="Shape 2"/>
          <p:cNvSpPr/>
          <p:nvPr/>
        </p:nvSpPr>
        <p:spPr>
          <a:xfrm>
            <a:off x="812800" y="1569641"/>
            <a:ext cx="5207000" cy="2079923"/>
          </a:xfrm>
          <a:prstGeom prst="roundRect">
            <a:avLst>
              <a:gd name="adj" fmla="val 4274"/>
            </a:avLst>
          </a:prstGeom>
          <a:solidFill>
            <a:srgbClr val="FFFFFF"/>
          </a:solidFill>
          <a:ln/>
        </p:spPr>
      </p:sp>
      <p:sp>
        <p:nvSpPr>
          <p:cNvPr id="5" name="Text 3"/>
          <p:cNvSpPr/>
          <p:nvPr/>
        </p:nvSpPr>
        <p:spPr>
          <a:xfrm>
            <a:off x="1016000" y="1734741"/>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HOMEWORK CHECKLIST: MY FABLE…</a:t>
            </a:r>
            <a:endParaRPr lang="en-US" sz="1200" dirty="0"/>
          </a:p>
        </p:txBody>
      </p:sp>
      <p:sp>
        <p:nvSpPr>
          <p:cNvPr id="6" name="Text 4"/>
          <p:cNvSpPr/>
          <p:nvPr/>
        </p:nvSpPr>
        <p:spPr>
          <a:xfrm>
            <a:off x="1016000" y="2024261"/>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Paragraphs 1 to 4 in order, in one fable</a:t>
            </a:r>
            <a:endParaRPr lang="en-US" sz="1400" dirty="0"/>
          </a:p>
        </p:txBody>
      </p:sp>
      <p:sp>
        <p:nvSpPr>
          <p:cNvPr id="7" name="Text 5"/>
          <p:cNvSpPr/>
          <p:nvPr/>
        </p:nvSpPr>
        <p:spPr>
          <a:xfrm>
            <a:off x="1016000" y="2331541"/>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a change and I improved my weakest paragraph</a:t>
            </a:r>
            <a:endParaRPr lang="en-US" sz="1400" dirty="0"/>
          </a:p>
        </p:txBody>
      </p:sp>
      <p:sp>
        <p:nvSpPr>
          <p:cNvPr id="8" name="Text 6"/>
          <p:cNvSpPr/>
          <p:nvPr/>
        </p:nvSpPr>
        <p:spPr>
          <a:xfrm>
            <a:off x="1016000" y="2638822"/>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a result that happens because of my choice</a:t>
            </a:r>
            <a:endParaRPr lang="en-US" sz="1400" dirty="0"/>
          </a:p>
        </p:txBody>
      </p:sp>
      <p:sp>
        <p:nvSpPr>
          <p:cNvPr id="9" name="Text 7"/>
          <p:cNvSpPr/>
          <p:nvPr/>
        </p:nvSpPr>
        <p:spPr>
          <a:xfrm>
            <a:off x="1016000" y="2946102"/>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a moral that fits my story and has no names</a:t>
            </a:r>
            <a:endParaRPr lang="en-US" sz="1400" dirty="0"/>
          </a:p>
        </p:txBody>
      </p:sp>
      <p:sp>
        <p:nvSpPr>
          <p:cNvPr id="10" name="Text 8"/>
          <p:cNvSpPr/>
          <p:nvPr/>
        </p:nvSpPr>
        <p:spPr>
          <a:xfrm>
            <a:off x="1016000" y="3253383"/>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speech that is punctuated correctly</a:t>
            </a:r>
            <a:endParaRPr lang="en-US" sz="1400" dirty="0"/>
          </a:p>
        </p:txBody>
      </p:sp>
      <p:sp>
        <p:nvSpPr>
          <p:cNvPr id="11" name="Shape 9"/>
          <p:cNvSpPr/>
          <p:nvPr/>
        </p:nvSpPr>
        <p:spPr>
          <a:xfrm>
            <a:off x="6172200" y="1569641"/>
            <a:ext cx="5207000" cy="2079923"/>
          </a:xfrm>
          <a:prstGeom prst="roundRect">
            <a:avLst>
              <a:gd name="adj" fmla="val 4274"/>
            </a:avLst>
          </a:prstGeom>
          <a:solidFill>
            <a:srgbClr val="FCE9D6"/>
          </a:solidFill>
          <a:ln/>
        </p:spPr>
      </p:sp>
      <p:sp>
        <p:nvSpPr>
          <p:cNvPr id="12" name="Text 10"/>
          <p:cNvSpPr/>
          <p:nvPr/>
        </p:nvSpPr>
        <p:spPr>
          <a:xfrm>
            <a:off x="6375400" y="1734741"/>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CLASS TARGETS: MY FABLE…</a:t>
            </a:r>
            <a:endParaRPr lang="en-US" sz="1200" dirty="0"/>
          </a:p>
        </p:txBody>
      </p:sp>
      <p:sp>
        <p:nvSpPr>
          <p:cNvPr id="13" name="Text 11"/>
          <p:cNvSpPr/>
          <p:nvPr/>
        </p:nvSpPr>
        <p:spPr>
          <a:xfrm>
            <a:off x="6375400" y="2024261"/>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is one story, with one trait</a:t>
            </a:r>
            <a:endParaRPr lang="en-US" sz="1400" dirty="0"/>
          </a:p>
        </p:txBody>
      </p:sp>
      <p:sp>
        <p:nvSpPr>
          <p:cNvPr id="14" name="Text 12"/>
          <p:cNvSpPr/>
          <p:nvPr/>
        </p:nvSpPr>
        <p:spPr>
          <a:xfrm>
            <a:off x="6375400" y="2331541"/>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uses because + a comma for the result</a:t>
            </a:r>
            <a:endParaRPr lang="en-US" sz="1400" dirty="0"/>
          </a:p>
        </p:txBody>
      </p:sp>
      <p:sp>
        <p:nvSpPr>
          <p:cNvPr id="15" name="Text 13"/>
          <p:cNvSpPr/>
          <p:nvPr/>
        </p:nvSpPr>
        <p:spPr>
          <a:xfrm>
            <a:off x="6375400" y="2638822"/>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a general moral at the end</a:t>
            </a:r>
            <a:endParaRPr lang="en-US" sz="1400" dirty="0"/>
          </a:p>
        </p:txBody>
      </p:sp>
      <p:sp>
        <p:nvSpPr>
          <p:cNvPr id="16" name="Text 14"/>
          <p:cNvSpPr/>
          <p:nvPr/>
        </p:nvSpPr>
        <p:spPr>
          <a:xfrm>
            <a:off x="6375400" y="2946102"/>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verbs that agree and match the tense</a:t>
            </a:r>
            <a:endParaRPr lang="en-US" sz="1400" dirty="0"/>
          </a:p>
        </p:txBody>
      </p:sp>
      <p:sp>
        <p:nvSpPr>
          <p:cNvPr id="17" name="Text 15"/>
          <p:cNvSpPr/>
          <p:nvPr/>
        </p:nvSpPr>
        <p:spPr>
          <a:xfrm>
            <a:off x="6375400" y="3253383"/>
            <a:ext cx="4944618"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has checked spelling, capitals and spaces</a:t>
            </a:r>
            <a:endParaRPr lang="en-US" sz="1400" dirty="0"/>
          </a:p>
        </p:txBody>
      </p:sp>
      <p:sp>
        <p:nvSpPr>
          <p:cNvPr id="18" name="Text 16"/>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 I have done it ⚠️ I am not sure ❌ Not yet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SELF-CHECK</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Step 1: check your own fable</a:t>
            </a:r>
            <a:endParaRPr lang="en-US" sz="2800" dirty="0"/>
          </a:p>
        </p:txBody>
      </p:sp>
      <p:sp>
        <p:nvSpPr>
          <p:cNvPr id="4" name="Shape 2"/>
          <p:cNvSpPr/>
          <p:nvPr/>
        </p:nvSpPr>
        <p:spPr>
          <a:xfrm>
            <a:off x="812800" y="1569641"/>
            <a:ext cx="2546350" cy="2326283"/>
          </a:xfrm>
          <a:prstGeom prst="roundRect">
            <a:avLst>
              <a:gd name="adj" fmla="val 3822"/>
            </a:avLst>
          </a:prstGeom>
          <a:solidFill>
            <a:srgbClr val="FFFFFF"/>
          </a:solidFill>
          <a:ln/>
        </p:spPr>
      </p:sp>
      <p:sp>
        <p:nvSpPr>
          <p:cNvPr id="5" name="Shape 3"/>
          <p:cNvSpPr/>
          <p:nvPr/>
        </p:nvSpPr>
        <p:spPr>
          <a:xfrm>
            <a:off x="812800" y="1569641"/>
            <a:ext cx="2546350" cy="2326283"/>
          </a:xfrm>
          <a:custGeom>
            <a:avLst/>
            <a:gdLst/>
            <a:ahLst/>
            <a:cxnLst/>
            <a:rect l="l" t="t" r="r" b="b"/>
            <a:pathLst>
              <a:path w="2546350" h="2326283">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6" name="Text 4"/>
          <p:cNvSpPr/>
          <p:nvPr/>
        </p:nvSpPr>
        <p:spPr>
          <a:xfrm>
            <a:off x="99060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1</a:t>
            </a:r>
            <a:endParaRPr lang="en-US" sz="3200" dirty="0"/>
          </a:p>
        </p:txBody>
      </p:sp>
      <p:sp>
        <p:nvSpPr>
          <p:cNvPr id="7" name="Text 5"/>
          <p:cNvSpPr/>
          <p:nvPr/>
        </p:nvSpPr>
        <p:spPr>
          <a:xfrm>
            <a:off x="99060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READ</a:t>
            </a:r>
            <a:endParaRPr lang="en-US" sz="1800" dirty="0"/>
          </a:p>
        </p:txBody>
      </p:sp>
      <p:sp>
        <p:nvSpPr>
          <p:cNvPr id="8" name="Text 6"/>
          <p:cNvSpPr/>
          <p:nvPr/>
        </p:nvSpPr>
        <p:spPr>
          <a:xfrm>
            <a:off x="990600" y="2806502"/>
            <a:ext cx="2256473" cy="71864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Read your whole fable quietly. Does it make sense? Touch each word.</a:t>
            </a:r>
            <a:endParaRPr lang="en-US" sz="1400" dirty="0"/>
          </a:p>
        </p:txBody>
      </p:sp>
      <p:sp>
        <p:nvSpPr>
          <p:cNvPr id="9" name="Shape 7"/>
          <p:cNvSpPr/>
          <p:nvPr/>
        </p:nvSpPr>
        <p:spPr>
          <a:xfrm>
            <a:off x="3486150" y="1569641"/>
            <a:ext cx="2546350" cy="2326283"/>
          </a:xfrm>
          <a:prstGeom prst="roundRect">
            <a:avLst>
              <a:gd name="adj" fmla="val 3822"/>
            </a:avLst>
          </a:prstGeom>
          <a:solidFill>
            <a:srgbClr val="FFFFFF"/>
          </a:solidFill>
          <a:ln/>
        </p:spPr>
      </p:sp>
      <p:sp>
        <p:nvSpPr>
          <p:cNvPr id="10" name="Shape 8"/>
          <p:cNvSpPr/>
          <p:nvPr/>
        </p:nvSpPr>
        <p:spPr>
          <a:xfrm>
            <a:off x="3486150" y="1569641"/>
            <a:ext cx="2546350" cy="2326283"/>
          </a:xfrm>
          <a:custGeom>
            <a:avLst/>
            <a:gdLst/>
            <a:ahLst/>
            <a:cxnLst/>
            <a:rect l="l" t="t" r="r" b="b"/>
            <a:pathLst>
              <a:path w="2546350" h="2326283">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11" name="Text 9"/>
          <p:cNvSpPr/>
          <p:nvPr/>
        </p:nvSpPr>
        <p:spPr>
          <a:xfrm>
            <a:off x="366395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2</a:t>
            </a:r>
            <a:endParaRPr lang="en-US" sz="3200" dirty="0"/>
          </a:p>
        </p:txBody>
      </p:sp>
      <p:sp>
        <p:nvSpPr>
          <p:cNvPr id="12" name="Text 10"/>
          <p:cNvSpPr/>
          <p:nvPr/>
        </p:nvSpPr>
        <p:spPr>
          <a:xfrm>
            <a:off x="366395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MARK</a:t>
            </a:r>
            <a:endParaRPr lang="en-US" sz="1800" dirty="0"/>
          </a:p>
        </p:txBody>
      </p:sp>
      <p:sp>
        <p:nvSpPr>
          <p:cNvPr id="13" name="Text 11"/>
          <p:cNvSpPr/>
          <p:nvPr/>
        </p:nvSpPr>
        <p:spPr>
          <a:xfrm>
            <a:off x="3663950" y="2806502"/>
            <a:ext cx="2256473" cy="949722"/>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Underline your link word. Circle any names in your moral. Highlight your speech.</a:t>
            </a:r>
            <a:endParaRPr lang="en-US" sz="1400" dirty="0"/>
          </a:p>
        </p:txBody>
      </p:sp>
      <p:sp>
        <p:nvSpPr>
          <p:cNvPr id="14" name="Shape 12"/>
          <p:cNvSpPr/>
          <p:nvPr/>
        </p:nvSpPr>
        <p:spPr>
          <a:xfrm>
            <a:off x="6159500" y="1569641"/>
            <a:ext cx="2546350" cy="2326283"/>
          </a:xfrm>
          <a:prstGeom prst="roundRect">
            <a:avLst>
              <a:gd name="adj" fmla="val 3822"/>
            </a:avLst>
          </a:prstGeom>
          <a:solidFill>
            <a:srgbClr val="FFFFFF"/>
          </a:solidFill>
          <a:ln/>
        </p:spPr>
      </p:sp>
      <p:sp>
        <p:nvSpPr>
          <p:cNvPr id="15" name="Shape 13"/>
          <p:cNvSpPr/>
          <p:nvPr/>
        </p:nvSpPr>
        <p:spPr>
          <a:xfrm>
            <a:off x="6159500" y="1569641"/>
            <a:ext cx="2546350" cy="2326283"/>
          </a:xfrm>
          <a:custGeom>
            <a:avLst/>
            <a:gdLst/>
            <a:ahLst/>
            <a:cxnLst/>
            <a:rect l="l" t="t" r="r" b="b"/>
            <a:pathLst>
              <a:path w="2546350" h="2326283">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16" name="Text 14"/>
          <p:cNvSpPr/>
          <p:nvPr/>
        </p:nvSpPr>
        <p:spPr>
          <a:xfrm>
            <a:off x="633730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3</a:t>
            </a:r>
            <a:endParaRPr lang="en-US" sz="3200" dirty="0"/>
          </a:p>
        </p:txBody>
      </p:sp>
      <p:sp>
        <p:nvSpPr>
          <p:cNvPr id="17" name="Text 15"/>
          <p:cNvSpPr/>
          <p:nvPr/>
        </p:nvSpPr>
        <p:spPr>
          <a:xfrm>
            <a:off x="633730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TICK</a:t>
            </a:r>
            <a:endParaRPr lang="en-US" sz="1800" dirty="0"/>
          </a:p>
        </p:txBody>
      </p:sp>
      <p:sp>
        <p:nvSpPr>
          <p:cNvPr id="18" name="Text 16"/>
          <p:cNvSpPr/>
          <p:nvPr/>
        </p:nvSpPr>
        <p:spPr>
          <a:xfrm>
            <a:off x="6337300" y="2806502"/>
            <a:ext cx="2256473" cy="71864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Check each box: ✅ ⚠️ ❌. Find evidence for every tick.</a:t>
            </a:r>
            <a:endParaRPr lang="en-US" sz="1400" dirty="0"/>
          </a:p>
        </p:txBody>
      </p:sp>
      <p:sp>
        <p:nvSpPr>
          <p:cNvPr id="19" name="Shape 17"/>
          <p:cNvSpPr/>
          <p:nvPr/>
        </p:nvSpPr>
        <p:spPr>
          <a:xfrm>
            <a:off x="8832850" y="1569641"/>
            <a:ext cx="2546350" cy="2326283"/>
          </a:xfrm>
          <a:prstGeom prst="roundRect">
            <a:avLst>
              <a:gd name="adj" fmla="val 3822"/>
            </a:avLst>
          </a:prstGeom>
          <a:solidFill>
            <a:srgbClr val="FFFFFF"/>
          </a:solidFill>
          <a:ln/>
        </p:spPr>
      </p:sp>
      <p:sp>
        <p:nvSpPr>
          <p:cNvPr id="20" name="Shape 18"/>
          <p:cNvSpPr/>
          <p:nvPr/>
        </p:nvSpPr>
        <p:spPr>
          <a:xfrm>
            <a:off x="8832850" y="1569641"/>
            <a:ext cx="2546350" cy="2326283"/>
          </a:xfrm>
          <a:custGeom>
            <a:avLst/>
            <a:gdLst/>
            <a:ahLst/>
            <a:cxnLst/>
            <a:rect l="l" t="t" r="r" b="b"/>
            <a:pathLst>
              <a:path w="2546350" h="2326283">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21" name="Text 19"/>
          <p:cNvSpPr/>
          <p:nvPr/>
        </p:nvSpPr>
        <p:spPr>
          <a:xfrm>
            <a:off x="901065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4</a:t>
            </a:r>
            <a:endParaRPr lang="en-US" sz="3200" dirty="0"/>
          </a:p>
        </p:txBody>
      </p:sp>
      <p:sp>
        <p:nvSpPr>
          <p:cNvPr id="22" name="Text 20"/>
          <p:cNvSpPr/>
          <p:nvPr/>
        </p:nvSpPr>
        <p:spPr>
          <a:xfrm>
            <a:off x="901065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TARGET</a:t>
            </a:r>
            <a:endParaRPr lang="en-US" sz="1800" dirty="0"/>
          </a:p>
        </p:txBody>
      </p:sp>
      <p:sp>
        <p:nvSpPr>
          <p:cNvPr id="23" name="Text 21"/>
          <p:cNvSpPr/>
          <p:nvPr/>
        </p:nvSpPr>
        <p:spPr>
          <a:xfrm>
            <a:off x="9010650" y="2806502"/>
            <a:ext cx="2256473" cy="949722"/>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Choose ONE ⚠️ or ❌ (start with your own target). Write at the top: “My target is…”</a:t>
            </a:r>
            <a:endParaRPr lang="en-US" sz="1400" dirty="0"/>
          </a:p>
        </p:txBody>
      </p:sp>
      <p:sp>
        <p:nvSpPr>
          <p:cNvPr id="24" name="Text 22"/>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Be honest: your target helps you improve.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PARTNER</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Step 2: partner feedback</a:t>
            </a:r>
            <a:endParaRPr lang="en-US" sz="2800" dirty="0"/>
          </a:p>
        </p:txBody>
      </p:sp>
      <p:sp>
        <p:nvSpPr>
          <p:cNvPr id="4" name="Shape 2"/>
          <p:cNvSpPr/>
          <p:nvPr/>
        </p:nvSpPr>
        <p:spPr>
          <a:xfrm>
            <a:off x="812800" y="1569641"/>
            <a:ext cx="2546350" cy="2095202"/>
          </a:xfrm>
          <a:prstGeom prst="roundRect">
            <a:avLst>
              <a:gd name="adj" fmla="val 4243"/>
            </a:avLst>
          </a:prstGeom>
          <a:solidFill>
            <a:srgbClr val="FFFFFF"/>
          </a:solidFill>
          <a:ln/>
        </p:spPr>
      </p:sp>
      <p:sp>
        <p:nvSpPr>
          <p:cNvPr id="5" name="Shape 3"/>
          <p:cNvSpPr/>
          <p:nvPr/>
        </p:nvSpPr>
        <p:spPr>
          <a:xfrm>
            <a:off x="812800" y="1569641"/>
            <a:ext cx="2546350" cy="2095202"/>
          </a:xfrm>
          <a:custGeom>
            <a:avLst/>
            <a:gdLst/>
            <a:ahLst/>
            <a:cxnLst/>
            <a:rect l="l" t="t" r="r" b="b"/>
            <a:pathLst>
              <a:path w="2546350" h="2095202">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6" name="Text 4"/>
          <p:cNvSpPr/>
          <p:nvPr/>
        </p:nvSpPr>
        <p:spPr>
          <a:xfrm>
            <a:off x="99060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1</a:t>
            </a:r>
            <a:endParaRPr lang="en-US" sz="3200" dirty="0"/>
          </a:p>
        </p:txBody>
      </p:sp>
      <p:sp>
        <p:nvSpPr>
          <p:cNvPr id="7" name="Text 5"/>
          <p:cNvSpPr/>
          <p:nvPr/>
        </p:nvSpPr>
        <p:spPr>
          <a:xfrm>
            <a:off x="99060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SWAP</a:t>
            </a:r>
            <a:endParaRPr lang="en-US" sz="1800" dirty="0"/>
          </a:p>
        </p:txBody>
      </p:sp>
      <p:sp>
        <p:nvSpPr>
          <p:cNvPr id="8" name="Text 6"/>
          <p:cNvSpPr/>
          <p:nvPr/>
        </p:nvSpPr>
        <p:spPr>
          <a:xfrm>
            <a:off x="990600" y="2806502"/>
            <a:ext cx="2256473" cy="71864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Swap fables. Read your partner’s fable all the way through.</a:t>
            </a:r>
            <a:endParaRPr lang="en-US" sz="1400" dirty="0"/>
          </a:p>
        </p:txBody>
      </p:sp>
      <p:sp>
        <p:nvSpPr>
          <p:cNvPr id="9" name="Shape 7"/>
          <p:cNvSpPr/>
          <p:nvPr/>
        </p:nvSpPr>
        <p:spPr>
          <a:xfrm>
            <a:off x="3486150" y="1569641"/>
            <a:ext cx="2546350" cy="2095202"/>
          </a:xfrm>
          <a:prstGeom prst="roundRect">
            <a:avLst>
              <a:gd name="adj" fmla="val 4243"/>
            </a:avLst>
          </a:prstGeom>
          <a:solidFill>
            <a:srgbClr val="FFFFFF"/>
          </a:solidFill>
          <a:ln/>
        </p:spPr>
      </p:sp>
      <p:sp>
        <p:nvSpPr>
          <p:cNvPr id="10" name="Shape 8"/>
          <p:cNvSpPr/>
          <p:nvPr/>
        </p:nvSpPr>
        <p:spPr>
          <a:xfrm>
            <a:off x="3486150" y="1569641"/>
            <a:ext cx="2546350" cy="2095202"/>
          </a:xfrm>
          <a:custGeom>
            <a:avLst/>
            <a:gdLst/>
            <a:ahLst/>
            <a:cxnLst/>
            <a:rect l="l" t="t" r="r" b="b"/>
            <a:pathLst>
              <a:path w="2546350" h="2095202">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11" name="Text 9"/>
          <p:cNvSpPr/>
          <p:nvPr/>
        </p:nvSpPr>
        <p:spPr>
          <a:xfrm>
            <a:off x="366395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2</a:t>
            </a:r>
            <a:endParaRPr lang="en-US" sz="3200" dirty="0"/>
          </a:p>
        </p:txBody>
      </p:sp>
      <p:sp>
        <p:nvSpPr>
          <p:cNvPr id="12" name="Text 10"/>
          <p:cNvSpPr/>
          <p:nvPr/>
        </p:nvSpPr>
        <p:spPr>
          <a:xfrm>
            <a:off x="366395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FIND</a:t>
            </a:r>
            <a:endParaRPr lang="en-US" sz="1800" dirty="0"/>
          </a:p>
        </p:txBody>
      </p:sp>
      <p:sp>
        <p:nvSpPr>
          <p:cNvPr id="13" name="Text 11"/>
          <p:cNvSpPr/>
          <p:nvPr/>
        </p:nvSpPr>
        <p:spPr>
          <a:xfrm>
            <a:off x="3663950" y="2806502"/>
            <a:ext cx="2256473" cy="71864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Find ONE strength. Find the ONE fix that would help most (use the checklist).</a:t>
            </a:r>
            <a:endParaRPr lang="en-US" sz="1400" dirty="0"/>
          </a:p>
        </p:txBody>
      </p:sp>
      <p:sp>
        <p:nvSpPr>
          <p:cNvPr id="14" name="Shape 12"/>
          <p:cNvSpPr/>
          <p:nvPr/>
        </p:nvSpPr>
        <p:spPr>
          <a:xfrm>
            <a:off x="6159500" y="1569641"/>
            <a:ext cx="2546350" cy="2095202"/>
          </a:xfrm>
          <a:prstGeom prst="roundRect">
            <a:avLst>
              <a:gd name="adj" fmla="val 4243"/>
            </a:avLst>
          </a:prstGeom>
          <a:solidFill>
            <a:srgbClr val="FFFFFF"/>
          </a:solidFill>
          <a:ln/>
        </p:spPr>
      </p:sp>
      <p:sp>
        <p:nvSpPr>
          <p:cNvPr id="15" name="Shape 13"/>
          <p:cNvSpPr/>
          <p:nvPr/>
        </p:nvSpPr>
        <p:spPr>
          <a:xfrm>
            <a:off x="6159500" y="1569641"/>
            <a:ext cx="2546350" cy="2095202"/>
          </a:xfrm>
          <a:custGeom>
            <a:avLst/>
            <a:gdLst/>
            <a:ahLst/>
            <a:cxnLst/>
            <a:rect l="l" t="t" r="r" b="b"/>
            <a:pathLst>
              <a:path w="2546350" h="2095202">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16" name="Text 14"/>
          <p:cNvSpPr/>
          <p:nvPr/>
        </p:nvSpPr>
        <p:spPr>
          <a:xfrm>
            <a:off x="633730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3</a:t>
            </a:r>
            <a:endParaRPr lang="en-US" sz="3200" dirty="0"/>
          </a:p>
        </p:txBody>
      </p:sp>
      <p:sp>
        <p:nvSpPr>
          <p:cNvPr id="17" name="Text 15"/>
          <p:cNvSpPr/>
          <p:nvPr/>
        </p:nvSpPr>
        <p:spPr>
          <a:xfrm>
            <a:off x="633730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TALK</a:t>
            </a:r>
            <a:endParaRPr lang="en-US" sz="1800" dirty="0"/>
          </a:p>
        </p:txBody>
      </p:sp>
      <p:sp>
        <p:nvSpPr>
          <p:cNvPr id="18" name="Text 16"/>
          <p:cNvSpPr/>
          <p:nvPr/>
        </p:nvSpPr>
        <p:spPr>
          <a:xfrm>
            <a:off x="6337300" y="2806502"/>
            <a:ext cx="2256473" cy="71864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Say both out loud. Quote their words. Be kind and specific.</a:t>
            </a:r>
            <a:endParaRPr lang="en-US" sz="1400" dirty="0"/>
          </a:p>
        </p:txBody>
      </p:sp>
      <p:sp>
        <p:nvSpPr>
          <p:cNvPr id="19" name="Shape 17"/>
          <p:cNvSpPr/>
          <p:nvPr/>
        </p:nvSpPr>
        <p:spPr>
          <a:xfrm>
            <a:off x="8832850" y="1569641"/>
            <a:ext cx="2546350" cy="2095202"/>
          </a:xfrm>
          <a:prstGeom prst="roundRect">
            <a:avLst>
              <a:gd name="adj" fmla="val 4243"/>
            </a:avLst>
          </a:prstGeom>
          <a:solidFill>
            <a:srgbClr val="FFFFFF"/>
          </a:solidFill>
          <a:ln/>
        </p:spPr>
      </p:sp>
      <p:sp>
        <p:nvSpPr>
          <p:cNvPr id="20" name="Shape 18"/>
          <p:cNvSpPr/>
          <p:nvPr/>
        </p:nvSpPr>
        <p:spPr>
          <a:xfrm>
            <a:off x="8832850" y="1569641"/>
            <a:ext cx="2546350" cy="2095202"/>
          </a:xfrm>
          <a:custGeom>
            <a:avLst/>
            <a:gdLst/>
            <a:ahLst/>
            <a:cxnLst/>
            <a:rect l="l" t="t" r="r" b="b"/>
            <a:pathLst>
              <a:path w="2546350" h="2095202">
                <a:moveTo>
                  <a:pt x="0" y="88900"/>
                </a:moveTo>
                <a:lnTo>
                  <a:pt x="0" y="88900"/>
                </a:lnTo>
                <a:arcTo wR="88900" hR="88900" stAng="10800000" swAng="5400000"/>
                <a:lnTo>
                  <a:pt x="2457450" y="0"/>
                </a:lnTo>
                <a:arcTo wR="88900" hR="88900" stAng="16200000" swAng="5400000"/>
                <a:lnTo>
                  <a:pt x="2546350" y="88900"/>
                </a:lnTo>
                <a:arcTo wR="88900" hR="12700" stAng="0" swAng="-5400000"/>
                <a:lnTo>
                  <a:pt x="88900" y="76200"/>
                </a:lnTo>
                <a:arcTo wR="88900" hR="12700" stAng="16200000" swAng="-5400000"/>
                <a:close/>
              </a:path>
            </a:pathLst>
          </a:custGeom>
          <a:solidFill>
            <a:srgbClr val="1B365D"/>
          </a:solidFill>
          <a:ln/>
        </p:spPr>
      </p:sp>
      <p:sp>
        <p:nvSpPr>
          <p:cNvPr id="21" name="Text 19"/>
          <p:cNvSpPr/>
          <p:nvPr/>
        </p:nvSpPr>
        <p:spPr>
          <a:xfrm>
            <a:off x="9010650" y="1810941"/>
            <a:ext cx="225647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70A"/>
                </a:solidFill>
                <a:latin typeface="Georgia" pitchFamily="18" charset="0"/>
                <a:ea typeface="Georgia" pitchFamily="18" charset="-122"/>
                <a:cs typeface="Georgia" pitchFamily="18" charset="-120"/>
              </a:rPr>
              <a:t>4</a:t>
            </a:r>
            <a:endParaRPr lang="en-US" sz="3200" dirty="0"/>
          </a:p>
        </p:txBody>
      </p:sp>
      <p:sp>
        <p:nvSpPr>
          <p:cNvPr id="22" name="Text 20"/>
          <p:cNvSpPr/>
          <p:nvPr/>
        </p:nvSpPr>
        <p:spPr>
          <a:xfrm>
            <a:off x="9010650" y="2456061"/>
            <a:ext cx="225647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WRITE</a:t>
            </a:r>
            <a:endParaRPr lang="en-US" sz="1800" dirty="0"/>
          </a:p>
        </p:txBody>
      </p:sp>
      <p:sp>
        <p:nvSpPr>
          <p:cNvPr id="23" name="Text 21"/>
          <p:cNvSpPr/>
          <p:nvPr/>
        </p:nvSpPr>
        <p:spPr>
          <a:xfrm>
            <a:off x="9010650" y="2806502"/>
            <a:ext cx="2256473"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Write them on the feedback slip. Say thank you.</a:t>
            </a:r>
            <a:endParaRPr lang="en-US" sz="1400" dirty="0"/>
          </a:p>
        </p:txBody>
      </p:sp>
      <p:sp>
        <p:nvSpPr>
          <p:cNvPr id="24" name="Shape 22"/>
          <p:cNvSpPr/>
          <p:nvPr/>
        </p:nvSpPr>
        <p:spPr>
          <a:xfrm>
            <a:off x="812800" y="3842643"/>
            <a:ext cx="10566400" cy="434280"/>
          </a:xfrm>
          <a:prstGeom prst="roundRect">
            <a:avLst>
              <a:gd name="adj" fmla="val 20471"/>
            </a:avLst>
          </a:prstGeom>
          <a:solidFill>
            <a:srgbClr val="FFFFFF"/>
          </a:solidFill>
          <a:ln/>
        </p:spPr>
      </p:sp>
      <p:sp>
        <p:nvSpPr>
          <p:cNvPr id="25" name="Text 23"/>
          <p:cNvSpPr/>
          <p:nvPr/>
        </p:nvSpPr>
        <p:spPr>
          <a:xfrm>
            <a:off x="990600" y="3953073"/>
            <a:ext cx="225216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KIND · SPECIFIC · HELPFUL</a:t>
            </a:r>
            <a:endParaRPr lang="en-US" sz="1200" dirty="0"/>
          </a:p>
        </p:txBody>
      </p:sp>
      <p:sp>
        <p:nvSpPr>
          <p:cNvPr id="26" name="Text 24"/>
          <p:cNvSpPr/>
          <p:nvPr/>
        </p:nvSpPr>
        <p:spPr>
          <a:xfrm>
            <a:off x="3242766" y="3944243"/>
            <a:ext cx="3125153"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One strength + one improvement</a:t>
            </a:r>
            <a:endParaRPr lang="en-US" sz="1400" dirty="0"/>
          </a:p>
        </p:txBody>
      </p:sp>
      <p:sp>
        <p:nvSpPr>
          <p:cNvPr id="27" name="Text 25"/>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Pair pupils so both can give feedback.</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PARTNER</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Our feedback slip</a:t>
            </a:r>
            <a:endParaRPr lang="en-US" sz="2800" dirty="0"/>
          </a:p>
        </p:txBody>
      </p:sp>
      <p:sp>
        <p:nvSpPr>
          <p:cNvPr id="4" name="Text 2"/>
          <p:cNvSpPr/>
          <p:nvPr/>
        </p:nvSpPr>
        <p:spPr>
          <a:xfrm>
            <a:off x="812800" y="1569641"/>
            <a:ext cx="10566400" cy="553641"/>
          </a:xfrm>
          <a:prstGeom prst="roundRect">
            <a:avLst>
              <a:gd name="adj" fmla="val 16057"/>
            </a:avLst>
          </a:prstGeom>
          <a:solidFill>
            <a:srgbClr val="FFFFFF"/>
          </a:solidFill>
          <a:ln/>
        </p:spPr>
        <p:txBody>
          <a:bodyPr wrap="square" lIns="177162" tIns="126362" rIns="0" bIns="100962" rtlCol="0" anchor="t">
            <a:normAutofit/>
          </a:bodyPr>
          <a:lstStyle/>
          <a:p>
            <a:pPr marL="0" indent="0" algn="l">
              <a:lnSpc>
                <a:spcPts val="1960"/>
              </a:lnSpc>
              <a:buNone/>
            </a:pPr>
            <a:r>
              <a:rPr lang="en-US" sz="1400" dirty="0">
                <a:solidFill>
                  <a:srgbClr val="1F2933"/>
                </a:solidFill>
                <a:latin typeface="Arial" pitchFamily="34" charset="0"/>
                <a:ea typeface="Arial" pitchFamily="34" charset="-122"/>
                <a:cs typeface="Arial" pitchFamily="34" charset="-120"/>
              </a:rPr>
              <a:t>Writer: ____________     Reviewer: ____________</a:t>
            </a:r>
            <a:endParaRPr lang="en-US" sz="1400" dirty="0"/>
          </a:p>
        </p:txBody>
      </p:sp>
      <p:sp>
        <p:nvSpPr>
          <p:cNvPr id="5" name="Shape 3"/>
          <p:cNvSpPr/>
          <p:nvPr/>
        </p:nvSpPr>
        <p:spPr>
          <a:xfrm>
            <a:off x="812800" y="2301081"/>
            <a:ext cx="5219700" cy="749201"/>
          </a:xfrm>
          <a:prstGeom prst="roundRect">
            <a:avLst>
              <a:gd name="adj" fmla="val 11866"/>
            </a:avLst>
          </a:prstGeom>
          <a:solidFill>
            <a:srgbClr val="DFF0E4"/>
          </a:solidFill>
          <a:ln/>
        </p:spPr>
      </p:sp>
      <p:sp>
        <p:nvSpPr>
          <p:cNvPr id="6" name="Shape 4"/>
          <p:cNvSpPr/>
          <p:nvPr/>
        </p:nvSpPr>
        <p:spPr>
          <a:xfrm>
            <a:off x="812800" y="2301081"/>
            <a:ext cx="5219700" cy="749201"/>
          </a:xfrm>
          <a:custGeom>
            <a:avLst/>
            <a:gdLst/>
            <a:ahLst/>
            <a:cxnLst/>
            <a:rect l="l" t="t" r="r" b="b"/>
            <a:pathLst>
              <a:path w="5219700" h="749201">
                <a:moveTo>
                  <a:pt x="88900" y="749201"/>
                </a:moveTo>
                <a:lnTo>
                  <a:pt x="88900" y="749201"/>
                </a:lnTo>
                <a:arcTo wR="88900" hR="88900" stAng="5400000" swAng="5400000"/>
                <a:lnTo>
                  <a:pt x="0" y="88900"/>
                </a:lnTo>
                <a:arcTo wR="88900" hR="88900" stAng="10800000" swAng="5400000"/>
                <a:lnTo>
                  <a:pt x="88900" y="0"/>
                </a:lnTo>
                <a:arcTo wR="25400" hR="88900" stAng="16200000" swAng="-5400000"/>
                <a:lnTo>
                  <a:pt x="63500" y="660301"/>
                </a:lnTo>
                <a:arcTo wR="25400" hR="88900" stAng="10800000" swAng="-5400000"/>
                <a:close/>
              </a:path>
            </a:pathLst>
          </a:custGeom>
          <a:solidFill>
            <a:srgbClr val="2F7D4F"/>
          </a:solidFill>
          <a:ln/>
        </p:spPr>
      </p:sp>
      <p:sp>
        <p:nvSpPr>
          <p:cNvPr id="7" name="Text 5"/>
          <p:cNvSpPr/>
          <p:nvPr/>
        </p:nvSpPr>
        <p:spPr>
          <a:xfrm>
            <a:off x="1041400" y="242808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7D4F"/>
                </a:solidFill>
                <a:latin typeface="Arial" pitchFamily="34" charset="0"/>
                <a:ea typeface="Arial" pitchFamily="34" charset="-122"/>
                <a:cs typeface="Arial" pitchFamily="34" charset="-120"/>
              </a:rPr>
              <a:t>⭐ ONE STRENGTH</a:t>
            </a:r>
            <a:endParaRPr lang="en-US" sz="1200" dirty="0"/>
          </a:p>
        </p:txBody>
      </p:sp>
      <p:sp>
        <p:nvSpPr>
          <p:cNvPr id="8" name="Text 6"/>
          <p:cNvSpPr/>
          <p:nvPr/>
        </p:nvSpPr>
        <p:spPr>
          <a:xfrm>
            <a:off x="1041400" y="2692202"/>
            <a:ext cx="497078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I like how you … because …</a:t>
            </a:r>
            <a:endParaRPr lang="en-US" sz="1400" dirty="0"/>
          </a:p>
        </p:txBody>
      </p:sp>
      <p:sp>
        <p:nvSpPr>
          <p:cNvPr id="9" name="Shape 7"/>
          <p:cNvSpPr/>
          <p:nvPr/>
        </p:nvSpPr>
        <p:spPr>
          <a:xfrm>
            <a:off x="6159500" y="2301081"/>
            <a:ext cx="5219700" cy="749201"/>
          </a:xfrm>
          <a:prstGeom prst="roundRect">
            <a:avLst>
              <a:gd name="adj" fmla="val 11866"/>
            </a:avLst>
          </a:prstGeom>
          <a:solidFill>
            <a:srgbClr val="FCE9D6"/>
          </a:solidFill>
          <a:ln/>
        </p:spPr>
      </p:sp>
      <p:sp>
        <p:nvSpPr>
          <p:cNvPr id="10" name="Shape 8"/>
          <p:cNvSpPr/>
          <p:nvPr/>
        </p:nvSpPr>
        <p:spPr>
          <a:xfrm>
            <a:off x="6159500" y="2301081"/>
            <a:ext cx="5219700" cy="749201"/>
          </a:xfrm>
          <a:custGeom>
            <a:avLst/>
            <a:gdLst/>
            <a:ahLst/>
            <a:cxnLst/>
            <a:rect l="l" t="t" r="r" b="b"/>
            <a:pathLst>
              <a:path w="5219700" h="749201">
                <a:moveTo>
                  <a:pt x="88900" y="749201"/>
                </a:moveTo>
                <a:lnTo>
                  <a:pt x="88900" y="749201"/>
                </a:lnTo>
                <a:arcTo wR="88900" hR="88900" stAng="5400000" swAng="5400000"/>
                <a:lnTo>
                  <a:pt x="0" y="88900"/>
                </a:lnTo>
                <a:arcTo wR="88900" hR="88900" stAng="10800000" swAng="5400000"/>
                <a:lnTo>
                  <a:pt x="88900" y="0"/>
                </a:lnTo>
                <a:arcTo wR="25400" hR="88900" stAng="16200000" swAng="-5400000"/>
                <a:lnTo>
                  <a:pt x="63500" y="660301"/>
                </a:lnTo>
                <a:arcTo wR="25400" hR="88900" stAng="10800000" swAng="-5400000"/>
                <a:close/>
              </a:path>
            </a:pathLst>
          </a:custGeom>
          <a:solidFill>
            <a:srgbClr val="B4570A"/>
          </a:solidFill>
          <a:ln/>
        </p:spPr>
      </p:sp>
      <p:sp>
        <p:nvSpPr>
          <p:cNvPr id="11" name="Text 9"/>
          <p:cNvSpPr/>
          <p:nvPr/>
        </p:nvSpPr>
        <p:spPr>
          <a:xfrm>
            <a:off x="6388100" y="2428081"/>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 ONE IMPROVEMENT</a:t>
            </a:r>
            <a:endParaRPr lang="en-US" sz="1200" dirty="0"/>
          </a:p>
        </p:txBody>
      </p:sp>
      <p:sp>
        <p:nvSpPr>
          <p:cNvPr id="12" name="Text 10"/>
          <p:cNvSpPr/>
          <p:nvPr/>
        </p:nvSpPr>
        <p:spPr>
          <a:xfrm>
            <a:off x="6388100" y="2692202"/>
            <a:ext cx="497078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To make it even better, you could … (target: ___)</a:t>
            </a:r>
            <a:endParaRPr lang="en-US" sz="1400" dirty="0"/>
          </a:p>
        </p:txBody>
      </p:sp>
      <p:sp>
        <p:nvSpPr>
          <p:cNvPr id="13" name="Shape 11"/>
          <p:cNvSpPr/>
          <p:nvPr/>
        </p:nvSpPr>
        <p:spPr>
          <a:xfrm>
            <a:off x="812800" y="3228082"/>
            <a:ext cx="10566400" cy="665361"/>
          </a:xfrm>
          <a:prstGeom prst="roundRect">
            <a:avLst>
              <a:gd name="adj" fmla="val 13361"/>
            </a:avLst>
          </a:prstGeom>
          <a:solidFill>
            <a:srgbClr val="FFFFFF"/>
          </a:solidFill>
          <a:ln/>
        </p:spPr>
      </p:sp>
      <p:sp>
        <p:nvSpPr>
          <p:cNvPr id="14" name="Text 12"/>
          <p:cNvSpPr/>
          <p:nvPr/>
        </p:nvSpPr>
        <p:spPr>
          <a:xfrm>
            <a:off x="990600" y="3347442"/>
            <a:ext cx="1367234"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365D"/>
                </a:solidFill>
                <a:latin typeface="Arial" pitchFamily="34" charset="0"/>
                <a:ea typeface="Arial" pitchFamily="34" charset="-122"/>
                <a:cs typeface="Arial" pitchFamily="34" charset="-120"/>
              </a:rPr>
              <a:t>SENTENCE STEMS</a:t>
            </a:r>
            <a:endParaRPr lang="en-US" sz="1200" dirty="0"/>
          </a:p>
        </p:txBody>
      </p:sp>
      <p:sp>
        <p:nvSpPr>
          <p:cNvPr id="15" name="Text 13"/>
          <p:cNvSpPr/>
          <p:nvPr/>
        </p:nvSpPr>
        <p:spPr>
          <a:xfrm>
            <a:off x="2510234" y="3329682"/>
            <a:ext cx="8951901"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Your result happens because … · Your moral fits because … · Check … It should be … · Add … to match your choice</a:t>
            </a:r>
            <a:endParaRPr lang="en-US" sz="1400" dirty="0"/>
          </a:p>
        </p:txBody>
      </p:sp>
      <p:sp>
        <p:nvSpPr>
          <p:cNvPr id="16" name="Text 14"/>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The improvement must link to the checklist or a class target.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TASK</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Step 3: improve your fable</a:t>
            </a:r>
            <a:endParaRPr lang="en-US" sz="2800" dirty="0"/>
          </a:p>
        </p:txBody>
      </p:sp>
      <p:sp>
        <p:nvSpPr>
          <p:cNvPr id="4" name="Shape 2"/>
          <p:cNvSpPr/>
          <p:nvPr/>
        </p:nvSpPr>
        <p:spPr>
          <a:xfrm>
            <a:off x="812800" y="1569641"/>
            <a:ext cx="3437434" cy="2295723"/>
          </a:xfrm>
          <a:prstGeom prst="roundRect">
            <a:avLst>
              <a:gd name="adj" fmla="val 3872"/>
            </a:avLst>
          </a:prstGeom>
          <a:solidFill>
            <a:srgbClr val="DFF0E4"/>
          </a:solidFill>
          <a:ln/>
        </p:spPr>
      </p:sp>
      <p:sp>
        <p:nvSpPr>
          <p:cNvPr id="5" name="Shape 3"/>
          <p:cNvSpPr/>
          <p:nvPr/>
        </p:nvSpPr>
        <p:spPr>
          <a:xfrm>
            <a:off x="812800" y="1569641"/>
            <a:ext cx="3437434" cy="2295723"/>
          </a:xfrm>
          <a:custGeom>
            <a:avLst/>
            <a:gdLst/>
            <a:ahLst/>
            <a:cxnLst/>
            <a:rect l="l" t="t" r="r" b="b"/>
            <a:pathLst>
              <a:path w="3437434" h="2295723">
                <a:moveTo>
                  <a:pt x="0" y="88900"/>
                </a:moveTo>
                <a:lnTo>
                  <a:pt x="0" y="88900"/>
                </a:lnTo>
                <a:arcTo wR="88900" hR="88900" stAng="10800000" swAng="5400000"/>
                <a:lnTo>
                  <a:pt x="3348534" y="0"/>
                </a:lnTo>
                <a:arcTo wR="88900" hR="88900" stAng="16200000" swAng="5400000"/>
                <a:lnTo>
                  <a:pt x="3437434" y="88900"/>
                </a:lnTo>
                <a:arcTo wR="88900" hR="12700" stAng="0" swAng="-5400000"/>
                <a:lnTo>
                  <a:pt x="88900" y="76200"/>
                </a:lnTo>
                <a:arcTo wR="88900" hR="12700" stAng="16200000" swAng="-5400000"/>
                <a:close/>
              </a:path>
            </a:pathLst>
          </a:custGeom>
          <a:solidFill>
            <a:srgbClr val="2F7D4F"/>
          </a:solidFill>
          <a:ln/>
        </p:spPr>
      </p:sp>
      <p:sp>
        <p:nvSpPr>
          <p:cNvPr id="6" name="Text 4"/>
          <p:cNvSpPr/>
          <p:nvPr/>
        </p:nvSpPr>
        <p:spPr>
          <a:xfrm>
            <a:off x="1003300" y="181094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7D4F"/>
                </a:solidFill>
                <a:latin typeface="Arial" pitchFamily="34" charset="0"/>
                <a:ea typeface="Arial" pitchFamily="34" charset="-122"/>
                <a:cs typeface="Arial" pitchFamily="34" charset="-120"/>
              </a:rPr>
              <a:t>🟢 SUPPORT</a:t>
            </a:r>
            <a:endParaRPr lang="en-US" sz="1800" dirty="0"/>
          </a:p>
        </p:txBody>
      </p:sp>
      <p:sp>
        <p:nvSpPr>
          <p:cNvPr id="7" name="Text 5"/>
          <p:cNvSpPr/>
          <p:nvPr/>
        </p:nvSpPr>
        <p:spPr>
          <a:xfrm>
            <a:off x="1003300" y="2161381"/>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Fix your target using the problem slides</a:t>
            </a:r>
            <a:endParaRPr lang="en-US" sz="1400" dirty="0"/>
          </a:p>
        </p:txBody>
      </p:sp>
      <p:sp>
        <p:nvSpPr>
          <p:cNvPr id="8" name="Text 6"/>
          <p:cNvSpPr/>
          <p:nvPr/>
        </p:nvSpPr>
        <p:spPr>
          <a:xfrm>
            <a:off x="1003300" y="269974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Add the missing moral from the frames</a:t>
            </a:r>
            <a:endParaRPr lang="en-US" sz="1400" dirty="0"/>
          </a:p>
        </p:txBody>
      </p:sp>
      <p:sp>
        <p:nvSpPr>
          <p:cNvPr id="9" name="Text 7"/>
          <p:cNvSpPr/>
          <p:nvPr/>
        </p:nvSpPr>
        <p:spPr>
          <a:xfrm>
            <a:off x="1003300" y="3238103"/>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Check verbs and spelling of key words</a:t>
            </a:r>
            <a:endParaRPr lang="en-US" sz="1400" dirty="0"/>
          </a:p>
        </p:txBody>
      </p:sp>
      <p:sp>
        <p:nvSpPr>
          <p:cNvPr id="10" name="Shape 8"/>
          <p:cNvSpPr/>
          <p:nvPr/>
        </p:nvSpPr>
        <p:spPr>
          <a:xfrm>
            <a:off x="4377234" y="1569641"/>
            <a:ext cx="3437434" cy="2295723"/>
          </a:xfrm>
          <a:prstGeom prst="roundRect">
            <a:avLst>
              <a:gd name="adj" fmla="val 3872"/>
            </a:avLst>
          </a:prstGeom>
          <a:solidFill>
            <a:srgbClr val="E3EEF9"/>
          </a:solidFill>
          <a:ln/>
        </p:spPr>
      </p:sp>
      <p:sp>
        <p:nvSpPr>
          <p:cNvPr id="11" name="Shape 9"/>
          <p:cNvSpPr/>
          <p:nvPr/>
        </p:nvSpPr>
        <p:spPr>
          <a:xfrm>
            <a:off x="4377234" y="1569641"/>
            <a:ext cx="3437434" cy="2295723"/>
          </a:xfrm>
          <a:custGeom>
            <a:avLst/>
            <a:gdLst/>
            <a:ahLst/>
            <a:cxnLst/>
            <a:rect l="l" t="t" r="r" b="b"/>
            <a:pathLst>
              <a:path w="3437434" h="2295723">
                <a:moveTo>
                  <a:pt x="0" y="88900"/>
                </a:moveTo>
                <a:lnTo>
                  <a:pt x="0" y="88900"/>
                </a:lnTo>
                <a:arcTo wR="88900" hR="88900" stAng="10800000" swAng="5400000"/>
                <a:lnTo>
                  <a:pt x="3348534" y="0"/>
                </a:lnTo>
                <a:arcTo wR="88900" hR="88900" stAng="16200000" swAng="5400000"/>
                <a:lnTo>
                  <a:pt x="3437434" y="88900"/>
                </a:lnTo>
                <a:arcTo wR="88900" hR="12700" stAng="0" swAng="-5400000"/>
                <a:lnTo>
                  <a:pt x="88900" y="76200"/>
                </a:lnTo>
                <a:arcTo wR="88900" hR="12700" stAng="16200000" swAng="-5400000"/>
                <a:close/>
              </a:path>
            </a:pathLst>
          </a:custGeom>
          <a:solidFill>
            <a:srgbClr val="1B5E9B"/>
          </a:solidFill>
          <a:ln/>
        </p:spPr>
      </p:sp>
      <p:sp>
        <p:nvSpPr>
          <p:cNvPr id="12" name="Text 10"/>
          <p:cNvSpPr/>
          <p:nvPr/>
        </p:nvSpPr>
        <p:spPr>
          <a:xfrm>
            <a:off x="4567734" y="181094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5E9B"/>
                </a:solidFill>
                <a:latin typeface="Arial" pitchFamily="34" charset="0"/>
                <a:ea typeface="Arial" pitchFamily="34" charset="-122"/>
                <a:cs typeface="Arial" pitchFamily="34" charset="-120"/>
              </a:rPr>
              <a:t>🔵 CORE</a:t>
            </a:r>
            <a:endParaRPr lang="en-US" sz="1800" dirty="0"/>
          </a:p>
        </p:txBody>
      </p:sp>
      <p:sp>
        <p:nvSpPr>
          <p:cNvPr id="13" name="Text 11"/>
          <p:cNvSpPr/>
          <p:nvPr/>
        </p:nvSpPr>
        <p:spPr>
          <a:xfrm>
            <a:off x="4567734" y="2161381"/>
            <a:ext cx="314812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Rewrite your weakest paragraph</a:t>
            </a:r>
            <a:endParaRPr lang="en-US" sz="1400" dirty="0"/>
          </a:p>
        </p:txBody>
      </p:sp>
      <p:sp>
        <p:nvSpPr>
          <p:cNvPr id="14" name="Text 12"/>
          <p:cNvSpPr/>
          <p:nvPr/>
        </p:nvSpPr>
        <p:spPr>
          <a:xfrm>
            <a:off x="4567734" y="246866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Use your partner’s improvement and your target</a:t>
            </a:r>
            <a:endParaRPr lang="en-US" sz="1400" dirty="0"/>
          </a:p>
        </p:txBody>
      </p:sp>
      <p:sp>
        <p:nvSpPr>
          <p:cNvPr id="15" name="Text 13"/>
          <p:cNvSpPr/>
          <p:nvPr/>
        </p:nvSpPr>
        <p:spPr>
          <a:xfrm>
            <a:off x="4567734" y="3007023"/>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Link the result with because, then a comma</a:t>
            </a:r>
            <a:endParaRPr lang="en-US" sz="1400" dirty="0"/>
          </a:p>
        </p:txBody>
      </p:sp>
      <p:sp>
        <p:nvSpPr>
          <p:cNvPr id="16" name="Shape 14"/>
          <p:cNvSpPr/>
          <p:nvPr/>
        </p:nvSpPr>
        <p:spPr>
          <a:xfrm>
            <a:off x="7941667" y="1569641"/>
            <a:ext cx="3437434" cy="2295723"/>
          </a:xfrm>
          <a:prstGeom prst="roundRect">
            <a:avLst>
              <a:gd name="adj" fmla="val 3872"/>
            </a:avLst>
          </a:prstGeom>
          <a:solidFill>
            <a:srgbClr val="ECE4F6"/>
          </a:solidFill>
          <a:ln/>
        </p:spPr>
      </p:sp>
      <p:sp>
        <p:nvSpPr>
          <p:cNvPr id="17" name="Shape 15"/>
          <p:cNvSpPr/>
          <p:nvPr/>
        </p:nvSpPr>
        <p:spPr>
          <a:xfrm>
            <a:off x="7941667" y="1569641"/>
            <a:ext cx="3437434" cy="2295723"/>
          </a:xfrm>
          <a:custGeom>
            <a:avLst/>
            <a:gdLst/>
            <a:ahLst/>
            <a:cxnLst/>
            <a:rect l="l" t="t" r="r" b="b"/>
            <a:pathLst>
              <a:path w="3437434" h="2295723">
                <a:moveTo>
                  <a:pt x="0" y="88900"/>
                </a:moveTo>
                <a:lnTo>
                  <a:pt x="0" y="88900"/>
                </a:lnTo>
                <a:arcTo wR="88900" hR="88900" stAng="10800000" swAng="5400000"/>
                <a:lnTo>
                  <a:pt x="3348534" y="0"/>
                </a:lnTo>
                <a:arcTo wR="88900" hR="88900" stAng="16200000" swAng="5400000"/>
                <a:lnTo>
                  <a:pt x="3437434" y="88900"/>
                </a:lnTo>
                <a:arcTo wR="88900" hR="12700" stAng="0" swAng="-5400000"/>
                <a:lnTo>
                  <a:pt x="88900" y="76200"/>
                </a:lnTo>
                <a:arcTo wR="88900" hR="12700" stAng="16200000" swAng="-5400000"/>
                <a:close/>
              </a:path>
            </a:pathLst>
          </a:custGeom>
          <a:solidFill>
            <a:srgbClr val="6B3FA0"/>
          </a:solidFill>
          <a:ln/>
        </p:spPr>
      </p:sp>
      <p:sp>
        <p:nvSpPr>
          <p:cNvPr id="18" name="Text 16"/>
          <p:cNvSpPr/>
          <p:nvPr/>
        </p:nvSpPr>
        <p:spPr>
          <a:xfrm>
            <a:off x="8132167" y="181094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6B3FA0"/>
                </a:solidFill>
                <a:latin typeface="Arial" pitchFamily="34" charset="0"/>
                <a:ea typeface="Arial" pitchFamily="34" charset="-122"/>
                <a:cs typeface="Arial" pitchFamily="34" charset="-120"/>
              </a:rPr>
              <a:t>🟣 EXTEND</a:t>
            </a:r>
            <a:endParaRPr lang="en-US" sz="1800" dirty="0"/>
          </a:p>
        </p:txBody>
      </p:sp>
      <p:sp>
        <p:nvSpPr>
          <p:cNvPr id="19" name="Text 17"/>
          <p:cNvSpPr/>
          <p:nvPr/>
        </p:nvSpPr>
        <p:spPr>
          <a:xfrm>
            <a:off x="8132167" y="2161381"/>
            <a:ext cx="314812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Improve two paragraphs</a:t>
            </a:r>
            <a:endParaRPr lang="en-US" sz="1400" dirty="0"/>
          </a:p>
        </p:txBody>
      </p:sp>
      <p:sp>
        <p:nvSpPr>
          <p:cNvPr id="20" name="Text 18"/>
          <p:cNvSpPr/>
          <p:nvPr/>
        </p:nvSpPr>
        <p:spPr>
          <a:xfrm>
            <a:off x="8132167" y="246866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Add a line of speech with correct punctuation</a:t>
            </a:r>
            <a:endParaRPr lang="en-US" sz="1400" dirty="0"/>
          </a:p>
        </p:txBody>
      </p:sp>
      <p:sp>
        <p:nvSpPr>
          <p:cNvPr id="21" name="Text 19"/>
          <p:cNvSpPr/>
          <p:nvPr/>
        </p:nvSpPr>
        <p:spPr>
          <a:xfrm>
            <a:off x="8132167" y="3007023"/>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 Make the change and the moral match</a:t>
            </a:r>
            <a:endParaRPr lang="en-US" sz="1400" dirty="0"/>
          </a:p>
        </p:txBody>
      </p:sp>
      <p:sp>
        <p:nvSpPr>
          <p:cNvPr id="22" name="Text 20"/>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Use a purple pen for every improvement · Write on every other line.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TOOLKIT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Fix-it toolkit</a:t>
            </a:r>
            <a:endParaRPr lang="en-US" sz="2800" dirty="0"/>
          </a:p>
        </p:txBody>
      </p:sp>
      <p:sp>
        <p:nvSpPr>
          <p:cNvPr id="4" name="Shape 2"/>
          <p:cNvSpPr/>
          <p:nvPr/>
        </p:nvSpPr>
        <p:spPr>
          <a:xfrm>
            <a:off x="819150" y="1575991"/>
            <a:ext cx="3424734" cy="1018381"/>
          </a:xfrm>
          <a:prstGeom prst="roundRect">
            <a:avLst>
              <a:gd name="adj" fmla="val 8106"/>
            </a:avLst>
          </a:prstGeom>
          <a:solidFill>
            <a:srgbClr val="FFFFFF"/>
          </a:solidFill>
          <a:ln w="12700">
            <a:solidFill>
              <a:srgbClr val="D9DEE5"/>
            </a:solidFill>
            <a:prstDash val="solid"/>
          </a:ln>
        </p:spPr>
      </p:sp>
      <p:sp>
        <p:nvSpPr>
          <p:cNvPr id="5" name="Text 3"/>
          <p:cNvSpPr/>
          <p:nvPr/>
        </p:nvSpPr>
        <p:spPr>
          <a:xfrm>
            <a:off x="1003300" y="1722041"/>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ONE FABLE</a:t>
            </a:r>
            <a:endParaRPr lang="en-US" sz="1200" dirty="0"/>
          </a:p>
        </p:txBody>
      </p:sp>
      <p:sp>
        <p:nvSpPr>
          <p:cNvPr id="6" name="Text 4"/>
          <p:cNvSpPr/>
          <p:nvPr/>
        </p:nvSpPr>
        <p:spPr>
          <a:xfrm>
            <a:off x="1003300" y="1986161"/>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One character · one trait · one problem · one choice</a:t>
            </a:r>
            <a:endParaRPr lang="en-US" sz="1400" dirty="0"/>
          </a:p>
        </p:txBody>
      </p:sp>
      <p:sp>
        <p:nvSpPr>
          <p:cNvPr id="7" name="Shape 5"/>
          <p:cNvSpPr/>
          <p:nvPr/>
        </p:nvSpPr>
        <p:spPr>
          <a:xfrm>
            <a:off x="4383584" y="1575991"/>
            <a:ext cx="3424734" cy="1018381"/>
          </a:xfrm>
          <a:prstGeom prst="roundRect">
            <a:avLst>
              <a:gd name="adj" fmla="val 8106"/>
            </a:avLst>
          </a:prstGeom>
          <a:solidFill>
            <a:srgbClr val="FFFFFF"/>
          </a:solidFill>
          <a:ln w="12700">
            <a:solidFill>
              <a:srgbClr val="D9DEE5"/>
            </a:solidFill>
            <a:prstDash val="solid"/>
          </a:ln>
        </p:spPr>
      </p:sp>
      <p:sp>
        <p:nvSpPr>
          <p:cNvPr id="8" name="Text 6"/>
          <p:cNvSpPr/>
          <p:nvPr/>
        </p:nvSpPr>
        <p:spPr>
          <a:xfrm>
            <a:off x="4567734" y="1722041"/>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RESULT</a:t>
            </a:r>
            <a:endParaRPr lang="en-US" sz="1200" dirty="0"/>
          </a:p>
        </p:txBody>
      </p:sp>
      <p:sp>
        <p:nvSpPr>
          <p:cNvPr id="9" name="Text 7"/>
          <p:cNvSpPr/>
          <p:nvPr/>
        </p:nvSpPr>
        <p:spPr>
          <a:xfrm>
            <a:off x="4567734" y="1986161"/>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Because ___, ___. ___, so ___. ___. As a result, ___.</a:t>
            </a:r>
            <a:endParaRPr lang="en-US" sz="1400" dirty="0"/>
          </a:p>
        </p:txBody>
      </p:sp>
      <p:sp>
        <p:nvSpPr>
          <p:cNvPr id="10" name="Shape 8"/>
          <p:cNvSpPr/>
          <p:nvPr/>
        </p:nvSpPr>
        <p:spPr>
          <a:xfrm>
            <a:off x="7948017" y="1575991"/>
            <a:ext cx="3424734" cy="1018381"/>
          </a:xfrm>
          <a:prstGeom prst="roundRect">
            <a:avLst>
              <a:gd name="adj" fmla="val 8106"/>
            </a:avLst>
          </a:prstGeom>
          <a:solidFill>
            <a:srgbClr val="FFFFFF"/>
          </a:solidFill>
          <a:ln w="12700">
            <a:solidFill>
              <a:srgbClr val="D9DEE5"/>
            </a:solidFill>
            <a:prstDash val="solid"/>
          </a:ln>
        </p:spPr>
      </p:sp>
      <p:sp>
        <p:nvSpPr>
          <p:cNvPr id="11" name="Text 9"/>
          <p:cNvSpPr/>
          <p:nvPr/>
        </p:nvSpPr>
        <p:spPr>
          <a:xfrm>
            <a:off x="8132167" y="1722041"/>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MORAL</a:t>
            </a:r>
            <a:endParaRPr lang="en-US" sz="1200" dirty="0"/>
          </a:p>
        </p:txBody>
      </p:sp>
      <p:sp>
        <p:nvSpPr>
          <p:cNvPr id="12" name="Text 10"/>
          <p:cNvSpPr/>
          <p:nvPr/>
        </p:nvSpPr>
        <p:spPr>
          <a:xfrm>
            <a:off x="8132167" y="1986161"/>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Do ___, or ___. A ___ who ___ may ___. ___, but ___.</a:t>
            </a:r>
            <a:endParaRPr lang="en-US" sz="1400" dirty="0"/>
          </a:p>
        </p:txBody>
      </p:sp>
      <p:sp>
        <p:nvSpPr>
          <p:cNvPr id="13" name="Shape 11"/>
          <p:cNvSpPr/>
          <p:nvPr/>
        </p:nvSpPr>
        <p:spPr>
          <a:xfrm>
            <a:off x="819150" y="2734072"/>
            <a:ext cx="3424734" cy="1018381"/>
          </a:xfrm>
          <a:prstGeom prst="roundRect">
            <a:avLst>
              <a:gd name="adj" fmla="val 8106"/>
            </a:avLst>
          </a:prstGeom>
          <a:solidFill>
            <a:srgbClr val="FFFFFF"/>
          </a:solidFill>
          <a:ln w="12700">
            <a:solidFill>
              <a:srgbClr val="D9DEE5"/>
            </a:solidFill>
            <a:prstDash val="solid"/>
          </a:ln>
        </p:spPr>
      </p:sp>
      <p:sp>
        <p:nvSpPr>
          <p:cNvPr id="14" name="Text 12"/>
          <p:cNvSpPr/>
          <p:nvPr/>
        </p:nvSpPr>
        <p:spPr>
          <a:xfrm>
            <a:off x="1003300" y="2880122"/>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SPEECH</a:t>
            </a:r>
            <a:endParaRPr lang="en-US" sz="1200" dirty="0"/>
          </a:p>
        </p:txBody>
      </p:sp>
      <p:sp>
        <p:nvSpPr>
          <p:cNvPr id="15" name="Text 13"/>
          <p:cNvSpPr/>
          <p:nvPr/>
        </p:nvSpPr>
        <p:spPr>
          <a:xfrm>
            <a:off x="1003300" y="314424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He said, “___.” “___,” said the lion. End mark inside.</a:t>
            </a:r>
            <a:endParaRPr lang="en-US" sz="1400" dirty="0"/>
          </a:p>
        </p:txBody>
      </p:sp>
      <p:sp>
        <p:nvSpPr>
          <p:cNvPr id="16" name="Shape 14"/>
          <p:cNvSpPr/>
          <p:nvPr/>
        </p:nvSpPr>
        <p:spPr>
          <a:xfrm>
            <a:off x="4383584" y="2734072"/>
            <a:ext cx="3424734" cy="1018381"/>
          </a:xfrm>
          <a:prstGeom prst="roundRect">
            <a:avLst>
              <a:gd name="adj" fmla="val 8106"/>
            </a:avLst>
          </a:prstGeom>
          <a:solidFill>
            <a:srgbClr val="FFFFFF"/>
          </a:solidFill>
          <a:ln w="12700">
            <a:solidFill>
              <a:srgbClr val="D9DEE5"/>
            </a:solidFill>
            <a:prstDash val="solid"/>
          </a:ln>
        </p:spPr>
      </p:sp>
      <p:sp>
        <p:nvSpPr>
          <p:cNvPr id="17" name="Text 15"/>
          <p:cNvSpPr/>
          <p:nvPr/>
        </p:nvSpPr>
        <p:spPr>
          <a:xfrm>
            <a:off x="4567734" y="2880122"/>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VERBS</a:t>
            </a:r>
            <a:endParaRPr lang="en-US" sz="1200" dirty="0"/>
          </a:p>
        </p:txBody>
      </p:sp>
      <p:sp>
        <p:nvSpPr>
          <p:cNvPr id="18" name="Text 16"/>
          <p:cNvSpPr/>
          <p:nvPr/>
        </p:nvSpPr>
        <p:spPr>
          <a:xfrm>
            <a:off x="4567734" y="314424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One: it was, it has. Many: they were, they have. Keep the past tense.</a:t>
            </a:r>
            <a:endParaRPr lang="en-US" sz="1400" dirty="0"/>
          </a:p>
        </p:txBody>
      </p:sp>
      <p:sp>
        <p:nvSpPr>
          <p:cNvPr id="19" name="Shape 17"/>
          <p:cNvSpPr/>
          <p:nvPr/>
        </p:nvSpPr>
        <p:spPr>
          <a:xfrm>
            <a:off x="7948017" y="2734072"/>
            <a:ext cx="3424734" cy="1018381"/>
          </a:xfrm>
          <a:prstGeom prst="roundRect">
            <a:avLst>
              <a:gd name="adj" fmla="val 8106"/>
            </a:avLst>
          </a:prstGeom>
          <a:solidFill>
            <a:srgbClr val="FFFFFF"/>
          </a:solidFill>
          <a:ln w="12700">
            <a:solidFill>
              <a:srgbClr val="D9DEE5"/>
            </a:solidFill>
            <a:prstDash val="solid"/>
          </a:ln>
        </p:spPr>
      </p:sp>
      <p:sp>
        <p:nvSpPr>
          <p:cNvPr id="20" name="Text 18"/>
          <p:cNvSpPr/>
          <p:nvPr/>
        </p:nvSpPr>
        <p:spPr>
          <a:xfrm>
            <a:off x="8132167" y="2880122"/>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A"/>
                </a:solidFill>
                <a:latin typeface="Arial" pitchFamily="34" charset="0"/>
                <a:ea typeface="Arial" pitchFamily="34" charset="-122"/>
                <a:cs typeface="Arial" pitchFamily="34" charset="-120"/>
              </a:rPr>
              <a:t>CHECK</a:t>
            </a:r>
            <a:endParaRPr lang="en-US" sz="1200" dirty="0"/>
          </a:p>
        </p:txBody>
      </p:sp>
      <p:sp>
        <p:nvSpPr>
          <p:cNvPr id="21" name="Text 19"/>
          <p:cNvSpPr/>
          <p:nvPr/>
        </p:nvSpPr>
        <p:spPr>
          <a:xfrm>
            <a:off x="8132167" y="314424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Spelling · capitals · finger spaces · no names in the moral</a:t>
            </a:r>
            <a:endParaRPr lang="en-US" sz="1400" dirty="0"/>
          </a:p>
        </p:txBody>
      </p:sp>
      <p:sp>
        <p:nvSpPr>
          <p:cNvPr id="22" name="Text 20"/>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Use the toolkit to fix your target.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PLENARY</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Plenary: share and reflect</a:t>
            </a:r>
            <a:endParaRPr lang="en-US" sz="2800" dirty="0"/>
          </a:p>
        </p:txBody>
      </p:sp>
      <p:sp>
        <p:nvSpPr>
          <p:cNvPr id="4" name="Shape 2"/>
          <p:cNvSpPr/>
          <p:nvPr/>
        </p:nvSpPr>
        <p:spPr>
          <a:xfrm>
            <a:off x="812800" y="1569641"/>
            <a:ext cx="3437434" cy="2295723"/>
          </a:xfrm>
          <a:prstGeom prst="roundRect">
            <a:avLst>
              <a:gd name="adj" fmla="val 3872"/>
            </a:avLst>
          </a:prstGeom>
          <a:solidFill>
            <a:srgbClr val="FFFFFF"/>
          </a:solidFill>
          <a:ln/>
        </p:spPr>
      </p:sp>
      <p:sp>
        <p:nvSpPr>
          <p:cNvPr id="5" name="Shape 3"/>
          <p:cNvSpPr/>
          <p:nvPr/>
        </p:nvSpPr>
        <p:spPr>
          <a:xfrm>
            <a:off x="812800" y="1569641"/>
            <a:ext cx="3437434" cy="2295723"/>
          </a:xfrm>
          <a:custGeom>
            <a:avLst/>
            <a:gdLst/>
            <a:ahLst/>
            <a:cxnLst/>
            <a:rect l="l" t="t" r="r" b="b"/>
            <a:pathLst>
              <a:path w="3437434" h="2295723">
                <a:moveTo>
                  <a:pt x="0" y="88900"/>
                </a:moveTo>
                <a:lnTo>
                  <a:pt x="0" y="88900"/>
                </a:lnTo>
                <a:arcTo wR="88900" hR="88900" stAng="10800000" swAng="5400000"/>
                <a:lnTo>
                  <a:pt x="3348534" y="0"/>
                </a:lnTo>
                <a:arcTo wR="88900" hR="88900" stAng="16200000" swAng="5400000"/>
                <a:lnTo>
                  <a:pt x="3437434" y="88900"/>
                </a:lnTo>
                <a:arcTo wR="88900" hR="12700" stAng="0" swAng="-5400000"/>
                <a:lnTo>
                  <a:pt x="88900" y="76200"/>
                </a:lnTo>
                <a:arcTo wR="88900" hR="12700" stAng="16200000" swAng="-5400000"/>
                <a:close/>
              </a:path>
            </a:pathLst>
          </a:custGeom>
          <a:solidFill>
            <a:srgbClr val="1B365D"/>
          </a:solidFill>
          <a:ln/>
        </p:spPr>
      </p:sp>
      <p:sp>
        <p:nvSpPr>
          <p:cNvPr id="6" name="Text 4"/>
          <p:cNvSpPr/>
          <p:nvPr/>
        </p:nvSpPr>
        <p:spPr>
          <a:xfrm>
            <a:off x="1003300" y="181094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 SHARE</a:t>
            </a:r>
            <a:endParaRPr lang="en-US" sz="1800" dirty="0"/>
          </a:p>
        </p:txBody>
      </p:sp>
      <p:sp>
        <p:nvSpPr>
          <p:cNvPr id="7" name="Text 5"/>
          <p:cNvSpPr/>
          <p:nvPr/>
        </p:nvSpPr>
        <p:spPr>
          <a:xfrm>
            <a:off x="1003300" y="2161381"/>
            <a:ext cx="314812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Read your improved sentence aloud</a:t>
            </a:r>
            <a:endParaRPr lang="en-US" sz="1400" dirty="0"/>
          </a:p>
        </p:txBody>
      </p:sp>
      <p:sp>
        <p:nvSpPr>
          <p:cNvPr id="8" name="Text 6"/>
          <p:cNvSpPr/>
          <p:nvPr/>
        </p:nvSpPr>
        <p:spPr>
          <a:xfrm>
            <a:off x="1003300" y="2468662"/>
            <a:ext cx="314812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Class: which fix is it?</a:t>
            </a:r>
            <a:endParaRPr lang="en-US" sz="1400" dirty="0"/>
          </a:p>
        </p:txBody>
      </p:sp>
      <p:sp>
        <p:nvSpPr>
          <p:cNvPr id="9" name="Text 7"/>
          <p:cNvSpPr/>
          <p:nvPr/>
        </p:nvSpPr>
        <p:spPr>
          <a:xfrm>
            <a:off x="1003300" y="2775942"/>
            <a:ext cx="3246934"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What changed from your first version?</a:t>
            </a:r>
            <a:endParaRPr lang="en-US" sz="1400" dirty="0"/>
          </a:p>
        </p:txBody>
      </p:sp>
      <p:sp>
        <p:nvSpPr>
          <p:cNvPr id="10" name="Shape 8"/>
          <p:cNvSpPr/>
          <p:nvPr/>
        </p:nvSpPr>
        <p:spPr>
          <a:xfrm>
            <a:off x="4377234" y="1569641"/>
            <a:ext cx="3437434" cy="2295723"/>
          </a:xfrm>
          <a:prstGeom prst="roundRect">
            <a:avLst>
              <a:gd name="adj" fmla="val 3872"/>
            </a:avLst>
          </a:prstGeom>
          <a:solidFill>
            <a:srgbClr val="FFFFFF"/>
          </a:solidFill>
          <a:ln/>
        </p:spPr>
      </p:sp>
      <p:sp>
        <p:nvSpPr>
          <p:cNvPr id="11" name="Shape 9"/>
          <p:cNvSpPr/>
          <p:nvPr/>
        </p:nvSpPr>
        <p:spPr>
          <a:xfrm>
            <a:off x="4377234" y="1569641"/>
            <a:ext cx="3437434" cy="2295723"/>
          </a:xfrm>
          <a:custGeom>
            <a:avLst/>
            <a:gdLst/>
            <a:ahLst/>
            <a:cxnLst/>
            <a:rect l="l" t="t" r="r" b="b"/>
            <a:pathLst>
              <a:path w="3437434" h="2295723">
                <a:moveTo>
                  <a:pt x="0" y="88900"/>
                </a:moveTo>
                <a:lnTo>
                  <a:pt x="0" y="88900"/>
                </a:lnTo>
                <a:arcTo wR="88900" hR="88900" stAng="10800000" swAng="5400000"/>
                <a:lnTo>
                  <a:pt x="3348534" y="0"/>
                </a:lnTo>
                <a:arcTo wR="88900" hR="88900" stAng="16200000" swAng="5400000"/>
                <a:lnTo>
                  <a:pt x="3437434" y="88900"/>
                </a:lnTo>
                <a:arcTo wR="88900" hR="12700" stAng="0" swAng="-5400000"/>
                <a:lnTo>
                  <a:pt x="88900" y="76200"/>
                </a:lnTo>
                <a:arcTo wR="88900" hR="12700" stAng="16200000" swAng="-5400000"/>
                <a:close/>
              </a:path>
            </a:pathLst>
          </a:custGeom>
          <a:solidFill>
            <a:srgbClr val="1B365D"/>
          </a:solidFill>
          <a:ln/>
        </p:spPr>
      </p:sp>
      <p:sp>
        <p:nvSpPr>
          <p:cNvPr id="12" name="Text 10"/>
          <p:cNvSpPr/>
          <p:nvPr/>
        </p:nvSpPr>
        <p:spPr>
          <a:xfrm>
            <a:off x="4567734" y="181094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 TRAFFIC LIGHTS</a:t>
            </a:r>
            <a:endParaRPr lang="en-US" sz="1800" dirty="0"/>
          </a:p>
        </p:txBody>
      </p:sp>
      <p:sp>
        <p:nvSpPr>
          <p:cNvPr id="13" name="Text 11"/>
          <p:cNvSpPr/>
          <p:nvPr/>
        </p:nvSpPr>
        <p:spPr>
          <a:xfrm>
            <a:off x="4567734" y="2161381"/>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I can check my fable against the checklist</a:t>
            </a:r>
            <a:endParaRPr lang="en-US" sz="1400" dirty="0"/>
          </a:p>
        </p:txBody>
      </p:sp>
      <p:sp>
        <p:nvSpPr>
          <p:cNvPr id="14" name="Text 12"/>
          <p:cNvSpPr/>
          <p:nvPr/>
        </p:nvSpPr>
        <p:spPr>
          <a:xfrm>
            <a:off x="4567734" y="269974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I can give one strength and one improvement</a:t>
            </a:r>
            <a:endParaRPr lang="en-US" sz="1400" dirty="0"/>
          </a:p>
        </p:txBody>
      </p:sp>
      <p:sp>
        <p:nvSpPr>
          <p:cNvPr id="15" name="Text 13"/>
          <p:cNvSpPr/>
          <p:nvPr/>
        </p:nvSpPr>
        <p:spPr>
          <a:xfrm>
            <a:off x="4567734" y="3238103"/>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I can use feedback to improve my writing</a:t>
            </a:r>
            <a:endParaRPr lang="en-US" sz="1400" dirty="0"/>
          </a:p>
        </p:txBody>
      </p:sp>
      <p:sp>
        <p:nvSpPr>
          <p:cNvPr id="16" name="Shape 14"/>
          <p:cNvSpPr/>
          <p:nvPr/>
        </p:nvSpPr>
        <p:spPr>
          <a:xfrm>
            <a:off x="7941667" y="1569641"/>
            <a:ext cx="3437434" cy="2295723"/>
          </a:xfrm>
          <a:prstGeom prst="roundRect">
            <a:avLst>
              <a:gd name="adj" fmla="val 3872"/>
            </a:avLst>
          </a:prstGeom>
          <a:solidFill>
            <a:srgbClr val="FFFFFF"/>
          </a:solidFill>
          <a:ln/>
        </p:spPr>
      </p:sp>
      <p:sp>
        <p:nvSpPr>
          <p:cNvPr id="17" name="Shape 15"/>
          <p:cNvSpPr/>
          <p:nvPr/>
        </p:nvSpPr>
        <p:spPr>
          <a:xfrm>
            <a:off x="7941667" y="1569641"/>
            <a:ext cx="3437434" cy="2295723"/>
          </a:xfrm>
          <a:custGeom>
            <a:avLst/>
            <a:gdLst/>
            <a:ahLst/>
            <a:cxnLst/>
            <a:rect l="l" t="t" r="r" b="b"/>
            <a:pathLst>
              <a:path w="3437434" h="2295723">
                <a:moveTo>
                  <a:pt x="0" y="88900"/>
                </a:moveTo>
                <a:lnTo>
                  <a:pt x="0" y="88900"/>
                </a:lnTo>
                <a:arcTo wR="88900" hR="88900" stAng="10800000" swAng="5400000"/>
                <a:lnTo>
                  <a:pt x="3348534" y="0"/>
                </a:lnTo>
                <a:arcTo wR="88900" hR="88900" stAng="16200000" swAng="5400000"/>
                <a:lnTo>
                  <a:pt x="3437434" y="88900"/>
                </a:lnTo>
                <a:arcTo wR="88900" hR="12700" stAng="0" swAng="-5400000"/>
                <a:lnTo>
                  <a:pt x="88900" y="76200"/>
                </a:lnTo>
                <a:arcTo wR="88900" hR="12700" stAng="16200000" swAng="-5400000"/>
                <a:close/>
              </a:path>
            </a:pathLst>
          </a:custGeom>
          <a:solidFill>
            <a:srgbClr val="1B365D"/>
          </a:solidFill>
          <a:ln/>
        </p:spPr>
      </p:sp>
      <p:sp>
        <p:nvSpPr>
          <p:cNvPr id="18" name="Text 16"/>
          <p:cNvSpPr/>
          <p:nvPr/>
        </p:nvSpPr>
        <p:spPr>
          <a:xfrm>
            <a:off x="8132167" y="181094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365D"/>
                </a:solidFill>
                <a:latin typeface="Arial" pitchFamily="34" charset="0"/>
                <a:ea typeface="Arial" pitchFamily="34" charset="-122"/>
                <a:cs typeface="Arial" pitchFamily="34" charset="-120"/>
              </a:rPr>
              <a:t>💡 LOOK AHEAD</a:t>
            </a:r>
            <a:endParaRPr lang="en-US" sz="1800" dirty="0"/>
          </a:p>
        </p:txBody>
      </p:sp>
      <p:sp>
        <p:nvSpPr>
          <p:cNvPr id="19" name="Text 17"/>
          <p:cNvSpPr/>
          <p:nvPr/>
        </p:nvSpPr>
        <p:spPr>
          <a:xfrm>
            <a:off x="8132167" y="2161381"/>
            <a:ext cx="3246934"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Which problem is still hardest for you?</a:t>
            </a:r>
            <a:endParaRPr lang="en-US" sz="1400" dirty="0"/>
          </a:p>
        </p:txBody>
      </p:sp>
      <p:sp>
        <p:nvSpPr>
          <p:cNvPr id="20" name="Text 18"/>
          <p:cNvSpPr/>
          <p:nvPr/>
        </p:nvSpPr>
        <p:spPr>
          <a:xfrm>
            <a:off x="8132167" y="2468662"/>
            <a:ext cx="314812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933"/>
                </a:solidFill>
                <a:latin typeface="Arial" pitchFamily="34" charset="0"/>
                <a:ea typeface="Arial" pitchFamily="34" charset="-122"/>
                <a:cs typeface="Arial" pitchFamily="34" charset="-120"/>
              </a:rPr>
              <a:t>What was your partner’s most useful feedback?</a:t>
            </a:r>
            <a:endParaRPr lang="en-US" sz="1400" dirty="0"/>
          </a:p>
        </p:txBody>
      </p:sp>
      <p:sp>
        <p:nvSpPr>
          <p:cNvPr id="21" name="Text 19"/>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 I can do it 🟡 I need a little more practice 🔴 I need help</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EXIT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Exit ticket 🎫</a:t>
            </a:r>
            <a:endParaRPr lang="en-US" sz="2800" dirty="0"/>
          </a:p>
        </p:txBody>
      </p:sp>
      <p:sp>
        <p:nvSpPr>
          <p:cNvPr id="4" name="Shape 2"/>
          <p:cNvSpPr/>
          <p:nvPr/>
        </p:nvSpPr>
        <p:spPr>
          <a:xfrm>
            <a:off x="819150" y="1575991"/>
            <a:ext cx="10553700" cy="764480"/>
          </a:xfrm>
          <a:prstGeom prst="roundRect">
            <a:avLst>
              <a:gd name="adj" fmla="val 9137"/>
            </a:avLst>
          </a:prstGeom>
          <a:solidFill>
            <a:srgbClr val="FFFFFF"/>
          </a:solidFill>
          <a:ln w="12700">
            <a:solidFill>
              <a:srgbClr val="D9DEE5"/>
            </a:solidFill>
            <a:prstDash val="solid"/>
          </a:ln>
        </p:spPr>
      </p:sp>
      <p:sp>
        <p:nvSpPr>
          <p:cNvPr id="5" name="Text 3"/>
          <p:cNvSpPr/>
          <p:nvPr/>
        </p:nvSpPr>
        <p:spPr>
          <a:xfrm>
            <a:off x="1003300" y="1709341"/>
            <a:ext cx="225028"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1</a:t>
            </a:r>
            <a:endParaRPr lang="en-US" sz="2800" dirty="0"/>
          </a:p>
        </p:txBody>
      </p:sp>
      <p:sp>
        <p:nvSpPr>
          <p:cNvPr id="6" name="Text 4"/>
          <p:cNvSpPr/>
          <p:nvPr/>
        </p:nvSpPr>
        <p:spPr>
          <a:xfrm>
            <a:off x="1329928" y="1826121"/>
            <a:ext cx="5082421"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Name three words that link a choice to a result.</a:t>
            </a:r>
            <a:endParaRPr lang="en-US" sz="1600" dirty="0"/>
          </a:p>
        </p:txBody>
      </p:sp>
      <p:sp>
        <p:nvSpPr>
          <p:cNvPr id="7" name="Shape 5"/>
          <p:cNvSpPr/>
          <p:nvPr/>
        </p:nvSpPr>
        <p:spPr>
          <a:xfrm>
            <a:off x="819150" y="2467471"/>
            <a:ext cx="10553700" cy="764480"/>
          </a:xfrm>
          <a:prstGeom prst="roundRect">
            <a:avLst>
              <a:gd name="adj" fmla="val 9137"/>
            </a:avLst>
          </a:prstGeom>
          <a:solidFill>
            <a:srgbClr val="FFFFFF"/>
          </a:solidFill>
          <a:ln w="12700">
            <a:solidFill>
              <a:srgbClr val="D9DEE5"/>
            </a:solidFill>
            <a:prstDash val="solid"/>
          </a:ln>
        </p:spPr>
      </p:sp>
      <p:sp>
        <p:nvSpPr>
          <p:cNvPr id="8" name="Text 6"/>
          <p:cNvSpPr/>
          <p:nvPr/>
        </p:nvSpPr>
        <p:spPr>
          <a:xfrm>
            <a:off x="1003300" y="2600821"/>
            <a:ext cx="273645"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2</a:t>
            </a:r>
            <a:endParaRPr lang="en-US" sz="2800" dirty="0"/>
          </a:p>
        </p:txBody>
      </p:sp>
      <p:sp>
        <p:nvSpPr>
          <p:cNvPr id="9" name="Text 7"/>
          <p:cNvSpPr/>
          <p:nvPr/>
        </p:nvSpPr>
        <p:spPr>
          <a:xfrm>
            <a:off x="1378545" y="2717602"/>
            <a:ext cx="4255413"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Fix the speech: Mia said“I will help you”</a:t>
            </a:r>
            <a:endParaRPr lang="en-US" sz="1600" dirty="0"/>
          </a:p>
        </p:txBody>
      </p:sp>
      <p:sp>
        <p:nvSpPr>
          <p:cNvPr id="10" name="Shape 8"/>
          <p:cNvSpPr/>
          <p:nvPr/>
        </p:nvSpPr>
        <p:spPr>
          <a:xfrm>
            <a:off x="819150" y="3358952"/>
            <a:ext cx="10553700" cy="764480"/>
          </a:xfrm>
          <a:prstGeom prst="roundRect">
            <a:avLst>
              <a:gd name="adj" fmla="val 9137"/>
            </a:avLst>
          </a:prstGeom>
          <a:solidFill>
            <a:srgbClr val="FFFFFF"/>
          </a:solidFill>
          <a:ln w="12700">
            <a:solidFill>
              <a:srgbClr val="D9DEE5"/>
            </a:solidFill>
            <a:prstDash val="solid"/>
          </a:ln>
        </p:spPr>
      </p:sp>
      <p:sp>
        <p:nvSpPr>
          <p:cNvPr id="11" name="Text 9"/>
          <p:cNvSpPr/>
          <p:nvPr/>
        </p:nvSpPr>
        <p:spPr>
          <a:xfrm>
            <a:off x="1003300" y="3492302"/>
            <a:ext cx="272951"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3</a:t>
            </a:r>
            <a:endParaRPr lang="en-US" sz="2800" dirty="0"/>
          </a:p>
        </p:txBody>
      </p:sp>
      <p:sp>
        <p:nvSpPr>
          <p:cNvPr id="12" name="Text 10"/>
          <p:cNvSpPr/>
          <p:nvPr/>
        </p:nvSpPr>
        <p:spPr>
          <a:xfrm>
            <a:off x="1377851" y="3609082"/>
            <a:ext cx="741354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Is this a moral? “The owl learned that she should be kind.” Rewrite it.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EXIT</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Exit ticket 🎫: answers</a:t>
            </a:r>
            <a:endParaRPr lang="en-US" sz="2800" dirty="0"/>
          </a:p>
        </p:txBody>
      </p:sp>
      <p:sp>
        <p:nvSpPr>
          <p:cNvPr id="4" name="Shape 2"/>
          <p:cNvSpPr/>
          <p:nvPr/>
        </p:nvSpPr>
        <p:spPr>
          <a:xfrm>
            <a:off x="812800" y="1569641"/>
            <a:ext cx="10566400" cy="726380"/>
          </a:xfrm>
          <a:prstGeom prst="roundRect">
            <a:avLst>
              <a:gd name="adj" fmla="val 10490"/>
            </a:avLst>
          </a:prstGeom>
          <a:solidFill>
            <a:srgbClr val="E3EEF9"/>
          </a:solidFill>
          <a:ln/>
        </p:spPr>
      </p:sp>
      <p:sp>
        <p:nvSpPr>
          <p:cNvPr id="5" name="Text 3"/>
          <p:cNvSpPr/>
          <p:nvPr/>
        </p:nvSpPr>
        <p:spPr>
          <a:xfrm>
            <a:off x="990600" y="1683941"/>
            <a:ext cx="225028"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B5E9B"/>
                </a:solidFill>
                <a:latin typeface="Georgia" pitchFamily="18" charset="0"/>
                <a:ea typeface="Georgia" pitchFamily="18" charset="-122"/>
                <a:cs typeface="Georgia" pitchFamily="18" charset="-120"/>
              </a:rPr>
              <a:t>1</a:t>
            </a:r>
            <a:endParaRPr lang="en-US" sz="2800" dirty="0"/>
          </a:p>
        </p:txBody>
      </p:sp>
      <p:sp>
        <p:nvSpPr>
          <p:cNvPr id="6" name="Text 4"/>
          <p:cNvSpPr/>
          <p:nvPr/>
        </p:nvSpPr>
        <p:spPr>
          <a:xfrm>
            <a:off x="1317228" y="1694061"/>
            <a:ext cx="2977872"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 because, so, as a result</a:t>
            </a:r>
            <a:endParaRPr lang="en-US" sz="1600" dirty="0"/>
          </a:p>
        </p:txBody>
      </p:sp>
      <p:sp>
        <p:nvSpPr>
          <p:cNvPr id="7" name="Text 5"/>
          <p:cNvSpPr/>
          <p:nvPr/>
        </p:nvSpPr>
        <p:spPr>
          <a:xfrm>
            <a:off x="1317228" y="1958181"/>
            <a:ext cx="2556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812800" y="2410321"/>
            <a:ext cx="10566400" cy="726380"/>
          </a:xfrm>
          <a:prstGeom prst="roundRect">
            <a:avLst>
              <a:gd name="adj" fmla="val 10490"/>
            </a:avLst>
          </a:prstGeom>
          <a:solidFill>
            <a:srgbClr val="E3EEF9"/>
          </a:solidFill>
          <a:ln/>
        </p:spPr>
      </p:sp>
      <p:sp>
        <p:nvSpPr>
          <p:cNvPr id="9" name="Text 7"/>
          <p:cNvSpPr/>
          <p:nvPr/>
        </p:nvSpPr>
        <p:spPr>
          <a:xfrm>
            <a:off x="990600" y="2524621"/>
            <a:ext cx="273645"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B5E9B"/>
                </a:solidFill>
                <a:latin typeface="Georgia" pitchFamily="18" charset="0"/>
                <a:ea typeface="Georgia" pitchFamily="18" charset="-122"/>
                <a:cs typeface="Georgia" pitchFamily="18" charset="-120"/>
              </a:rPr>
              <a:t>2</a:t>
            </a:r>
            <a:endParaRPr lang="en-US" sz="2800" dirty="0"/>
          </a:p>
        </p:txBody>
      </p:sp>
      <p:sp>
        <p:nvSpPr>
          <p:cNvPr id="10" name="Text 8"/>
          <p:cNvSpPr/>
          <p:nvPr/>
        </p:nvSpPr>
        <p:spPr>
          <a:xfrm>
            <a:off x="1365845" y="2534741"/>
            <a:ext cx="279197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 Mia said, “I will help you.”</a:t>
            </a:r>
            <a:endParaRPr lang="en-US" sz="1600" dirty="0"/>
          </a:p>
        </p:txBody>
      </p:sp>
      <p:sp>
        <p:nvSpPr>
          <p:cNvPr id="11" name="Text 9"/>
          <p:cNvSpPr/>
          <p:nvPr/>
        </p:nvSpPr>
        <p:spPr>
          <a:xfrm>
            <a:off x="1365845" y="2798862"/>
            <a:ext cx="32527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Arial" pitchFamily="34" charset="0"/>
                <a:ea typeface="Arial" pitchFamily="34" charset="-122"/>
                <a:cs typeface="Arial" pitchFamily="34" charset="-120"/>
              </a:rPr>
              <a:t>comma, then a space; end mark inside ·</a:t>
            </a:r>
            <a:endParaRPr lang="en-US" sz="1200" dirty="0"/>
          </a:p>
        </p:txBody>
      </p:sp>
      <p:sp>
        <p:nvSpPr>
          <p:cNvPr id="12" name="Shape 10"/>
          <p:cNvSpPr/>
          <p:nvPr/>
        </p:nvSpPr>
        <p:spPr>
          <a:xfrm>
            <a:off x="812800" y="3251002"/>
            <a:ext cx="10566400" cy="726380"/>
          </a:xfrm>
          <a:prstGeom prst="roundRect">
            <a:avLst>
              <a:gd name="adj" fmla="val 10490"/>
            </a:avLst>
          </a:prstGeom>
          <a:solidFill>
            <a:srgbClr val="E3EEF9"/>
          </a:solidFill>
          <a:ln/>
        </p:spPr>
      </p:sp>
      <p:sp>
        <p:nvSpPr>
          <p:cNvPr id="13" name="Text 11"/>
          <p:cNvSpPr/>
          <p:nvPr/>
        </p:nvSpPr>
        <p:spPr>
          <a:xfrm>
            <a:off x="990600" y="3365302"/>
            <a:ext cx="272951"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B5E9B"/>
                </a:solidFill>
                <a:latin typeface="Georgia" pitchFamily="18" charset="0"/>
                <a:ea typeface="Georgia" pitchFamily="18" charset="-122"/>
                <a:cs typeface="Georgia" pitchFamily="18" charset="-120"/>
              </a:rPr>
              <a:t>3</a:t>
            </a:r>
            <a:endParaRPr lang="en-US" sz="2800" dirty="0"/>
          </a:p>
        </p:txBody>
      </p:sp>
      <p:sp>
        <p:nvSpPr>
          <p:cNvPr id="14" name="Text 12"/>
          <p:cNvSpPr/>
          <p:nvPr/>
        </p:nvSpPr>
        <p:spPr>
          <a:xfrm>
            <a:off x="1365151" y="3375422"/>
            <a:ext cx="10014049"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 No: it names the owl and says she. Example: Always be kind to others, or you may be left alone.</a:t>
            </a:r>
            <a:endParaRPr lang="en-US" sz="1600" dirty="0"/>
          </a:p>
        </p:txBody>
      </p:sp>
      <p:sp>
        <p:nvSpPr>
          <p:cNvPr id="15" name="Text 13"/>
          <p:cNvSpPr/>
          <p:nvPr/>
        </p:nvSpPr>
        <p:spPr>
          <a:xfrm>
            <a:off x="1365151" y="3639542"/>
            <a:ext cx="924520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Arial" pitchFamily="34" charset="0"/>
                <a:ea typeface="Arial" pitchFamily="34" charset="-122"/>
                <a:cs typeface="Arial" pitchFamily="34" charset="-120"/>
              </a:rPr>
              <a:t>a moral is general and has no names ·</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5EE"/>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A"/>
                </a:solidFill>
                <a:latin typeface="Arial" pitchFamily="34" charset="0"/>
                <a:ea typeface="Arial" pitchFamily="34" charset="-122"/>
                <a:cs typeface="Arial" pitchFamily="34" charset="-120"/>
              </a:rPr>
              <a:t>HOMEWORK</a:t>
            </a:r>
            <a:endParaRPr lang="en-US" sz="1200" dirty="0"/>
          </a:p>
        </p:txBody>
      </p:sp>
      <p:sp>
        <p:nvSpPr>
          <p:cNvPr id="3" name="Text 1"/>
          <p:cNvSpPr>
            <a:spLocks noGrp="1"/>
          </p:cNvSpPr>
          <p:nvPr>
            <p:ph type="title"/>
          </p:nvPr>
        </p:nvSpPr>
        <p:spPr>
          <a:xfrm>
            <a:off x="812800" y="1000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B365D"/>
                </a:solidFill>
                <a:latin typeface="Georgia" pitchFamily="18" charset="0"/>
                <a:ea typeface="Georgia" pitchFamily="18" charset="-122"/>
                <a:cs typeface="Georgia" pitchFamily="18" charset="-120"/>
              </a:rPr>
              <a:t>Homework: finish your fable ✍️</a:t>
            </a:r>
            <a:endParaRPr lang="en-US" sz="2800" dirty="0"/>
          </a:p>
        </p:txBody>
      </p:sp>
      <p:sp>
        <p:nvSpPr>
          <p:cNvPr id="4" name="Shape 2"/>
          <p:cNvSpPr/>
          <p:nvPr/>
        </p:nvSpPr>
        <p:spPr>
          <a:xfrm>
            <a:off x="819150" y="1575991"/>
            <a:ext cx="10553700" cy="764480"/>
          </a:xfrm>
          <a:prstGeom prst="roundRect">
            <a:avLst>
              <a:gd name="adj" fmla="val 9137"/>
            </a:avLst>
          </a:prstGeom>
          <a:solidFill>
            <a:srgbClr val="FFFFFF"/>
          </a:solidFill>
          <a:ln w="12700">
            <a:solidFill>
              <a:srgbClr val="D9DEE5"/>
            </a:solidFill>
            <a:prstDash val="solid"/>
          </a:ln>
        </p:spPr>
      </p:sp>
      <p:sp>
        <p:nvSpPr>
          <p:cNvPr id="5" name="Text 3"/>
          <p:cNvSpPr/>
          <p:nvPr/>
        </p:nvSpPr>
        <p:spPr>
          <a:xfrm>
            <a:off x="1003300" y="1709341"/>
            <a:ext cx="225028"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1</a:t>
            </a:r>
            <a:endParaRPr lang="en-US" sz="2800" dirty="0"/>
          </a:p>
        </p:txBody>
      </p:sp>
      <p:sp>
        <p:nvSpPr>
          <p:cNvPr id="6" name="Text 4"/>
          <p:cNvSpPr/>
          <p:nvPr/>
        </p:nvSpPr>
        <p:spPr>
          <a:xfrm>
            <a:off x="1329928" y="1826121"/>
            <a:ext cx="514100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Fix your target and your partner’s improvement.</a:t>
            </a:r>
            <a:endParaRPr lang="en-US" sz="1600" dirty="0"/>
          </a:p>
        </p:txBody>
      </p:sp>
      <p:sp>
        <p:nvSpPr>
          <p:cNvPr id="7" name="Shape 5"/>
          <p:cNvSpPr/>
          <p:nvPr/>
        </p:nvSpPr>
        <p:spPr>
          <a:xfrm>
            <a:off x="819150" y="2454771"/>
            <a:ext cx="10553700" cy="764480"/>
          </a:xfrm>
          <a:prstGeom prst="roundRect">
            <a:avLst>
              <a:gd name="adj" fmla="val 9137"/>
            </a:avLst>
          </a:prstGeom>
          <a:solidFill>
            <a:srgbClr val="FFFFFF"/>
          </a:solidFill>
          <a:ln w="12700">
            <a:solidFill>
              <a:srgbClr val="D9DEE5"/>
            </a:solidFill>
            <a:prstDash val="solid"/>
          </a:ln>
        </p:spPr>
      </p:sp>
      <p:sp>
        <p:nvSpPr>
          <p:cNvPr id="8" name="Text 6"/>
          <p:cNvSpPr/>
          <p:nvPr/>
        </p:nvSpPr>
        <p:spPr>
          <a:xfrm>
            <a:off x="1003300" y="2588121"/>
            <a:ext cx="273645"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2</a:t>
            </a:r>
            <a:endParaRPr lang="en-US" sz="2800" dirty="0"/>
          </a:p>
        </p:txBody>
      </p:sp>
      <p:sp>
        <p:nvSpPr>
          <p:cNvPr id="9" name="Text 7"/>
          <p:cNvSpPr/>
          <p:nvPr/>
        </p:nvSpPr>
        <p:spPr>
          <a:xfrm>
            <a:off x="1378545" y="2704902"/>
            <a:ext cx="5787033"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Check your speech marks and your moral: no names.</a:t>
            </a:r>
            <a:endParaRPr lang="en-US" sz="1600" dirty="0"/>
          </a:p>
        </p:txBody>
      </p:sp>
      <p:sp>
        <p:nvSpPr>
          <p:cNvPr id="10" name="Shape 8"/>
          <p:cNvSpPr/>
          <p:nvPr/>
        </p:nvSpPr>
        <p:spPr>
          <a:xfrm>
            <a:off x="819150" y="3333552"/>
            <a:ext cx="10553700" cy="764480"/>
          </a:xfrm>
          <a:prstGeom prst="roundRect">
            <a:avLst>
              <a:gd name="adj" fmla="val 9137"/>
            </a:avLst>
          </a:prstGeom>
          <a:solidFill>
            <a:srgbClr val="FFFFFF"/>
          </a:solidFill>
          <a:ln w="12700">
            <a:solidFill>
              <a:srgbClr val="D9DEE5"/>
            </a:solidFill>
            <a:prstDash val="solid"/>
          </a:ln>
        </p:spPr>
      </p:sp>
      <p:sp>
        <p:nvSpPr>
          <p:cNvPr id="11" name="Text 9"/>
          <p:cNvSpPr/>
          <p:nvPr/>
        </p:nvSpPr>
        <p:spPr>
          <a:xfrm>
            <a:off x="1003300" y="3466902"/>
            <a:ext cx="272951"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70A"/>
                </a:solidFill>
                <a:latin typeface="Georgia" pitchFamily="18" charset="0"/>
                <a:ea typeface="Georgia" pitchFamily="18" charset="-122"/>
                <a:cs typeface="Georgia" pitchFamily="18" charset="-120"/>
              </a:rPr>
              <a:t>3</a:t>
            </a:r>
            <a:endParaRPr lang="en-US" sz="2800" dirty="0"/>
          </a:p>
        </p:txBody>
      </p:sp>
      <p:sp>
        <p:nvSpPr>
          <p:cNvPr id="12" name="Text 10"/>
          <p:cNvSpPr/>
          <p:nvPr/>
        </p:nvSpPr>
        <p:spPr>
          <a:xfrm>
            <a:off x="1377851" y="3583682"/>
            <a:ext cx="8187214"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F2933"/>
                </a:solidFill>
                <a:latin typeface="Arial" pitchFamily="34" charset="0"/>
                <a:ea typeface="Arial" pitchFamily="34" charset="-122"/>
                <a:cs typeface="Arial" pitchFamily="34" charset="-120"/>
              </a:rPr>
              <a:t>Read it aloud to someone at home. Does it sound clear and well organised?</a:t>
            </a:r>
            <a:endParaRPr lang="en-US" sz="1600" dirty="0"/>
          </a:p>
        </p:txBody>
      </p:sp>
      <p:sp>
        <p:nvSpPr>
          <p:cNvPr id="13" name="Text 11"/>
          <p:cNvSpPr/>
          <p:nvPr/>
        </p:nvSpPr>
        <p:spPr>
          <a:xfrm>
            <a:off x="812800" y="6271320"/>
            <a:ext cx="981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365D"/>
                </a:solidFill>
                <a:latin typeface="Arial" pitchFamily="34" charset="0"/>
                <a:ea typeface="Arial" pitchFamily="34" charset="-122"/>
                <a:cs typeface="Arial" pitchFamily="34" charset="-120"/>
              </a:rPr>
              <a:t>Next lesson: editing and improving your fable, then publishing.</a:t>
            </a:r>
            <a:endParaRPr lang="en-US" sz="1300" dirty="0"/>
          </a:p>
        </p:txBody>
      </p:sp>
    </p:spTree>
  </p:cSld>
  <p:clrMapOvr>
    <a:masterClrMapping/>
  </p:clrMapOvr>
</p:sld>
</file>

<file path=ppt/theme/theme1.xml><?xml version="1.0" encoding="utf-8"?>
<a:theme xmlns:a="http://schemas.openxmlformats.org/drawingml/2006/main" name="Fable Feedback: Check, Share, Improve">
  <a:themeElements>
    <a:clrScheme name="Fable Feedback: Check, Share, Improve">
      <a:dk1>
        <a:srgbClr val="1B365D"/>
      </a:dk1>
      <a:lt1>
        <a:srgbClr val="F8F5EE"/>
      </a:lt1>
      <a:dk2>
        <a:srgbClr val="526681"/>
      </a:dk2>
      <a:lt2>
        <a:srgbClr val="E2E2E0"/>
      </a:lt2>
      <a:accent1>
        <a:srgbClr val="B4570A"/>
      </a:accent1>
      <a:accent2>
        <a:srgbClr val="1B5E9B"/>
      </a:accent2>
      <a:accent3>
        <a:srgbClr val="9B2C2C"/>
      </a:accent3>
      <a:accent4>
        <a:srgbClr val="2F7D4F"/>
      </a:accent4>
      <a:accent5>
        <a:srgbClr val="6B3FA0"/>
      </a:accent5>
      <a:accent6>
        <a:srgbClr val="F2B880"/>
      </a:accent6>
      <a:hlink>
        <a:srgbClr val="0563C1"/>
      </a:hlink>
      <a:folHlink>
        <a:srgbClr val="954F72"/>
      </a:folHlink>
    </a:clrScheme>
    <a:fontScheme name="Fable Feedback: Check, Share, Improv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4481</Words>
  <Application>Microsoft Office PowerPoint</Application>
  <PresentationFormat>Widescreen</PresentationFormat>
  <Paragraphs>487</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Georgia</vt:lpstr>
      <vt:lpstr>Fable Feedback: Check, Share, Improve</vt:lpstr>
      <vt:lpstr>Fable Doctors</vt:lpstr>
      <vt:lpstr>Today we will learn to…</vt:lpstr>
      <vt:lpstr>What you did well (1)</vt:lpstr>
      <vt:lpstr>What you did well (2)</vt:lpstr>
      <vt:lpstr>What you did well (3)</vt:lpstr>
      <vt:lpstr>What we need to fix</vt:lpstr>
      <vt:lpstr>Problem 1: one fable, one story</vt:lpstr>
      <vt:lpstr>Problem 1 (continued): show, don’t only tell</vt:lpstr>
      <vt:lpstr>Problem 2: because needs a comma and a verb</vt:lpstr>
      <vt:lpstr>Problem 3: a moral is a general lesson</vt:lpstr>
      <vt:lpstr>Problem 3 (continued): add the missing moral</vt:lpstr>
      <vt:lpstr>Problem 4: punctuating speech</vt:lpstr>
      <vt:lpstr>Problem 5: make the verbs agree</vt:lpstr>
      <vt:lpstr>Problem 6: spelling, capitals and spaces</vt:lpstr>
      <vt:lpstr>Fix it fast</vt:lpstr>
      <vt:lpstr>Fix it fast: answers</vt:lpstr>
      <vt:lpstr>Your next targets (1)</vt:lpstr>
      <vt:lpstr>Your next targets (2)</vt:lpstr>
      <vt:lpstr>Check your fable: checklist and class targets</vt:lpstr>
      <vt:lpstr>Step 1: check your own fable</vt:lpstr>
      <vt:lpstr>Step 2: partner feedback</vt:lpstr>
      <vt:lpstr>Our feedback slip</vt:lpstr>
      <vt:lpstr>Step 3: improve your fable</vt:lpstr>
      <vt:lpstr>Fix-it toolkit</vt:lpstr>
      <vt:lpstr>Plenary: share and reflect</vt:lpstr>
      <vt:lpstr>Exit ticket 🎫</vt:lpstr>
      <vt:lpstr>Exit ticket 🎫: answers</vt:lpstr>
      <vt:lpstr>Homework: finish your fable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Fable Feedback: Check, Share, Improve</dc:title>
  <dc:subject/>
  <dc:creator>Rozan Zakaria@meis-eg.com</dc:creator>
  <cp:lastModifiedBy>Rozan Zakaria@meis-eg.com</cp:lastModifiedBy>
  <cp:revision>1</cp:revision>
  <dcterms:created xsi:type="dcterms:W3CDTF">2026-10-13T08:34:23Z</dcterms:created>
  <dcterms:modified xsi:type="dcterms:W3CDTF">2026-10-13T08:35:03Z</dcterms:modified>
</cp:coreProperties>
</file>