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20493BF-0D2A-3626-FDDE-DC84DF70E719}">
          <p14:sldIdLst>
            <p14:sldId id="256"/>
            <p14:sldId id="257"/>
            <p14:sldId id="258"/>
            <p14:sldId id="259"/>
          </p14:sldIdLst>
        </p14:section>
        <p14:section name="Part 1: Read the text" id="{36BF4ED8-325B-A44F-356F-E94C91225EF0}">
          <p14:sldIdLst>
            <p14:sldId id="260"/>
            <p14:sldId id="261"/>
            <p14:sldId id="262"/>
            <p14:sldId id="263"/>
            <p14:sldId id="264"/>
            <p14:sldId id="265"/>
          </p14:sldIdLst>
        </p14:section>
        <p14:section name="Part 2: Vocabulary" id="{A2B34881-89BC-A568-0AFF-E8B25421C918}">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Lst>
        </p14:section>
        <p14:section name="Part 3: Scan for information" id="{2D37B70E-D6C3-4140-4728-70BCE8EF9F68}">
          <p14:sldIdLst>
            <p14:sldId id="301"/>
            <p14:sldId id="302"/>
            <p14:sldId id="303"/>
            <p14:sldId id="304"/>
            <p14:sldId id="305"/>
            <p14:sldId id="306"/>
            <p14:sldId id="307"/>
            <p14:sldId id="308"/>
          </p14:sldIdLst>
        </p14:section>
        <p14:section name="Wrap-up" id="{B7E54096-377B-27E3-15C2-CCBC0F33373B}">
          <p14:sldIdLst>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925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Share the lesson objectives. Today's text is 'A brief history of space' – a timeline-style explanation text with a glossary. Lesson flow: Starter → Part 1 Read the text → Part 2 Vocabulary → Part 3 Scan for information → Reading log and exit ticket.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and talk for 2 minutes. Take feedback. Accept any sensible prediction – the aim is to activate prior knowledge. Link Q4 to the Part 3 skill of scanning.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answer. Q1: the story of how people explored and learned about space. Q2: e.g. Yuri Gagarin, Neil Armstrong, NASA, Sputnik, the Moon, a telescope, the ISS. Q3: a non-fiction explanation text (the title says 'history', so it will give facts). Q4: scan – look for keywords, names, dates and bold words instead of reading every word.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objective aloud. Students can self-assess against these five steps at the end of the lesson.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'A brief history of space' aloud in pairs (one paragraph each, then swap). Remind them to pause at full stops and say dates clearly.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3 minutes to read, then vote A–D by hands or mini whiteboards. Ask for a reason with each vote.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Draw out the clues: it is true information (non-fiction), events are in date order, key words are bold and explained in a glossary. It is an EXPLANATION TEXT set out as a timeline.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one example of each feature in the text. E.g. Dates: '1543'; Facts: 'Galileo built the first telescope'; Bold + glossary: 'catalogue', 'observatory'; Past tense: 'launched', 'became'.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name chorally, then students repeat. Practise the years: 1543 'fifteen forty-three', 1609 'sixteen oh nine'. BCE = Before Common Era (the same period as BC). Pronunciations are approximate – adapt to your accent.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comprehension check after the read-aloud. Students match each milestone to the text (all events are in 'A brief history of space'). Discussion: which first was hardest to achieve, and why?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words first, then the five Activity 1b words: artificial, astronaut, magnify, observe, orbit. Steps: alphabetical order → thesaurus → own sentences → spelling log.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has two sets of target words. Glossary words are in bold in the text and explained in the glossary box. Activity words come from Activity 1b. 'astronaut' is in both lists, giving 11 different words. Teach the glossary words first, then the activity words.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CAT-uh-log. Glossary: 'a list of all the items that exist in one place'. Link to everyday catalogues (shop, library). Note the spelling: -ogue.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CAT-uh-log. Glossary: 'a list of all the items that exist in one place'. Link to everyday catalogues (shop, library). Note the spelling: -ogue.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uh-STRON-uh-mer. Contrast with astronaut: an astronomer STUDIES space; an astronaut TRAVELS in space. Both start with 'astro' (star).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uh-STRON-uh-mer. Contrast with astronaut: an astronomer STUDIES space; an astronaut TRAVELS in space. Both start with 'astro' (star).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fact/opinion task later: early astronomers made observations without a telescope – they used the naked eye. The text writes it 'naked-eye' (adjective, hyphenated) before a noun.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fact/opinion task later: early astronomers made observations without a telescope – they used the naked eye. The text writes it 'naked-eye' (adjective, hyphenated) before a noun.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ob-ZER-vuh-tree. Draw out the root 'observe' – you will meet it again in a moment. Uraniborg was on an island in Denmark.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ob-ZER-vuh-tree. Draw out the root 'observe' – you will meet it again in a moment. Uraniborg was on an island in Denmark.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SAT-uh-lite. Both words in the glossary definition (artificial, orbits) are target words – flag this and come back to it in the next words. Modern examples: GPS and weather satellites.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SAT-uh-lite. Both words in the glossary definition (artificial, orbits) are target words – flag this and come back to it in the next words. Modern examples: GPS and weather satellites.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KOZ-muh-nawt. The text also names cosmonaut Valentina Tereshkova (first woman in space, 1963). Today ‘cosmonaut’ is used for Russian space travellers.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KOZ-muh-nawt. The text also names cosmonaut Valentina Tereshkova (first woman in space, 1963). Today ‘cosmonaut’ is used for Russian space travellers.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six glossary words using the textbook definitions. Cover the definitions and ask students to say the word, or cover the words and ask students to give the definition.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ar-ti-FI-cial. Link to the glossary entry for 'satellite' (a natural or artificial object that orbits another object). Antonym: natural.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ar-ti-FI-cial. Link to the glossary entry for 'satellite' (a natural or artificial object that orbits another object). Antonym: natural.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AS-tro-nawt. Word parts: 'astro' = star, 'naut' = sailor. Remind students that a Soviet astronaut is called a cosmonaut (see the glossary).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AS-tro-nawt. Word parts: 'astro' = star, 'naut' = sailor. Remind students that a Soviet astronaut is called a cosmonaut (see the glossary).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uses the noun 'magnification'. Show the word family: magnify (v.), magnification (n.), magnifying glass. Spelling: mag-ni-fy – the g is sounded.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uses the noun 'magnification'. Show the word family: magnify (v.), magnification (n.), magnifying glass. Spelling: mag-ni-fy – the g is sounded.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family: observe (v.), observation (n.), observer (n.), observatory (n.). Note: the textbook labels 'observe' as (n.) but it is a verb.</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family: observe (v.), observation (n.), observer (n.), observatory (n.). Note: the textbook labels 'observe' as (n.) but it is a verb.</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glossary entry for 'satellite' ('an object that orbits another object'). Orbit can also be a noun: 'the Moon’s orbit'. Gesture: circle one hand around a fist.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glossary entry for 'satellite' ('an object that orbits another object'). Orbit can also be a noun: 'the Moon’s orbit'. Gesture: circle one hand around a fist.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students repeat. Point out the word class. NOTE: the textbook labels 'observe' as (n.) but it is a verb; the noun forms are 'observation' and 'observer'. Link each word to its clue in the text.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1b (first part). Students write the five words in alphabetical order in their books or on whiteboards. Hint: two words begin with 'a' – look at the second letter.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and astronaut both begin with 'a'. Compare the second letters: r comes before s, so artificial comes first. Then magnify (m). observe and orbit both begin with 'o': compare the second letter – b comes before r, so observe comes before orbit.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thesaurus lists synonyms (words with a similar meaning). Demonstrate with a printed or online thesaurus. Stress step 3: not every synonym fits every sentence, so students must check the meaning.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first find their own synonyms in a thesaurus, then compare with this bank. Accept any accurate synonym. 'Cosmonaut' means a Soviet/Russian astronaut (see the glossary), so it is a close but not exact synonym.</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their own synonyms in a thesaurus first, then compare. Some glossary words (naked eye, observatory) have few exact synonyms, so the bank gives similar words and phrases. Discuss why a thesaurus does not always give a perfect match.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1c. Show the models, then students write their own: one sentence per word (5), then a second sentence swapping in a synonym. Check: capital letter, full stop, shows the meaning.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of Activity 1c using the glossary words. Show the models, then students write one sentence per glossary word. Check: the sentence shows the meaning, has a capital letter and a full stop, and is about space.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1d. Students copy each word into their spelling log and highlight the tricky letter group. Clap the syllables: ar-ti-fi-cial (4), as-tro-naut (3), mag-ni-fy (3), ob-serve (2), or-bit (2).</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each glossary word into their spelling log and highlight the tricky letters. Clap the syllables: cat-a-logue (3), a-stron-o-mer (4), na-ked eye (3), ob-ser-va-to-ry (5), sat-el-lite (3), cos-mo-naut (3).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scanning: searching quickly for one particular piece of information instead of reading every word.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skimming. Model scanning for 'Gagarin' on the board: eyes sweep the text looking for the capital letter and the bold/number cues. Use a quick race: first to find the year of Sputnik I (1957).</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2a–c. Time the class (about 3 minutes). Students write full-sentence answers. Encourage them to underline the keyword first, then scan.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Galileo (1609): the early-1600s spectacle-makers made the first type of telescopes, but Galileo built the first telescope and used it to observe space. b) 12 April 1961 – Yuri Gagarin became the first person in space and orbited the Earth in a 108-minute flight. c) The landing was on 20 July 1969, so 2026 − 1969 = 57 years ago (update the sum for the current year).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2d. Pairs decide, then explain the difference using evidence from the text. Prompt: 'Can it be proved? Where in the text could you check?'</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Opinion: 'must have' shows a belief or guess – the text never says it, so it cannot be proved from the text. Fact: it can be checked – Hipparchus completed a star catalogue in 129 BCE and Tycho Brahe was a 'naked-eye' astronomer. Fact = can be proved; opinion = what someone thinks or believes.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2e. Students scan, list and count. Note that the text mostly gives nationalities (Greek, Polish…) rather than country names. Discuss why the count might differ (USSR vs Russia).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countries: Greece, Poland, Denmark, Italy, England/UK, the USA, the USSR (Russia), Britain, India, China – depending on how England/Britain and the USSR/Russia are counted. Accept 9–10 with a clear explanation. Strictly, only the USSR and India are named directly; the others appear as nationalities. Note England and Britain overlap, so some classes may count 9.</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2f. Students record the text in their reading logs using these prompts. Encourage a personal opinion or question – this links back to fact vs opinion.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reading-log entry. Students' versions will vary – check that facts are accurate and taken from the text, the new words are used correctly, and the opinion is clearly a personal view with a reason.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on a sticky note or mini whiteboard. Expected: 1) an explanation text (non-fiction timeline); 2) any accurate fact and a clearly personal opinion; 3) a correct sentence using orbit or observe. Finish with the traffic-light self-assessment.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accurate answers. Check Q2: the fact must be provable from the text; the opinion must use a personal view (e.g. 'I think', 'the best', 'the most exciting').</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homework (about 20–30 minutes). Tasks 1–3 are compulsory; the challenge is optional. Next lesson: share your timeline entries and spelling sentences with a partner.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Year 5 · Unit 2 · Lesson 1 · A brief history of space</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NSW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6"/>
                </a:solidFill>
              </a:rPr>
              <a:t>Year 5 · Unit 2 · Lesson 1 · A brief history of space</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accent5"/>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sson chip"/>
          <p:cNvSpPr/>
          <p:nvPr/>
        </p:nvSpPr>
        <p:spPr>
          <a:xfrm>
            <a:off x="640080" y="594360"/>
            <a:ext cx="265176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640080" y="594360"/>
            <a:ext cx="2651760" cy="347472"/>
          </a:xfrm>
          <a:prstGeom prst="rect">
            <a:avLst/>
          </a:prstGeom>
          <a:noFill/>
          <a:ln/>
        </p:spPr>
        <p:txBody>
          <a:bodyPr wrap="square" lIns="0" tIns="0" rIns="0" bIns="0" rtlCol="0" anchor="ctr"/>
          <a:lstStyle/>
          <a:p>
            <a:pPr marL="0" indent="0" algn="ctr">
              <a:buNone/>
            </a:pPr>
            <a:r>
              <a:rPr lang="en-US" sz="1300" b="1" dirty="0">
                <a:solidFill>
                  <a:schemeClr val="tx1"/>
                </a:solidFill>
              </a:rPr>
              <a:t>YEAR 5 · UNIT 2 · LESSON 1</a:t>
            </a:r>
            <a:endParaRPr lang="en-US" sz="1300" dirty="0"/>
          </a:p>
        </p:txBody>
      </p:sp>
      <p:sp>
        <p:nvSpPr>
          <p:cNvPr id="4" name="Text 2"/>
          <p:cNvSpPr txBox="1"/>
          <p:nvPr/>
        </p:nvSpPr>
        <p:spPr>
          <a:xfrm>
            <a:off x="640080" y="1097280"/>
            <a:ext cx="4572000" cy="1737360"/>
          </a:xfrm>
          <a:prstGeom prst="rect">
            <a:avLst/>
          </a:prstGeom>
          <a:noFill/>
          <a:ln/>
        </p:spPr>
        <p:txBody>
          <a:bodyPr wrap="square" lIns="0" tIns="0" rIns="0" bIns="0" rtlCol="0" anchor="t"/>
          <a:lstStyle/>
          <a:p>
            <a:pPr marL="0" indent="0">
              <a:buNone/>
            </a:pPr>
            <a:r>
              <a:rPr lang="en-US" sz="4200" b="1" dirty="0">
                <a:solidFill>
                  <a:schemeClr val="accent5"/>
                </a:solidFill>
                <a:latin typeface="+mj-lt" pitchFamily="34" charset="0"/>
                <a:ea typeface="+mj-lt" pitchFamily="34" charset="-122"/>
                <a:cs typeface="+mj-lt" pitchFamily="34" charset="-120"/>
              </a:rPr>
              <a:t>A Brief History of Space</a:t>
            </a:r>
            <a:endParaRPr lang="en-US" sz="4200" dirty="0"/>
          </a:p>
        </p:txBody>
      </p:sp>
      <p:sp>
        <p:nvSpPr>
          <p:cNvPr id="5" name="Text 3"/>
          <p:cNvSpPr txBox="1"/>
          <p:nvPr/>
        </p:nvSpPr>
        <p:spPr>
          <a:xfrm>
            <a:off x="640080" y="2926080"/>
            <a:ext cx="4389120" cy="640080"/>
          </a:xfrm>
          <a:prstGeom prst="rect">
            <a:avLst/>
          </a:prstGeom>
          <a:noFill/>
          <a:ln/>
        </p:spPr>
        <p:txBody>
          <a:bodyPr wrap="square" lIns="0" tIns="0" rIns="0" bIns="0" rtlCol="0" anchor="t"/>
          <a:lstStyle/>
          <a:p>
            <a:pPr marL="0" indent="0">
              <a:buNone/>
            </a:pPr>
            <a:r>
              <a:rPr lang="en-US" sz="1800" i="1" dirty="0">
                <a:solidFill>
                  <a:schemeClr val="bg1"/>
                </a:solidFill>
              </a:rPr>
              <a:t>A simple start: reading an explanation text</a:t>
            </a:r>
            <a:endParaRPr lang="en-US" sz="1800" dirty="0"/>
          </a:p>
        </p:txBody>
      </p:sp>
      <p:sp>
        <p:nvSpPr>
          <p:cNvPr id="6" name="Objectives panel"/>
          <p:cNvSpPr/>
          <p:nvPr/>
        </p:nvSpPr>
        <p:spPr>
          <a:xfrm>
            <a:off x="5577840" y="868680"/>
            <a:ext cx="3108960" cy="3429000"/>
          </a:xfrm>
          <a:prstGeom prst="roundRect">
            <a:avLst>
              <a:gd name="adj" fmla="val 3529"/>
            </a:avLst>
          </a:prstGeom>
          <a:solidFill>
            <a:schemeClr val="accent4"/>
          </a:solidFill>
          <a:ln w="9525">
            <a:solidFill>
              <a:schemeClr val="accent5"/>
            </a:solidFill>
            <a:prstDash val="solid"/>
          </a:ln>
          <a:effectLst>
            <a:outerShdw blurRad="76200" dist="25400" dir="5400000" algn="bl" rotWithShape="0">
              <a:srgbClr val="0E1537">
                <a:alpha val="14000"/>
              </a:srgbClr>
            </a:outerShdw>
          </a:effectLst>
        </p:spPr>
      </p:sp>
      <p:sp>
        <p:nvSpPr>
          <p:cNvPr id="7" name="Text 5"/>
          <p:cNvSpPr txBox="1"/>
          <p:nvPr/>
        </p:nvSpPr>
        <p:spPr>
          <a:xfrm>
            <a:off x="5806440" y="1051560"/>
            <a:ext cx="2743200" cy="411480"/>
          </a:xfrm>
          <a:prstGeom prst="rect">
            <a:avLst/>
          </a:prstGeom>
          <a:noFill/>
          <a:ln/>
        </p:spPr>
        <p:txBody>
          <a:bodyPr wrap="square" lIns="0" tIns="0" rIns="0" bIns="0" rtlCol="0" anchor="ctr"/>
          <a:lstStyle/>
          <a:p>
            <a:pPr marL="0" indent="0">
              <a:buNone/>
            </a:pPr>
            <a:r>
              <a:rPr lang="en-US" sz="2000" b="1" dirty="0">
                <a:solidFill>
                  <a:schemeClr val="accent5"/>
                </a:solidFill>
                <a:latin typeface="+mj-lt" pitchFamily="34" charset="0"/>
                <a:ea typeface="+mj-lt" pitchFamily="34" charset="-122"/>
                <a:cs typeface="+mj-lt" pitchFamily="34" charset="-120"/>
              </a:rPr>
              <a:t>Today we will:</a:t>
            </a:r>
            <a:endParaRPr lang="en-US" sz="2000" dirty="0"/>
          </a:p>
        </p:txBody>
      </p:sp>
      <p:sp>
        <p:nvSpPr>
          <p:cNvPr id="8" name="Text 6"/>
          <p:cNvSpPr txBox="1"/>
          <p:nvPr/>
        </p:nvSpPr>
        <p:spPr>
          <a:xfrm>
            <a:off x="5806440" y="1554480"/>
            <a:ext cx="269748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read a text about space aloud</a:t>
            </a:r>
            <a:endParaRPr lang="en-US" sz="1500" dirty="0"/>
          </a:p>
          <a:p>
            <a:pPr marL="342900" indent="-342900">
              <a:spcAft>
                <a:spcPts val="800"/>
              </a:spcAft>
              <a:buSzPct val="100000"/>
              <a:buChar char="•"/>
            </a:pPr>
            <a:r>
              <a:rPr lang="en-US" sz="1500" dirty="0">
                <a:solidFill>
                  <a:schemeClr val="bg1"/>
                </a:solidFill>
              </a:rPr>
              <a:t>decide what type of text it is</a:t>
            </a:r>
            <a:endParaRPr lang="en-US" sz="1500" dirty="0"/>
          </a:p>
          <a:p>
            <a:pPr marL="342900" indent="-342900">
              <a:spcAft>
                <a:spcPts val="800"/>
              </a:spcAft>
              <a:buSzPct val="100000"/>
              <a:buChar char="•"/>
            </a:pPr>
            <a:r>
              <a:rPr lang="en-US" sz="1500" dirty="0">
                <a:solidFill>
                  <a:schemeClr val="bg1"/>
                </a:solidFill>
              </a:rPr>
              <a:t>learn and use the key words</a:t>
            </a:r>
            <a:endParaRPr lang="en-US" sz="1500" dirty="0"/>
          </a:p>
          <a:p>
            <a:pPr marL="342900" indent="-342900">
              <a:spcAft>
                <a:spcPts val="800"/>
              </a:spcAft>
              <a:buSzPct val="100000"/>
              <a:buChar char="•"/>
            </a:pPr>
            <a:r>
              <a:rPr lang="en-US" sz="1500" dirty="0">
                <a:solidFill>
                  <a:schemeClr val="bg1"/>
                </a:solidFill>
              </a:rPr>
              <a:t>scan a text for facts</a:t>
            </a:r>
            <a:endParaRPr lang="en-US" sz="1500" dirty="0"/>
          </a:p>
          <a:p>
            <a:pPr marL="342900" indent="-342900">
              <a:spcAft>
                <a:spcPts val="800"/>
              </a:spcAft>
              <a:buSzPct val="100000"/>
              <a:buChar char="•"/>
            </a:pPr>
            <a:r>
              <a:rPr lang="en-US" sz="1500" dirty="0">
                <a:solidFill>
                  <a:schemeClr val="bg1"/>
                </a:solidFill>
              </a:rPr>
              <a:t>tell a fact from an opinion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Starter: What do you know?</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Look at the title: ‘A brief history of space’. Turn and talk.</a:t>
            </a:r>
            <a:endParaRPr lang="en-US" sz="1600" dirty="0"/>
          </a:p>
        </p:txBody>
      </p:sp>
      <p:sp>
        <p:nvSpPr>
          <p:cNvPr id="5" name="Row 1"/>
          <p:cNvSpPr/>
          <p:nvPr/>
        </p:nvSpPr>
        <p:spPr>
          <a:xfrm>
            <a:off x="457200" y="1508760"/>
            <a:ext cx="8229600" cy="640080"/>
          </a:xfrm>
          <a:prstGeom prst="roundRect">
            <a:avLst>
              <a:gd name="adj" fmla="val 171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508760"/>
            <a:ext cx="7315200" cy="640080"/>
          </a:xfrm>
          <a:prstGeom prst="rect">
            <a:avLst/>
          </a:prstGeom>
          <a:noFill/>
          <a:ln/>
        </p:spPr>
        <p:txBody>
          <a:bodyPr wrap="square" lIns="0" tIns="0" rIns="0" bIns="0" rtlCol="0" anchor="ctr"/>
          <a:lstStyle/>
          <a:p>
            <a:pPr marL="0" indent="0">
              <a:buNone/>
            </a:pPr>
            <a:r>
              <a:rPr lang="en-US" sz="1600" dirty="0">
                <a:solidFill>
                  <a:schemeClr val="tx1"/>
                </a:solidFill>
              </a:rPr>
              <a:t>What do you think a ‘history of space’ will be about?</a:t>
            </a:r>
            <a:endParaRPr lang="en-US" sz="1600" dirty="0"/>
          </a:p>
        </p:txBody>
      </p:sp>
      <p:sp>
        <p:nvSpPr>
          <p:cNvPr id="9" name="Row 2"/>
          <p:cNvSpPr/>
          <p:nvPr/>
        </p:nvSpPr>
        <p:spPr>
          <a:xfrm>
            <a:off x="457200" y="2276856"/>
            <a:ext cx="8229600" cy="640080"/>
          </a:xfrm>
          <a:prstGeom prst="roundRect">
            <a:avLst>
              <a:gd name="adj" fmla="val 171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41401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140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276856"/>
            <a:ext cx="7315200" cy="640080"/>
          </a:xfrm>
          <a:prstGeom prst="rect">
            <a:avLst/>
          </a:prstGeom>
          <a:noFill/>
          <a:ln/>
        </p:spPr>
        <p:txBody>
          <a:bodyPr wrap="square" lIns="0" tIns="0" rIns="0" bIns="0" rtlCol="0" anchor="ctr"/>
          <a:lstStyle/>
          <a:p>
            <a:pPr marL="0" indent="0">
              <a:buNone/>
            </a:pPr>
            <a:r>
              <a:rPr lang="en-US" sz="1600" dirty="0">
                <a:solidFill>
                  <a:schemeClr val="tx1"/>
                </a:solidFill>
              </a:rPr>
              <a:t>Name one person, place or machine connected with space.</a:t>
            </a:r>
            <a:endParaRPr lang="en-US" sz="1600" dirty="0"/>
          </a:p>
        </p:txBody>
      </p:sp>
      <p:sp>
        <p:nvSpPr>
          <p:cNvPr id="13" name="Row 3"/>
          <p:cNvSpPr/>
          <p:nvPr/>
        </p:nvSpPr>
        <p:spPr>
          <a:xfrm>
            <a:off x="457200" y="3044952"/>
            <a:ext cx="8229600" cy="640080"/>
          </a:xfrm>
          <a:prstGeom prst="roundRect">
            <a:avLst>
              <a:gd name="adj" fmla="val 171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3182112"/>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318211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3044952"/>
            <a:ext cx="7315200" cy="640080"/>
          </a:xfrm>
          <a:prstGeom prst="rect">
            <a:avLst/>
          </a:prstGeom>
          <a:noFill/>
          <a:ln/>
        </p:spPr>
        <p:txBody>
          <a:bodyPr wrap="square" lIns="0" tIns="0" rIns="0" bIns="0" rtlCol="0" anchor="ctr"/>
          <a:lstStyle/>
          <a:p>
            <a:pPr marL="0" indent="0">
              <a:buNone/>
            </a:pPr>
            <a:r>
              <a:rPr lang="en-US" sz="1600" dirty="0">
                <a:solidFill>
                  <a:schemeClr val="tx1"/>
                </a:solidFill>
              </a:rPr>
              <a:t>What kind of text do you expect: a story, a poem or something else?</a:t>
            </a:r>
            <a:endParaRPr lang="en-US" sz="1600" dirty="0"/>
          </a:p>
        </p:txBody>
      </p:sp>
      <p:sp>
        <p:nvSpPr>
          <p:cNvPr id="17" name="Row 4"/>
          <p:cNvSpPr/>
          <p:nvPr/>
        </p:nvSpPr>
        <p:spPr>
          <a:xfrm>
            <a:off x="457200" y="3813048"/>
            <a:ext cx="8229600" cy="640080"/>
          </a:xfrm>
          <a:prstGeom prst="roundRect">
            <a:avLst>
              <a:gd name="adj" fmla="val 1714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94360" y="3950208"/>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950208"/>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813048"/>
            <a:ext cx="7315200" cy="640080"/>
          </a:xfrm>
          <a:prstGeom prst="rect">
            <a:avLst/>
          </a:prstGeom>
          <a:noFill/>
          <a:ln/>
        </p:spPr>
        <p:txBody>
          <a:bodyPr wrap="square" lIns="0" tIns="0" rIns="0" bIns="0" rtlCol="0" anchor="ctr"/>
          <a:lstStyle/>
          <a:p>
            <a:pPr marL="0" indent="0">
              <a:buNone/>
            </a:pPr>
            <a:r>
              <a:rPr lang="en-US" sz="1600" dirty="0">
                <a:solidFill>
                  <a:schemeClr val="tx1"/>
                </a:solidFill>
              </a:rPr>
              <a:t>In a long text, how could we find one fact quickly?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Starter: possible answers</a:t>
            </a:r>
            <a:endParaRPr lang="en-US" sz="3000" dirty="0"/>
          </a:p>
        </p:txBody>
      </p:sp>
      <p:sp>
        <p:nvSpPr>
          <p:cNvPr id="4" name="Starter answer 1"/>
          <p:cNvSpPr/>
          <p:nvPr/>
        </p:nvSpPr>
        <p:spPr>
          <a:xfrm>
            <a:off x="457200" y="1097280"/>
            <a:ext cx="8229600" cy="749808"/>
          </a:xfrm>
          <a:prstGeom prst="roundRect">
            <a:avLst>
              <a:gd name="adj" fmla="val 14634"/>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8930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8930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2103120" cy="749808"/>
          </a:xfrm>
          <a:prstGeom prst="rect">
            <a:avLst/>
          </a:prstGeom>
          <a:noFill/>
          <a:ln/>
        </p:spPr>
        <p:txBody>
          <a:bodyPr wrap="square" lIns="0" tIns="0" rIns="0" bIns="0" rtlCol="0" anchor="ctr"/>
          <a:lstStyle/>
          <a:p>
            <a:pPr marL="0" indent="0">
              <a:buNone/>
            </a:pPr>
            <a:r>
              <a:rPr lang="en-US" sz="1500" b="1" dirty="0">
                <a:solidFill>
                  <a:schemeClr val="accent4"/>
                </a:solidFill>
              </a:rPr>
              <a:t>Possible answer</a:t>
            </a:r>
            <a:endParaRPr lang="en-US" sz="1500" dirty="0"/>
          </a:p>
        </p:txBody>
      </p:sp>
      <p:sp>
        <p:nvSpPr>
          <p:cNvPr id="8" name="Text 5"/>
          <p:cNvSpPr txBox="1"/>
          <p:nvPr/>
        </p:nvSpPr>
        <p:spPr>
          <a:xfrm>
            <a:off x="3246120" y="1097280"/>
            <a:ext cx="5303520" cy="749808"/>
          </a:xfrm>
          <a:prstGeom prst="rect">
            <a:avLst/>
          </a:prstGeom>
          <a:noFill/>
          <a:ln/>
        </p:spPr>
        <p:txBody>
          <a:bodyPr wrap="square" lIns="0" tIns="0" rIns="0" bIns="0" rtlCol="0" anchor="ctr"/>
          <a:lstStyle/>
          <a:p>
            <a:pPr marL="0" indent="0">
              <a:buNone/>
            </a:pPr>
            <a:r>
              <a:rPr lang="en-US" sz="1500" dirty="0">
                <a:solidFill>
                  <a:schemeClr val="tx1"/>
                </a:solidFill>
              </a:rPr>
              <a:t>The story of how people explored and learned about space over time.</a:t>
            </a:r>
            <a:endParaRPr lang="en-US" sz="1500" dirty="0"/>
          </a:p>
        </p:txBody>
      </p:sp>
      <p:sp>
        <p:nvSpPr>
          <p:cNvPr id="9" name="Starter answer 2"/>
          <p:cNvSpPr/>
          <p:nvPr/>
        </p:nvSpPr>
        <p:spPr>
          <a:xfrm>
            <a:off x="457200" y="1965960"/>
            <a:ext cx="8229600" cy="749808"/>
          </a:xfrm>
          <a:prstGeom prst="roundRect">
            <a:avLst>
              <a:gd name="adj" fmla="val 14634"/>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157984"/>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15798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1965960"/>
            <a:ext cx="2103120" cy="749808"/>
          </a:xfrm>
          <a:prstGeom prst="rect">
            <a:avLst/>
          </a:prstGeom>
          <a:noFill/>
          <a:ln/>
        </p:spPr>
        <p:txBody>
          <a:bodyPr wrap="square" lIns="0" tIns="0" rIns="0" bIns="0" rtlCol="0" anchor="ctr"/>
          <a:lstStyle/>
          <a:p>
            <a:pPr marL="0" indent="0">
              <a:buNone/>
            </a:pPr>
            <a:r>
              <a:rPr lang="en-US" sz="1500" b="1" dirty="0">
                <a:solidFill>
                  <a:schemeClr val="accent4"/>
                </a:solidFill>
              </a:rPr>
              <a:t>Examples</a:t>
            </a:r>
            <a:endParaRPr lang="en-US" sz="1500" dirty="0"/>
          </a:p>
        </p:txBody>
      </p:sp>
      <p:sp>
        <p:nvSpPr>
          <p:cNvPr id="13" name="Text 10"/>
          <p:cNvSpPr txBox="1"/>
          <p:nvPr/>
        </p:nvSpPr>
        <p:spPr>
          <a:xfrm>
            <a:off x="3246120" y="1965960"/>
            <a:ext cx="5303520" cy="749808"/>
          </a:xfrm>
          <a:prstGeom prst="rect">
            <a:avLst/>
          </a:prstGeom>
          <a:noFill/>
          <a:ln/>
        </p:spPr>
        <p:txBody>
          <a:bodyPr wrap="square" lIns="0" tIns="0" rIns="0" bIns="0" rtlCol="0" anchor="ctr"/>
          <a:lstStyle/>
          <a:p>
            <a:pPr marL="0" indent="0">
              <a:buNone/>
            </a:pPr>
            <a:r>
              <a:rPr lang="en-US" sz="1500" dirty="0">
                <a:solidFill>
                  <a:schemeClr val="tx1"/>
                </a:solidFill>
              </a:rPr>
              <a:t>Yuri Gagarin · Neil Armstrong · Sputnik I · the Moon · a telescope · the ISS</a:t>
            </a:r>
            <a:endParaRPr lang="en-US" sz="1500" dirty="0"/>
          </a:p>
        </p:txBody>
      </p:sp>
      <p:sp>
        <p:nvSpPr>
          <p:cNvPr id="14" name="Starter answer 3"/>
          <p:cNvSpPr/>
          <p:nvPr/>
        </p:nvSpPr>
        <p:spPr>
          <a:xfrm>
            <a:off x="457200" y="2834640"/>
            <a:ext cx="8229600" cy="749808"/>
          </a:xfrm>
          <a:prstGeom prst="roundRect">
            <a:avLst>
              <a:gd name="adj" fmla="val 14634"/>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026664"/>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02666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2834640"/>
            <a:ext cx="2103120" cy="749808"/>
          </a:xfrm>
          <a:prstGeom prst="rect">
            <a:avLst/>
          </a:prstGeom>
          <a:noFill/>
          <a:ln/>
        </p:spPr>
        <p:txBody>
          <a:bodyPr wrap="square" lIns="0" tIns="0" rIns="0" bIns="0" rtlCol="0" anchor="ctr"/>
          <a:lstStyle/>
          <a:p>
            <a:pPr marL="0" indent="0">
              <a:buNone/>
            </a:pPr>
            <a:r>
              <a:rPr lang="en-US" sz="1500" b="1" dirty="0">
                <a:solidFill>
                  <a:schemeClr val="accent4"/>
                </a:solidFill>
              </a:rPr>
              <a:t>Text type</a:t>
            </a:r>
            <a:endParaRPr lang="en-US" sz="1500" dirty="0"/>
          </a:p>
        </p:txBody>
      </p:sp>
      <p:sp>
        <p:nvSpPr>
          <p:cNvPr id="18" name="Text 15"/>
          <p:cNvSpPr txBox="1"/>
          <p:nvPr/>
        </p:nvSpPr>
        <p:spPr>
          <a:xfrm>
            <a:off x="3246120" y="2834640"/>
            <a:ext cx="5303520" cy="749808"/>
          </a:xfrm>
          <a:prstGeom prst="rect">
            <a:avLst/>
          </a:prstGeom>
          <a:noFill/>
          <a:ln/>
        </p:spPr>
        <p:txBody>
          <a:bodyPr wrap="square" lIns="0" tIns="0" rIns="0" bIns="0" rtlCol="0" anchor="ctr"/>
          <a:lstStyle/>
          <a:p>
            <a:pPr marL="0" indent="0">
              <a:buNone/>
            </a:pPr>
            <a:r>
              <a:rPr lang="en-US" sz="1500" dirty="0">
                <a:solidFill>
                  <a:schemeClr val="tx1"/>
                </a:solidFill>
              </a:rPr>
              <a:t>Non-fiction: ‘history’ means true facts about the past, not a story or poem.</a:t>
            </a:r>
            <a:endParaRPr lang="en-US" sz="1500" dirty="0"/>
          </a:p>
        </p:txBody>
      </p:sp>
      <p:sp>
        <p:nvSpPr>
          <p:cNvPr id="19" name="Starter answer 4"/>
          <p:cNvSpPr/>
          <p:nvPr/>
        </p:nvSpPr>
        <p:spPr>
          <a:xfrm>
            <a:off x="457200" y="3703320"/>
            <a:ext cx="8229600" cy="749808"/>
          </a:xfrm>
          <a:prstGeom prst="roundRect">
            <a:avLst>
              <a:gd name="adj" fmla="val 14634"/>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94360" y="3895344"/>
            <a:ext cx="365760" cy="365760"/>
          </a:xfrm>
          <a:prstGeom prst="ellipse">
            <a:avLst/>
          </a:prstGeom>
          <a:solidFill>
            <a:schemeClr val="accent4"/>
          </a:solidFill>
          <a:ln w="6350">
            <a:solidFill>
              <a:schemeClr val="accent4"/>
            </a:solidFill>
            <a:prstDash val="solid"/>
          </a:ln>
        </p:spPr>
      </p:sp>
      <p:sp>
        <p:nvSpPr>
          <p:cNvPr id="21" name="Text 18"/>
          <p:cNvSpPr txBox="1"/>
          <p:nvPr/>
        </p:nvSpPr>
        <p:spPr>
          <a:xfrm>
            <a:off x="594360" y="3895344"/>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1143000" y="3703320"/>
            <a:ext cx="2103120" cy="749808"/>
          </a:xfrm>
          <a:prstGeom prst="rect">
            <a:avLst/>
          </a:prstGeom>
          <a:noFill/>
          <a:ln/>
        </p:spPr>
        <p:txBody>
          <a:bodyPr wrap="square" lIns="0" tIns="0" rIns="0" bIns="0" rtlCol="0" anchor="ctr"/>
          <a:lstStyle/>
          <a:p>
            <a:pPr marL="0" indent="0">
              <a:buNone/>
            </a:pPr>
            <a:r>
              <a:rPr lang="en-US" sz="1500" b="1" dirty="0">
                <a:solidFill>
                  <a:schemeClr val="accent4"/>
                </a:solidFill>
              </a:rPr>
              <a:t>Finding a fact fast</a:t>
            </a:r>
            <a:endParaRPr lang="en-US" sz="1500" dirty="0"/>
          </a:p>
        </p:txBody>
      </p:sp>
      <p:sp>
        <p:nvSpPr>
          <p:cNvPr id="23" name="Text 20"/>
          <p:cNvSpPr txBox="1"/>
          <p:nvPr/>
        </p:nvSpPr>
        <p:spPr>
          <a:xfrm>
            <a:off x="3246120" y="3703320"/>
            <a:ext cx="5303520" cy="749808"/>
          </a:xfrm>
          <a:prstGeom prst="rect">
            <a:avLst/>
          </a:prstGeom>
          <a:noFill/>
          <a:ln/>
        </p:spPr>
        <p:txBody>
          <a:bodyPr wrap="square" lIns="0" tIns="0" rIns="0" bIns="0" rtlCol="0" anchor="ctr"/>
          <a:lstStyle/>
          <a:p>
            <a:pPr marL="0" indent="0">
              <a:buNone/>
            </a:pPr>
            <a:r>
              <a:rPr lang="en-US" sz="1500" dirty="0">
                <a:solidFill>
                  <a:schemeClr val="tx1"/>
                </a:solidFill>
              </a:rPr>
              <a:t>Scan: look for keywords, names, dates and bold words.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Today’s mission</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Learning objective: I can read an explanation text aloud, scan it for facts and use new space words.</a:t>
            </a:r>
            <a:endParaRPr lang="en-US" sz="1600" dirty="0"/>
          </a:p>
        </p:txBody>
      </p:sp>
      <p:sp>
        <p:nvSpPr>
          <p:cNvPr id="5" name="Row 1"/>
          <p:cNvSpPr/>
          <p:nvPr/>
        </p:nvSpPr>
        <p:spPr>
          <a:xfrm>
            <a:off x="457200" y="160020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00200"/>
            <a:ext cx="7315200" cy="457200"/>
          </a:xfrm>
          <a:prstGeom prst="rect">
            <a:avLst/>
          </a:prstGeom>
          <a:noFill/>
          <a:ln/>
        </p:spPr>
        <p:txBody>
          <a:bodyPr wrap="square" lIns="0" tIns="0" rIns="0" bIns="0" rtlCol="0" anchor="ctr"/>
          <a:lstStyle/>
          <a:p>
            <a:pPr marL="0" indent="0">
              <a:buNone/>
            </a:pPr>
            <a:r>
              <a:rPr lang="en-US" sz="1600" dirty="0">
                <a:solidFill>
                  <a:schemeClr val="tx1"/>
                </a:solidFill>
              </a:rPr>
              <a:t>Read the text aloud</a:t>
            </a:r>
            <a:endParaRPr lang="en-US" sz="1600" dirty="0"/>
          </a:p>
        </p:txBody>
      </p:sp>
      <p:sp>
        <p:nvSpPr>
          <p:cNvPr id="9" name="Row 2"/>
          <p:cNvSpPr/>
          <p:nvPr/>
        </p:nvSpPr>
        <p:spPr>
          <a:xfrm>
            <a:off x="457200" y="216712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21284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2128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67128"/>
            <a:ext cx="7315200" cy="457200"/>
          </a:xfrm>
          <a:prstGeom prst="rect">
            <a:avLst/>
          </a:prstGeom>
          <a:noFill/>
          <a:ln/>
        </p:spPr>
        <p:txBody>
          <a:bodyPr wrap="square" lIns="0" tIns="0" rIns="0" bIns="0" rtlCol="0" anchor="ctr"/>
          <a:lstStyle/>
          <a:p>
            <a:pPr marL="0" indent="0">
              <a:buNone/>
            </a:pPr>
            <a:r>
              <a:rPr lang="en-US" sz="1600" dirty="0">
                <a:solidFill>
                  <a:schemeClr val="tx1"/>
                </a:solidFill>
              </a:rPr>
              <a:t>Identify the type of text</a:t>
            </a:r>
            <a:endParaRPr lang="en-US" sz="1600" dirty="0"/>
          </a:p>
        </p:txBody>
      </p:sp>
      <p:sp>
        <p:nvSpPr>
          <p:cNvPr id="13" name="Row 3"/>
          <p:cNvSpPr/>
          <p:nvPr/>
        </p:nvSpPr>
        <p:spPr>
          <a:xfrm>
            <a:off x="457200" y="273405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2779776"/>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277977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2734056"/>
            <a:ext cx="7315200" cy="457200"/>
          </a:xfrm>
          <a:prstGeom prst="rect">
            <a:avLst/>
          </a:prstGeom>
          <a:noFill/>
          <a:ln/>
        </p:spPr>
        <p:txBody>
          <a:bodyPr wrap="square" lIns="0" tIns="0" rIns="0" bIns="0" rtlCol="0" anchor="ctr"/>
          <a:lstStyle/>
          <a:p>
            <a:pPr marL="0" indent="0">
              <a:buNone/>
            </a:pPr>
            <a:r>
              <a:rPr lang="en-US" sz="1600" dirty="0">
                <a:solidFill>
                  <a:schemeClr val="tx1"/>
                </a:solidFill>
              </a:rPr>
              <a:t>Learn the glossary words and five key words</a:t>
            </a:r>
            <a:endParaRPr lang="en-US" sz="1600" dirty="0"/>
          </a:p>
        </p:txBody>
      </p:sp>
      <p:sp>
        <p:nvSpPr>
          <p:cNvPr id="17" name="Row 4"/>
          <p:cNvSpPr/>
          <p:nvPr/>
        </p:nvSpPr>
        <p:spPr>
          <a:xfrm>
            <a:off x="457200" y="330098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94360" y="3346704"/>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346704"/>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300984"/>
            <a:ext cx="7315200" cy="457200"/>
          </a:xfrm>
          <a:prstGeom prst="rect">
            <a:avLst/>
          </a:prstGeom>
          <a:noFill/>
          <a:ln/>
        </p:spPr>
        <p:txBody>
          <a:bodyPr wrap="square" lIns="0" tIns="0" rIns="0" bIns="0" rtlCol="0" anchor="ctr"/>
          <a:lstStyle/>
          <a:p>
            <a:pPr marL="0" indent="0">
              <a:buNone/>
            </a:pPr>
            <a:r>
              <a:rPr lang="en-US" sz="1600" dirty="0">
                <a:solidFill>
                  <a:schemeClr val="tx1"/>
                </a:solidFill>
              </a:rPr>
              <a:t>Scan the text for specific information</a:t>
            </a:r>
            <a:endParaRPr lang="en-US" sz="1600" dirty="0"/>
          </a:p>
        </p:txBody>
      </p:sp>
      <p:sp>
        <p:nvSpPr>
          <p:cNvPr id="21" name="Row 5"/>
          <p:cNvSpPr/>
          <p:nvPr/>
        </p:nvSpPr>
        <p:spPr>
          <a:xfrm>
            <a:off x="457200" y="386791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94360" y="3913632"/>
            <a:ext cx="365760" cy="365760"/>
          </a:xfrm>
          <a:prstGeom prst="ellipse">
            <a:avLst/>
          </a:prstGeom>
          <a:solidFill>
            <a:schemeClr val="accent5"/>
          </a:solidFill>
          <a:ln w="6350">
            <a:solidFill>
              <a:schemeClr val="accent5"/>
            </a:solidFill>
            <a:prstDash val="solid"/>
          </a:ln>
        </p:spPr>
      </p:sp>
      <p:sp>
        <p:nvSpPr>
          <p:cNvPr id="23" name="Text 20"/>
          <p:cNvSpPr txBox="1"/>
          <p:nvPr/>
        </p:nvSpPr>
        <p:spPr>
          <a:xfrm>
            <a:off x="594360" y="391363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143000" y="3867912"/>
            <a:ext cx="7315200" cy="457200"/>
          </a:xfrm>
          <a:prstGeom prst="rect">
            <a:avLst/>
          </a:prstGeom>
          <a:noFill/>
          <a:ln/>
        </p:spPr>
        <p:txBody>
          <a:bodyPr wrap="square" lIns="0" tIns="0" rIns="0" bIns="0" rtlCol="0" anchor="ctr"/>
          <a:lstStyle/>
          <a:p>
            <a:pPr marL="0" indent="0">
              <a:buNone/>
            </a:pPr>
            <a:r>
              <a:rPr lang="en-US" sz="1600" dirty="0">
                <a:solidFill>
                  <a:schemeClr val="tx1"/>
                </a:solidFill>
              </a:rPr>
              <a:t>Decide which statement is a fact and which is an opinion</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1</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4000" b="1" dirty="0">
                <a:solidFill>
                  <a:schemeClr val="accent5"/>
                </a:solidFill>
                <a:latin typeface="+mj-lt" pitchFamily="34" charset="0"/>
                <a:ea typeface="+mj-lt" pitchFamily="34" charset="-122"/>
                <a:cs typeface="+mj-lt" pitchFamily="34" charset="-120"/>
              </a:rPr>
              <a:t>Read the Text</a:t>
            </a:r>
            <a:endParaRPr lang="en-US" sz="40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Activity 1 · question a</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What type of text is this?</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Read ‘A brief history of space’ aloud with a partner. Then decide:</a:t>
            </a:r>
            <a:endParaRPr lang="en-US" sz="1600" dirty="0"/>
          </a:p>
        </p:txBody>
      </p:sp>
      <p:sp>
        <p:nvSpPr>
          <p:cNvPr id="5" name="Option A"/>
          <p:cNvSpPr/>
          <p:nvPr/>
        </p:nvSpPr>
        <p:spPr>
          <a:xfrm>
            <a:off x="457200" y="1463040"/>
            <a:ext cx="4023360" cy="1005840"/>
          </a:xfrm>
          <a:prstGeom prst="roundRect">
            <a:avLst>
              <a:gd name="adj" fmla="val 1090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719072"/>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719072"/>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005840"/>
          </a:xfrm>
          <a:prstGeom prst="rect">
            <a:avLst/>
          </a:prstGeom>
          <a:noFill/>
          <a:ln/>
        </p:spPr>
        <p:txBody>
          <a:bodyPr wrap="square" lIns="0" tIns="0" rIns="0" bIns="0" rtlCol="0" anchor="ctr"/>
          <a:lstStyle/>
          <a:p>
            <a:pPr marL="0" indent="0">
              <a:buNone/>
            </a:pPr>
            <a:r>
              <a:rPr lang="en-US" sz="1600" dirty="0">
                <a:solidFill>
                  <a:schemeClr val="tx1"/>
                </a:solidFill>
              </a:rPr>
              <a:t>A story with characters and a plot</a:t>
            </a:r>
            <a:endParaRPr lang="en-US" sz="1600" dirty="0"/>
          </a:p>
        </p:txBody>
      </p:sp>
      <p:sp>
        <p:nvSpPr>
          <p:cNvPr id="9" name="Option B"/>
          <p:cNvSpPr/>
          <p:nvPr/>
        </p:nvSpPr>
        <p:spPr>
          <a:xfrm>
            <a:off x="4663440" y="1463040"/>
            <a:ext cx="4023360" cy="1005840"/>
          </a:xfrm>
          <a:prstGeom prst="roundRect">
            <a:avLst>
              <a:gd name="adj" fmla="val 1090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719072"/>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719072"/>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005840"/>
          </a:xfrm>
          <a:prstGeom prst="rect">
            <a:avLst/>
          </a:prstGeom>
          <a:noFill/>
          <a:ln/>
        </p:spPr>
        <p:txBody>
          <a:bodyPr wrap="square" lIns="0" tIns="0" rIns="0" bIns="0" rtlCol="0" anchor="ctr"/>
          <a:lstStyle/>
          <a:p>
            <a:pPr marL="0" indent="0">
              <a:buNone/>
            </a:pPr>
            <a:r>
              <a:rPr lang="en-US" sz="1600" dirty="0">
                <a:solidFill>
                  <a:schemeClr val="tx1"/>
                </a:solidFill>
              </a:rPr>
              <a:t>A poem with rhyme and rhythm</a:t>
            </a:r>
            <a:endParaRPr lang="en-US" sz="1600" dirty="0"/>
          </a:p>
        </p:txBody>
      </p:sp>
      <p:sp>
        <p:nvSpPr>
          <p:cNvPr id="13" name="Option C"/>
          <p:cNvSpPr/>
          <p:nvPr/>
        </p:nvSpPr>
        <p:spPr>
          <a:xfrm>
            <a:off x="457200" y="2651760"/>
            <a:ext cx="4023360" cy="1005840"/>
          </a:xfrm>
          <a:prstGeom prst="roundRect">
            <a:avLst>
              <a:gd name="adj" fmla="val 1090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2907792"/>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2907792"/>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651760"/>
            <a:ext cx="3017520" cy="1005840"/>
          </a:xfrm>
          <a:prstGeom prst="rect">
            <a:avLst/>
          </a:prstGeom>
          <a:noFill/>
          <a:ln/>
        </p:spPr>
        <p:txBody>
          <a:bodyPr wrap="square" lIns="0" tIns="0" rIns="0" bIns="0" rtlCol="0" anchor="ctr"/>
          <a:lstStyle/>
          <a:p>
            <a:pPr marL="0" indent="0">
              <a:buNone/>
            </a:pPr>
            <a:r>
              <a:rPr lang="en-US" sz="1600" dirty="0">
                <a:solidFill>
                  <a:schemeClr val="tx1"/>
                </a:solidFill>
              </a:rPr>
              <a:t>A non-fiction text that explains events in order</a:t>
            </a:r>
            <a:endParaRPr lang="en-US" sz="1600" dirty="0"/>
          </a:p>
        </p:txBody>
      </p:sp>
      <p:sp>
        <p:nvSpPr>
          <p:cNvPr id="17" name="Option D"/>
          <p:cNvSpPr/>
          <p:nvPr/>
        </p:nvSpPr>
        <p:spPr>
          <a:xfrm>
            <a:off x="4663440" y="2651760"/>
            <a:ext cx="4023360" cy="1005840"/>
          </a:xfrm>
          <a:prstGeom prst="roundRect">
            <a:avLst>
              <a:gd name="adj" fmla="val 1090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2907792"/>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2907792"/>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651760"/>
            <a:ext cx="3017520" cy="1005840"/>
          </a:xfrm>
          <a:prstGeom prst="rect">
            <a:avLst/>
          </a:prstGeom>
          <a:noFill/>
          <a:ln/>
        </p:spPr>
        <p:txBody>
          <a:bodyPr wrap="square" lIns="0" tIns="0" rIns="0" bIns="0" rtlCol="0" anchor="ctr"/>
          <a:lstStyle/>
          <a:p>
            <a:pPr marL="0" indent="0">
              <a:buNone/>
            </a:pPr>
            <a:r>
              <a:rPr lang="en-US" sz="1600" dirty="0">
                <a:solidFill>
                  <a:schemeClr val="tx1"/>
                </a:solidFill>
              </a:rPr>
              <a:t>An advertisement trying to sell something</a:t>
            </a:r>
            <a:endParaRPr lang="en-US" sz="1600" dirty="0"/>
          </a:p>
        </p:txBody>
      </p:sp>
      <p:sp>
        <p:nvSpPr>
          <p:cNvPr id="21" name="Callout"/>
          <p:cNvSpPr/>
          <p:nvPr/>
        </p:nvSpPr>
        <p:spPr>
          <a:xfrm>
            <a:off x="457200" y="3977640"/>
            <a:ext cx="8229600" cy="457200"/>
          </a:xfrm>
          <a:prstGeom prst="roundRect">
            <a:avLst>
              <a:gd name="adj" fmla="val 24000"/>
            </a:avLst>
          </a:prstGeom>
          <a:solidFill>
            <a:schemeClr val="accent5"/>
          </a:solidFill>
          <a:ln w="9525">
            <a:solidFill>
              <a:schemeClr val="accent5"/>
            </a:solidFill>
            <a:prstDash val="solid"/>
          </a:ln>
        </p:spPr>
      </p:sp>
      <p:sp>
        <p:nvSpPr>
          <p:cNvPr id="22" name="Text 19"/>
          <p:cNvSpPr txBox="1"/>
          <p:nvPr/>
        </p:nvSpPr>
        <p:spPr>
          <a:xfrm>
            <a:off x="640080" y="397764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Think: does it tell a story, or does it give facts?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a:t>
            </a:r>
            <a:endParaRPr lang="en-US" sz="3000" dirty="0"/>
          </a:p>
        </p:txBody>
      </p:sp>
      <p:sp>
        <p:nvSpPr>
          <p:cNvPr id="4" name="Answer badge"/>
          <p:cNvSpPr/>
          <p:nvPr/>
        </p:nvSpPr>
        <p:spPr>
          <a:xfrm>
            <a:off x="731520" y="1554480"/>
            <a:ext cx="1463040" cy="1463040"/>
          </a:xfrm>
          <a:prstGeom prst="ellipse">
            <a:avLst/>
          </a:prstGeom>
          <a:solidFill>
            <a:schemeClr val="accent2"/>
          </a:solidFill>
          <a:ln w="6350">
            <a:solidFill>
              <a:schemeClr val="accent2"/>
            </a:solidFill>
            <a:prstDash val="solid"/>
          </a:ln>
        </p:spPr>
      </p:sp>
      <p:sp>
        <p:nvSpPr>
          <p:cNvPr id="5" name="Text 2"/>
          <p:cNvSpPr txBox="1"/>
          <p:nvPr/>
        </p:nvSpPr>
        <p:spPr>
          <a:xfrm>
            <a:off x="731520" y="1554480"/>
            <a:ext cx="1463040" cy="1463040"/>
          </a:xfrm>
          <a:prstGeom prst="rect">
            <a:avLst/>
          </a:prstGeom>
          <a:noFill/>
          <a:ln/>
        </p:spPr>
        <p:txBody>
          <a:bodyPr wrap="square" lIns="0" tIns="0" rIns="0" bIns="0" rtlCol="0" anchor="ctr"/>
          <a:lstStyle/>
          <a:p>
            <a:pPr marL="0" indent="0" algn="ctr">
              <a:buNone/>
            </a:pPr>
            <a:r>
              <a:rPr lang="en-US" sz="6000" b="1" dirty="0">
                <a:solidFill>
                  <a:schemeClr val="tx1"/>
                </a:solidFill>
                <a:latin typeface="+mj-lt" pitchFamily="34" charset="0"/>
                <a:ea typeface="+mj-lt" pitchFamily="34" charset="-122"/>
                <a:cs typeface="+mj-lt" pitchFamily="34" charset="-120"/>
              </a:rPr>
              <a:t>C</a:t>
            </a:r>
            <a:endParaRPr lang="en-US" sz="6000" dirty="0"/>
          </a:p>
        </p:txBody>
      </p:sp>
      <p:sp>
        <p:nvSpPr>
          <p:cNvPr id="6" name="Text 3"/>
          <p:cNvSpPr txBox="1"/>
          <p:nvPr/>
        </p:nvSpPr>
        <p:spPr>
          <a:xfrm>
            <a:off x="2651760" y="1463040"/>
            <a:ext cx="5669280" cy="914400"/>
          </a:xfrm>
          <a:prstGeom prst="rect">
            <a:avLst/>
          </a:prstGeom>
          <a:noFill/>
          <a:ln/>
        </p:spPr>
        <p:txBody>
          <a:bodyPr wrap="square" lIns="0" tIns="0" rIns="0" bIns="0" rtlCol="0" anchor="ctr"/>
          <a:lstStyle/>
          <a:p>
            <a:pPr marL="0" indent="0">
              <a:buNone/>
            </a:pPr>
            <a:r>
              <a:rPr lang="en-US" sz="2400" b="1" dirty="0">
                <a:solidFill>
                  <a:schemeClr val="bg1"/>
                </a:solidFill>
                <a:latin typeface="+mj-lt" pitchFamily="34" charset="0"/>
                <a:ea typeface="+mj-lt" pitchFamily="34" charset="-122"/>
                <a:cs typeface="+mj-lt" pitchFamily="34" charset="-120"/>
              </a:rPr>
              <a:t>A non-fiction explanation text, set out like a timeline.</a:t>
            </a:r>
            <a:endParaRPr lang="en-US" sz="2400" dirty="0"/>
          </a:p>
        </p:txBody>
      </p:sp>
      <p:sp>
        <p:nvSpPr>
          <p:cNvPr id="7" name="Text 4"/>
          <p:cNvSpPr txBox="1"/>
          <p:nvPr/>
        </p:nvSpPr>
        <p:spPr>
          <a:xfrm>
            <a:off x="2651760" y="2514600"/>
            <a:ext cx="5669280" cy="822960"/>
          </a:xfrm>
          <a:prstGeom prst="rect">
            <a:avLst/>
          </a:prstGeom>
          <a:noFill/>
          <a:ln/>
        </p:spPr>
        <p:txBody>
          <a:bodyPr wrap="square" lIns="0" tIns="0" rIns="0" bIns="0" rtlCol="0" anchor="t"/>
          <a:lstStyle/>
          <a:p>
            <a:pPr marL="0" indent="0">
              <a:buNone/>
            </a:pPr>
            <a:r>
              <a:rPr lang="en-US" sz="1600" dirty="0">
                <a:solidFill>
                  <a:schemeClr val="accent6"/>
                </a:solidFill>
              </a:rPr>
              <a:t>Clues: real people and dates · facts in time order · bold key words · a glossary · photographs</a:t>
            </a:r>
            <a:endParaRPr lang="en-US" sz="1600" dirty="0"/>
          </a:p>
        </p:txBody>
      </p:sp>
      <p:sp>
        <p:nvSpPr>
          <p:cNvPr id="8" name="Why"/>
          <p:cNvSpPr/>
          <p:nvPr/>
        </p:nvSpPr>
        <p:spPr>
          <a:xfrm>
            <a:off x="731520" y="3520440"/>
            <a:ext cx="7680960" cy="731520"/>
          </a:xfrm>
          <a:prstGeom prst="roundRect">
            <a:avLst>
              <a:gd name="adj" fmla="val 15000"/>
            </a:avLst>
          </a:prstGeom>
          <a:solidFill>
            <a:schemeClr val="accent4"/>
          </a:solidFill>
          <a:ln w="9525">
            <a:solidFill>
              <a:schemeClr val="accent4"/>
            </a:solidFill>
            <a:prstDash val="solid"/>
          </a:ln>
        </p:spPr>
      </p:sp>
      <p:sp>
        <p:nvSpPr>
          <p:cNvPr id="9" name="Text 6"/>
          <p:cNvSpPr txBox="1"/>
          <p:nvPr/>
        </p:nvSpPr>
        <p:spPr>
          <a:xfrm>
            <a:off x="914400" y="3520440"/>
            <a:ext cx="7315200" cy="731520"/>
          </a:xfrm>
          <a:prstGeom prst="rect">
            <a:avLst/>
          </a:prstGeom>
          <a:noFill/>
          <a:ln/>
        </p:spPr>
        <p:txBody>
          <a:bodyPr wrap="square" lIns="0" tIns="0" rIns="0" bIns="0" rtlCol="0" anchor="ctr"/>
          <a:lstStyle/>
          <a:p>
            <a:pPr marL="0" indent="0" algn="ctr">
              <a:buNone/>
            </a:pPr>
            <a:r>
              <a:rPr lang="en-US" sz="1700" b="1" dirty="0">
                <a:solidFill>
                  <a:schemeClr val="bg1"/>
                </a:solidFill>
              </a:rPr>
              <a:t>Explanation text = true facts + a clear order + simple language</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Features of an explanation text</a:t>
            </a:r>
            <a:endParaRPr lang="en-US" sz="3000" dirty="0"/>
          </a:p>
        </p:txBody>
      </p:sp>
      <p:sp>
        <p:nvSpPr>
          <p:cNvPr id="4" name="Feature 1"/>
          <p:cNvSpPr/>
          <p:nvPr/>
        </p:nvSpPr>
        <p:spPr>
          <a:xfrm>
            <a:off x="457200" y="109728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28016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640080" y="1280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234440" y="1280160"/>
            <a:ext cx="31089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Dates in order</a:t>
            </a:r>
            <a:endParaRPr lang="en-US" sz="1800" dirty="0"/>
          </a:p>
        </p:txBody>
      </p:sp>
      <p:sp>
        <p:nvSpPr>
          <p:cNvPr id="8" name="Text 5"/>
          <p:cNvSpPr txBox="1"/>
          <p:nvPr/>
        </p:nvSpPr>
        <p:spPr>
          <a:xfrm>
            <a:off x="685800" y="1828800"/>
            <a:ext cx="3566160" cy="594360"/>
          </a:xfrm>
          <a:prstGeom prst="rect">
            <a:avLst/>
          </a:prstGeom>
          <a:noFill/>
          <a:ln/>
        </p:spPr>
        <p:txBody>
          <a:bodyPr wrap="square" lIns="0" tIns="0" rIns="0" bIns="0" rtlCol="0" anchor="t"/>
          <a:lstStyle/>
          <a:p>
            <a:pPr marL="0" indent="0">
              <a:buNone/>
            </a:pPr>
            <a:r>
              <a:rPr lang="en-US" sz="1500" dirty="0">
                <a:solidFill>
                  <a:schemeClr val="tx1"/>
                </a:solidFill>
              </a:rPr>
              <a:t>Events run in time order, from 129 BCE to 2019.</a:t>
            </a:r>
            <a:endParaRPr lang="en-US" sz="1500" dirty="0"/>
          </a:p>
        </p:txBody>
      </p:sp>
      <p:sp>
        <p:nvSpPr>
          <p:cNvPr id="9" name="Feature 2"/>
          <p:cNvSpPr/>
          <p:nvPr/>
        </p:nvSpPr>
        <p:spPr>
          <a:xfrm>
            <a:off x="4663440" y="109728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280160"/>
            <a:ext cx="411480" cy="411480"/>
          </a:xfrm>
          <a:prstGeom prst="ellipse">
            <a:avLst/>
          </a:prstGeom>
          <a:solidFill>
            <a:schemeClr val="accent2"/>
          </a:solidFill>
          <a:ln w="6350">
            <a:solidFill>
              <a:schemeClr val="accent2"/>
            </a:solidFill>
            <a:prstDash val="solid"/>
          </a:ln>
        </p:spPr>
      </p:sp>
      <p:sp>
        <p:nvSpPr>
          <p:cNvPr id="11" name="Text 8"/>
          <p:cNvSpPr txBox="1"/>
          <p:nvPr/>
        </p:nvSpPr>
        <p:spPr>
          <a:xfrm>
            <a:off x="4846320" y="1280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5440680" y="1280160"/>
            <a:ext cx="31089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Facts</a:t>
            </a:r>
            <a:endParaRPr lang="en-US" sz="1800" dirty="0"/>
          </a:p>
        </p:txBody>
      </p:sp>
      <p:sp>
        <p:nvSpPr>
          <p:cNvPr id="13" name="Text 10"/>
          <p:cNvSpPr txBox="1"/>
          <p:nvPr/>
        </p:nvSpPr>
        <p:spPr>
          <a:xfrm>
            <a:off x="4892040" y="1828800"/>
            <a:ext cx="3566160" cy="594360"/>
          </a:xfrm>
          <a:prstGeom prst="rect">
            <a:avLst/>
          </a:prstGeom>
          <a:noFill/>
          <a:ln/>
        </p:spPr>
        <p:txBody>
          <a:bodyPr wrap="square" lIns="0" tIns="0" rIns="0" bIns="0" rtlCol="0" anchor="t"/>
          <a:lstStyle/>
          <a:p>
            <a:pPr marL="0" indent="0">
              <a:buNone/>
            </a:pPr>
            <a:r>
              <a:rPr lang="en-US" sz="1500" dirty="0">
                <a:solidFill>
                  <a:schemeClr val="tx1"/>
                </a:solidFill>
              </a:rPr>
              <a:t>It gives true information about real people, places and events.</a:t>
            </a:r>
            <a:endParaRPr lang="en-US" sz="1500" dirty="0"/>
          </a:p>
        </p:txBody>
      </p:sp>
      <p:sp>
        <p:nvSpPr>
          <p:cNvPr id="14" name="Feature 3"/>
          <p:cNvSpPr/>
          <p:nvPr/>
        </p:nvSpPr>
        <p:spPr>
          <a:xfrm>
            <a:off x="457200" y="269748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640080" y="2880360"/>
            <a:ext cx="411480" cy="411480"/>
          </a:xfrm>
          <a:prstGeom prst="ellipse">
            <a:avLst/>
          </a:prstGeom>
          <a:solidFill>
            <a:schemeClr val="accent3"/>
          </a:solidFill>
          <a:ln w="6350">
            <a:solidFill>
              <a:schemeClr val="accent3"/>
            </a:solidFill>
            <a:prstDash val="solid"/>
          </a:ln>
        </p:spPr>
      </p:sp>
      <p:sp>
        <p:nvSpPr>
          <p:cNvPr id="16" name="Text 13"/>
          <p:cNvSpPr txBox="1"/>
          <p:nvPr/>
        </p:nvSpPr>
        <p:spPr>
          <a:xfrm>
            <a:off x="640080" y="28803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234440" y="2880360"/>
            <a:ext cx="31089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Bold words + glossary</a:t>
            </a:r>
            <a:endParaRPr lang="en-US" sz="1800" dirty="0"/>
          </a:p>
        </p:txBody>
      </p:sp>
      <p:sp>
        <p:nvSpPr>
          <p:cNvPr id="18" name="Text 15"/>
          <p:cNvSpPr txBox="1"/>
          <p:nvPr/>
        </p:nvSpPr>
        <p:spPr>
          <a:xfrm>
            <a:off x="685800" y="3429000"/>
            <a:ext cx="3566160" cy="594360"/>
          </a:xfrm>
          <a:prstGeom prst="rect">
            <a:avLst/>
          </a:prstGeom>
          <a:noFill/>
          <a:ln/>
        </p:spPr>
        <p:txBody>
          <a:bodyPr wrap="square" lIns="0" tIns="0" rIns="0" bIns="0" rtlCol="0" anchor="t"/>
          <a:lstStyle/>
          <a:p>
            <a:pPr marL="0" indent="0">
              <a:buNone/>
            </a:pPr>
            <a:r>
              <a:rPr lang="en-US" sz="1500" dirty="0">
                <a:solidFill>
                  <a:schemeClr val="tx1"/>
                </a:solidFill>
              </a:rPr>
              <a:t>Tricky words are in bold and explained in the glossary.</a:t>
            </a:r>
            <a:endParaRPr lang="en-US" sz="1500" dirty="0"/>
          </a:p>
        </p:txBody>
      </p:sp>
      <p:sp>
        <p:nvSpPr>
          <p:cNvPr id="19" name="Feature 4"/>
          <p:cNvSpPr/>
          <p:nvPr/>
        </p:nvSpPr>
        <p:spPr>
          <a:xfrm>
            <a:off x="4663440" y="269748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4846320" y="2880360"/>
            <a:ext cx="411480" cy="411480"/>
          </a:xfrm>
          <a:prstGeom prst="ellipse">
            <a:avLst/>
          </a:prstGeom>
          <a:solidFill>
            <a:schemeClr val="accent4"/>
          </a:solidFill>
          <a:ln w="6350">
            <a:solidFill>
              <a:schemeClr val="accent4"/>
            </a:solidFill>
            <a:prstDash val="solid"/>
          </a:ln>
        </p:spPr>
      </p:sp>
      <p:sp>
        <p:nvSpPr>
          <p:cNvPr id="21" name="Text 18"/>
          <p:cNvSpPr txBox="1"/>
          <p:nvPr/>
        </p:nvSpPr>
        <p:spPr>
          <a:xfrm>
            <a:off x="4846320" y="288036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5440680" y="2880360"/>
            <a:ext cx="31089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Past tense verbs</a:t>
            </a:r>
            <a:endParaRPr lang="en-US" sz="1800" dirty="0"/>
          </a:p>
        </p:txBody>
      </p:sp>
      <p:sp>
        <p:nvSpPr>
          <p:cNvPr id="23" name="Text 20"/>
          <p:cNvSpPr txBox="1"/>
          <p:nvPr/>
        </p:nvSpPr>
        <p:spPr>
          <a:xfrm>
            <a:off x="4892040" y="3429000"/>
            <a:ext cx="3566160" cy="594360"/>
          </a:xfrm>
          <a:prstGeom prst="rect">
            <a:avLst/>
          </a:prstGeom>
          <a:noFill/>
          <a:ln/>
        </p:spPr>
        <p:txBody>
          <a:bodyPr wrap="square" lIns="0" tIns="0" rIns="0" bIns="0" rtlCol="0" anchor="t"/>
          <a:lstStyle/>
          <a:p>
            <a:pPr marL="0" indent="0">
              <a:buNone/>
            </a:pPr>
            <a:r>
              <a:rPr lang="en-US" sz="1500" dirty="0">
                <a:solidFill>
                  <a:schemeClr val="tx1"/>
                </a:solidFill>
              </a:rPr>
              <a:t>Most events use the past tense: ‘launched’, ‘became’, ‘built’.</a:t>
            </a:r>
            <a:endParaRPr lang="en-US" sz="1500" dirty="0"/>
          </a:p>
        </p:txBody>
      </p:sp>
      <p:sp>
        <p:nvSpPr>
          <p:cNvPr id="24" name="Callout"/>
          <p:cNvSpPr/>
          <p:nvPr/>
        </p:nvSpPr>
        <p:spPr>
          <a:xfrm>
            <a:off x="457200" y="4206240"/>
            <a:ext cx="8229600" cy="411480"/>
          </a:xfrm>
          <a:prstGeom prst="roundRect">
            <a:avLst>
              <a:gd name="adj" fmla="val 26667"/>
            </a:avLst>
          </a:prstGeom>
          <a:solidFill>
            <a:schemeClr val="accent5"/>
          </a:solidFill>
          <a:ln w="9525">
            <a:solidFill>
              <a:schemeClr val="accent5"/>
            </a:solidFill>
            <a:prstDash val="solid"/>
          </a:ln>
        </p:spPr>
      </p:sp>
      <p:sp>
        <p:nvSpPr>
          <p:cNvPr id="25" name="Text 22"/>
          <p:cNvSpPr txBox="1"/>
          <p:nvPr/>
        </p:nvSpPr>
        <p:spPr>
          <a:xfrm>
            <a:off x="640080" y="420624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Find one example of each feature in the text</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Read it aloud: names and dates</a:t>
            </a:r>
            <a:endParaRPr lang="en-US" sz="3000" dirty="0"/>
          </a:p>
        </p:txBody>
      </p:sp>
      <p:sp>
        <p:nvSpPr>
          <p:cNvPr id="4" name="Names card"/>
          <p:cNvSpPr/>
          <p:nvPr/>
        </p:nvSpPr>
        <p:spPr>
          <a:xfrm>
            <a:off x="457200" y="1097280"/>
            <a:ext cx="4114800" cy="2834640"/>
          </a:xfrm>
          <a:prstGeom prst="roundRect">
            <a:avLst>
              <a:gd name="adj" fmla="val 38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3657600" cy="41148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Tricky names</a:t>
            </a:r>
            <a:endParaRPr lang="en-US" sz="1800" dirty="0"/>
          </a:p>
        </p:txBody>
      </p:sp>
      <p:sp>
        <p:nvSpPr>
          <p:cNvPr id="6" name="Text 3"/>
          <p:cNvSpPr txBox="1"/>
          <p:nvPr/>
        </p:nvSpPr>
        <p:spPr>
          <a:xfrm>
            <a:off x="685800" y="164592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Hipparchus</a:t>
            </a:r>
            <a:endParaRPr lang="en-US" sz="1500" dirty="0"/>
          </a:p>
        </p:txBody>
      </p:sp>
      <p:sp>
        <p:nvSpPr>
          <p:cNvPr id="7" name="Text 4"/>
          <p:cNvSpPr txBox="1"/>
          <p:nvPr/>
        </p:nvSpPr>
        <p:spPr>
          <a:xfrm>
            <a:off x="2423160" y="164592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hip-AR-kuss</a:t>
            </a:r>
            <a:endParaRPr lang="en-US" sz="1500" dirty="0"/>
          </a:p>
        </p:txBody>
      </p:sp>
      <p:sp>
        <p:nvSpPr>
          <p:cNvPr id="8" name="Text 5"/>
          <p:cNvSpPr txBox="1"/>
          <p:nvPr/>
        </p:nvSpPr>
        <p:spPr>
          <a:xfrm>
            <a:off x="685800" y="201168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Copernicus</a:t>
            </a:r>
            <a:endParaRPr lang="en-US" sz="1500" dirty="0"/>
          </a:p>
        </p:txBody>
      </p:sp>
      <p:sp>
        <p:nvSpPr>
          <p:cNvPr id="9" name="Text 6"/>
          <p:cNvSpPr txBox="1"/>
          <p:nvPr/>
        </p:nvSpPr>
        <p:spPr>
          <a:xfrm>
            <a:off x="2423160" y="201168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koh-PER-nih-kus</a:t>
            </a:r>
            <a:endParaRPr lang="en-US" sz="1500" dirty="0"/>
          </a:p>
        </p:txBody>
      </p:sp>
      <p:sp>
        <p:nvSpPr>
          <p:cNvPr id="10" name="Text 7"/>
          <p:cNvSpPr txBox="1"/>
          <p:nvPr/>
        </p:nvSpPr>
        <p:spPr>
          <a:xfrm>
            <a:off x="685800" y="237744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Galileo</a:t>
            </a:r>
            <a:endParaRPr lang="en-US" sz="1500" dirty="0"/>
          </a:p>
        </p:txBody>
      </p:sp>
      <p:sp>
        <p:nvSpPr>
          <p:cNvPr id="11" name="Text 8"/>
          <p:cNvSpPr txBox="1"/>
          <p:nvPr/>
        </p:nvSpPr>
        <p:spPr>
          <a:xfrm>
            <a:off x="2423160" y="237744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gal-ih-LAY-oh</a:t>
            </a:r>
            <a:endParaRPr lang="en-US" sz="1500" dirty="0"/>
          </a:p>
        </p:txBody>
      </p:sp>
      <p:sp>
        <p:nvSpPr>
          <p:cNvPr id="12" name="Text 9"/>
          <p:cNvSpPr txBox="1"/>
          <p:nvPr/>
        </p:nvSpPr>
        <p:spPr>
          <a:xfrm>
            <a:off x="685800" y="274320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Gagarin</a:t>
            </a:r>
            <a:endParaRPr lang="en-US" sz="1500" dirty="0"/>
          </a:p>
        </p:txBody>
      </p:sp>
      <p:sp>
        <p:nvSpPr>
          <p:cNvPr id="13" name="Text 10"/>
          <p:cNvSpPr txBox="1"/>
          <p:nvPr/>
        </p:nvSpPr>
        <p:spPr>
          <a:xfrm>
            <a:off x="2423160" y="274320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gah-GAH-rin</a:t>
            </a:r>
            <a:endParaRPr lang="en-US" sz="1500" dirty="0"/>
          </a:p>
        </p:txBody>
      </p:sp>
      <p:sp>
        <p:nvSpPr>
          <p:cNvPr id="14" name="Text 11"/>
          <p:cNvSpPr txBox="1"/>
          <p:nvPr/>
        </p:nvSpPr>
        <p:spPr>
          <a:xfrm>
            <a:off x="685800" y="310896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Tereshkova</a:t>
            </a:r>
            <a:endParaRPr lang="en-US" sz="1500" dirty="0"/>
          </a:p>
        </p:txBody>
      </p:sp>
      <p:sp>
        <p:nvSpPr>
          <p:cNvPr id="15" name="Text 12"/>
          <p:cNvSpPr txBox="1"/>
          <p:nvPr/>
        </p:nvSpPr>
        <p:spPr>
          <a:xfrm>
            <a:off x="2423160" y="310896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teh-resh-KOH-vah</a:t>
            </a:r>
            <a:endParaRPr lang="en-US" sz="1500" dirty="0"/>
          </a:p>
        </p:txBody>
      </p:sp>
      <p:sp>
        <p:nvSpPr>
          <p:cNvPr id="16" name="Text 13"/>
          <p:cNvSpPr txBox="1"/>
          <p:nvPr/>
        </p:nvSpPr>
        <p:spPr>
          <a:xfrm>
            <a:off x="685800" y="3474720"/>
            <a:ext cx="1737360" cy="347472"/>
          </a:xfrm>
          <a:prstGeom prst="rect">
            <a:avLst/>
          </a:prstGeom>
          <a:noFill/>
          <a:ln/>
        </p:spPr>
        <p:txBody>
          <a:bodyPr wrap="square" lIns="0" tIns="0" rIns="0" bIns="0" rtlCol="0" anchor="ctr"/>
          <a:lstStyle/>
          <a:p>
            <a:pPr marL="0" indent="0">
              <a:buNone/>
            </a:pPr>
            <a:r>
              <a:rPr lang="en-US" sz="1500" b="1" dirty="0">
                <a:solidFill>
                  <a:schemeClr val="tx1"/>
                </a:solidFill>
              </a:rPr>
              <a:t>Chandrayaan</a:t>
            </a:r>
            <a:endParaRPr lang="en-US" sz="1500" dirty="0"/>
          </a:p>
        </p:txBody>
      </p:sp>
      <p:sp>
        <p:nvSpPr>
          <p:cNvPr id="17" name="Text 14"/>
          <p:cNvSpPr txBox="1"/>
          <p:nvPr/>
        </p:nvSpPr>
        <p:spPr>
          <a:xfrm>
            <a:off x="2423160" y="3474720"/>
            <a:ext cx="2011680" cy="347472"/>
          </a:xfrm>
          <a:prstGeom prst="rect">
            <a:avLst/>
          </a:prstGeom>
          <a:noFill/>
          <a:ln/>
        </p:spPr>
        <p:txBody>
          <a:bodyPr wrap="square" lIns="0" tIns="0" rIns="0" bIns="0" rtlCol="0" anchor="ctr"/>
          <a:lstStyle/>
          <a:p>
            <a:pPr marL="0" indent="0">
              <a:buNone/>
            </a:pPr>
            <a:r>
              <a:rPr lang="en-US" sz="1500" i="1" dirty="0">
                <a:solidFill>
                  <a:schemeClr val="tx2"/>
                </a:solidFill>
              </a:rPr>
              <a:t>chun-druh-YAAN</a:t>
            </a:r>
            <a:endParaRPr lang="en-US" sz="1500" dirty="0"/>
          </a:p>
        </p:txBody>
      </p:sp>
      <p:sp>
        <p:nvSpPr>
          <p:cNvPr id="18" name="Dates card"/>
          <p:cNvSpPr/>
          <p:nvPr/>
        </p:nvSpPr>
        <p:spPr>
          <a:xfrm>
            <a:off x="4754880" y="1097280"/>
            <a:ext cx="3931920" cy="2834640"/>
          </a:xfrm>
          <a:prstGeom prst="roundRect">
            <a:avLst>
              <a:gd name="adj" fmla="val 38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9" name="Text 16"/>
          <p:cNvSpPr txBox="1"/>
          <p:nvPr/>
        </p:nvSpPr>
        <p:spPr>
          <a:xfrm>
            <a:off x="4983480" y="1188720"/>
            <a:ext cx="3474720" cy="41148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Saying the years</a:t>
            </a:r>
            <a:endParaRPr lang="en-US" sz="1800" dirty="0"/>
          </a:p>
        </p:txBody>
      </p:sp>
      <p:sp>
        <p:nvSpPr>
          <p:cNvPr id="20" name="Text 17"/>
          <p:cNvSpPr txBox="1"/>
          <p:nvPr/>
        </p:nvSpPr>
        <p:spPr>
          <a:xfrm>
            <a:off x="4983480" y="1645920"/>
            <a:ext cx="1005840" cy="402336"/>
          </a:xfrm>
          <a:prstGeom prst="rect">
            <a:avLst/>
          </a:prstGeom>
          <a:noFill/>
          <a:ln/>
        </p:spPr>
        <p:txBody>
          <a:bodyPr wrap="square" lIns="0" tIns="0" rIns="0" bIns="0" rtlCol="0" anchor="ctr"/>
          <a:lstStyle/>
          <a:p>
            <a:pPr marL="0" indent="0">
              <a:buNone/>
            </a:pPr>
            <a:r>
              <a:rPr lang="en-US" sz="1500" b="1" dirty="0">
                <a:solidFill>
                  <a:schemeClr val="tx1"/>
                </a:solidFill>
              </a:rPr>
              <a:t>1543</a:t>
            </a:r>
            <a:endParaRPr lang="en-US" sz="1500" dirty="0"/>
          </a:p>
        </p:txBody>
      </p:sp>
      <p:sp>
        <p:nvSpPr>
          <p:cNvPr id="21" name="Text 18"/>
          <p:cNvSpPr txBox="1"/>
          <p:nvPr/>
        </p:nvSpPr>
        <p:spPr>
          <a:xfrm>
            <a:off x="5989320" y="1645920"/>
            <a:ext cx="2606040" cy="402336"/>
          </a:xfrm>
          <a:prstGeom prst="rect">
            <a:avLst/>
          </a:prstGeom>
          <a:noFill/>
          <a:ln/>
        </p:spPr>
        <p:txBody>
          <a:bodyPr wrap="square" lIns="0" tIns="0" rIns="0" bIns="0" rtlCol="0" anchor="ctr"/>
          <a:lstStyle/>
          <a:p>
            <a:pPr marL="0" indent="0">
              <a:buNone/>
            </a:pPr>
            <a:r>
              <a:rPr lang="en-US" sz="1500" i="1" dirty="0">
                <a:solidFill>
                  <a:schemeClr val="tx2"/>
                </a:solidFill>
              </a:rPr>
              <a:t>fifteen forty-three</a:t>
            </a:r>
            <a:endParaRPr lang="en-US" sz="1500" dirty="0"/>
          </a:p>
        </p:txBody>
      </p:sp>
      <p:sp>
        <p:nvSpPr>
          <p:cNvPr id="22" name="Text 19"/>
          <p:cNvSpPr txBox="1"/>
          <p:nvPr/>
        </p:nvSpPr>
        <p:spPr>
          <a:xfrm>
            <a:off x="4983480" y="2084832"/>
            <a:ext cx="1005840" cy="402336"/>
          </a:xfrm>
          <a:prstGeom prst="rect">
            <a:avLst/>
          </a:prstGeom>
          <a:noFill/>
          <a:ln/>
        </p:spPr>
        <p:txBody>
          <a:bodyPr wrap="square" lIns="0" tIns="0" rIns="0" bIns="0" rtlCol="0" anchor="ctr"/>
          <a:lstStyle/>
          <a:p>
            <a:pPr marL="0" indent="0">
              <a:buNone/>
            </a:pPr>
            <a:r>
              <a:rPr lang="en-US" sz="1500" b="1" dirty="0">
                <a:solidFill>
                  <a:schemeClr val="tx1"/>
                </a:solidFill>
              </a:rPr>
              <a:t>1609</a:t>
            </a:r>
            <a:endParaRPr lang="en-US" sz="1500" dirty="0"/>
          </a:p>
        </p:txBody>
      </p:sp>
      <p:sp>
        <p:nvSpPr>
          <p:cNvPr id="23" name="Text 20"/>
          <p:cNvSpPr txBox="1"/>
          <p:nvPr/>
        </p:nvSpPr>
        <p:spPr>
          <a:xfrm>
            <a:off x="5989320" y="2084832"/>
            <a:ext cx="2606040" cy="402336"/>
          </a:xfrm>
          <a:prstGeom prst="rect">
            <a:avLst/>
          </a:prstGeom>
          <a:noFill/>
          <a:ln/>
        </p:spPr>
        <p:txBody>
          <a:bodyPr wrap="square" lIns="0" tIns="0" rIns="0" bIns="0" rtlCol="0" anchor="ctr"/>
          <a:lstStyle/>
          <a:p>
            <a:pPr marL="0" indent="0">
              <a:buNone/>
            </a:pPr>
            <a:r>
              <a:rPr lang="en-US" sz="1500" i="1" dirty="0">
                <a:solidFill>
                  <a:schemeClr val="tx2"/>
                </a:solidFill>
              </a:rPr>
              <a:t>sixteen oh nine</a:t>
            </a:r>
            <a:endParaRPr lang="en-US" sz="1500" dirty="0"/>
          </a:p>
        </p:txBody>
      </p:sp>
      <p:sp>
        <p:nvSpPr>
          <p:cNvPr id="24" name="Text 21"/>
          <p:cNvSpPr txBox="1"/>
          <p:nvPr/>
        </p:nvSpPr>
        <p:spPr>
          <a:xfrm>
            <a:off x="4983480" y="2523744"/>
            <a:ext cx="1005840" cy="402336"/>
          </a:xfrm>
          <a:prstGeom prst="rect">
            <a:avLst/>
          </a:prstGeom>
          <a:noFill/>
          <a:ln/>
        </p:spPr>
        <p:txBody>
          <a:bodyPr wrap="square" lIns="0" tIns="0" rIns="0" bIns="0" rtlCol="0" anchor="ctr"/>
          <a:lstStyle/>
          <a:p>
            <a:pPr marL="0" indent="0">
              <a:buNone/>
            </a:pPr>
            <a:r>
              <a:rPr lang="en-US" sz="1500" b="1" dirty="0">
                <a:solidFill>
                  <a:schemeClr val="tx1"/>
                </a:solidFill>
              </a:rPr>
              <a:t>1969</a:t>
            </a:r>
            <a:endParaRPr lang="en-US" sz="1500" dirty="0"/>
          </a:p>
        </p:txBody>
      </p:sp>
      <p:sp>
        <p:nvSpPr>
          <p:cNvPr id="25" name="Text 22"/>
          <p:cNvSpPr txBox="1"/>
          <p:nvPr/>
        </p:nvSpPr>
        <p:spPr>
          <a:xfrm>
            <a:off x="5989320" y="2523744"/>
            <a:ext cx="2606040" cy="402336"/>
          </a:xfrm>
          <a:prstGeom prst="rect">
            <a:avLst/>
          </a:prstGeom>
          <a:noFill/>
          <a:ln/>
        </p:spPr>
        <p:txBody>
          <a:bodyPr wrap="square" lIns="0" tIns="0" rIns="0" bIns="0" rtlCol="0" anchor="ctr"/>
          <a:lstStyle/>
          <a:p>
            <a:pPr marL="0" indent="0">
              <a:buNone/>
            </a:pPr>
            <a:r>
              <a:rPr lang="en-US" sz="1500" i="1" dirty="0">
                <a:solidFill>
                  <a:schemeClr val="tx2"/>
                </a:solidFill>
              </a:rPr>
              <a:t>nineteen sixty-nine</a:t>
            </a:r>
            <a:endParaRPr lang="en-US" sz="1500" dirty="0"/>
          </a:p>
        </p:txBody>
      </p:sp>
      <p:sp>
        <p:nvSpPr>
          <p:cNvPr id="26" name="Text 23"/>
          <p:cNvSpPr txBox="1"/>
          <p:nvPr/>
        </p:nvSpPr>
        <p:spPr>
          <a:xfrm>
            <a:off x="4983480" y="2962656"/>
            <a:ext cx="1005840" cy="402336"/>
          </a:xfrm>
          <a:prstGeom prst="rect">
            <a:avLst/>
          </a:prstGeom>
          <a:noFill/>
          <a:ln/>
        </p:spPr>
        <p:txBody>
          <a:bodyPr wrap="square" lIns="0" tIns="0" rIns="0" bIns="0" rtlCol="0" anchor="ctr"/>
          <a:lstStyle/>
          <a:p>
            <a:pPr marL="0" indent="0">
              <a:buNone/>
            </a:pPr>
            <a:r>
              <a:rPr lang="en-US" sz="1500" b="1" dirty="0">
                <a:solidFill>
                  <a:schemeClr val="tx1"/>
                </a:solidFill>
              </a:rPr>
              <a:t>2012</a:t>
            </a:r>
            <a:endParaRPr lang="en-US" sz="1500" dirty="0"/>
          </a:p>
        </p:txBody>
      </p:sp>
      <p:sp>
        <p:nvSpPr>
          <p:cNvPr id="27" name="Text 24"/>
          <p:cNvSpPr txBox="1"/>
          <p:nvPr/>
        </p:nvSpPr>
        <p:spPr>
          <a:xfrm>
            <a:off x="5989320" y="2962656"/>
            <a:ext cx="2606040" cy="402336"/>
          </a:xfrm>
          <a:prstGeom prst="rect">
            <a:avLst/>
          </a:prstGeom>
          <a:noFill/>
          <a:ln/>
        </p:spPr>
        <p:txBody>
          <a:bodyPr wrap="square" lIns="0" tIns="0" rIns="0" bIns="0" rtlCol="0" anchor="ctr"/>
          <a:lstStyle/>
          <a:p>
            <a:pPr marL="0" indent="0">
              <a:buNone/>
            </a:pPr>
            <a:r>
              <a:rPr lang="en-US" sz="1500" i="1" dirty="0">
                <a:solidFill>
                  <a:schemeClr val="tx2"/>
                </a:solidFill>
              </a:rPr>
              <a:t>twenty twelve</a:t>
            </a:r>
            <a:endParaRPr lang="en-US" sz="1500" dirty="0"/>
          </a:p>
        </p:txBody>
      </p:sp>
      <p:sp>
        <p:nvSpPr>
          <p:cNvPr id="28" name="Text 25"/>
          <p:cNvSpPr txBox="1"/>
          <p:nvPr/>
        </p:nvSpPr>
        <p:spPr>
          <a:xfrm>
            <a:off x="4983480" y="3401568"/>
            <a:ext cx="1005840" cy="402336"/>
          </a:xfrm>
          <a:prstGeom prst="rect">
            <a:avLst/>
          </a:prstGeom>
          <a:noFill/>
          <a:ln/>
        </p:spPr>
        <p:txBody>
          <a:bodyPr wrap="square" lIns="0" tIns="0" rIns="0" bIns="0" rtlCol="0" anchor="ctr"/>
          <a:lstStyle/>
          <a:p>
            <a:pPr marL="0" indent="0">
              <a:buNone/>
            </a:pPr>
            <a:r>
              <a:rPr lang="en-US" sz="1500" b="1" dirty="0">
                <a:solidFill>
                  <a:schemeClr val="tx1"/>
                </a:solidFill>
              </a:rPr>
              <a:t>129 BCE</a:t>
            </a:r>
            <a:endParaRPr lang="en-US" sz="1500" dirty="0"/>
          </a:p>
        </p:txBody>
      </p:sp>
      <p:sp>
        <p:nvSpPr>
          <p:cNvPr id="29" name="Text 26"/>
          <p:cNvSpPr txBox="1"/>
          <p:nvPr/>
        </p:nvSpPr>
        <p:spPr>
          <a:xfrm>
            <a:off x="5989320" y="3401568"/>
            <a:ext cx="2606040" cy="402336"/>
          </a:xfrm>
          <a:prstGeom prst="rect">
            <a:avLst/>
          </a:prstGeom>
          <a:noFill/>
          <a:ln/>
        </p:spPr>
        <p:txBody>
          <a:bodyPr wrap="square" lIns="0" tIns="0" rIns="0" bIns="0" rtlCol="0" anchor="ctr"/>
          <a:lstStyle/>
          <a:p>
            <a:pPr marL="0" indent="0">
              <a:buNone/>
            </a:pPr>
            <a:r>
              <a:rPr lang="en-US" sz="1500" i="1" dirty="0">
                <a:solidFill>
                  <a:schemeClr val="tx2"/>
                </a:solidFill>
              </a:rPr>
              <a:t>one twenty-nine, B-C-E</a:t>
            </a:r>
            <a:endParaRPr lang="en-US" sz="1500" dirty="0"/>
          </a:p>
        </p:txBody>
      </p:sp>
      <p:sp>
        <p:nvSpPr>
          <p:cNvPr id="30" name="Callout"/>
          <p:cNvSpPr/>
          <p:nvPr/>
        </p:nvSpPr>
        <p:spPr>
          <a:xfrm>
            <a:off x="457200" y="4114800"/>
            <a:ext cx="8229600" cy="457200"/>
          </a:xfrm>
          <a:prstGeom prst="roundRect">
            <a:avLst>
              <a:gd name="adj" fmla="val 24000"/>
            </a:avLst>
          </a:prstGeom>
          <a:solidFill>
            <a:schemeClr val="accent5"/>
          </a:solidFill>
          <a:ln w="9525">
            <a:solidFill>
              <a:schemeClr val="accent5"/>
            </a:solidFill>
            <a:prstDash val="solid"/>
          </a:ln>
        </p:spPr>
      </p:sp>
      <p:sp>
        <p:nvSpPr>
          <p:cNvPr id="31" name="Text 28"/>
          <p:cNvSpPr txBox="1"/>
          <p:nvPr/>
        </p:nvSpPr>
        <p:spPr>
          <a:xfrm>
            <a:off x="640080" y="411480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Read aloud: steady pace · pause at full stops · stress the dates</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Space firsts at a glance</a:t>
            </a:r>
            <a:endParaRPr lang="en-US" sz="3000" dirty="0"/>
          </a:p>
        </p:txBody>
      </p:sp>
      <p:sp>
        <p:nvSpPr>
          <p:cNvPr id="4" name="Timeline line"/>
          <p:cNvSpPr/>
          <p:nvPr/>
        </p:nvSpPr>
        <p:spPr>
          <a:xfrm>
            <a:off x="548640" y="2148840"/>
            <a:ext cx="8046720" cy="0"/>
          </a:xfrm>
          <a:prstGeom prst="line">
            <a:avLst/>
          </a:prstGeom>
          <a:noFill/>
          <a:ln w="38100">
            <a:solidFill>
              <a:schemeClr val="accent4"/>
            </a:solidFill>
            <a:prstDash val="solid"/>
          </a:ln>
        </p:spPr>
      </p:sp>
      <p:sp>
        <p:nvSpPr>
          <p:cNvPr id="5" name="Text 2"/>
          <p:cNvSpPr txBox="1"/>
          <p:nvPr/>
        </p:nvSpPr>
        <p:spPr>
          <a:xfrm>
            <a:off x="4572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1957</a:t>
            </a:r>
            <a:endParaRPr lang="en-US" sz="2400" dirty="0"/>
          </a:p>
        </p:txBody>
      </p:sp>
      <p:sp>
        <p:nvSpPr>
          <p:cNvPr id="6" name="Timeline node"/>
          <p:cNvSpPr/>
          <p:nvPr/>
        </p:nvSpPr>
        <p:spPr>
          <a:xfrm>
            <a:off x="914400" y="1965960"/>
            <a:ext cx="365760" cy="365760"/>
          </a:xfrm>
          <a:prstGeom prst="ellipse">
            <a:avLst/>
          </a:prstGeom>
          <a:solidFill>
            <a:schemeClr val="accent1"/>
          </a:solidFill>
          <a:ln w="19050">
            <a:solidFill>
              <a:schemeClr val="tx1"/>
            </a:solidFill>
            <a:prstDash val="solid"/>
          </a:ln>
        </p:spPr>
      </p:sp>
      <p:sp>
        <p:nvSpPr>
          <p:cNvPr id="7" name="Event 1957"/>
          <p:cNvSpPr/>
          <p:nvPr/>
        </p:nvSpPr>
        <p:spPr>
          <a:xfrm>
            <a:off x="4572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5486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artificial satellite, Sputnik I</a:t>
            </a:r>
            <a:endParaRPr lang="en-US" sz="1400" dirty="0"/>
          </a:p>
        </p:txBody>
      </p:sp>
      <p:sp>
        <p:nvSpPr>
          <p:cNvPr id="9" name="Text 6"/>
          <p:cNvSpPr txBox="1"/>
          <p:nvPr/>
        </p:nvSpPr>
        <p:spPr>
          <a:xfrm>
            <a:off x="18288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1961</a:t>
            </a:r>
            <a:endParaRPr lang="en-US" sz="2400" dirty="0"/>
          </a:p>
        </p:txBody>
      </p:sp>
      <p:sp>
        <p:nvSpPr>
          <p:cNvPr id="10" name="Timeline node"/>
          <p:cNvSpPr/>
          <p:nvPr/>
        </p:nvSpPr>
        <p:spPr>
          <a:xfrm>
            <a:off x="2286000" y="1965960"/>
            <a:ext cx="365760" cy="365760"/>
          </a:xfrm>
          <a:prstGeom prst="ellipse">
            <a:avLst/>
          </a:prstGeom>
          <a:solidFill>
            <a:schemeClr val="accent2"/>
          </a:solidFill>
          <a:ln w="19050">
            <a:solidFill>
              <a:schemeClr val="tx1"/>
            </a:solidFill>
            <a:prstDash val="solid"/>
          </a:ln>
        </p:spPr>
      </p:sp>
      <p:sp>
        <p:nvSpPr>
          <p:cNvPr id="11" name="Event 1961"/>
          <p:cNvSpPr/>
          <p:nvPr/>
        </p:nvSpPr>
        <p:spPr>
          <a:xfrm>
            <a:off x="18288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Text 9"/>
          <p:cNvSpPr txBox="1"/>
          <p:nvPr/>
        </p:nvSpPr>
        <p:spPr>
          <a:xfrm>
            <a:off x="19202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person in space: Yuri Gagarin</a:t>
            </a:r>
            <a:endParaRPr lang="en-US" sz="1400" dirty="0"/>
          </a:p>
        </p:txBody>
      </p:sp>
      <p:sp>
        <p:nvSpPr>
          <p:cNvPr id="13" name="Text 10"/>
          <p:cNvSpPr txBox="1"/>
          <p:nvPr/>
        </p:nvSpPr>
        <p:spPr>
          <a:xfrm>
            <a:off x="32004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1963</a:t>
            </a:r>
            <a:endParaRPr lang="en-US" sz="2400" dirty="0"/>
          </a:p>
        </p:txBody>
      </p:sp>
      <p:sp>
        <p:nvSpPr>
          <p:cNvPr id="14" name="Timeline node"/>
          <p:cNvSpPr/>
          <p:nvPr/>
        </p:nvSpPr>
        <p:spPr>
          <a:xfrm>
            <a:off x="3657600" y="1965960"/>
            <a:ext cx="365760" cy="365760"/>
          </a:xfrm>
          <a:prstGeom prst="ellipse">
            <a:avLst/>
          </a:prstGeom>
          <a:solidFill>
            <a:schemeClr val="accent3"/>
          </a:solidFill>
          <a:ln w="19050">
            <a:solidFill>
              <a:schemeClr val="tx1"/>
            </a:solidFill>
            <a:prstDash val="solid"/>
          </a:ln>
        </p:spPr>
      </p:sp>
      <p:sp>
        <p:nvSpPr>
          <p:cNvPr id="15" name="Event 1963"/>
          <p:cNvSpPr/>
          <p:nvPr/>
        </p:nvSpPr>
        <p:spPr>
          <a:xfrm>
            <a:off x="32004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6" name="Text 13"/>
          <p:cNvSpPr txBox="1"/>
          <p:nvPr/>
        </p:nvSpPr>
        <p:spPr>
          <a:xfrm>
            <a:off x="32918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woman in space: Valentina Tereshkova</a:t>
            </a:r>
            <a:endParaRPr lang="en-US" sz="1400" dirty="0"/>
          </a:p>
        </p:txBody>
      </p:sp>
      <p:sp>
        <p:nvSpPr>
          <p:cNvPr id="17" name="Text 14"/>
          <p:cNvSpPr txBox="1"/>
          <p:nvPr/>
        </p:nvSpPr>
        <p:spPr>
          <a:xfrm>
            <a:off x="45720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1969</a:t>
            </a:r>
            <a:endParaRPr lang="en-US" sz="2400" dirty="0"/>
          </a:p>
        </p:txBody>
      </p:sp>
      <p:sp>
        <p:nvSpPr>
          <p:cNvPr id="18" name="Timeline node"/>
          <p:cNvSpPr/>
          <p:nvPr/>
        </p:nvSpPr>
        <p:spPr>
          <a:xfrm>
            <a:off x="5029200" y="1965960"/>
            <a:ext cx="365760" cy="365760"/>
          </a:xfrm>
          <a:prstGeom prst="ellipse">
            <a:avLst/>
          </a:prstGeom>
          <a:solidFill>
            <a:schemeClr val="accent4"/>
          </a:solidFill>
          <a:ln w="19050">
            <a:solidFill>
              <a:schemeClr val="tx1"/>
            </a:solidFill>
            <a:prstDash val="solid"/>
          </a:ln>
        </p:spPr>
      </p:sp>
      <p:sp>
        <p:nvSpPr>
          <p:cNvPr id="19" name="Event 1969"/>
          <p:cNvSpPr/>
          <p:nvPr/>
        </p:nvSpPr>
        <p:spPr>
          <a:xfrm>
            <a:off x="45720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Text 17"/>
          <p:cNvSpPr txBox="1"/>
          <p:nvPr/>
        </p:nvSpPr>
        <p:spPr>
          <a:xfrm>
            <a:off x="46634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people to walk on the moon</a:t>
            </a:r>
            <a:endParaRPr lang="en-US" sz="1400" dirty="0"/>
          </a:p>
        </p:txBody>
      </p:sp>
      <p:sp>
        <p:nvSpPr>
          <p:cNvPr id="21" name="Text 18"/>
          <p:cNvSpPr txBox="1"/>
          <p:nvPr/>
        </p:nvSpPr>
        <p:spPr>
          <a:xfrm>
            <a:off x="59436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1971</a:t>
            </a:r>
            <a:endParaRPr lang="en-US" sz="2400" dirty="0"/>
          </a:p>
        </p:txBody>
      </p:sp>
      <p:sp>
        <p:nvSpPr>
          <p:cNvPr id="22" name="Timeline node"/>
          <p:cNvSpPr/>
          <p:nvPr/>
        </p:nvSpPr>
        <p:spPr>
          <a:xfrm>
            <a:off x="6400800" y="1965960"/>
            <a:ext cx="365760" cy="365760"/>
          </a:xfrm>
          <a:prstGeom prst="ellipse">
            <a:avLst/>
          </a:prstGeom>
          <a:solidFill>
            <a:schemeClr val="accent5"/>
          </a:solidFill>
          <a:ln w="19050">
            <a:solidFill>
              <a:schemeClr val="tx1"/>
            </a:solidFill>
            <a:prstDash val="solid"/>
          </a:ln>
        </p:spPr>
      </p:sp>
      <p:sp>
        <p:nvSpPr>
          <p:cNvPr id="23" name="Event 1971"/>
          <p:cNvSpPr/>
          <p:nvPr/>
        </p:nvSpPr>
        <p:spPr>
          <a:xfrm>
            <a:off x="59436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4" name="Text 21"/>
          <p:cNvSpPr txBox="1"/>
          <p:nvPr/>
        </p:nvSpPr>
        <p:spPr>
          <a:xfrm>
            <a:off x="60350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space station: Salyut 1</a:t>
            </a:r>
            <a:endParaRPr lang="en-US" sz="1400" dirty="0"/>
          </a:p>
        </p:txBody>
      </p:sp>
      <p:sp>
        <p:nvSpPr>
          <p:cNvPr id="25" name="Text 22"/>
          <p:cNvSpPr txBox="1"/>
          <p:nvPr/>
        </p:nvSpPr>
        <p:spPr>
          <a:xfrm>
            <a:off x="7315200" y="1234440"/>
            <a:ext cx="1280160" cy="502920"/>
          </a:xfrm>
          <a:prstGeom prst="rect">
            <a:avLst/>
          </a:prstGeom>
          <a:noFill/>
          <a:ln/>
        </p:spPr>
        <p:txBody>
          <a:bodyPr wrap="square" lIns="0" tIns="0" rIns="0" bIns="0" rtlCol="0" anchor="ctr"/>
          <a:lstStyle/>
          <a:p>
            <a:pPr marL="0" indent="0" algn="ctr">
              <a:buNone/>
            </a:pPr>
            <a:r>
              <a:rPr lang="en-US" sz="2400" b="1" dirty="0">
                <a:solidFill>
                  <a:schemeClr val="tx1"/>
                </a:solidFill>
                <a:latin typeface="+mj-lt" pitchFamily="34" charset="0"/>
                <a:ea typeface="+mj-lt" pitchFamily="34" charset="-122"/>
                <a:cs typeface="+mj-lt" pitchFamily="34" charset="-120"/>
              </a:rPr>
              <a:t>2000</a:t>
            </a:r>
            <a:endParaRPr lang="en-US" sz="2400" dirty="0"/>
          </a:p>
        </p:txBody>
      </p:sp>
      <p:sp>
        <p:nvSpPr>
          <p:cNvPr id="26" name="Timeline node"/>
          <p:cNvSpPr/>
          <p:nvPr/>
        </p:nvSpPr>
        <p:spPr>
          <a:xfrm>
            <a:off x="7772400" y="1965960"/>
            <a:ext cx="365760" cy="365760"/>
          </a:xfrm>
          <a:prstGeom prst="ellipse">
            <a:avLst/>
          </a:prstGeom>
          <a:solidFill>
            <a:schemeClr val="accent1"/>
          </a:solidFill>
          <a:ln w="19050">
            <a:solidFill>
              <a:schemeClr val="tx1"/>
            </a:solidFill>
            <a:prstDash val="solid"/>
          </a:ln>
        </p:spPr>
      </p:sp>
      <p:sp>
        <p:nvSpPr>
          <p:cNvPr id="27" name="Event 2000"/>
          <p:cNvSpPr/>
          <p:nvPr/>
        </p:nvSpPr>
        <p:spPr>
          <a:xfrm>
            <a:off x="7315200" y="2606040"/>
            <a:ext cx="1280160" cy="146304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8" name="Text 25"/>
          <p:cNvSpPr txBox="1"/>
          <p:nvPr/>
        </p:nvSpPr>
        <p:spPr>
          <a:xfrm>
            <a:off x="7406640" y="2651760"/>
            <a:ext cx="1097280" cy="1371600"/>
          </a:xfrm>
          <a:prstGeom prst="rect">
            <a:avLst/>
          </a:prstGeom>
          <a:noFill/>
          <a:ln/>
        </p:spPr>
        <p:txBody>
          <a:bodyPr wrap="square" lIns="0" tIns="0" rIns="0" bIns="0" rtlCol="0" anchor="ctr"/>
          <a:lstStyle/>
          <a:p>
            <a:pPr marL="0" indent="0" algn="ctr">
              <a:buNone/>
            </a:pPr>
            <a:r>
              <a:rPr lang="en-US" sz="1400" dirty="0">
                <a:solidFill>
                  <a:schemeClr val="tx1"/>
                </a:solidFill>
              </a:rPr>
              <a:t>The first crew moves into the ISS</a:t>
            </a:r>
            <a:endParaRPr lang="en-US" sz="1400" dirty="0"/>
          </a:p>
        </p:txBody>
      </p:sp>
      <p:sp>
        <p:nvSpPr>
          <p:cNvPr id="29" name="Callout"/>
          <p:cNvSpPr/>
          <p:nvPr/>
        </p:nvSpPr>
        <p:spPr>
          <a:xfrm>
            <a:off x="457200" y="4251960"/>
            <a:ext cx="8229600" cy="365760"/>
          </a:xfrm>
          <a:prstGeom prst="roundRect">
            <a:avLst>
              <a:gd name="adj" fmla="val 30000"/>
            </a:avLst>
          </a:prstGeom>
          <a:solidFill>
            <a:schemeClr val="accent5"/>
          </a:solidFill>
          <a:ln w="9525">
            <a:solidFill>
              <a:schemeClr val="accent5"/>
            </a:solidFill>
            <a:prstDash val="solid"/>
          </a:ln>
        </p:spPr>
      </p:sp>
      <p:sp>
        <p:nvSpPr>
          <p:cNvPr id="30" name="Text 27"/>
          <p:cNvSpPr txBox="1"/>
          <p:nvPr/>
        </p:nvSpPr>
        <p:spPr>
          <a:xfrm>
            <a:off x="640080" y="4251960"/>
            <a:ext cx="7863840" cy="365760"/>
          </a:xfrm>
          <a:prstGeom prst="rect">
            <a:avLst/>
          </a:prstGeom>
          <a:noFill/>
          <a:ln/>
        </p:spPr>
        <p:txBody>
          <a:bodyPr wrap="square" lIns="0" tIns="0" rIns="0" bIns="0" rtlCol="0" anchor="ctr"/>
          <a:lstStyle/>
          <a:p>
            <a:pPr marL="0" indent="0" algn="ctr">
              <a:buNone/>
            </a:pPr>
            <a:r>
              <a:rPr lang="en-US" sz="1600" b="1" dirty="0">
                <a:solidFill>
                  <a:schemeClr val="tx1"/>
                </a:solidFill>
              </a:rPr>
              <a:t>Which first do you think was the hardest to achieve? Why?</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2</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4000" b="1" dirty="0">
                <a:solidFill>
                  <a:schemeClr val="accent5"/>
                </a:solidFill>
                <a:latin typeface="+mj-lt" pitchFamily="34" charset="0"/>
                <a:ea typeface="+mj-lt" pitchFamily="34" charset="-122"/>
                <a:cs typeface="+mj-lt" pitchFamily="34" charset="-120"/>
              </a:rPr>
              <a:t>Words to Know</a:t>
            </a:r>
            <a:endParaRPr lang="en-US" sz="40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Glossary words + Activity 1 · b, c and d</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Words in the text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Some words are in bold in the text. Others come from Activity 1b.</a:t>
            </a:r>
            <a:endParaRPr lang="en-US" sz="1600" dirty="0"/>
          </a:p>
        </p:txBody>
      </p:sp>
      <p:sp>
        <p:nvSpPr>
          <p:cNvPr id="5" name="Glossary words"/>
          <p:cNvSpPr/>
          <p:nvPr/>
        </p:nvSpPr>
        <p:spPr>
          <a:xfrm>
            <a:off x="457200" y="1463040"/>
            <a:ext cx="4572000" cy="2331720"/>
          </a:xfrm>
          <a:prstGeom prst="roundRect">
            <a:avLst>
              <a:gd name="adj" fmla="val 47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40080" y="1554480"/>
            <a:ext cx="4206240" cy="320040"/>
          </a:xfrm>
          <a:prstGeom prst="rect">
            <a:avLst/>
          </a:prstGeom>
          <a:noFill/>
          <a:ln/>
        </p:spPr>
        <p:txBody>
          <a:bodyPr wrap="square" lIns="0" tIns="0" rIns="0" bIns="0" rtlCol="0" anchor="ctr"/>
          <a:lstStyle/>
          <a:p>
            <a:pPr marL="0" indent="0">
              <a:buNone/>
            </a:pPr>
            <a:r>
              <a:rPr lang="en-US" sz="1300" b="1" dirty="0">
                <a:solidFill>
                  <a:schemeClr val="accent4"/>
                </a:solidFill>
              </a:rPr>
              <a:t>GLOSSARY WORDS (bold in the text)</a:t>
            </a:r>
            <a:endParaRPr lang="en-US" sz="1300" dirty="0"/>
          </a:p>
        </p:txBody>
      </p:sp>
      <p:sp>
        <p:nvSpPr>
          <p:cNvPr id="7" name="Glossary chip"/>
          <p:cNvSpPr/>
          <p:nvPr/>
        </p:nvSpPr>
        <p:spPr>
          <a:xfrm>
            <a:off x="640080" y="1965960"/>
            <a:ext cx="1965960" cy="384048"/>
          </a:xfrm>
          <a:prstGeom prst="roundRect">
            <a:avLst>
              <a:gd name="adj" fmla="val 23810"/>
            </a:avLst>
          </a:prstGeom>
          <a:solidFill>
            <a:schemeClr val="accent1"/>
          </a:solidFill>
          <a:ln w="6350">
            <a:solidFill>
              <a:schemeClr val="accent1"/>
            </a:solidFill>
            <a:prstDash val="solid"/>
          </a:ln>
        </p:spPr>
      </p:sp>
      <p:sp>
        <p:nvSpPr>
          <p:cNvPr id="8" name="Text 5"/>
          <p:cNvSpPr txBox="1"/>
          <p:nvPr/>
        </p:nvSpPr>
        <p:spPr>
          <a:xfrm>
            <a:off x="640080" y="19659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catalogue</a:t>
            </a:r>
            <a:endParaRPr lang="en-US" sz="1500" dirty="0"/>
          </a:p>
        </p:txBody>
      </p:sp>
      <p:sp>
        <p:nvSpPr>
          <p:cNvPr id="9" name="Glossary chip"/>
          <p:cNvSpPr/>
          <p:nvPr/>
        </p:nvSpPr>
        <p:spPr>
          <a:xfrm>
            <a:off x="2743200" y="1965960"/>
            <a:ext cx="1965960" cy="384048"/>
          </a:xfrm>
          <a:prstGeom prst="roundRect">
            <a:avLst>
              <a:gd name="adj" fmla="val 23810"/>
            </a:avLst>
          </a:prstGeom>
          <a:solidFill>
            <a:schemeClr val="accent2"/>
          </a:solidFill>
          <a:ln w="6350">
            <a:solidFill>
              <a:schemeClr val="accent2"/>
            </a:solidFill>
            <a:prstDash val="solid"/>
          </a:ln>
        </p:spPr>
      </p:sp>
      <p:sp>
        <p:nvSpPr>
          <p:cNvPr id="10" name="Text 7"/>
          <p:cNvSpPr txBox="1"/>
          <p:nvPr/>
        </p:nvSpPr>
        <p:spPr>
          <a:xfrm>
            <a:off x="2743200" y="19659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astronomer</a:t>
            </a:r>
            <a:endParaRPr lang="en-US" sz="1500" dirty="0"/>
          </a:p>
        </p:txBody>
      </p:sp>
      <p:sp>
        <p:nvSpPr>
          <p:cNvPr id="11" name="Glossary chip"/>
          <p:cNvSpPr/>
          <p:nvPr/>
        </p:nvSpPr>
        <p:spPr>
          <a:xfrm>
            <a:off x="640080" y="2423160"/>
            <a:ext cx="1965960" cy="384048"/>
          </a:xfrm>
          <a:prstGeom prst="roundRect">
            <a:avLst>
              <a:gd name="adj" fmla="val 23810"/>
            </a:avLst>
          </a:prstGeom>
          <a:solidFill>
            <a:schemeClr val="accent3"/>
          </a:solidFill>
          <a:ln w="6350">
            <a:solidFill>
              <a:schemeClr val="accent3"/>
            </a:solidFill>
            <a:prstDash val="solid"/>
          </a:ln>
        </p:spPr>
      </p:sp>
      <p:sp>
        <p:nvSpPr>
          <p:cNvPr id="12" name="Text 9"/>
          <p:cNvSpPr txBox="1"/>
          <p:nvPr/>
        </p:nvSpPr>
        <p:spPr>
          <a:xfrm>
            <a:off x="640080" y="24231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naked eye</a:t>
            </a:r>
            <a:endParaRPr lang="en-US" sz="1500" dirty="0"/>
          </a:p>
        </p:txBody>
      </p:sp>
      <p:sp>
        <p:nvSpPr>
          <p:cNvPr id="13" name="Glossary chip"/>
          <p:cNvSpPr/>
          <p:nvPr/>
        </p:nvSpPr>
        <p:spPr>
          <a:xfrm>
            <a:off x="2743200" y="2423160"/>
            <a:ext cx="1965960" cy="384048"/>
          </a:xfrm>
          <a:prstGeom prst="roundRect">
            <a:avLst>
              <a:gd name="adj" fmla="val 23810"/>
            </a:avLst>
          </a:prstGeom>
          <a:solidFill>
            <a:schemeClr val="accent4"/>
          </a:solidFill>
          <a:ln w="6350">
            <a:solidFill>
              <a:schemeClr val="accent4"/>
            </a:solidFill>
            <a:prstDash val="solid"/>
          </a:ln>
        </p:spPr>
      </p:sp>
      <p:sp>
        <p:nvSpPr>
          <p:cNvPr id="14" name="Text 11"/>
          <p:cNvSpPr txBox="1"/>
          <p:nvPr/>
        </p:nvSpPr>
        <p:spPr>
          <a:xfrm>
            <a:off x="2743200" y="2423160"/>
            <a:ext cx="1965960" cy="384048"/>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observatory</a:t>
            </a:r>
            <a:endParaRPr lang="en-US" sz="1500" dirty="0"/>
          </a:p>
        </p:txBody>
      </p:sp>
      <p:sp>
        <p:nvSpPr>
          <p:cNvPr id="15" name="Glossary chip"/>
          <p:cNvSpPr/>
          <p:nvPr/>
        </p:nvSpPr>
        <p:spPr>
          <a:xfrm>
            <a:off x="640080" y="2880360"/>
            <a:ext cx="1965960" cy="384048"/>
          </a:xfrm>
          <a:prstGeom prst="roundRect">
            <a:avLst>
              <a:gd name="adj" fmla="val 23810"/>
            </a:avLst>
          </a:prstGeom>
          <a:solidFill>
            <a:schemeClr val="accent5"/>
          </a:solidFill>
          <a:ln w="6350">
            <a:solidFill>
              <a:schemeClr val="accent5"/>
            </a:solidFill>
            <a:prstDash val="solid"/>
          </a:ln>
        </p:spPr>
      </p:sp>
      <p:sp>
        <p:nvSpPr>
          <p:cNvPr id="16" name="Text 13"/>
          <p:cNvSpPr txBox="1"/>
          <p:nvPr/>
        </p:nvSpPr>
        <p:spPr>
          <a:xfrm>
            <a:off x="640080" y="28803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satellite</a:t>
            </a:r>
            <a:endParaRPr lang="en-US" sz="1500" dirty="0"/>
          </a:p>
        </p:txBody>
      </p:sp>
      <p:sp>
        <p:nvSpPr>
          <p:cNvPr id="17" name="Glossary chip"/>
          <p:cNvSpPr/>
          <p:nvPr/>
        </p:nvSpPr>
        <p:spPr>
          <a:xfrm>
            <a:off x="2743200" y="2880360"/>
            <a:ext cx="1965960" cy="384048"/>
          </a:xfrm>
          <a:prstGeom prst="roundRect">
            <a:avLst>
              <a:gd name="adj" fmla="val 23810"/>
            </a:avLst>
          </a:prstGeom>
          <a:solidFill>
            <a:schemeClr val="accent1"/>
          </a:solidFill>
          <a:ln w="6350">
            <a:solidFill>
              <a:schemeClr val="accent1"/>
            </a:solidFill>
            <a:prstDash val="solid"/>
          </a:ln>
        </p:spPr>
      </p:sp>
      <p:sp>
        <p:nvSpPr>
          <p:cNvPr id="18" name="Text 15"/>
          <p:cNvSpPr txBox="1"/>
          <p:nvPr/>
        </p:nvSpPr>
        <p:spPr>
          <a:xfrm>
            <a:off x="2743200" y="28803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cosmonaut</a:t>
            </a:r>
            <a:endParaRPr lang="en-US" sz="1500" dirty="0"/>
          </a:p>
        </p:txBody>
      </p:sp>
      <p:sp>
        <p:nvSpPr>
          <p:cNvPr id="19" name="Glossary chip"/>
          <p:cNvSpPr/>
          <p:nvPr/>
        </p:nvSpPr>
        <p:spPr>
          <a:xfrm>
            <a:off x="640080" y="3337560"/>
            <a:ext cx="1965960" cy="384048"/>
          </a:xfrm>
          <a:prstGeom prst="roundRect">
            <a:avLst>
              <a:gd name="adj" fmla="val 23810"/>
            </a:avLst>
          </a:prstGeom>
          <a:solidFill>
            <a:schemeClr val="accent2"/>
          </a:solidFill>
          <a:ln w="6350">
            <a:solidFill>
              <a:schemeClr val="accent2"/>
            </a:solidFill>
            <a:prstDash val="solid"/>
          </a:ln>
        </p:spPr>
      </p:sp>
      <p:sp>
        <p:nvSpPr>
          <p:cNvPr id="20" name="Text 17"/>
          <p:cNvSpPr txBox="1"/>
          <p:nvPr/>
        </p:nvSpPr>
        <p:spPr>
          <a:xfrm>
            <a:off x="640080" y="3337560"/>
            <a:ext cx="1965960"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astronaut</a:t>
            </a:r>
            <a:endParaRPr lang="en-US" sz="1500" dirty="0"/>
          </a:p>
        </p:txBody>
      </p:sp>
      <p:sp>
        <p:nvSpPr>
          <p:cNvPr id="21" name="Activity words"/>
          <p:cNvSpPr/>
          <p:nvPr/>
        </p:nvSpPr>
        <p:spPr>
          <a:xfrm>
            <a:off x="5212080" y="1463040"/>
            <a:ext cx="3474720" cy="2331720"/>
          </a:xfrm>
          <a:prstGeom prst="roundRect">
            <a:avLst>
              <a:gd name="adj" fmla="val 47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Text 19"/>
          <p:cNvSpPr txBox="1"/>
          <p:nvPr/>
        </p:nvSpPr>
        <p:spPr>
          <a:xfrm>
            <a:off x="5394960" y="1554480"/>
            <a:ext cx="3108960" cy="320040"/>
          </a:xfrm>
          <a:prstGeom prst="rect">
            <a:avLst/>
          </a:prstGeom>
          <a:noFill/>
          <a:ln/>
        </p:spPr>
        <p:txBody>
          <a:bodyPr wrap="square" lIns="0" tIns="0" rIns="0" bIns="0" rtlCol="0" anchor="ctr"/>
          <a:lstStyle/>
          <a:p>
            <a:pPr marL="0" indent="0">
              <a:buNone/>
            </a:pPr>
            <a:r>
              <a:rPr lang="en-US" sz="1300" b="1" dirty="0">
                <a:solidFill>
                  <a:schemeClr val="accent4"/>
                </a:solidFill>
              </a:rPr>
              <a:t>ACTIVITY 1b WORDS</a:t>
            </a:r>
            <a:endParaRPr lang="en-US" sz="1300" dirty="0"/>
          </a:p>
        </p:txBody>
      </p:sp>
      <p:sp>
        <p:nvSpPr>
          <p:cNvPr id="23" name="Text 20"/>
          <p:cNvSpPr txBox="1"/>
          <p:nvPr/>
        </p:nvSpPr>
        <p:spPr>
          <a:xfrm>
            <a:off x="5394960" y="1965960"/>
            <a:ext cx="3108960" cy="329184"/>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artificial</a:t>
            </a:r>
            <a:endParaRPr lang="en-US" sz="1600" dirty="0"/>
          </a:p>
        </p:txBody>
      </p:sp>
      <p:sp>
        <p:nvSpPr>
          <p:cNvPr id="24" name="Text 21"/>
          <p:cNvSpPr txBox="1"/>
          <p:nvPr/>
        </p:nvSpPr>
        <p:spPr>
          <a:xfrm>
            <a:off x="5394960" y="2313432"/>
            <a:ext cx="3108960" cy="329184"/>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astronaut</a:t>
            </a:r>
            <a:endParaRPr lang="en-US" sz="1600" dirty="0"/>
          </a:p>
        </p:txBody>
      </p:sp>
      <p:sp>
        <p:nvSpPr>
          <p:cNvPr id="25" name="Text 22"/>
          <p:cNvSpPr txBox="1"/>
          <p:nvPr/>
        </p:nvSpPr>
        <p:spPr>
          <a:xfrm>
            <a:off x="5394960" y="2660904"/>
            <a:ext cx="3108960" cy="329184"/>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magnify</a:t>
            </a:r>
            <a:endParaRPr lang="en-US" sz="1600" dirty="0"/>
          </a:p>
        </p:txBody>
      </p:sp>
      <p:sp>
        <p:nvSpPr>
          <p:cNvPr id="26" name="Text 23"/>
          <p:cNvSpPr txBox="1"/>
          <p:nvPr/>
        </p:nvSpPr>
        <p:spPr>
          <a:xfrm>
            <a:off x="5394960" y="3008376"/>
            <a:ext cx="3108960" cy="329184"/>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observe</a:t>
            </a:r>
            <a:endParaRPr lang="en-US" sz="1600" dirty="0"/>
          </a:p>
        </p:txBody>
      </p:sp>
      <p:sp>
        <p:nvSpPr>
          <p:cNvPr id="27" name="Text 24"/>
          <p:cNvSpPr txBox="1"/>
          <p:nvPr/>
        </p:nvSpPr>
        <p:spPr>
          <a:xfrm>
            <a:off x="5394960" y="3355848"/>
            <a:ext cx="3108960" cy="329184"/>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orbit</a:t>
            </a:r>
            <a:endParaRPr lang="en-US" sz="1600" dirty="0"/>
          </a:p>
        </p:txBody>
      </p:sp>
      <p:sp>
        <p:nvSpPr>
          <p:cNvPr id="28" name="Callout"/>
          <p:cNvSpPr/>
          <p:nvPr/>
        </p:nvSpPr>
        <p:spPr>
          <a:xfrm>
            <a:off x="457200" y="4023360"/>
            <a:ext cx="8229600" cy="502920"/>
          </a:xfrm>
          <a:prstGeom prst="roundRect">
            <a:avLst>
              <a:gd name="adj" fmla="val 21818"/>
            </a:avLst>
          </a:prstGeom>
          <a:solidFill>
            <a:schemeClr val="accent5"/>
          </a:solidFill>
          <a:ln w="9525">
            <a:solidFill>
              <a:schemeClr val="accent5"/>
            </a:solidFill>
            <a:prstDash val="solid"/>
          </a:ln>
        </p:spPr>
      </p:sp>
      <p:sp>
        <p:nvSpPr>
          <p:cNvPr id="29" name="Text 26"/>
          <p:cNvSpPr txBox="1"/>
          <p:nvPr/>
        </p:nvSpPr>
        <p:spPr>
          <a:xfrm>
            <a:off x="640080" y="402336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11 different words in all: ‘astronaut’ is in both lists</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1: CATALOGUE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In 129 BCE, the first star </a:t>
            </a:r>
            <a:r>
              <a:rPr lang="en-US" sz="2000" b="1" u="sng" dirty="0">
                <a:solidFill>
                  <a:schemeClr val="tx1"/>
                </a:solidFill>
              </a:rPr>
              <a:t>catalogue</a:t>
            </a:r>
            <a:r>
              <a:rPr lang="en-US" sz="2000" dirty="0">
                <a:solidFill>
                  <a:schemeClr val="tx1"/>
                </a:solidFill>
              </a:rPr>
              <a:t> was completed by the Greek astronomer Hipparchus.</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Hipparchus listed the stars he could see. Think of a shop catalogue. What might a star catalogue be?</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catalogue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Catalogue = a list of all the items that exist in one place.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 library catalogue lists ______. A star catalogue lists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 list of all the items in one place; e.g. all the books / all the stars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2: ASTRONOMER</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The Polish </a:t>
            </a:r>
            <a:r>
              <a:rPr lang="en-US" sz="2000" b="1" u="sng" dirty="0">
                <a:solidFill>
                  <a:schemeClr val="tx1"/>
                </a:solidFill>
              </a:rPr>
              <a:t>astronomer</a:t>
            </a:r>
            <a:r>
              <a:rPr lang="en-US" sz="2000" dirty="0">
                <a:solidFill>
                  <a:schemeClr val="tx1"/>
                </a:solidFill>
              </a:rPr>
              <a:t> Nicolaus Copernicus published his ideas that the Earth revolved around the Sun.</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Copernicus studied the Sun and the Earth. What job does an astronomer do? (Hint: astro = star.)</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astronomer</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Astronomer = someone who studies the universe and objects that exist naturally in space.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An astronomer might study ______ because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someone who studies space; e.g. planets, stars, the Moon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3: NAKED EYE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Tycho Brahe, a </a:t>
            </a:r>
            <a:r>
              <a:rPr lang="en-US" sz="2000" b="1" u="sng" dirty="0">
                <a:solidFill>
                  <a:schemeClr val="tx1"/>
                </a:solidFill>
              </a:rPr>
              <a:t>naked-eye</a:t>
            </a:r>
            <a:r>
              <a:rPr lang="en-US" sz="2000" dirty="0">
                <a:solidFill>
                  <a:schemeClr val="tx1"/>
                </a:solidFill>
              </a:rPr>
              <a:t> astronomer, built the world’s leading observatory.</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There were no telescopes in 1576. How did Brahe see the stars? What might ‘naked eye’ mean?</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naked eye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Naked eye = the ability to see without the help of an instrument.</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I can see ______ with the naked eye, but I need a telescope to see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seeing without an instrument such as a telescope; e.g. the Moon vs distant planets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4: OBSERVATORY</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Tycho Brahe built the world’s leading </a:t>
            </a:r>
            <a:r>
              <a:rPr lang="en-US" sz="2000" b="1" u="sng" dirty="0">
                <a:solidFill>
                  <a:schemeClr val="tx1"/>
                </a:solidFill>
              </a:rPr>
              <a:t>observatory</a:t>
            </a:r>
            <a:r>
              <a:rPr lang="en-US" sz="2000" dirty="0">
                <a:solidFill>
                  <a:schemeClr val="tx1"/>
                </a:solidFill>
              </a:rPr>
              <a:t> in Uraniborg.</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Look inside the word: what smaller word do you see? What might scientists do in an observatory?</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observatory</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Observatory = a building from which scientists can watch the planets, the stars, the weather, etc.</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Scientists use an observatory to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 building for watching the planets, stars, weather; e.g. to study the night sky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5: SATELLITE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The USSR launched the first artificial </a:t>
            </a:r>
            <a:r>
              <a:rPr lang="en-US" sz="2000" b="1" u="sng" dirty="0">
                <a:solidFill>
                  <a:schemeClr val="tx1"/>
                </a:solidFill>
              </a:rPr>
              <a:t>satellite</a:t>
            </a:r>
            <a:r>
              <a:rPr lang="en-US" sz="2000" dirty="0">
                <a:solidFill>
                  <a:schemeClr val="tx1"/>
                </a:solidFill>
              </a:rPr>
              <a:t>, Sputnik I, into space.</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Sputnik I circled the Earth. Can you name a satellite you can see in the night sky?</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satellite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Satellite = a natural or artificial object that orbits another object.</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The Moon is a ______ satellite. Sputnik I was an ______ satellite.</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natural (the Moon) / artificial (Sputnik I); an object that orbits another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6: COSMONAUT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Russian </a:t>
            </a:r>
            <a:r>
              <a:rPr lang="en-US" sz="2000" b="1" u="sng" dirty="0">
                <a:solidFill>
                  <a:schemeClr val="tx1"/>
                </a:solidFill>
              </a:rPr>
              <a:t>cosmonaut</a:t>
            </a:r>
            <a:r>
              <a:rPr lang="en-US" sz="2000" dirty="0">
                <a:solidFill>
                  <a:schemeClr val="tx1"/>
                </a:solidFill>
              </a:rPr>
              <a:t> Yuri Gagarin became the first person in space.</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Gagarin was Soviet. Compare ‘cosmonaut’ with ‘astronaut’. What do you think the difference is?</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cosmonaut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Cosmonaut = a Soviet astronaut.</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 cosmonaut is like an astronaut, but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 Soviet / Russian astronaut; from the USSR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The glossary: recap</a:t>
            </a:r>
            <a:endParaRPr lang="en-US" sz="3000" dirty="0"/>
          </a:p>
        </p:txBody>
      </p:sp>
      <p:sp>
        <p:nvSpPr>
          <p:cNvPr id="4" name="Glossary catalogue"/>
          <p:cNvSpPr/>
          <p:nvPr/>
        </p:nvSpPr>
        <p:spPr>
          <a:xfrm>
            <a:off x="457200" y="109728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tag"/>
          <p:cNvSpPr/>
          <p:nvPr/>
        </p:nvSpPr>
        <p:spPr>
          <a:xfrm>
            <a:off x="594360" y="1234440"/>
            <a:ext cx="2377440" cy="411480"/>
          </a:xfrm>
          <a:prstGeom prst="roundRect">
            <a:avLst>
              <a:gd name="adj" fmla="val 22222"/>
            </a:avLst>
          </a:prstGeom>
          <a:solidFill>
            <a:schemeClr val="accent1"/>
          </a:solidFill>
          <a:ln w="6350">
            <a:solidFill>
              <a:schemeClr val="accent1"/>
            </a:solidFill>
            <a:prstDash val="solid"/>
          </a:ln>
        </p:spPr>
      </p:sp>
      <p:sp>
        <p:nvSpPr>
          <p:cNvPr id="6" name="Text 3"/>
          <p:cNvSpPr txBox="1"/>
          <p:nvPr/>
        </p:nvSpPr>
        <p:spPr>
          <a:xfrm>
            <a:off x="594360" y="1234440"/>
            <a:ext cx="237744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catalogue</a:t>
            </a:r>
            <a:endParaRPr lang="en-US" sz="1600" dirty="0"/>
          </a:p>
        </p:txBody>
      </p:sp>
      <p:sp>
        <p:nvSpPr>
          <p:cNvPr id="7" name="Text 4"/>
          <p:cNvSpPr txBox="1"/>
          <p:nvPr/>
        </p:nvSpPr>
        <p:spPr>
          <a:xfrm>
            <a:off x="640080" y="1737360"/>
            <a:ext cx="2286000" cy="731520"/>
          </a:xfrm>
          <a:prstGeom prst="rect">
            <a:avLst/>
          </a:prstGeom>
          <a:noFill/>
          <a:ln/>
        </p:spPr>
        <p:txBody>
          <a:bodyPr wrap="square" lIns="0" tIns="0" rIns="0" bIns="0" rtlCol="0" anchor="t"/>
          <a:lstStyle/>
          <a:p>
            <a:pPr marL="0" indent="0">
              <a:buNone/>
            </a:pPr>
            <a:r>
              <a:rPr lang="en-US" sz="1300" dirty="0">
                <a:solidFill>
                  <a:schemeClr val="tx1"/>
                </a:solidFill>
              </a:rPr>
              <a:t>a list of all the items that exist in one place</a:t>
            </a:r>
            <a:endParaRPr lang="en-US" sz="1300" dirty="0"/>
          </a:p>
        </p:txBody>
      </p:sp>
      <p:sp>
        <p:nvSpPr>
          <p:cNvPr id="8" name="Glossary astronomer"/>
          <p:cNvSpPr/>
          <p:nvPr/>
        </p:nvSpPr>
        <p:spPr>
          <a:xfrm>
            <a:off x="3246120" y="109728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Word tag"/>
          <p:cNvSpPr/>
          <p:nvPr/>
        </p:nvSpPr>
        <p:spPr>
          <a:xfrm>
            <a:off x="3383280" y="1234440"/>
            <a:ext cx="2377440" cy="411480"/>
          </a:xfrm>
          <a:prstGeom prst="roundRect">
            <a:avLst>
              <a:gd name="adj" fmla="val 22222"/>
            </a:avLst>
          </a:prstGeom>
          <a:solidFill>
            <a:schemeClr val="accent2"/>
          </a:solidFill>
          <a:ln w="6350">
            <a:solidFill>
              <a:schemeClr val="accent2"/>
            </a:solidFill>
            <a:prstDash val="solid"/>
          </a:ln>
        </p:spPr>
      </p:sp>
      <p:sp>
        <p:nvSpPr>
          <p:cNvPr id="10" name="Text 7"/>
          <p:cNvSpPr txBox="1"/>
          <p:nvPr/>
        </p:nvSpPr>
        <p:spPr>
          <a:xfrm>
            <a:off x="3383280" y="1234440"/>
            <a:ext cx="237744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astronomer</a:t>
            </a:r>
            <a:endParaRPr lang="en-US" sz="1600" dirty="0"/>
          </a:p>
        </p:txBody>
      </p:sp>
      <p:sp>
        <p:nvSpPr>
          <p:cNvPr id="11" name="Text 8"/>
          <p:cNvSpPr txBox="1"/>
          <p:nvPr/>
        </p:nvSpPr>
        <p:spPr>
          <a:xfrm>
            <a:off x="3429000" y="1737360"/>
            <a:ext cx="2286000" cy="731520"/>
          </a:xfrm>
          <a:prstGeom prst="rect">
            <a:avLst/>
          </a:prstGeom>
          <a:noFill/>
          <a:ln/>
        </p:spPr>
        <p:txBody>
          <a:bodyPr wrap="square" lIns="0" tIns="0" rIns="0" bIns="0" rtlCol="0" anchor="t"/>
          <a:lstStyle/>
          <a:p>
            <a:pPr marL="0" indent="0">
              <a:buNone/>
            </a:pPr>
            <a:r>
              <a:rPr lang="en-US" sz="1300" dirty="0">
                <a:solidFill>
                  <a:schemeClr val="tx1"/>
                </a:solidFill>
              </a:rPr>
              <a:t>someone who studies the universe and objects that exist naturally in space</a:t>
            </a:r>
            <a:endParaRPr lang="en-US" sz="1300" dirty="0"/>
          </a:p>
        </p:txBody>
      </p:sp>
      <p:sp>
        <p:nvSpPr>
          <p:cNvPr id="12" name="Glossary naked eye"/>
          <p:cNvSpPr/>
          <p:nvPr/>
        </p:nvSpPr>
        <p:spPr>
          <a:xfrm>
            <a:off x="6035040" y="109728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Word tag"/>
          <p:cNvSpPr/>
          <p:nvPr/>
        </p:nvSpPr>
        <p:spPr>
          <a:xfrm>
            <a:off x="6172200" y="1234440"/>
            <a:ext cx="2377440" cy="411480"/>
          </a:xfrm>
          <a:prstGeom prst="roundRect">
            <a:avLst>
              <a:gd name="adj" fmla="val 22222"/>
            </a:avLst>
          </a:prstGeom>
          <a:solidFill>
            <a:schemeClr val="accent3"/>
          </a:solidFill>
          <a:ln w="6350">
            <a:solidFill>
              <a:schemeClr val="accent3"/>
            </a:solidFill>
            <a:prstDash val="solid"/>
          </a:ln>
        </p:spPr>
      </p:sp>
      <p:sp>
        <p:nvSpPr>
          <p:cNvPr id="14" name="Text 11"/>
          <p:cNvSpPr txBox="1"/>
          <p:nvPr/>
        </p:nvSpPr>
        <p:spPr>
          <a:xfrm>
            <a:off x="6172200" y="1234440"/>
            <a:ext cx="237744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naked eye</a:t>
            </a:r>
            <a:endParaRPr lang="en-US" sz="1600" dirty="0"/>
          </a:p>
        </p:txBody>
      </p:sp>
      <p:sp>
        <p:nvSpPr>
          <p:cNvPr id="15" name="Text 12"/>
          <p:cNvSpPr txBox="1"/>
          <p:nvPr/>
        </p:nvSpPr>
        <p:spPr>
          <a:xfrm>
            <a:off x="6217920" y="1737360"/>
            <a:ext cx="2286000" cy="731520"/>
          </a:xfrm>
          <a:prstGeom prst="rect">
            <a:avLst/>
          </a:prstGeom>
          <a:noFill/>
          <a:ln/>
        </p:spPr>
        <p:txBody>
          <a:bodyPr wrap="square" lIns="0" tIns="0" rIns="0" bIns="0" rtlCol="0" anchor="t"/>
          <a:lstStyle/>
          <a:p>
            <a:pPr marL="0" indent="0">
              <a:buNone/>
            </a:pPr>
            <a:r>
              <a:rPr lang="en-US" sz="1300" dirty="0">
                <a:solidFill>
                  <a:schemeClr val="tx1"/>
                </a:solidFill>
              </a:rPr>
              <a:t>the ability to see without the help of an instrument</a:t>
            </a:r>
            <a:endParaRPr lang="en-US" sz="1300" dirty="0"/>
          </a:p>
        </p:txBody>
      </p:sp>
      <p:sp>
        <p:nvSpPr>
          <p:cNvPr id="16" name="Glossary observatory"/>
          <p:cNvSpPr/>
          <p:nvPr/>
        </p:nvSpPr>
        <p:spPr>
          <a:xfrm>
            <a:off x="457200" y="265176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Word tag"/>
          <p:cNvSpPr/>
          <p:nvPr/>
        </p:nvSpPr>
        <p:spPr>
          <a:xfrm>
            <a:off x="594360" y="2788920"/>
            <a:ext cx="2377440" cy="411480"/>
          </a:xfrm>
          <a:prstGeom prst="roundRect">
            <a:avLst>
              <a:gd name="adj" fmla="val 22222"/>
            </a:avLst>
          </a:prstGeom>
          <a:solidFill>
            <a:schemeClr val="accent4"/>
          </a:solidFill>
          <a:ln w="6350">
            <a:solidFill>
              <a:schemeClr val="accent4"/>
            </a:solidFill>
            <a:prstDash val="solid"/>
          </a:ln>
        </p:spPr>
      </p:sp>
      <p:sp>
        <p:nvSpPr>
          <p:cNvPr id="18" name="Text 15"/>
          <p:cNvSpPr txBox="1"/>
          <p:nvPr/>
        </p:nvSpPr>
        <p:spPr>
          <a:xfrm>
            <a:off x="594360" y="2788920"/>
            <a:ext cx="2377440" cy="411480"/>
          </a:xfrm>
          <a:prstGeom prst="rect">
            <a:avLst/>
          </a:prstGeom>
          <a:no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observatory</a:t>
            </a:r>
            <a:endParaRPr lang="en-US" sz="1600" dirty="0"/>
          </a:p>
        </p:txBody>
      </p:sp>
      <p:sp>
        <p:nvSpPr>
          <p:cNvPr id="19" name="Text 16"/>
          <p:cNvSpPr txBox="1"/>
          <p:nvPr/>
        </p:nvSpPr>
        <p:spPr>
          <a:xfrm>
            <a:off x="640080" y="3291840"/>
            <a:ext cx="2286000" cy="731520"/>
          </a:xfrm>
          <a:prstGeom prst="rect">
            <a:avLst/>
          </a:prstGeom>
          <a:noFill/>
          <a:ln/>
        </p:spPr>
        <p:txBody>
          <a:bodyPr wrap="square" lIns="0" tIns="0" rIns="0" bIns="0" rtlCol="0" anchor="t"/>
          <a:lstStyle/>
          <a:p>
            <a:pPr marL="0" indent="0">
              <a:buNone/>
            </a:pPr>
            <a:r>
              <a:rPr lang="en-US" sz="1300" dirty="0">
                <a:solidFill>
                  <a:schemeClr val="tx1"/>
                </a:solidFill>
              </a:rPr>
              <a:t>a building from which scientists can watch the planets, the stars, the weather, etc.</a:t>
            </a:r>
            <a:endParaRPr lang="en-US" sz="1300" dirty="0"/>
          </a:p>
        </p:txBody>
      </p:sp>
      <p:sp>
        <p:nvSpPr>
          <p:cNvPr id="20" name="Glossary satellite"/>
          <p:cNvSpPr/>
          <p:nvPr/>
        </p:nvSpPr>
        <p:spPr>
          <a:xfrm>
            <a:off x="3246120" y="265176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Word tag"/>
          <p:cNvSpPr/>
          <p:nvPr/>
        </p:nvSpPr>
        <p:spPr>
          <a:xfrm>
            <a:off x="3383280" y="2788920"/>
            <a:ext cx="2377440" cy="411480"/>
          </a:xfrm>
          <a:prstGeom prst="roundRect">
            <a:avLst>
              <a:gd name="adj" fmla="val 22222"/>
            </a:avLst>
          </a:prstGeom>
          <a:solidFill>
            <a:schemeClr val="accent5"/>
          </a:solidFill>
          <a:ln w="6350">
            <a:solidFill>
              <a:schemeClr val="accent5"/>
            </a:solidFill>
            <a:prstDash val="solid"/>
          </a:ln>
        </p:spPr>
      </p:sp>
      <p:sp>
        <p:nvSpPr>
          <p:cNvPr id="22" name="Text 19"/>
          <p:cNvSpPr txBox="1"/>
          <p:nvPr/>
        </p:nvSpPr>
        <p:spPr>
          <a:xfrm>
            <a:off x="3383280" y="2788920"/>
            <a:ext cx="237744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satellite</a:t>
            </a:r>
            <a:endParaRPr lang="en-US" sz="1600" dirty="0"/>
          </a:p>
        </p:txBody>
      </p:sp>
      <p:sp>
        <p:nvSpPr>
          <p:cNvPr id="23" name="Text 20"/>
          <p:cNvSpPr txBox="1"/>
          <p:nvPr/>
        </p:nvSpPr>
        <p:spPr>
          <a:xfrm>
            <a:off x="3429000" y="3291840"/>
            <a:ext cx="2286000" cy="731520"/>
          </a:xfrm>
          <a:prstGeom prst="rect">
            <a:avLst/>
          </a:prstGeom>
          <a:noFill/>
          <a:ln/>
        </p:spPr>
        <p:txBody>
          <a:bodyPr wrap="square" lIns="0" tIns="0" rIns="0" bIns="0" rtlCol="0" anchor="t"/>
          <a:lstStyle/>
          <a:p>
            <a:pPr marL="0" indent="0">
              <a:buNone/>
            </a:pPr>
            <a:r>
              <a:rPr lang="en-US" sz="1300" dirty="0">
                <a:solidFill>
                  <a:schemeClr val="tx1"/>
                </a:solidFill>
              </a:rPr>
              <a:t>a natural or artificial object that orbits another object</a:t>
            </a:r>
            <a:endParaRPr lang="en-US" sz="1300" dirty="0"/>
          </a:p>
        </p:txBody>
      </p:sp>
      <p:sp>
        <p:nvSpPr>
          <p:cNvPr id="24" name="Glossary cosmonaut"/>
          <p:cNvSpPr/>
          <p:nvPr/>
        </p:nvSpPr>
        <p:spPr>
          <a:xfrm>
            <a:off x="6035040" y="2651760"/>
            <a:ext cx="26517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Word tag"/>
          <p:cNvSpPr/>
          <p:nvPr/>
        </p:nvSpPr>
        <p:spPr>
          <a:xfrm>
            <a:off x="6172200" y="2788920"/>
            <a:ext cx="2377440" cy="411480"/>
          </a:xfrm>
          <a:prstGeom prst="roundRect">
            <a:avLst>
              <a:gd name="adj" fmla="val 22222"/>
            </a:avLst>
          </a:prstGeom>
          <a:solidFill>
            <a:schemeClr val="accent1"/>
          </a:solidFill>
          <a:ln w="6350">
            <a:solidFill>
              <a:schemeClr val="accent1"/>
            </a:solidFill>
            <a:prstDash val="solid"/>
          </a:ln>
        </p:spPr>
      </p:sp>
      <p:sp>
        <p:nvSpPr>
          <p:cNvPr id="26" name="Text 23"/>
          <p:cNvSpPr txBox="1"/>
          <p:nvPr/>
        </p:nvSpPr>
        <p:spPr>
          <a:xfrm>
            <a:off x="6172200" y="2788920"/>
            <a:ext cx="237744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cosmonaut</a:t>
            </a:r>
            <a:endParaRPr lang="en-US" sz="1600" dirty="0"/>
          </a:p>
        </p:txBody>
      </p:sp>
      <p:sp>
        <p:nvSpPr>
          <p:cNvPr id="27" name="Text 24"/>
          <p:cNvSpPr txBox="1"/>
          <p:nvPr/>
        </p:nvSpPr>
        <p:spPr>
          <a:xfrm>
            <a:off x="6217920" y="3291840"/>
            <a:ext cx="2286000" cy="731520"/>
          </a:xfrm>
          <a:prstGeom prst="rect">
            <a:avLst/>
          </a:prstGeom>
          <a:noFill/>
          <a:ln/>
        </p:spPr>
        <p:txBody>
          <a:bodyPr wrap="square" lIns="0" tIns="0" rIns="0" bIns="0" rtlCol="0" anchor="t"/>
          <a:lstStyle/>
          <a:p>
            <a:pPr marL="0" indent="0">
              <a:buNone/>
            </a:pPr>
            <a:r>
              <a:rPr lang="en-US" sz="1300" dirty="0">
                <a:solidFill>
                  <a:schemeClr val="tx1"/>
                </a:solidFill>
              </a:rPr>
              <a:t>a Soviet astronaut</a:t>
            </a:r>
            <a:endParaRPr lang="en-US" sz="1300" dirty="0"/>
          </a:p>
        </p:txBody>
      </p:sp>
      <p:sp>
        <p:nvSpPr>
          <p:cNvPr id="28" name="Callout"/>
          <p:cNvSpPr/>
          <p:nvPr/>
        </p:nvSpPr>
        <p:spPr>
          <a:xfrm>
            <a:off x="457200" y="4251960"/>
            <a:ext cx="8229600" cy="365760"/>
          </a:xfrm>
          <a:prstGeom prst="roundRect">
            <a:avLst>
              <a:gd name="adj" fmla="val 30000"/>
            </a:avLst>
          </a:prstGeom>
          <a:solidFill>
            <a:schemeClr val="accent5"/>
          </a:solidFill>
          <a:ln w="9525">
            <a:solidFill>
              <a:schemeClr val="accent5"/>
            </a:solidFill>
            <a:prstDash val="solid"/>
          </a:ln>
        </p:spPr>
      </p:sp>
      <p:sp>
        <p:nvSpPr>
          <p:cNvPr id="29" name="Text 26"/>
          <p:cNvSpPr txBox="1"/>
          <p:nvPr/>
        </p:nvSpPr>
        <p:spPr>
          <a:xfrm>
            <a:off x="640080" y="4251960"/>
            <a:ext cx="7863840" cy="365760"/>
          </a:xfrm>
          <a:prstGeom prst="rect">
            <a:avLst/>
          </a:prstGeom>
          <a:noFill/>
          <a:ln/>
        </p:spPr>
        <p:txBody>
          <a:bodyPr wrap="square" lIns="0" tIns="0" rIns="0" bIns="0" rtlCol="0" anchor="ctr"/>
          <a:lstStyle/>
          <a:p>
            <a:pPr marL="0" indent="0" algn="ctr">
              <a:buNone/>
            </a:pPr>
            <a:r>
              <a:rPr lang="en-US" sz="1600" b="1" dirty="0">
                <a:solidFill>
                  <a:schemeClr val="tx1"/>
                </a:solidFill>
              </a:rPr>
              <a:t>Now the Activity 1b words: artificial · astronaut · magnify · observe · orbit</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7: ARTIFICIAL</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The USSR launched the first </a:t>
            </a:r>
            <a:r>
              <a:rPr lang="en-US" sz="2000" b="1" u="sng" dirty="0">
                <a:solidFill>
                  <a:schemeClr val="tx1"/>
                </a:solidFill>
              </a:rPr>
              <a:t>artificial</a:t>
            </a:r>
            <a:r>
              <a:rPr lang="en-US" sz="2000" dirty="0">
                <a:solidFill>
                  <a:schemeClr val="tx1"/>
                </a:solidFill>
              </a:rPr>
              <a:t> satellite, Sputnik I, into space.</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A satellite can be natural (like the Moon) or not. Was Sputnik I made by nature or by people? What might artificial mean?</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artificial</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Artificial = made by people, not by nature.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Which is artificial: a lake or a plastic flower? Why?</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made by people / man-made, not natural; e.g. the plastic flower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8: ASTRONAUT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American </a:t>
            </a:r>
            <a:r>
              <a:rPr lang="en-US" sz="2000" b="1" u="sng" dirty="0">
                <a:solidFill>
                  <a:schemeClr val="tx1"/>
                </a:solidFill>
              </a:rPr>
              <a:t>astronauts</a:t>
            </a:r>
            <a:r>
              <a:rPr lang="en-US" sz="2000" dirty="0">
                <a:solidFill>
                  <a:schemeClr val="tx1"/>
                </a:solidFill>
              </a:rPr>
              <a:t> Neil Armstrong and Buzz (Edwin) Aldrin became the first people to walk on the moon.</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You met cosmonaut and astronomer. An astronaut is ‘trained for travelling in space’. Why must an astronaut be trained? (Hint: astro = star, naut = sailor.)</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astronaut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Astronaut = a person trained to travel in space.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An astronaut needs to be ______ because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 person trained for space travel; e.g. brave / fit / careful because space is dangerous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9: MAGNIFY</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Isaac Newton designed a reflector telescope with greater </a:t>
            </a:r>
            <a:r>
              <a:rPr lang="en-US" sz="2000" b="1" u="sng" dirty="0">
                <a:solidFill>
                  <a:schemeClr val="tx1"/>
                </a:solidFill>
              </a:rPr>
              <a:t>magnification</a:t>
            </a:r>
            <a:r>
              <a:rPr lang="en-US" sz="2000" dirty="0">
                <a:solidFill>
                  <a:schemeClr val="tx1"/>
                </a:solidFill>
              </a:rPr>
              <a:t> and a clearer image than earlier telescopes.</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A telescope makes distant objects appear closer. What do you think magnify means? Think of a magnifying glass.</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magnify</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Magnify = to make something look bigger.</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I would use a magnifying glass to magnify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make look bigger / larger; e.g. tiny insects, small print, a stamp</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10: OBSERVE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Galileo built the first telescope and used his </a:t>
            </a:r>
            <a:r>
              <a:rPr lang="en-US" sz="2000" b="1" u="sng" dirty="0">
                <a:solidFill>
                  <a:schemeClr val="tx1"/>
                </a:solidFill>
              </a:rPr>
              <a:t>observations</a:t>
            </a:r>
            <a:r>
              <a:rPr lang="en-US" sz="2000" dirty="0">
                <a:solidFill>
                  <a:schemeClr val="tx1"/>
                </a:solidFill>
              </a:rPr>
              <a:t> to prove Copernicus’s theory correct.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Galileo looked at the sky through his telescope. You met observatory earlier: what do you notice about observe, observation and observatory?</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observe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Observe = to watch carefully and notice details.</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I observed ______ carefully and noticed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watch carefully / notice details; e.g. observed an ant and noticed it carried a crumb</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11: ORBIT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Yuri Gagarin </a:t>
            </a:r>
            <a:r>
              <a:rPr lang="en-US" sz="2000" b="1" u="sng" dirty="0">
                <a:solidFill>
                  <a:schemeClr val="tx1"/>
                </a:solidFill>
              </a:rPr>
              <a:t>orbited</a:t>
            </a:r>
            <a:r>
              <a:rPr lang="en-US" sz="2000" dirty="0">
                <a:solidFill>
                  <a:schemeClr val="tx1"/>
                </a:solidFill>
              </a:rPr>
              <a:t> the Earth in a 108-minute flight.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Gagarin travelled all the way around the Earth. What might orbit mean? Use your hands to show it.</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orbit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Orbit = to travel in a curved path around something.</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The Moon orbits ______. The Earth orbits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travel in a curved path around; the Moon orbits the Earth; the Earth orbits the Sun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Activity words: recap</a:t>
            </a:r>
            <a:endParaRPr lang="en-US" sz="3000" dirty="0"/>
          </a:p>
        </p:txBody>
      </p:sp>
      <p:sp>
        <p:nvSpPr>
          <p:cNvPr id="4" name="Word artificial"/>
          <p:cNvSpPr/>
          <p:nvPr/>
        </p:nvSpPr>
        <p:spPr>
          <a:xfrm>
            <a:off x="457200" y="1097280"/>
            <a:ext cx="1554480" cy="320040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header"/>
          <p:cNvSpPr/>
          <p:nvPr/>
        </p:nvSpPr>
        <p:spPr>
          <a:xfrm>
            <a:off x="548640" y="1188720"/>
            <a:ext cx="1371600" cy="640080"/>
          </a:xfrm>
          <a:prstGeom prst="roundRect">
            <a:avLst>
              <a:gd name="adj" fmla="val 14286"/>
            </a:avLst>
          </a:prstGeom>
          <a:solidFill>
            <a:schemeClr val="accent1"/>
          </a:solidFill>
          <a:ln w="6350">
            <a:solidFill>
              <a:schemeClr val="accent1"/>
            </a:solidFill>
            <a:prstDash val="solid"/>
          </a:ln>
        </p:spPr>
      </p:sp>
      <p:sp>
        <p:nvSpPr>
          <p:cNvPr id="6" name="Text 3"/>
          <p:cNvSpPr txBox="1"/>
          <p:nvPr/>
        </p:nvSpPr>
        <p:spPr>
          <a:xfrm>
            <a:off x="548640" y="1188720"/>
            <a:ext cx="137160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artificial</a:t>
            </a:r>
            <a:endParaRPr lang="en-US" sz="1700" dirty="0"/>
          </a:p>
        </p:txBody>
      </p:sp>
      <p:sp>
        <p:nvSpPr>
          <p:cNvPr id="7" name="Text 4"/>
          <p:cNvSpPr txBox="1"/>
          <p:nvPr/>
        </p:nvSpPr>
        <p:spPr>
          <a:xfrm>
            <a:off x="548640" y="1920240"/>
            <a:ext cx="1371600" cy="274320"/>
          </a:xfrm>
          <a:prstGeom prst="rect">
            <a:avLst/>
          </a:prstGeom>
          <a:noFill/>
          <a:ln/>
        </p:spPr>
        <p:txBody>
          <a:bodyPr wrap="square" lIns="0" tIns="0" rIns="0" bIns="0" rtlCol="0" anchor="ctr"/>
          <a:lstStyle/>
          <a:p>
            <a:pPr marL="0" indent="0" algn="ctr">
              <a:buNone/>
            </a:pPr>
            <a:r>
              <a:rPr lang="en-US" sz="1400" i="1" dirty="0">
                <a:solidFill>
                  <a:schemeClr val="tx2"/>
                </a:solidFill>
              </a:rPr>
              <a:t>(adj.)</a:t>
            </a:r>
            <a:endParaRPr lang="en-US" sz="1400" dirty="0"/>
          </a:p>
        </p:txBody>
      </p:sp>
      <p:sp>
        <p:nvSpPr>
          <p:cNvPr id="8" name="Text 5"/>
          <p:cNvSpPr txBox="1"/>
          <p:nvPr/>
        </p:nvSpPr>
        <p:spPr>
          <a:xfrm>
            <a:off x="566928" y="2240280"/>
            <a:ext cx="1335024" cy="1097280"/>
          </a:xfrm>
          <a:prstGeom prst="rect">
            <a:avLst/>
          </a:prstGeom>
          <a:noFill/>
          <a:ln/>
        </p:spPr>
        <p:txBody>
          <a:bodyPr wrap="square" lIns="0" tIns="0" rIns="0" bIns="0" rtlCol="0" anchor="t"/>
          <a:lstStyle/>
          <a:p>
            <a:pPr marL="0" indent="0">
              <a:buNone/>
            </a:pPr>
            <a:r>
              <a:rPr lang="en-US" sz="1400" dirty="0">
                <a:solidFill>
                  <a:schemeClr val="tx1"/>
                </a:solidFill>
              </a:rPr>
              <a:t>made by people; not natural</a:t>
            </a:r>
            <a:endParaRPr lang="en-US" sz="1400" dirty="0"/>
          </a:p>
        </p:txBody>
      </p:sp>
      <p:sp>
        <p:nvSpPr>
          <p:cNvPr id="9" name="Text 6"/>
          <p:cNvSpPr txBox="1"/>
          <p:nvPr/>
        </p:nvSpPr>
        <p:spPr>
          <a:xfrm>
            <a:off x="566928" y="3383280"/>
            <a:ext cx="1335024" cy="228600"/>
          </a:xfrm>
          <a:prstGeom prst="rect">
            <a:avLst/>
          </a:prstGeom>
          <a:noFill/>
          <a:ln/>
        </p:spPr>
        <p:txBody>
          <a:bodyPr wrap="square" lIns="0" tIns="0" rIns="0" bIns="0" rtlCol="0" anchor="ctr"/>
          <a:lstStyle/>
          <a:p>
            <a:pPr marL="0" indent="0">
              <a:buNone/>
            </a:pPr>
            <a:r>
              <a:rPr lang="en-US" sz="1100" b="1" dirty="0">
                <a:solidFill>
                  <a:schemeClr val="accent4"/>
                </a:solidFill>
              </a:rPr>
              <a:t>In the text:</a:t>
            </a:r>
            <a:endParaRPr lang="en-US" sz="1100" dirty="0"/>
          </a:p>
        </p:txBody>
      </p:sp>
      <p:sp>
        <p:nvSpPr>
          <p:cNvPr id="10" name="Text 7"/>
          <p:cNvSpPr txBox="1"/>
          <p:nvPr/>
        </p:nvSpPr>
        <p:spPr>
          <a:xfrm>
            <a:off x="566928" y="3611880"/>
            <a:ext cx="1335024" cy="594360"/>
          </a:xfrm>
          <a:prstGeom prst="rect">
            <a:avLst/>
          </a:prstGeom>
          <a:noFill/>
          <a:ln/>
        </p:spPr>
        <p:txBody>
          <a:bodyPr wrap="square" lIns="0" tIns="0" rIns="0" bIns="0" rtlCol="0" anchor="t"/>
          <a:lstStyle/>
          <a:p>
            <a:pPr marL="0" indent="0">
              <a:buNone/>
            </a:pPr>
            <a:r>
              <a:rPr lang="en-US" sz="1200" i="1" dirty="0">
                <a:solidFill>
                  <a:schemeClr val="tx1"/>
                </a:solidFill>
              </a:rPr>
              <a:t>“artificial satellite”</a:t>
            </a:r>
            <a:endParaRPr lang="en-US" sz="1200" dirty="0"/>
          </a:p>
        </p:txBody>
      </p:sp>
      <p:sp>
        <p:nvSpPr>
          <p:cNvPr id="11" name="Word astronaut"/>
          <p:cNvSpPr/>
          <p:nvPr/>
        </p:nvSpPr>
        <p:spPr>
          <a:xfrm>
            <a:off x="2125980" y="1097280"/>
            <a:ext cx="1554480" cy="320040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Word header"/>
          <p:cNvSpPr/>
          <p:nvPr/>
        </p:nvSpPr>
        <p:spPr>
          <a:xfrm>
            <a:off x="2217420" y="1188720"/>
            <a:ext cx="1371600" cy="640080"/>
          </a:xfrm>
          <a:prstGeom prst="roundRect">
            <a:avLst>
              <a:gd name="adj" fmla="val 14286"/>
            </a:avLst>
          </a:prstGeom>
          <a:solidFill>
            <a:schemeClr val="accent2"/>
          </a:solidFill>
          <a:ln w="6350">
            <a:solidFill>
              <a:schemeClr val="accent2"/>
            </a:solidFill>
            <a:prstDash val="solid"/>
          </a:ln>
        </p:spPr>
      </p:sp>
      <p:sp>
        <p:nvSpPr>
          <p:cNvPr id="13" name="Text 10"/>
          <p:cNvSpPr txBox="1"/>
          <p:nvPr/>
        </p:nvSpPr>
        <p:spPr>
          <a:xfrm>
            <a:off x="2217420" y="1188720"/>
            <a:ext cx="137160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astronaut</a:t>
            </a:r>
            <a:endParaRPr lang="en-US" sz="1700" dirty="0"/>
          </a:p>
        </p:txBody>
      </p:sp>
      <p:sp>
        <p:nvSpPr>
          <p:cNvPr id="14" name="Text 11"/>
          <p:cNvSpPr txBox="1"/>
          <p:nvPr/>
        </p:nvSpPr>
        <p:spPr>
          <a:xfrm>
            <a:off x="2217420" y="1920240"/>
            <a:ext cx="1371600" cy="274320"/>
          </a:xfrm>
          <a:prstGeom prst="rect">
            <a:avLst/>
          </a:prstGeom>
          <a:noFill/>
          <a:ln/>
        </p:spPr>
        <p:txBody>
          <a:bodyPr wrap="square" lIns="0" tIns="0" rIns="0" bIns="0" rtlCol="0" anchor="ctr"/>
          <a:lstStyle/>
          <a:p>
            <a:pPr marL="0" indent="0" algn="ctr">
              <a:buNone/>
            </a:pPr>
            <a:r>
              <a:rPr lang="en-US" sz="1400" i="1" dirty="0">
                <a:solidFill>
                  <a:schemeClr val="tx2"/>
                </a:solidFill>
              </a:rPr>
              <a:t>(n.)</a:t>
            </a:r>
            <a:endParaRPr lang="en-US" sz="1400" dirty="0"/>
          </a:p>
        </p:txBody>
      </p:sp>
      <p:sp>
        <p:nvSpPr>
          <p:cNvPr id="15" name="Text 12"/>
          <p:cNvSpPr txBox="1"/>
          <p:nvPr/>
        </p:nvSpPr>
        <p:spPr>
          <a:xfrm>
            <a:off x="2235708" y="2240280"/>
            <a:ext cx="1335024" cy="1097280"/>
          </a:xfrm>
          <a:prstGeom prst="rect">
            <a:avLst/>
          </a:prstGeom>
          <a:noFill/>
          <a:ln/>
        </p:spPr>
        <p:txBody>
          <a:bodyPr wrap="square" lIns="0" tIns="0" rIns="0" bIns="0" rtlCol="0" anchor="t"/>
          <a:lstStyle/>
          <a:p>
            <a:pPr marL="0" indent="0">
              <a:buNone/>
            </a:pPr>
            <a:r>
              <a:rPr lang="en-US" sz="1400" dirty="0">
                <a:solidFill>
                  <a:schemeClr val="tx1"/>
                </a:solidFill>
              </a:rPr>
              <a:t>a person trained to travel in space</a:t>
            </a:r>
            <a:endParaRPr lang="en-US" sz="1400" dirty="0"/>
          </a:p>
        </p:txBody>
      </p:sp>
      <p:sp>
        <p:nvSpPr>
          <p:cNvPr id="16" name="Text 13"/>
          <p:cNvSpPr txBox="1"/>
          <p:nvPr/>
        </p:nvSpPr>
        <p:spPr>
          <a:xfrm>
            <a:off x="2235708" y="3383280"/>
            <a:ext cx="1335024" cy="228600"/>
          </a:xfrm>
          <a:prstGeom prst="rect">
            <a:avLst/>
          </a:prstGeom>
          <a:noFill/>
          <a:ln/>
        </p:spPr>
        <p:txBody>
          <a:bodyPr wrap="square" lIns="0" tIns="0" rIns="0" bIns="0" rtlCol="0" anchor="ctr"/>
          <a:lstStyle/>
          <a:p>
            <a:pPr marL="0" indent="0">
              <a:buNone/>
            </a:pPr>
            <a:r>
              <a:rPr lang="en-US" sz="1100" b="1" dirty="0">
                <a:solidFill>
                  <a:schemeClr val="accent4"/>
                </a:solidFill>
              </a:rPr>
              <a:t>In the text:</a:t>
            </a:r>
            <a:endParaRPr lang="en-US" sz="1100" dirty="0"/>
          </a:p>
        </p:txBody>
      </p:sp>
      <p:sp>
        <p:nvSpPr>
          <p:cNvPr id="17" name="Text 14"/>
          <p:cNvSpPr txBox="1"/>
          <p:nvPr/>
        </p:nvSpPr>
        <p:spPr>
          <a:xfrm>
            <a:off x="2235708" y="3611880"/>
            <a:ext cx="1335024" cy="594360"/>
          </a:xfrm>
          <a:prstGeom prst="rect">
            <a:avLst/>
          </a:prstGeom>
          <a:noFill/>
          <a:ln/>
        </p:spPr>
        <p:txBody>
          <a:bodyPr wrap="square" lIns="0" tIns="0" rIns="0" bIns="0" rtlCol="0" anchor="t"/>
          <a:lstStyle/>
          <a:p>
            <a:pPr marL="0" indent="0">
              <a:buNone/>
            </a:pPr>
            <a:r>
              <a:rPr lang="en-US" sz="1200" i="1" dirty="0">
                <a:solidFill>
                  <a:schemeClr val="tx1"/>
                </a:solidFill>
              </a:rPr>
              <a:t>“American astronauts”</a:t>
            </a:r>
            <a:endParaRPr lang="en-US" sz="1200" dirty="0"/>
          </a:p>
        </p:txBody>
      </p:sp>
      <p:sp>
        <p:nvSpPr>
          <p:cNvPr id="18" name="Word magnify"/>
          <p:cNvSpPr/>
          <p:nvPr/>
        </p:nvSpPr>
        <p:spPr>
          <a:xfrm>
            <a:off x="3794760" y="1097280"/>
            <a:ext cx="1554480" cy="320040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9" name="Word header"/>
          <p:cNvSpPr/>
          <p:nvPr/>
        </p:nvSpPr>
        <p:spPr>
          <a:xfrm>
            <a:off x="3886200" y="1188720"/>
            <a:ext cx="1371600" cy="640080"/>
          </a:xfrm>
          <a:prstGeom prst="roundRect">
            <a:avLst>
              <a:gd name="adj" fmla="val 14286"/>
            </a:avLst>
          </a:prstGeom>
          <a:solidFill>
            <a:schemeClr val="accent3"/>
          </a:solidFill>
          <a:ln w="6350">
            <a:solidFill>
              <a:schemeClr val="accent3"/>
            </a:solidFill>
            <a:prstDash val="solid"/>
          </a:ln>
        </p:spPr>
      </p:sp>
      <p:sp>
        <p:nvSpPr>
          <p:cNvPr id="20" name="Text 17"/>
          <p:cNvSpPr txBox="1"/>
          <p:nvPr/>
        </p:nvSpPr>
        <p:spPr>
          <a:xfrm>
            <a:off x="3886200" y="1188720"/>
            <a:ext cx="137160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magnify</a:t>
            </a:r>
            <a:endParaRPr lang="en-US" sz="1700" dirty="0"/>
          </a:p>
        </p:txBody>
      </p:sp>
      <p:sp>
        <p:nvSpPr>
          <p:cNvPr id="21" name="Text 18"/>
          <p:cNvSpPr txBox="1"/>
          <p:nvPr/>
        </p:nvSpPr>
        <p:spPr>
          <a:xfrm>
            <a:off x="3886200" y="1920240"/>
            <a:ext cx="1371600" cy="274320"/>
          </a:xfrm>
          <a:prstGeom prst="rect">
            <a:avLst/>
          </a:prstGeom>
          <a:noFill/>
          <a:ln/>
        </p:spPr>
        <p:txBody>
          <a:bodyPr wrap="square" lIns="0" tIns="0" rIns="0" bIns="0" rtlCol="0" anchor="ctr"/>
          <a:lstStyle/>
          <a:p>
            <a:pPr marL="0" indent="0" algn="ctr">
              <a:buNone/>
            </a:pPr>
            <a:r>
              <a:rPr lang="en-US" sz="1400" i="1" dirty="0">
                <a:solidFill>
                  <a:schemeClr val="tx2"/>
                </a:solidFill>
              </a:rPr>
              <a:t>(v.)</a:t>
            </a:r>
            <a:endParaRPr lang="en-US" sz="1400" dirty="0"/>
          </a:p>
        </p:txBody>
      </p:sp>
      <p:sp>
        <p:nvSpPr>
          <p:cNvPr id="22" name="Text 19"/>
          <p:cNvSpPr txBox="1"/>
          <p:nvPr/>
        </p:nvSpPr>
        <p:spPr>
          <a:xfrm>
            <a:off x="3904488" y="2240280"/>
            <a:ext cx="1335024" cy="1097280"/>
          </a:xfrm>
          <a:prstGeom prst="rect">
            <a:avLst/>
          </a:prstGeom>
          <a:noFill/>
          <a:ln/>
        </p:spPr>
        <p:txBody>
          <a:bodyPr wrap="square" lIns="0" tIns="0" rIns="0" bIns="0" rtlCol="0" anchor="t"/>
          <a:lstStyle/>
          <a:p>
            <a:pPr marL="0" indent="0">
              <a:buNone/>
            </a:pPr>
            <a:r>
              <a:rPr lang="en-US" sz="1400" dirty="0">
                <a:solidFill>
                  <a:schemeClr val="tx1"/>
                </a:solidFill>
              </a:rPr>
              <a:t>to make something look bigger</a:t>
            </a:r>
            <a:endParaRPr lang="en-US" sz="1400" dirty="0"/>
          </a:p>
        </p:txBody>
      </p:sp>
      <p:sp>
        <p:nvSpPr>
          <p:cNvPr id="23" name="Text 20"/>
          <p:cNvSpPr txBox="1"/>
          <p:nvPr/>
        </p:nvSpPr>
        <p:spPr>
          <a:xfrm>
            <a:off x="3904488" y="3383280"/>
            <a:ext cx="1335024" cy="228600"/>
          </a:xfrm>
          <a:prstGeom prst="rect">
            <a:avLst/>
          </a:prstGeom>
          <a:noFill/>
          <a:ln/>
        </p:spPr>
        <p:txBody>
          <a:bodyPr wrap="square" lIns="0" tIns="0" rIns="0" bIns="0" rtlCol="0" anchor="ctr"/>
          <a:lstStyle/>
          <a:p>
            <a:pPr marL="0" indent="0">
              <a:buNone/>
            </a:pPr>
            <a:r>
              <a:rPr lang="en-US" sz="1100" b="1" dirty="0">
                <a:solidFill>
                  <a:schemeClr val="accent4"/>
                </a:solidFill>
              </a:rPr>
              <a:t>In the text:</a:t>
            </a:r>
            <a:endParaRPr lang="en-US" sz="1100" dirty="0"/>
          </a:p>
        </p:txBody>
      </p:sp>
      <p:sp>
        <p:nvSpPr>
          <p:cNvPr id="24" name="Text 21"/>
          <p:cNvSpPr txBox="1"/>
          <p:nvPr/>
        </p:nvSpPr>
        <p:spPr>
          <a:xfrm>
            <a:off x="3904488" y="3611880"/>
            <a:ext cx="1335024" cy="594360"/>
          </a:xfrm>
          <a:prstGeom prst="rect">
            <a:avLst/>
          </a:prstGeom>
          <a:noFill/>
          <a:ln/>
        </p:spPr>
        <p:txBody>
          <a:bodyPr wrap="square" lIns="0" tIns="0" rIns="0" bIns="0" rtlCol="0" anchor="t"/>
          <a:lstStyle/>
          <a:p>
            <a:pPr marL="0" indent="0">
              <a:buNone/>
            </a:pPr>
            <a:r>
              <a:rPr lang="en-US" sz="1200" i="1" dirty="0">
                <a:solidFill>
                  <a:schemeClr val="tx1"/>
                </a:solidFill>
              </a:rPr>
              <a:t>“greater magnification”</a:t>
            </a:r>
            <a:endParaRPr lang="en-US" sz="1200" dirty="0"/>
          </a:p>
        </p:txBody>
      </p:sp>
      <p:sp>
        <p:nvSpPr>
          <p:cNvPr id="25" name="Word observe"/>
          <p:cNvSpPr/>
          <p:nvPr/>
        </p:nvSpPr>
        <p:spPr>
          <a:xfrm>
            <a:off x="5463540" y="1097280"/>
            <a:ext cx="1554480" cy="320040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6" name="Word header"/>
          <p:cNvSpPr/>
          <p:nvPr/>
        </p:nvSpPr>
        <p:spPr>
          <a:xfrm>
            <a:off x="5554980" y="1188720"/>
            <a:ext cx="1371600" cy="640080"/>
          </a:xfrm>
          <a:prstGeom prst="roundRect">
            <a:avLst>
              <a:gd name="adj" fmla="val 14286"/>
            </a:avLst>
          </a:prstGeom>
          <a:solidFill>
            <a:schemeClr val="accent4"/>
          </a:solidFill>
          <a:ln w="6350">
            <a:solidFill>
              <a:schemeClr val="accent4"/>
            </a:solidFill>
            <a:prstDash val="solid"/>
          </a:ln>
        </p:spPr>
      </p:sp>
      <p:sp>
        <p:nvSpPr>
          <p:cNvPr id="27" name="Text 24"/>
          <p:cNvSpPr txBox="1"/>
          <p:nvPr/>
        </p:nvSpPr>
        <p:spPr>
          <a:xfrm>
            <a:off x="5554980" y="1188720"/>
            <a:ext cx="1371600" cy="64008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observe</a:t>
            </a:r>
            <a:endParaRPr lang="en-US" sz="1700" dirty="0"/>
          </a:p>
        </p:txBody>
      </p:sp>
      <p:sp>
        <p:nvSpPr>
          <p:cNvPr id="28" name="Text 25"/>
          <p:cNvSpPr txBox="1"/>
          <p:nvPr/>
        </p:nvSpPr>
        <p:spPr>
          <a:xfrm>
            <a:off x="5554980" y="1920240"/>
            <a:ext cx="1371600" cy="274320"/>
          </a:xfrm>
          <a:prstGeom prst="rect">
            <a:avLst/>
          </a:prstGeom>
          <a:noFill/>
          <a:ln/>
        </p:spPr>
        <p:txBody>
          <a:bodyPr wrap="square" lIns="0" tIns="0" rIns="0" bIns="0" rtlCol="0" anchor="ctr"/>
          <a:lstStyle/>
          <a:p>
            <a:pPr marL="0" indent="0" algn="ctr">
              <a:buNone/>
            </a:pPr>
            <a:r>
              <a:rPr lang="en-US" sz="1400" i="1" dirty="0">
                <a:solidFill>
                  <a:schemeClr val="tx2"/>
                </a:solidFill>
              </a:rPr>
              <a:t>(v.)</a:t>
            </a:r>
            <a:endParaRPr lang="en-US" sz="1400" dirty="0"/>
          </a:p>
        </p:txBody>
      </p:sp>
      <p:sp>
        <p:nvSpPr>
          <p:cNvPr id="29" name="Text 26"/>
          <p:cNvSpPr txBox="1"/>
          <p:nvPr/>
        </p:nvSpPr>
        <p:spPr>
          <a:xfrm>
            <a:off x="5573268" y="2240280"/>
            <a:ext cx="1335024" cy="1097280"/>
          </a:xfrm>
          <a:prstGeom prst="rect">
            <a:avLst/>
          </a:prstGeom>
          <a:noFill/>
          <a:ln/>
        </p:spPr>
        <p:txBody>
          <a:bodyPr wrap="square" lIns="0" tIns="0" rIns="0" bIns="0" rtlCol="0" anchor="t"/>
          <a:lstStyle/>
          <a:p>
            <a:pPr marL="0" indent="0">
              <a:buNone/>
            </a:pPr>
            <a:r>
              <a:rPr lang="en-US" sz="1400" dirty="0">
                <a:solidFill>
                  <a:schemeClr val="tx1"/>
                </a:solidFill>
              </a:rPr>
              <a:t>to watch carefully and notice</a:t>
            </a:r>
            <a:endParaRPr lang="en-US" sz="1400" dirty="0"/>
          </a:p>
        </p:txBody>
      </p:sp>
      <p:sp>
        <p:nvSpPr>
          <p:cNvPr id="30" name="Text 27"/>
          <p:cNvSpPr txBox="1"/>
          <p:nvPr/>
        </p:nvSpPr>
        <p:spPr>
          <a:xfrm>
            <a:off x="5573268" y="3383280"/>
            <a:ext cx="1335024" cy="228600"/>
          </a:xfrm>
          <a:prstGeom prst="rect">
            <a:avLst/>
          </a:prstGeom>
          <a:noFill/>
          <a:ln/>
        </p:spPr>
        <p:txBody>
          <a:bodyPr wrap="square" lIns="0" tIns="0" rIns="0" bIns="0" rtlCol="0" anchor="ctr"/>
          <a:lstStyle/>
          <a:p>
            <a:pPr marL="0" indent="0">
              <a:buNone/>
            </a:pPr>
            <a:r>
              <a:rPr lang="en-US" sz="1100" b="1" dirty="0">
                <a:solidFill>
                  <a:schemeClr val="accent4"/>
                </a:solidFill>
              </a:rPr>
              <a:t>In the text:</a:t>
            </a:r>
            <a:endParaRPr lang="en-US" sz="1100" dirty="0"/>
          </a:p>
        </p:txBody>
      </p:sp>
      <p:sp>
        <p:nvSpPr>
          <p:cNvPr id="31" name="Text 28"/>
          <p:cNvSpPr txBox="1"/>
          <p:nvPr/>
        </p:nvSpPr>
        <p:spPr>
          <a:xfrm>
            <a:off x="5573268" y="3611880"/>
            <a:ext cx="1335024" cy="594360"/>
          </a:xfrm>
          <a:prstGeom prst="rect">
            <a:avLst/>
          </a:prstGeom>
          <a:noFill/>
          <a:ln/>
        </p:spPr>
        <p:txBody>
          <a:bodyPr wrap="square" lIns="0" tIns="0" rIns="0" bIns="0" rtlCol="0" anchor="t"/>
          <a:lstStyle/>
          <a:p>
            <a:pPr marL="0" indent="0">
              <a:buNone/>
            </a:pPr>
            <a:r>
              <a:rPr lang="en-US" sz="1200" i="1" dirty="0">
                <a:solidFill>
                  <a:schemeClr val="tx1"/>
                </a:solidFill>
              </a:rPr>
              <a:t>“used his observations”</a:t>
            </a:r>
            <a:endParaRPr lang="en-US" sz="1200" dirty="0"/>
          </a:p>
        </p:txBody>
      </p:sp>
      <p:sp>
        <p:nvSpPr>
          <p:cNvPr id="32" name="Word orbit"/>
          <p:cNvSpPr/>
          <p:nvPr/>
        </p:nvSpPr>
        <p:spPr>
          <a:xfrm>
            <a:off x="7132320" y="1097280"/>
            <a:ext cx="1554480" cy="320040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3" name="Word header"/>
          <p:cNvSpPr/>
          <p:nvPr/>
        </p:nvSpPr>
        <p:spPr>
          <a:xfrm>
            <a:off x="7223760" y="1188720"/>
            <a:ext cx="1371600" cy="640080"/>
          </a:xfrm>
          <a:prstGeom prst="roundRect">
            <a:avLst>
              <a:gd name="adj" fmla="val 14286"/>
            </a:avLst>
          </a:prstGeom>
          <a:solidFill>
            <a:schemeClr val="accent5"/>
          </a:solidFill>
          <a:ln w="6350">
            <a:solidFill>
              <a:schemeClr val="accent5"/>
            </a:solidFill>
            <a:prstDash val="solid"/>
          </a:ln>
        </p:spPr>
      </p:sp>
      <p:sp>
        <p:nvSpPr>
          <p:cNvPr id="34" name="Text 31"/>
          <p:cNvSpPr txBox="1"/>
          <p:nvPr/>
        </p:nvSpPr>
        <p:spPr>
          <a:xfrm>
            <a:off x="7223760" y="1188720"/>
            <a:ext cx="137160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orbit</a:t>
            </a:r>
            <a:endParaRPr lang="en-US" sz="1700" dirty="0"/>
          </a:p>
        </p:txBody>
      </p:sp>
      <p:sp>
        <p:nvSpPr>
          <p:cNvPr id="35" name="Text 32"/>
          <p:cNvSpPr txBox="1"/>
          <p:nvPr/>
        </p:nvSpPr>
        <p:spPr>
          <a:xfrm>
            <a:off x="7223760" y="1920240"/>
            <a:ext cx="1371600" cy="274320"/>
          </a:xfrm>
          <a:prstGeom prst="rect">
            <a:avLst/>
          </a:prstGeom>
          <a:noFill/>
          <a:ln/>
        </p:spPr>
        <p:txBody>
          <a:bodyPr wrap="square" lIns="0" tIns="0" rIns="0" bIns="0" rtlCol="0" anchor="ctr"/>
          <a:lstStyle/>
          <a:p>
            <a:pPr marL="0" indent="0" algn="ctr">
              <a:buNone/>
            </a:pPr>
            <a:r>
              <a:rPr lang="en-US" sz="1400" i="1" dirty="0">
                <a:solidFill>
                  <a:schemeClr val="tx2"/>
                </a:solidFill>
              </a:rPr>
              <a:t>(v.)</a:t>
            </a:r>
            <a:endParaRPr lang="en-US" sz="1400" dirty="0"/>
          </a:p>
        </p:txBody>
      </p:sp>
      <p:sp>
        <p:nvSpPr>
          <p:cNvPr id="36" name="Text 33"/>
          <p:cNvSpPr txBox="1"/>
          <p:nvPr/>
        </p:nvSpPr>
        <p:spPr>
          <a:xfrm>
            <a:off x="7242048" y="2240280"/>
            <a:ext cx="1335024" cy="1097280"/>
          </a:xfrm>
          <a:prstGeom prst="rect">
            <a:avLst/>
          </a:prstGeom>
          <a:noFill/>
          <a:ln/>
        </p:spPr>
        <p:txBody>
          <a:bodyPr wrap="square" lIns="0" tIns="0" rIns="0" bIns="0" rtlCol="0" anchor="t"/>
          <a:lstStyle/>
          <a:p>
            <a:pPr marL="0" indent="0">
              <a:buNone/>
            </a:pPr>
            <a:r>
              <a:rPr lang="en-US" sz="1400" dirty="0">
                <a:solidFill>
                  <a:schemeClr val="tx1"/>
                </a:solidFill>
              </a:rPr>
              <a:t>to travel in a curve around something</a:t>
            </a:r>
            <a:endParaRPr lang="en-US" sz="1400" dirty="0"/>
          </a:p>
        </p:txBody>
      </p:sp>
      <p:sp>
        <p:nvSpPr>
          <p:cNvPr id="37" name="Text 34"/>
          <p:cNvSpPr txBox="1"/>
          <p:nvPr/>
        </p:nvSpPr>
        <p:spPr>
          <a:xfrm>
            <a:off x="7242048" y="3383280"/>
            <a:ext cx="1335024" cy="228600"/>
          </a:xfrm>
          <a:prstGeom prst="rect">
            <a:avLst/>
          </a:prstGeom>
          <a:noFill/>
          <a:ln/>
        </p:spPr>
        <p:txBody>
          <a:bodyPr wrap="square" lIns="0" tIns="0" rIns="0" bIns="0" rtlCol="0" anchor="ctr"/>
          <a:lstStyle/>
          <a:p>
            <a:pPr marL="0" indent="0">
              <a:buNone/>
            </a:pPr>
            <a:r>
              <a:rPr lang="en-US" sz="1100" b="1" dirty="0">
                <a:solidFill>
                  <a:schemeClr val="accent4"/>
                </a:solidFill>
              </a:rPr>
              <a:t>In the text:</a:t>
            </a:r>
            <a:endParaRPr lang="en-US" sz="1100" dirty="0"/>
          </a:p>
        </p:txBody>
      </p:sp>
      <p:sp>
        <p:nvSpPr>
          <p:cNvPr id="38" name="Text 35"/>
          <p:cNvSpPr txBox="1"/>
          <p:nvPr/>
        </p:nvSpPr>
        <p:spPr>
          <a:xfrm>
            <a:off x="7242048" y="3611880"/>
            <a:ext cx="1335024" cy="594360"/>
          </a:xfrm>
          <a:prstGeom prst="rect">
            <a:avLst/>
          </a:prstGeom>
          <a:noFill/>
          <a:ln/>
        </p:spPr>
        <p:txBody>
          <a:bodyPr wrap="square" lIns="0" tIns="0" rIns="0" bIns="0" rtlCol="0" anchor="t"/>
          <a:lstStyle/>
          <a:p>
            <a:pPr marL="0" indent="0">
              <a:buNone/>
            </a:pPr>
            <a:r>
              <a:rPr lang="en-US" sz="1200" i="1" dirty="0">
                <a:solidFill>
                  <a:schemeClr val="tx1"/>
                </a:solidFill>
              </a:rPr>
              <a:t>“He orbited the Earth”</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Put them in ABC order</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Write these words in alphabetical order. Be careful with the first two letters!</a:t>
            </a:r>
            <a:endParaRPr lang="en-US" sz="1600" dirty="0"/>
          </a:p>
        </p:txBody>
      </p:sp>
      <p:sp>
        <p:nvSpPr>
          <p:cNvPr id="5" name="Word chip"/>
          <p:cNvSpPr/>
          <p:nvPr/>
        </p:nvSpPr>
        <p:spPr>
          <a:xfrm>
            <a:off x="457200" y="1554480"/>
            <a:ext cx="1508760" cy="731520"/>
          </a:xfrm>
          <a:prstGeom prst="roundRect">
            <a:avLst>
              <a:gd name="adj" fmla="val 15000"/>
            </a:avLst>
          </a:prstGeom>
          <a:solidFill>
            <a:schemeClr val="accent1"/>
          </a:solidFill>
          <a:ln w="9525">
            <a:solidFill>
              <a:schemeClr val="accent1"/>
            </a:solidFill>
            <a:prstDash val="solid"/>
          </a:ln>
          <a:effectLst>
            <a:outerShdw blurRad="76200" dist="25400" dir="5400000" algn="bl" rotWithShape="0">
              <a:srgbClr val="0E1537">
                <a:alpha val="14000"/>
              </a:srgbClr>
            </a:outerShdw>
          </a:effectLst>
        </p:spPr>
      </p:sp>
      <p:sp>
        <p:nvSpPr>
          <p:cNvPr id="6" name="Text 3"/>
          <p:cNvSpPr txBox="1"/>
          <p:nvPr/>
        </p:nvSpPr>
        <p:spPr>
          <a:xfrm>
            <a:off x="457200" y="1554480"/>
            <a:ext cx="1508760" cy="73152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orbit</a:t>
            </a:r>
            <a:endParaRPr lang="en-US" sz="1700" dirty="0"/>
          </a:p>
        </p:txBody>
      </p:sp>
      <p:sp>
        <p:nvSpPr>
          <p:cNvPr id="7" name="Word chip"/>
          <p:cNvSpPr/>
          <p:nvPr/>
        </p:nvSpPr>
        <p:spPr>
          <a:xfrm>
            <a:off x="2103120" y="1554480"/>
            <a:ext cx="1508760" cy="731520"/>
          </a:xfrm>
          <a:prstGeom prst="roundRect">
            <a:avLst>
              <a:gd name="adj" fmla="val 15000"/>
            </a:avLst>
          </a:prstGeom>
          <a:solidFill>
            <a:schemeClr val="accent2"/>
          </a:solidFill>
          <a:ln w="9525">
            <a:solidFill>
              <a:schemeClr val="accent2"/>
            </a:solidFill>
            <a:prstDash val="solid"/>
          </a:ln>
          <a:effectLst>
            <a:outerShdw blurRad="76200" dist="25400" dir="5400000" algn="bl" rotWithShape="0">
              <a:srgbClr val="0E1537">
                <a:alpha val="14000"/>
              </a:srgbClr>
            </a:outerShdw>
          </a:effectLst>
        </p:spPr>
      </p:sp>
      <p:sp>
        <p:nvSpPr>
          <p:cNvPr id="8" name="Text 5"/>
          <p:cNvSpPr txBox="1"/>
          <p:nvPr/>
        </p:nvSpPr>
        <p:spPr>
          <a:xfrm>
            <a:off x="2103120" y="1554480"/>
            <a:ext cx="1508760" cy="73152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magnify</a:t>
            </a:r>
            <a:endParaRPr lang="en-US" sz="1700" dirty="0"/>
          </a:p>
        </p:txBody>
      </p:sp>
      <p:sp>
        <p:nvSpPr>
          <p:cNvPr id="9" name="Word chip"/>
          <p:cNvSpPr/>
          <p:nvPr/>
        </p:nvSpPr>
        <p:spPr>
          <a:xfrm>
            <a:off x="3749040" y="1554480"/>
            <a:ext cx="1508760" cy="731520"/>
          </a:xfrm>
          <a:prstGeom prst="roundRect">
            <a:avLst>
              <a:gd name="adj" fmla="val 15000"/>
            </a:avLst>
          </a:prstGeom>
          <a:solidFill>
            <a:schemeClr val="accent3"/>
          </a:solidFill>
          <a:ln w="9525">
            <a:solidFill>
              <a:schemeClr val="accent3"/>
            </a:solidFill>
            <a:prstDash val="solid"/>
          </a:ln>
          <a:effectLst>
            <a:outerShdw blurRad="76200" dist="25400" dir="5400000" algn="bl" rotWithShape="0">
              <a:srgbClr val="0E1537">
                <a:alpha val="14000"/>
              </a:srgbClr>
            </a:outerShdw>
          </a:effectLst>
        </p:spPr>
      </p:sp>
      <p:sp>
        <p:nvSpPr>
          <p:cNvPr id="10" name="Text 7"/>
          <p:cNvSpPr txBox="1"/>
          <p:nvPr/>
        </p:nvSpPr>
        <p:spPr>
          <a:xfrm>
            <a:off x="3749040" y="1554480"/>
            <a:ext cx="1508760" cy="73152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astronaut</a:t>
            </a:r>
            <a:endParaRPr lang="en-US" sz="1700" dirty="0"/>
          </a:p>
        </p:txBody>
      </p:sp>
      <p:sp>
        <p:nvSpPr>
          <p:cNvPr id="11" name="Word chip"/>
          <p:cNvSpPr/>
          <p:nvPr/>
        </p:nvSpPr>
        <p:spPr>
          <a:xfrm>
            <a:off x="5394960" y="1554480"/>
            <a:ext cx="1508760" cy="731520"/>
          </a:xfrm>
          <a:prstGeom prst="roundRect">
            <a:avLst>
              <a:gd name="adj" fmla="val 15000"/>
            </a:avLst>
          </a:prstGeom>
          <a:solidFill>
            <a:schemeClr val="accent4"/>
          </a:solidFill>
          <a:ln w="9525">
            <a:solidFill>
              <a:schemeClr val="accent4"/>
            </a:solidFill>
            <a:prstDash val="solid"/>
          </a:ln>
          <a:effectLst>
            <a:outerShdw blurRad="76200" dist="25400" dir="5400000" algn="bl" rotWithShape="0">
              <a:srgbClr val="0E1537">
                <a:alpha val="14000"/>
              </a:srgbClr>
            </a:outerShdw>
          </a:effectLst>
        </p:spPr>
      </p:sp>
      <p:sp>
        <p:nvSpPr>
          <p:cNvPr id="12" name="Text 9"/>
          <p:cNvSpPr txBox="1"/>
          <p:nvPr/>
        </p:nvSpPr>
        <p:spPr>
          <a:xfrm>
            <a:off x="5394960" y="1554480"/>
            <a:ext cx="1508760" cy="7315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observe</a:t>
            </a:r>
            <a:endParaRPr lang="en-US" sz="1700" dirty="0"/>
          </a:p>
        </p:txBody>
      </p:sp>
      <p:sp>
        <p:nvSpPr>
          <p:cNvPr id="13" name="Word chip"/>
          <p:cNvSpPr/>
          <p:nvPr/>
        </p:nvSpPr>
        <p:spPr>
          <a:xfrm>
            <a:off x="7040880" y="1554480"/>
            <a:ext cx="1508760" cy="731520"/>
          </a:xfrm>
          <a:prstGeom prst="roundRect">
            <a:avLst>
              <a:gd name="adj" fmla="val 15000"/>
            </a:avLst>
          </a:prstGeom>
          <a:solidFill>
            <a:schemeClr val="accent5"/>
          </a:solidFill>
          <a:ln w="9525">
            <a:solidFill>
              <a:schemeClr val="accent5"/>
            </a:solidFill>
            <a:prstDash val="solid"/>
          </a:ln>
          <a:effectLst>
            <a:outerShdw blurRad="76200" dist="25400" dir="5400000" algn="bl" rotWithShape="0">
              <a:srgbClr val="0E1537">
                <a:alpha val="14000"/>
              </a:srgbClr>
            </a:outerShdw>
          </a:effectLst>
        </p:spPr>
      </p:sp>
      <p:sp>
        <p:nvSpPr>
          <p:cNvPr id="14" name="Text 11"/>
          <p:cNvSpPr txBox="1"/>
          <p:nvPr/>
        </p:nvSpPr>
        <p:spPr>
          <a:xfrm>
            <a:off x="7040880" y="1554480"/>
            <a:ext cx="1508760" cy="73152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artificial</a:t>
            </a:r>
            <a:endParaRPr lang="en-US" sz="1700" dirty="0"/>
          </a:p>
        </p:txBody>
      </p:sp>
      <p:sp>
        <p:nvSpPr>
          <p:cNvPr id="15" name="Answer slot"/>
          <p:cNvSpPr/>
          <p:nvPr/>
        </p:nvSpPr>
        <p:spPr>
          <a:xfrm>
            <a:off x="457200" y="2743200"/>
            <a:ext cx="1508760" cy="731520"/>
          </a:xfrm>
          <a:prstGeom prst="roundRect">
            <a:avLst>
              <a:gd name="adj" fmla="val 15000"/>
            </a:avLst>
          </a:prstGeom>
          <a:solidFill>
            <a:schemeClr val="bg1"/>
          </a:solidFill>
          <a:ln w="19050">
            <a:solidFill>
              <a:schemeClr val="accent4"/>
            </a:solidFill>
            <a:prstDash val="dash"/>
          </a:ln>
        </p:spPr>
      </p:sp>
      <p:sp>
        <p:nvSpPr>
          <p:cNvPr id="16" name="Text 13"/>
          <p:cNvSpPr txBox="1"/>
          <p:nvPr/>
        </p:nvSpPr>
        <p:spPr>
          <a:xfrm>
            <a:off x="457200" y="2743200"/>
            <a:ext cx="1508760" cy="73152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1</a:t>
            </a:r>
            <a:endParaRPr lang="en-US" sz="2200" dirty="0"/>
          </a:p>
        </p:txBody>
      </p:sp>
      <p:sp>
        <p:nvSpPr>
          <p:cNvPr id="17" name="Answer slot"/>
          <p:cNvSpPr/>
          <p:nvPr/>
        </p:nvSpPr>
        <p:spPr>
          <a:xfrm>
            <a:off x="2103120" y="2743200"/>
            <a:ext cx="1508760" cy="731520"/>
          </a:xfrm>
          <a:prstGeom prst="roundRect">
            <a:avLst>
              <a:gd name="adj" fmla="val 15000"/>
            </a:avLst>
          </a:prstGeom>
          <a:solidFill>
            <a:schemeClr val="bg1"/>
          </a:solidFill>
          <a:ln w="19050">
            <a:solidFill>
              <a:schemeClr val="accent4"/>
            </a:solidFill>
            <a:prstDash val="dash"/>
          </a:ln>
        </p:spPr>
      </p:sp>
      <p:sp>
        <p:nvSpPr>
          <p:cNvPr id="18" name="Text 15"/>
          <p:cNvSpPr txBox="1"/>
          <p:nvPr/>
        </p:nvSpPr>
        <p:spPr>
          <a:xfrm>
            <a:off x="2103120" y="2743200"/>
            <a:ext cx="1508760" cy="73152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2</a:t>
            </a:r>
            <a:endParaRPr lang="en-US" sz="2200" dirty="0"/>
          </a:p>
        </p:txBody>
      </p:sp>
      <p:sp>
        <p:nvSpPr>
          <p:cNvPr id="19" name="Answer slot"/>
          <p:cNvSpPr/>
          <p:nvPr/>
        </p:nvSpPr>
        <p:spPr>
          <a:xfrm>
            <a:off x="3749040" y="2743200"/>
            <a:ext cx="1508760" cy="731520"/>
          </a:xfrm>
          <a:prstGeom prst="roundRect">
            <a:avLst>
              <a:gd name="adj" fmla="val 15000"/>
            </a:avLst>
          </a:prstGeom>
          <a:solidFill>
            <a:schemeClr val="bg1"/>
          </a:solidFill>
          <a:ln w="19050">
            <a:solidFill>
              <a:schemeClr val="accent4"/>
            </a:solidFill>
            <a:prstDash val="dash"/>
          </a:ln>
        </p:spPr>
      </p:sp>
      <p:sp>
        <p:nvSpPr>
          <p:cNvPr id="20" name="Text 17"/>
          <p:cNvSpPr txBox="1"/>
          <p:nvPr/>
        </p:nvSpPr>
        <p:spPr>
          <a:xfrm>
            <a:off x="3749040" y="2743200"/>
            <a:ext cx="1508760" cy="73152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3</a:t>
            </a:r>
            <a:endParaRPr lang="en-US" sz="2200" dirty="0"/>
          </a:p>
        </p:txBody>
      </p:sp>
      <p:sp>
        <p:nvSpPr>
          <p:cNvPr id="21" name="Answer slot"/>
          <p:cNvSpPr/>
          <p:nvPr/>
        </p:nvSpPr>
        <p:spPr>
          <a:xfrm>
            <a:off x="5394960" y="2743200"/>
            <a:ext cx="1508760" cy="731520"/>
          </a:xfrm>
          <a:prstGeom prst="roundRect">
            <a:avLst>
              <a:gd name="adj" fmla="val 15000"/>
            </a:avLst>
          </a:prstGeom>
          <a:solidFill>
            <a:schemeClr val="bg1"/>
          </a:solidFill>
          <a:ln w="19050">
            <a:solidFill>
              <a:schemeClr val="accent4"/>
            </a:solidFill>
            <a:prstDash val="dash"/>
          </a:ln>
        </p:spPr>
      </p:sp>
      <p:sp>
        <p:nvSpPr>
          <p:cNvPr id="22" name="Text 19"/>
          <p:cNvSpPr txBox="1"/>
          <p:nvPr/>
        </p:nvSpPr>
        <p:spPr>
          <a:xfrm>
            <a:off x="5394960" y="2743200"/>
            <a:ext cx="1508760" cy="73152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4</a:t>
            </a:r>
            <a:endParaRPr lang="en-US" sz="2200" dirty="0"/>
          </a:p>
        </p:txBody>
      </p:sp>
      <p:sp>
        <p:nvSpPr>
          <p:cNvPr id="23" name="Answer slot"/>
          <p:cNvSpPr/>
          <p:nvPr/>
        </p:nvSpPr>
        <p:spPr>
          <a:xfrm>
            <a:off x="7040880" y="2743200"/>
            <a:ext cx="1508760" cy="731520"/>
          </a:xfrm>
          <a:prstGeom prst="roundRect">
            <a:avLst>
              <a:gd name="adj" fmla="val 15000"/>
            </a:avLst>
          </a:prstGeom>
          <a:solidFill>
            <a:schemeClr val="bg1"/>
          </a:solidFill>
          <a:ln w="19050">
            <a:solidFill>
              <a:schemeClr val="accent4"/>
            </a:solidFill>
            <a:prstDash val="dash"/>
          </a:ln>
        </p:spPr>
      </p:sp>
      <p:sp>
        <p:nvSpPr>
          <p:cNvPr id="24" name="Text 21"/>
          <p:cNvSpPr txBox="1"/>
          <p:nvPr/>
        </p:nvSpPr>
        <p:spPr>
          <a:xfrm>
            <a:off x="7040880" y="2743200"/>
            <a:ext cx="1508760" cy="731520"/>
          </a:xfrm>
          <a:prstGeom prst="rect">
            <a:avLst/>
          </a:prstGeom>
          <a:noFill/>
          <a:ln/>
        </p:spPr>
        <p:txBody>
          <a:bodyPr wrap="square" lIns="0" tIns="0" rIns="0" bIns="0" rtlCol="0" anchor="ctr"/>
          <a:lstStyle/>
          <a:p>
            <a:pPr marL="0" indent="0" algn="ctr">
              <a:buNone/>
            </a:pPr>
            <a:r>
              <a:rPr lang="en-US" sz="2200" b="1" dirty="0">
                <a:solidFill>
                  <a:schemeClr val="accent4"/>
                </a:solidFill>
                <a:latin typeface="+mj-lt" pitchFamily="34" charset="0"/>
                <a:ea typeface="+mj-lt" pitchFamily="34" charset="-122"/>
                <a:cs typeface="+mj-lt" pitchFamily="34" charset="-120"/>
              </a:rPr>
              <a:t>5</a:t>
            </a:r>
            <a:endParaRPr lang="en-US" sz="2200" dirty="0"/>
          </a:p>
        </p:txBody>
      </p:sp>
      <p:sp>
        <p:nvSpPr>
          <p:cNvPr id="25" name="Callout"/>
          <p:cNvSpPr/>
          <p:nvPr/>
        </p:nvSpPr>
        <p:spPr>
          <a:xfrm>
            <a:off x="457200" y="3886200"/>
            <a:ext cx="8229600" cy="457200"/>
          </a:xfrm>
          <a:prstGeom prst="roundRect">
            <a:avLst>
              <a:gd name="adj" fmla="val 24000"/>
            </a:avLst>
          </a:prstGeom>
          <a:solidFill>
            <a:schemeClr val="accent5"/>
          </a:solidFill>
          <a:ln w="9525">
            <a:solidFill>
              <a:schemeClr val="accent5"/>
            </a:solidFill>
            <a:prstDash val="solid"/>
          </a:ln>
        </p:spPr>
      </p:sp>
      <p:sp>
        <p:nvSpPr>
          <p:cNvPr id="26" name="Text 23"/>
          <p:cNvSpPr txBox="1"/>
          <p:nvPr/>
        </p:nvSpPr>
        <p:spPr>
          <a:xfrm>
            <a:off x="640080" y="388620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If the first letters match, look at the second letter</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ABC order</a:t>
            </a:r>
            <a:endParaRPr lang="en-US" sz="3000" dirty="0"/>
          </a:p>
        </p:txBody>
      </p:sp>
      <p:sp>
        <p:nvSpPr>
          <p:cNvPr id="4" name="Ordered word"/>
          <p:cNvSpPr/>
          <p:nvPr/>
        </p:nvSpPr>
        <p:spPr>
          <a:xfrm>
            <a:off x="457200" y="1371600"/>
            <a:ext cx="15087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960120" y="123444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960120" y="123444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457200" y="1645920"/>
            <a:ext cx="150876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artificial</a:t>
            </a:r>
            <a:endParaRPr lang="en-US" sz="1700" dirty="0"/>
          </a:p>
        </p:txBody>
      </p:sp>
      <p:sp>
        <p:nvSpPr>
          <p:cNvPr id="8" name="Ordered word"/>
          <p:cNvSpPr/>
          <p:nvPr/>
        </p:nvSpPr>
        <p:spPr>
          <a:xfrm>
            <a:off x="2103120" y="1371600"/>
            <a:ext cx="15087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2606040" y="1234440"/>
            <a:ext cx="457200" cy="457200"/>
          </a:xfrm>
          <a:prstGeom prst="ellipse">
            <a:avLst/>
          </a:prstGeom>
          <a:solidFill>
            <a:schemeClr val="accent2"/>
          </a:solidFill>
          <a:ln w="6350">
            <a:solidFill>
              <a:schemeClr val="accent2"/>
            </a:solidFill>
            <a:prstDash val="solid"/>
          </a:ln>
        </p:spPr>
      </p:sp>
      <p:sp>
        <p:nvSpPr>
          <p:cNvPr id="10" name="Text 7"/>
          <p:cNvSpPr txBox="1"/>
          <p:nvPr/>
        </p:nvSpPr>
        <p:spPr>
          <a:xfrm>
            <a:off x="2606040" y="123444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2103120" y="1645920"/>
            <a:ext cx="150876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astronaut</a:t>
            </a:r>
            <a:endParaRPr lang="en-US" sz="1700" dirty="0"/>
          </a:p>
        </p:txBody>
      </p:sp>
      <p:sp>
        <p:nvSpPr>
          <p:cNvPr id="12" name="Ordered word"/>
          <p:cNvSpPr/>
          <p:nvPr/>
        </p:nvSpPr>
        <p:spPr>
          <a:xfrm>
            <a:off x="3749040" y="1371600"/>
            <a:ext cx="15087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4251960" y="1234440"/>
            <a:ext cx="457200" cy="457200"/>
          </a:xfrm>
          <a:prstGeom prst="ellipse">
            <a:avLst/>
          </a:prstGeom>
          <a:solidFill>
            <a:schemeClr val="accent3"/>
          </a:solidFill>
          <a:ln w="6350">
            <a:solidFill>
              <a:schemeClr val="accent3"/>
            </a:solidFill>
            <a:prstDash val="solid"/>
          </a:ln>
        </p:spPr>
      </p:sp>
      <p:sp>
        <p:nvSpPr>
          <p:cNvPr id="14" name="Text 11"/>
          <p:cNvSpPr txBox="1"/>
          <p:nvPr/>
        </p:nvSpPr>
        <p:spPr>
          <a:xfrm>
            <a:off x="4251960" y="123444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3749040" y="1645920"/>
            <a:ext cx="150876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magnify</a:t>
            </a:r>
            <a:endParaRPr lang="en-US" sz="1700" dirty="0"/>
          </a:p>
        </p:txBody>
      </p:sp>
      <p:sp>
        <p:nvSpPr>
          <p:cNvPr id="16" name="Ordered word"/>
          <p:cNvSpPr/>
          <p:nvPr/>
        </p:nvSpPr>
        <p:spPr>
          <a:xfrm>
            <a:off x="5394960" y="1371600"/>
            <a:ext cx="15087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897880" y="1234440"/>
            <a:ext cx="457200" cy="457200"/>
          </a:xfrm>
          <a:prstGeom prst="ellipse">
            <a:avLst/>
          </a:prstGeom>
          <a:solidFill>
            <a:schemeClr val="accent4"/>
          </a:solidFill>
          <a:ln w="6350">
            <a:solidFill>
              <a:schemeClr val="accent4"/>
            </a:solidFill>
            <a:prstDash val="solid"/>
          </a:ln>
        </p:spPr>
      </p:sp>
      <p:sp>
        <p:nvSpPr>
          <p:cNvPr id="18" name="Text 15"/>
          <p:cNvSpPr txBox="1"/>
          <p:nvPr/>
        </p:nvSpPr>
        <p:spPr>
          <a:xfrm>
            <a:off x="5897880" y="12344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5394960" y="1645920"/>
            <a:ext cx="150876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observe</a:t>
            </a:r>
            <a:endParaRPr lang="en-US" sz="1700" dirty="0"/>
          </a:p>
        </p:txBody>
      </p:sp>
      <p:sp>
        <p:nvSpPr>
          <p:cNvPr id="20" name="Ordered word"/>
          <p:cNvSpPr/>
          <p:nvPr/>
        </p:nvSpPr>
        <p:spPr>
          <a:xfrm>
            <a:off x="7040880" y="1371600"/>
            <a:ext cx="150876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Badge"/>
          <p:cNvSpPr/>
          <p:nvPr/>
        </p:nvSpPr>
        <p:spPr>
          <a:xfrm>
            <a:off x="7543800" y="1234440"/>
            <a:ext cx="457200" cy="457200"/>
          </a:xfrm>
          <a:prstGeom prst="ellipse">
            <a:avLst/>
          </a:prstGeom>
          <a:solidFill>
            <a:schemeClr val="accent5"/>
          </a:solidFill>
          <a:ln w="6350">
            <a:solidFill>
              <a:schemeClr val="accent5"/>
            </a:solidFill>
            <a:prstDash val="solid"/>
          </a:ln>
        </p:spPr>
      </p:sp>
      <p:sp>
        <p:nvSpPr>
          <p:cNvPr id="22" name="Text 19"/>
          <p:cNvSpPr txBox="1"/>
          <p:nvPr/>
        </p:nvSpPr>
        <p:spPr>
          <a:xfrm>
            <a:off x="7543800" y="123444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7040880" y="1645920"/>
            <a:ext cx="1508760" cy="640080"/>
          </a:xfrm>
          <a:prstGeom prst="rect">
            <a:avLst/>
          </a:prstGeom>
          <a:noFill/>
          <a:ln/>
        </p:spPr>
        <p:txBody>
          <a:bodyPr wrap="square" lIns="0" tIns="0" rIns="0" bIns="0" rtlCol="0" anchor="ctr"/>
          <a:lstStyle/>
          <a:p>
            <a:pPr marL="0" indent="0" algn="ctr">
              <a:buNone/>
            </a:pPr>
            <a:r>
              <a:rPr lang="en-US" sz="1700" b="1" dirty="0">
                <a:solidFill>
                  <a:schemeClr val="tx1"/>
                </a:solidFill>
                <a:latin typeface="+mj-lt" pitchFamily="34" charset="0"/>
                <a:ea typeface="+mj-lt" pitchFamily="34" charset="-122"/>
                <a:cs typeface="+mj-lt" pitchFamily="34" charset="-120"/>
              </a:rPr>
              <a:t>orbit</a:t>
            </a:r>
            <a:endParaRPr lang="en-US" sz="1700" dirty="0"/>
          </a:p>
        </p:txBody>
      </p:sp>
      <p:sp>
        <p:nvSpPr>
          <p:cNvPr id="24" name="Explanation"/>
          <p:cNvSpPr/>
          <p:nvPr/>
        </p:nvSpPr>
        <p:spPr>
          <a:xfrm>
            <a:off x="457200" y="2743200"/>
            <a:ext cx="8229600" cy="1554480"/>
          </a:xfrm>
          <a:prstGeom prst="roundRect">
            <a:avLst>
              <a:gd name="adj" fmla="val 7059"/>
            </a:avLst>
          </a:prstGeom>
          <a:solidFill>
            <a:schemeClr val="accent4"/>
          </a:solidFill>
          <a:ln w="9525">
            <a:solidFill>
              <a:schemeClr val="accent4"/>
            </a:solidFill>
            <a:prstDash val="solid"/>
          </a:ln>
        </p:spPr>
      </p:sp>
      <p:sp>
        <p:nvSpPr>
          <p:cNvPr id="25" name="Text 22"/>
          <p:cNvSpPr txBox="1"/>
          <p:nvPr/>
        </p:nvSpPr>
        <p:spPr>
          <a:xfrm>
            <a:off x="731520" y="2743200"/>
            <a:ext cx="7680960" cy="1554480"/>
          </a:xfrm>
          <a:prstGeom prst="rect">
            <a:avLst/>
          </a:prstGeom>
          <a:noFill/>
          <a:ln/>
        </p:spPr>
        <p:txBody>
          <a:bodyPr wrap="square" lIns="0" tIns="0" rIns="0" bIns="0" rtlCol="0" anchor="ctr"/>
          <a:lstStyle/>
          <a:p>
            <a:pPr marL="0" indent="0">
              <a:spcAft>
                <a:spcPts val="1000"/>
              </a:spcAft>
              <a:buNone/>
            </a:pPr>
            <a:r>
              <a:rPr lang="en-US" sz="2000" b="1" dirty="0">
                <a:solidFill>
                  <a:schemeClr val="accent5"/>
                </a:solidFill>
              </a:rPr>
              <a:t>artificial</a:t>
            </a:r>
            <a:r>
              <a:rPr lang="en-US" sz="2000" dirty="0">
                <a:solidFill>
                  <a:schemeClr val="bg1"/>
                </a:solidFill>
              </a:rPr>
              <a:t> and </a:t>
            </a:r>
            <a:r>
              <a:rPr lang="en-US" sz="2000" b="1" dirty="0">
                <a:solidFill>
                  <a:schemeClr val="accent5"/>
                </a:solidFill>
              </a:rPr>
              <a:t>astronaut</a:t>
            </a:r>
            <a:r>
              <a:rPr lang="en-US" sz="2000" dirty="0">
                <a:solidFill>
                  <a:schemeClr val="bg1"/>
                </a:solidFill>
              </a:rPr>
              <a:t> both start with a: </a:t>
            </a:r>
            <a:r>
              <a:rPr lang="en-US" sz="2000" b="1" dirty="0">
                <a:solidFill>
                  <a:schemeClr val="accent5"/>
                </a:solidFill>
              </a:rPr>
              <a:t>r</a:t>
            </a:r>
            <a:r>
              <a:rPr lang="en-US" sz="2000" dirty="0">
                <a:solidFill>
                  <a:schemeClr val="bg1"/>
                </a:solidFill>
              </a:rPr>
              <a:t> comes before </a:t>
            </a:r>
            <a:r>
              <a:rPr lang="en-US" sz="2000" b="1" dirty="0">
                <a:solidFill>
                  <a:schemeClr val="accent5"/>
                </a:solidFill>
              </a:rPr>
              <a:t>s</a:t>
            </a:r>
            <a:r>
              <a:rPr lang="en-US" sz="2000" dirty="0">
                <a:solidFill>
                  <a:schemeClr val="bg1"/>
                </a:solidFill>
              </a:rPr>
              <a:t>.</a:t>
            </a:r>
            <a:endParaRPr lang="en-US" sz="2000" dirty="0"/>
          </a:p>
          <a:p>
            <a:pPr marL="0" indent="0">
              <a:spcAft>
                <a:spcPts val="1000"/>
              </a:spcAft>
              <a:buNone/>
            </a:pPr>
            <a:r>
              <a:rPr lang="en-US" sz="2000" b="1" dirty="0">
                <a:solidFill>
                  <a:schemeClr val="accent5"/>
                </a:solidFill>
              </a:rPr>
              <a:t>observe</a:t>
            </a:r>
            <a:r>
              <a:rPr lang="en-US" sz="2000" dirty="0">
                <a:solidFill>
                  <a:schemeClr val="bg1"/>
                </a:solidFill>
              </a:rPr>
              <a:t> and </a:t>
            </a:r>
            <a:r>
              <a:rPr lang="en-US" sz="2000" b="1" dirty="0">
                <a:solidFill>
                  <a:schemeClr val="accent5"/>
                </a:solidFill>
              </a:rPr>
              <a:t>orbit</a:t>
            </a:r>
            <a:r>
              <a:rPr lang="en-US" sz="2000" dirty="0">
                <a:solidFill>
                  <a:schemeClr val="bg1"/>
                </a:solidFill>
              </a:rPr>
              <a:t> both start with o: </a:t>
            </a:r>
            <a:r>
              <a:rPr lang="en-US" sz="2000" b="1" dirty="0">
                <a:solidFill>
                  <a:schemeClr val="accent5"/>
                </a:solidFill>
              </a:rPr>
              <a:t>b</a:t>
            </a:r>
            <a:r>
              <a:rPr lang="en-US" sz="2000" dirty="0">
                <a:solidFill>
                  <a:schemeClr val="bg1"/>
                </a:solidFill>
              </a:rPr>
              <a:t> comes before </a:t>
            </a:r>
            <a:r>
              <a:rPr lang="en-US" sz="2000" b="1" dirty="0">
                <a:solidFill>
                  <a:schemeClr val="accent5"/>
                </a:solidFill>
              </a:rPr>
              <a:t>r</a:t>
            </a:r>
            <a:r>
              <a:rPr lang="en-US" sz="2000" dirty="0">
                <a:solidFill>
                  <a:schemeClr val="bg1"/>
                </a:solidFill>
              </a:rPr>
              <a:t>.</a:t>
            </a:r>
            <a:endParaRPr lang="en-US" sz="20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Using a thesaurus</a:t>
            </a:r>
            <a:endParaRPr lang="en-US" sz="3000" dirty="0"/>
          </a:p>
        </p:txBody>
      </p:sp>
      <p:sp>
        <p:nvSpPr>
          <p:cNvPr id="4" name="Step 1"/>
          <p:cNvSpPr/>
          <p:nvPr/>
        </p:nvSpPr>
        <p:spPr>
          <a:xfrm>
            <a:off x="457200" y="1097280"/>
            <a:ext cx="47548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2588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640080" y="132588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325880" y="1188720"/>
            <a:ext cx="3749040" cy="365760"/>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Look up the word</a:t>
            </a:r>
            <a:endParaRPr lang="en-US" sz="1700" dirty="0"/>
          </a:p>
        </p:txBody>
      </p:sp>
      <p:sp>
        <p:nvSpPr>
          <p:cNvPr id="8" name="Text 5"/>
          <p:cNvSpPr txBox="1"/>
          <p:nvPr/>
        </p:nvSpPr>
        <p:spPr>
          <a:xfrm>
            <a:off x="1325880" y="1554480"/>
            <a:ext cx="3749040" cy="411480"/>
          </a:xfrm>
          <a:prstGeom prst="rect">
            <a:avLst/>
          </a:prstGeom>
          <a:noFill/>
          <a:ln/>
        </p:spPr>
        <p:txBody>
          <a:bodyPr wrap="square" lIns="0" tIns="0" rIns="0" bIns="0" rtlCol="0" anchor="t"/>
          <a:lstStyle/>
          <a:p>
            <a:pPr marL="0" indent="0">
              <a:buNone/>
            </a:pPr>
            <a:r>
              <a:rPr lang="en-US" sz="1400" dirty="0">
                <a:solidFill>
                  <a:schemeClr val="tx1"/>
                </a:solidFill>
              </a:rPr>
              <a:t>A thesaurus is in ABC order, like a dictionary.</a:t>
            </a:r>
            <a:endParaRPr lang="en-US" sz="1400" dirty="0"/>
          </a:p>
        </p:txBody>
      </p:sp>
      <p:sp>
        <p:nvSpPr>
          <p:cNvPr id="9" name="Step 2"/>
          <p:cNvSpPr/>
          <p:nvPr/>
        </p:nvSpPr>
        <p:spPr>
          <a:xfrm>
            <a:off x="457200" y="2148840"/>
            <a:ext cx="47548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640080" y="2377440"/>
            <a:ext cx="457200" cy="457200"/>
          </a:xfrm>
          <a:prstGeom prst="ellipse">
            <a:avLst/>
          </a:prstGeom>
          <a:solidFill>
            <a:schemeClr val="accent2"/>
          </a:solidFill>
          <a:ln w="6350">
            <a:solidFill>
              <a:schemeClr val="accent2"/>
            </a:solidFill>
            <a:prstDash val="solid"/>
          </a:ln>
        </p:spPr>
      </p:sp>
      <p:sp>
        <p:nvSpPr>
          <p:cNvPr id="11" name="Text 8"/>
          <p:cNvSpPr txBox="1"/>
          <p:nvPr/>
        </p:nvSpPr>
        <p:spPr>
          <a:xfrm>
            <a:off x="640080" y="237744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325880" y="2240280"/>
            <a:ext cx="3749040" cy="365760"/>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Read the synonyms</a:t>
            </a:r>
            <a:endParaRPr lang="en-US" sz="1700" dirty="0"/>
          </a:p>
        </p:txBody>
      </p:sp>
      <p:sp>
        <p:nvSpPr>
          <p:cNvPr id="13" name="Text 10"/>
          <p:cNvSpPr txBox="1"/>
          <p:nvPr/>
        </p:nvSpPr>
        <p:spPr>
          <a:xfrm>
            <a:off x="1325880" y="2606040"/>
            <a:ext cx="3749040" cy="411480"/>
          </a:xfrm>
          <a:prstGeom prst="rect">
            <a:avLst/>
          </a:prstGeom>
          <a:noFill/>
          <a:ln/>
        </p:spPr>
        <p:txBody>
          <a:bodyPr wrap="square" lIns="0" tIns="0" rIns="0" bIns="0" rtlCol="0" anchor="t"/>
          <a:lstStyle/>
          <a:p>
            <a:pPr marL="0" indent="0">
              <a:buNone/>
            </a:pPr>
            <a:r>
              <a:rPr lang="en-US" sz="1400" dirty="0">
                <a:solidFill>
                  <a:schemeClr val="tx1"/>
                </a:solidFill>
              </a:rPr>
              <a:t>Synonyms are words with a similar meaning.</a:t>
            </a:r>
            <a:endParaRPr lang="en-US" sz="1400" dirty="0"/>
          </a:p>
        </p:txBody>
      </p:sp>
      <p:sp>
        <p:nvSpPr>
          <p:cNvPr id="14" name="Step 3"/>
          <p:cNvSpPr/>
          <p:nvPr/>
        </p:nvSpPr>
        <p:spPr>
          <a:xfrm>
            <a:off x="457200" y="3200400"/>
            <a:ext cx="47548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640080" y="3429000"/>
            <a:ext cx="457200" cy="457200"/>
          </a:xfrm>
          <a:prstGeom prst="ellipse">
            <a:avLst/>
          </a:prstGeom>
          <a:solidFill>
            <a:schemeClr val="accent3"/>
          </a:solidFill>
          <a:ln w="6350">
            <a:solidFill>
              <a:schemeClr val="accent3"/>
            </a:solidFill>
            <a:prstDash val="solid"/>
          </a:ln>
        </p:spPr>
      </p:sp>
      <p:sp>
        <p:nvSpPr>
          <p:cNvPr id="16" name="Text 13"/>
          <p:cNvSpPr txBox="1"/>
          <p:nvPr/>
        </p:nvSpPr>
        <p:spPr>
          <a:xfrm>
            <a:off x="640080" y="342900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325880" y="3291840"/>
            <a:ext cx="3749040" cy="365760"/>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Choose and check</a:t>
            </a:r>
            <a:endParaRPr lang="en-US" sz="1700" dirty="0"/>
          </a:p>
        </p:txBody>
      </p:sp>
      <p:sp>
        <p:nvSpPr>
          <p:cNvPr id="18" name="Text 15"/>
          <p:cNvSpPr txBox="1"/>
          <p:nvPr/>
        </p:nvSpPr>
        <p:spPr>
          <a:xfrm>
            <a:off x="1325880" y="3657600"/>
            <a:ext cx="3749040" cy="411480"/>
          </a:xfrm>
          <a:prstGeom prst="rect">
            <a:avLst/>
          </a:prstGeom>
          <a:noFill/>
          <a:ln/>
        </p:spPr>
        <p:txBody>
          <a:bodyPr wrap="square" lIns="0" tIns="0" rIns="0" bIns="0" rtlCol="0" anchor="t"/>
          <a:lstStyle/>
          <a:p>
            <a:pPr marL="0" indent="0">
              <a:buNone/>
            </a:pPr>
            <a:r>
              <a:rPr lang="en-US" sz="1400" dirty="0">
                <a:solidFill>
                  <a:schemeClr val="tx1"/>
                </a:solidFill>
              </a:rPr>
              <a:t>Pick the best fit. Does the sentence still make sense?</a:t>
            </a:r>
            <a:endParaRPr lang="en-US" sz="1400" dirty="0"/>
          </a:p>
        </p:txBody>
      </p:sp>
      <p:sp>
        <p:nvSpPr>
          <p:cNvPr id="19" name="Model card"/>
          <p:cNvSpPr/>
          <p:nvPr/>
        </p:nvSpPr>
        <p:spPr>
          <a:xfrm>
            <a:off x="5394960" y="1097280"/>
            <a:ext cx="3291840" cy="3063240"/>
          </a:xfrm>
          <a:prstGeom prst="roundRect">
            <a:avLst>
              <a:gd name="adj" fmla="val 3582"/>
            </a:avLst>
          </a:prstGeom>
          <a:solidFill>
            <a:schemeClr val="accent4"/>
          </a:solidFill>
          <a:ln w="9525">
            <a:solidFill>
              <a:schemeClr val="accent4"/>
            </a:solidFill>
            <a:prstDash val="solid"/>
          </a:ln>
          <a:effectLst>
            <a:outerShdw blurRad="76200" dist="25400" dir="5400000" algn="bl" rotWithShape="0">
              <a:srgbClr val="0E1537">
                <a:alpha val="14000"/>
              </a:srgbClr>
            </a:outerShdw>
          </a:effectLst>
        </p:spPr>
      </p:sp>
      <p:sp>
        <p:nvSpPr>
          <p:cNvPr id="20" name="Text 17"/>
          <p:cNvSpPr txBox="1"/>
          <p:nvPr/>
        </p:nvSpPr>
        <p:spPr>
          <a:xfrm>
            <a:off x="5623560" y="1234440"/>
            <a:ext cx="2834640" cy="274320"/>
          </a:xfrm>
          <a:prstGeom prst="rect">
            <a:avLst/>
          </a:prstGeom>
          <a:noFill/>
          <a:ln/>
        </p:spPr>
        <p:txBody>
          <a:bodyPr wrap="square" lIns="0" tIns="0" rIns="0" bIns="0" rtlCol="0" anchor="ctr"/>
          <a:lstStyle/>
          <a:p>
            <a:pPr marL="0" indent="0">
              <a:buNone/>
            </a:pPr>
            <a:r>
              <a:rPr lang="en-US" sz="1200" b="1" dirty="0">
                <a:solidFill>
                  <a:schemeClr val="accent5"/>
                </a:solidFill>
              </a:rPr>
              <a:t>MODEL</a:t>
            </a:r>
            <a:endParaRPr lang="en-US" sz="1200" dirty="0"/>
          </a:p>
        </p:txBody>
      </p:sp>
      <p:sp>
        <p:nvSpPr>
          <p:cNvPr id="21" name="Text 18"/>
          <p:cNvSpPr txBox="1"/>
          <p:nvPr/>
        </p:nvSpPr>
        <p:spPr>
          <a:xfrm>
            <a:off x="5623560" y="1554480"/>
            <a:ext cx="2834640" cy="548640"/>
          </a:xfrm>
          <a:prstGeom prst="rect">
            <a:avLst/>
          </a:prstGeom>
          <a:noFill/>
          <a:ln/>
        </p:spPr>
        <p:txBody>
          <a:bodyPr wrap="square" lIns="0" tIns="0" rIns="0" bIns="0" rtlCol="0" anchor="ctr"/>
          <a:lstStyle/>
          <a:p>
            <a:pPr marL="0" indent="0">
              <a:buNone/>
            </a:pPr>
            <a:r>
              <a:rPr lang="en-US" sz="3000" b="1" dirty="0">
                <a:solidFill>
                  <a:schemeClr val="bg1"/>
                </a:solidFill>
                <a:latin typeface="+mj-lt" pitchFamily="34" charset="0"/>
                <a:ea typeface="+mj-lt" pitchFamily="34" charset="-122"/>
                <a:cs typeface="+mj-lt" pitchFamily="34" charset="-120"/>
              </a:rPr>
              <a:t>observe</a:t>
            </a:r>
            <a:endParaRPr lang="en-US" sz="3000" dirty="0"/>
          </a:p>
        </p:txBody>
      </p:sp>
      <p:sp>
        <p:nvSpPr>
          <p:cNvPr id="22" name="Text 19"/>
          <p:cNvSpPr txBox="1"/>
          <p:nvPr/>
        </p:nvSpPr>
        <p:spPr>
          <a:xfrm>
            <a:off x="5623560" y="2148840"/>
            <a:ext cx="2834640" cy="640080"/>
          </a:xfrm>
          <a:prstGeom prst="rect">
            <a:avLst/>
          </a:prstGeom>
          <a:noFill/>
          <a:ln/>
        </p:spPr>
        <p:txBody>
          <a:bodyPr wrap="square" lIns="0" tIns="0" rIns="0" bIns="0" rtlCol="0" anchor="ctr"/>
          <a:lstStyle/>
          <a:p>
            <a:pPr marL="0" indent="0">
              <a:buNone/>
            </a:pPr>
            <a:r>
              <a:rPr lang="en-US" sz="1700" b="1" dirty="0">
                <a:solidFill>
                  <a:schemeClr val="accent5"/>
                </a:solidFill>
              </a:rPr>
              <a:t>watch · notice · study · spot</a:t>
            </a:r>
            <a:endParaRPr lang="en-US" sz="1700" dirty="0"/>
          </a:p>
        </p:txBody>
      </p:sp>
      <p:sp>
        <p:nvSpPr>
          <p:cNvPr id="23" name="Text 20"/>
          <p:cNvSpPr txBox="1"/>
          <p:nvPr/>
        </p:nvSpPr>
        <p:spPr>
          <a:xfrm>
            <a:off x="5623560" y="2880360"/>
            <a:ext cx="2834640" cy="548640"/>
          </a:xfrm>
          <a:prstGeom prst="rect">
            <a:avLst/>
          </a:prstGeom>
          <a:noFill/>
          <a:ln/>
        </p:spPr>
        <p:txBody>
          <a:bodyPr wrap="square" lIns="0" tIns="0" rIns="0" bIns="0" rtlCol="0" anchor="t"/>
          <a:lstStyle/>
          <a:p>
            <a:pPr marL="0" indent="0">
              <a:buNone/>
            </a:pPr>
            <a:r>
              <a:rPr lang="en-US" sz="1400" i="1" dirty="0">
                <a:solidFill>
                  <a:schemeClr val="bg1"/>
                </a:solidFill>
              </a:rPr>
              <a:t>“Early astronomers observed the stars.”</a:t>
            </a:r>
            <a:endParaRPr lang="en-US" sz="1400" dirty="0"/>
          </a:p>
        </p:txBody>
      </p:sp>
      <p:sp>
        <p:nvSpPr>
          <p:cNvPr id="24" name="Text 21"/>
          <p:cNvSpPr txBox="1"/>
          <p:nvPr/>
        </p:nvSpPr>
        <p:spPr>
          <a:xfrm>
            <a:off x="5623560" y="3474720"/>
            <a:ext cx="2834640" cy="548640"/>
          </a:xfrm>
          <a:prstGeom prst="rect">
            <a:avLst/>
          </a:prstGeom>
          <a:noFill/>
          <a:ln/>
        </p:spPr>
        <p:txBody>
          <a:bodyPr wrap="square" lIns="0" tIns="0" rIns="0" bIns="0" rtlCol="0" anchor="t"/>
          <a:lstStyle/>
          <a:p>
            <a:pPr marL="0" indent="0">
              <a:buNone/>
            </a:pPr>
            <a:r>
              <a:rPr lang="en-US" sz="1400" b="1" dirty="0">
                <a:solidFill>
                  <a:schemeClr val="accent5"/>
                </a:solidFill>
              </a:rPr>
              <a:t>→ “Early astronomers watched the stars.” ✔</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Synonym bank: activity words</a:t>
            </a:r>
            <a:endParaRPr lang="en-US" sz="3000" dirty="0"/>
          </a:p>
        </p:txBody>
      </p:sp>
      <p:sp>
        <p:nvSpPr>
          <p:cNvPr id="4" name="Synonym row artificial"/>
          <p:cNvSpPr/>
          <p:nvPr/>
        </p:nvSpPr>
        <p:spPr>
          <a:xfrm>
            <a:off x="457200" y="10972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tag"/>
          <p:cNvSpPr/>
          <p:nvPr/>
        </p:nvSpPr>
        <p:spPr>
          <a:xfrm>
            <a:off x="548640" y="1170432"/>
            <a:ext cx="1920240" cy="402336"/>
          </a:xfrm>
          <a:prstGeom prst="roundRect">
            <a:avLst>
              <a:gd name="adj" fmla="val 22727"/>
            </a:avLst>
          </a:prstGeom>
          <a:solidFill>
            <a:schemeClr val="accent1"/>
          </a:solidFill>
          <a:ln w="6350">
            <a:solidFill>
              <a:schemeClr val="accent1"/>
            </a:solidFill>
            <a:prstDash val="solid"/>
          </a:ln>
        </p:spPr>
      </p:sp>
      <p:sp>
        <p:nvSpPr>
          <p:cNvPr id="6" name="Text 3"/>
          <p:cNvSpPr txBox="1"/>
          <p:nvPr/>
        </p:nvSpPr>
        <p:spPr>
          <a:xfrm>
            <a:off x="548640" y="1170432"/>
            <a:ext cx="1920240" cy="402336"/>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artificial</a:t>
            </a:r>
            <a:endParaRPr lang="en-US" sz="1600" dirty="0"/>
          </a:p>
        </p:txBody>
      </p:sp>
      <p:sp>
        <p:nvSpPr>
          <p:cNvPr id="7" name="Text 4"/>
          <p:cNvSpPr txBox="1"/>
          <p:nvPr/>
        </p:nvSpPr>
        <p:spPr>
          <a:xfrm>
            <a:off x="2697480" y="1097280"/>
            <a:ext cx="5852160" cy="548640"/>
          </a:xfrm>
          <a:prstGeom prst="rect">
            <a:avLst/>
          </a:prstGeom>
          <a:noFill/>
          <a:ln/>
        </p:spPr>
        <p:txBody>
          <a:bodyPr wrap="square" lIns="0" tIns="0" rIns="0" bIns="0" rtlCol="0" anchor="ctr"/>
          <a:lstStyle/>
          <a:p>
            <a:pPr marL="0" indent="0">
              <a:buNone/>
            </a:pPr>
            <a:r>
              <a:rPr lang="en-US" sz="1600" dirty="0">
                <a:solidFill>
                  <a:schemeClr val="tx1"/>
                </a:solidFill>
              </a:rPr>
              <a:t>man-made · synthetic · manufactured</a:t>
            </a:r>
            <a:endParaRPr lang="en-US" sz="1600" dirty="0"/>
          </a:p>
        </p:txBody>
      </p:sp>
      <p:sp>
        <p:nvSpPr>
          <p:cNvPr id="8" name="Synonym row astronaut"/>
          <p:cNvSpPr/>
          <p:nvPr/>
        </p:nvSpPr>
        <p:spPr>
          <a:xfrm>
            <a:off x="457200" y="17373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Word tag"/>
          <p:cNvSpPr/>
          <p:nvPr/>
        </p:nvSpPr>
        <p:spPr>
          <a:xfrm>
            <a:off x="548640" y="1810512"/>
            <a:ext cx="1920240" cy="402336"/>
          </a:xfrm>
          <a:prstGeom prst="roundRect">
            <a:avLst>
              <a:gd name="adj" fmla="val 22727"/>
            </a:avLst>
          </a:prstGeom>
          <a:solidFill>
            <a:schemeClr val="accent2"/>
          </a:solidFill>
          <a:ln w="6350">
            <a:solidFill>
              <a:schemeClr val="accent2"/>
            </a:solidFill>
            <a:prstDash val="solid"/>
          </a:ln>
        </p:spPr>
      </p:sp>
      <p:sp>
        <p:nvSpPr>
          <p:cNvPr id="10" name="Text 7"/>
          <p:cNvSpPr txBox="1"/>
          <p:nvPr/>
        </p:nvSpPr>
        <p:spPr>
          <a:xfrm>
            <a:off x="548640" y="1810512"/>
            <a:ext cx="1920240" cy="402336"/>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astronaut</a:t>
            </a:r>
            <a:endParaRPr lang="en-US" sz="1600" dirty="0"/>
          </a:p>
        </p:txBody>
      </p:sp>
      <p:sp>
        <p:nvSpPr>
          <p:cNvPr id="11" name="Text 8"/>
          <p:cNvSpPr txBox="1"/>
          <p:nvPr/>
        </p:nvSpPr>
        <p:spPr>
          <a:xfrm>
            <a:off x="2697480" y="1737360"/>
            <a:ext cx="5852160" cy="548640"/>
          </a:xfrm>
          <a:prstGeom prst="rect">
            <a:avLst/>
          </a:prstGeom>
          <a:noFill/>
          <a:ln/>
        </p:spPr>
        <p:txBody>
          <a:bodyPr wrap="square" lIns="0" tIns="0" rIns="0" bIns="0" rtlCol="0" anchor="ctr"/>
          <a:lstStyle/>
          <a:p>
            <a:pPr marL="0" indent="0">
              <a:buNone/>
            </a:pPr>
            <a:r>
              <a:rPr lang="en-US" sz="1600" dirty="0">
                <a:solidFill>
                  <a:schemeClr val="tx1"/>
                </a:solidFill>
              </a:rPr>
              <a:t>space traveller · spaceman · spacewoman</a:t>
            </a:r>
            <a:endParaRPr lang="en-US" sz="1600" dirty="0"/>
          </a:p>
        </p:txBody>
      </p:sp>
      <p:sp>
        <p:nvSpPr>
          <p:cNvPr id="12" name="Synonym row magnify"/>
          <p:cNvSpPr/>
          <p:nvPr/>
        </p:nvSpPr>
        <p:spPr>
          <a:xfrm>
            <a:off x="457200" y="237744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Word tag"/>
          <p:cNvSpPr/>
          <p:nvPr/>
        </p:nvSpPr>
        <p:spPr>
          <a:xfrm>
            <a:off x="548640" y="2450592"/>
            <a:ext cx="1920240" cy="402336"/>
          </a:xfrm>
          <a:prstGeom prst="roundRect">
            <a:avLst>
              <a:gd name="adj" fmla="val 22727"/>
            </a:avLst>
          </a:prstGeom>
          <a:solidFill>
            <a:schemeClr val="accent3"/>
          </a:solidFill>
          <a:ln w="6350">
            <a:solidFill>
              <a:schemeClr val="accent3"/>
            </a:solidFill>
            <a:prstDash val="solid"/>
          </a:ln>
        </p:spPr>
      </p:sp>
      <p:sp>
        <p:nvSpPr>
          <p:cNvPr id="14" name="Text 11"/>
          <p:cNvSpPr txBox="1"/>
          <p:nvPr/>
        </p:nvSpPr>
        <p:spPr>
          <a:xfrm>
            <a:off x="548640" y="2450592"/>
            <a:ext cx="1920240" cy="402336"/>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magnify</a:t>
            </a:r>
            <a:endParaRPr lang="en-US" sz="1600" dirty="0"/>
          </a:p>
        </p:txBody>
      </p:sp>
      <p:sp>
        <p:nvSpPr>
          <p:cNvPr id="15" name="Text 12"/>
          <p:cNvSpPr txBox="1"/>
          <p:nvPr/>
        </p:nvSpPr>
        <p:spPr>
          <a:xfrm>
            <a:off x="2697480" y="2377440"/>
            <a:ext cx="5852160" cy="548640"/>
          </a:xfrm>
          <a:prstGeom prst="rect">
            <a:avLst/>
          </a:prstGeom>
          <a:noFill/>
          <a:ln/>
        </p:spPr>
        <p:txBody>
          <a:bodyPr wrap="square" lIns="0" tIns="0" rIns="0" bIns="0" rtlCol="0" anchor="ctr"/>
          <a:lstStyle/>
          <a:p>
            <a:pPr marL="0" indent="0">
              <a:buNone/>
            </a:pPr>
            <a:r>
              <a:rPr lang="en-US" sz="1600" dirty="0">
                <a:solidFill>
                  <a:schemeClr val="tx1"/>
                </a:solidFill>
              </a:rPr>
              <a:t>enlarge · enhance · amplify · blow up</a:t>
            </a:r>
            <a:endParaRPr lang="en-US" sz="1600" dirty="0"/>
          </a:p>
        </p:txBody>
      </p:sp>
      <p:sp>
        <p:nvSpPr>
          <p:cNvPr id="16" name="Synonym row observe"/>
          <p:cNvSpPr/>
          <p:nvPr/>
        </p:nvSpPr>
        <p:spPr>
          <a:xfrm>
            <a:off x="457200" y="301752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Word tag"/>
          <p:cNvSpPr/>
          <p:nvPr/>
        </p:nvSpPr>
        <p:spPr>
          <a:xfrm>
            <a:off x="548640" y="3090672"/>
            <a:ext cx="1920240" cy="402336"/>
          </a:xfrm>
          <a:prstGeom prst="roundRect">
            <a:avLst>
              <a:gd name="adj" fmla="val 22727"/>
            </a:avLst>
          </a:prstGeom>
          <a:solidFill>
            <a:schemeClr val="accent4"/>
          </a:solidFill>
          <a:ln w="6350">
            <a:solidFill>
              <a:schemeClr val="accent4"/>
            </a:solidFill>
            <a:prstDash val="solid"/>
          </a:ln>
        </p:spPr>
      </p:sp>
      <p:sp>
        <p:nvSpPr>
          <p:cNvPr id="18" name="Text 15"/>
          <p:cNvSpPr txBox="1"/>
          <p:nvPr/>
        </p:nvSpPr>
        <p:spPr>
          <a:xfrm>
            <a:off x="548640" y="3090672"/>
            <a:ext cx="1920240" cy="402336"/>
          </a:xfrm>
          <a:prstGeom prst="rect">
            <a:avLst/>
          </a:prstGeom>
          <a:no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observe</a:t>
            </a:r>
            <a:endParaRPr lang="en-US" sz="1600" dirty="0"/>
          </a:p>
        </p:txBody>
      </p:sp>
      <p:sp>
        <p:nvSpPr>
          <p:cNvPr id="19" name="Text 16"/>
          <p:cNvSpPr txBox="1"/>
          <p:nvPr/>
        </p:nvSpPr>
        <p:spPr>
          <a:xfrm>
            <a:off x="2697480" y="3017520"/>
            <a:ext cx="5852160" cy="548640"/>
          </a:xfrm>
          <a:prstGeom prst="rect">
            <a:avLst/>
          </a:prstGeom>
          <a:noFill/>
          <a:ln/>
        </p:spPr>
        <p:txBody>
          <a:bodyPr wrap="square" lIns="0" tIns="0" rIns="0" bIns="0" rtlCol="0" anchor="ctr"/>
          <a:lstStyle/>
          <a:p>
            <a:pPr marL="0" indent="0">
              <a:buNone/>
            </a:pPr>
            <a:r>
              <a:rPr lang="en-US" sz="1600" dirty="0">
                <a:solidFill>
                  <a:schemeClr val="tx1"/>
                </a:solidFill>
              </a:rPr>
              <a:t>watch · notice · study · spot</a:t>
            </a:r>
            <a:endParaRPr lang="en-US" sz="1600" dirty="0"/>
          </a:p>
        </p:txBody>
      </p:sp>
      <p:sp>
        <p:nvSpPr>
          <p:cNvPr id="20" name="Synonym row orbit"/>
          <p:cNvSpPr/>
          <p:nvPr/>
        </p:nvSpPr>
        <p:spPr>
          <a:xfrm>
            <a:off x="457200" y="3657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Word tag"/>
          <p:cNvSpPr/>
          <p:nvPr/>
        </p:nvSpPr>
        <p:spPr>
          <a:xfrm>
            <a:off x="548640" y="3730752"/>
            <a:ext cx="1920240" cy="402336"/>
          </a:xfrm>
          <a:prstGeom prst="roundRect">
            <a:avLst>
              <a:gd name="adj" fmla="val 22727"/>
            </a:avLst>
          </a:prstGeom>
          <a:solidFill>
            <a:schemeClr val="accent5"/>
          </a:solidFill>
          <a:ln w="6350">
            <a:solidFill>
              <a:schemeClr val="accent5"/>
            </a:solidFill>
            <a:prstDash val="solid"/>
          </a:ln>
        </p:spPr>
      </p:sp>
      <p:sp>
        <p:nvSpPr>
          <p:cNvPr id="22" name="Text 19"/>
          <p:cNvSpPr txBox="1"/>
          <p:nvPr/>
        </p:nvSpPr>
        <p:spPr>
          <a:xfrm>
            <a:off x="548640" y="3730752"/>
            <a:ext cx="1920240" cy="402336"/>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orbit</a:t>
            </a:r>
            <a:endParaRPr lang="en-US" sz="1600" dirty="0"/>
          </a:p>
        </p:txBody>
      </p:sp>
      <p:sp>
        <p:nvSpPr>
          <p:cNvPr id="23" name="Text 20"/>
          <p:cNvSpPr txBox="1"/>
          <p:nvPr/>
        </p:nvSpPr>
        <p:spPr>
          <a:xfrm>
            <a:off x="2697480" y="3657600"/>
            <a:ext cx="5852160" cy="548640"/>
          </a:xfrm>
          <a:prstGeom prst="rect">
            <a:avLst/>
          </a:prstGeom>
          <a:noFill/>
          <a:ln/>
        </p:spPr>
        <p:txBody>
          <a:bodyPr wrap="square" lIns="0" tIns="0" rIns="0" bIns="0" rtlCol="0" anchor="ctr"/>
          <a:lstStyle/>
          <a:p>
            <a:pPr marL="0" indent="0">
              <a:buNone/>
            </a:pPr>
            <a:r>
              <a:rPr lang="en-US" sz="1600" dirty="0">
                <a:solidFill>
                  <a:schemeClr val="tx1"/>
                </a:solidFill>
              </a:rPr>
              <a:t>circle · revolve · travel around</a:t>
            </a:r>
            <a:endParaRPr lang="en-US" sz="1600" dirty="0"/>
          </a:p>
        </p:txBody>
      </p:sp>
      <p:sp>
        <p:nvSpPr>
          <p:cNvPr id="24" name="Text 21"/>
          <p:cNvSpPr txBox="1"/>
          <p:nvPr/>
        </p:nvSpPr>
        <p:spPr>
          <a:xfrm>
            <a:off x="457200" y="4343400"/>
            <a:ext cx="8229600" cy="320040"/>
          </a:xfrm>
          <a:prstGeom prst="rect">
            <a:avLst/>
          </a:prstGeom>
          <a:noFill/>
          <a:ln/>
        </p:spPr>
        <p:txBody>
          <a:bodyPr wrap="square" lIns="0" tIns="0" rIns="0" bIns="0" rtlCol="0" anchor="ctr"/>
          <a:lstStyle/>
          <a:p>
            <a:pPr marL="0" indent="0" algn="ctr">
              <a:buNone/>
            </a:pPr>
            <a:r>
              <a:rPr lang="en-US" sz="1400" i="1" dirty="0">
                <a:solidFill>
                  <a:schemeClr val="tx2"/>
                </a:solidFill>
              </a:rPr>
              <a:t>Your thesaurus may show more. Add them to your log!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Synonym bank: glossary words</a:t>
            </a:r>
            <a:endParaRPr lang="en-US" sz="3000" dirty="0"/>
          </a:p>
        </p:txBody>
      </p:sp>
      <p:sp>
        <p:nvSpPr>
          <p:cNvPr id="4" name="Synonym row catalogue"/>
          <p:cNvSpPr/>
          <p:nvPr/>
        </p:nvSpPr>
        <p:spPr>
          <a:xfrm>
            <a:off x="457200" y="1051560"/>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tag"/>
          <p:cNvSpPr/>
          <p:nvPr/>
        </p:nvSpPr>
        <p:spPr>
          <a:xfrm>
            <a:off x="548640" y="1106424"/>
            <a:ext cx="1920240" cy="393192"/>
          </a:xfrm>
          <a:prstGeom prst="roundRect">
            <a:avLst>
              <a:gd name="adj" fmla="val 23256"/>
            </a:avLst>
          </a:prstGeom>
          <a:solidFill>
            <a:schemeClr val="accent1"/>
          </a:solidFill>
          <a:ln w="6350">
            <a:solidFill>
              <a:schemeClr val="accent1"/>
            </a:solidFill>
            <a:prstDash val="solid"/>
          </a:ln>
        </p:spPr>
      </p:sp>
      <p:sp>
        <p:nvSpPr>
          <p:cNvPr id="6" name="Text 3"/>
          <p:cNvSpPr txBox="1"/>
          <p:nvPr/>
        </p:nvSpPr>
        <p:spPr>
          <a:xfrm>
            <a:off x="548640" y="1106424"/>
            <a:ext cx="1920240" cy="393192"/>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catalogue</a:t>
            </a:r>
            <a:endParaRPr lang="en-US" sz="1600" dirty="0"/>
          </a:p>
        </p:txBody>
      </p:sp>
      <p:sp>
        <p:nvSpPr>
          <p:cNvPr id="7" name="Text 4"/>
          <p:cNvSpPr txBox="1"/>
          <p:nvPr/>
        </p:nvSpPr>
        <p:spPr>
          <a:xfrm>
            <a:off x="2697480" y="1051560"/>
            <a:ext cx="5852160" cy="502920"/>
          </a:xfrm>
          <a:prstGeom prst="rect">
            <a:avLst/>
          </a:prstGeom>
          <a:noFill/>
          <a:ln/>
        </p:spPr>
        <p:txBody>
          <a:bodyPr wrap="square" lIns="0" tIns="0" rIns="0" bIns="0" rtlCol="0" anchor="ctr"/>
          <a:lstStyle/>
          <a:p>
            <a:pPr marL="0" indent="0">
              <a:buNone/>
            </a:pPr>
            <a:r>
              <a:rPr lang="en-US" sz="1600" dirty="0">
                <a:solidFill>
                  <a:schemeClr val="tx1"/>
                </a:solidFill>
              </a:rPr>
              <a:t>list · register · inventory · record</a:t>
            </a:r>
            <a:endParaRPr lang="en-US" sz="1600" dirty="0"/>
          </a:p>
        </p:txBody>
      </p:sp>
      <p:sp>
        <p:nvSpPr>
          <p:cNvPr id="8" name="Synonym row astronomer"/>
          <p:cNvSpPr/>
          <p:nvPr/>
        </p:nvSpPr>
        <p:spPr>
          <a:xfrm>
            <a:off x="457200" y="1636776"/>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Word tag"/>
          <p:cNvSpPr/>
          <p:nvPr/>
        </p:nvSpPr>
        <p:spPr>
          <a:xfrm>
            <a:off x="548640" y="1691640"/>
            <a:ext cx="1920240" cy="393192"/>
          </a:xfrm>
          <a:prstGeom prst="roundRect">
            <a:avLst>
              <a:gd name="adj" fmla="val 23256"/>
            </a:avLst>
          </a:prstGeom>
          <a:solidFill>
            <a:schemeClr val="accent2"/>
          </a:solidFill>
          <a:ln w="6350">
            <a:solidFill>
              <a:schemeClr val="accent2"/>
            </a:solidFill>
            <a:prstDash val="solid"/>
          </a:ln>
        </p:spPr>
      </p:sp>
      <p:sp>
        <p:nvSpPr>
          <p:cNvPr id="10" name="Text 7"/>
          <p:cNvSpPr txBox="1"/>
          <p:nvPr/>
        </p:nvSpPr>
        <p:spPr>
          <a:xfrm>
            <a:off x="548640" y="1691640"/>
            <a:ext cx="1920240" cy="393192"/>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astronomer</a:t>
            </a:r>
            <a:endParaRPr lang="en-US" sz="1600" dirty="0"/>
          </a:p>
        </p:txBody>
      </p:sp>
      <p:sp>
        <p:nvSpPr>
          <p:cNvPr id="11" name="Text 8"/>
          <p:cNvSpPr txBox="1"/>
          <p:nvPr/>
        </p:nvSpPr>
        <p:spPr>
          <a:xfrm>
            <a:off x="2697480" y="1636776"/>
            <a:ext cx="5852160" cy="502920"/>
          </a:xfrm>
          <a:prstGeom prst="rect">
            <a:avLst/>
          </a:prstGeom>
          <a:noFill/>
          <a:ln/>
        </p:spPr>
        <p:txBody>
          <a:bodyPr wrap="square" lIns="0" tIns="0" rIns="0" bIns="0" rtlCol="0" anchor="ctr"/>
          <a:lstStyle/>
          <a:p>
            <a:pPr marL="0" indent="0">
              <a:buNone/>
            </a:pPr>
            <a:r>
              <a:rPr lang="en-US" sz="1600" dirty="0">
                <a:solidFill>
                  <a:schemeClr val="tx1"/>
                </a:solidFill>
              </a:rPr>
              <a:t>stargazer · space scientist · sky-watcher</a:t>
            </a:r>
            <a:endParaRPr lang="en-US" sz="1600" dirty="0"/>
          </a:p>
        </p:txBody>
      </p:sp>
      <p:sp>
        <p:nvSpPr>
          <p:cNvPr id="12" name="Synonym row naked eye"/>
          <p:cNvSpPr/>
          <p:nvPr/>
        </p:nvSpPr>
        <p:spPr>
          <a:xfrm>
            <a:off x="457200" y="2221992"/>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Word tag"/>
          <p:cNvSpPr/>
          <p:nvPr/>
        </p:nvSpPr>
        <p:spPr>
          <a:xfrm>
            <a:off x="548640" y="2276856"/>
            <a:ext cx="1920240" cy="393192"/>
          </a:xfrm>
          <a:prstGeom prst="roundRect">
            <a:avLst>
              <a:gd name="adj" fmla="val 23256"/>
            </a:avLst>
          </a:prstGeom>
          <a:solidFill>
            <a:schemeClr val="accent3"/>
          </a:solidFill>
          <a:ln w="6350">
            <a:solidFill>
              <a:schemeClr val="accent3"/>
            </a:solidFill>
            <a:prstDash val="solid"/>
          </a:ln>
        </p:spPr>
      </p:sp>
      <p:sp>
        <p:nvSpPr>
          <p:cNvPr id="14" name="Text 11"/>
          <p:cNvSpPr txBox="1"/>
          <p:nvPr/>
        </p:nvSpPr>
        <p:spPr>
          <a:xfrm>
            <a:off x="548640" y="2276856"/>
            <a:ext cx="1920240" cy="393192"/>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naked eye</a:t>
            </a:r>
            <a:endParaRPr lang="en-US" sz="1600" dirty="0"/>
          </a:p>
        </p:txBody>
      </p:sp>
      <p:sp>
        <p:nvSpPr>
          <p:cNvPr id="15" name="Text 12"/>
          <p:cNvSpPr txBox="1"/>
          <p:nvPr/>
        </p:nvSpPr>
        <p:spPr>
          <a:xfrm>
            <a:off x="2697480" y="2221992"/>
            <a:ext cx="5852160" cy="502920"/>
          </a:xfrm>
          <a:prstGeom prst="rect">
            <a:avLst/>
          </a:prstGeom>
          <a:noFill/>
          <a:ln/>
        </p:spPr>
        <p:txBody>
          <a:bodyPr wrap="square" lIns="0" tIns="0" rIns="0" bIns="0" rtlCol="0" anchor="ctr"/>
          <a:lstStyle/>
          <a:p>
            <a:pPr marL="0" indent="0">
              <a:buNone/>
            </a:pPr>
            <a:r>
              <a:rPr lang="en-US" sz="1600" dirty="0">
                <a:solidFill>
                  <a:schemeClr val="tx1"/>
                </a:solidFill>
              </a:rPr>
              <a:t>unaided eye · plain sight · without instruments</a:t>
            </a:r>
            <a:endParaRPr lang="en-US" sz="1600" dirty="0"/>
          </a:p>
        </p:txBody>
      </p:sp>
      <p:sp>
        <p:nvSpPr>
          <p:cNvPr id="16" name="Synonym row observatory"/>
          <p:cNvSpPr/>
          <p:nvPr/>
        </p:nvSpPr>
        <p:spPr>
          <a:xfrm>
            <a:off x="457200" y="2807208"/>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Word tag"/>
          <p:cNvSpPr/>
          <p:nvPr/>
        </p:nvSpPr>
        <p:spPr>
          <a:xfrm>
            <a:off x="548640" y="2862072"/>
            <a:ext cx="1920240" cy="393192"/>
          </a:xfrm>
          <a:prstGeom prst="roundRect">
            <a:avLst>
              <a:gd name="adj" fmla="val 23256"/>
            </a:avLst>
          </a:prstGeom>
          <a:solidFill>
            <a:schemeClr val="accent4"/>
          </a:solidFill>
          <a:ln w="6350">
            <a:solidFill>
              <a:schemeClr val="accent4"/>
            </a:solidFill>
            <a:prstDash val="solid"/>
          </a:ln>
        </p:spPr>
      </p:sp>
      <p:sp>
        <p:nvSpPr>
          <p:cNvPr id="18" name="Text 15"/>
          <p:cNvSpPr txBox="1"/>
          <p:nvPr/>
        </p:nvSpPr>
        <p:spPr>
          <a:xfrm>
            <a:off x="548640" y="2862072"/>
            <a:ext cx="1920240" cy="393192"/>
          </a:xfrm>
          <a:prstGeom prst="rect">
            <a:avLst/>
          </a:prstGeom>
          <a:no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observatory</a:t>
            </a:r>
            <a:endParaRPr lang="en-US" sz="1600" dirty="0"/>
          </a:p>
        </p:txBody>
      </p:sp>
      <p:sp>
        <p:nvSpPr>
          <p:cNvPr id="19" name="Text 16"/>
          <p:cNvSpPr txBox="1"/>
          <p:nvPr/>
        </p:nvSpPr>
        <p:spPr>
          <a:xfrm>
            <a:off x="2697480" y="2807208"/>
            <a:ext cx="5852160" cy="502920"/>
          </a:xfrm>
          <a:prstGeom prst="rect">
            <a:avLst/>
          </a:prstGeom>
          <a:noFill/>
          <a:ln/>
        </p:spPr>
        <p:txBody>
          <a:bodyPr wrap="square" lIns="0" tIns="0" rIns="0" bIns="0" rtlCol="0" anchor="ctr"/>
          <a:lstStyle/>
          <a:p>
            <a:pPr marL="0" indent="0">
              <a:buNone/>
            </a:pPr>
            <a:r>
              <a:rPr lang="en-US" sz="1600" dirty="0">
                <a:solidFill>
                  <a:schemeClr val="tx1"/>
                </a:solidFill>
              </a:rPr>
              <a:t>observation post · research station · lookout</a:t>
            </a:r>
            <a:endParaRPr lang="en-US" sz="1600" dirty="0"/>
          </a:p>
        </p:txBody>
      </p:sp>
      <p:sp>
        <p:nvSpPr>
          <p:cNvPr id="20" name="Synonym row satellite"/>
          <p:cNvSpPr/>
          <p:nvPr/>
        </p:nvSpPr>
        <p:spPr>
          <a:xfrm>
            <a:off x="457200" y="3392424"/>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Word tag"/>
          <p:cNvSpPr/>
          <p:nvPr/>
        </p:nvSpPr>
        <p:spPr>
          <a:xfrm>
            <a:off x="548640" y="3447288"/>
            <a:ext cx="1920240" cy="393192"/>
          </a:xfrm>
          <a:prstGeom prst="roundRect">
            <a:avLst>
              <a:gd name="adj" fmla="val 23256"/>
            </a:avLst>
          </a:prstGeom>
          <a:solidFill>
            <a:schemeClr val="accent5"/>
          </a:solidFill>
          <a:ln w="6350">
            <a:solidFill>
              <a:schemeClr val="accent5"/>
            </a:solidFill>
            <a:prstDash val="solid"/>
          </a:ln>
        </p:spPr>
      </p:sp>
      <p:sp>
        <p:nvSpPr>
          <p:cNvPr id="22" name="Text 19"/>
          <p:cNvSpPr txBox="1"/>
          <p:nvPr/>
        </p:nvSpPr>
        <p:spPr>
          <a:xfrm>
            <a:off x="548640" y="3447288"/>
            <a:ext cx="1920240" cy="393192"/>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satellite</a:t>
            </a:r>
            <a:endParaRPr lang="en-US" sz="1600" dirty="0"/>
          </a:p>
        </p:txBody>
      </p:sp>
      <p:sp>
        <p:nvSpPr>
          <p:cNvPr id="23" name="Text 20"/>
          <p:cNvSpPr txBox="1"/>
          <p:nvPr/>
        </p:nvSpPr>
        <p:spPr>
          <a:xfrm>
            <a:off x="2697480" y="3392424"/>
            <a:ext cx="5852160" cy="502920"/>
          </a:xfrm>
          <a:prstGeom prst="rect">
            <a:avLst/>
          </a:prstGeom>
          <a:noFill/>
          <a:ln/>
        </p:spPr>
        <p:txBody>
          <a:bodyPr wrap="square" lIns="0" tIns="0" rIns="0" bIns="0" rtlCol="0" anchor="ctr"/>
          <a:lstStyle/>
          <a:p>
            <a:pPr marL="0" indent="0">
              <a:buNone/>
            </a:pPr>
            <a:r>
              <a:rPr lang="en-US" sz="1600" dirty="0">
                <a:solidFill>
                  <a:schemeClr val="tx1"/>
                </a:solidFill>
              </a:rPr>
              <a:t>moon · orbiter · spacecraft</a:t>
            </a:r>
            <a:endParaRPr lang="en-US" sz="1600" dirty="0"/>
          </a:p>
        </p:txBody>
      </p:sp>
      <p:sp>
        <p:nvSpPr>
          <p:cNvPr id="24" name="Synonym row cosmonaut"/>
          <p:cNvSpPr/>
          <p:nvPr/>
        </p:nvSpPr>
        <p:spPr>
          <a:xfrm>
            <a:off x="457200" y="3977640"/>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Word tag"/>
          <p:cNvSpPr/>
          <p:nvPr/>
        </p:nvSpPr>
        <p:spPr>
          <a:xfrm>
            <a:off x="548640" y="4032504"/>
            <a:ext cx="1920240" cy="393192"/>
          </a:xfrm>
          <a:prstGeom prst="roundRect">
            <a:avLst>
              <a:gd name="adj" fmla="val 23256"/>
            </a:avLst>
          </a:prstGeom>
          <a:solidFill>
            <a:schemeClr val="accent1"/>
          </a:solidFill>
          <a:ln w="6350">
            <a:solidFill>
              <a:schemeClr val="accent1"/>
            </a:solidFill>
            <a:prstDash val="solid"/>
          </a:ln>
        </p:spPr>
      </p:sp>
      <p:sp>
        <p:nvSpPr>
          <p:cNvPr id="26" name="Text 23"/>
          <p:cNvSpPr txBox="1"/>
          <p:nvPr/>
        </p:nvSpPr>
        <p:spPr>
          <a:xfrm>
            <a:off x="548640" y="4032504"/>
            <a:ext cx="1920240" cy="393192"/>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cosmonaut</a:t>
            </a:r>
            <a:endParaRPr lang="en-US" sz="1600" dirty="0"/>
          </a:p>
        </p:txBody>
      </p:sp>
      <p:sp>
        <p:nvSpPr>
          <p:cNvPr id="27" name="Text 24"/>
          <p:cNvSpPr txBox="1"/>
          <p:nvPr/>
        </p:nvSpPr>
        <p:spPr>
          <a:xfrm>
            <a:off x="2697480" y="3977640"/>
            <a:ext cx="5852160" cy="502920"/>
          </a:xfrm>
          <a:prstGeom prst="rect">
            <a:avLst/>
          </a:prstGeom>
          <a:noFill/>
          <a:ln/>
        </p:spPr>
        <p:txBody>
          <a:bodyPr wrap="square" lIns="0" tIns="0" rIns="0" bIns="0" rtlCol="0" anchor="ctr"/>
          <a:lstStyle/>
          <a:p>
            <a:pPr marL="0" indent="0">
              <a:buNone/>
            </a:pPr>
            <a:r>
              <a:rPr lang="en-US" sz="1600" dirty="0">
                <a:solidFill>
                  <a:schemeClr val="tx1"/>
                </a:solidFill>
              </a:rPr>
              <a:t>Russian astronaut · Soviet space traveller</a:t>
            </a:r>
            <a:endParaRPr lang="en-US" sz="1600" dirty="0"/>
          </a:p>
        </p:txBody>
      </p:sp>
      <p:sp>
        <p:nvSpPr>
          <p:cNvPr id="28" name="Text 25"/>
          <p:cNvSpPr txBox="1"/>
          <p:nvPr/>
        </p:nvSpPr>
        <p:spPr>
          <a:xfrm>
            <a:off x="457200" y="4572000"/>
            <a:ext cx="8229600" cy="228600"/>
          </a:xfrm>
          <a:prstGeom prst="rect">
            <a:avLst/>
          </a:prstGeom>
          <a:noFill/>
          <a:ln/>
        </p:spPr>
        <p:txBody>
          <a:bodyPr wrap="square" lIns="0" tIns="0" rIns="0" bIns="0" rtlCol="0" anchor="ctr"/>
          <a:lstStyle/>
          <a:p>
            <a:pPr marL="0" indent="0" algn="ctr">
              <a:buNone/>
            </a:pPr>
            <a:r>
              <a:rPr lang="en-US" sz="1400" i="1" dirty="0">
                <a:solidFill>
                  <a:schemeClr val="tx2"/>
                </a:solidFill>
              </a:rPr>
              <a:t>Your thesaurus may show more. Add them to your log!</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the words in your own sentences</a:t>
            </a:r>
            <a:endParaRPr lang="en-US" sz="3000" dirty="0"/>
          </a:p>
        </p:txBody>
      </p:sp>
      <p:sp>
        <p:nvSpPr>
          <p:cNvPr id="4" name="Models card"/>
          <p:cNvSpPr/>
          <p:nvPr/>
        </p:nvSpPr>
        <p:spPr>
          <a:xfrm>
            <a:off x="457200" y="1097280"/>
            <a:ext cx="5120640" cy="3291840"/>
          </a:xfrm>
          <a:prstGeom prst="roundRect">
            <a:avLst>
              <a:gd name="adj" fmla="val 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2743200" cy="36576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Models</a:t>
            </a:r>
            <a:endParaRPr lang="en-US" sz="1800" dirty="0"/>
          </a:p>
        </p:txBody>
      </p:sp>
      <p:sp>
        <p:nvSpPr>
          <p:cNvPr id="6" name="Text 3"/>
          <p:cNvSpPr txBox="1"/>
          <p:nvPr/>
        </p:nvSpPr>
        <p:spPr>
          <a:xfrm>
            <a:off x="685800" y="1600200"/>
            <a:ext cx="4663440" cy="2697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USSR launched the first </a:t>
            </a:r>
            <a:r>
              <a:rPr lang="en-US" sz="1500" b="1" dirty="0">
                <a:solidFill>
                  <a:schemeClr val="accent4"/>
                </a:solidFill>
              </a:rPr>
              <a:t>artificial</a:t>
            </a:r>
            <a:r>
              <a:rPr lang="en-US" sz="1500" dirty="0">
                <a:solidFill>
                  <a:schemeClr val="tx1"/>
                </a:solidFill>
              </a:rPr>
              <a:t> satellite in 1957.</a:t>
            </a:r>
            <a:endParaRPr lang="en-US" sz="1500" dirty="0"/>
          </a:p>
          <a:p>
            <a:pPr marL="342900" indent="-342900">
              <a:spcAft>
                <a:spcPts val="800"/>
              </a:spcAft>
              <a:buSzPct val="100000"/>
              <a:buChar char="•"/>
            </a:pPr>
            <a:r>
              <a:rPr lang="en-US" sz="1500" dirty="0">
                <a:solidFill>
                  <a:schemeClr val="tx1"/>
                </a:solidFill>
              </a:rPr>
              <a:t>An </a:t>
            </a:r>
            <a:r>
              <a:rPr lang="en-US" sz="1500" b="1" dirty="0">
                <a:solidFill>
                  <a:schemeClr val="accent4"/>
                </a:solidFill>
              </a:rPr>
              <a:t>astronaut</a:t>
            </a:r>
            <a:r>
              <a:rPr lang="en-US" sz="1500" dirty="0">
                <a:solidFill>
                  <a:schemeClr val="tx1"/>
                </a:solidFill>
              </a:rPr>
              <a:t> trains for years before flying into space.</a:t>
            </a:r>
            <a:endParaRPr lang="en-US" sz="1500" dirty="0"/>
          </a:p>
          <a:p>
            <a:pPr marL="342900" indent="-342900">
              <a:spcAft>
                <a:spcPts val="800"/>
              </a:spcAft>
              <a:buSzPct val="100000"/>
              <a:buChar char="•"/>
            </a:pPr>
            <a:r>
              <a:rPr lang="en-US" sz="1500" dirty="0">
                <a:solidFill>
                  <a:schemeClr val="tx1"/>
                </a:solidFill>
              </a:rPr>
              <a:t>A telescope can </a:t>
            </a:r>
            <a:r>
              <a:rPr lang="en-US" sz="1500" b="1" dirty="0">
                <a:solidFill>
                  <a:schemeClr val="accent4"/>
                </a:solidFill>
              </a:rPr>
              <a:t>magnify</a:t>
            </a:r>
            <a:r>
              <a:rPr lang="en-US" sz="1500" dirty="0">
                <a:solidFill>
                  <a:schemeClr val="tx1"/>
                </a:solidFill>
              </a:rPr>
              <a:t> distant planets.</a:t>
            </a:r>
            <a:endParaRPr lang="en-US" sz="1500" dirty="0"/>
          </a:p>
          <a:p>
            <a:pPr marL="342900" indent="-342900">
              <a:spcAft>
                <a:spcPts val="800"/>
              </a:spcAft>
              <a:buSzPct val="100000"/>
              <a:buChar char="•"/>
            </a:pPr>
            <a:r>
              <a:rPr lang="en-US" sz="1500" dirty="0">
                <a:solidFill>
                  <a:schemeClr val="tx1"/>
                </a:solidFill>
              </a:rPr>
              <a:t>Scientists </a:t>
            </a:r>
            <a:r>
              <a:rPr lang="en-US" sz="1500" b="1" dirty="0">
                <a:solidFill>
                  <a:schemeClr val="accent4"/>
                </a:solidFill>
              </a:rPr>
              <a:t>observe</a:t>
            </a:r>
            <a:r>
              <a:rPr lang="en-US" sz="1500" dirty="0">
                <a:solidFill>
                  <a:schemeClr val="tx1"/>
                </a:solidFill>
              </a:rPr>
              <a:t> the stars every night.</a:t>
            </a:r>
            <a:endParaRPr lang="en-US" sz="1500" dirty="0"/>
          </a:p>
          <a:p>
            <a:pPr marL="342900" indent="-342900">
              <a:spcAft>
                <a:spcPts val="800"/>
              </a:spcAft>
              <a:buSzPct val="100000"/>
              <a:buChar char="•"/>
            </a:pPr>
            <a:r>
              <a:rPr lang="en-US" sz="1500" dirty="0">
                <a:solidFill>
                  <a:schemeClr val="tx1"/>
                </a:solidFill>
              </a:rPr>
              <a:t>The Earth </a:t>
            </a:r>
            <a:r>
              <a:rPr lang="en-US" sz="1500" b="1" dirty="0">
                <a:solidFill>
                  <a:schemeClr val="accent4"/>
                </a:solidFill>
              </a:rPr>
              <a:t>orbits</a:t>
            </a:r>
            <a:r>
              <a:rPr lang="en-US" sz="1500" dirty="0">
                <a:solidFill>
                  <a:schemeClr val="tx1"/>
                </a:solidFill>
              </a:rPr>
              <a:t> the Sun once a year.</a:t>
            </a:r>
            <a:endParaRPr lang="en-US" sz="1500" dirty="0"/>
          </a:p>
        </p:txBody>
      </p:sp>
      <p:sp>
        <p:nvSpPr>
          <p:cNvPr id="7" name="Checklist"/>
          <p:cNvSpPr/>
          <p:nvPr/>
        </p:nvSpPr>
        <p:spPr>
          <a:xfrm>
            <a:off x="5760720" y="1097280"/>
            <a:ext cx="2926080" cy="3291840"/>
          </a:xfrm>
          <a:prstGeom prst="roundRect">
            <a:avLst>
              <a:gd name="adj" fmla="val 3750"/>
            </a:avLst>
          </a:prstGeom>
          <a:solidFill>
            <a:schemeClr val="accent5"/>
          </a:solidFill>
          <a:ln w="9525">
            <a:solidFill>
              <a:schemeClr val="accent5"/>
            </a:solidFill>
            <a:prstDash val="solid"/>
          </a:ln>
          <a:effectLst>
            <a:outerShdw blurRad="76200" dist="25400" dir="5400000" algn="bl" rotWithShape="0">
              <a:srgbClr val="0E1537">
                <a:alpha val="14000"/>
              </a:srgbClr>
            </a:outerShdw>
          </a:effectLst>
        </p:spPr>
      </p:sp>
      <p:sp>
        <p:nvSpPr>
          <p:cNvPr id="8" name="Text 5"/>
          <p:cNvSpPr txBox="1"/>
          <p:nvPr/>
        </p:nvSpPr>
        <p:spPr>
          <a:xfrm>
            <a:off x="5943600" y="1188720"/>
            <a:ext cx="256032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A great sentence…</a:t>
            </a:r>
            <a:endParaRPr lang="en-US" sz="1800" dirty="0"/>
          </a:p>
        </p:txBody>
      </p:sp>
      <p:sp>
        <p:nvSpPr>
          <p:cNvPr id="9" name="Text 6"/>
          <p:cNvSpPr txBox="1"/>
          <p:nvPr/>
        </p:nvSpPr>
        <p:spPr>
          <a:xfrm>
            <a:off x="5943600" y="1645920"/>
            <a:ext cx="25603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shows what the word means</a:t>
            </a:r>
            <a:endParaRPr lang="en-US" sz="1500" dirty="0"/>
          </a:p>
          <a:p>
            <a:pPr marL="342900" indent="-342900">
              <a:spcAft>
                <a:spcPts val="800"/>
              </a:spcAft>
              <a:buSzPct val="100000"/>
              <a:buChar char="•"/>
            </a:pPr>
            <a:r>
              <a:rPr lang="en-US" sz="1500" dirty="0">
                <a:solidFill>
                  <a:schemeClr val="tx1"/>
                </a:solidFill>
              </a:rPr>
              <a:t>starts with a capital letter</a:t>
            </a:r>
            <a:endParaRPr lang="en-US" sz="1500" dirty="0"/>
          </a:p>
          <a:p>
            <a:pPr marL="342900" indent="-342900">
              <a:spcAft>
                <a:spcPts val="800"/>
              </a:spcAft>
              <a:buSzPct val="100000"/>
              <a:buChar char="•"/>
            </a:pPr>
            <a:r>
              <a:rPr lang="en-US" sz="1500" dirty="0">
                <a:solidFill>
                  <a:schemeClr val="tx1"/>
                </a:solidFill>
              </a:rPr>
              <a:t>ends with a full stop</a:t>
            </a:r>
            <a:endParaRPr lang="en-US" sz="1500" dirty="0"/>
          </a:p>
          <a:p>
            <a:pPr marL="342900" indent="-342900">
              <a:spcAft>
                <a:spcPts val="800"/>
              </a:spcAft>
              <a:buSzPct val="100000"/>
              <a:buChar char="•"/>
            </a:pPr>
            <a:r>
              <a:rPr lang="en-US" sz="1500" dirty="0">
                <a:solidFill>
                  <a:schemeClr val="tx1"/>
                </a:solidFill>
              </a:rPr>
              <a:t>is about space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Glossary words in your own sentences</a:t>
            </a:r>
            <a:endParaRPr lang="en-US" sz="3000" dirty="0"/>
          </a:p>
        </p:txBody>
      </p:sp>
      <p:sp>
        <p:nvSpPr>
          <p:cNvPr id="4" name="Models card"/>
          <p:cNvSpPr/>
          <p:nvPr/>
        </p:nvSpPr>
        <p:spPr>
          <a:xfrm>
            <a:off x="457200" y="1097280"/>
            <a:ext cx="5120640" cy="3291840"/>
          </a:xfrm>
          <a:prstGeom prst="roundRect">
            <a:avLst>
              <a:gd name="adj" fmla="val 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2743200" cy="36576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Models</a:t>
            </a:r>
            <a:endParaRPr lang="en-US" sz="1800" dirty="0"/>
          </a:p>
        </p:txBody>
      </p:sp>
      <p:sp>
        <p:nvSpPr>
          <p:cNvPr id="6" name="Text 3"/>
          <p:cNvSpPr txBox="1"/>
          <p:nvPr/>
        </p:nvSpPr>
        <p:spPr>
          <a:xfrm>
            <a:off x="685800" y="1600200"/>
            <a:ext cx="4663440" cy="27432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Hipparchus completed the first star </a:t>
            </a:r>
            <a:r>
              <a:rPr lang="en-US" sz="1500" b="1" dirty="0">
                <a:solidFill>
                  <a:schemeClr val="accent4"/>
                </a:solidFill>
              </a:rPr>
              <a:t>catalogue</a:t>
            </a:r>
            <a:r>
              <a:rPr lang="en-US" sz="1500" dirty="0">
                <a:solidFill>
                  <a:schemeClr val="tx1"/>
                </a:solidFill>
              </a:rPr>
              <a:t>.</a:t>
            </a:r>
            <a:endParaRPr lang="en-US" sz="1500" dirty="0"/>
          </a:p>
          <a:p>
            <a:pPr marL="342900" indent="-342900">
              <a:spcAft>
                <a:spcPts val="700"/>
              </a:spcAft>
              <a:buSzPct val="100000"/>
              <a:buChar char="•"/>
            </a:pPr>
            <a:r>
              <a:rPr lang="en-US" sz="1500" dirty="0">
                <a:solidFill>
                  <a:schemeClr val="tx1"/>
                </a:solidFill>
              </a:rPr>
              <a:t>An </a:t>
            </a:r>
            <a:r>
              <a:rPr lang="en-US" sz="1500" b="1" dirty="0">
                <a:solidFill>
                  <a:schemeClr val="accent4"/>
                </a:solidFill>
              </a:rPr>
              <a:t>astronomer</a:t>
            </a:r>
            <a:r>
              <a:rPr lang="en-US" sz="1500" dirty="0">
                <a:solidFill>
                  <a:schemeClr val="tx1"/>
                </a:solidFill>
              </a:rPr>
              <a:t> studies the stars and planets.</a:t>
            </a:r>
            <a:endParaRPr lang="en-US" sz="1500" dirty="0"/>
          </a:p>
          <a:p>
            <a:pPr marL="342900" indent="-342900">
              <a:spcAft>
                <a:spcPts val="700"/>
              </a:spcAft>
              <a:buSzPct val="100000"/>
              <a:buChar char="•"/>
            </a:pPr>
            <a:r>
              <a:rPr lang="en-US" sz="1500" dirty="0">
                <a:solidFill>
                  <a:schemeClr val="tx1"/>
                </a:solidFill>
              </a:rPr>
              <a:t>Tycho Brahe watched the sky with the </a:t>
            </a:r>
            <a:r>
              <a:rPr lang="en-US" sz="1500" b="1" dirty="0">
                <a:solidFill>
                  <a:schemeClr val="accent4"/>
                </a:solidFill>
              </a:rPr>
              <a:t>naked eye</a:t>
            </a:r>
            <a:r>
              <a:rPr lang="en-US" sz="1500" dirty="0">
                <a:solidFill>
                  <a:schemeClr val="tx1"/>
                </a:solidFill>
              </a:rPr>
              <a:t>.</a:t>
            </a:r>
            <a:endParaRPr lang="en-US" sz="1500" dirty="0"/>
          </a:p>
          <a:p>
            <a:pPr marL="342900" indent="-342900">
              <a:spcAft>
                <a:spcPts val="700"/>
              </a:spcAft>
              <a:buSzPct val="100000"/>
              <a:buChar char="•"/>
            </a:pPr>
            <a:r>
              <a:rPr lang="en-US" sz="1500" dirty="0">
                <a:solidFill>
                  <a:schemeClr val="tx1"/>
                </a:solidFill>
              </a:rPr>
              <a:t>Scientists use an </a:t>
            </a:r>
            <a:r>
              <a:rPr lang="en-US" sz="1500" b="1" dirty="0">
                <a:solidFill>
                  <a:schemeClr val="accent4"/>
                </a:solidFill>
              </a:rPr>
              <a:t>observatory</a:t>
            </a:r>
            <a:r>
              <a:rPr lang="en-US" sz="1500" dirty="0">
                <a:solidFill>
                  <a:schemeClr val="tx1"/>
                </a:solidFill>
              </a:rPr>
              <a:t> to watch the stars.</a:t>
            </a:r>
            <a:endParaRPr lang="en-US" sz="1500" dirty="0"/>
          </a:p>
          <a:p>
            <a:pPr marL="342900" indent="-342900">
              <a:spcAft>
                <a:spcPts val="700"/>
              </a:spcAft>
              <a:buSzPct val="100000"/>
              <a:buChar char="•"/>
            </a:pPr>
            <a:r>
              <a:rPr lang="en-US" sz="1500" dirty="0">
                <a:solidFill>
                  <a:schemeClr val="tx1"/>
                </a:solidFill>
              </a:rPr>
              <a:t>The Moon is a natural </a:t>
            </a:r>
            <a:r>
              <a:rPr lang="en-US" sz="1500" b="1" dirty="0">
                <a:solidFill>
                  <a:schemeClr val="accent4"/>
                </a:solidFill>
              </a:rPr>
              <a:t>satellite</a:t>
            </a:r>
            <a:r>
              <a:rPr lang="en-US" sz="1500" dirty="0">
                <a:solidFill>
                  <a:schemeClr val="tx1"/>
                </a:solidFill>
              </a:rPr>
              <a:t> of the Earth.</a:t>
            </a:r>
            <a:endParaRPr lang="en-US" sz="1500" dirty="0"/>
          </a:p>
          <a:p>
            <a:pPr marL="342900" indent="-342900">
              <a:spcAft>
                <a:spcPts val="700"/>
              </a:spcAft>
              <a:buSzPct val="100000"/>
              <a:buChar char="•"/>
            </a:pPr>
            <a:r>
              <a:rPr lang="en-US" sz="1500" dirty="0">
                <a:solidFill>
                  <a:schemeClr val="tx1"/>
                </a:solidFill>
              </a:rPr>
              <a:t>Valentina Tereshkova was a Russian </a:t>
            </a:r>
            <a:r>
              <a:rPr lang="en-US" sz="1500" b="1" dirty="0">
                <a:solidFill>
                  <a:schemeClr val="accent4"/>
                </a:solidFill>
              </a:rPr>
              <a:t>cosmonaut</a:t>
            </a:r>
            <a:r>
              <a:rPr lang="en-US" sz="1500" dirty="0">
                <a:solidFill>
                  <a:schemeClr val="tx1"/>
                </a:solidFill>
              </a:rPr>
              <a:t>.</a:t>
            </a:r>
            <a:endParaRPr lang="en-US" sz="1500" dirty="0"/>
          </a:p>
        </p:txBody>
      </p:sp>
      <p:sp>
        <p:nvSpPr>
          <p:cNvPr id="7" name="Checklist"/>
          <p:cNvSpPr/>
          <p:nvPr/>
        </p:nvSpPr>
        <p:spPr>
          <a:xfrm>
            <a:off x="5760720" y="1097280"/>
            <a:ext cx="2926080" cy="3291840"/>
          </a:xfrm>
          <a:prstGeom prst="roundRect">
            <a:avLst>
              <a:gd name="adj" fmla="val 3750"/>
            </a:avLst>
          </a:prstGeom>
          <a:solidFill>
            <a:schemeClr val="accent5"/>
          </a:solidFill>
          <a:ln w="9525">
            <a:solidFill>
              <a:schemeClr val="accent5"/>
            </a:solidFill>
            <a:prstDash val="solid"/>
          </a:ln>
          <a:effectLst>
            <a:outerShdw blurRad="76200" dist="25400" dir="5400000" algn="bl" rotWithShape="0">
              <a:srgbClr val="0E1537">
                <a:alpha val="14000"/>
              </a:srgbClr>
            </a:outerShdw>
          </a:effectLst>
        </p:spPr>
      </p:sp>
      <p:sp>
        <p:nvSpPr>
          <p:cNvPr id="8" name="Text 5"/>
          <p:cNvSpPr txBox="1"/>
          <p:nvPr/>
        </p:nvSpPr>
        <p:spPr>
          <a:xfrm>
            <a:off x="5943600" y="1188720"/>
            <a:ext cx="256032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A great sentence…</a:t>
            </a:r>
            <a:endParaRPr lang="en-US" sz="1800" dirty="0"/>
          </a:p>
        </p:txBody>
      </p:sp>
      <p:sp>
        <p:nvSpPr>
          <p:cNvPr id="9" name="Text 6"/>
          <p:cNvSpPr txBox="1"/>
          <p:nvPr/>
        </p:nvSpPr>
        <p:spPr>
          <a:xfrm>
            <a:off x="5943600" y="1645920"/>
            <a:ext cx="25603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shows what the word means</a:t>
            </a:r>
            <a:endParaRPr lang="en-US" sz="1500" dirty="0"/>
          </a:p>
          <a:p>
            <a:pPr marL="342900" indent="-342900">
              <a:spcAft>
                <a:spcPts val="800"/>
              </a:spcAft>
              <a:buSzPct val="100000"/>
              <a:buChar char="•"/>
            </a:pPr>
            <a:r>
              <a:rPr lang="en-US" sz="1500" dirty="0">
                <a:solidFill>
                  <a:schemeClr val="tx1"/>
                </a:solidFill>
              </a:rPr>
              <a:t>starts with a capital letter</a:t>
            </a:r>
            <a:endParaRPr lang="en-US" sz="1500" dirty="0"/>
          </a:p>
          <a:p>
            <a:pPr marL="342900" indent="-342900">
              <a:spcAft>
                <a:spcPts val="800"/>
              </a:spcAft>
              <a:buSzPct val="100000"/>
              <a:buChar char="•"/>
            </a:pPr>
            <a:r>
              <a:rPr lang="en-US" sz="1500" dirty="0">
                <a:solidFill>
                  <a:schemeClr val="tx1"/>
                </a:solidFill>
              </a:rPr>
              <a:t>ends with a full stop</a:t>
            </a:r>
            <a:endParaRPr lang="en-US" sz="1500" dirty="0"/>
          </a:p>
          <a:p>
            <a:pPr marL="342900" indent="-342900">
              <a:spcAft>
                <a:spcPts val="800"/>
              </a:spcAft>
              <a:buSzPct val="100000"/>
              <a:buChar char="•"/>
            </a:pPr>
            <a:r>
              <a:rPr lang="en-US" sz="1500" dirty="0">
                <a:solidFill>
                  <a:schemeClr val="tx1"/>
                </a:solidFill>
              </a:rPr>
              <a:t>is about space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Add them to your spelling log</a:t>
            </a:r>
            <a:endParaRPr lang="en-US" sz="3000" dirty="0"/>
          </a:p>
        </p:txBody>
      </p:sp>
      <p:sp>
        <p:nvSpPr>
          <p:cNvPr id="4" name="Spelling row 1"/>
          <p:cNvSpPr/>
          <p:nvPr/>
        </p:nvSpPr>
        <p:spPr>
          <a:xfrm>
            <a:off x="457200" y="10972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48640" y="1188720"/>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48640" y="11887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97280"/>
            <a:ext cx="3017520" cy="54864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arti</a:t>
            </a:r>
            <a:r>
              <a:rPr lang="en-US" sz="2200" b="1" dirty="0">
                <a:solidFill>
                  <a:schemeClr val="tx1"/>
                </a:solidFill>
                <a:highlight>
                  <a:srgbClr val="FFD166"/>
                </a:highlight>
                <a:latin typeface="+mj-lt" pitchFamily="34" charset="0"/>
                <a:ea typeface="+mj-lt" pitchFamily="34" charset="-122"/>
                <a:cs typeface="+mj-lt" pitchFamily="34" charset="-120"/>
              </a:rPr>
              <a:t>ficial</a:t>
            </a:r>
            <a:endParaRPr lang="en-US" sz="2200" dirty="0"/>
          </a:p>
        </p:txBody>
      </p:sp>
      <p:sp>
        <p:nvSpPr>
          <p:cNvPr id="8" name="Text 5"/>
          <p:cNvSpPr txBox="1"/>
          <p:nvPr/>
        </p:nvSpPr>
        <p:spPr>
          <a:xfrm>
            <a:off x="4206240" y="1097280"/>
            <a:ext cx="4389120" cy="548640"/>
          </a:xfrm>
          <a:prstGeom prst="rect">
            <a:avLst/>
          </a:prstGeom>
          <a:noFill/>
          <a:ln/>
        </p:spPr>
        <p:txBody>
          <a:bodyPr wrap="square" lIns="0" tIns="0" rIns="0" bIns="0" rtlCol="0" anchor="ctr"/>
          <a:lstStyle/>
          <a:p>
            <a:pPr marL="0" indent="0">
              <a:buNone/>
            </a:pPr>
            <a:r>
              <a:rPr lang="en-US" sz="1500" i="1" dirty="0">
                <a:solidFill>
                  <a:schemeClr val="tx2"/>
                </a:solidFill>
              </a:rPr>
              <a:t>‘cial’ sounds like ‘shul’</a:t>
            </a:r>
            <a:endParaRPr lang="en-US" sz="1500" dirty="0"/>
          </a:p>
        </p:txBody>
      </p:sp>
      <p:sp>
        <p:nvSpPr>
          <p:cNvPr id="9" name="Spelling row 2"/>
          <p:cNvSpPr/>
          <p:nvPr/>
        </p:nvSpPr>
        <p:spPr>
          <a:xfrm>
            <a:off x="457200" y="17373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1828800"/>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48640" y="18288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97280" y="1737360"/>
            <a:ext cx="3017520" cy="54864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a</a:t>
            </a:r>
            <a:r>
              <a:rPr lang="en-US" sz="2200" b="1" dirty="0">
                <a:solidFill>
                  <a:schemeClr val="tx1"/>
                </a:solidFill>
                <a:highlight>
                  <a:srgbClr val="FFD166"/>
                </a:highlight>
                <a:latin typeface="+mj-lt" pitchFamily="34" charset="0"/>
                <a:ea typeface="+mj-lt" pitchFamily="34" charset="-122"/>
                <a:cs typeface="+mj-lt" pitchFamily="34" charset="-120"/>
              </a:rPr>
              <a:t>stro</a:t>
            </a:r>
            <a:r>
              <a:rPr lang="en-US" sz="2200" b="1" dirty="0">
                <a:solidFill>
                  <a:schemeClr val="tx1"/>
                </a:solidFill>
                <a:latin typeface="+mj-lt" pitchFamily="34" charset="0"/>
                <a:ea typeface="+mj-lt" pitchFamily="34" charset="-122"/>
                <a:cs typeface="+mj-lt" pitchFamily="34" charset="-120"/>
              </a:rPr>
              <a:t>n</a:t>
            </a:r>
            <a:r>
              <a:rPr lang="en-US" sz="2200" b="1" dirty="0">
                <a:solidFill>
                  <a:schemeClr val="tx1"/>
                </a:solidFill>
                <a:highlight>
                  <a:srgbClr val="FFD166"/>
                </a:highlight>
                <a:latin typeface="+mj-lt" pitchFamily="34" charset="0"/>
                <a:ea typeface="+mj-lt" pitchFamily="34" charset="-122"/>
                <a:cs typeface="+mj-lt" pitchFamily="34" charset="-120"/>
              </a:rPr>
              <a:t>aut</a:t>
            </a:r>
            <a:endParaRPr lang="en-US" sz="2200" dirty="0"/>
          </a:p>
        </p:txBody>
      </p:sp>
      <p:sp>
        <p:nvSpPr>
          <p:cNvPr id="13" name="Text 10"/>
          <p:cNvSpPr txBox="1"/>
          <p:nvPr/>
        </p:nvSpPr>
        <p:spPr>
          <a:xfrm>
            <a:off x="4206240" y="1737360"/>
            <a:ext cx="4389120" cy="548640"/>
          </a:xfrm>
          <a:prstGeom prst="rect">
            <a:avLst/>
          </a:prstGeom>
          <a:noFill/>
          <a:ln/>
        </p:spPr>
        <p:txBody>
          <a:bodyPr wrap="square" lIns="0" tIns="0" rIns="0" bIns="0" rtlCol="0" anchor="ctr"/>
          <a:lstStyle/>
          <a:p>
            <a:pPr marL="0" indent="0">
              <a:buNone/>
            </a:pPr>
            <a:r>
              <a:rPr lang="en-US" sz="1500" i="1" dirty="0">
                <a:solidFill>
                  <a:schemeClr val="tx2"/>
                </a:solidFill>
              </a:rPr>
              <a:t>‘aut’ sounds like ‘ort’</a:t>
            </a:r>
            <a:endParaRPr lang="en-US" sz="1500" dirty="0"/>
          </a:p>
        </p:txBody>
      </p:sp>
      <p:sp>
        <p:nvSpPr>
          <p:cNvPr id="14" name="Spelling row 3"/>
          <p:cNvSpPr/>
          <p:nvPr/>
        </p:nvSpPr>
        <p:spPr>
          <a:xfrm>
            <a:off x="457200" y="237744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48640" y="2468880"/>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48640" y="246888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97280" y="2377440"/>
            <a:ext cx="3017520" cy="54864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ma</a:t>
            </a:r>
            <a:r>
              <a:rPr lang="en-US" sz="2200" b="1" dirty="0">
                <a:solidFill>
                  <a:schemeClr val="tx1"/>
                </a:solidFill>
                <a:highlight>
                  <a:srgbClr val="FFD166"/>
                </a:highlight>
                <a:latin typeface="+mj-lt" pitchFamily="34" charset="0"/>
                <a:ea typeface="+mj-lt" pitchFamily="34" charset="-122"/>
                <a:cs typeface="+mj-lt" pitchFamily="34" charset="-120"/>
              </a:rPr>
              <a:t>gn</a:t>
            </a:r>
            <a:r>
              <a:rPr lang="en-US" sz="2200" b="1" dirty="0">
                <a:solidFill>
                  <a:schemeClr val="tx1"/>
                </a:solidFill>
                <a:latin typeface="+mj-lt" pitchFamily="34" charset="0"/>
                <a:ea typeface="+mj-lt" pitchFamily="34" charset="-122"/>
                <a:cs typeface="+mj-lt" pitchFamily="34" charset="-120"/>
              </a:rPr>
              <a:t>ify</a:t>
            </a:r>
            <a:endParaRPr lang="en-US" sz="2200" dirty="0"/>
          </a:p>
        </p:txBody>
      </p:sp>
      <p:sp>
        <p:nvSpPr>
          <p:cNvPr id="18" name="Text 15"/>
          <p:cNvSpPr txBox="1"/>
          <p:nvPr/>
        </p:nvSpPr>
        <p:spPr>
          <a:xfrm>
            <a:off x="4206240" y="2377440"/>
            <a:ext cx="4389120" cy="548640"/>
          </a:xfrm>
          <a:prstGeom prst="rect">
            <a:avLst/>
          </a:prstGeom>
          <a:noFill/>
          <a:ln/>
        </p:spPr>
        <p:txBody>
          <a:bodyPr wrap="square" lIns="0" tIns="0" rIns="0" bIns="0" rtlCol="0" anchor="ctr"/>
          <a:lstStyle/>
          <a:p>
            <a:pPr marL="0" indent="0">
              <a:buNone/>
            </a:pPr>
            <a:r>
              <a:rPr lang="en-US" sz="1500" i="1" dirty="0">
                <a:solidFill>
                  <a:schemeClr val="tx2"/>
                </a:solidFill>
              </a:rPr>
              <a:t>the ‘g’ is sounded: mag-ni-fy</a:t>
            </a:r>
            <a:endParaRPr lang="en-US" sz="1500" dirty="0"/>
          </a:p>
        </p:txBody>
      </p:sp>
      <p:sp>
        <p:nvSpPr>
          <p:cNvPr id="19" name="Spelling row 4"/>
          <p:cNvSpPr/>
          <p:nvPr/>
        </p:nvSpPr>
        <p:spPr>
          <a:xfrm>
            <a:off x="457200" y="301752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48640" y="3108960"/>
            <a:ext cx="365760" cy="365760"/>
          </a:xfrm>
          <a:prstGeom prst="ellipse">
            <a:avLst/>
          </a:prstGeom>
          <a:solidFill>
            <a:schemeClr val="accent4"/>
          </a:solidFill>
          <a:ln w="6350">
            <a:solidFill>
              <a:schemeClr val="accent4"/>
            </a:solidFill>
            <a:prstDash val="solid"/>
          </a:ln>
        </p:spPr>
      </p:sp>
      <p:sp>
        <p:nvSpPr>
          <p:cNvPr id="21" name="Text 18"/>
          <p:cNvSpPr txBox="1"/>
          <p:nvPr/>
        </p:nvSpPr>
        <p:spPr>
          <a:xfrm>
            <a:off x="548640" y="3108960"/>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1097280" y="3017520"/>
            <a:ext cx="3017520" cy="54864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ob</a:t>
            </a:r>
            <a:r>
              <a:rPr lang="en-US" sz="2200" b="1" dirty="0">
                <a:solidFill>
                  <a:schemeClr val="tx1"/>
                </a:solidFill>
                <a:highlight>
                  <a:srgbClr val="FFD166"/>
                </a:highlight>
                <a:latin typeface="+mj-lt" pitchFamily="34" charset="0"/>
                <a:ea typeface="+mj-lt" pitchFamily="34" charset="-122"/>
                <a:cs typeface="+mj-lt" pitchFamily="34" charset="-120"/>
              </a:rPr>
              <a:t>serv</a:t>
            </a:r>
            <a:r>
              <a:rPr lang="en-US" sz="2200" b="1" dirty="0">
                <a:solidFill>
                  <a:schemeClr val="tx1"/>
                </a:solidFill>
                <a:latin typeface="+mj-lt" pitchFamily="34" charset="0"/>
                <a:ea typeface="+mj-lt" pitchFamily="34" charset="-122"/>
                <a:cs typeface="+mj-lt" pitchFamily="34" charset="-120"/>
              </a:rPr>
              <a:t>e</a:t>
            </a:r>
            <a:endParaRPr lang="en-US" sz="2200" dirty="0"/>
          </a:p>
        </p:txBody>
      </p:sp>
      <p:sp>
        <p:nvSpPr>
          <p:cNvPr id="23" name="Text 20"/>
          <p:cNvSpPr txBox="1"/>
          <p:nvPr/>
        </p:nvSpPr>
        <p:spPr>
          <a:xfrm>
            <a:off x="4206240" y="3017520"/>
            <a:ext cx="4389120" cy="548640"/>
          </a:xfrm>
          <a:prstGeom prst="rect">
            <a:avLst/>
          </a:prstGeom>
          <a:noFill/>
          <a:ln/>
        </p:spPr>
        <p:txBody>
          <a:bodyPr wrap="square" lIns="0" tIns="0" rIns="0" bIns="0" rtlCol="0" anchor="ctr"/>
          <a:lstStyle/>
          <a:p>
            <a:pPr marL="0" indent="0">
              <a:buNone/>
            </a:pPr>
            <a:r>
              <a:rPr lang="en-US" sz="1500" i="1" dirty="0">
                <a:solidFill>
                  <a:schemeClr val="tx2"/>
                </a:solidFill>
              </a:rPr>
              <a:t>silent ‘e’ at the end</a:t>
            </a:r>
            <a:endParaRPr lang="en-US" sz="1500" dirty="0"/>
          </a:p>
        </p:txBody>
      </p:sp>
      <p:sp>
        <p:nvSpPr>
          <p:cNvPr id="24" name="Spelling row 5"/>
          <p:cNvSpPr/>
          <p:nvPr/>
        </p:nvSpPr>
        <p:spPr>
          <a:xfrm>
            <a:off x="457200" y="3657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48640" y="3749040"/>
            <a:ext cx="365760" cy="365760"/>
          </a:xfrm>
          <a:prstGeom prst="ellipse">
            <a:avLst/>
          </a:prstGeom>
          <a:solidFill>
            <a:schemeClr val="accent5"/>
          </a:solidFill>
          <a:ln w="6350">
            <a:solidFill>
              <a:schemeClr val="accent5"/>
            </a:solidFill>
            <a:prstDash val="solid"/>
          </a:ln>
        </p:spPr>
      </p:sp>
      <p:sp>
        <p:nvSpPr>
          <p:cNvPr id="26" name="Text 23"/>
          <p:cNvSpPr txBox="1"/>
          <p:nvPr/>
        </p:nvSpPr>
        <p:spPr>
          <a:xfrm>
            <a:off x="548640" y="37490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7" name="Text 24"/>
          <p:cNvSpPr txBox="1"/>
          <p:nvPr/>
        </p:nvSpPr>
        <p:spPr>
          <a:xfrm>
            <a:off x="1097280" y="3657600"/>
            <a:ext cx="3017520" cy="548640"/>
          </a:xfrm>
          <a:prstGeom prst="rect">
            <a:avLst/>
          </a:prstGeom>
          <a:noFill/>
          <a:ln/>
        </p:spPr>
        <p:txBody>
          <a:bodyPr wrap="square" lIns="0" tIns="0" rIns="0" bIns="0" rtlCol="0" anchor="ctr"/>
          <a:lstStyle/>
          <a:p>
            <a:pPr marL="0" indent="0">
              <a:buNone/>
            </a:pPr>
            <a:r>
              <a:rPr lang="en-US" sz="2200" b="1" dirty="0">
                <a:solidFill>
                  <a:schemeClr val="tx1"/>
                </a:solidFill>
                <a:highlight>
                  <a:srgbClr val="FFD166"/>
                </a:highlight>
                <a:latin typeface="+mj-lt" pitchFamily="34" charset="0"/>
                <a:ea typeface="+mj-lt" pitchFamily="34" charset="-122"/>
                <a:cs typeface="+mj-lt" pitchFamily="34" charset="-120"/>
              </a:rPr>
              <a:t>orb</a:t>
            </a:r>
            <a:r>
              <a:rPr lang="en-US" sz="2200" b="1" dirty="0">
                <a:solidFill>
                  <a:schemeClr val="tx1"/>
                </a:solidFill>
                <a:latin typeface="+mj-lt" pitchFamily="34" charset="0"/>
                <a:ea typeface="+mj-lt" pitchFamily="34" charset="-122"/>
                <a:cs typeface="+mj-lt" pitchFamily="34" charset="-120"/>
              </a:rPr>
              <a:t>it</a:t>
            </a:r>
            <a:endParaRPr lang="en-US" sz="2200" dirty="0"/>
          </a:p>
        </p:txBody>
      </p:sp>
      <p:sp>
        <p:nvSpPr>
          <p:cNvPr id="28" name="Text 25"/>
          <p:cNvSpPr txBox="1"/>
          <p:nvPr/>
        </p:nvSpPr>
        <p:spPr>
          <a:xfrm>
            <a:off x="4206240" y="3657600"/>
            <a:ext cx="4389120" cy="548640"/>
          </a:xfrm>
          <a:prstGeom prst="rect">
            <a:avLst/>
          </a:prstGeom>
          <a:noFill/>
          <a:ln/>
        </p:spPr>
        <p:txBody>
          <a:bodyPr wrap="square" lIns="0" tIns="0" rIns="0" bIns="0" rtlCol="0" anchor="ctr"/>
          <a:lstStyle/>
          <a:p>
            <a:pPr marL="0" indent="0">
              <a:buNone/>
            </a:pPr>
            <a:r>
              <a:rPr lang="en-US" sz="1500" i="1" dirty="0">
                <a:solidFill>
                  <a:schemeClr val="tx2"/>
                </a:solidFill>
              </a:rPr>
              <a:t>think of an ‘orb’: a round ball</a:t>
            </a:r>
            <a:endParaRPr lang="en-US" sz="1500" dirty="0"/>
          </a:p>
        </p:txBody>
      </p:sp>
      <p:sp>
        <p:nvSpPr>
          <p:cNvPr id="29" name="Text 26"/>
          <p:cNvSpPr txBox="1"/>
          <p:nvPr/>
        </p:nvSpPr>
        <p:spPr>
          <a:xfrm>
            <a:off x="457200" y="4343400"/>
            <a:ext cx="8229600" cy="320040"/>
          </a:xfrm>
          <a:prstGeom prst="rect">
            <a:avLst/>
          </a:prstGeom>
          <a:noFill/>
          <a:ln/>
        </p:spPr>
        <p:txBody>
          <a:bodyPr wrap="square" lIns="0" tIns="0" rIns="0" bIns="0" rtlCol="0" anchor="ctr"/>
          <a:lstStyle/>
          <a:p>
            <a:pPr marL="0" indent="0" algn="ctr">
              <a:buNone/>
            </a:pPr>
            <a:r>
              <a:rPr lang="en-US" sz="1400" i="1" dirty="0">
                <a:solidFill>
                  <a:schemeClr val="tx2"/>
                </a:solidFill>
              </a:rPr>
              <a:t>Highlight the tricky letter groups to remind you.</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Spelling log: glossary words</a:t>
            </a:r>
            <a:endParaRPr lang="en-US" sz="3000" dirty="0"/>
          </a:p>
        </p:txBody>
      </p:sp>
      <p:sp>
        <p:nvSpPr>
          <p:cNvPr id="4" name="Spelling row 1"/>
          <p:cNvSpPr/>
          <p:nvPr/>
        </p:nvSpPr>
        <p:spPr>
          <a:xfrm>
            <a:off x="457200" y="1051560"/>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48640" y="1120140"/>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48640" y="11201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51560"/>
            <a:ext cx="3108960" cy="502920"/>
          </a:xfrm>
          <a:prstGeom prst="rect">
            <a:avLst/>
          </a:prstGeom>
          <a:noFill/>
          <a:ln/>
        </p:spPr>
        <p:txBody>
          <a:bodyPr wrap="square" lIns="0" tIns="0" rIns="0" bIns="0" rtlCol="0" anchor="ctr"/>
          <a:lstStyle/>
          <a:p>
            <a:pPr marL="0" indent="0">
              <a:buNone/>
            </a:pPr>
            <a:r>
              <a:rPr lang="en-US" sz="2100" b="1" dirty="0">
                <a:solidFill>
                  <a:schemeClr val="tx1"/>
                </a:solidFill>
                <a:latin typeface="+mj-lt" pitchFamily="34" charset="0"/>
                <a:ea typeface="+mj-lt" pitchFamily="34" charset="-122"/>
                <a:cs typeface="+mj-lt" pitchFamily="34" charset="-120"/>
              </a:rPr>
              <a:t>catal</a:t>
            </a:r>
            <a:r>
              <a:rPr lang="en-US" sz="2100" b="1" dirty="0">
                <a:solidFill>
                  <a:schemeClr val="tx1"/>
                </a:solidFill>
                <a:highlight>
                  <a:srgbClr val="FFD166"/>
                </a:highlight>
                <a:latin typeface="+mj-lt" pitchFamily="34" charset="0"/>
                <a:ea typeface="+mj-lt" pitchFamily="34" charset="-122"/>
                <a:cs typeface="+mj-lt" pitchFamily="34" charset="-120"/>
              </a:rPr>
              <a:t>ogue</a:t>
            </a:r>
            <a:endParaRPr lang="en-US" sz="2100" dirty="0"/>
          </a:p>
        </p:txBody>
      </p:sp>
      <p:sp>
        <p:nvSpPr>
          <p:cNvPr id="8" name="Text 5"/>
          <p:cNvSpPr txBox="1"/>
          <p:nvPr/>
        </p:nvSpPr>
        <p:spPr>
          <a:xfrm>
            <a:off x="4297680" y="1051560"/>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‘ogue’ sounds like ‘og’ (cat-a-log)</a:t>
            </a:r>
            <a:endParaRPr lang="en-US" sz="1400" dirty="0"/>
          </a:p>
        </p:txBody>
      </p:sp>
      <p:sp>
        <p:nvSpPr>
          <p:cNvPr id="9" name="Spelling row 2"/>
          <p:cNvSpPr/>
          <p:nvPr/>
        </p:nvSpPr>
        <p:spPr>
          <a:xfrm>
            <a:off x="457200" y="1636776"/>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170535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48640" y="170535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97280" y="1636776"/>
            <a:ext cx="3108960" cy="502920"/>
          </a:xfrm>
          <a:prstGeom prst="rect">
            <a:avLst/>
          </a:prstGeom>
          <a:noFill/>
          <a:ln/>
        </p:spPr>
        <p:txBody>
          <a:bodyPr wrap="square" lIns="0" tIns="0" rIns="0" bIns="0" rtlCol="0" anchor="ctr"/>
          <a:lstStyle/>
          <a:p>
            <a:pPr marL="0" indent="0">
              <a:buNone/>
            </a:pPr>
            <a:r>
              <a:rPr lang="en-US" sz="2100" b="1" dirty="0">
                <a:solidFill>
                  <a:schemeClr val="tx1"/>
                </a:solidFill>
                <a:latin typeface="+mj-lt" pitchFamily="34" charset="0"/>
                <a:ea typeface="+mj-lt" pitchFamily="34" charset="-122"/>
                <a:cs typeface="+mj-lt" pitchFamily="34" charset="-120"/>
              </a:rPr>
              <a:t>a</a:t>
            </a:r>
            <a:r>
              <a:rPr lang="en-US" sz="2100" b="1" dirty="0">
                <a:solidFill>
                  <a:schemeClr val="tx1"/>
                </a:solidFill>
                <a:highlight>
                  <a:srgbClr val="FFD166"/>
                </a:highlight>
                <a:latin typeface="+mj-lt" pitchFamily="34" charset="0"/>
                <a:ea typeface="+mj-lt" pitchFamily="34" charset="-122"/>
                <a:cs typeface="+mj-lt" pitchFamily="34" charset="-120"/>
              </a:rPr>
              <a:t>stro</a:t>
            </a:r>
            <a:r>
              <a:rPr lang="en-US" sz="2100" b="1" dirty="0">
                <a:solidFill>
                  <a:schemeClr val="tx1"/>
                </a:solidFill>
                <a:latin typeface="+mj-lt" pitchFamily="34" charset="0"/>
                <a:ea typeface="+mj-lt" pitchFamily="34" charset="-122"/>
                <a:cs typeface="+mj-lt" pitchFamily="34" charset="-120"/>
              </a:rPr>
              <a:t>n</a:t>
            </a:r>
            <a:r>
              <a:rPr lang="en-US" sz="2100" b="1" dirty="0">
                <a:solidFill>
                  <a:schemeClr val="tx1"/>
                </a:solidFill>
                <a:highlight>
                  <a:srgbClr val="FFD166"/>
                </a:highlight>
                <a:latin typeface="+mj-lt" pitchFamily="34" charset="0"/>
                <a:ea typeface="+mj-lt" pitchFamily="34" charset="-122"/>
                <a:cs typeface="+mj-lt" pitchFamily="34" charset="-120"/>
              </a:rPr>
              <a:t>omer</a:t>
            </a:r>
            <a:endParaRPr lang="en-US" sz="2100" dirty="0"/>
          </a:p>
        </p:txBody>
      </p:sp>
      <p:sp>
        <p:nvSpPr>
          <p:cNvPr id="13" name="Text 10"/>
          <p:cNvSpPr txBox="1"/>
          <p:nvPr/>
        </p:nvSpPr>
        <p:spPr>
          <a:xfrm>
            <a:off x="4297680" y="1636776"/>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astro = star; the ending is ‘omer’, not ‘amer’</a:t>
            </a:r>
            <a:endParaRPr lang="en-US" sz="1400" dirty="0"/>
          </a:p>
        </p:txBody>
      </p:sp>
      <p:sp>
        <p:nvSpPr>
          <p:cNvPr id="14" name="Spelling row 3"/>
          <p:cNvSpPr/>
          <p:nvPr/>
        </p:nvSpPr>
        <p:spPr>
          <a:xfrm>
            <a:off x="457200" y="2221992"/>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48640" y="2290572"/>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48640" y="229057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97280" y="2221992"/>
            <a:ext cx="3108960" cy="502920"/>
          </a:xfrm>
          <a:prstGeom prst="rect">
            <a:avLst/>
          </a:prstGeom>
          <a:noFill/>
          <a:ln/>
        </p:spPr>
        <p:txBody>
          <a:bodyPr wrap="square" lIns="0" tIns="0" rIns="0" bIns="0" rtlCol="0" anchor="ctr"/>
          <a:lstStyle/>
          <a:p>
            <a:pPr marL="0" indent="0">
              <a:buNone/>
            </a:pPr>
            <a:r>
              <a:rPr lang="en-US" sz="2100" b="1" dirty="0">
                <a:solidFill>
                  <a:schemeClr val="tx1"/>
                </a:solidFill>
                <a:latin typeface="+mj-lt" pitchFamily="34" charset="0"/>
                <a:ea typeface="+mj-lt" pitchFamily="34" charset="-122"/>
                <a:cs typeface="+mj-lt" pitchFamily="34" charset="-120"/>
              </a:rPr>
              <a:t>naked </a:t>
            </a:r>
            <a:r>
              <a:rPr lang="en-US" sz="2100" b="1" dirty="0">
                <a:solidFill>
                  <a:schemeClr val="tx1"/>
                </a:solidFill>
                <a:highlight>
                  <a:srgbClr val="FFD166"/>
                </a:highlight>
                <a:latin typeface="+mj-lt" pitchFamily="34" charset="0"/>
                <a:ea typeface="+mj-lt" pitchFamily="34" charset="-122"/>
                <a:cs typeface="+mj-lt" pitchFamily="34" charset="-120"/>
              </a:rPr>
              <a:t>eye</a:t>
            </a:r>
            <a:endParaRPr lang="en-US" sz="2100" dirty="0"/>
          </a:p>
        </p:txBody>
      </p:sp>
      <p:sp>
        <p:nvSpPr>
          <p:cNvPr id="18" name="Text 15"/>
          <p:cNvSpPr txBox="1"/>
          <p:nvPr/>
        </p:nvSpPr>
        <p:spPr>
          <a:xfrm>
            <a:off x="4297680" y="2221992"/>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‘eye’ is an irregular spelling to learn</a:t>
            </a:r>
            <a:endParaRPr lang="en-US" sz="1400" dirty="0"/>
          </a:p>
        </p:txBody>
      </p:sp>
      <p:sp>
        <p:nvSpPr>
          <p:cNvPr id="19" name="Spelling row 4"/>
          <p:cNvSpPr/>
          <p:nvPr/>
        </p:nvSpPr>
        <p:spPr>
          <a:xfrm>
            <a:off x="457200" y="2807208"/>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48640" y="2875788"/>
            <a:ext cx="365760" cy="365760"/>
          </a:xfrm>
          <a:prstGeom prst="ellipse">
            <a:avLst/>
          </a:prstGeom>
          <a:solidFill>
            <a:schemeClr val="accent4"/>
          </a:solidFill>
          <a:ln w="6350">
            <a:solidFill>
              <a:schemeClr val="accent4"/>
            </a:solidFill>
            <a:prstDash val="solid"/>
          </a:ln>
        </p:spPr>
      </p:sp>
      <p:sp>
        <p:nvSpPr>
          <p:cNvPr id="21" name="Text 18"/>
          <p:cNvSpPr txBox="1"/>
          <p:nvPr/>
        </p:nvSpPr>
        <p:spPr>
          <a:xfrm>
            <a:off x="548640" y="2875788"/>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1097280" y="2807208"/>
            <a:ext cx="3108960" cy="502920"/>
          </a:xfrm>
          <a:prstGeom prst="rect">
            <a:avLst/>
          </a:prstGeom>
          <a:noFill/>
          <a:ln/>
        </p:spPr>
        <p:txBody>
          <a:bodyPr wrap="square" lIns="0" tIns="0" rIns="0" bIns="0" rtlCol="0" anchor="ctr"/>
          <a:lstStyle/>
          <a:p>
            <a:pPr marL="0" indent="0">
              <a:buNone/>
            </a:pPr>
            <a:r>
              <a:rPr lang="en-US" sz="2100" b="1" dirty="0">
                <a:solidFill>
                  <a:schemeClr val="tx1"/>
                </a:solidFill>
                <a:latin typeface="+mj-lt" pitchFamily="34" charset="0"/>
                <a:ea typeface="+mj-lt" pitchFamily="34" charset="-122"/>
                <a:cs typeface="+mj-lt" pitchFamily="34" charset="-120"/>
              </a:rPr>
              <a:t>ob</a:t>
            </a:r>
            <a:r>
              <a:rPr lang="en-US" sz="2100" b="1" dirty="0">
                <a:solidFill>
                  <a:schemeClr val="tx1"/>
                </a:solidFill>
                <a:highlight>
                  <a:srgbClr val="FFD166"/>
                </a:highlight>
                <a:latin typeface="+mj-lt" pitchFamily="34" charset="0"/>
                <a:ea typeface="+mj-lt" pitchFamily="34" charset="-122"/>
                <a:cs typeface="+mj-lt" pitchFamily="34" charset="-120"/>
              </a:rPr>
              <a:t>serv</a:t>
            </a:r>
            <a:r>
              <a:rPr lang="en-US" sz="2100" b="1" dirty="0">
                <a:solidFill>
                  <a:schemeClr val="tx1"/>
                </a:solidFill>
                <a:latin typeface="+mj-lt" pitchFamily="34" charset="0"/>
                <a:ea typeface="+mj-lt" pitchFamily="34" charset="-122"/>
                <a:cs typeface="+mj-lt" pitchFamily="34" charset="-120"/>
              </a:rPr>
              <a:t>a</a:t>
            </a:r>
            <a:r>
              <a:rPr lang="en-US" sz="2100" b="1" dirty="0">
                <a:solidFill>
                  <a:schemeClr val="tx1"/>
                </a:solidFill>
                <a:highlight>
                  <a:srgbClr val="FFD166"/>
                </a:highlight>
                <a:latin typeface="+mj-lt" pitchFamily="34" charset="0"/>
                <a:ea typeface="+mj-lt" pitchFamily="34" charset="-122"/>
                <a:cs typeface="+mj-lt" pitchFamily="34" charset="-120"/>
              </a:rPr>
              <a:t>tory</a:t>
            </a:r>
            <a:endParaRPr lang="en-US" sz="2100" dirty="0"/>
          </a:p>
        </p:txBody>
      </p:sp>
      <p:sp>
        <p:nvSpPr>
          <p:cNvPr id="23" name="Text 20"/>
          <p:cNvSpPr txBox="1"/>
          <p:nvPr/>
        </p:nvSpPr>
        <p:spPr>
          <a:xfrm>
            <a:off x="4297680" y="2807208"/>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observe + atory: keep the ‘serv’</a:t>
            </a:r>
            <a:endParaRPr lang="en-US" sz="1400" dirty="0"/>
          </a:p>
        </p:txBody>
      </p:sp>
      <p:sp>
        <p:nvSpPr>
          <p:cNvPr id="24" name="Spelling row 5"/>
          <p:cNvSpPr/>
          <p:nvPr/>
        </p:nvSpPr>
        <p:spPr>
          <a:xfrm>
            <a:off x="457200" y="3392424"/>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48640" y="3461004"/>
            <a:ext cx="365760" cy="365760"/>
          </a:xfrm>
          <a:prstGeom prst="ellipse">
            <a:avLst/>
          </a:prstGeom>
          <a:solidFill>
            <a:schemeClr val="accent5"/>
          </a:solidFill>
          <a:ln w="6350">
            <a:solidFill>
              <a:schemeClr val="accent5"/>
            </a:solidFill>
            <a:prstDash val="solid"/>
          </a:ln>
        </p:spPr>
      </p:sp>
      <p:sp>
        <p:nvSpPr>
          <p:cNvPr id="26" name="Text 23"/>
          <p:cNvSpPr txBox="1"/>
          <p:nvPr/>
        </p:nvSpPr>
        <p:spPr>
          <a:xfrm>
            <a:off x="548640" y="346100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7" name="Text 24"/>
          <p:cNvSpPr txBox="1"/>
          <p:nvPr/>
        </p:nvSpPr>
        <p:spPr>
          <a:xfrm>
            <a:off x="1097280" y="3392424"/>
            <a:ext cx="3108960" cy="502920"/>
          </a:xfrm>
          <a:prstGeom prst="rect">
            <a:avLst/>
          </a:prstGeom>
          <a:noFill/>
          <a:ln/>
        </p:spPr>
        <p:txBody>
          <a:bodyPr wrap="square" lIns="0" tIns="0" rIns="0" bIns="0" rtlCol="0" anchor="ctr"/>
          <a:lstStyle/>
          <a:p>
            <a:pPr marL="0" indent="0">
              <a:buNone/>
            </a:pPr>
            <a:r>
              <a:rPr lang="en-US" sz="2100" b="1" dirty="0">
                <a:solidFill>
                  <a:schemeClr val="tx1"/>
                </a:solidFill>
                <a:latin typeface="+mj-lt" pitchFamily="34" charset="0"/>
                <a:ea typeface="+mj-lt" pitchFamily="34" charset="-122"/>
                <a:cs typeface="+mj-lt" pitchFamily="34" charset="-120"/>
              </a:rPr>
              <a:t>sate</a:t>
            </a:r>
            <a:r>
              <a:rPr lang="en-US" sz="2100" b="1" dirty="0">
                <a:solidFill>
                  <a:schemeClr val="tx1"/>
                </a:solidFill>
                <a:highlight>
                  <a:srgbClr val="FFD166"/>
                </a:highlight>
                <a:latin typeface="+mj-lt" pitchFamily="34" charset="0"/>
                <a:ea typeface="+mj-lt" pitchFamily="34" charset="-122"/>
                <a:cs typeface="+mj-lt" pitchFamily="34" charset="-120"/>
              </a:rPr>
              <a:t>ll</a:t>
            </a:r>
            <a:r>
              <a:rPr lang="en-US" sz="2100" b="1" dirty="0">
                <a:solidFill>
                  <a:schemeClr val="tx1"/>
                </a:solidFill>
                <a:latin typeface="+mj-lt" pitchFamily="34" charset="0"/>
                <a:ea typeface="+mj-lt" pitchFamily="34" charset="-122"/>
                <a:cs typeface="+mj-lt" pitchFamily="34" charset="-120"/>
              </a:rPr>
              <a:t>ite</a:t>
            </a:r>
            <a:endParaRPr lang="en-US" sz="2100" dirty="0"/>
          </a:p>
        </p:txBody>
      </p:sp>
      <p:sp>
        <p:nvSpPr>
          <p:cNvPr id="28" name="Text 25"/>
          <p:cNvSpPr txBox="1"/>
          <p:nvPr/>
        </p:nvSpPr>
        <p:spPr>
          <a:xfrm>
            <a:off x="4297680" y="3392424"/>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double ‘l’, and ‘ite’ sounds like ‘ight’</a:t>
            </a:r>
            <a:endParaRPr lang="en-US" sz="1400" dirty="0"/>
          </a:p>
        </p:txBody>
      </p:sp>
      <p:sp>
        <p:nvSpPr>
          <p:cNvPr id="29" name="Spelling row 6"/>
          <p:cNvSpPr/>
          <p:nvPr/>
        </p:nvSpPr>
        <p:spPr>
          <a:xfrm>
            <a:off x="457200" y="3977640"/>
            <a:ext cx="8229600" cy="502920"/>
          </a:xfrm>
          <a:prstGeom prst="roundRect">
            <a:avLst>
              <a:gd name="adj" fmla="val 21818"/>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0" name="Badge"/>
          <p:cNvSpPr/>
          <p:nvPr/>
        </p:nvSpPr>
        <p:spPr>
          <a:xfrm>
            <a:off x="548640" y="4046220"/>
            <a:ext cx="365760" cy="365760"/>
          </a:xfrm>
          <a:prstGeom prst="ellipse">
            <a:avLst/>
          </a:prstGeom>
          <a:solidFill>
            <a:schemeClr val="accent1"/>
          </a:solidFill>
          <a:ln w="6350">
            <a:solidFill>
              <a:schemeClr val="accent1"/>
            </a:solidFill>
            <a:prstDash val="solid"/>
          </a:ln>
        </p:spPr>
      </p:sp>
      <p:sp>
        <p:nvSpPr>
          <p:cNvPr id="31" name="Text 28"/>
          <p:cNvSpPr txBox="1"/>
          <p:nvPr/>
        </p:nvSpPr>
        <p:spPr>
          <a:xfrm>
            <a:off x="548640" y="40462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32" name="Text 29"/>
          <p:cNvSpPr txBox="1"/>
          <p:nvPr/>
        </p:nvSpPr>
        <p:spPr>
          <a:xfrm>
            <a:off x="1097280" y="3977640"/>
            <a:ext cx="3108960" cy="502920"/>
          </a:xfrm>
          <a:prstGeom prst="rect">
            <a:avLst/>
          </a:prstGeom>
          <a:noFill/>
          <a:ln/>
        </p:spPr>
        <p:txBody>
          <a:bodyPr wrap="square" lIns="0" tIns="0" rIns="0" bIns="0" rtlCol="0" anchor="ctr"/>
          <a:lstStyle/>
          <a:p>
            <a:pPr marL="0" indent="0">
              <a:buNone/>
            </a:pPr>
            <a:r>
              <a:rPr lang="en-US" sz="2100" b="1" dirty="0">
                <a:solidFill>
                  <a:schemeClr val="tx1"/>
                </a:solidFill>
                <a:highlight>
                  <a:srgbClr val="FFD166"/>
                </a:highlight>
                <a:latin typeface="+mj-lt" pitchFamily="34" charset="0"/>
                <a:ea typeface="+mj-lt" pitchFamily="34" charset="-122"/>
                <a:cs typeface="+mj-lt" pitchFamily="34" charset="-120"/>
              </a:rPr>
              <a:t>cosm</a:t>
            </a:r>
            <a:r>
              <a:rPr lang="en-US" sz="2100" b="1" dirty="0">
                <a:solidFill>
                  <a:schemeClr val="tx1"/>
                </a:solidFill>
                <a:latin typeface="+mj-lt" pitchFamily="34" charset="0"/>
                <a:ea typeface="+mj-lt" pitchFamily="34" charset="-122"/>
                <a:cs typeface="+mj-lt" pitchFamily="34" charset="-120"/>
              </a:rPr>
              <a:t>on</a:t>
            </a:r>
            <a:r>
              <a:rPr lang="en-US" sz="2100" b="1" dirty="0">
                <a:solidFill>
                  <a:schemeClr val="tx1"/>
                </a:solidFill>
                <a:highlight>
                  <a:srgbClr val="FFD166"/>
                </a:highlight>
                <a:latin typeface="+mj-lt" pitchFamily="34" charset="0"/>
                <a:ea typeface="+mj-lt" pitchFamily="34" charset="-122"/>
                <a:cs typeface="+mj-lt" pitchFamily="34" charset="-120"/>
              </a:rPr>
              <a:t>aut</a:t>
            </a:r>
            <a:endParaRPr lang="en-US" sz="2100" dirty="0"/>
          </a:p>
        </p:txBody>
      </p:sp>
      <p:sp>
        <p:nvSpPr>
          <p:cNvPr id="33" name="Text 30"/>
          <p:cNvSpPr txBox="1"/>
          <p:nvPr/>
        </p:nvSpPr>
        <p:spPr>
          <a:xfrm>
            <a:off x="4297680" y="3977640"/>
            <a:ext cx="4297680" cy="502920"/>
          </a:xfrm>
          <a:prstGeom prst="rect">
            <a:avLst/>
          </a:prstGeom>
          <a:noFill/>
          <a:ln/>
        </p:spPr>
        <p:txBody>
          <a:bodyPr wrap="square" lIns="0" tIns="0" rIns="0" bIns="0" rtlCol="0" anchor="ctr"/>
          <a:lstStyle/>
          <a:p>
            <a:pPr marL="0" indent="0">
              <a:buNone/>
            </a:pPr>
            <a:r>
              <a:rPr lang="en-US" sz="1400" i="1" dirty="0">
                <a:solidFill>
                  <a:schemeClr val="tx2"/>
                </a:solidFill>
              </a:rPr>
              <a:t>‘c’ sounds like ‘k’; ‘aut’ sounds like ‘ort’</a:t>
            </a:r>
            <a:endParaRPr lang="en-US" sz="1400" dirty="0"/>
          </a:p>
        </p:txBody>
      </p:sp>
      <p:sp>
        <p:nvSpPr>
          <p:cNvPr id="34" name="Text 31"/>
          <p:cNvSpPr txBox="1"/>
          <p:nvPr/>
        </p:nvSpPr>
        <p:spPr>
          <a:xfrm>
            <a:off x="457200" y="4572000"/>
            <a:ext cx="8229600" cy="228600"/>
          </a:xfrm>
          <a:prstGeom prst="rect">
            <a:avLst/>
          </a:prstGeom>
          <a:noFill/>
          <a:ln/>
        </p:spPr>
        <p:txBody>
          <a:bodyPr wrap="square" lIns="0" tIns="0" rIns="0" bIns="0" rtlCol="0" anchor="ctr"/>
          <a:lstStyle/>
          <a:p>
            <a:pPr marL="0" indent="0" algn="ctr">
              <a:buNone/>
            </a:pPr>
            <a:r>
              <a:rPr lang="en-US" sz="1400" i="1" dirty="0">
                <a:solidFill>
                  <a:schemeClr val="tx2"/>
                </a:solidFill>
              </a:rPr>
              <a:t>Highlight the tricky letter groups to remind you.</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3</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4000" b="1" dirty="0">
                <a:solidFill>
                  <a:schemeClr val="accent5"/>
                </a:solidFill>
                <a:latin typeface="+mj-lt" pitchFamily="34" charset="0"/>
                <a:ea typeface="+mj-lt" pitchFamily="34" charset="-122"/>
                <a:cs typeface="+mj-lt" pitchFamily="34" charset="-120"/>
              </a:rPr>
              <a:t>Scan for Information</a:t>
            </a:r>
            <a:endParaRPr lang="en-US" sz="40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Activity 2 · questions a to f</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Scanning: find it fast</a:t>
            </a:r>
            <a:endParaRPr lang="en-US" sz="3000" dirty="0"/>
          </a:p>
        </p:txBody>
      </p:sp>
      <p:sp>
        <p:nvSpPr>
          <p:cNvPr id="4" name="Scan step 1"/>
          <p:cNvSpPr/>
          <p:nvPr/>
        </p:nvSpPr>
        <p:spPr>
          <a:xfrm>
            <a:off x="457200" y="1097280"/>
            <a:ext cx="2560320" cy="2377440"/>
          </a:xfrm>
          <a:prstGeom prst="roundRect">
            <a:avLst>
              <a:gd name="adj" fmla="val 461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28016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640080" y="128016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640080" y="1874520"/>
            <a:ext cx="21945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Know your target</a:t>
            </a:r>
            <a:endParaRPr lang="en-US" sz="1800" dirty="0"/>
          </a:p>
        </p:txBody>
      </p:sp>
      <p:sp>
        <p:nvSpPr>
          <p:cNvPr id="8" name="Text 5"/>
          <p:cNvSpPr txBox="1"/>
          <p:nvPr/>
        </p:nvSpPr>
        <p:spPr>
          <a:xfrm>
            <a:off x="640080" y="2331720"/>
            <a:ext cx="2194560" cy="1051560"/>
          </a:xfrm>
          <a:prstGeom prst="rect">
            <a:avLst/>
          </a:prstGeom>
          <a:noFill/>
          <a:ln/>
        </p:spPr>
        <p:txBody>
          <a:bodyPr wrap="square" lIns="0" tIns="0" rIns="0" bIns="0" rtlCol="0" anchor="t"/>
          <a:lstStyle/>
          <a:p>
            <a:pPr marL="0" indent="0">
              <a:buNone/>
            </a:pPr>
            <a:r>
              <a:rPr lang="en-US" sz="1400" dirty="0">
                <a:solidFill>
                  <a:schemeClr val="tx1"/>
                </a:solidFill>
              </a:rPr>
              <a:t>What are you hunting for: a name, a date or a number?</a:t>
            </a:r>
            <a:endParaRPr lang="en-US" sz="1400" dirty="0"/>
          </a:p>
        </p:txBody>
      </p:sp>
      <p:sp>
        <p:nvSpPr>
          <p:cNvPr id="9" name="Scan step 2"/>
          <p:cNvSpPr/>
          <p:nvPr/>
        </p:nvSpPr>
        <p:spPr>
          <a:xfrm>
            <a:off x="3291840" y="1097280"/>
            <a:ext cx="2560320" cy="2377440"/>
          </a:xfrm>
          <a:prstGeom prst="roundRect">
            <a:avLst>
              <a:gd name="adj" fmla="val 461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3474720" y="1280160"/>
            <a:ext cx="457200" cy="457200"/>
          </a:xfrm>
          <a:prstGeom prst="ellipse">
            <a:avLst/>
          </a:prstGeom>
          <a:solidFill>
            <a:schemeClr val="accent2"/>
          </a:solidFill>
          <a:ln w="6350">
            <a:solidFill>
              <a:schemeClr val="accent2"/>
            </a:solidFill>
            <a:prstDash val="solid"/>
          </a:ln>
        </p:spPr>
      </p:sp>
      <p:sp>
        <p:nvSpPr>
          <p:cNvPr id="11" name="Text 8"/>
          <p:cNvSpPr txBox="1"/>
          <p:nvPr/>
        </p:nvSpPr>
        <p:spPr>
          <a:xfrm>
            <a:off x="3474720" y="128016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3474720" y="1874520"/>
            <a:ext cx="21945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Sweep the text</a:t>
            </a:r>
            <a:endParaRPr lang="en-US" sz="1800" dirty="0"/>
          </a:p>
        </p:txBody>
      </p:sp>
      <p:sp>
        <p:nvSpPr>
          <p:cNvPr id="13" name="Text 10"/>
          <p:cNvSpPr txBox="1"/>
          <p:nvPr/>
        </p:nvSpPr>
        <p:spPr>
          <a:xfrm>
            <a:off x="3474720" y="2331720"/>
            <a:ext cx="2194560" cy="1051560"/>
          </a:xfrm>
          <a:prstGeom prst="rect">
            <a:avLst/>
          </a:prstGeom>
          <a:noFill/>
          <a:ln/>
        </p:spPr>
        <p:txBody>
          <a:bodyPr wrap="square" lIns="0" tIns="0" rIns="0" bIns="0" rtlCol="0" anchor="t"/>
          <a:lstStyle/>
          <a:p>
            <a:pPr marL="0" indent="0">
              <a:buNone/>
            </a:pPr>
            <a:r>
              <a:rPr lang="en-US" sz="1400" dirty="0">
                <a:solidFill>
                  <a:schemeClr val="tx1"/>
                </a:solidFill>
              </a:rPr>
              <a:t>Let your eyes run over it. Look for capital letters, numbers and bold words.</a:t>
            </a:r>
            <a:endParaRPr lang="en-US" sz="1400" dirty="0"/>
          </a:p>
        </p:txBody>
      </p:sp>
      <p:sp>
        <p:nvSpPr>
          <p:cNvPr id="14" name="Scan step 3"/>
          <p:cNvSpPr/>
          <p:nvPr/>
        </p:nvSpPr>
        <p:spPr>
          <a:xfrm>
            <a:off x="6126480" y="1097280"/>
            <a:ext cx="2560320" cy="2377440"/>
          </a:xfrm>
          <a:prstGeom prst="roundRect">
            <a:avLst>
              <a:gd name="adj" fmla="val 461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6309360" y="1280160"/>
            <a:ext cx="457200" cy="457200"/>
          </a:xfrm>
          <a:prstGeom prst="ellipse">
            <a:avLst/>
          </a:prstGeom>
          <a:solidFill>
            <a:schemeClr val="accent3"/>
          </a:solidFill>
          <a:ln w="6350">
            <a:solidFill>
              <a:schemeClr val="accent3"/>
            </a:solidFill>
            <a:prstDash val="solid"/>
          </a:ln>
        </p:spPr>
      </p:sp>
      <p:sp>
        <p:nvSpPr>
          <p:cNvPr id="16" name="Text 13"/>
          <p:cNvSpPr txBox="1"/>
          <p:nvPr/>
        </p:nvSpPr>
        <p:spPr>
          <a:xfrm>
            <a:off x="6309360" y="128016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6309360" y="1874520"/>
            <a:ext cx="2194560" cy="4114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Stop and read</a:t>
            </a:r>
            <a:endParaRPr lang="en-US" sz="1800" dirty="0"/>
          </a:p>
        </p:txBody>
      </p:sp>
      <p:sp>
        <p:nvSpPr>
          <p:cNvPr id="18" name="Text 15"/>
          <p:cNvSpPr txBox="1"/>
          <p:nvPr/>
        </p:nvSpPr>
        <p:spPr>
          <a:xfrm>
            <a:off x="6309360" y="2331720"/>
            <a:ext cx="2194560" cy="1051560"/>
          </a:xfrm>
          <a:prstGeom prst="rect">
            <a:avLst/>
          </a:prstGeom>
          <a:noFill/>
          <a:ln/>
        </p:spPr>
        <p:txBody>
          <a:bodyPr wrap="square" lIns="0" tIns="0" rIns="0" bIns="0" rtlCol="0" anchor="t"/>
          <a:lstStyle/>
          <a:p>
            <a:pPr marL="0" indent="0">
              <a:buNone/>
            </a:pPr>
            <a:r>
              <a:rPr lang="en-US" sz="1400" dirty="0">
                <a:solidFill>
                  <a:schemeClr val="tx1"/>
                </a:solidFill>
              </a:rPr>
              <a:t>When you spot it, read that sentence closely to check.</a:t>
            </a:r>
            <a:endParaRPr lang="en-US" sz="1400" dirty="0"/>
          </a:p>
        </p:txBody>
      </p:sp>
      <p:sp>
        <p:nvSpPr>
          <p:cNvPr id="19" name="Callout"/>
          <p:cNvSpPr/>
          <p:nvPr/>
        </p:nvSpPr>
        <p:spPr>
          <a:xfrm>
            <a:off x="457200" y="3749040"/>
            <a:ext cx="8229600" cy="457200"/>
          </a:xfrm>
          <a:prstGeom prst="roundRect">
            <a:avLst>
              <a:gd name="adj" fmla="val 24000"/>
            </a:avLst>
          </a:prstGeom>
          <a:solidFill>
            <a:schemeClr val="accent5"/>
          </a:solidFill>
          <a:ln w="9525">
            <a:solidFill>
              <a:schemeClr val="accent5"/>
            </a:solidFill>
            <a:prstDash val="solid"/>
          </a:ln>
        </p:spPr>
      </p:sp>
      <p:sp>
        <p:nvSpPr>
          <p:cNvPr id="20" name="Text 17"/>
          <p:cNvSpPr txBox="1"/>
          <p:nvPr/>
        </p:nvSpPr>
        <p:spPr>
          <a:xfrm>
            <a:off x="640080" y="374904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Skimming = the general idea.   Scanning = one specific fact.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Scan challenge: a, b and c</a:t>
            </a:r>
            <a:endParaRPr lang="en-US" sz="3000" dirty="0"/>
          </a:p>
        </p:txBody>
      </p:sp>
      <p:sp>
        <p:nvSpPr>
          <p:cNvPr id="4" name="Question a"/>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44168"/>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640080" y="134416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325880" y="1097280"/>
            <a:ext cx="4846320" cy="960120"/>
          </a:xfrm>
          <a:prstGeom prst="rect">
            <a:avLst/>
          </a:prstGeom>
          <a:noFill/>
          <a:ln/>
        </p:spPr>
        <p:txBody>
          <a:bodyPr wrap="square" lIns="0" tIns="0" rIns="0" bIns="0" rtlCol="0" anchor="ctr"/>
          <a:lstStyle/>
          <a:p>
            <a:pPr marL="0" indent="0">
              <a:buNone/>
            </a:pPr>
            <a:r>
              <a:rPr lang="en-US" sz="1600" dirty="0">
                <a:solidFill>
                  <a:schemeClr val="tx1"/>
                </a:solidFill>
              </a:rPr>
              <a:t>Who created the first telescope strong enough to see into space?</a:t>
            </a:r>
            <a:endParaRPr lang="en-US" sz="1600" dirty="0"/>
          </a:p>
        </p:txBody>
      </p:sp>
      <p:sp>
        <p:nvSpPr>
          <p:cNvPr id="8" name="Keyword hint"/>
          <p:cNvSpPr/>
          <p:nvPr/>
        </p:nvSpPr>
        <p:spPr>
          <a:xfrm>
            <a:off x="6400800" y="1325880"/>
            <a:ext cx="2103120" cy="502920"/>
          </a:xfrm>
          <a:prstGeom prst="roundRect">
            <a:avLst>
              <a:gd name="adj" fmla="val 21818"/>
            </a:avLst>
          </a:prstGeom>
          <a:solidFill>
            <a:schemeClr val="bg2"/>
          </a:solidFill>
          <a:ln w="9525">
            <a:solidFill>
              <a:schemeClr val="accent4"/>
            </a:solidFill>
            <a:prstDash val="solid"/>
          </a:ln>
        </p:spPr>
      </p:sp>
      <p:sp>
        <p:nvSpPr>
          <p:cNvPr id="9" name="Text 6"/>
          <p:cNvSpPr txBox="1"/>
          <p:nvPr/>
        </p:nvSpPr>
        <p:spPr>
          <a:xfrm>
            <a:off x="6446520" y="1325880"/>
            <a:ext cx="2011680" cy="502920"/>
          </a:xfrm>
          <a:prstGeom prst="rect">
            <a:avLst/>
          </a:prstGeom>
          <a:noFill/>
          <a:ln/>
        </p:spPr>
        <p:txBody>
          <a:bodyPr wrap="square" lIns="0" tIns="0" rIns="0" bIns="0" rtlCol="0" anchor="ctr"/>
          <a:lstStyle/>
          <a:p>
            <a:pPr marL="0" indent="0" algn="ctr">
              <a:buNone/>
            </a:pPr>
            <a:r>
              <a:rPr lang="en-US" sz="1200" b="1" dirty="0">
                <a:solidFill>
                  <a:schemeClr val="accent4"/>
                </a:solidFill>
              </a:rPr>
              <a:t>scan for: telescope</a:t>
            </a:r>
            <a:endParaRPr lang="en-US" sz="1200" dirty="0"/>
          </a:p>
        </p:txBody>
      </p:sp>
      <p:sp>
        <p:nvSpPr>
          <p:cNvPr id="10" name="Question b"/>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640080" y="2441448"/>
            <a:ext cx="457200" cy="457200"/>
          </a:xfrm>
          <a:prstGeom prst="ellipse">
            <a:avLst/>
          </a:prstGeom>
          <a:solidFill>
            <a:schemeClr val="accent2"/>
          </a:solidFill>
          <a:ln w="6350">
            <a:solidFill>
              <a:schemeClr val="accent2"/>
            </a:solidFill>
            <a:prstDash val="solid"/>
          </a:ln>
        </p:spPr>
      </p:sp>
      <p:sp>
        <p:nvSpPr>
          <p:cNvPr id="12" name="Text 9"/>
          <p:cNvSpPr txBox="1"/>
          <p:nvPr/>
        </p:nvSpPr>
        <p:spPr>
          <a:xfrm>
            <a:off x="640080" y="244144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3" name="Text 10"/>
          <p:cNvSpPr txBox="1"/>
          <p:nvPr/>
        </p:nvSpPr>
        <p:spPr>
          <a:xfrm>
            <a:off x="1325880" y="2194560"/>
            <a:ext cx="4846320" cy="960120"/>
          </a:xfrm>
          <a:prstGeom prst="rect">
            <a:avLst/>
          </a:prstGeom>
          <a:noFill/>
          <a:ln/>
        </p:spPr>
        <p:txBody>
          <a:bodyPr wrap="square" lIns="0" tIns="0" rIns="0" bIns="0" rtlCol="0" anchor="ctr"/>
          <a:lstStyle/>
          <a:p>
            <a:pPr marL="0" indent="0">
              <a:buNone/>
            </a:pPr>
            <a:r>
              <a:rPr lang="en-US" sz="1600" dirty="0">
                <a:solidFill>
                  <a:schemeClr val="tx1"/>
                </a:solidFill>
              </a:rPr>
              <a:t>When was the first human trip into space? What did it achieve?</a:t>
            </a:r>
            <a:endParaRPr lang="en-US" sz="1600" dirty="0"/>
          </a:p>
        </p:txBody>
      </p:sp>
      <p:sp>
        <p:nvSpPr>
          <p:cNvPr id="14" name="Keyword hint"/>
          <p:cNvSpPr/>
          <p:nvPr/>
        </p:nvSpPr>
        <p:spPr>
          <a:xfrm>
            <a:off x="6400800" y="2423160"/>
            <a:ext cx="2103120" cy="502920"/>
          </a:xfrm>
          <a:prstGeom prst="roundRect">
            <a:avLst>
              <a:gd name="adj" fmla="val 21818"/>
            </a:avLst>
          </a:prstGeom>
          <a:solidFill>
            <a:schemeClr val="bg2"/>
          </a:solidFill>
          <a:ln w="9525">
            <a:solidFill>
              <a:schemeClr val="accent4"/>
            </a:solidFill>
            <a:prstDash val="solid"/>
          </a:ln>
        </p:spPr>
      </p:sp>
      <p:sp>
        <p:nvSpPr>
          <p:cNvPr id="15" name="Text 12"/>
          <p:cNvSpPr txBox="1"/>
          <p:nvPr/>
        </p:nvSpPr>
        <p:spPr>
          <a:xfrm>
            <a:off x="6446520" y="2423160"/>
            <a:ext cx="2011680" cy="502920"/>
          </a:xfrm>
          <a:prstGeom prst="rect">
            <a:avLst/>
          </a:prstGeom>
          <a:noFill/>
          <a:ln/>
        </p:spPr>
        <p:txBody>
          <a:bodyPr wrap="square" lIns="0" tIns="0" rIns="0" bIns="0" rtlCol="0" anchor="ctr"/>
          <a:lstStyle/>
          <a:p>
            <a:pPr marL="0" indent="0" algn="ctr">
              <a:buNone/>
            </a:pPr>
            <a:r>
              <a:rPr lang="en-US" sz="1200" b="1" dirty="0">
                <a:solidFill>
                  <a:schemeClr val="accent4"/>
                </a:solidFill>
              </a:rPr>
              <a:t>scan for: first person in space</a:t>
            </a:r>
            <a:endParaRPr lang="en-US" sz="1200" dirty="0"/>
          </a:p>
        </p:txBody>
      </p:sp>
      <p:sp>
        <p:nvSpPr>
          <p:cNvPr id="16" name="Question c"/>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640080" y="3538728"/>
            <a:ext cx="457200" cy="457200"/>
          </a:xfrm>
          <a:prstGeom prst="ellipse">
            <a:avLst/>
          </a:prstGeom>
          <a:solidFill>
            <a:schemeClr val="accent3"/>
          </a:solidFill>
          <a:ln w="6350">
            <a:solidFill>
              <a:schemeClr val="accent3"/>
            </a:solidFill>
            <a:prstDash val="solid"/>
          </a:ln>
        </p:spPr>
      </p:sp>
      <p:sp>
        <p:nvSpPr>
          <p:cNvPr id="18" name="Text 15"/>
          <p:cNvSpPr txBox="1"/>
          <p:nvPr/>
        </p:nvSpPr>
        <p:spPr>
          <a:xfrm>
            <a:off x="640080" y="353872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9" name="Text 16"/>
          <p:cNvSpPr txBox="1"/>
          <p:nvPr/>
        </p:nvSpPr>
        <p:spPr>
          <a:xfrm>
            <a:off x="1325880" y="3291840"/>
            <a:ext cx="4846320" cy="960120"/>
          </a:xfrm>
          <a:prstGeom prst="rect">
            <a:avLst/>
          </a:prstGeom>
          <a:noFill/>
          <a:ln/>
        </p:spPr>
        <p:txBody>
          <a:bodyPr wrap="square" lIns="0" tIns="0" rIns="0" bIns="0" rtlCol="0" anchor="ctr"/>
          <a:lstStyle/>
          <a:p>
            <a:pPr marL="0" indent="0">
              <a:buNone/>
            </a:pPr>
            <a:r>
              <a:rPr lang="en-US" sz="1600" dirty="0">
                <a:solidFill>
                  <a:schemeClr val="tx1"/>
                </a:solidFill>
              </a:rPr>
              <a:t>How long ago was the first moon landing?</a:t>
            </a:r>
            <a:endParaRPr lang="en-US" sz="1600" dirty="0"/>
          </a:p>
        </p:txBody>
      </p:sp>
      <p:sp>
        <p:nvSpPr>
          <p:cNvPr id="20" name="Keyword hint"/>
          <p:cNvSpPr/>
          <p:nvPr/>
        </p:nvSpPr>
        <p:spPr>
          <a:xfrm>
            <a:off x="6400800" y="3520440"/>
            <a:ext cx="2103120" cy="502920"/>
          </a:xfrm>
          <a:prstGeom prst="roundRect">
            <a:avLst>
              <a:gd name="adj" fmla="val 21818"/>
            </a:avLst>
          </a:prstGeom>
          <a:solidFill>
            <a:schemeClr val="bg2"/>
          </a:solidFill>
          <a:ln w="9525">
            <a:solidFill>
              <a:schemeClr val="accent4"/>
            </a:solidFill>
            <a:prstDash val="solid"/>
          </a:ln>
        </p:spPr>
      </p:sp>
      <p:sp>
        <p:nvSpPr>
          <p:cNvPr id="21" name="Text 18"/>
          <p:cNvSpPr txBox="1"/>
          <p:nvPr/>
        </p:nvSpPr>
        <p:spPr>
          <a:xfrm>
            <a:off x="6446520" y="3520440"/>
            <a:ext cx="2011680" cy="502920"/>
          </a:xfrm>
          <a:prstGeom prst="rect">
            <a:avLst/>
          </a:prstGeom>
          <a:noFill/>
          <a:ln/>
        </p:spPr>
        <p:txBody>
          <a:bodyPr wrap="square" lIns="0" tIns="0" rIns="0" bIns="0" rtlCol="0" anchor="ctr"/>
          <a:lstStyle/>
          <a:p>
            <a:pPr marL="0" indent="0" algn="ctr">
              <a:buNone/>
            </a:pPr>
            <a:r>
              <a:rPr lang="en-US" sz="1200" b="1" dirty="0">
                <a:solidFill>
                  <a:schemeClr val="accent4"/>
                </a:solidFill>
              </a:rPr>
              <a:t>scan for: moon · date</a:t>
            </a:r>
            <a:endParaRPr lang="en-US" sz="1200" dirty="0"/>
          </a:p>
        </p:txBody>
      </p:sp>
      <p:sp>
        <p:nvSpPr>
          <p:cNvPr id="22" name="Text 19"/>
          <p:cNvSpPr txBox="1"/>
          <p:nvPr/>
        </p:nvSpPr>
        <p:spPr>
          <a:xfrm>
            <a:off x="457200" y="4389120"/>
            <a:ext cx="8229600" cy="274320"/>
          </a:xfrm>
          <a:prstGeom prst="rect">
            <a:avLst/>
          </a:prstGeom>
          <a:noFill/>
          <a:ln/>
        </p:spPr>
        <p:txBody>
          <a:bodyPr wrap="square" lIns="0" tIns="0" rIns="0" bIns="0" rtlCol="0" anchor="ctr"/>
          <a:lstStyle/>
          <a:p>
            <a:pPr marL="0" indent="0" algn="ctr">
              <a:buNone/>
            </a:pPr>
            <a:r>
              <a:rPr lang="en-US" sz="1400" i="1" dirty="0">
                <a:solidFill>
                  <a:schemeClr val="tx2"/>
                </a:solidFill>
              </a:rPr>
              <a:t>Time yourself. Can you beat your partner?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Answers: a, b and c</a:t>
            </a:r>
            <a:endParaRPr lang="en-US" sz="3000" dirty="0"/>
          </a:p>
        </p:txBody>
      </p:sp>
      <p:sp>
        <p:nvSpPr>
          <p:cNvPr id="4" name="Answer a"/>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44168"/>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640080" y="134416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325880" y="1097280"/>
            <a:ext cx="2194560" cy="960120"/>
          </a:xfrm>
          <a:prstGeom prst="rect">
            <a:avLst/>
          </a:prstGeom>
          <a:noFill/>
          <a:ln/>
        </p:spPr>
        <p:txBody>
          <a:bodyPr wrap="square" lIns="0" tIns="0" rIns="0" bIns="0" rtlCol="0" anchor="ctr"/>
          <a:lstStyle/>
          <a:p>
            <a:pPr marL="0" indent="0">
              <a:buNone/>
            </a:pPr>
            <a:r>
              <a:rPr lang="en-US" sz="1900" b="1" dirty="0">
                <a:solidFill>
                  <a:schemeClr val="tx1"/>
                </a:solidFill>
                <a:latin typeface="+mj-lt" pitchFamily="34" charset="0"/>
                <a:ea typeface="+mj-lt" pitchFamily="34" charset="-122"/>
                <a:cs typeface="+mj-lt" pitchFamily="34" charset="-120"/>
              </a:rPr>
              <a:t>Galileo</a:t>
            </a:r>
            <a:endParaRPr lang="en-US" sz="1900" dirty="0"/>
          </a:p>
        </p:txBody>
      </p:sp>
      <p:sp>
        <p:nvSpPr>
          <p:cNvPr id="8" name="Text 5"/>
          <p:cNvSpPr txBox="1"/>
          <p:nvPr/>
        </p:nvSpPr>
        <p:spPr>
          <a:xfrm>
            <a:off x="3566160" y="1097280"/>
            <a:ext cx="4754880" cy="960120"/>
          </a:xfrm>
          <a:prstGeom prst="rect">
            <a:avLst/>
          </a:prstGeom>
          <a:noFill/>
          <a:ln/>
        </p:spPr>
        <p:txBody>
          <a:bodyPr wrap="square" lIns="0" tIns="0" rIns="0" bIns="0" rtlCol="0" anchor="ctr"/>
          <a:lstStyle/>
          <a:p>
            <a:pPr marL="0" indent="0">
              <a:buNone/>
            </a:pPr>
            <a:r>
              <a:rPr lang="en-US" sz="1400" dirty="0">
                <a:solidFill>
                  <a:schemeClr val="tx1"/>
                </a:solidFill>
              </a:rPr>
              <a:t>Italian scientist Galileo built the first telescope in 1609 and used it to prove Copernicus right.</a:t>
            </a:r>
            <a:endParaRPr lang="en-US" sz="1400" dirty="0"/>
          </a:p>
        </p:txBody>
      </p:sp>
      <p:sp>
        <p:nvSpPr>
          <p:cNvPr id="9" name="Answer b"/>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640080" y="2441448"/>
            <a:ext cx="457200" cy="457200"/>
          </a:xfrm>
          <a:prstGeom prst="ellipse">
            <a:avLst/>
          </a:prstGeom>
          <a:solidFill>
            <a:schemeClr val="accent2"/>
          </a:solidFill>
          <a:ln w="6350">
            <a:solidFill>
              <a:schemeClr val="accent2"/>
            </a:solidFill>
            <a:prstDash val="solid"/>
          </a:ln>
        </p:spPr>
      </p:sp>
      <p:sp>
        <p:nvSpPr>
          <p:cNvPr id="11" name="Text 8"/>
          <p:cNvSpPr txBox="1"/>
          <p:nvPr/>
        </p:nvSpPr>
        <p:spPr>
          <a:xfrm>
            <a:off x="640080" y="244144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1325880" y="2194560"/>
            <a:ext cx="2194560" cy="960120"/>
          </a:xfrm>
          <a:prstGeom prst="rect">
            <a:avLst/>
          </a:prstGeom>
          <a:noFill/>
          <a:ln/>
        </p:spPr>
        <p:txBody>
          <a:bodyPr wrap="square" lIns="0" tIns="0" rIns="0" bIns="0" rtlCol="0" anchor="ctr"/>
          <a:lstStyle/>
          <a:p>
            <a:pPr marL="0" indent="0">
              <a:buNone/>
            </a:pPr>
            <a:r>
              <a:rPr lang="en-US" sz="1900" b="1" dirty="0">
                <a:solidFill>
                  <a:schemeClr val="tx1"/>
                </a:solidFill>
                <a:latin typeface="+mj-lt" pitchFamily="34" charset="0"/>
                <a:ea typeface="+mj-lt" pitchFamily="34" charset="-122"/>
                <a:cs typeface="+mj-lt" pitchFamily="34" charset="-120"/>
              </a:rPr>
              <a:t>12 April 1961</a:t>
            </a:r>
            <a:endParaRPr lang="en-US" sz="1900" dirty="0"/>
          </a:p>
        </p:txBody>
      </p:sp>
      <p:sp>
        <p:nvSpPr>
          <p:cNvPr id="13" name="Text 10"/>
          <p:cNvSpPr txBox="1"/>
          <p:nvPr/>
        </p:nvSpPr>
        <p:spPr>
          <a:xfrm>
            <a:off x="3566160" y="2194560"/>
            <a:ext cx="4754880" cy="960120"/>
          </a:xfrm>
          <a:prstGeom prst="rect">
            <a:avLst/>
          </a:prstGeom>
          <a:noFill/>
          <a:ln/>
        </p:spPr>
        <p:txBody>
          <a:bodyPr wrap="square" lIns="0" tIns="0" rIns="0" bIns="0" rtlCol="0" anchor="ctr"/>
          <a:lstStyle/>
          <a:p>
            <a:pPr marL="0" indent="0">
              <a:buNone/>
            </a:pPr>
            <a:r>
              <a:rPr lang="en-US" sz="1400" dirty="0">
                <a:solidFill>
                  <a:schemeClr val="tx1"/>
                </a:solidFill>
              </a:rPr>
              <a:t>Yuri Gagarin became the first person in space. He orbited the Earth in a 108-minute flight.</a:t>
            </a:r>
            <a:endParaRPr lang="en-US" sz="1400" dirty="0"/>
          </a:p>
        </p:txBody>
      </p:sp>
      <p:sp>
        <p:nvSpPr>
          <p:cNvPr id="14" name="Answer c"/>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640080" y="3538728"/>
            <a:ext cx="457200" cy="457200"/>
          </a:xfrm>
          <a:prstGeom prst="ellipse">
            <a:avLst/>
          </a:prstGeom>
          <a:solidFill>
            <a:schemeClr val="accent3"/>
          </a:solidFill>
          <a:ln w="6350">
            <a:solidFill>
              <a:schemeClr val="accent3"/>
            </a:solidFill>
            <a:prstDash val="solid"/>
          </a:ln>
        </p:spPr>
      </p:sp>
      <p:sp>
        <p:nvSpPr>
          <p:cNvPr id="16" name="Text 13"/>
          <p:cNvSpPr txBox="1"/>
          <p:nvPr/>
        </p:nvSpPr>
        <p:spPr>
          <a:xfrm>
            <a:off x="640080" y="353872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7" name="Text 14"/>
          <p:cNvSpPr txBox="1"/>
          <p:nvPr/>
        </p:nvSpPr>
        <p:spPr>
          <a:xfrm>
            <a:off x="1325880" y="3291840"/>
            <a:ext cx="2194560" cy="960120"/>
          </a:xfrm>
          <a:prstGeom prst="rect">
            <a:avLst/>
          </a:prstGeom>
          <a:noFill/>
          <a:ln/>
        </p:spPr>
        <p:txBody>
          <a:bodyPr wrap="square" lIns="0" tIns="0" rIns="0" bIns="0" rtlCol="0" anchor="ctr"/>
          <a:lstStyle/>
          <a:p>
            <a:pPr marL="0" indent="0">
              <a:buNone/>
            </a:pPr>
            <a:r>
              <a:rPr lang="en-US" sz="1900" b="1" dirty="0">
                <a:solidFill>
                  <a:schemeClr val="tx1"/>
                </a:solidFill>
                <a:latin typeface="+mj-lt" pitchFamily="34" charset="0"/>
                <a:ea typeface="+mj-lt" pitchFamily="34" charset="-122"/>
                <a:cs typeface="+mj-lt" pitchFamily="34" charset="-120"/>
              </a:rPr>
              <a:t>57 years ago</a:t>
            </a:r>
            <a:endParaRPr lang="en-US" sz="1900" dirty="0"/>
          </a:p>
        </p:txBody>
      </p:sp>
      <p:sp>
        <p:nvSpPr>
          <p:cNvPr id="18" name="Text 15"/>
          <p:cNvSpPr txBox="1"/>
          <p:nvPr/>
        </p:nvSpPr>
        <p:spPr>
          <a:xfrm>
            <a:off x="3566160" y="3291840"/>
            <a:ext cx="4754880" cy="960120"/>
          </a:xfrm>
          <a:prstGeom prst="rect">
            <a:avLst/>
          </a:prstGeom>
          <a:noFill/>
          <a:ln/>
        </p:spPr>
        <p:txBody>
          <a:bodyPr wrap="square" lIns="0" tIns="0" rIns="0" bIns="0" rtlCol="0" anchor="ctr"/>
          <a:lstStyle/>
          <a:p>
            <a:pPr marL="0" indent="0">
              <a:buNone/>
            </a:pPr>
            <a:r>
              <a:rPr lang="en-US" sz="1400" dirty="0">
                <a:solidFill>
                  <a:schemeClr val="tx1"/>
                </a:solidFill>
              </a:rPr>
              <a:t>The first Moon landing was on 20 July 1969: 2026 − 1969 = 57. (Neil Armstrong and Buzz Aldrin)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Fact or opinion?</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Decide which statement is a fact and which is an opinion. Explain the difference.</a:t>
            </a:r>
            <a:endParaRPr lang="en-US" sz="1600" dirty="0"/>
          </a:p>
        </p:txBody>
      </p:sp>
      <p:sp>
        <p:nvSpPr>
          <p:cNvPr id="5" name="Statement 1"/>
          <p:cNvSpPr/>
          <p:nvPr/>
        </p:nvSpPr>
        <p:spPr>
          <a:xfrm>
            <a:off x="457200" y="1554480"/>
            <a:ext cx="4023360" cy="155448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737360"/>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73736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731520" y="2331720"/>
            <a:ext cx="3474720" cy="731520"/>
          </a:xfrm>
          <a:prstGeom prst="rect">
            <a:avLst/>
          </a:prstGeom>
          <a:noFill/>
          <a:ln/>
        </p:spPr>
        <p:txBody>
          <a:bodyPr wrap="square" lIns="0" tIns="0" rIns="0" bIns="0" rtlCol="0" anchor="t"/>
          <a:lstStyle/>
          <a:p>
            <a:pPr marL="0" indent="0">
              <a:buNone/>
            </a:pPr>
            <a:r>
              <a:rPr lang="en-US" sz="1600" i="1" dirty="0">
                <a:solidFill>
                  <a:schemeClr val="tx1"/>
                </a:solidFill>
              </a:rPr>
              <a:t>“Early astronomers must have had good eyesight.”</a:t>
            </a:r>
            <a:endParaRPr lang="en-US" sz="1600" dirty="0"/>
          </a:p>
        </p:txBody>
      </p:sp>
      <p:sp>
        <p:nvSpPr>
          <p:cNvPr id="9" name="Statement 2"/>
          <p:cNvSpPr/>
          <p:nvPr/>
        </p:nvSpPr>
        <p:spPr>
          <a:xfrm>
            <a:off x="4663440" y="1554480"/>
            <a:ext cx="4023360" cy="1554480"/>
          </a:xfrm>
          <a:prstGeom prst="roundRect">
            <a:avLst>
              <a:gd name="adj" fmla="val 705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737360"/>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73736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4937760" y="2331720"/>
            <a:ext cx="3474720" cy="731520"/>
          </a:xfrm>
          <a:prstGeom prst="rect">
            <a:avLst/>
          </a:prstGeom>
          <a:noFill/>
          <a:ln/>
        </p:spPr>
        <p:txBody>
          <a:bodyPr wrap="square" lIns="0" tIns="0" rIns="0" bIns="0" rtlCol="0" anchor="t"/>
          <a:lstStyle/>
          <a:p>
            <a:pPr marL="0" indent="0">
              <a:buNone/>
            </a:pPr>
            <a:r>
              <a:rPr lang="en-US" sz="1600" i="1" dirty="0">
                <a:solidFill>
                  <a:schemeClr val="tx1"/>
                </a:solidFill>
              </a:rPr>
              <a:t>“Early astronomers made observations of the stars without a telescope.”</a:t>
            </a:r>
            <a:endParaRPr lang="en-US" sz="1600" dirty="0"/>
          </a:p>
        </p:txBody>
      </p:sp>
      <p:sp>
        <p:nvSpPr>
          <p:cNvPr id="13" name="Callout"/>
          <p:cNvSpPr/>
          <p:nvPr/>
        </p:nvSpPr>
        <p:spPr>
          <a:xfrm>
            <a:off x="457200" y="342900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429000"/>
            <a:ext cx="7863840" cy="548640"/>
          </a:xfrm>
          <a:prstGeom prst="rect">
            <a:avLst/>
          </a:prstGeom>
          <a:noFill/>
          <a:ln/>
        </p:spPr>
        <p:txBody>
          <a:bodyPr wrap="square" lIns="0" tIns="0" rIns="0" bIns="0" rtlCol="0" anchor="ctr"/>
          <a:lstStyle/>
          <a:p>
            <a:pPr marL="0" indent="0" algn="ctr">
              <a:buNone/>
            </a:pPr>
            <a:r>
              <a:rPr lang="en-US" sz="1600" b="1" dirty="0">
                <a:solidFill>
                  <a:schemeClr val="tx1"/>
                </a:solidFill>
              </a:rPr>
              <a:t>Ask yourself: can it be proved? Where in the text could you check?</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fact or opinion</a:t>
            </a:r>
            <a:endParaRPr lang="en-US" sz="3000" dirty="0"/>
          </a:p>
        </p:txBody>
      </p:sp>
      <p:sp>
        <p:nvSpPr>
          <p:cNvPr id="4" name="Opinion card"/>
          <p:cNvSpPr/>
          <p:nvPr/>
        </p:nvSpPr>
        <p:spPr>
          <a:xfrm>
            <a:off x="457200" y="1097280"/>
            <a:ext cx="4023360" cy="2011680"/>
          </a:xfrm>
          <a:prstGeom prst="roundRect">
            <a:avLst>
              <a:gd name="adj" fmla="val 54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88720"/>
            <a:ext cx="3657600" cy="457200"/>
          </a:xfrm>
          <a:prstGeom prst="rect">
            <a:avLst/>
          </a:prstGeom>
          <a:noFill/>
          <a:ln/>
        </p:spPr>
        <p:txBody>
          <a:bodyPr wrap="square" lIns="0" tIns="0" rIns="0" bIns="0" rtlCol="0" anchor="ctr"/>
          <a:lstStyle/>
          <a:p>
            <a:pPr marL="0" indent="0">
              <a:buNone/>
            </a:pPr>
            <a:r>
              <a:rPr lang="en-US" sz="2200" b="1" dirty="0">
                <a:solidFill>
                  <a:schemeClr val="accent3"/>
                </a:solidFill>
                <a:latin typeface="+mj-lt" pitchFamily="34" charset="0"/>
                <a:ea typeface="+mj-lt" pitchFamily="34" charset="-122"/>
                <a:cs typeface="+mj-lt" pitchFamily="34" charset="-120"/>
              </a:rPr>
              <a:t>A  =  OPINION</a:t>
            </a:r>
            <a:endParaRPr lang="en-US" sz="2200" dirty="0"/>
          </a:p>
        </p:txBody>
      </p:sp>
      <p:sp>
        <p:nvSpPr>
          <p:cNvPr id="6" name="Text 3"/>
          <p:cNvSpPr txBox="1"/>
          <p:nvPr/>
        </p:nvSpPr>
        <p:spPr>
          <a:xfrm>
            <a:off x="640080" y="1737360"/>
            <a:ext cx="3657600" cy="1280160"/>
          </a:xfrm>
          <a:prstGeom prst="rect">
            <a:avLst/>
          </a:prstGeom>
          <a:noFill/>
          <a:ln/>
        </p:spPr>
        <p:txBody>
          <a:bodyPr wrap="square" lIns="0" tIns="0" rIns="0" bIns="0" rtlCol="0" anchor="t"/>
          <a:lstStyle/>
          <a:p>
            <a:pPr marL="0" indent="0">
              <a:buNone/>
            </a:pPr>
            <a:r>
              <a:rPr lang="en-US" sz="1600" dirty="0">
                <a:solidFill>
                  <a:schemeClr val="tx1"/>
                </a:solidFill>
              </a:rPr>
              <a:t>‘Must have’ is a guess. The text does not say it, so it cannot be proved.</a:t>
            </a:r>
            <a:endParaRPr lang="en-US" sz="1600" dirty="0"/>
          </a:p>
        </p:txBody>
      </p:sp>
      <p:sp>
        <p:nvSpPr>
          <p:cNvPr id="7" name="Fact card"/>
          <p:cNvSpPr/>
          <p:nvPr/>
        </p:nvSpPr>
        <p:spPr>
          <a:xfrm>
            <a:off x="4663440" y="1097280"/>
            <a:ext cx="4023360" cy="2011680"/>
          </a:xfrm>
          <a:prstGeom prst="roundRect">
            <a:avLst>
              <a:gd name="adj" fmla="val 54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4846320" y="1188720"/>
            <a:ext cx="3657600" cy="457200"/>
          </a:xfrm>
          <a:prstGeom prst="rect">
            <a:avLst/>
          </a:prstGeom>
          <a:noFill/>
          <a:ln/>
        </p:spPr>
        <p:txBody>
          <a:bodyPr wrap="square" lIns="0" tIns="0" rIns="0" bIns="0" rtlCol="0" anchor="ctr"/>
          <a:lstStyle/>
          <a:p>
            <a:pPr marL="0" indent="0">
              <a:buNone/>
            </a:pPr>
            <a:r>
              <a:rPr lang="en-US" sz="2200" b="1" dirty="0">
                <a:solidFill>
                  <a:schemeClr val="accent2"/>
                </a:solidFill>
                <a:latin typeface="+mj-lt" pitchFamily="34" charset="0"/>
                <a:ea typeface="+mj-lt" pitchFamily="34" charset="-122"/>
                <a:cs typeface="+mj-lt" pitchFamily="34" charset="-120"/>
              </a:rPr>
              <a:t>B  =  FACT</a:t>
            </a:r>
            <a:endParaRPr lang="en-US" sz="2200" dirty="0"/>
          </a:p>
        </p:txBody>
      </p:sp>
      <p:sp>
        <p:nvSpPr>
          <p:cNvPr id="9" name="Text 6"/>
          <p:cNvSpPr txBox="1"/>
          <p:nvPr/>
        </p:nvSpPr>
        <p:spPr>
          <a:xfrm>
            <a:off x="4846320" y="1737360"/>
            <a:ext cx="3657600" cy="1280160"/>
          </a:xfrm>
          <a:prstGeom prst="rect">
            <a:avLst/>
          </a:prstGeom>
          <a:noFill/>
          <a:ln/>
        </p:spPr>
        <p:txBody>
          <a:bodyPr wrap="square" lIns="0" tIns="0" rIns="0" bIns="0" rtlCol="0" anchor="t"/>
          <a:lstStyle/>
          <a:p>
            <a:pPr marL="0" indent="0">
              <a:buNone/>
            </a:pPr>
            <a:r>
              <a:rPr lang="en-US" sz="1600" dirty="0">
                <a:solidFill>
                  <a:schemeClr val="tx1"/>
                </a:solidFill>
              </a:rPr>
              <a:t>It can be checked: Hipparchus (129 BCE) and Tycho Brahe, a ‘naked-eye’ astronomer.</a:t>
            </a:r>
            <a:endParaRPr lang="en-US" sz="1600" dirty="0"/>
          </a:p>
        </p:txBody>
      </p:sp>
      <p:sp>
        <p:nvSpPr>
          <p:cNvPr id="10" name="Definitions"/>
          <p:cNvSpPr/>
          <p:nvPr/>
        </p:nvSpPr>
        <p:spPr>
          <a:xfrm>
            <a:off x="457200" y="3337560"/>
            <a:ext cx="8229600" cy="914400"/>
          </a:xfrm>
          <a:prstGeom prst="roundRect">
            <a:avLst>
              <a:gd name="adj" fmla="val 12000"/>
            </a:avLst>
          </a:prstGeom>
          <a:solidFill>
            <a:schemeClr val="accent4"/>
          </a:solidFill>
          <a:ln w="9525">
            <a:solidFill>
              <a:schemeClr val="accent4"/>
            </a:solidFill>
            <a:prstDash val="solid"/>
          </a:ln>
        </p:spPr>
      </p:sp>
      <p:sp>
        <p:nvSpPr>
          <p:cNvPr id="11" name="Text 8"/>
          <p:cNvSpPr txBox="1"/>
          <p:nvPr/>
        </p:nvSpPr>
        <p:spPr>
          <a:xfrm>
            <a:off x="731520" y="3337560"/>
            <a:ext cx="7680960" cy="914400"/>
          </a:xfrm>
          <a:prstGeom prst="rect">
            <a:avLst/>
          </a:prstGeom>
          <a:noFill/>
          <a:ln/>
        </p:spPr>
        <p:txBody>
          <a:bodyPr wrap="square" lIns="0" tIns="0" rIns="0" bIns="0" rtlCol="0" anchor="ctr"/>
          <a:lstStyle/>
          <a:p>
            <a:pPr marL="0" indent="0" algn="ctr">
              <a:buNone/>
            </a:pPr>
            <a:r>
              <a:rPr lang="en-US" sz="1800" b="1" dirty="0">
                <a:solidFill>
                  <a:schemeClr val="accent5"/>
                </a:solidFill>
              </a:rPr>
              <a:t>Fact: </a:t>
            </a:r>
            <a:r>
              <a:rPr lang="en-US" sz="1800" dirty="0">
                <a:solidFill>
                  <a:schemeClr val="bg1"/>
                </a:solidFill>
              </a:rPr>
              <a:t>can be proved true.   </a:t>
            </a:r>
            <a:r>
              <a:rPr lang="en-US" sz="1800" b="1" dirty="0">
                <a:solidFill>
                  <a:schemeClr val="accent5"/>
                </a:solidFill>
              </a:rPr>
              <a:t>Opinion: </a:t>
            </a:r>
            <a:r>
              <a:rPr lang="en-US" sz="1800" dirty="0">
                <a:solidFill>
                  <a:schemeClr val="bg1"/>
                </a:solidFill>
              </a:rPr>
              <a:t>what someone thinks or believes.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How many countries?</a:t>
            </a:r>
            <a:endParaRPr lang="en-US" sz="3000" dirty="0"/>
          </a:p>
        </p:txBody>
      </p:sp>
      <p:sp>
        <p:nvSpPr>
          <p:cNvPr id="4" name="Question mark"/>
          <p:cNvSpPr/>
          <p:nvPr/>
        </p:nvSpPr>
        <p:spPr>
          <a:xfrm>
            <a:off x="640080" y="1371600"/>
            <a:ext cx="2011680" cy="2011680"/>
          </a:xfrm>
          <a:prstGeom prst="ellipse">
            <a:avLst/>
          </a:prstGeom>
          <a:solidFill>
            <a:schemeClr val="accent4"/>
          </a:solidFill>
          <a:ln w="6350">
            <a:solidFill>
              <a:schemeClr val="accent4"/>
            </a:solidFill>
            <a:prstDash val="solid"/>
          </a:ln>
        </p:spPr>
      </p:sp>
      <p:sp>
        <p:nvSpPr>
          <p:cNvPr id="5" name="Text 2"/>
          <p:cNvSpPr txBox="1"/>
          <p:nvPr/>
        </p:nvSpPr>
        <p:spPr>
          <a:xfrm>
            <a:off x="640080" y="1371600"/>
            <a:ext cx="2011680" cy="2011680"/>
          </a:xfrm>
          <a:prstGeom prst="rect">
            <a:avLst/>
          </a:prstGeom>
          <a:noFill/>
          <a:ln/>
        </p:spPr>
        <p:txBody>
          <a:bodyPr wrap="square" lIns="0" tIns="0" rIns="0" bIns="0" rtlCol="0" anchor="ctr"/>
          <a:lstStyle/>
          <a:p>
            <a:pPr marL="0" indent="0" algn="ctr">
              <a:buNone/>
            </a:pPr>
            <a:r>
              <a:rPr lang="en-US" sz="8000" b="1" dirty="0">
                <a:solidFill>
                  <a:schemeClr val="bg1"/>
                </a:solidFill>
                <a:latin typeface="+mj-lt" pitchFamily="34" charset="0"/>
                <a:ea typeface="+mj-lt" pitchFamily="34" charset="-122"/>
                <a:cs typeface="+mj-lt" pitchFamily="34" charset="-120"/>
              </a:rPr>
              <a:t>?</a:t>
            </a:r>
            <a:endParaRPr lang="en-US" sz="8000" dirty="0"/>
          </a:p>
        </p:txBody>
      </p:sp>
      <p:sp>
        <p:nvSpPr>
          <p:cNvPr id="6" name="Task card"/>
          <p:cNvSpPr/>
          <p:nvPr/>
        </p:nvSpPr>
        <p:spPr>
          <a:xfrm>
            <a:off x="3017520" y="1188720"/>
            <a:ext cx="5669280" cy="2286000"/>
          </a:xfrm>
          <a:prstGeom prst="roundRect">
            <a:avLst>
              <a:gd name="adj" fmla="val 48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7" name="Text 4"/>
          <p:cNvSpPr txBox="1"/>
          <p:nvPr/>
        </p:nvSpPr>
        <p:spPr>
          <a:xfrm>
            <a:off x="3291840" y="1188720"/>
            <a:ext cx="5212080" cy="2286000"/>
          </a:xfrm>
          <a:prstGeom prst="rect">
            <a:avLst/>
          </a:prstGeom>
          <a:noFill/>
          <a:ln/>
        </p:spPr>
        <p:txBody>
          <a:bodyPr wrap="square" lIns="0" tIns="0" rIns="0" bIns="0" rtlCol="0" anchor="ctr"/>
          <a:lstStyle/>
          <a:p>
            <a:pPr marL="0" indent="0">
              <a:spcAft>
                <a:spcPts val="1000"/>
              </a:spcAft>
              <a:buNone/>
            </a:pPr>
            <a:r>
              <a:rPr lang="en-US" sz="1900" b="1" dirty="0">
                <a:solidFill>
                  <a:schemeClr val="tx1"/>
                </a:solidFill>
              </a:rPr>
              <a:t>Scan the whole text again.</a:t>
            </a:r>
            <a:endParaRPr lang="en-US" sz="1900" dirty="0"/>
          </a:p>
          <a:p>
            <a:pPr marL="0" indent="0">
              <a:spcAft>
                <a:spcPts val="1000"/>
              </a:spcAft>
              <a:buNone/>
            </a:pPr>
            <a:r>
              <a:rPr lang="en-US" sz="1900" dirty="0">
                <a:solidFill>
                  <a:schemeClr val="tx1"/>
                </a:solidFill>
              </a:rPr>
              <a:t>1. Find every country or nationality.</a:t>
            </a:r>
            <a:endParaRPr lang="en-US" sz="1900" dirty="0"/>
          </a:p>
          <a:p>
            <a:pPr marL="0" indent="0">
              <a:spcAft>
                <a:spcPts val="1000"/>
              </a:spcAft>
              <a:buNone/>
            </a:pPr>
            <a:r>
              <a:rPr lang="en-US" sz="1900" dirty="0">
                <a:solidFill>
                  <a:schemeClr val="tx1"/>
                </a:solidFill>
              </a:rPr>
              <a:t>2. Count them.</a:t>
            </a:r>
            <a:endParaRPr lang="en-US" sz="1900" dirty="0"/>
          </a:p>
          <a:p>
            <a:pPr marL="0" indent="0">
              <a:spcAft>
                <a:spcPts val="1000"/>
              </a:spcAft>
              <a:buNone/>
            </a:pPr>
            <a:r>
              <a:rPr lang="en-US" sz="1900" dirty="0">
                <a:solidFill>
                  <a:schemeClr val="tx1"/>
                </a:solidFill>
              </a:rPr>
              <a:t>3. Name three of them.</a:t>
            </a:r>
            <a:endParaRPr lang="en-US" sz="1900" dirty="0"/>
          </a:p>
        </p:txBody>
      </p:sp>
      <p:sp>
        <p:nvSpPr>
          <p:cNvPr id="8" name="Callout"/>
          <p:cNvSpPr/>
          <p:nvPr/>
        </p:nvSpPr>
        <p:spPr>
          <a:xfrm>
            <a:off x="457200" y="3749040"/>
            <a:ext cx="8229600" cy="548640"/>
          </a:xfrm>
          <a:prstGeom prst="roundRect">
            <a:avLst>
              <a:gd name="adj" fmla="val 20000"/>
            </a:avLst>
          </a:prstGeom>
          <a:solidFill>
            <a:schemeClr val="accent5"/>
          </a:solidFill>
          <a:ln w="9525">
            <a:solidFill>
              <a:schemeClr val="accent5"/>
            </a:solidFill>
            <a:prstDash val="solid"/>
          </a:ln>
        </p:spPr>
      </p:sp>
      <p:sp>
        <p:nvSpPr>
          <p:cNvPr id="9" name="Text 6"/>
          <p:cNvSpPr txBox="1"/>
          <p:nvPr/>
        </p:nvSpPr>
        <p:spPr>
          <a:xfrm>
            <a:off x="640080" y="3749040"/>
            <a:ext cx="7863840" cy="548640"/>
          </a:xfrm>
          <a:prstGeom prst="rect">
            <a:avLst/>
          </a:prstGeom>
          <a:noFill/>
          <a:ln/>
        </p:spPr>
        <p:txBody>
          <a:bodyPr wrap="square" lIns="0" tIns="0" rIns="0" bIns="0" rtlCol="0" anchor="ctr"/>
          <a:lstStyle/>
          <a:p>
            <a:pPr marL="0" indent="0" algn="ctr">
              <a:buNone/>
            </a:pPr>
            <a:r>
              <a:rPr lang="en-US" sz="1600" b="1" dirty="0">
                <a:solidFill>
                  <a:schemeClr val="tx1"/>
                </a:solidFill>
              </a:rPr>
              <a:t>Careful: the text often gives the nationality (‘Polish’), not the country (‘Poland’)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10 countries</a:t>
            </a:r>
            <a:endParaRPr lang="en-US" sz="3000" dirty="0"/>
          </a:p>
        </p:txBody>
      </p:sp>
      <p:sp>
        <p:nvSpPr>
          <p:cNvPr id="4" name="Country Greece"/>
          <p:cNvSpPr/>
          <p:nvPr/>
        </p:nvSpPr>
        <p:spPr>
          <a:xfrm>
            <a:off x="457200" y="109728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548640" y="118872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Greece</a:t>
            </a:r>
            <a:endParaRPr lang="en-US" sz="1500" dirty="0"/>
          </a:p>
        </p:txBody>
      </p:sp>
      <p:sp>
        <p:nvSpPr>
          <p:cNvPr id="6" name="Text 3"/>
          <p:cNvSpPr txBox="1"/>
          <p:nvPr/>
        </p:nvSpPr>
        <p:spPr>
          <a:xfrm>
            <a:off x="548640" y="160020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Greek · 129 BCE</a:t>
            </a:r>
            <a:endParaRPr lang="en-US" sz="1100" dirty="0"/>
          </a:p>
        </p:txBody>
      </p:sp>
      <p:sp>
        <p:nvSpPr>
          <p:cNvPr id="7" name="Country Poland"/>
          <p:cNvSpPr/>
          <p:nvPr/>
        </p:nvSpPr>
        <p:spPr>
          <a:xfrm>
            <a:off x="2121408" y="109728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2212848" y="118872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Poland</a:t>
            </a:r>
            <a:endParaRPr lang="en-US" sz="1500" dirty="0"/>
          </a:p>
        </p:txBody>
      </p:sp>
      <p:sp>
        <p:nvSpPr>
          <p:cNvPr id="9" name="Text 6"/>
          <p:cNvSpPr txBox="1"/>
          <p:nvPr/>
        </p:nvSpPr>
        <p:spPr>
          <a:xfrm>
            <a:off x="2212848" y="160020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Polish · 1543</a:t>
            </a:r>
            <a:endParaRPr lang="en-US" sz="1100" dirty="0"/>
          </a:p>
        </p:txBody>
      </p:sp>
      <p:sp>
        <p:nvSpPr>
          <p:cNvPr id="10" name="Country Denmark"/>
          <p:cNvSpPr/>
          <p:nvPr/>
        </p:nvSpPr>
        <p:spPr>
          <a:xfrm>
            <a:off x="3785616" y="109728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3877056" y="118872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Denmark</a:t>
            </a:r>
            <a:endParaRPr lang="en-US" sz="1500" dirty="0"/>
          </a:p>
        </p:txBody>
      </p:sp>
      <p:sp>
        <p:nvSpPr>
          <p:cNvPr id="12" name="Text 9"/>
          <p:cNvSpPr txBox="1"/>
          <p:nvPr/>
        </p:nvSpPr>
        <p:spPr>
          <a:xfrm>
            <a:off x="3877056" y="160020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Danish · 1576</a:t>
            </a:r>
            <a:endParaRPr lang="en-US" sz="1100" dirty="0"/>
          </a:p>
        </p:txBody>
      </p:sp>
      <p:sp>
        <p:nvSpPr>
          <p:cNvPr id="13" name="Country Italy"/>
          <p:cNvSpPr/>
          <p:nvPr/>
        </p:nvSpPr>
        <p:spPr>
          <a:xfrm>
            <a:off x="5449824" y="109728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Text 11"/>
          <p:cNvSpPr txBox="1"/>
          <p:nvPr/>
        </p:nvSpPr>
        <p:spPr>
          <a:xfrm>
            <a:off x="5541264" y="118872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Italy</a:t>
            </a:r>
            <a:endParaRPr lang="en-US" sz="1500" dirty="0"/>
          </a:p>
        </p:txBody>
      </p:sp>
      <p:sp>
        <p:nvSpPr>
          <p:cNvPr id="15" name="Text 12"/>
          <p:cNvSpPr txBox="1"/>
          <p:nvPr/>
        </p:nvSpPr>
        <p:spPr>
          <a:xfrm>
            <a:off x="5541264" y="160020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Italian · 1609</a:t>
            </a:r>
            <a:endParaRPr lang="en-US" sz="1100" dirty="0"/>
          </a:p>
        </p:txBody>
      </p:sp>
      <p:sp>
        <p:nvSpPr>
          <p:cNvPr id="16" name="Country England"/>
          <p:cNvSpPr/>
          <p:nvPr/>
        </p:nvSpPr>
        <p:spPr>
          <a:xfrm>
            <a:off x="7114032" y="109728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Text 14"/>
          <p:cNvSpPr txBox="1"/>
          <p:nvPr/>
        </p:nvSpPr>
        <p:spPr>
          <a:xfrm>
            <a:off x="7205472" y="118872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England</a:t>
            </a:r>
            <a:endParaRPr lang="en-US" sz="1500" dirty="0"/>
          </a:p>
        </p:txBody>
      </p:sp>
      <p:sp>
        <p:nvSpPr>
          <p:cNvPr id="18" name="Text 15"/>
          <p:cNvSpPr txBox="1"/>
          <p:nvPr/>
        </p:nvSpPr>
        <p:spPr>
          <a:xfrm>
            <a:off x="7205472" y="160020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English · 1704</a:t>
            </a:r>
            <a:endParaRPr lang="en-US" sz="1100" dirty="0"/>
          </a:p>
        </p:txBody>
      </p:sp>
      <p:sp>
        <p:nvSpPr>
          <p:cNvPr id="19" name="Country USA"/>
          <p:cNvSpPr/>
          <p:nvPr/>
        </p:nvSpPr>
        <p:spPr>
          <a:xfrm>
            <a:off x="457200" y="214884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Text 17"/>
          <p:cNvSpPr txBox="1"/>
          <p:nvPr/>
        </p:nvSpPr>
        <p:spPr>
          <a:xfrm>
            <a:off x="548640" y="224028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USA</a:t>
            </a:r>
            <a:endParaRPr lang="en-US" sz="1500" dirty="0"/>
          </a:p>
        </p:txBody>
      </p:sp>
      <p:sp>
        <p:nvSpPr>
          <p:cNvPr id="21" name="Text 18"/>
          <p:cNvSpPr txBox="1"/>
          <p:nvPr/>
        </p:nvSpPr>
        <p:spPr>
          <a:xfrm>
            <a:off x="548640" y="265176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American · 1926</a:t>
            </a:r>
            <a:endParaRPr lang="en-US" sz="1100" dirty="0"/>
          </a:p>
        </p:txBody>
      </p:sp>
      <p:sp>
        <p:nvSpPr>
          <p:cNvPr id="22" name="Country USSR / Russia"/>
          <p:cNvSpPr/>
          <p:nvPr/>
        </p:nvSpPr>
        <p:spPr>
          <a:xfrm>
            <a:off x="2121408" y="214884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Text 20"/>
          <p:cNvSpPr txBox="1"/>
          <p:nvPr/>
        </p:nvSpPr>
        <p:spPr>
          <a:xfrm>
            <a:off x="2212848" y="224028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USSR / Russia</a:t>
            </a:r>
            <a:endParaRPr lang="en-US" sz="1500" dirty="0"/>
          </a:p>
        </p:txBody>
      </p:sp>
      <p:sp>
        <p:nvSpPr>
          <p:cNvPr id="24" name="Text 21"/>
          <p:cNvSpPr txBox="1"/>
          <p:nvPr/>
        </p:nvSpPr>
        <p:spPr>
          <a:xfrm>
            <a:off x="2212848" y="265176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Russian · 1957, 1961</a:t>
            </a:r>
            <a:endParaRPr lang="en-US" sz="1100" dirty="0"/>
          </a:p>
        </p:txBody>
      </p:sp>
      <p:sp>
        <p:nvSpPr>
          <p:cNvPr id="25" name="Country Britain"/>
          <p:cNvSpPr/>
          <p:nvPr/>
        </p:nvSpPr>
        <p:spPr>
          <a:xfrm>
            <a:off x="3785616" y="214884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6" name="Text 23"/>
          <p:cNvSpPr txBox="1"/>
          <p:nvPr/>
        </p:nvSpPr>
        <p:spPr>
          <a:xfrm>
            <a:off x="3877056" y="224028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Britain</a:t>
            </a:r>
            <a:endParaRPr lang="en-US" sz="1500" dirty="0"/>
          </a:p>
        </p:txBody>
      </p:sp>
      <p:sp>
        <p:nvSpPr>
          <p:cNvPr id="27" name="Text 24"/>
          <p:cNvSpPr txBox="1"/>
          <p:nvPr/>
        </p:nvSpPr>
        <p:spPr>
          <a:xfrm>
            <a:off x="3877056" y="265176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British · 1991</a:t>
            </a:r>
            <a:endParaRPr lang="en-US" sz="1100" dirty="0"/>
          </a:p>
        </p:txBody>
      </p:sp>
      <p:sp>
        <p:nvSpPr>
          <p:cNvPr id="28" name="Country India"/>
          <p:cNvSpPr/>
          <p:nvPr/>
        </p:nvSpPr>
        <p:spPr>
          <a:xfrm>
            <a:off x="5449824" y="214884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9" name="Text 26"/>
          <p:cNvSpPr txBox="1"/>
          <p:nvPr/>
        </p:nvSpPr>
        <p:spPr>
          <a:xfrm>
            <a:off x="5541264" y="224028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India</a:t>
            </a:r>
            <a:endParaRPr lang="en-US" sz="1500" dirty="0"/>
          </a:p>
        </p:txBody>
      </p:sp>
      <p:sp>
        <p:nvSpPr>
          <p:cNvPr id="30" name="Text 27"/>
          <p:cNvSpPr txBox="1"/>
          <p:nvPr/>
        </p:nvSpPr>
        <p:spPr>
          <a:xfrm>
            <a:off x="5541264" y="265176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Indian · 2003, 2019</a:t>
            </a:r>
            <a:endParaRPr lang="en-US" sz="1100" dirty="0"/>
          </a:p>
        </p:txBody>
      </p:sp>
      <p:sp>
        <p:nvSpPr>
          <p:cNvPr id="31" name="Country China"/>
          <p:cNvSpPr/>
          <p:nvPr/>
        </p:nvSpPr>
        <p:spPr>
          <a:xfrm>
            <a:off x="7114032" y="2148840"/>
            <a:ext cx="1554480" cy="914400"/>
          </a:xfrm>
          <a:prstGeom prst="roundRect">
            <a:avLst>
              <a:gd name="adj" fmla="val 12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2" name="Text 29"/>
          <p:cNvSpPr txBox="1"/>
          <p:nvPr/>
        </p:nvSpPr>
        <p:spPr>
          <a:xfrm>
            <a:off x="7205472" y="2240280"/>
            <a:ext cx="137160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China</a:t>
            </a:r>
            <a:endParaRPr lang="en-US" sz="1500" dirty="0"/>
          </a:p>
        </p:txBody>
      </p:sp>
      <p:sp>
        <p:nvSpPr>
          <p:cNvPr id="33" name="Text 30"/>
          <p:cNvSpPr txBox="1"/>
          <p:nvPr/>
        </p:nvSpPr>
        <p:spPr>
          <a:xfrm>
            <a:off x="7205472" y="2651760"/>
            <a:ext cx="1371600" cy="320040"/>
          </a:xfrm>
          <a:prstGeom prst="rect">
            <a:avLst/>
          </a:prstGeom>
          <a:noFill/>
          <a:ln/>
        </p:spPr>
        <p:txBody>
          <a:bodyPr wrap="square" lIns="0" tIns="0" rIns="0" bIns="0" rtlCol="0" anchor="ctr"/>
          <a:lstStyle/>
          <a:p>
            <a:pPr marL="0" indent="0" algn="ctr">
              <a:buNone/>
            </a:pPr>
            <a:r>
              <a:rPr lang="en-US" sz="1100" i="1" dirty="0">
                <a:solidFill>
                  <a:schemeClr val="tx2"/>
                </a:solidFill>
              </a:rPr>
              <a:t>Chinese · 2012</a:t>
            </a:r>
            <a:endParaRPr lang="en-US" sz="1100" dirty="0"/>
          </a:p>
        </p:txBody>
      </p:sp>
      <p:sp>
        <p:nvSpPr>
          <p:cNvPr id="34" name="Total"/>
          <p:cNvSpPr/>
          <p:nvPr/>
        </p:nvSpPr>
        <p:spPr>
          <a:xfrm>
            <a:off x="457200" y="3337560"/>
            <a:ext cx="8229600" cy="1005840"/>
          </a:xfrm>
          <a:prstGeom prst="roundRect">
            <a:avLst>
              <a:gd name="adj" fmla="val 10909"/>
            </a:avLst>
          </a:prstGeom>
          <a:solidFill>
            <a:schemeClr val="accent4"/>
          </a:solidFill>
          <a:ln w="9525">
            <a:solidFill>
              <a:schemeClr val="accent4"/>
            </a:solidFill>
            <a:prstDash val="solid"/>
          </a:ln>
        </p:spPr>
      </p:sp>
      <p:sp>
        <p:nvSpPr>
          <p:cNvPr id="35" name="Text 32"/>
          <p:cNvSpPr txBox="1"/>
          <p:nvPr/>
        </p:nvSpPr>
        <p:spPr>
          <a:xfrm>
            <a:off x="731520" y="3337560"/>
            <a:ext cx="7680960" cy="1005840"/>
          </a:xfrm>
          <a:prstGeom prst="rect">
            <a:avLst/>
          </a:prstGeom>
          <a:noFill/>
          <a:ln/>
        </p:spPr>
        <p:txBody>
          <a:bodyPr wrap="square" lIns="0" tIns="0" rIns="0" bIns="0" rtlCol="0" anchor="ctr"/>
          <a:lstStyle/>
          <a:p>
            <a:pPr marL="0" indent="0" algn="ctr">
              <a:buNone/>
            </a:pPr>
            <a:r>
              <a:rPr lang="en-US" sz="2400" b="1" dirty="0">
                <a:solidFill>
                  <a:schemeClr val="accent5"/>
                </a:solidFill>
              </a:rPr>
              <a:t>10 countries</a:t>
            </a:r>
            <a:endParaRPr lang="en-US" sz="2400" dirty="0"/>
          </a:p>
          <a:p>
            <a:pPr marL="0" indent="0" algn="ctr">
              <a:buNone/>
            </a:pPr>
            <a:r>
              <a:rPr lang="en-US" sz="1400" dirty="0">
                <a:solidFill>
                  <a:schemeClr val="bg1"/>
                </a:solidFill>
              </a:rPr>
              <a:t>Only ‘USSR’ and ‘India’ are named directly; the rest appear as nationalities.</a:t>
            </a:r>
            <a:endParaRPr lang="en-US" sz="2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Add it to your reading log</a:t>
            </a:r>
            <a:endParaRPr lang="en-US" sz="3000" dirty="0"/>
          </a:p>
        </p:txBody>
      </p:sp>
      <p:sp>
        <p:nvSpPr>
          <p:cNvPr id="4" name="Log prompt 1"/>
          <p:cNvSpPr/>
          <p:nvPr/>
        </p:nvSpPr>
        <p:spPr>
          <a:xfrm>
            <a:off x="457200" y="109728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7160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640080" y="137160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234440" y="109728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Title and text type</a:t>
            </a:r>
            <a:endParaRPr lang="en-US" sz="1600" dirty="0"/>
          </a:p>
        </p:txBody>
      </p:sp>
      <p:sp>
        <p:nvSpPr>
          <p:cNvPr id="8" name="Log prompt 2"/>
          <p:cNvSpPr/>
          <p:nvPr/>
        </p:nvSpPr>
        <p:spPr>
          <a:xfrm>
            <a:off x="4663440" y="109728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4846320" y="137160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4846320" y="137160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5440680" y="109728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Three facts I learned</a:t>
            </a:r>
            <a:endParaRPr lang="en-US" sz="1600" dirty="0"/>
          </a:p>
        </p:txBody>
      </p:sp>
      <p:sp>
        <p:nvSpPr>
          <p:cNvPr id="12" name="Log prompt 3"/>
          <p:cNvSpPr/>
          <p:nvPr/>
        </p:nvSpPr>
        <p:spPr>
          <a:xfrm>
            <a:off x="457200" y="219456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640080" y="246888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640080" y="246888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234440" y="219456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New words I used</a:t>
            </a:r>
            <a:endParaRPr lang="en-US" sz="1600" dirty="0"/>
          </a:p>
        </p:txBody>
      </p:sp>
      <p:sp>
        <p:nvSpPr>
          <p:cNvPr id="16" name="Log prompt 4"/>
          <p:cNvSpPr/>
          <p:nvPr/>
        </p:nvSpPr>
        <p:spPr>
          <a:xfrm>
            <a:off x="4663440" y="219456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4846320" y="246888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4846320" y="24688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5440680" y="219456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My opinion about space exploration</a:t>
            </a:r>
            <a:endParaRPr lang="en-US" sz="1600" dirty="0"/>
          </a:p>
        </p:txBody>
      </p:sp>
      <p:sp>
        <p:nvSpPr>
          <p:cNvPr id="20" name="Log prompt 5"/>
          <p:cNvSpPr/>
          <p:nvPr/>
        </p:nvSpPr>
        <p:spPr>
          <a:xfrm>
            <a:off x="457200" y="329184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Badge"/>
          <p:cNvSpPr/>
          <p:nvPr/>
        </p:nvSpPr>
        <p:spPr>
          <a:xfrm>
            <a:off x="640080" y="3566160"/>
            <a:ext cx="411480" cy="411480"/>
          </a:xfrm>
          <a:prstGeom prst="ellipse">
            <a:avLst/>
          </a:prstGeom>
          <a:solidFill>
            <a:schemeClr val="accent5"/>
          </a:solidFill>
          <a:ln w="6350">
            <a:solidFill>
              <a:schemeClr val="accent5"/>
            </a:solidFill>
            <a:prstDash val="solid"/>
          </a:ln>
        </p:spPr>
      </p:sp>
      <p:sp>
        <p:nvSpPr>
          <p:cNvPr id="22" name="Text 19"/>
          <p:cNvSpPr txBox="1"/>
          <p:nvPr/>
        </p:nvSpPr>
        <p:spPr>
          <a:xfrm>
            <a:off x="640080" y="3566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1234440" y="329184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A question I still have</a:t>
            </a:r>
            <a:endParaRPr lang="en-US" sz="1600" dirty="0"/>
          </a:p>
        </p:txBody>
      </p:sp>
      <p:sp>
        <p:nvSpPr>
          <p:cNvPr id="24" name="Log prompt 6"/>
          <p:cNvSpPr/>
          <p:nvPr/>
        </p:nvSpPr>
        <p:spPr>
          <a:xfrm>
            <a:off x="4663440" y="3291840"/>
            <a:ext cx="402336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4846320" y="3566160"/>
            <a:ext cx="411480" cy="411480"/>
          </a:xfrm>
          <a:prstGeom prst="ellipse">
            <a:avLst/>
          </a:prstGeom>
          <a:solidFill>
            <a:schemeClr val="accent1"/>
          </a:solidFill>
          <a:ln w="6350">
            <a:solidFill>
              <a:schemeClr val="accent1"/>
            </a:solidFill>
            <a:prstDash val="solid"/>
          </a:ln>
        </p:spPr>
      </p:sp>
      <p:sp>
        <p:nvSpPr>
          <p:cNvPr id="26" name="Text 23"/>
          <p:cNvSpPr txBox="1"/>
          <p:nvPr/>
        </p:nvSpPr>
        <p:spPr>
          <a:xfrm>
            <a:off x="4846320" y="3566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27" name="Text 24"/>
          <p:cNvSpPr txBox="1"/>
          <p:nvPr/>
        </p:nvSpPr>
        <p:spPr>
          <a:xfrm>
            <a:off x="5440680" y="3291840"/>
            <a:ext cx="3108960" cy="960120"/>
          </a:xfrm>
          <a:prstGeom prst="rect">
            <a:avLst/>
          </a:prstGeom>
          <a:noFill/>
          <a:ln/>
        </p:spPr>
        <p:txBody>
          <a:bodyPr wrap="square" lIns="0" tIns="0" rIns="0" bIns="0" rtlCol="0" anchor="ctr"/>
          <a:lstStyle/>
          <a:p>
            <a:pPr marL="0" indent="0">
              <a:buNone/>
            </a:pPr>
            <a:r>
              <a:rPr lang="en-US" sz="1600" b="1" dirty="0">
                <a:solidFill>
                  <a:schemeClr val="tx1"/>
                </a:solidFill>
              </a:rPr>
              <a:t>My rating out of 5 ★</a:t>
            </a:r>
            <a:endParaRPr lang="en-US" sz="1600" dirty="0"/>
          </a:p>
        </p:txBody>
      </p:sp>
      <p:sp>
        <p:nvSpPr>
          <p:cNvPr id="28" name="Text 25"/>
          <p:cNvSpPr txBox="1"/>
          <p:nvPr/>
        </p:nvSpPr>
        <p:spPr>
          <a:xfrm>
            <a:off x="457200" y="4389120"/>
            <a:ext cx="8229600" cy="274320"/>
          </a:xfrm>
          <a:prstGeom prst="rect">
            <a:avLst/>
          </a:prstGeom>
          <a:noFill/>
          <a:ln/>
        </p:spPr>
        <p:txBody>
          <a:bodyPr wrap="square" lIns="0" tIns="0" rIns="0" bIns="0" rtlCol="0" anchor="ctr"/>
          <a:lstStyle/>
          <a:p>
            <a:pPr marL="0" indent="0" algn="ctr">
              <a:buNone/>
            </a:pPr>
            <a:r>
              <a:rPr lang="en-US" sz="1400" i="1" dirty="0">
                <a:solidFill>
                  <a:schemeClr val="tx2"/>
                </a:solidFill>
              </a:rPr>
              <a:t>Text: ‘A brief history of space’ (explanation text)</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Model answer: reading log</a:t>
            </a:r>
            <a:endParaRPr lang="en-US" sz="3000" dirty="0"/>
          </a:p>
        </p:txBody>
      </p:sp>
      <p:sp>
        <p:nvSpPr>
          <p:cNvPr id="4" name="Model log 1"/>
          <p:cNvSpPr/>
          <p:nvPr/>
        </p:nvSpPr>
        <p:spPr>
          <a:xfrm>
            <a:off x="457200" y="1051560"/>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24712"/>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Title and text type</a:t>
            </a:r>
            <a:endParaRPr lang="en-US" sz="1300" dirty="0"/>
          </a:p>
        </p:txBody>
      </p:sp>
      <p:sp>
        <p:nvSpPr>
          <p:cNvPr id="6" name="Text 3"/>
          <p:cNvSpPr txBox="1"/>
          <p:nvPr/>
        </p:nvSpPr>
        <p:spPr>
          <a:xfrm>
            <a:off x="640080" y="1417320"/>
            <a:ext cx="3657600" cy="640080"/>
          </a:xfrm>
          <a:prstGeom prst="rect">
            <a:avLst/>
          </a:prstGeom>
          <a:noFill/>
          <a:ln/>
        </p:spPr>
        <p:txBody>
          <a:bodyPr wrap="square" lIns="0" tIns="0" rIns="0" bIns="0" rtlCol="0" anchor="t"/>
          <a:lstStyle/>
          <a:p>
            <a:pPr marL="0" indent="0">
              <a:buNone/>
            </a:pPr>
            <a:r>
              <a:rPr lang="en-US" sz="1300" dirty="0">
                <a:solidFill>
                  <a:schemeClr val="tx1"/>
                </a:solidFill>
              </a:rPr>
              <a:t>‘A brief history of space’ – a non-fiction explanation text (timeline).</a:t>
            </a:r>
            <a:endParaRPr lang="en-US" sz="1300" dirty="0"/>
          </a:p>
        </p:txBody>
      </p:sp>
      <p:sp>
        <p:nvSpPr>
          <p:cNvPr id="7" name="Model log 2"/>
          <p:cNvSpPr/>
          <p:nvPr/>
        </p:nvSpPr>
        <p:spPr>
          <a:xfrm>
            <a:off x="4663440" y="1051560"/>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4846320" y="1124712"/>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Three facts I learned</a:t>
            </a:r>
            <a:endParaRPr lang="en-US" sz="1300" dirty="0"/>
          </a:p>
        </p:txBody>
      </p:sp>
      <p:sp>
        <p:nvSpPr>
          <p:cNvPr id="9" name="Text 6"/>
          <p:cNvSpPr txBox="1"/>
          <p:nvPr/>
        </p:nvSpPr>
        <p:spPr>
          <a:xfrm>
            <a:off x="4846320" y="1417320"/>
            <a:ext cx="3657600" cy="640080"/>
          </a:xfrm>
          <a:prstGeom prst="rect">
            <a:avLst/>
          </a:prstGeom>
          <a:noFill/>
          <a:ln/>
        </p:spPr>
        <p:txBody>
          <a:bodyPr wrap="square" lIns="0" tIns="0" rIns="0" bIns="0" rtlCol="0" anchor="t"/>
          <a:lstStyle/>
          <a:p>
            <a:pPr marL="0" indent="0">
              <a:buNone/>
            </a:pPr>
            <a:r>
              <a:rPr lang="en-US" sz="1300" dirty="0">
                <a:solidFill>
                  <a:schemeClr val="tx1"/>
                </a:solidFill>
              </a:rPr>
              <a:t>Galileo built the first telescope (1609). · Gagarin was the first person in space (1961). · Armstrong and Aldrin walked on the Moon (1969).</a:t>
            </a:r>
            <a:endParaRPr lang="en-US" sz="1300" dirty="0"/>
          </a:p>
        </p:txBody>
      </p:sp>
      <p:sp>
        <p:nvSpPr>
          <p:cNvPr id="10" name="Model log 3"/>
          <p:cNvSpPr/>
          <p:nvPr/>
        </p:nvSpPr>
        <p:spPr>
          <a:xfrm>
            <a:off x="457200" y="2221992"/>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640080" y="2295144"/>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New words I used</a:t>
            </a:r>
            <a:endParaRPr lang="en-US" sz="1300" dirty="0"/>
          </a:p>
        </p:txBody>
      </p:sp>
      <p:sp>
        <p:nvSpPr>
          <p:cNvPr id="12" name="Text 9"/>
          <p:cNvSpPr txBox="1"/>
          <p:nvPr/>
        </p:nvSpPr>
        <p:spPr>
          <a:xfrm>
            <a:off x="640080" y="2587752"/>
            <a:ext cx="3657600" cy="640080"/>
          </a:xfrm>
          <a:prstGeom prst="rect">
            <a:avLst/>
          </a:prstGeom>
          <a:noFill/>
          <a:ln/>
        </p:spPr>
        <p:txBody>
          <a:bodyPr wrap="square" lIns="0" tIns="0" rIns="0" bIns="0" rtlCol="0" anchor="t"/>
          <a:lstStyle/>
          <a:p>
            <a:pPr marL="0" indent="0">
              <a:buNone/>
            </a:pPr>
            <a:r>
              <a:rPr lang="en-US" sz="1300" dirty="0">
                <a:solidFill>
                  <a:schemeClr val="tx1"/>
                </a:solidFill>
              </a:rPr>
              <a:t>artificial (made by people) · observe (watch carefully) · orbit (travel around)</a:t>
            </a:r>
            <a:endParaRPr lang="en-US" sz="1300" dirty="0"/>
          </a:p>
        </p:txBody>
      </p:sp>
      <p:sp>
        <p:nvSpPr>
          <p:cNvPr id="13" name="Model log 4"/>
          <p:cNvSpPr/>
          <p:nvPr/>
        </p:nvSpPr>
        <p:spPr>
          <a:xfrm>
            <a:off x="4663440" y="2221992"/>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Text 11"/>
          <p:cNvSpPr txBox="1"/>
          <p:nvPr/>
        </p:nvSpPr>
        <p:spPr>
          <a:xfrm>
            <a:off x="4846320" y="2295144"/>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My opinion</a:t>
            </a:r>
            <a:endParaRPr lang="en-US" sz="1300" dirty="0"/>
          </a:p>
        </p:txBody>
      </p:sp>
      <p:sp>
        <p:nvSpPr>
          <p:cNvPr id="15" name="Text 12"/>
          <p:cNvSpPr txBox="1"/>
          <p:nvPr/>
        </p:nvSpPr>
        <p:spPr>
          <a:xfrm>
            <a:off x="4846320" y="2587752"/>
            <a:ext cx="3657600" cy="640080"/>
          </a:xfrm>
          <a:prstGeom prst="rect">
            <a:avLst/>
          </a:prstGeom>
          <a:noFill/>
          <a:ln/>
        </p:spPr>
        <p:txBody>
          <a:bodyPr wrap="square" lIns="0" tIns="0" rIns="0" bIns="0" rtlCol="0" anchor="t"/>
          <a:lstStyle/>
          <a:p>
            <a:pPr marL="0" indent="0">
              <a:buNone/>
            </a:pPr>
            <a:r>
              <a:rPr lang="en-US" sz="1300" dirty="0">
                <a:solidFill>
                  <a:schemeClr val="tx1"/>
                </a:solidFill>
              </a:rPr>
              <a:t>I think space exploration is exciting because we discover new things, but it can be dangerous.</a:t>
            </a:r>
            <a:endParaRPr lang="en-US" sz="1300" dirty="0"/>
          </a:p>
        </p:txBody>
      </p:sp>
      <p:sp>
        <p:nvSpPr>
          <p:cNvPr id="16" name="Model log 5"/>
          <p:cNvSpPr/>
          <p:nvPr/>
        </p:nvSpPr>
        <p:spPr>
          <a:xfrm>
            <a:off x="457200" y="3392424"/>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Text 14"/>
          <p:cNvSpPr txBox="1"/>
          <p:nvPr/>
        </p:nvSpPr>
        <p:spPr>
          <a:xfrm>
            <a:off x="640080" y="3465576"/>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A question I still have</a:t>
            </a:r>
            <a:endParaRPr lang="en-US" sz="1300" dirty="0"/>
          </a:p>
        </p:txBody>
      </p:sp>
      <p:sp>
        <p:nvSpPr>
          <p:cNvPr id="18" name="Text 15"/>
          <p:cNvSpPr txBox="1"/>
          <p:nvPr/>
        </p:nvSpPr>
        <p:spPr>
          <a:xfrm>
            <a:off x="640080" y="3758184"/>
            <a:ext cx="3657600" cy="640080"/>
          </a:xfrm>
          <a:prstGeom prst="rect">
            <a:avLst/>
          </a:prstGeom>
          <a:noFill/>
          <a:ln/>
        </p:spPr>
        <p:txBody>
          <a:bodyPr wrap="square" lIns="0" tIns="0" rIns="0" bIns="0" rtlCol="0" anchor="t"/>
          <a:lstStyle/>
          <a:p>
            <a:pPr marL="0" indent="0">
              <a:buNone/>
            </a:pPr>
            <a:r>
              <a:rPr lang="en-US" sz="1300" dirty="0">
                <a:solidFill>
                  <a:schemeClr val="tx1"/>
                </a:solidFill>
              </a:rPr>
              <a:t>Will people ever live on another planet?</a:t>
            </a:r>
            <a:endParaRPr lang="en-US" sz="1300" dirty="0"/>
          </a:p>
        </p:txBody>
      </p:sp>
      <p:sp>
        <p:nvSpPr>
          <p:cNvPr id="19" name="Model log 6"/>
          <p:cNvSpPr/>
          <p:nvPr/>
        </p:nvSpPr>
        <p:spPr>
          <a:xfrm>
            <a:off x="4663440" y="3392424"/>
            <a:ext cx="4023360" cy="1051560"/>
          </a:xfrm>
          <a:prstGeom prst="roundRect">
            <a:avLst>
              <a:gd name="adj" fmla="val 1043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Text 17"/>
          <p:cNvSpPr txBox="1"/>
          <p:nvPr/>
        </p:nvSpPr>
        <p:spPr>
          <a:xfrm>
            <a:off x="4846320" y="3465576"/>
            <a:ext cx="3657600" cy="274320"/>
          </a:xfrm>
          <a:prstGeom prst="rect">
            <a:avLst/>
          </a:prstGeom>
          <a:noFill/>
          <a:ln/>
        </p:spPr>
        <p:txBody>
          <a:bodyPr wrap="square" lIns="0" tIns="0" rIns="0" bIns="0" rtlCol="0" anchor="ctr"/>
          <a:lstStyle/>
          <a:p>
            <a:pPr marL="0" indent="0">
              <a:buNone/>
            </a:pPr>
            <a:r>
              <a:rPr lang="en-US" sz="1300" b="1" dirty="0">
                <a:solidFill>
                  <a:schemeClr val="accent4"/>
                </a:solidFill>
              </a:rPr>
              <a:t>My rating</a:t>
            </a:r>
            <a:endParaRPr lang="en-US" sz="1300" dirty="0"/>
          </a:p>
        </p:txBody>
      </p:sp>
      <p:sp>
        <p:nvSpPr>
          <p:cNvPr id="21" name="Text 18"/>
          <p:cNvSpPr txBox="1"/>
          <p:nvPr/>
        </p:nvSpPr>
        <p:spPr>
          <a:xfrm>
            <a:off x="4846320" y="3758184"/>
            <a:ext cx="3657600" cy="640080"/>
          </a:xfrm>
          <a:prstGeom prst="rect">
            <a:avLst/>
          </a:prstGeom>
          <a:noFill/>
          <a:ln/>
        </p:spPr>
        <p:txBody>
          <a:bodyPr wrap="square" lIns="0" tIns="0" rIns="0" bIns="0" rtlCol="0" anchor="t"/>
          <a:lstStyle/>
          <a:p>
            <a:pPr marL="0" indent="0">
              <a:buNone/>
            </a:pPr>
            <a:r>
              <a:rPr lang="en-US" sz="1300" dirty="0">
                <a:solidFill>
                  <a:schemeClr val="tx1"/>
                </a:solidFill>
              </a:rPr>
              <a:t>★★★★☆  4 out of 5</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Exit ticket</a:t>
            </a:r>
            <a:endParaRPr lang="en-US" sz="3000" dirty="0"/>
          </a:p>
        </p:txBody>
      </p:sp>
      <p:sp>
        <p:nvSpPr>
          <p:cNvPr id="4" name="Exit question 1"/>
          <p:cNvSpPr/>
          <p:nvPr/>
        </p:nvSpPr>
        <p:spPr>
          <a:xfrm>
            <a:off x="457200" y="109728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4358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4358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7406640" cy="658368"/>
          </a:xfrm>
          <a:prstGeom prst="rect">
            <a:avLst/>
          </a:prstGeom>
          <a:noFill/>
          <a:ln/>
        </p:spPr>
        <p:txBody>
          <a:bodyPr wrap="square" lIns="0" tIns="0" rIns="0" bIns="0" rtlCol="0" anchor="ctr"/>
          <a:lstStyle/>
          <a:p>
            <a:pPr marL="0" indent="0">
              <a:buNone/>
            </a:pPr>
            <a:r>
              <a:rPr lang="en-US" sz="1600" dirty="0">
                <a:solidFill>
                  <a:schemeClr val="tx1"/>
                </a:solidFill>
              </a:rPr>
              <a:t>What type of text did we read today?</a:t>
            </a:r>
            <a:endParaRPr lang="en-US" sz="1600" dirty="0"/>
          </a:p>
        </p:txBody>
      </p:sp>
      <p:sp>
        <p:nvSpPr>
          <p:cNvPr id="8" name="Exit question 2"/>
          <p:cNvSpPr/>
          <p:nvPr/>
        </p:nvSpPr>
        <p:spPr>
          <a:xfrm>
            <a:off x="457200" y="187452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020824"/>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02082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1874520"/>
            <a:ext cx="7406640" cy="658368"/>
          </a:xfrm>
          <a:prstGeom prst="rect">
            <a:avLst/>
          </a:prstGeom>
          <a:noFill/>
          <a:ln/>
        </p:spPr>
        <p:txBody>
          <a:bodyPr wrap="square" lIns="0" tIns="0" rIns="0" bIns="0" rtlCol="0" anchor="ctr"/>
          <a:lstStyle/>
          <a:p>
            <a:pPr marL="0" indent="0">
              <a:buNone/>
            </a:pPr>
            <a:r>
              <a:rPr lang="en-US" sz="1600" dirty="0">
                <a:solidFill>
                  <a:schemeClr val="tx1"/>
                </a:solidFill>
              </a:rPr>
              <a:t>Write one fact from the text and one opinion about space.</a:t>
            </a:r>
            <a:endParaRPr lang="en-US" sz="1600" dirty="0"/>
          </a:p>
        </p:txBody>
      </p:sp>
      <p:sp>
        <p:nvSpPr>
          <p:cNvPr id="12" name="Exit question 3"/>
          <p:cNvSpPr/>
          <p:nvPr/>
        </p:nvSpPr>
        <p:spPr>
          <a:xfrm>
            <a:off x="457200" y="265176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2798064"/>
            <a:ext cx="365760" cy="365760"/>
          </a:xfrm>
          <a:prstGeom prst="ellipse">
            <a:avLst/>
          </a:prstGeom>
          <a:solidFill>
            <a:schemeClr val="accent3"/>
          </a:solidFill>
          <a:ln w="6350">
            <a:solidFill>
              <a:schemeClr val="accent3"/>
            </a:solidFill>
            <a:prstDash val="solid"/>
          </a:ln>
        </p:spPr>
      </p:sp>
      <p:sp>
        <p:nvSpPr>
          <p:cNvPr id="14" name="Text 11"/>
          <p:cNvSpPr txBox="1"/>
          <p:nvPr/>
        </p:nvSpPr>
        <p:spPr>
          <a:xfrm>
            <a:off x="594360" y="279806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43000" y="2651760"/>
            <a:ext cx="7406640" cy="658368"/>
          </a:xfrm>
          <a:prstGeom prst="rect">
            <a:avLst/>
          </a:prstGeom>
          <a:noFill/>
          <a:ln/>
        </p:spPr>
        <p:txBody>
          <a:bodyPr wrap="square" lIns="0" tIns="0" rIns="0" bIns="0" rtlCol="0" anchor="ctr"/>
          <a:lstStyle/>
          <a:p>
            <a:pPr marL="0" indent="0">
              <a:buNone/>
            </a:pPr>
            <a:r>
              <a:rPr lang="en-US" sz="1600" dirty="0">
                <a:solidFill>
                  <a:schemeClr val="tx1"/>
                </a:solidFill>
              </a:rPr>
              <a:t>Use ‘orbit’ or ‘observe’ in a sentence of your own.</a:t>
            </a:r>
            <a:endParaRPr lang="en-US" sz="1600" dirty="0"/>
          </a:p>
        </p:txBody>
      </p:sp>
      <p:sp>
        <p:nvSpPr>
          <p:cNvPr id="16" name="Text 13"/>
          <p:cNvSpPr txBox="1"/>
          <p:nvPr/>
        </p:nvSpPr>
        <p:spPr>
          <a:xfrm>
            <a:off x="457200" y="3520440"/>
            <a:ext cx="5029200" cy="457200"/>
          </a:xfrm>
          <a:prstGeom prst="rect">
            <a:avLst/>
          </a:prstGeom>
          <a:noFill/>
          <a:ln/>
        </p:spPr>
        <p:txBody>
          <a:bodyPr wrap="square" lIns="0" tIns="0" rIns="0" bIns="0" rtlCol="0" anchor="ctr"/>
          <a:lstStyle/>
          <a:p>
            <a:pPr marL="0" indent="0">
              <a:buNone/>
            </a:pPr>
            <a:r>
              <a:rPr lang="en-US" sz="1700" b="1" dirty="0">
                <a:solidFill>
                  <a:schemeClr val="bg1"/>
                </a:solidFill>
              </a:rPr>
              <a:t>How confident do you feel about scanning?</a:t>
            </a:r>
            <a:endParaRPr lang="en-US" sz="1700" dirty="0"/>
          </a:p>
        </p:txBody>
      </p:sp>
      <p:sp>
        <p:nvSpPr>
          <p:cNvPr id="17" name="Traffic light"/>
          <p:cNvSpPr/>
          <p:nvPr/>
        </p:nvSpPr>
        <p:spPr>
          <a:xfrm>
            <a:off x="5669280" y="3474720"/>
            <a:ext cx="548640" cy="548640"/>
          </a:xfrm>
          <a:prstGeom prst="ellipse">
            <a:avLst/>
          </a:prstGeom>
          <a:solidFill>
            <a:schemeClr val="accent2"/>
          </a:solidFill>
          <a:ln w="6350">
            <a:solidFill>
              <a:schemeClr val="accent2"/>
            </a:solidFill>
            <a:prstDash val="solid"/>
          </a:ln>
        </p:spPr>
      </p:sp>
      <p:sp>
        <p:nvSpPr>
          <p:cNvPr id="18" name="Text 15"/>
          <p:cNvSpPr txBox="1"/>
          <p:nvPr/>
        </p:nvSpPr>
        <p:spPr>
          <a:xfrm>
            <a:off x="548640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Got it!</a:t>
            </a:r>
            <a:endParaRPr lang="en-US" sz="1200" dirty="0"/>
          </a:p>
        </p:txBody>
      </p:sp>
      <p:sp>
        <p:nvSpPr>
          <p:cNvPr id="19" name="Traffic light"/>
          <p:cNvSpPr/>
          <p:nvPr/>
        </p:nvSpPr>
        <p:spPr>
          <a:xfrm>
            <a:off x="6766560" y="3474720"/>
            <a:ext cx="548640" cy="548640"/>
          </a:xfrm>
          <a:prstGeom prst="ellipse">
            <a:avLst/>
          </a:prstGeom>
          <a:solidFill>
            <a:schemeClr val="accent5"/>
          </a:solidFill>
          <a:ln w="6350">
            <a:solidFill>
              <a:schemeClr val="accent5"/>
            </a:solidFill>
            <a:prstDash val="solid"/>
          </a:ln>
        </p:spPr>
      </p:sp>
      <p:sp>
        <p:nvSpPr>
          <p:cNvPr id="20" name="Text 17"/>
          <p:cNvSpPr txBox="1"/>
          <p:nvPr/>
        </p:nvSpPr>
        <p:spPr>
          <a:xfrm>
            <a:off x="658368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Nearly</a:t>
            </a:r>
            <a:endParaRPr lang="en-US" sz="1200" dirty="0"/>
          </a:p>
        </p:txBody>
      </p:sp>
      <p:sp>
        <p:nvSpPr>
          <p:cNvPr id="21" name="Traffic light"/>
          <p:cNvSpPr/>
          <p:nvPr/>
        </p:nvSpPr>
        <p:spPr>
          <a:xfrm>
            <a:off x="7863840" y="3474720"/>
            <a:ext cx="548640" cy="548640"/>
          </a:xfrm>
          <a:prstGeom prst="ellipse">
            <a:avLst/>
          </a:prstGeom>
          <a:solidFill>
            <a:schemeClr val="accent3"/>
          </a:solidFill>
          <a:ln w="6350">
            <a:solidFill>
              <a:schemeClr val="accent3"/>
            </a:solidFill>
            <a:prstDash val="solid"/>
          </a:ln>
        </p:spPr>
      </p:sp>
      <p:sp>
        <p:nvSpPr>
          <p:cNvPr id="22" name="Text 19"/>
          <p:cNvSpPr txBox="1"/>
          <p:nvPr/>
        </p:nvSpPr>
        <p:spPr>
          <a:xfrm>
            <a:off x="768096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Need help</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Model answers: exit ticket</a:t>
            </a:r>
            <a:endParaRPr lang="en-US" sz="3000" dirty="0"/>
          </a:p>
        </p:txBody>
      </p:sp>
      <p:sp>
        <p:nvSpPr>
          <p:cNvPr id="4" name="Exit model 1"/>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3898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38988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2651760" cy="960120"/>
          </a:xfrm>
          <a:prstGeom prst="rect">
            <a:avLst/>
          </a:prstGeom>
          <a:noFill/>
          <a:ln/>
        </p:spPr>
        <p:txBody>
          <a:bodyPr wrap="square" lIns="0" tIns="0" rIns="0" bIns="0" rtlCol="0" anchor="ctr"/>
          <a:lstStyle/>
          <a:p>
            <a:pPr marL="0" indent="0">
              <a:buNone/>
            </a:pPr>
            <a:r>
              <a:rPr lang="en-US" sz="1500" b="1" dirty="0">
                <a:solidFill>
                  <a:schemeClr val="accent4"/>
                </a:solidFill>
              </a:rPr>
              <a:t>What type of text did we read today?</a:t>
            </a:r>
            <a:endParaRPr lang="en-US" sz="1500" dirty="0"/>
          </a:p>
        </p:txBody>
      </p:sp>
      <p:sp>
        <p:nvSpPr>
          <p:cNvPr id="8" name="Text 5"/>
          <p:cNvSpPr txBox="1"/>
          <p:nvPr/>
        </p:nvSpPr>
        <p:spPr>
          <a:xfrm>
            <a:off x="3840480" y="1097280"/>
            <a:ext cx="4663440" cy="960120"/>
          </a:xfrm>
          <a:prstGeom prst="rect">
            <a:avLst/>
          </a:prstGeom>
          <a:noFill/>
          <a:ln/>
        </p:spPr>
        <p:txBody>
          <a:bodyPr wrap="square" lIns="0" tIns="0" rIns="0" bIns="0" rtlCol="0" anchor="ctr"/>
          <a:lstStyle/>
          <a:p>
            <a:pPr marL="0" indent="0">
              <a:buNone/>
            </a:pPr>
            <a:r>
              <a:rPr lang="en-US" sz="1400" dirty="0">
                <a:solidFill>
                  <a:schemeClr val="tx1"/>
                </a:solidFill>
              </a:rPr>
              <a:t>A non-fiction explanation text, set out like a timeline.</a:t>
            </a:r>
            <a:endParaRPr lang="en-US" sz="1400" dirty="0"/>
          </a:p>
        </p:txBody>
      </p:sp>
      <p:sp>
        <p:nvSpPr>
          <p:cNvPr id="9" name="Exit model 2"/>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48716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8716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94560"/>
            <a:ext cx="2651760" cy="960120"/>
          </a:xfrm>
          <a:prstGeom prst="rect">
            <a:avLst/>
          </a:prstGeom>
          <a:noFill/>
          <a:ln/>
        </p:spPr>
        <p:txBody>
          <a:bodyPr wrap="square" lIns="0" tIns="0" rIns="0" bIns="0" rtlCol="0" anchor="ctr"/>
          <a:lstStyle/>
          <a:p>
            <a:pPr marL="0" indent="0">
              <a:buNone/>
            </a:pPr>
            <a:r>
              <a:rPr lang="en-US" sz="1500" b="1" dirty="0">
                <a:solidFill>
                  <a:schemeClr val="accent4"/>
                </a:solidFill>
              </a:rPr>
              <a:t>One fact and one opinion</a:t>
            </a:r>
            <a:endParaRPr lang="en-US" sz="1500" dirty="0"/>
          </a:p>
        </p:txBody>
      </p:sp>
      <p:sp>
        <p:nvSpPr>
          <p:cNvPr id="13" name="Text 10"/>
          <p:cNvSpPr txBox="1"/>
          <p:nvPr/>
        </p:nvSpPr>
        <p:spPr>
          <a:xfrm>
            <a:off x="3840480" y="2194560"/>
            <a:ext cx="4663440" cy="960120"/>
          </a:xfrm>
          <a:prstGeom prst="rect">
            <a:avLst/>
          </a:prstGeom>
          <a:noFill/>
          <a:ln/>
        </p:spPr>
        <p:txBody>
          <a:bodyPr wrap="square" lIns="0" tIns="0" rIns="0" bIns="0" rtlCol="0" anchor="ctr"/>
          <a:lstStyle/>
          <a:p>
            <a:pPr marL="0" indent="0">
              <a:buNone/>
            </a:pPr>
            <a:r>
              <a:rPr lang="en-US" sz="1400" dirty="0">
                <a:solidFill>
                  <a:schemeClr val="tx1"/>
                </a:solidFill>
              </a:rPr>
              <a:t>Fact: Sputnik I was the first artificial satellite (1957).   Opinion: I think being an astronaut is the most exciting job.</a:t>
            </a:r>
            <a:endParaRPr lang="en-US" sz="1400" dirty="0"/>
          </a:p>
        </p:txBody>
      </p:sp>
      <p:sp>
        <p:nvSpPr>
          <p:cNvPr id="14" name="Exit model 3"/>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584448"/>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5844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3291840"/>
            <a:ext cx="2651760" cy="960120"/>
          </a:xfrm>
          <a:prstGeom prst="rect">
            <a:avLst/>
          </a:prstGeom>
          <a:noFill/>
          <a:ln/>
        </p:spPr>
        <p:txBody>
          <a:bodyPr wrap="square" lIns="0" tIns="0" rIns="0" bIns="0" rtlCol="0" anchor="ctr"/>
          <a:lstStyle/>
          <a:p>
            <a:pPr marL="0" indent="0">
              <a:buNone/>
            </a:pPr>
            <a:r>
              <a:rPr lang="en-US" sz="1500" b="1" dirty="0">
                <a:solidFill>
                  <a:schemeClr val="accent4"/>
                </a:solidFill>
              </a:rPr>
              <a:t>‘orbit’ or ‘observe’ in a sentence</a:t>
            </a:r>
            <a:endParaRPr lang="en-US" sz="1500" dirty="0"/>
          </a:p>
        </p:txBody>
      </p:sp>
      <p:sp>
        <p:nvSpPr>
          <p:cNvPr id="18" name="Text 15"/>
          <p:cNvSpPr txBox="1"/>
          <p:nvPr/>
        </p:nvSpPr>
        <p:spPr>
          <a:xfrm>
            <a:off x="3840480" y="3291840"/>
            <a:ext cx="4663440" cy="960120"/>
          </a:xfrm>
          <a:prstGeom prst="rect">
            <a:avLst/>
          </a:prstGeom>
          <a:noFill/>
          <a:ln/>
        </p:spPr>
        <p:txBody>
          <a:bodyPr wrap="square" lIns="0" tIns="0" rIns="0" bIns="0" rtlCol="0" anchor="ctr"/>
          <a:lstStyle/>
          <a:p>
            <a:pPr marL="0" indent="0">
              <a:buNone/>
            </a:pPr>
            <a:r>
              <a:rPr lang="en-US" sz="1400" dirty="0">
                <a:solidFill>
                  <a:schemeClr val="tx1"/>
                </a:solidFill>
              </a:rPr>
              <a:t>Yuri Gagarin orbited the Earth in 108 minutes.   /   Astronomers observe the stars through telescopes.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Homework task 1"/>
          <p:cNvSpPr/>
          <p:nvPr/>
        </p:nvSpPr>
        <p:spPr>
          <a:xfrm>
            <a:off x="457200" y="109728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316736"/>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31673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1828800" cy="804672"/>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Read aloud</a:t>
            </a:r>
            <a:endParaRPr lang="en-US" sz="1700" dirty="0"/>
          </a:p>
        </p:txBody>
      </p:sp>
      <p:sp>
        <p:nvSpPr>
          <p:cNvPr id="8" name="Text 5"/>
          <p:cNvSpPr txBox="1"/>
          <p:nvPr/>
        </p:nvSpPr>
        <p:spPr>
          <a:xfrm>
            <a:off x="2971800" y="1097280"/>
            <a:ext cx="5577840" cy="804672"/>
          </a:xfrm>
          <a:prstGeom prst="rect">
            <a:avLst/>
          </a:prstGeom>
          <a:noFill/>
          <a:ln/>
        </p:spPr>
        <p:txBody>
          <a:bodyPr wrap="square" lIns="0" tIns="0" rIns="0" bIns="0" rtlCol="0" anchor="ctr"/>
          <a:lstStyle/>
          <a:p>
            <a:pPr marL="0" indent="0">
              <a:buNone/>
            </a:pPr>
            <a:r>
              <a:rPr lang="en-US" sz="1400" dirty="0">
                <a:solidFill>
                  <a:schemeClr val="tx1"/>
                </a:solidFill>
              </a:rPr>
              <a:t>Read ‘A brief history of space’ aloud to someone at home. Practise the tricky names and the years.</a:t>
            </a:r>
            <a:endParaRPr lang="en-US" sz="1400" dirty="0"/>
          </a:p>
        </p:txBody>
      </p:sp>
      <p:sp>
        <p:nvSpPr>
          <p:cNvPr id="9" name="Homework task 2"/>
          <p:cNvSpPr/>
          <p:nvPr/>
        </p:nvSpPr>
        <p:spPr>
          <a:xfrm>
            <a:off x="457200" y="201168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23113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23113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011680"/>
            <a:ext cx="1828800" cy="804672"/>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Spelling</a:t>
            </a:r>
            <a:endParaRPr lang="en-US" sz="1700" dirty="0"/>
          </a:p>
        </p:txBody>
      </p:sp>
      <p:sp>
        <p:nvSpPr>
          <p:cNvPr id="13" name="Text 10"/>
          <p:cNvSpPr txBox="1"/>
          <p:nvPr/>
        </p:nvSpPr>
        <p:spPr>
          <a:xfrm>
            <a:off x="2971800" y="2011680"/>
            <a:ext cx="5577840" cy="804672"/>
          </a:xfrm>
          <a:prstGeom prst="rect">
            <a:avLst/>
          </a:prstGeom>
          <a:noFill/>
          <a:ln/>
        </p:spPr>
        <p:txBody>
          <a:bodyPr wrap="square" lIns="0" tIns="0" rIns="0" bIns="0" rtlCol="0" anchor="ctr"/>
          <a:lstStyle/>
          <a:p>
            <a:pPr marL="0" indent="0">
              <a:buNone/>
            </a:pPr>
            <a:r>
              <a:rPr lang="en-US" sz="1400" dirty="0">
                <a:solidFill>
                  <a:schemeClr val="tx1"/>
                </a:solidFill>
              </a:rPr>
              <a:t>Look, cover, write, check: artificial, astronaut, magnify, observe, orbit. Then write one sentence for each, and add two glossary words of your choice.</a:t>
            </a:r>
            <a:endParaRPr lang="en-US" sz="1400" dirty="0"/>
          </a:p>
        </p:txBody>
      </p:sp>
      <p:sp>
        <p:nvSpPr>
          <p:cNvPr id="14" name="Homework task 3"/>
          <p:cNvSpPr/>
          <p:nvPr/>
        </p:nvSpPr>
        <p:spPr>
          <a:xfrm>
            <a:off x="457200" y="292608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145536"/>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14553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2926080"/>
            <a:ext cx="1828800" cy="804672"/>
          </a:xfrm>
          <a:prstGeom prst="rect">
            <a:avLst/>
          </a:prstGeom>
          <a:noFill/>
          <a:ln/>
        </p:spPr>
        <p:txBody>
          <a:bodyPr wrap="square" lIns="0" tIns="0" rIns="0" bIns="0" rtlCol="0" anchor="ctr"/>
          <a:lstStyle/>
          <a:p>
            <a:pPr marL="0" indent="0">
              <a:buNone/>
            </a:pPr>
            <a:r>
              <a:rPr lang="en-US" sz="1700" b="1" dirty="0">
                <a:solidFill>
                  <a:schemeClr val="tx1"/>
                </a:solidFill>
                <a:latin typeface="+mj-lt" pitchFamily="34" charset="0"/>
                <a:ea typeface="+mj-lt" pitchFamily="34" charset="-122"/>
                <a:cs typeface="+mj-lt" pitchFamily="34" charset="-120"/>
              </a:rPr>
              <a:t>Fact or opinion</a:t>
            </a:r>
            <a:endParaRPr lang="en-US" sz="1700" dirty="0"/>
          </a:p>
        </p:txBody>
      </p:sp>
      <p:sp>
        <p:nvSpPr>
          <p:cNvPr id="18" name="Text 15"/>
          <p:cNvSpPr txBox="1"/>
          <p:nvPr/>
        </p:nvSpPr>
        <p:spPr>
          <a:xfrm>
            <a:off x="2971800" y="2926080"/>
            <a:ext cx="5577840" cy="804672"/>
          </a:xfrm>
          <a:prstGeom prst="rect">
            <a:avLst/>
          </a:prstGeom>
          <a:noFill/>
          <a:ln/>
        </p:spPr>
        <p:txBody>
          <a:bodyPr wrap="square" lIns="0" tIns="0" rIns="0" bIns="0" rtlCol="0" anchor="ctr"/>
          <a:lstStyle/>
          <a:p>
            <a:pPr marL="0" indent="0">
              <a:buNone/>
            </a:pPr>
            <a:r>
              <a:rPr lang="en-US" sz="1400" dirty="0">
                <a:solidFill>
                  <a:schemeClr val="tx1"/>
                </a:solidFill>
              </a:rPr>
              <a:t>Write two sentences about space: one fact and one opinion. Underline the clue words.</a:t>
            </a:r>
            <a:endParaRPr lang="en-US" sz="1400" dirty="0"/>
          </a:p>
        </p:txBody>
      </p:sp>
      <p:sp>
        <p:nvSpPr>
          <p:cNvPr id="19" name="Challenge"/>
          <p:cNvSpPr/>
          <p:nvPr/>
        </p:nvSpPr>
        <p:spPr>
          <a:xfrm>
            <a:off x="457200" y="3931920"/>
            <a:ext cx="8229600" cy="685800"/>
          </a:xfrm>
          <a:prstGeom prst="roundRect">
            <a:avLst>
              <a:gd name="adj" fmla="val 16000"/>
            </a:avLst>
          </a:prstGeom>
          <a:solidFill>
            <a:schemeClr val="accent5"/>
          </a:solidFill>
          <a:ln w="9525">
            <a:solidFill>
              <a:schemeClr val="accent5"/>
            </a:solidFill>
            <a:prstDash val="solid"/>
          </a:ln>
        </p:spPr>
      </p:sp>
      <p:sp>
        <p:nvSpPr>
          <p:cNvPr id="20" name="Text 17"/>
          <p:cNvSpPr txBox="1"/>
          <p:nvPr/>
        </p:nvSpPr>
        <p:spPr>
          <a:xfrm>
            <a:off x="640080" y="3931920"/>
            <a:ext cx="7863840" cy="685800"/>
          </a:xfrm>
          <a:prstGeom prst="rect">
            <a:avLst/>
          </a:prstGeom>
          <a:noFill/>
          <a:ln/>
        </p:spPr>
        <p:txBody>
          <a:bodyPr wrap="square" lIns="0" tIns="0" rIns="0" bIns="0" rtlCol="0" anchor="ctr"/>
          <a:lstStyle/>
          <a:p>
            <a:pPr marL="0" indent="0">
              <a:buNone/>
            </a:pPr>
            <a:r>
              <a:rPr lang="en-US" sz="1500" b="1" dirty="0">
                <a:solidFill>
                  <a:schemeClr val="tx1"/>
                </a:solidFill>
              </a:rPr>
              <a:t>CHALLENGE: </a:t>
            </a:r>
            <a:r>
              <a:rPr lang="en-US" sz="1500" dirty="0">
                <a:solidFill>
                  <a:schemeClr val="tx1"/>
                </a:solidFill>
              </a:rPr>
              <a:t>Research a space event not in the text. Write a timeline entry in the same style: “In 2021, …”</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58</a:t>
            </a:fld>
            <a:endParaRPr lang="en-US"/>
          </a:p>
        </p:txBody>
      </p:sp>
    </p:spTree>
  </p:cSld>
  <p:clrMapOvr>
    <a:masterClrMapping/>
  </p:clrMapOvr>
</p:sld>
</file>

<file path=ppt/theme/theme1.xml><?xml version="1.0" encoding="utf-8"?>
<a:theme xmlns:a="http://schemas.openxmlformats.org/drawingml/2006/main" name="Space Explorers">
  <a:themeElements>
    <a:clrScheme name="Space Explorers">
      <a:dk1>
        <a:srgbClr val="0E1537"/>
      </a:dk1>
      <a:lt1>
        <a:srgbClr val="FFFFFF"/>
      </a:lt1>
      <a:dk2>
        <a:srgbClr val="3A3F85"/>
      </a:dk2>
      <a:lt2>
        <a:srgbClr val="F1F3FF"/>
      </a:lt2>
      <a:accent1>
        <a:srgbClr val="FF8A3D"/>
      </a:accent1>
      <a:accent2>
        <a:srgbClr val="2EC4B6"/>
      </a:accent2>
      <a:accent3>
        <a:srgbClr val="FF6B8B"/>
      </a:accent3>
      <a:accent4>
        <a:srgbClr val="7B5CE0"/>
      </a:accent4>
      <a:accent5>
        <a:srgbClr val="FFD166"/>
      </a:accent5>
      <a:accent6>
        <a:srgbClr val="4CC9F0"/>
      </a:accent6>
      <a:hlink>
        <a:srgbClr val="4CC9F0"/>
      </a:hlink>
      <a:folHlink>
        <a:srgbClr val="7B5CE0"/>
      </a:folHlink>
    </a:clrScheme>
    <a:fontScheme name="Space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6652</Words>
  <Application>Microsoft Office PowerPoint</Application>
  <PresentationFormat>On-screen Show (16:9)</PresentationFormat>
  <Paragraphs>847</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Cambria</vt:lpstr>
      <vt:lpstr>Space Explorers</vt:lpstr>
      <vt:lpstr>PowerPoint Presentation</vt:lpstr>
      <vt:lpstr>Starter: What do you know?</vt:lpstr>
      <vt:lpstr>Starter: possible answers</vt:lpstr>
      <vt:lpstr>Today’s mission</vt:lpstr>
      <vt:lpstr>PowerPoint Presentation</vt:lpstr>
      <vt:lpstr>What type of text is this?</vt:lpstr>
      <vt:lpstr>Answer</vt:lpstr>
      <vt:lpstr>Features of an explanation text</vt:lpstr>
      <vt:lpstr>Read it aloud: names and dates</vt:lpstr>
      <vt:lpstr>Space firsts at a glance</vt:lpstr>
      <vt:lpstr>PowerPoint Presentation</vt:lpstr>
      <vt:lpstr>Words in the text</vt:lpstr>
      <vt:lpstr>Word 1: CATALOGUE</vt:lpstr>
      <vt:lpstr>Use &amp; check: catalogue</vt:lpstr>
      <vt:lpstr>Word 2: ASTRONOMER</vt:lpstr>
      <vt:lpstr>Use &amp; check: astronomer</vt:lpstr>
      <vt:lpstr>Word 3: NAKED EYE</vt:lpstr>
      <vt:lpstr>Use &amp; check: naked eye</vt:lpstr>
      <vt:lpstr>Word 4: OBSERVATORY</vt:lpstr>
      <vt:lpstr>Use &amp; check: observatory</vt:lpstr>
      <vt:lpstr>Word 5: SATELLITE</vt:lpstr>
      <vt:lpstr>Use &amp; check: satellite</vt:lpstr>
      <vt:lpstr>Word 6: COSMONAUT</vt:lpstr>
      <vt:lpstr>Use &amp; check: cosmonaut</vt:lpstr>
      <vt:lpstr>The glossary: recap</vt:lpstr>
      <vt:lpstr>Word 7: ARTIFICIAL</vt:lpstr>
      <vt:lpstr>Use &amp; check: artificial</vt:lpstr>
      <vt:lpstr>Word 8: ASTRONAUT</vt:lpstr>
      <vt:lpstr>Use &amp; check: astronaut</vt:lpstr>
      <vt:lpstr>Word 9: MAGNIFY</vt:lpstr>
      <vt:lpstr>Use &amp; check: magnify</vt:lpstr>
      <vt:lpstr>Word 10: OBSERVE</vt:lpstr>
      <vt:lpstr>Use &amp; check: observe</vt:lpstr>
      <vt:lpstr>Word 11: ORBIT</vt:lpstr>
      <vt:lpstr>Use &amp; check: orbit</vt:lpstr>
      <vt:lpstr>Activity words: recap</vt:lpstr>
      <vt:lpstr>Put them in ABC order</vt:lpstr>
      <vt:lpstr>Answer: ABC order</vt:lpstr>
      <vt:lpstr>Using a thesaurus</vt:lpstr>
      <vt:lpstr>Synonym bank: activity words</vt:lpstr>
      <vt:lpstr>Synonym bank: glossary words</vt:lpstr>
      <vt:lpstr>Use the words in your own sentences</vt:lpstr>
      <vt:lpstr>Glossary words in your own sentences</vt:lpstr>
      <vt:lpstr>Add them to your spelling log</vt:lpstr>
      <vt:lpstr>Spelling log: glossary words</vt:lpstr>
      <vt:lpstr>PowerPoint Presentation</vt:lpstr>
      <vt:lpstr>Scanning: find it fast</vt:lpstr>
      <vt:lpstr>Scan challenge: a, b and c</vt:lpstr>
      <vt:lpstr>Answers: a, b and c</vt:lpstr>
      <vt:lpstr>Fact or opinion?</vt:lpstr>
      <vt:lpstr>Answer: fact or opinion</vt:lpstr>
      <vt:lpstr>How many countries?</vt:lpstr>
      <vt:lpstr>Answer: 10 countries</vt:lpstr>
      <vt:lpstr>Add it to your reading log</vt:lpstr>
      <vt:lpstr>Model answer: reading log</vt:lpstr>
      <vt:lpstr>Exit ticket</vt:lpstr>
      <vt:lpstr>Model answers: exit ticket</vt:lpstr>
      <vt:lpstr>Homework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Brief History of Space – Year 5 Unit 2 Lesson 1</dc:title>
  <dc:subject>PptxGenJS Presentation</dc:subject>
  <dc:creator>Year 5 English</dc:creator>
  <cp:lastModifiedBy>pc</cp:lastModifiedBy>
  <cp:revision>1</cp:revision>
  <dcterms:created xsi:type="dcterms:W3CDTF">2026-10-16T22:33:48Z</dcterms:created>
  <dcterms:modified xsi:type="dcterms:W3CDTF">2026-10-16T22:43:41Z</dcterms:modified>
</cp:coreProperties>
</file>