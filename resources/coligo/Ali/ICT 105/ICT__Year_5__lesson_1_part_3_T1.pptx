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8C4B4B6-BDDB-2F64-8662-2DFEE60485EF}">
          <p14:sldIdLst>
            <p14:sldId id="256"/>
          </p14:sldIdLst>
        </p14:section>
        <p14:section name="The Count variable" id="{E5A411AB-63B6-2281-F6DC-078C61ACA6C7}">
          <p14:sldIdLst>
            <p14:sldId id="257"/>
            <p14:sldId id="258"/>
            <p14:sldId id="259"/>
            <p14:sldId id="260"/>
            <p14:sldId id="261"/>
            <p14:sldId id="262"/>
          </p14:sldIdLst>
        </p14:section>
        <p14:section name="Values that change" id="{0ACF8710-6E1C-488A-4734-D19323515AB0}">
          <p14:sldIdLst>
            <p14:sldId id="263"/>
            <p14:sldId id="264"/>
            <p14:sldId id="265"/>
            <p14:sldId id="266"/>
          </p14:sldIdLst>
        </p14:section>
        <p14:section name="Favourite vegetable" id="{F6EC49F8-9055-8B06-CE17-4933AA6BF244}">
          <p14:sldIdLst>
            <p14:sldId id="267"/>
            <p14:sldId id="268"/>
            <p14:sldId id="269"/>
            <p14:sldId id="270"/>
            <p14:sldId id="271"/>
          </p14:sldIdLst>
        </p14:section>
        <p14:section name="Activities and summary" id="{B620A3ED-E954-C402-B996-B13F820FCBAB}">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tableStyles" Target="tableStyles.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DB47DADA-543D-6240-B0F8-74372E4A5770}" type="datetimeFigureOut">
              <a:rPr lang="en-US" smtClean="0"/>
              <a:t>10/13/2026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7D551561-0AE4-C64B-BA5B-7F832BA66E56}" type="slidenum">
              <a:rPr lang="en-US" smtClean="0"/>
              <a:t>‹#›</a:t>
            </a:fld>
            <a:endParaRPr lang="en-US"/>
          </a:p>
        </p:txBody>
      </p:sp>
    </p:spTree>
    <p:extLst>
      <p:ext uri="{BB962C8B-B14F-4D97-AF65-F5344CB8AC3E}">
        <p14:creationId xmlns:p14="http://schemas.microsoft.com/office/powerpoint/2010/main" val="2765790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lesson we learn what a variable is, how to give it a value with 'set', and how a value can change. We follow a ladybug, a birthday card, and Marcus's favourite vegetable, then finish with three activities.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loop repeats instructions, which makes an algorithm shorter and more efficient. A count-controlled loop repeats an exact number of times. The question is: where do we store that number? The answer is a variable.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1 sets Count to 2. Line 2 says REPEAT Count, so the indented lines run Count times. Inside the loop the ladybug moves forward, turns right, moves forward, and turns left. That is one step up and one step right, so after two repeats it has climbed two steps.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variable as a labelled box. The label is the variable's name, and inside the box is the value. Count is a meaningful name because it tells us what is stored: how many times the loop repeats. Always choose names that describe the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discussion. Each loop repeat makes the ladybug go forward, turn right, forward, turn left, so it moves one square up and one square right. The bug hotel is in the top-right corner. From the bottom-left, five diagonal steps are needed, so Count = 5. If the ladybug starts one square up and right, it needs one step less, so Count = 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Assigning means putting a value into the variable. 'set Count to 5' is like putting the number 5 into the box labelled Count. Now the loop will repeat five times.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move the ladybug closer to the hotel, we change the number we give to Count. Now 4 is stored in Count. The 5 is no longer in the box, because a variable can only hold one item of data at a time. The new value replaces the old 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are the numbers and words we use in algorithms. They can be text, numbers or symbols. Think of an electronic birthday card: it says Happy Birthday, your name, and how old you are. The name and age change depending on whose birthday it is. For Miah the values are 'Miah' and 8; for Mike on the next page they are 'Mike' and 9.</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assign Age to 9 we say 'set Age to 9'. In the algorithm for Mike, lines 1 and 2 assign the variables Name and Age. Lines 3 and 4 use the variable names to say the message. Because we refer to the names, we can reuse the same program for any child by changing only lines 1 and 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Unplugged activity 1 needs only a pen and paper. Students copy the table, look at pictures A, B and C, read each child's name and age from the picture, write them as the values of the Name and Age variables, and then write the message the birthday algorithm would output. Answers: A is Katy, 9. B is Juan, 10. C is Meena, 9 (the banner in picture C is small, so check it with the class).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4: if you wanted to add who the card was from, why would you use a variable? Because the sender changes every time. A variable such as From lets one program work for any sender: we only change the value once, and the name can be used wherever it is needed.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Marcus is creating a program for buying his favourite things from the supermarket. He sets his favourite items once, which makes shopping quicker. He uses variables to store them. For his favourite vegetable he names the variable MyFavouriteVegetable, a meaningful name.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Marcus wants the program to store his favourite vegetable: broccoli. He assigns the variable MyFavouriteVegetable to the value 'broccoli'. The command set means 'put this value in this variable'. The value here is text, not a number.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display what is inside a variable we use say followed by the variable name. The output is the value, broccoli, not the name of the variable. Marcus's complete algorithm first assigns the value and then displays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variable holds a temporary value that can change; it is not kept forever. Not everyone has the same favourite vegetable, so depending on who uses the program, a different value is stored. Marcus gets broccoli; Sofia gets carrot. The algorithm has the same shape, only the value changes.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5: write an algorithm that assigns MyFavouriteVegetable to your own favourite vegetable, for example peas, and say it. Question 6: compare with your partner. The structure is the same; only the value differs. Question 7: Marcus wants a variable for his favourite fruit, so a meaningful name is MyFavouriteFruit.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uses a desktop computer, laptop or tablet with word-processing software. The task: create a poster that explains what variables are and how we use them. Plan the content first, build the poster, then check it and share it with the class.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Unplugged activity 3 needs a pen and paper or a mini whiteboard. Look at the football game. The screen shows different values: numbers and letters. In pairs, answer four questions. 1) There are five values: Python, Sprite, 2, 3 and 30:00. 2) They are the two team names, each team's score and the time remaining. 3) The scores and the time will change. 4) Holding each value in a variable lets the program update it and use it by name.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in pairs, write an algorithm that assigns the variables to the values at the start of the match, using the picture and your answers from Part A. At the start the scores would be 0 and 0 and the time 30:00. Variable names should be meaningful. Note: part of this instruction is cut off in the photo, so check the book for the full wording.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 variable is a labelled box; set gives it a value; it holds one value at a time and the value can change; names should be meaningful; say displays the value.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F4D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606040"/>
            <a:ext cx="8046720" cy="868680"/>
          </a:xfrm>
          <a:prstGeom prst="rect">
            <a:avLst/>
          </a:prstGeom>
          <a:noFill/>
          <a:ln/>
        </p:spPr>
        <p:txBody>
          <a:bodyPr wrap="square" rtlCol="0"/>
          <a:lstStyle>
            <a:lvl1pPr marL="0" indent="0" algn="l">
              <a:buNone/>
              <a:defRPr lang="en-US" sz="4400" b="1" dirty="0">
                <a:solidFill>
                  <a:srgbClr val="FFFFFF"/>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548640" y="3520440"/>
            <a:ext cx="8046720" cy="457200"/>
          </a:xfrm>
          <a:prstGeom prst="rect">
            <a:avLst/>
          </a:prstGeom>
          <a:noFill/>
          <a:ln/>
        </p:spPr>
        <p:txBody>
          <a:bodyPr wrap="square" rtlCol="0"/>
          <a:lstStyle>
            <a:lvl1pPr marL="0" indent="0">
              <a:buNone/>
              <a:defRPr lang="en-US" sz="1800" dirty="0">
                <a:solidFill>
                  <a:srgbClr val="CFE6D8"/>
                </a:solidFill>
                <a:latin typeface="Calibri" pitchFamily="34" charset="0"/>
                <a:ea typeface="Calibri" pitchFamily="34" charset="-122"/>
                <a:cs typeface="Calibri" pitchFamily="34" charset="-120"/>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p:bg>
      <p:bgPr>
        <a:solidFill>
          <a:srgbClr val="1F4D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200" b="1" dirty="0">
                <a:solidFill>
                  <a:srgbClr val="FFFFFF"/>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CFE6D8"/>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200" b="1" dirty="0">
                <a:solidFill>
                  <a:srgbClr val="1F4D3A"/>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C6F66"/>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CTIVITY">
    <p:bg>
      <p:bgPr>
        <a:solidFill>
          <a:srgbClr val="EAF2F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035040" cy="731520"/>
          </a:xfrm>
          <a:prstGeom prst="rect">
            <a:avLst/>
          </a:prstGeom>
          <a:noFill/>
          <a:ln/>
        </p:spPr>
        <p:txBody>
          <a:bodyPr wrap="square" rtlCol="0"/>
          <a:lstStyle>
            <a:lvl1pPr marL="0" indent="0" algn="l">
              <a:buNone/>
              <a:defRPr lang="en-US" sz="3200" b="1" dirty="0">
                <a:solidFill>
                  <a:srgbClr val="1B4F8F"/>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C6F66"/>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theme" Target="../theme/theme1.xml" /><Relationship Id="rId5" Type="http://schemas.openxmlformats.org/officeDocument/2006/relationships/slideLayout" Target="../slideLayouts/slideLayout5.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CFE6D8"/>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2.xml" /><Relationship Id="rId1" Type="http://schemas.openxmlformats.org/officeDocument/2006/relationships/slideLayout" Target="../slideLayouts/slideLayout4.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4.xml" /></Relationships>
</file>

<file path=ppt/slides/_rels/slide4.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4.xml" /><Relationship Id="rId1" Type="http://schemas.openxmlformats.org/officeDocument/2006/relationships/slideLayout" Target="../slideLayouts/slideLayout4.xml" /></Relationships>
</file>

<file path=ppt/slides/_rels/slide5.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5.xml" /><Relationship Id="rId1" Type="http://schemas.openxmlformats.org/officeDocument/2006/relationships/slideLayout" Target="../slideLayouts/slideLayout5.xml" /></Relationships>
</file>

<file path=ppt/slides/_rels/slide6.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6.xml" /><Relationship Id="rId1" Type="http://schemas.openxmlformats.org/officeDocument/2006/relationships/slideLayout" Target="../slideLayouts/slideLayout4.xml" /></Relationships>
</file>

<file path=ppt/slides/_rels/slide7.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7.xml" /><Relationship Id="rId1" Type="http://schemas.openxmlformats.org/officeDocument/2006/relationships/slideLayout" Target="../slideLayouts/slideLayout4.xml" /></Relationships>
</file>

<file path=ppt/slides/_rels/slide8.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8.xml" /><Relationship Id="rId1" Type="http://schemas.openxmlformats.org/officeDocument/2006/relationships/slideLayout" Target="../slideLayouts/slideLayout4.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4.xml" /></Relationships>
</file>

<file path=ppt/slides/_rels/slide10.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10.xml" /><Relationship Id="rId1" Type="http://schemas.openxmlformats.org/officeDocument/2006/relationships/slideLayout" Target="../slideLayouts/slideLayout5.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5.xml" /></Relationships>
</file>

<file path=ppt/slides/_rels/slide12.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12.xml" /><Relationship Id="rId1" Type="http://schemas.openxmlformats.org/officeDocument/2006/relationships/slideLayout" Target="../slideLayouts/slideLayout4.xml" /><Relationship Id="rId4" Type="http://schemas.openxmlformats.org/officeDocument/2006/relationships/image" Target="../media/image8.png" /></Relationships>
</file>

<file path=ppt/slides/_rels/slide13.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13.xml" /><Relationship Id="rId1" Type="http://schemas.openxmlformats.org/officeDocument/2006/relationships/slideLayout" Target="../slideLayouts/slideLayout4.xml" /></Relationships>
</file>

<file path=ppt/slides/_rels/slide14.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notesSlide" Target="../notesSlides/notesSlide14.xml" /><Relationship Id="rId1" Type="http://schemas.openxmlformats.org/officeDocument/2006/relationships/slideLayout" Target="../slideLayouts/slideLayout4.xml" /></Relationships>
</file>

<file path=ppt/slides/_rels/slide15.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15.xml" /><Relationship Id="rId1" Type="http://schemas.openxmlformats.org/officeDocument/2006/relationships/slideLayout" Target="../slideLayouts/slideLayout4.xml" /><Relationship Id="rId4" Type="http://schemas.openxmlformats.org/officeDocument/2006/relationships/image" Target="../media/image12.png" /></Relationships>
</file>

<file path=ppt/slides/_rels/slide16.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notesSlide" Target="../notesSlides/notesSlide16.xml" /><Relationship Id="rId1" Type="http://schemas.openxmlformats.org/officeDocument/2006/relationships/slideLayout" Target="../slideLayouts/slideLayout5.xml" /></Relationships>
</file>

<file path=ppt/slides/_rels/slide17.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17.xml" /><Relationship Id="rId1" Type="http://schemas.openxmlformats.org/officeDocument/2006/relationships/slideLayout" Target="../slideLayouts/slideLayout5.xml" /></Relationships>
</file>

<file path=ppt/slides/_rels/slide18.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notesSlide" Target="../notesSlides/notesSlide18.xml" /><Relationship Id="rId1" Type="http://schemas.openxmlformats.org/officeDocument/2006/relationships/slideLayout" Target="../slideLayouts/slideLayout5.xml" /><Relationship Id="rId4" Type="http://schemas.openxmlformats.org/officeDocument/2006/relationships/image" Target="../media/image15.png" /></Relationships>
</file>

<file path=ppt/slides/_rels/slide19.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notesSlide" Target="../notesSlides/notesSlide19.xml" /><Relationship Id="rId1" Type="http://schemas.openxmlformats.org/officeDocument/2006/relationships/slideLayout" Target="../slideLayouts/slideLayout5.xml" /></Relationships>
</file>

<file path=ppt/slides/_rels/slide20.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20.xml" /><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 ladybug on a clover patch"/>
          <p:cNvPicPr>
            <a:picLocks noChangeAspect="1"/>
          </p:cNvPicPr>
          <p:nvPr/>
        </p:nvPicPr>
        <p:blipFill>
          <a:blip r:embed="rId3"/>
          <a:stretch>
            <a:fillRect/>
          </a:stretch>
        </p:blipFill>
        <p:spPr>
          <a:xfrm>
            <a:off x="0" y="0"/>
            <a:ext cx="9144000" cy="2377440"/>
          </a:xfrm>
          <a:prstGeom prst="rect">
            <a:avLst/>
          </a:prstGeom>
        </p:spPr>
      </p:pic>
      <p:sp>
        <p:nvSpPr>
          <p:cNvPr id="3" name="Text 0"/>
          <p:cNvSpPr>
            <a:spLocks noGrp="1"/>
          </p:cNvSpPr>
          <p:nvPr>
            <p:ph type="title" idx="100" hasCustomPrompt="1"/>
          </p:nvPr>
        </p:nvSpPr>
        <p:spPr>
          <a:xfrm>
            <a:off x="548640" y="2606040"/>
            <a:ext cx="8046720" cy="868680"/>
          </a:xfrm>
          <a:prstGeom prst="rect">
            <a:avLst/>
          </a:prstGeom>
          <a:noFill/>
          <a:ln/>
        </p:spPr>
        <p:txBody>
          <a:bodyPr wrap="square" lIns="0" tIns="0" rIns="0" bIns="0" rtlCol="0" anchor="ctr"/>
          <a:lstStyle/>
          <a:p>
            <a:pPr marL="0" indent="0" algn="l">
              <a:buNone/>
            </a:pPr>
            <a:r>
              <a:rPr lang="en-US" sz="4400" b="1" dirty="0">
                <a:solidFill>
                  <a:srgbClr val="FFFFFF"/>
                </a:solidFill>
                <a:latin typeface="Cambria" pitchFamily="34" charset="0"/>
                <a:ea typeface="Cambria" pitchFamily="34" charset="-122"/>
                <a:cs typeface="Cambria" pitchFamily="34" charset="-120"/>
              </a:rPr>
              <a:t>Assigning Variables</a:t>
            </a:r>
            <a:endParaRPr lang="en-US" sz="4400" dirty="0"/>
          </a:p>
        </p:txBody>
      </p:sp>
      <p:sp>
        <p:nvSpPr>
          <p:cNvPr id="4" name="Text 0"/>
          <p:cNvSpPr>
            <a:spLocks noGrp="1"/>
          </p:cNvSpPr>
          <p:nvPr>
            <p:ph type="body" idx="101" hasCustomPrompt="1"/>
          </p:nvPr>
        </p:nvSpPr>
        <p:spPr>
          <a:xfrm>
            <a:off x="548640" y="3520440"/>
            <a:ext cx="8046720" cy="457200"/>
          </a:xfrm>
          <a:prstGeom prst="rect">
            <a:avLst/>
          </a:prstGeom>
          <a:noFill/>
          <a:ln/>
        </p:spPr>
        <p:txBody>
          <a:bodyPr wrap="square" lIns="0" tIns="0" rIns="0" bIns="0" rtlCol="0" anchor="t"/>
          <a:lstStyle/>
          <a:p>
            <a:pPr marL="0" indent="0">
              <a:buNone/>
            </a:pPr>
            <a:r>
              <a:rPr lang="en-US" sz="1800" dirty="0">
                <a:solidFill>
                  <a:srgbClr val="CFE6D8"/>
                </a:solidFill>
                <a:latin typeface="Calibri" pitchFamily="34" charset="0"/>
                <a:ea typeface="Calibri" pitchFamily="34" charset="-122"/>
                <a:cs typeface="Calibri" pitchFamily="34" charset="-120"/>
              </a:rPr>
              <a:t>Unit 1.1 · Computational thinking and programming</a:t>
            </a:r>
            <a:endParaRPr lang="en-US" sz="1800" dirty="0"/>
          </a:p>
        </p:txBody>
      </p:sp>
      <p:sp>
        <p:nvSpPr>
          <p:cNvPr id="5" name="Text 2"/>
          <p:cNvSpPr txBox="1"/>
          <p:nvPr/>
        </p:nvSpPr>
        <p:spPr>
          <a:xfrm>
            <a:off x="548640" y="4206240"/>
            <a:ext cx="8046720" cy="365760"/>
          </a:xfrm>
          <a:prstGeom prst="rect">
            <a:avLst/>
          </a:prstGeom>
          <a:noFill/>
          <a:ln/>
        </p:spPr>
        <p:txBody>
          <a:bodyPr wrap="square" lIns="0" tIns="0" rIns="0" bIns="0" rtlCol="0" anchor="t"/>
          <a:lstStyle/>
          <a:p>
            <a:pPr marL="0" indent="0">
              <a:buNone/>
            </a:pPr>
            <a:r>
              <a:rPr lang="en-US" sz="1600" i="1" dirty="0">
                <a:solidFill>
                  <a:srgbClr val="F2B632"/>
                </a:solidFill>
                <a:latin typeface="Calibri" pitchFamily="34" charset="0"/>
                <a:ea typeface="Calibri" pitchFamily="34" charset="-122"/>
                <a:cs typeface="Calibri" pitchFamily="34" charset="-120"/>
              </a:rPr>
              <a:t>A slide-by-slide explanation with all the activities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rgbClr val="1F4D3A"/>
                </a:solidFill>
                <a:latin typeface="Cambria" pitchFamily="34" charset="0"/>
                <a:ea typeface="Cambria" pitchFamily="34" charset="-122"/>
                <a:cs typeface="Cambria" pitchFamily="34" charset="-120"/>
              </a:rPr>
              <a:t>Recap: Count-Controlled Loops</a:t>
            </a:r>
            <a:endParaRPr lang="en-US" sz="3200" dirty="0"/>
          </a:p>
        </p:txBody>
      </p:sp>
      <p:sp>
        <p:nvSpPr>
          <p:cNvPr id="4" name="frame-girl"/>
          <p:cNvSpPr/>
          <p:nvPr/>
        </p:nvSpPr>
        <p:spPr>
          <a:xfrm>
            <a:off x="384048" y="1298448"/>
            <a:ext cx="4992624" cy="1816450"/>
          </a:xfrm>
          <a:prstGeom prst="roundRect">
            <a:avLst>
              <a:gd name="adj" fmla="val 5034"/>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pic>
        <p:nvPicPr>
          <p:cNvPr id="5" name="Image 0" descr="A girl explaining that loops repeat instructions"/>
          <p:cNvPicPr>
            <a:picLocks noChangeAspect="1"/>
          </p:cNvPicPr>
          <p:nvPr/>
        </p:nvPicPr>
        <p:blipFill>
          <a:blip r:embed="rId3"/>
          <a:stretch>
            <a:fillRect/>
          </a:stretch>
        </p:blipFill>
        <p:spPr>
          <a:xfrm>
            <a:off x="457200" y="1371600"/>
            <a:ext cx="4846320" cy="1670146"/>
          </a:xfrm>
          <a:prstGeom prst="rect">
            <a:avLst/>
          </a:prstGeom>
        </p:spPr>
      </p:pic>
      <p:sp>
        <p:nvSpPr>
          <p:cNvPr id="6" name="callout"/>
          <p:cNvSpPr/>
          <p:nvPr/>
        </p:nvSpPr>
        <p:spPr>
          <a:xfrm>
            <a:off x="457200" y="3246120"/>
            <a:ext cx="4846320" cy="1280160"/>
          </a:xfrm>
          <a:prstGeom prst="roundRect">
            <a:avLst>
              <a:gd name="adj" fmla="val 7143"/>
            </a:avLst>
          </a:prstGeom>
          <a:solidFill>
            <a:srgbClr val="EAF4EC"/>
          </a:solidFill>
          <a:ln w="9525">
            <a:solidFill>
              <a:srgbClr val="EAF4EC"/>
            </a:solidFill>
            <a:prstDash val="solid"/>
          </a:ln>
          <a:effectLst>
            <a:outerShdw blurRad="76200" dist="25400" dir="5400000" algn="bl" rotWithShape="0">
              <a:srgbClr val="000000">
                <a:alpha val="14000"/>
              </a:srgbClr>
            </a:outerShdw>
          </a:effectLst>
        </p:spPr>
      </p:sp>
      <p:sp>
        <p:nvSpPr>
          <p:cNvPr id="7" name="Text 3"/>
          <p:cNvSpPr txBox="1"/>
          <p:nvPr/>
        </p:nvSpPr>
        <p:spPr>
          <a:xfrm>
            <a:off x="685800" y="3383280"/>
            <a:ext cx="4389120" cy="1005840"/>
          </a:xfrm>
          <a:prstGeom prst="rect">
            <a:avLst/>
          </a:prstGeom>
          <a:noFill/>
          <a:ln/>
        </p:spPr>
        <p:txBody>
          <a:bodyPr wrap="square" lIns="0" tIns="0" rIns="0" bIns="0" rtlCol="0" anchor="t"/>
          <a:lstStyle/>
          <a:p>
            <a:pPr marL="0" indent="0">
              <a:buNone/>
            </a:pPr>
            <a:r>
              <a:rPr lang="en-US" sz="1500" b="1" dirty="0">
                <a:solidFill>
                  <a:srgbClr val="1F4D3A"/>
                </a:solidFill>
                <a:latin typeface="Calibri" pitchFamily="34" charset="0"/>
                <a:ea typeface="Calibri" pitchFamily="34" charset="-122"/>
                <a:cs typeface="Calibri" pitchFamily="34" charset="-120"/>
              </a:rPr>
              <a:t>Count-controlled loop</a:t>
            </a:r>
            <a:endParaRPr lang="en-US" sz="1500" dirty="0"/>
          </a:p>
          <a:p>
            <a:pPr marL="0" indent="0">
              <a:buNone/>
            </a:pPr>
            <a:r>
              <a:rPr lang="en-US" sz="1500" dirty="0">
                <a:solidFill>
                  <a:srgbClr val="1B2B24"/>
                </a:solidFill>
                <a:latin typeface="Calibri" pitchFamily="34" charset="0"/>
                <a:ea typeface="Calibri" pitchFamily="34" charset="-122"/>
                <a:cs typeface="Calibri" pitchFamily="34" charset="-120"/>
              </a:rPr>
              <a:t>Repeats the instructions an exact number of times. The number of repeats is stored in a variable.</a:t>
            </a:r>
            <a:endParaRPr lang="en-US" sz="1500" dirty="0"/>
          </a:p>
        </p:txBody>
      </p:sp>
      <p:sp>
        <p:nvSpPr>
          <p:cNvPr id="8" name="points"/>
          <p:cNvSpPr/>
          <p:nvPr/>
        </p:nvSpPr>
        <p:spPr>
          <a:xfrm>
            <a:off x="5669280" y="1371600"/>
            <a:ext cx="3017520" cy="3154680"/>
          </a:xfrm>
          <a:prstGeom prst="roundRect">
            <a:avLst>
              <a:gd name="adj" fmla="val 3030"/>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9" name="Text 5"/>
          <p:cNvSpPr txBox="1"/>
          <p:nvPr/>
        </p:nvSpPr>
        <p:spPr>
          <a:xfrm>
            <a:off x="5897880" y="1554480"/>
            <a:ext cx="2606040" cy="2743200"/>
          </a:xfrm>
          <a:prstGeom prst="rect">
            <a:avLst/>
          </a:prstGeom>
          <a:noFill/>
          <a:ln/>
        </p:spPr>
        <p:txBody>
          <a:bodyPr wrap="square" lIns="0" tIns="0" rIns="0" bIns="0" rtlCol="0" anchor="t"/>
          <a:lstStyle/>
          <a:p>
            <a:pPr marL="0" indent="0">
              <a:buNone/>
            </a:pPr>
            <a:r>
              <a:rPr lang="en-US" sz="1800" b="1" dirty="0">
                <a:solidFill>
                  <a:srgbClr val="1F4D3A"/>
                </a:solidFill>
                <a:latin typeface="Calibri" pitchFamily="34" charset="0"/>
                <a:ea typeface="Calibri" pitchFamily="34" charset="-122"/>
                <a:cs typeface="Calibri" pitchFamily="34" charset="-120"/>
              </a:rPr>
              <a:t>Why use loops?</a:t>
            </a:r>
            <a:endParaRPr lang="en-US" sz="1500" dirty="0"/>
          </a:p>
          <a:p>
            <a:pPr marL="203200" indent="-203200">
              <a:spcAft>
                <a:spcPts val="800"/>
              </a:spcAft>
              <a:buSzPct val="100000"/>
              <a:buChar char="•"/>
            </a:pPr>
            <a:r>
              <a:rPr lang="en-US" sz="1500" dirty="0">
                <a:solidFill>
                  <a:srgbClr val="1B2B24"/>
                </a:solidFill>
                <a:latin typeface="Calibri" pitchFamily="34" charset="0"/>
                <a:ea typeface="Calibri" pitchFamily="34" charset="-122"/>
                <a:cs typeface="Calibri" pitchFamily="34" charset="-120"/>
              </a:rPr>
              <a:t>Repeat instructions</a:t>
            </a:r>
            <a:endParaRPr lang="en-US" sz="1500" dirty="0"/>
          </a:p>
          <a:p>
            <a:pPr marL="203200" indent="-203200">
              <a:spcAft>
                <a:spcPts val="800"/>
              </a:spcAft>
              <a:buSzPct val="100000"/>
              <a:buChar char="•"/>
            </a:pPr>
            <a:r>
              <a:rPr lang="en-US" sz="1500" dirty="0">
                <a:solidFill>
                  <a:srgbClr val="1B2B24"/>
                </a:solidFill>
                <a:latin typeface="Calibri" pitchFamily="34" charset="0"/>
                <a:ea typeface="Calibri" pitchFamily="34" charset="-122"/>
                <a:cs typeface="Calibri" pitchFamily="34" charset="-120"/>
              </a:rPr>
              <a:t>Fewer lines to write</a:t>
            </a:r>
            <a:endParaRPr lang="en-US" sz="1500" dirty="0"/>
          </a:p>
          <a:p>
            <a:pPr marL="203200" indent="-203200">
              <a:spcAft>
                <a:spcPts val="800"/>
              </a:spcAft>
              <a:buSzPct val="100000"/>
              <a:buChar char="•"/>
            </a:pPr>
            <a:r>
              <a:rPr lang="en-US" sz="1500" dirty="0">
                <a:solidFill>
                  <a:srgbClr val="1B2B24"/>
                </a:solidFill>
                <a:latin typeface="Calibri" pitchFamily="34" charset="0"/>
                <a:ea typeface="Calibri" pitchFamily="34" charset="-122"/>
                <a:cs typeface="Calibri" pitchFamily="34" charset="-120"/>
              </a:rPr>
              <a:t>More efficient algorithms</a:t>
            </a:r>
            <a:endParaRPr lang="en-US" sz="1500" dirty="0"/>
          </a:p>
          <a:p>
            <a:pPr marL="203200" indent="-203200">
              <a:buSzPct val="100000"/>
              <a:buChar char="•"/>
            </a:pPr>
            <a:r>
              <a:rPr lang="en-US" sz="1500" dirty="0">
                <a:solidFill>
                  <a:srgbClr val="1B2B24"/>
                </a:solidFill>
                <a:latin typeface="Calibri" pitchFamily="34" charset="0"/>
                <a:ea typeface="Calibri" pitchFamily="34" charset="-122"/>
                <a:cs typeface="Calibri" pitchFamily="34" charset="-120"/>
              </a:rPr>
              <a:t>A number tells the loop how many times to run</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C6F66"/>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rgbClr val="1F4D3A"/>
                </a:solidFill>
                <a:latin typeface="Cambria" pitchFamily="34" charset="0"/>
                <a:ea typeface="Cambria" pitchFamily="34" charset="-122"/>
                <a:cs typeface="Cambria" pitchFamily="34" charset="-120"/>
              </a:rPr>
              <a:t>The Ladybug Algorithm</a:t>
            </a:r>
            <a:endParaRPr lang="en-US" sz="3200" dirty="0"/>
          </a:p>
        </p:txBody>
      </p:sp>
      <p:sp>
        <p:nvSpPr>
          <p:cNvPr id="4" name="code-block"/>
          <p:cNvSpPr/>
          <p:nvPr/>
        </p:nvSpPr>
        <p:spPr>
          <a:xfrm>
            <a:off x="457200" y="1280160"/>
            <a:ext cx="4114800" cy="2423160"/>
          </a:xfrm>
          <a:prstGeom prst="roundRect">
            <a:avLst>
              <a:gd name="adj" fmla="val 3774"/>
            </a:avLst>
          </a:prstGeom>
          <a:solidFill>
            <a:srgbClr val="1F2D2A"/>
          </a:solidFill>
          <a:ln w="9525">
            <a:solidFill>
              <a:srgbClr val="1F2D2A"/>
            </a:solidFill>
            <a:prstDash val="solid"/>
          </a:ln>
          <a:effectLst>
            <a:outerShdw blurRad="76200" dist="25400" dir="5400000" algn="bl" rotWithShape="0">
              <a:srgbClr val="000000">
                <a:alpha val="14000"/>
              </a:srgbClr>
            </a:outerShdw>
          </a:effectLst>
        </p:spPr>
      </p:sp>
      <p:sp>
        <p:nvSpPr>
          <p:cNvPr id="5" name="Text 2"/>
          <p:cNvSpPr txBox="1"/>
          <p:nvPr/>
        </p:nvSpPr>
        <p:spPr>
          <a:xfrm>
            <a:off x="685800" y="1389888"/>
            <a:ext cx="3657600" cy="2203704"/>
          </a:xfrm>
          <a:prstGeom prst="rect">
            <a:avLst/>
          </a:prstGeom>
          <a:noFill/>
          <a:ln/>
        </p:spPr>
        <p:txBody>
          <a:bodyPr wrap="square" lIns="0" tIns="0" rIns="0" bIns="0" rtlCol="0" anchor="ctr"/>
          <a:lstStyle/>
          <a:p>
            <a:pPr marL="0" indent="0">
              <a:lnSpc>
                <a:spcPct val="115000"/>
              </a:lnSpc>
              <a:buNone/>
            </a:pPr>
            <a:r>
              <a:rPr lang="en-US" sz="1500" dirty="0">
                <a:solidFill>
                  <a:srgbClr val="7FA595"/>
                </a:solidFill>
                <a:latin typeface="Courier New" pitchFamily="34" charset="0"/>
                <a:ea typeface="Courier New" pitchFamily="34" charset="-122"/>
                <a:cs typeface="Courier New" pitchFamily="34" charset="-120"/>
              </a:rPr>
              <a:t>1   </a:t>
            </a:r>
            <a:r>
              <a:rPr lang="en-US" sz="1500" dirty="0">
                <a:solidFill>
                  <a:srgbClr val="FFFFFF"/>
                </a:solidFill>
                <a:latin typeface="Courier New" pitchFamily="34" charset="0"/>
                <a:ea typeface="Courier New" pitchFamily="34" charset="-122"/>
                <a:cs typeface="Courier New" pitchFamily="34" charset="-120"/>
              </a:rPr>
              <a:t>Set </a:t>
            </a:r>
            <a:r>
              <a:rPr lang="en-US" sz="1500" b="1" dirty="0">
                <a:solidFill>
                  <a:srgbClr val="F2B632"/>
                </a:solidFill>
                <a:latin typeface="Courier New" pitchFamily="34" charset="0"/>
                <a:ea typeface="Courier New" pitchFamily="34" charset="-122"/>
                <a:cs typeface="Courier New" pitchFamily="34" charset="-120"/>
              </a:rPr>
              <a:t>Count</a:t>
            </a:r>
            <a:r>
              <a:rPr lang="en-US" sz="1500" dirty="0">
                <a:solidFill>
                  <a:srgbClr val="FFFFFF"/>
                </a:solidFill>
                <a:latin typeface="Courier New" pitchFamily="34" charset="0"/>
                <a:ea typeface="Courier New" pitchFamily="34" charset="-122"/>
                <a:cs typeface="Courier New" pitchFamily="34" charset="-120"/>
              </a:rPr>
              <a:t> to 2</a:t>
            </a:r>
            <a:endParaRPr lang="en-US" sz="1400" dirty="0"/>
          </a:p>
          <a:p>
            <a:pPr marL="0" indent="0">
              <a:lnSpc>
                <a:spcPct val="115000"/>
              </a:lnSpc>
              <a:buNone/>
            </a:pPr>
            <a:r>
              <a:rPr lang="en-US" sz="1500" dirty="0">
                <a:solidFill>
                  <a:srgbClr val="7FA595"/>
                </a:solidFill>
                <a:latin typeface="Courier New" pitchFamily="34" charset="0"/>
                <a:ea typeface="Courier New" pitchFamily="34" charset="-122"/>
                <a:cs typeface="Courier New" pitchFamily="34" charset="-120"/>
              </a:rPr>
              <a:t>2   </a:t>
            </a:r>
            <a:r>
              <a:rPr lang="en-US" sz="1500" dirty="0">
                <a:solidFill>
                  <a:srgbClr val="FFFFFF"/>
                </a:solidFill>
                <a:latin typeface="Courier New" pitchFamily="34" charset="0"/>
                <a:ea typeface="Courier New" pitchFamily="34" charset="-122"/>
                <a:cs typeface="Courier New" pitchFamily="34" charset="-120"/>
              </a:rPr>
              <a:t>REPEAT </a:t>
            </a:r>
            <a:r>
              <a:rPr lang="en-US" sz="1500" b="1" dirty="0">
                <a:solidFill>
                  <a:srgbClr val="F2B632"/>
                </a:solidFill>
                <a:latin typeface="Courier New" pitchFamily="34" charset="0"/>
                <a:ea typeface="Courier New" pitchFamily="34" charset="-122"/>
                <a:cs typeface="Courier New" pitchFamily="34" charset="-120"/>
              </a:rPr>
              <a:t>Count</a:t>
            </a:r>
            <a:endParaRPr lang="en-US" sz="1400" dirty="0"/>
          </a:p>
          <a:p>
            <a:pPr marL="0" indent="0">
              <a:lnSpc>
                <a:spcPct val="115000"/>
              </a:lnSpc>
              <a:buNone/>
            </a:pPr>
            <a:r>
              <a:rPr lang="en-US" sz="1500" dirty="0">
                <a:solidFill>
                  <a:srgbClr val="7FA595"/>
                </a:solidFill>
                <a:latin typeface="Courier New" pitchFamily="34" charset="0"/>
                <a:ea typeface="Courier New" pitchFamily="34" charset="-122"/>
                <a:cs typeface="Courier New" pitchFamily="34" charset="-120"/>
              </a:rPr>
              <a:t>3   </a:t>
            </a:r>
            <a:r>
              <a:rPr lang="en-US" sz="1500" dirty="0">
                <a:solidFill>
                  <a:srgbClr val="FFFFFF"/>
                </a:solidFill>
                <a:latin typeface="Courier New" pitchFamily="34" charset="0"/>
                <a:ea typeface="Courier New" pitchFamily="34" charset="-122"/>
                <a:cs typeface="Courier New" pitchFamily="34" charset="-120"/>
              </a:rPr>
              <a:t>    Move forward</a:t>
            </a:r>
            <a:endParaRPr lang="en-US" sz="1400" dirty="0"/>
          </a:p>
          <a:p>
            <a:pPr marL="0" indent="0">
              <a:lnSpc>
                <a:spcPct val="115000"/>
              </a:lnSpc>
              <a:buNone/>
            </a:pPr>
            <a:r>
              <a:rPr lang="en-US" sz="1500" dirty="0">
                <a:solidFill>
                  <a:srgbClr val="7FA595"/>
                </a:solidFill>
                <a:latin typeface="Courier New" pitchFamily="34" charset="0"/>
                <a:ea typeface="Courier New" pitchFamily="34" charset="-122"/>
                <a:cs typeface="Courier New" pitchFamily="34" charset="-120"/>
              </a:rPr>
              <a:t>4   </a:t>
            </a:r>
            <a:r>
              <a:rPr lang="en-US" sz="1500" dirty="0">
                <a:solidFill>
                  <a:srgbClr val="FFFFFF"/>
                </a:solidFill>
                <a:latin typeface="Courier New" pitchFamily="34" charset="0"/>
                <a:ea typeface="Courier New" pitchFamily="34" charset="-122"/>
                <a:cs typeface="Courier New" pitchFamily="34" charset="-120"/>
              </a:rPr>
              <a:t>    Turn right</a:t>
            </a:r>
            <a:endParaRPr lang="en-US" sz="1400" dirty="0"/>
          </a:p>
          <a:p>
            <a:pPr marL="0" indent="0">
              <a:lnSpc>
                <a:spcPct val="115000"/>
              </a:lnSpc>
              <a:buNone/>
            </a:pPr>
            <a:r>
              <a:rPr lang="en-US" sz="1500" dirty="0">
                <a:solidFill>
                  <a:srgbClr val="7FA595"/>
                </a:solidFill>
                <a:latin typeface="Courier New" pitchFamily="34" charset="0"/>
                <a:ea typeface="Courier New" pitchFamily="34" charset="-122"/>
                <a:cs typeface="Courier New" pitchFamily="34" charset="-120"/>
              </a:rPr>
              <a:t>5   </a:t>
            </a:r>
            <a:r>
              <a:rPr lang="en-US" sz="1500" dirty="0">
                <a:solidFill>
                  <a:srgbClr val="FFFFFF"/>
                </a:solidFill>
                <a:latin typeface="Courier New" pitchFamily="34" charset="0"/>
                <a:ea typeface="Courier New" pitchFamily="34" charset="-122"/>
                <a:cs typeface="Courier New" pitchFamily="34" charset="-120"/>
              </a:rPr>
              <a:t>    Move forward</a:t>
            </a:r>
            <a:endParaRPr lang="en-US" sz="1400" dirty="0"/>
          </a:p>
          <a:p>
            <a:pPr marL="0" indent="0">
              <a:lnSpc>
                <a:spcPct val="115000"/>
              </a:lnSpc>
              <a:buNone/>
            </a:pPr>
            <a:r>
              <a:rPr lang="en-US" sz="1500" dirty="0">
                <a:solidFill>
                  <a:srgbClr val="7FA595"/>
                </a:solidFill>
                <a:latin typeface="Courier New" pitchFamily="34" charset="0"/>
                <a:ea typeface="Courier New" pitchFamily="34" charset="-122"/>
                <a:cs typeface="Courier New" pitchFamily="34" charset="-120"/>
              </a:rPr>
              <a:t>6   </a:t>
            </a:r>
            <a:r>
              <a:rPr lang="en-US" sz="1500" dirty="0">
                <a:solidFill>
                  <a:srgbClr val="FFFFFF"/>
                </a:solidFill>
                <a:latin typeface="Courier New" pitchFamily="34" charset="0"/>
                <a:ea typeface="Courier New" pitchFamily="34" charset="-122"/>
                <a:cs typeface="Courier New" pitchFamily="34" charset="-120"/>
              </a:rPr>
              <a:t>    Turn left</a:t>
            </a:r>
            <a:endParaRPr lang="en-US" sz="1400" dirty="0"/>
          </a:p>
        </p:txBody>
      </p:sp>
      <p:sp>
        <p:nvSpPr>
          <p:cNvPr id="6" name="callout"/>
          <p:cNvSpPr/>
          <p:nvPr/>
        </p:nvSpPr>
        <p:spPr>
          <a:xfrm>
            <a:off x="457200" y="3840480"/>
            <a:ext cx="4114800" cy="731520"/>
          </a:xfrm>
          <a:prstGeom prst="roundRect">
            <a:avLst>
              <a:gd name="adj" fmla="val 12500"/>
            </a:avLst>
          </a:prstGeom>
          <a:solidFill>
            <a:srgbClr val="EAF4EC"/>
          </a:solidFill>
          <a:ln w="9525">
            <a:solidFill>
              <a:srgbClr val="EAF4EC"/>
            </a:solidFill>
            <a:prstDash val="solid"/>
          </a:ln>
          <a:effectLst>
            <a:outerShdw blurRad="76200" dist="25400" dir="5400000" algn="bl" rotWithShape="0">
              <a:srgbClr val="000000">
                <a:alpha val="14000"/>
              </a:srgbClr>
            </a:outerShdw>
          </a:effectLst>
        </p:spPr>
      </p:sp>
      <p:sp>
        <p:nvSpPr>
          <p:cNvPr id="7" name="Text 4"/>
          <p:cNvSpPr txBox="1"/>
          <p:nvPr/>
        </p:nvSpPr>
        <p:spPr>
          <a:xfrm>
            <a:off x="640080" y="3840480"/>
            <a:ext cx="3749040" cy="731520"/>
          </a:xfrm>
          <a:prstGeom prst="rect">
            <a:avLst/>
          </a:prstGeom>
          <a:noFill/>
          <a:ln/>
        </p:spPr>
        <p:txBody>
          <a:bodyPr wrap="square" lIns="0" tIns="0" rIns="0" bIns="0" rtlCol="0" anchor="ctr"/>
          <a:lstStyle/>
          <a:p>
            <a:pPr marL="0" indent="0">
              <a:buNone/>
            </a:pPr>
            <a:r>
              <a:rPr lang="en-US" sz="1500" b="1" dirty="0">
                <a:solidFill>
                  <a:srgbClr val="1F4D3A"/>
                </a:solidFill>
                <a:latin typeface="Calibri" pitchFamily="34" charset="0"/>
                <a:ea typeface="Calibri" pitchFamily="34" charset="-122"/>
                <a:cs typeface="Calibri" pitchFamily="34" charset="-120"/>
              </a:rPr>
              <a:t>The word Count in line 1 is a variable.</a:t>
            </a:r>
            <a:endParaRPr lang="en-US" sz="1500" dirty="0"/>
          </a:p>
        </p:txBody>
      </p:sp>
      <p:sp>
        <p:nvSpPr>
          <p:cNvPr id="8" name="row"/>
          <p:cNvSpPr/>
          <p:nvPr/>
        </p:nvSpPr>
        <p:spPr>
          <a:xfrm>
            <a:off x="4937760" y="1280160"/>
            <a:ext cx="3749040" cy="960120"/>
          </a:xfrm>
          <a:prstGeom prst="roundRect">
            <a:avLst>
              <a:gd name="adj" fmla="val 9524"/>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9" name="Text 6"/>
          <p:cNvSpPr txBox="1"/>
          <p:nvPr/>
        </p:nvSpPr>
        <p:spPr>
          <a:xfrm>
            <a:off x="5074920" y="1563624"/>
            <a:ext cx="384048" cy="384048"/>
          </a:xfrm>
          <a:prstGeom prst="ellipse">
            <a:avLst/>
          </a:prstGeom>
          <a:solidFill>
            <a:srgbClr val="2E7D4F"/>
          </a:solidFill>
          <a:ln w="6350">
            <a:solidFill>
              <a:srgbClr val="2E7D4F"/>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5577840" y="1371600"/>
            <a:ext cx="2971800" cy="804672"/>
          </a:xfrm>
          <a:prstGeom prst="rect">
            <a:avLst/>
          </a:prstGeom>
          <a:noFill/>
          <a:ln/>
        </p:spPr>
        <p:txBody>
          <a:bodyPr wrap="square" lIns="0" tIns="0" rIns="0" bIns="0" rtlCol="0" anchor="ctr"/>
          <a:lstStyle/>
          <a:p>
            <a:pPr marL="0" indent="0">
              <a:buNone/>
            </a:pPr>
            <a:r>
              <a:rPr lang="en-US" sz="1400" b="1" dirty="0">
                <a:solidFill>
                  <a:srgbClr val="2E7D4F"/>
                </a:solidFill>
                <a:latin typeface="Calibri" pitchFamily="34" charset="0"/>
                <a:ea typeface="Calibri" pitchFamily="34" charset="-122"/>
                <a:cs typeface="Calibri" pitchFamily="34" charset="-120"/>
              </a:rPr>
              <a:t>Line 1</a:t>
            </a:r>
            <a:endParaRPr lang="en-US" sz="1400" dirty="0"/>
          </a:p>
          <a:p>
            <a:pPr marL="0" indent="0">
              <a:buNone/>
            </a:pPr>
            <a:r>
              <a:rPr lang="en-US" sz="1400" dirty="0">
                <a:solidFill>
                  <a:srgbClr val="1B2B24"/>
                </a:solidFill>
                <a:latin typeface="Calibri" pitchFamily="34" charset="0"/>
                <a:ea typeface="Calibri" pitchFamily="34" charset="-122"/>
                <a:cs typeface="Calibri" pitchFamily="34" charset="-120"/>
              </a:rPr>
              <a:t>Stores the number 2 in the variable Count.</a:t>
            </a:r>
            <a:endParaRPr lang="en-US" sz="1400" dirty="0"/>
          </a:p>
        </p:txBody>
      </p:sp>
      <p:sp>
        <p:nvSpPr>
          <p:cNvPr id="11" name="row"/>
          <p:cNvSpPr/>
          <p:nvPr/>
        </p:nvSpPr>
        <p:spPr>
          <a:xfrm>
            <a:off x="4937760" y="2377440"/>
            <a:ext cx="3749040" cy="960120"/>
          </a:xfrm>
          <a:prstGeom prst="roundRect">
            <a:avLst>
              <a:gd name="adj" fmla="val 9524"/>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2" name="Text 9"/>
          <p:cNvSpPr txBox="1"/>
          <p:nvPr/>
        </p:nvSpPr>
        <p:spPr>
          <a:xfrm>
            <a:off x="5074920" y="2660904"/>
            <a:ext cx="384048" cy="384048"/>
          </a:xfrm>
          <a:prstGeom prst="ellipse">
            <a:avLst/>
          </a:prstGeom>
          <a:solidFill>
            <a:srgbClr val="2E7D4F"/>
          </a:solidFill>
          <a:ln w="6350">
            <a:solidFill>
              <a:srgbClr val="2E7D4F"/>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0"/>
          <p:cNvSpPr txBox="1"/>
          <p:nvPr/>
        </p:nvSpPr>
        <p:spPr>
          <a:xfrm>
            <a:off x="5577840" y="2468880"/>
            <a:ext cx="2971800" cy="804672"/>
          </a:xfrm>
          <a:prstGeom prst="rect">
            <a:avLst/>
          </a:prstGeom>
          <a:noFill/>
          <a:ln/>
        </p:spPr>
        <p:txBody>
          <a:bodyPr wrap="square" lIns="0" tIns="0" rIns="0" bIns="0" rtlCol="0" anchor="ctr"/>
          <a:lstStyle/>
          <a:p>
            <a:pPr marL="0" indent="0">
              <a:buNone/>
            </a:pPr>
            <a:r>
              <a:rPr lang="en-US" sz="1400" b="1" dirty="0">
                <a:solidFill>
                  <a:srgbClr val="2E7D4F"/>
                </a:solidFill>
                <a:latin typeface="Calibri" pitchFamily="34" charset="0"/>
                <a:ea typeface="Calibri" pitchFamily="34" charset="-122"/>
                <a:cs typeface="Calibri" pitchFamily="34" charset="-120"/>
              </a:rPr>
              <a:t>Line 2</a:t>
            </a:r>
            <a:endParaRPr lang="en-US" sz="1400" dirty="0"/>
          </a:p>
          <a:p>
            <a:pPr marL="0" indent="0">
              <a:buNone/>
            </a:pPr>
            <a:r>
              <a:rPr lang="en-US" sz="1400" dirty="0">
                <a:solidFill>
                  <a:srgbClr val="1B2B24"/>
                </a:solidFill>
                <a:latin typeface="Calibri" pitchFamily="34" charset="0"/>
                <a:ea typeface="Calibri" pitchFamily="34" charset="-122"/>
                <a:cs typeface="Calibri" pitchFamily="34" charset="-120"/>
              </a:rPr>
              <a:t>REPEAT Count means: run the indented lines Count times.</a:t>
            </a:r>
            <a:endParaRPr lang="en-US" sz="1400" dirty="0"/>
          </a:p>
        </p:txBody>
      </p:sp>
      <p:sp>
        <p:nvSpPr>
          <p:cNvPr id="14" name="row"/>
          <p:cNvSpPr/>
          <p:nvPr/>
        </p:nvSpPr>
        <p:spPr>
          <a:xfrm>
            <a:off x="4937760" y="3474720"/>
            <a:ext cx="3749040" cy="960120"/>
          </a:xfrm>
          <a:prstGeom prst="roundRect">
            <a:avLst>
              <a:gd name="adj" fmla="val 9524"/>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5" name="Text 12"/>
          <p:cNvSpPr txBox="1"/>
          <p:nvPr/>
        </p:nvSpPr>
        <p:spPr>
          <a:xfrm>
            <a:off x="5074920" y="3758184"/>
            <a:ext cx="384048" cy="384048"/>
          </a:xfrm>
          <a:prstGeom prst="ellipse">
            <a:avLst/>
          </a:prstGeom>
          <a:solidFill>
            <a:srgbClr val="2E7D4F"/>
          </a:solidFill>
          <a:ln w="6350">
            <a:solidFill>
              <a:srgbClr val="2E7D4F"/>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3"/>
          <p:cNvSpPr txBox="1"/>
          <p:nvPr/>
        </p:nvSpPr>
        <p:spPr>
          <a:xfrm>
            <a:off x="5577840" y="3566160"/>
            <a:ext cx="2971800" cy="804672"/>
          </a:xfrm>
          <a:prstGeom prst="rect">
            <a:avLst/>
          </a:prstGeom>
          <a:noFill/>
          <a:ln/>
        </p:spPr>
        <p:txBody>
          <a:bodyPr wrap="square" lIns="0" tIns="0" rIns="0" bIns="0" rtlCol="0" anchor="ctr"/>
          <a:lstStyle/>
          <a:p>
            <a:pPr marL="0" indent="0">
              <a:buNone/>
            </a:pPr>
            <a:r>
              <a:rPr lang="en-US" sz="1400" b="1" dirty="0">
                <a:solidFill>
                  <a:srgbClr val="2E7D4F"/>
                </a:solidFill>
                <a:latin typeface="Calibri" pitchFamily="34" charset="0"/>
                <a:ea typeface="Calibri" pitchFamily="34" charset="-122"/>
                <a:cs typeface="Calibri" pitchFamily="34" charset="-120"/>
              </a:rPr>
              <a:t>Lines 3–6</a:t>
            </a:r>
            <a:endParaRPr lang="en-US" sz="1400" dirty="0"/>
          </a:p>
          <a:p>
            <a:pPr marL="0" indent="0">
              <a:buNone/>
            </a:pPr>
            <a:r>
              <a:rPr lang="en-US" sz="1400" dirty="0">
                <a:solidFill>
                  <a:srgbClr val="1B2B24"/>
                </a:solidFill>
                <a:latin typeface="Calibri" pitchFamily="34" charset="0"/>
                <a:ea typeface="Calibri" pitchFamily="34" charset="-122"/>
                <a:cs typeface="Calibri" pitchFamily="34" charset="-120"/>
              </a:rPr>
              <a:t>Forward, right, forward, left: one step up and one step right.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C6F66"/>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rgbClr val="1F4D3A"/>
                </a:solidFill>
                <a:latin typeface="Cambria" pitchFamily="34" charset="0"/>
                <a:ea typeface="Cambria" pitchFamily="34" charset="-122"/>
                <a:cs typeface="Cambria" pitchFamily="34" charset="-120"/>
              </a:rPr>
              <a:t>What Is a Variable?</a:t>
            </a:r>
            <a:endParaRPr lang="en-US" sz="3200" dirty="0"/>
          </a:p>
        </p:txBody>
      </p:sp>
      <p:sp>
        <p:nvSpPr>
          <p:cNvPr id="4" name="frame-countbox"/>
          <p:cNvSpPr/>
          <p:nvPr/>
        </p:nvSpPr>
        <p:spPr>
          <a:xfrm>
            <a:off x="566928" y="1481328"/>
            <a:ext cx="3438144" cy="2309513"/>
          </a:xfrm>
          <a:prstGeom prst="roundRect">
            <a:avLst>
              <a:gd name="adj" fmla="val 3959"/>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pic>
        <p:nvPicPr>
          <p:cNvPr id="5" name="Image 0" descr="A wooden box labelled Count"/>
          <p:cNvPicPr>
            <a:picLocks noChangeAspect="1"/>
          </p:cNvPicPr>
          <p:nvPr/>
        </p:nvPicPr>
        <p:blipFill>
          <a:blip r:embed="rId3"/>
          <a:stretch>
            <a:fillRect/>
          </a:stretch>
        </p:blipFill>
        <p:spPr>
          <a:xfrm>
            <a:off x="640080" y="1554480"/>
            <a:ext cx="3291840" cy="2163209"/>
          </a:xfrm>
          <a:prstGeom prst="rect">
            <a:avLst/>
          </a:prstGeom>
        </p:spPr>
      </p:pic>
      <p:sp>
        <p:nvSpPr>
          <p:cNvPr id="6" name="Text 2"/>
          <p:cNvSpPr txBox="1"/>
          <p:nvPr/>
        </p:nvSpPr>
        <p:spPr>
          <a:xfrm>
            <a:off x="457200" y="3992009"/>
            <a:ext cx="3657600" cy="457200"/>
          </a:xfrm>
          <a:prstGeom prst="rect">
            <a:avLst/>
          </a:prstGeom>
          <a:noFill/>
          <a:ln/>
        </p:spPr>
        <p:txBody>
          <a:bodyPr wrap="square" lIns="0" tIns="0" rIns="0" bIns="0" rtlCol="0" anchor="t"/>
          <a:lstStyle/>
          <a:p>
            <a:pPr marL="0" indent="0" algn="ctr">
              <a:buNone/>
            </a:pPr>
            <a:r>
              <a:rPr lang="en-US" sz="1800" b="1" dirty="0">
                <a:solidFill>
                  <a:srgbClr val="1F4D3A"/>
                </a:solidFill>
                <a:latin typeface="Calibri" pitchFamily="34" charset="0"/>
                <a:ea typeface="Calibri" pitchFamily="34" charset="-122"/>
                <a:cs typeface="Calibri" pitchFamily="34" charset="-120"/>
              </a:rPr>
              <a:t>Variable = a labelled box</a:t>
            </a:r>
            <a:endParaRPr lang="en-US" sz="1800" dirty="0"/>
          </a:p>
        </p:txBody>
      </p:sp>
      <p:sp>
        <p:nvSpPr>
          <p:cNvPr id="7" name="def"/>
          <p:cNvSpPr/>
          <p:nvPr/>
        </p:nvSpPr>
        <p:spPr>
          <a:xfrm>
            <a:off x="4572000" y="1280160"/>
            <a:ext cx="4114800" cy="1463040"/>
          </a:xfrm>
          <a:prstGeom prst="roundRect">
            <a:avLst>
              <a:gd name="adj" fmla="val 6250"/>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8" name="Text 4"/>
          <p:cNvSpPr txBox="1"/>
          <p:nvPr/>
        </p:nvSpPr>
        <p:spPr>
          <a:xfrm>
            <a:off x="4800600" y="1417320"/>
            <a:ext cx="3657600" cy="1188720"/>
          </a:xfrm>
          <a:prstGeom prst="rect">
            <a:avLst/>
          </a:prstGeom>
          <a:noFill/>
          <a:ln/>
        </p:spPr>
        <p:txBody>
          <a:bodyPr wrap="square" lIns="0" tIns="0" rIns="0" bIns="0" rtlCol="0" anchor="ctr"/>
          <a:lstStyle/>
          <a:p>
            <a:pPr marL="0" indent="0">
              <a:spcAft>
                <a:spcPts val="600"/>
              </a:spcAft>
              <a:buNone/>
            </a:pPr>
            <a:r>
              <a:rPr lang="en-US" sz="1500" dirty="0">
                <a:solidFill>
                  <a:srgbClr val="1B2B24"/>
                </a:solidFill>
                <a:latin typeface="Calibri" pitchFamily="34" charset="0"/>
                <a:ea typeface="Calibri" pitchFamily="34" charset="-122"/>
                <a:cs typeface="Calibri" pitchFamily="34" charset="-120"/>
              </a:rPr>
              <a:t>A variable stores data for the program to use later.</a:t>
            </a:r>
            <a:endParaRPr lang="en-US" sz="1500" dirty="0"/>
          </a:p>
          <a:p>
            <a:pPr marL="0" indent="0">
              <a:buNone/>
            </a:pPr>
            <a:r>
              <a:rPr lang="en-US" sz="1500" dirty="0">
                <a:solidFill>
                  <a:srgbClr val="1B2B24"/>
                </a:solidFill>
                <a:latin typeface="Calibri" pitchFamily="34" charset="0"/>
                <a:ea typeface="Calibri" pitchFamily="34" charset="-122"/>
                <a:cs typeface="Calibri" pitchFamily="34" charset="-120"/>
              </a:rPr>
              <a:t>Here, Count stores how many times the loop will repeat.</a:t>
            </a:r>
            <a:endParaRPr lang="en-US" sz="1500" dirty="0"/>
          </a:p>
        </p:txBody>
      </p:sp>
      <p:sp>
        <p:nvSpPr>
          <p:cNvPr id="9" name="names"/>
          <p:cNvSpPr/>
          <p:nvPr/>
        </p:nvSpPr>
        <p:spPr>
          <a:xfrm>
            <a:off x="4572000" y="2926080"/>
            <a:ext cx="4114800" cy="1600200"/>
          </a:xfrm>
          <a:prstGeom prst="roundRect">
            <a:avLst>
              <a:gd name="adj" fmla="val 5714"/>
            </a:avLst>
          </a:prstGeom>
          <a:solidFill>
            <a:srgbClr val="EAF4EC"/>
          </a:solidFill>
          <a:ln w="9525">
            <a:solidFill>
              <a:srgbClr val="EAF4EC"/>
            </a:solidFill>
            <a:prstDash val="solid"/>
          </a:ln>
          <a:effectLst>
            <a:outerShdw blurRad="76200" dist="25400" dir="5400000" algn="bl" rotWithShape="0">
              <a:srgbClr val="000000">
                <a:alpha val="14000"/>
              </a:srgbClr>
            </a:outerShdw>
          </a:effectLst>
        </p:spPr>
      </p:sp>
      <p:sp>
        <p:nvSpPr>
          <p:cNvPr id="10" name="Text 6"/>
          <p:cNvSpPr txBox="1"/>
          <p:nvPr/>
        </p:nvSpPr>
        <p:spPr>
          <a:xfrm>
            <a:off x="4800600" y="3017520"/>
            <a:ext cx="3657600" cy="320040"/>
          </a:xfrm>
          <a:prstGeom prst="rect">
            <a:avLst/>
          </a:prstGeom>
          <a:noFill/>
          <a:ln/>
        </p:spPr>
        <p:txBody>
          <a:bodyPr wrap="square" lIns="0" tIns="0" rIns="0" bIns="0" rtlCol="0" anchor="t"/>
          <a:lstStyle/>
          <a:p>
            <a:pPr marL="0" indent="0">
              <a:buNone/>
            </a:pPr>
            <a:r>
              <a:rPr lang="en-US" sz="1600" b="1" dirty="0">
                <a:solidFill>
                  <a:srgbClr val="1F4D3A"/>
                </a:solidFill>
                <a:latin typeface="Calibri" pitchFamily="34" charset="0"/>
                <a:ea typeface="Calibri" pitchFamily="34" charset="-122"/>
                <a:cs typeface="Calibri" pitchFamily="34" charset="-120"/>
              </a:rPr>
              <a:t>Meaningful names</a:t>
            </a:r>
            <a:endParaRPr lang="en-US" sz="1600" dirty="0"/>
          </a:p>
        </p:txBody>
      </p:sp>
      <p:sp>
        <p:nvSpPr>
          <p:cNvPr id="11" name="Text 7"/>
          <p:cNvSpPr txBox="1"/>
          <p:nvPr/>
        </p:nvSpPr>
        <p:spPr>
          <a:xfrm>
            <a:off x="4800600" y="3474720"/>
            <a:ext cx="1920240" cy="411480"/>
          </a:xfrm>
          <a:prstGeom prst="roundRect">
            <a:avLst>
              <a:gd name="adj" fmla="val 26667"/>
            </a:avLst>
          </a:prstGeom>
          <a:solidFill>
            <a:srgbClr val="2E7D4F"/>
          </a:solidFill>
          <a:ln w="6350">
            <a:solidFill>
              <a:srgbClr val="2E7D4F"/>
            </a:solidFill>
          </a:ln>
        </p:spPr>
        <p:txBody>
          <a:bodyPr wrap="square" lIns="508" tIns="508" rIns="508" bIns="508"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Good: Count, Age, Name</a:t>
            </a:r>
            <a:endParaRPr lang="en-US" sz="1200" dirty="0"/>
          </a:p>
        </p:txBody>
      </p:sp>
      <p:sp>
        <p:nvSpPr>
          <p:cNvPr id="12" name="Text 8"/>
          <p:cNvSpPr txBox="1"/>
          <p:nvPr/>
        </p:nvSpPr>
        <p:spPr>
          <a:xfrm>
            <a:off x="6858000" y="3474720"/>
            <a:ext cx="1600200" cy="411480"/>
          </a:xfrm>
          <a:prstGeom prst="roundRect">
            <a:avLst>
              <a:gd name="adj" fmla="val 26667"/>
            </a:avLst>
          </a:prstGeom>
          <a:solidFill>
            <a:srgbClr val="D64545"/>
          </a:solidFill>
          <a:ln w="6350">
            <a:solidFill>
              <a:srgbClr val="D64545"/>
            </a:solidFill>
          </a:ln>
        </p:spPr>
        <p:txBody>
          <a:bodyPr wrap="square" lIns="508" tIns="508" rIns="508" bIns="508"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Unclear: x, thing</a:t>
            </a:r>
            <a:endParaRPr lang="en-US" sz="1200" dirty="0"/>
          </a:p>
        </p:txBody>
      </p:sp>
      <p:sp>
        <p:nvSpPr>
          <p:cNvPr id="13" name="Text 9"/>
          <p:cNvSpPr txBox="1"/>
          <p:nvPr/>
        </p:nvSpPr>
        <p:spPr>
          <a:xfrm>
            <a:off x="4800600" y="4023360"/>
            <a:ext cx="3657600" cy="411480"/>
          </a:xfrm>
          <a:prstGeom prst="rect">
            <a:avLst/>
          </a:prstGeom>
          <a:noFill/>
          <a:ln/>
        </p:spPr>
        <p:txBody>
          <a:bodyPr wrap="square" lIns="0" tIns="0" rIns="0" bIns="0" rtlCol="0" anchor="t"/>
          <a:lstStyle/>
          <a:p>
            <a:pPr marL="0" indent="0">
              <a:buNone/>
            </a:pPr>
            <a:r>
              <a:rPr lang="en-US" sz="1400" dirty="0">
                <a:solidFill>
                  <a:srgbClr val="1B2B24"/>
                </a:solidFill>
                <a:latin typeface="Calibri" pitchFamily="34" charset="0"/>
                <a:ea typeface="Calibri" pitchFamily="34" charset="-122"/>
                <a:cs typeface="Calibri" pitchFamily="34" charset="-120"/>
              </a:rPr>
              <a:t>A good name tells us what data is inside the box.</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C6F66"/>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035040" cy="731520"/>
          </a:xfrm>
          <a:prstGeom prst="rect">
            <a:avLst/>
          </a:prstGeom>
          <a:noFill/>
          <a:ln/>
        </p:spPr>
        <p:txBody>
          <a:bodyPr wrap="square" lIns="0" tIns="0" rIns="0" bIns="0" rtlCol="0" anchor="ctr"/>
          <a:lstStyle/>
          <a:p>
            <a:pPr marL="0" indent="0" algn="l">
              <a:buNone/>
            </a:pPr>
            <a:r>
              <a:rPr lang="en-US" sz="3200" b="1" dirty="0">
                <a:solidFill>
                  <a:srgbClr val="1B4F8F"/>
                </a:solidFill>
                <a:latin typeface="Cambria" pitchFamily="34" charset="0"/>
                <a:ea typeface="Cambria" pitchFamily="34" charset="-122"/>
                <a:cs typeface="Cambria" pitchFamily="34" charset="-120"/>
              </a:rPr>
              <a:t>Questions 1 &amp; 2</a:t>
            </a:r>
            <a:endParaRPr lang="en-US" sz="3200" dirty="0"/>
          </a:p>
        </p:txBody>
      </p:sp>
      <p:sp>
        <p:nvSpPr>
          <p:cNvPr id="4" name="badge"/>
          <p:cNvSpPr/>
          <p:nvPr/>
        </p:nvSpPr>
        <p:spPr>
          <a:xfrm>
            <a:off x="6675120" y="411480"/>
            <a:ext cx="2011680" cy="365760"/>
          </a:xfrm>
          <a:prstGeom prst="roundRect">
            <a:avLst>
              <a:gd name="adj" fmla="val 50000"/>
            </a:avLst>
          </a:prstGeom>
          <a:solidFill>
            <a:srgbClr val="1B4F8F"/>
          </a:solidFill>
          <a:ln w="6350">
            <a:solidFill>
              <a:srgbClr val="1B4F8F"/>
            </a:solidFill>
            <a:prstDash val="solid"/>
          </a:ln>
        </p:spPr>
      </p:sp>
      <p:sp>
        <p:nvSpPr>
          <p:cNvPr id="5" name="Text 2"/>
          <p:cNvSpPr txBox="1"/>
          <p:nvPr/>
        </p:nvSpPr>
        <p:spPr>
          <a:xfrm>
            <a:off x="6675120" y="411480"/>
            <a:ext cx="20116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PAIR DISCUSSION</a:t>
            </a:r>
            <a:endParaRPr lang="en-US" sz="1100" dirty="0"/>
          </a:p>
        </p:txBody>
      </p:sp>
      <p:sp>
        <p:nvSpPr>
          <p:cNvPr id="6" name="frame-grid"/>
          <p:cNvSpPr/>
          <p:nvPr/>
        </p:nvSpPr>
        <p:spPr>
          <a:xfrm>
            <a:off x="475488" y="1252728"/>
            <a:ext cx="2523744" cy="3118104"/>
          </a:xfrm>
          <a:prstGeom prst="roundRect">
            <a:avLst>
              <a:gd name="adj" fmla="val 3623"/>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pic>
        <p:nvPicPr>
          <p:cNvPr id="7" name="Image 0" descr="A grid with a ladybug and the bug hotel"/>
          <p:cNvPicPr>
            <a:picLocks noChangeAspect="1"/>
          </p:cNvPicPr>
          <p:nvPr/>
        </p:nvPicPr>
        <p:blipFill>
          <a:blip r:embed="rId3"/>
          <a:stretch>
            <a:fillRect/>
          </a:stretch>
        </p:blipFill>
        <p:spPr>
          <a:xfrm>
            <a:off x="548640" y="1325880"/>
            <a:ext cx="2377440" cy="2971800"/>
          </a:xfrm>
          <a:prstGeom prst="rect">
            <a:avLst/>
          </a:prstGeom>
        </p:spPr>
      </p:pic>
      <p:sp>
        <p:nvSpPr>
          <p:cNvPr id="8" name="how"/>
          <p:cNvSpPr/>
          <p:nvPr/>
        </p:nvSpPr>
        <p:spPr>
          <a:xfrm>
            <a:off x="3291840" y="1234440"/>
            <a:ext cx="5394960" cy="1188720"/>
          </a:xfrm>
          <a:prstGeom prst="roundRect">
            <a:avLst>
              <a:gd name="adj" fmla="val 7692"/>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9" name="Text 5"/>
          <p:cNvSpPr txBox="1"/>
          <p:nvPr/>
        </p:nvSpPr>
        <p:spPr>
          <a:xfrm>
            <a:off x="3474720" y="1307592"/>
            <a:ext cx="5029200" cy="1051560"/>
          </a:xfrm>
          <a:prstGeom prst="rect">
            <a:avLst/>
          </a:prstGeom>
          <a:noFill/>
          <a:ln/>
        </p:spPr>
        <p:txBody>
          <a:bodyPr wrap="square" lIns="0" tIns="0" rIns="0" bIns="0" rtlCol="0" anchor="ctr"/>
          <a:lstStyle/>
          <a:p>
            <a:pPr marL="0" indent="0">
              <a:buNone/>
            </a:pPr>
            <a:r>
              <a:rPr lang="en-US" sz="1400" b="1" dirty="0">
                <a:solidFill>
                  <a:srgbClr val="1B4F8F"/>
                </a:solidFill>
                <a:latin typeface="Calibri" pitchFamily="34" charset="0"/>
                <a:ea typeface="Calibri" pitchFamily="34" charset="-122"/>
                <a:cs typeface="Calibri" pitchFamily="34" charset="-120"/>
              </a:rPr>
              <a:t>How it is done</a:t>
            </a:r>
            <a:endParaRPr lang="en-US" sz="1400" dirty="0"/>
          </a:p>
          <a:p>
            <a:pPr marL="0" indent="0">
              <a:buNone/>
            </a:pPr>
            <a:r>
              <a:rPr lang="en-US" sz="1400" dirty="0">
                <a:solidFill>
                  <a:srgbClr val="1B2B24"/>
                </a:solidFill>
                <a:latin typeface="Calibri" pitchFamily="34" charset="0"/>
                <a:ea typeface="Calibri" pitchFamily="34" charset="-122"/>
                <a:cs typeface="Calibri" pitchFamily="34" charset="-120"/>
              </a:rPr>
              <a:t>Work in pairs. Trace the ladybug on the grid. One loop repeat = 1 square up + 1 square right.</a:t>
            </a:r>
            <a:endParaRPr lang="en-US" sz="1400" dirty="0"/>
          </a:p>
        </p:txBody>
      </p:sp>
      <p:sp>
        <p:nvSpPr>
          <p:cNvPr id="10" name="q1"/>
          <p:cNvSpPr/>
          <p:nvPr/>
        </p:nvSpPr>
        <p:spPr>
          <a:xfrm>
            <a:off x="3291840" y="2560320"/>
            <a:ext cx="5394960" cy="914400"/>
          </a:xfrm>
          <a:prstGeom prst="roundRect">
            <a:avLst>
              <a:gd name="adj" fmla="val 10000"/>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1" name="Text 7"/>
          <p:cNvSpPr txBox="1"/>
          <p:nvPr/>
        </p:nvSpPr>
        <p:spPr>
          <a:xfrm>
            <a:off x="3474720" y="2606040"/>
            <a:ext cx="5029200" cy="822960"/>
          </a:xfrm>
          <a:prstGeom prst="rect">
            <a:avLst/>
          </a:prstGeom>
          <a:noFill/>
          <a:ln/>
        </p:spPr>
        <p:txBody>
          <a:bodyPr wrap="square" lIns="0" tIns="0" rIns="0" bIns="0" rtlCol="0" anchor="ctr"/>
          <a:lstStyle/>
          <a:p>
            <a:pPr marL="0" indent="0">
              <a:buNone/>
            </a:pPr>
            <a:r>
              <a:rPr lang="en-US" sz="1400" b="1" dirty="0">
                <a:solidFill>
                  <a:srgbClr val="1B2B24"/>
                </a:solidFill>
                <a:latin typeface="Calibri" pitchFamily="34" charset="0"/>
                <a:ea typeface="Calibri" pitchFamily="34" charset="-122"/>
                <a:cs typeface="Calibri" pitchFamily="34" charset="-120"/>
              </a:rPr>
              <a:t>Q1  What should Count hold from the bottom-left square?</a:t>
            </a:r>
            <a:endParaRPr lang="en-US" sz="1400" dirty="0"/>
          </a:p>
          <a:p>
            <a:pPr marL="0" indent="0">
              <a:buNone/>
            </a:pPr>
            <a:r>
              <a:rPr lang="en-US" sz="1400" b="1" dirty="0">
                <a:solidFill>
                  <a:srgbClr val="2E7D4F"/>
                </a:solidFill>
                <a:latin typeface="Calibri" pitchFamily="34" charset="0"/>
                <a:ea typeface="Calibri" pitchFamily="34" charset="-122"/>
                <a:cs typeface="Calibri" pitchFamily="34" charset="-120"/>
              </a:rPr>
              <a:t>Answer: 5, because the hotel is 5 diagonal steps away.</a:t>
            </a:r>
            <a:endParaRPr lang="en-US" sz="1400" dirty="0"/>
          </a:p>
        </p:txBody>
      </p:sp>
      <p:sp>
        <p:nvSpPr>
          <p:cNvPr id="12" name="q2"/>
          <p:cNvSpPr/>
          <p:nvPr/>
        </p:nvSpPr>
        <p:spPr>
          <a:xfrm>
            <a:off x="3291840" y="3611880"/>
            <a:ext cx="5394960" cy="914400"/>
          </a:xfrm>
          <a:prstGeom prst="roundRect">
            <a:avLst>
              <a:gd name="adj" fmla="val 10000"/>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3" name="Text 9"/>
          <p:cNvSpPr txBox="1"/>
          <p:nvPr/>
        </p:nvSpPr>
        <p:spPr>
          <a:xfrm>
            <a:off x="3474720" y="3657600"/>
            <a:ext cx="5029200" cy="822960"/>
          </a:xfrm>
          <a:prstGeom prst="rect">
            <a:avLst/>
          </a:prstGeom>
          <a:noFill/>
          <a:ln/>
        </p:spPr>
        <p:txBody>
          <a:bodyPr wrap="square" lIns="0" tIns="0" rIns="0" bIns="0" rtlCol="0" anchor="ctr"/>
          <a:lstStyle/>
          <a:p>
            <a:pPr marL="0" indent="0">
              <a:buNone/>
            </a:pPr>
            <a:r>
              <a:rPr lang="en-US" sz="1400" b="1" dirty="0">
                <a:solidFill>
                  <a:srgbClr val="1B2B24"/>
                </a:solidFill>
                <a:latin typeface="Calibri" pitchFamily="34" charset="0"/>
                <a:ea typeface="Calibri" pitchFamily="34" charset="-122"/>
                <a:cs typeface="Calibri" pitchFamily="34" charset="-120"/>
              </a:rPr>
              <a:t>Q2  What value if the ladybug moves one square up and right?</a:t>
            </a:r>
            <a:endParaRPr lang="en-US" sz="1400" dirty="0"/>
          </a:p>
          <a:p>
            <a:pPr marL="0" indent="0">
              <a:buNone/>
            </a:pPr>
            <a:r>
              <a:rPr lang="en-US" sz="1400" b="1" dirty="0">
                <a:solidFill>
                  <a:srgbClr val="2E7D4F"/>
                </a:solidFill>
                <a:latin typeface="Calibri" pitchFamily="34" charset="0"/>
                <a:ea typeface="Calibri" pitchFamily="34" charset="-122"/>
                <a:cs typeface="Calibri" pitchFamily="34" charset="-120"/>
              </a:rPr>
              <a:t>Answer: 4, because it needs one step fewer.</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C6F66"/>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rgbClr val="1F4D3A"/>
                </a:solidFill>
                <a:latin typeface="Cambria" pitchFamily="34" charset="0"/>
                <a:ea typeface="Cambria" pitchFamily="34" charset="-122"/>
                <a:cs typeface="Cambria" pitchFamily="34" charset="-120"/>
              </a:rPr>
              <a:t>Assigning a Value</a:t>
            </a:r>
            <a:endParaRPr lang="en-US" sz="3200" dirty="0"/>
          </a:p>
        </p:txBody>
      </p:sp>
      <p:sp>
        <p:nvSpPr>
          <p:cNvPr id="4" name="code-block"/>
          <p:cNvSpPr/>
          <p:nvPr/>
        </p:nvSpPr>
        <p:spPr>
          <a:xfrm>
            <a:off x="457200" y="1280160"/>
            <a:ext cx="3657600" cy="685800"/>
          </a:xfrm>
          <a:prstGeom prst="roundRect">
            <a:avLst>
              <a:gd name="adj" fmla="val 13333"/>
            </a:avLst>
          </a:prstGeom>
          <a:solidFill>
            <a:srgbClr val="1F2D2A"/>
          </a:solidFill>
          <a:ln w="9525">
            <a:solidFill>
              <a:srgbClr val="1F2D2A"/>
            </a:solidFill>
            <a:prstDash val="solid"/>
          </a:ln>
          <a:effectLst>
            <a:outerShdw blurRad="76200" dist="25400" dir="5400000" algn="bl" rotWithShape="0">
              <a:srgbClr val="000000">
                <a:alpha val="14000"/>
              </a:srgbClr>
            </a:outerShdw>
          </a:effectLst>
        </p:spPr>
      </p:sp>
      <p:sp>
        <p:nvSpPr>
          <p:cNvPr id="5" name="Text 2"/>
          <p:cNvSpPr txBox="1"/>
          <p:nvPr/>
        </p:nvSpPr>
        <p:spPr>
          <a:xfrm>
            <a:off x="685800" y="1389888"/>
            <a:ext cx="3200400" cy="466344"/>
          </a:xfrm>
          <a:prstGeom prst="rect">
            <a:avLst/>
          </a:prstGeom>
          <a:noFill/>
          <a:ln/>
        </p:spPr>
        <p:txBody>
          <a:bodyPr wrap="square" lIns="0" tIns="0" rIns="0" bIns="0" rtlCol="0" anchor="ctr"/>
          <a:lstStyle/>
          <a:p>
            <a:pPr marL="0" indent="0">
              <a:lnSpc>
                <a:spcPct val="115000"/>
              </a:lnSpc>
              <a:buNone/>
            </a:pPr>
            <a:r>
              <a:rPr lang="en-US" sz="1800" dirty="0">
                <a:solidFill>
                  <a:srgbClr val="FFFFFF"/>
                </a:solidFill>
                <a:latin typeface="Courier New" pitchFamily="34" charset="0"/>
                <a:ea typeface="Courier New" pitchFamily="34" charset="-122"/>
                <a:cs typeface="Courier New" pitchFamily="34" charset="-120"/>
              </a:rPr>
              <a:t>set </a:t>
            </a:r>
            <a:r>
              <a:rPr lang="en-US" sz="1800" b="1" dirty="0">
                <a:solidFill>
                  <a:srgbClr val="F2B632"/>
                </a:solidFill>
                <a:latin typeface="Courier New" pitchFamily="34" charset="0"/>
                <a:ea typeface="Courier New" pitchFamily="34" charset="-122"/>
                <a:cs typeface="Courier New" pitchFamily="34" charset="-120"/>
              </a:rPr>
              <a:t>Count</a:t>
            </a:r>
            <a:r>
              <a:rPr lang="en-US" sz="1800" dirty="0">
                <a:solidFill>
                  <a:srgbClr val="FFFFFF"/>
                </a:solidFill>
                <a:latin typeface="Courier New" pitchFamily="34" charset="0"/>
                <a:ea typeface="Courier New" pitchFamily="34" charset="-122"/>
                <a:cs typeface="Courier New" pitchFamily="34" charset="-120"/>
              </a:rPr>
              <a:t> to 5</a:t>
            </a:r>
            <a:endParaRPr lang="en-US" sz="1400" dirty="0"/>
          </a:p>
        </p:txBody>
      </p:sp>
      <p:sp>
        <p:nvSpPr>
          <p:cNvPr id="6" name="explain"/>
          <p:cNvSpPr/>
          <p:nvPr/>
        </p:nvSpPr>
        <p:spPr>
          <a:xfrm>
            <a:off x="457200" y="2194560"/>
            <a:ext cx="3657600" cy="2331720"/>
          </a:xfrm>
          <a:prstGeom prst="roundRect">
            <a:avLst>
              <a:gd name="adj" fmla="val 3922"/>
            </a:avLst>
          </a:prstGeom>
          <a:solidFill>
            <a:srgbClr val="EAF4EC"/>
          </a:solidFill>
          <a:ln w="9525">
            <a:solidFill>
              <a:srgbClr val="EAF4EC"/>
            </a:solidFill>
            <a:prstDash val="solid"/>
          </a:ln>
          <a:effectLst>
            <a:outerShdw blurRad="76200" dist="25400" dir="5400000" algn="bl" rotWithShape="0">
              <a:srgbClr val="000000">
                <a:alpha val="14000"/>
              </a:srgbClr>
            </a:outerShdw>
          </a:effectLst>
        </p:spPr>
      </p:sp>
      <p:sp>
        <p:nvSpPr>
          <p:cNvPr id="7" name="Text 4"/>
          <p:cNvSpPr txBox="1"/>
          <p:nvPr/>
        </p:nvSpPr>
        <p:spPr>
          <a:xfrm>
            <a:off x="640080" y="2286000"/>
            <a:ext cx="3291840" cy="2148840"/>
          </a:xfrm>
          <a:prstGeom prst="rect">
            <a:avLst/>
          </a:prstGeom>
          <a:noFill/>
          <a:ln/>
        </p:spPr>
        <p:txBody>
          <a:bodyPr wrap="square" lIns="0" tIns="0" rIns="0" bIns="0" rtlCol="0" anchor="ctr"/>
          <a:lstStyle/>
          <a:p>
            <a:pPr marL="0" indent="0">
              <a:spcAft>
                <a:spcPts val="800"/>
              </a:spcAft>
              <a:buNone/>
            </a:pPr>
            <a:r>
              <a:rPr lang="en-US" sz="1500" b="1" dirty="0">
                <a:solidFill>
                  <a:srgbClr val="1F4D3A"/>
                </a:solidFill>
                <a:latin typeface="Calibri" pitchFamily="34" charset="0"/>
                <a:ea typeface="Calibri" pitchFamily="34" charset="-122"/>
                <a:cs typeface="Calibri" pitchFamily="34" charset="-120"/>
              </a:rPr>
              <a:t>Assigning = putting a value into the box.</a:t>
            </a:r>
            <a:endParaRPr lang="en-US" sz="1500" dirty="0"/>
          </a:p>
          <a:p>
            <a:pPr marL="0" indent="0">
              <a:spcAft>
                <a:spcPts val="800"/>
              </a:spcAft>
              <a:buNone/>
            </a:pPr>
            <a:r>
              <a:rPr lang="en-US" sz="1500" dirty="0">
                <a:solidFill>
                  <a:srgbClr val="1B2B24"/>
                </a:solidFill>
                <a:latin typeface="Calibri" pitchFamily="34" charset="0"/>
                <a:ea typeface="Calibri" pitchFamily="34" charset="-122"/>
                <a:cs typeface="Calibri" pitchFamily="34" charset="-120"/>
              </a:rPr>
              <a:t>set Count to 5 puts the number 5 into the box called Count.</a:t>
            </a:r>
            <a:endParaRPr lang="en-US" sz="1500" dirty="0"/>
          </a:p>
          <a:p>
            <a:pPr marL="0" indent="0">
              <a:buNone/>
            </a:pPr>
            <a:r>
              <a:rPr lang="en-US" sz="1500" dirty="0">
                <a:solidFill>
                  <a:srgbClr val="1B2B24"/>
                </a:solidFill>
                <a:latin typeface="Calibri" pitchFamily="34" charset="0"/>
                <a:ea typeface="Calibri" pitchFamily="34" charset="-122"/>
                <a:cs typeface="Calibri" pitchFamily="34" charset="-120"/>
              </a:rPr>
              <a:t>REPEAT Count will now run 5 times.</a:t>
            </a:r>
            <a:endParaRPr lang="en-US" sz="1500" dirty="0"/>
          </a:p>
        </p:txBody>
      </p:sp>
      <p:sp>
        <p:nvSpPr>
          <p:cNvPr id="8" name="frame-countbox"/>
          <p:cNvSpPr/>
          <p:nvPr/>
        </p:nvSpPr>
        <p:spPr>
          <a:xfrm>
            <a:off x="4498848" y="2167128"/>
            <a:ext cx="2523744" cy="1708622"/>
          </a:xfrm>
          <a:prstGeom prst="roundRect">
            <a:avLst>
              <a:gd name="adj" fmla="val 5352"/>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pic>
        <p:nvPicPr>
          <p:cNvPr id="9" name="Image 0" descr="Box labelled Count"/>
          <p:cNvPicPr>
            <a:picLocks noChangeAspect="1"/>
          </p:cNvPicPr>
          <p:nvPr/>
        </p:nvPicPr>
        <p:blipFill>
          <a:blip r:embed="rId3"/>
          <a:stretch>
            <a:fillRect/>
          </a:stretch>
        </p:blipFill>
        <p:spPr>
          <a:xfrm>
            <a:off x="4572000" y="2240280"/>
            <a:ext cx="2377440" cy="1562318"/>
          </a:xfrm>
          <a:prstGeom prst="rect">
            <a:avLst/>
          </a:prstGeom>
        </p:spPr>
      </p:pic>
      <p:sp>
        <p:nvSpPr>
          <p:cNvPr id="10" name="Text 6"/>
          <p:cNvSpPr txBox="1"/>
          <p:nvPr/>
        </p:nvSpPr>
        <p:spPr>
          <a:xfrm>
            <a:off x="7680960" y="2747119"/>
            <a:ext cx="731520" cy="731520"/>
          </a:xfrm>
          <a:prstGeom prst="ellipse">
            <a:avLst/>
          </a:prstGeom>
          <a:solidFill>
            <a:srgbClr val="D64545"/>
          </a:solidFill>
          <a:ln w="6350">
            <a:solidFill>
              <a:srgbClr val="D64545"/>
            </a:solid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5</a:t>
            </a:r>
            <a:endParaRPr lang="en-US" sz="3000" dirty="0"/>
          </a:p>
        </p:txBody>
      </p:sp>
      <p:sp>
        <p:nvSpPr>
          <p:cNvPr id="11" name="arrow"/>
          <p:cNvSpPr/>
          <p:nvPr/>
        </p:nvSpPr>
        <p:spPr>
          <a:xfrm>
            <a:off x="7040880" y="2865991"/>
            <a:ext cx="548640" cy="402336"/>
          </a:xfrm>
          <a:prstGeom prst="leftArrow">
            <a:avLst/>
          </a:prstGeom>
          <a:solidFill>
            <a:srgbClr val="D64545"/>
          </a:solidFill>
          <a:ln w="6350">
            <a:solidFill>
              <a:srgbClr val="D64545"/>
            </a:solidFill>
            <a:prstDash val="solid"/>
          </a:ln>
        </p:spPr>
      </p:sp>
      <p:sp>
        <p:nvSpPr>
          <p:cNvPr id="12" name="Text 8"/>
          <p:cNvSpPr txBox="1"/>
          <p:nvPr/>
        </p:nvSpPr>
        <p:spPr>
          <a:xfrm>
            <a:off x="4983480" y="4031198"/>
            <a:ext cx="1554480" cy="365760"/>
          </a:xfrm>
          <a:prstGeom prst="roundRect">
            <a:avLst>
              <a:gd name="adj" fmla="val 30000"/>
            </a:avLst>
          </a:prstGeom>
          <a:solidFill>
            <a:srgbClr val="EAF4EC"/>
          </a:solidFill>
          <a:ln w="6350">
            <a:solidFill>
              <a:srgbClr val="EAF4EC"/>
            </a:solidFill>
          </a:ln>
        </p:spPr>
        <p:txBody>
          <a:bodyPr wrap="square" lIns="508" tIns="508" rIns="508" bIns="508" rtlCol="0" anchor="ctr"/>
          <a:lstStyle/>
          <a:p>
            <a:pPr marL="0" indent="0" algn="ctr">
              <a:buNone/>
            </a:pPr>
            <a:r>
              <a:rPr lang="en-US" sz="1300" b="1" dirty="0">
                <a:solidFill>
                  <a:srgbClr val="1F4D3A"/>
                </a:solidFill>
                <a:latin typeface="Calibri" pitchFamily="34" charset="0"/>
                <a:ea typeface="Calibri" pitchFamily="34" charset="-122"/>
                <a:cs typeface="Calibri" pitchFamily="34" charset="-120"/>
              </a:rPr>
              <a:t>Variable</a:t>
            </a:r>
            <a:endParaRPr lang="en-US" sz="1300" dirty="0"/>
          </a:p>
        </p:txBody>
      </p:sp>
      <p:sp>
        <p:nvSpPr>
          <p:cNvPr id="13" name="Text 9"/>
          <p:cNvSpPr txBox="1"/>
          <p:nvPr/>
        </p:nvSpPr>
        <p:spPr>
          <a:xfrm>
            <a:off x="7635240" y="3570079"/>
            <a:ext cx="822960" cy="365760"/>
          </a:xfrm>
          <a:prstGeom prst="roundRect">
            <a:avLst>
              <a:gd name="adj" fmla="val 30000"/>
            </a:avLst>
          </a:prstGeom>
          <a:solidFill>
            <a:srgbClr val="EAF4EC"/>
          </a:solidFill>
          <a:ln w="6350">
            <a:solidFill>
              <a:srgbClr val="EAF4EC"/>
            </a:solidFill>
          </a:ln>
        </p:spPr>
        <p:txBody>
          <a:bodyPr wrap="square" lIns="508" tIns="508" rIns="508" bIns="508" rtlCol="0" anchor="ctr"/>
          <a:lstStyle/>
          <a:p>
            <a:pPr marL="0" indent="0" algn="ctr">
              <a:buNone/>
            </a:pPr>
            <a:r>
              <a:rPr lang="en-US" sz="1300" b="1" dirty="0">
                <a:solidFill>
                  <a:srgbClr val="1F4D3A"/>
                </a:solidFill>
                <a:latin typeface="Calibri" pitchFamily="34" charset="0"/>
                <a:ea typeface="Calibri" pitchFamily="34" charset="-122"/>
                <a:cs typeface="Calibri" pitchFamily="34" charset="-120"/>
              </a:rPr>
              <a:t>Value</a:t>
            </a:r>
            <a:endParaRPr lang="en-US" sz="1300" dirty="0"/>
          </a:p>
        </p:txBody>
      </p:sp>
      <p:sp>
        <p:nvSpPr>
          <p:cNvPr id="14" name="Text 10"/>
          <p:cNvSpPr txBox="1"/>
          <p:nvPr/>
        </p:nvSpPr>
        <p:spPr>
          <a:xfrm>
            <a:off x="4572000" y="1371600"/>
            <a:ext cx="4114800" cy="457200"/>
          </a:xfrm>
          <a:prstGeom prst="rect">
            <a:avLst/>
          </a:prstGeom>
          <a:noFill/>
          <a:ln/>
        </p:spPr>
        <p:txBody>
          <a:bodyPr wrap="square" lIns="0" tIns="0" rIns="0" bIns="0" rtlCol="0" anchor="t"/>
          <a:lstStyle/>
          <a:p>
            <a:pPr marL="0" indent="0" algn="ctr">
              <a:buNone/>
            </a:pPr>
            <a:r>
              <a:rPr lang="en-US" sz="1600" b="1" dirty="0">
                <a:solidFill>
                  <a:srgbClr val="1F4D3A"/>
                </a:solidFill>
                <a:latin typeface="Calibri" pitchFamily="34" charset="0"/>
                <a:ea typeface="Calibri" pitchFamily="34" charset="-122"/>
                <a:cs typeface="Calibri" pitchFamily="34" charset="-120"/>
              </a:rPr>
              <a:t>The value goes into the variable</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C6F66"/>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rgbClr val="1F4D3A"/>
                </a:solidFill>
                <a:latin typeface="Cambria" pitchFamily="34" charset="0"/>
                <a:ea typeface="Cambria" pitchFamily="34" charset="-122"/>
                <a:cs typeface="Cambria" pitchFamily="34" charset="-120"/>
              </a:rPr>
              <a:t>Changing the Value</a:t>
            </a:r>
            <a:endParaRPr lang="en-US" sz="3200" dirty="0"/>
          </a:p>
        </p:txBody>
      </p:sp>
      <p:sp>
        <p:nvSpPr>
          <p:cNvPr id="4" name="before"/>
          <p:cNvSpPr/>
          <p:nvPr/>
        </p:nvSpPr>
        <p:spPr>
          <a:xfrm>
            <a:off x="457200" y="1234440"/>
            <a:ext cx="3840480" cy="2377440"/>
          </a:xfrm>
          <a:prstGeom prst="roundRect">
            <a:avLst>
              <a:gd name="adj" fmla="val 3846"/>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5" name="Text 2"/>
          <p:cNvSpPr txBox="1"/>
          <p:nvPr/>
        </p:nvSpPr>
        <p:spPr>
          <a:xfrm>
            <a:off x="1417320" y="1371600"/>
            <a:ext cx="1920240" cy="347472"/>
          </a:xfrm>
          <a:prstGeom prst="roundRect">
            <a:avLst>
              <a:gd name="adj" fmla="val 31579"/>
            </a:avLst>
          </a:prstGeom>
          <a:solidFill>
            <a:srgbClr val="1F4D3A"/>
          </a:solidFill>
          <a:ln w="6350">
            <a:solidFill>
              <a:srgbClr val="1F4D3A"/>
            </a:solidFill>
          </a:ln>
        </p:spPr>
        <p:txBody>
          <a:bodyPr wrap="square" lIns="508" tIns="508" rIns="508" bIns="50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set Count to 5</a:t>
            </a:r>
            <a:endParaRPr lang="en-US" sz="1300" dirty="0"/>
          </a:p>
        </p:txBody>
      </p:sp>
      <p:sp>
        <p:nvSpPr>
          <p:cNvPr id="6" name="Text 3"/>
          <p:cNvSpPr txBox="1"/>
          <p:nvPr/>
        </p:nvSpPr>
        <p:spPr>
          <a:xfrm>
            <a:off x="2057400" y="1828800"/>
            <a:ext cx="548640" cy="548640"/>
          </a:xfrm>
          <a:prstGeom prst="ellipse">
            <a:avLst/>
          </a:prstGeom>
          <a:solidFill>
            <a:srgbClr val="D64545"/>
          </a:solidFill>
          <a:ln w="6350">
            <a:solidFill>
              <a:srgbClr val="D64545"/>
            </a:solid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7" name="arrow"/>
          <p:cNvSpPr/>
          <p:nvPr/>
        </p:nvSpPr>
        <p:spPr>
          <a:xfrm>
            <a:off x="2240280" y="2395728"/>
            <a:ext cx="182880" cy="256032"/>
          </a:xfrm>
          <a:prstGeom prst="downArrow">
            <a:avLst/>
          </a:prstGeom>
          <a:solidFill>
            <a:srgbClr val="D64545"/>
          </a:solidFill>
          <a:ln w="6350">
            <a:solidFill>
              <a:srgbClr val="D64545"/>
            </a:solidFill>
            <a:prstDash val="solid"/>
          </a:ln>
        </p:spPr>
      </p:sp>
      <p:pic>
        <p:nvPicPr>
          <p:cNvPr id="8" name="Image 0" descr="Box labelled Count holding 5"/>
          <p:cNvPicPr>
            <a:picLocks noChangeAspect="1"/>
          </p:cNvPicPr>
          <p:nvPr/>
        </p:nvPicPr>
        <p:blipFill>
          <a:blip r:embed="rId3"/>
          <a:stretch>
            <a:fillRect/>
          </a:stretch>
        </p:blipFill>
        <p:spPr>
          <a:xfrm>
            <a:off x="1234440" y="2670048"/>
            <a:ext cx="1463040" cy="961426"/>
          </a:xfrm>
          <a:prstGeom prst="rect">
            <a:avLst/>
          </a:prstGeom>
        </p:spPr>
      </p:pic>
      <p:sp>
        <p:nvSpPr>
          <p:cNvPr id="9" name="after"/>
          <p:cNvSpPr/>
          <p:nvPr/>
        </p:nvSpPr>
        <p:spPr>
          <a:xfrm>
            <a:off x="4846320" y="1234440"/>
            <a:ext cx="3840480" cy="2377440"/>
          </a:xfrm>
          <a:prstGeom prst="roundRect">
            <a:avLst>
              <a:gd name="adj" fmla="val 3846"/>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0" name="Text 6"/>
          <p:cNvSpPr txBox="1"/>
          <p:nvPr/>
        </p:nvSpPr>
        <p:spPr>
          <a:xfrm>
            <a:off x="5806440" y="1371600"/>
            <a:ext cx="1920240" cy="347472"/>
          </a:xfrm>
          <a:prstGeom prst="roundRect">
            <a:avLst>
              <a:gd name="adj" fmla="val 31579"/>
            </a:avLst>
          </a:prstGeom>
          <a:solidFill>
            <a:srgbClr val="2E7D4F"/>
          </a:solidFill>
          <a:ln w="6350">
            <a:solidFill>
              <a:srgbClr val="2E7D4F"/>
            </a:solidFill>
          </a:ln>
        </p:spPr>
        <p:txBody>
          <a:bodyPr wrap="square" lIns="508" tIns="508" rIns="508" bIns="50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set Count to 4</a:t>
            </a:r>
            <a:endParaRPr lang="en-US" sz="1300" dirty="0"/>
          </a:p>
        </p:txBody>
      </p:sp>
      <p:sp>
        <p:nvSpPr>
          <p:cNvPr id="11" name="Text 7"/>
          <p:cNvSpPr txBox="1"/>
          <p:nvPr/>
        </p:nvSpPr>
        <p:spPr>
          <a:xfrm>
            <a:off x="6446520" y="1828800"/>
            <a:ext cx="548640" cy="548640"/>
          </a:xfrm>
          <a:prstGeom prst="ellipse">
            <a:avLst/>
          </a:prstGeom>
          <a:solidFill>
            <a:srgbClr val="D64545"/>
          </a:solidFill>
          <a:ln w="6350">
            <a:solidFill>
              <a:srgbClr val="D64545"/>
            </a:solid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2" name="arrow"/>
          <p:cNvSpPr/>
          <p:nvPr/>
        </p:nvSpPr>
        <p:spPr>
          <a:xfrm>
            <a:off x="6629400" y="2395728"/>
            <a:ext cx="182880" cy="256032"/>
          </a:xfrm>
          <a:prstGeom prst="downArrow">
            <a:avLst/>
          </a:prstGeom>
          <a:solidFill>
            <a:srgbClr val="D64545"/>
          </a:solidFill>
          <a:ln w="6350">
            <a:solidFill>
              <a:srgbClr val="D64545"/>
            </a:solidFill>
            <a:prstDash val="solid"/>
          </a:ln>
        </p:spPr>
      </p:sp>
      <p:pic>
        <p:nvPicPr>
          <p:cNvPr id="13" name="Image 1" descr="Box labelled Count holding 4"/>
          <p:cNvPicPr>
            <a:picLocks noChangeAspect="1"/>
          </p:cNvPicPr>
          <p:nvPr/>
        </p:nvPicPr>
        <p:blipFill>
          <a:blip r:embed="rId3"/>
          <a:stretch>
            <a:fillRect/>
          </a:stretch>
        </p:blipFill>
        <p:spPr>
          <a:xfrm>
            <a:off x="5623560" y="2670048"/>
            <a:ext cx="1463040" cy="961426"/>
          </a:xfrm>
          <a:prstGeom prst="rect">
            <a:avLst/>
          </a:prstGeom>
        </p:spPr>
      </p:pic>
      <p:sp>
        <p:nvSpPr>
          <p:cNvPr id="14" name="Text 9"/>
          <p:cNvSpPr txBox="1"/>
          <p:nvPr/>
        </p:nvSpPr>
        <p:spPr>
          <a:xfrm>
            <a:off x="7772400" y="2743200"/>
            <a:ext cx="457200" cy="457200"/>
          </a:xfrm>
          <a:prstGeom prst="ellipse">
            <a:avLst/>
          </a:prstGeom>
          <a:solidFill>
            <a:srgbClr val="B8C4BD"/>
          </a:solidFill>
          <a:ln w="6350">
            <a:solidFill>
              <a:srgbClr val="B8C4BD"/>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5" name="Text 10"/>
          <p:cNvSpPr txBox="1"/>
          <p:nvPr/>
        </p:nvSpPr>
        <p:spPr>
          <a:xfrm>
            <a:off x="7635240" y="3246120"/>
            <a:ext cx="731520" cy="274320"/>
          </a:xfrm>
          <a:prstGeom prst="rect">
            <a:avLst/>
          </a:prstGeom>
          <a:noFill/>
          <a:ln/>
        </p:spPr>
        <p:txBody>
          <a:bodyPr wrap="square" lIns="0" tIns="0" rIns="0" bIns="0" rtlCol="0" anchor="t"/>
          <a:lstStyle/>
          <a:p>
            <a:pPr marL="0" indent="0" algn="ctr">
              <a:buNone/>
            </a:pPr>
            <a:r>
              <a:rPr lang="en-US" sz="1100" dirty="0">
                <a:solidFill>
                  <a:srgbClr val="5C6F66"/>
                </a:solidFill>
                <a:latin typeface="Calibri" pitchFamily="34" charset="0"/>
                <a:ea typeface="Calibri" pitchFamily="34" charset="-122"/>
                <a:cs typeface="Calibri" pitchFamily="34" charset="-120"/>
              </a:rPr>
              <a:t>old value</a:t>
            </a:r>
            <a:endParaRPr lang="en-US" sz="1100" dirty="0"/>
          </a:p>
        </p:txBody>
      </p:sp>
      <p:sp>
        <p:nvSpPr>
          <p:cNvPr id="16" name="arrow"/>
          <p:cNvSpPr/>
          <p:nvPr/>
        </p:nvSpPr>
        <p:spPr>
          <a:xfrm>
            <a:off x="4370832" y="2240280"/>
            <a:ext cx="402336" cy="365760"/>
          </a:xfrm>
          <a:prstGeom prst="rightArrow">
            <a:avLst/>
          </a:prstGeom>
          <a:solidFill>
            <a:srgbClr val="F2B632"/>
          </a:solidFill>
          <a:ln w="6350">
            <a:solidFill>
              <a:srgbClr val="F2B632"/>
            </a:solidFill>
            <a:prstDash val="solid"/>
          </a:ln>
        </p:spPr>
      </p:sp>
      <p:sp>
        <p:nvSpPr>
          <p:cNvPr id="17" name="callout"/>
          <p:cNvSpPr/>
          <p:nvPr/>
        </p:nvSpPr>
        <p:spPr>
          <a:xfrm>
            <a:off x="457200" y="3794760"/>
            <a:ext cx="8229600" cy="777240"/>
          </a:xfrm>
          <a:prstGeom prst="roundRect">
            <a:avLst>
              <a:gd name="adj" fmla="val 11765"/>
            </a:avLst>
          </a:prstGeom>
          <a:solidFill>
            <a:srgbClr val="EAF4EC"/>
          </a:solidFill>
          <a:ln w="9525">
            <a:solidFill>
              <a:srgbClr val="EAF4EC"/>
            </a:solidFill>
            <a:prstDash val="solid"/>
          </a:ln>
          <a:effectLst>
            <a:outerShdw blurRad="76200" dist="25400" dir="5400000" algn="bl" rotWithShape="0">
              <a:srgbClr val="000000">
                <a:alpha val="14000"/>
              </a:srgbClr>
            </a:outerShdw>
          </a:effectLst>
        </p:spPr>
      </p:sp>
      <p:sp>
        <p:nvSpPr>
          <p:cNvPr id="18" name="Text 13"/>
          <p:cNvSpPr txBox="1"/>
          <p:nvPr/>
        </p:nvSpPr>
        <p:spPr>
          <a:xfrm>
            <a:off x="685800" y="3794760"/>
            <a:ext cx="7772400" cy="777240"/>
          </a:xfrm>
          <a:prstGeom prst="rect">
            <a:avLst/>
          </a:prstGeom>
          <a:noFill/>
          <a:ln/>
        </p:spPr>
        <p:txBody>
          <a:bodyPr wrap="square" lIns="0" tIns="0" rIns="0" bIns="0" rtlCol="0" anchor="ctr"/>
          <a:lstStyle/>
          <a:p>
            <a:pPr marL="0" indent="0">
              <a:buNone/>
            </a:pPr>
            <a:r>
              <a:rPr lang="en-US" sz="1500" b="1" dirty="0">
                <a:solidFill>
                  <a:srgbClr val="1F4D3A"/>
                </a:solidFill>
                <a:latin typeface="Calibri" pitchFamily="34" charset="0"/>
                <a:ea typeface="Calibri" pitchFamily="34" charset="-122"/>
                <a:cs typeface="Calibri" pitchFamily="34" charset="-120"/>
              </a:rPr>
              <a:t>A variable can only hold ONE item of data. The new value replaces the old one, so the loop now repeats 4 times.</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C6F66"/>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rgbClr val="1F4D3A"/>
                </a:solidFill>
                <a:latin typeface="Cambria" pitchFamily="34" charset="0"/>
                <a:ea typeface="Cambria" pitchFamily="34" charset="-122"/>
                <a:cs typeface="Cambria" pitchFamily="34" charset="-120"/>
              </a:rPr>
              <a:t>Values That Can Change</a:t>
            </a:r>
            <a:endParaRPr lang="en-US" sz="3200" dirty="0"/>
          </a:p>
        </p:txBody>
      </p:sp>
      <p:sp>
        <p:nvSpPr>
          <p:cNvPr id="4" name="frame-bday"/>
          <p:cNvSpPr/>
          <p:nvPr/>
        </p:nvSpPr>
        <p:spPr>
          <a:xfrm>
            <a:off x="475488" y="1298448"/>
            <a:ext cx="3712464" cy="2777552"/>
          </a:xfrm>
          <a:prstGeom prst="roundRect">
            <a:avLst>
              <a:gd name="adj" fmla="val 3292"/>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pic>
        <p:nvPicPr>
          <p:cNvPr id="5" name="Image 0" descr="Children at a birthday party"/>
          <p:cNvPicPr>
            <a:picLocks noChangeAspect="1"/>
          </p:cNvPicPr>
          <p:nvPr/>
        </p:nvPicPr>
        <p:blipFill>
          <a:blip r:embed="rId3"/>
          <a:stretch>
            <a:fillRect/>
          </a:stretch>
        </p:blipFill>
        <p:spPr>
          <a:xfrm>
            <a:off x="548640" y="1371600"/>
            <a:ext cx="3566160" cy="2631248"/>
          </a:xfrm>
          <a:prstGeom prst="rect">
            <a:avLst/>
          </a:prstGeom>
        </p:spPr>
      </p:pic>
      <p:sp>
        <p:nvSpPr>
          <p:cNvPr id="6" name="Text 2"/>
          <p:cNvSpPr txBox="1"/>
          <p:nvPr/>
        </p:nvSpPr>
        <p:spPr>
          <a:xfrm>
            <a:off x="457200" y="4231448"/>
            <a:ext cx="3749040" cy="365760"/>
          </a:xfrm>
          <a:prstGeom prst="rect">
            <a:avLst/>
          </a:prstGeom>
          <a:noFill/>
          <a:ln/>
        </p:spPr>
        <p:txBody>
          <a:bodyPr wrap="square" lIns="0" tIns="0" rIns="0" bIns="0" rtlCol="0" anchor="t"/>
          <a:lstStyle/>
          <a:p>
            <a:pPr marL="0" indent="0" algn="ctr">
              <a:buNone/>
            </a:pPr>
            <a:r>
              <a:rPr lang="en-US" sz="1500" b="1" i="1" dirty="0">
                <a:solidFill>
                  <a:srgbClr val="1F4D3A"/>
                </a:solidFill>
                <a:latin typeface="Calibri" pitchFamily="34" charset="0"/>
                <a:ea typeface="Calibri" pitchFamily="34" charset="-122"/>
                <a:cs typeface="Calibri" pitchFamily="34" charset="-120"/>
              </a:rPr>
              <a:t>Happy Birthday Miah! You are 8.</a:t>
            </a:r>
            <a:endParaRPr lang="en-US" sz="1500" dirty="0"/>
          </a:p>
        </p:txBody>
      </p:sp>
      <p:sp>
        <p:nvSpPr>
          <p:cNvPr id="7" name="def"/>
          <p:cNvSpPr/>
          <p:nvPr/>
        </p:nvSpPr>
        <p:spPr>
          <a:xfrm>
            <a:off x="4663440" y="1280160"/>
            <a:ext cx="4023360" cy="1234440"/>
          </a:xfrm>
          <a:prstGeom prst="roundRect">
            <a:avLst>
              <a:gd name="adj" fmla="val 7407"/>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8" name="Text 4"/>
          <p:cNvSpPr txBox="1"/>
          <p:nvPr/>
        </p:nvSpPr>
        <p:spPr>
          <a:xfrm>
            <a:off x="4846320" y="1325880"/>
            <a:ext cx="3657600" cy="1143000"/>
          </a:xfrm>
          <a:prstGeom prst="rect">
            <a:avLst/>
          </a:prstGeom>
          <a:noFill/>
          <a:ln/>
        </p:spPr>
        <p:txBody>
          <a:bodyPr wrap="square" lIns="0" tIns="0" rIns="0" bIns="0" rtlCol="0" anchor="ctr"/>
          <a:lstStyle/>
          <a:p>
            <a:pPr marL="0" indent="0">
              <a:buNone/>
            </a:pPr>
            <a:r>
              <a:rPr lang="en-US" sz="1400" b="1" dirty="0">
                <a:solidFill>
                  <a:srgbClr val="2E7D4F"/>
                </a:solidFill>
                <a:latin typeface="Calibri" pitchFamily="34" charset="0"/>
                <a:ea typeface="Calibri" pitchFamily="34" charset="-122"/>
                <a:cs typeface="Calibri" pitchFamily="34" charset="-120"/>
              </a:rPr>
              <a:t>Values</a:t>
            </a:r>
            <a:endParaRPr lang="en-US" sz="1400" dirty="0"/>
          </a:p>
          <a:p>
            <a:pPr marL="0" indent="0">
              <a:buNone/>
            </a:pPr>
            <a:r>
              <a:rPr lang="en-US" sz="1400" dirty="0">
                <a:solidFill>
                  <a:srgbClr val="1B2B24"/>
                </a:solidFill>
                <a:latin typeface="Calibri" pitchFamily="34" charset="0"/>
                <a:ea typeface="Calibri" pitchFamily="34" charset="-122"/>
                <a:cs typeface="Calibri" pitchFamily="34" charset="-120"/>
              </a:rPr>
              <a:t>The numbers and words we use in our algorithms. They often change.</a:t>
            </a:r>
            <a:endParaRPr lang="en-US" sz="1400" dirty="0"/>
          </a:p>
        </p:txBody>
      </p:sp>
      <p:sp>
        <p:nvSpPr>
          <p:cNvPr id="9" name="Text 5"/>
          <p:cNvSpPr txBox="1"/>
          <p:nvPr/>
        </p:nvSpPr>
        <p:spPr>
          <a:xfrm>
            <a:off x="4663440" y="2697480"/>
            <a:ext cx="1234440" cy="777240"/>
          </a:xfrm>
          <a:prstGeom prst="roundRect">
            <a:avLst>
              <a:gd name="adj" fmla="val 14118"/>
            </a:avLst>
          </a:prstGeom>
          <a:solidFill>
            <a:srgbClr val="1B4F8F"/>
          </a:solidFill>
          <a:ln w="6350">
            <a:solidFill>
              <a:srgbClr val="1B4F8F"/>
            </a:solidFill>
          </a:ln>
        </p:spPr>
        <p:txBody>
          <a:bodyPr wrap="square" lIns="508" tIns="508" rIns="508" bIns="508"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Text</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“Miah”</a:t>
            </a:r>
            <a:endParaRPr lang="en-US" sz="1400" dirty="0"/>
          </a:p>
        </p:txBody>
      </p:sp>
      <p:sp>
        <p:nvSpPr>
          <p:cNvPr id="10" name="Text 6"/>
          <p:cNvSpPr txBox="1"/>
          <p:nvPr/>
        </p:nvSpPr>
        <p:spPr>
          <a:xfrm>
            <a:off x="6035040" y="2697480"/>
            <a:ext cx="1234440" cy="777240"/>
          </a:xfrm>
          <a:prstGeom prst="roundRect">
            <a:avLst>
              <a:gd name="adj" fmla="val 14118"/>
            </a:avLst>
          </a:prstGeom>
          <a:solidFill>
            <a:srgbClr val="2E7D4F"/>
          </a:solidFill>
          <a:ln w="6350">
            <a:solidFill>
              <a:srgbClr val="2E7D4F"/>
            </a:solidFill>
          </a:ln>
        </p:spPr>
        <p:txBody>
          <a:bodyPr wrap="square" lIns="508" tIns="508" rIns="508" bIns="508"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Number</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11" name="Text 7"/>
          <p:cNvSpPr txBox="1"/>
          <p:nvPr/>
        </p:nvSpPr>
        <p:spPr>
          <a:xfrm>
            <a:off x="7406640" y="2697480"/>
            <a:ext cx="1280160" cy="777240"/>
          </a:xfrm>
          <a:prstGeom prst="roundRect">
            <a:avLst>
              <a:gd name="adj" fmla="val 14118"/>
            </a:avLst>
          </a:prstGeom>
          <a:solidFill>
            <a:srgbClr val="8B5A2B"/>
          </a:solidFill>
          <a:ln w="6350">
            <a:solidFill>
              <a:srgbClr val="8B5A2B"/>
            </a:solidFill>
          </a:ln>
        </p:spPr>
        <p:txBody>
          <a:bodyPr wrap="square" lIns="508" tIns="508" rIns="508" bIns="508"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Symbol</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idea"/>
          <p:cNvSpPr/>
          <p:nvPr/>
        </p:nvSpPr>
        <p:spPr>
          <a:xfrm>
            <a:off x="4663440" y="3657600"/>
            <a:ext cx="4023360" cy="868680"/>
          </a:xfrm>
          <a:prstGeom prst="roundRect">
            <a:avLst>
              <a:gd name="adj" fmla="val 10526"/>
            </a:avLst>
          </a:prstGeom>
          <a:solidFill>
            <a:srgbClr val="EAF4EC"/>
          </a:solidFill>
          <a:ln w="9525">
            <a:solidFill>
              <a:srgbClr val="EAF4EC"/>
            </a:solidFill>
            <a:prstDash val="solid"/>
          </a:ln>
          <a:effectLst>
            <a:outerShdw blurRad="76200" dist="25400" dir="5400000" algn="bl" rotWithShape="0">
              <a:srgbClr val="000000">
                <a:alpha val="14000"/>
              </a:srgbClr>
            </a:outerShdw>
          </a:effectLst>
        </p:spPr>
      </p:sp>
      <p:sp>
        <p:nvSpPr>
          <p:cNvPr id="13" name="Text 9"/>
          <p:cNvSpPr txBox="1"/>
          <p:nvPr/>
        </p:nvSpPr>
        <p:spPr>
          <a:xfrm>
            <a:off x="4846320" y="3657600"/>
            <a:ext cx="3657600" cy="868680"/>
          </a:xfrm>
          <a:prstGeom prst="rect">
            <a:avLst/>
          </a:prstGeom>
          <a:noFill/>
          <a:ln/>
        </p:spPr>
        <p:txBody>
          <a:bodyPr wrap="square" lIns="0" tIns="0" rIns="0" bIns="0" rtlCol="0" anchor="ctr"/>
          <a:lstStyle/>
          <a:p>
            <a:pPr marL="0" indent="0">
              <a:buNone/>
            </a:pPr>
            <a:r>
              <a:rPr lang="en-US" sz="1400" dirty="0">
                <a:solidFill>
                  <a:srgbClr val="1B2B24"/>
                </a:solidFill>
                <a:latin typeface="Calibri" pitchFamily="34" charset="0"/>
                <a:ea typeface="Calibri" pitchFamily="34" charset="-122"/>
                <a:cs typeface="Calibri" pitchFamily="34" charset="-120"/>
              </a:rPr>
              <a:t>Same card, different party: Mike is 9, so only the name and age values change.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C6F66"/>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rgbClr val="1F4D3A"/>
                </a:solidFill>
                <a:latin typeface="Cambria" pitchFamily="34" charset="0"/>
                <a:ea typeface="Cambria" pitchFamily="34" charset="-122"/>
                <a:cs typeface="Cambria" pitchFamily="34" charset="-120"/>
              </a:rPr>
              <a:t>The Birthday Card Algorithm</a:t>
            </a:r>
            <a:endParaRPr lang="en-US" sz="3200" dirty="0"/>
          </a:p>
        </p:txBody>
      </p:sp>
      <p:sp>
        <p:nvSpPr>
          <p:cNvPr id="4" name="code-block"/>
          <p:cNvSpPr/>
          <p:nvPr/>
        </p:nvSpPr>
        <p:spPr>
          <a:xfrm>
            <a:off x="457200" y="1280160"/>
            <a:ext cx="4572000" cy="2011680"/>
          </a:xfrm>
          <a:prstGeom prst="roundRect">
            <a:avLst>
              <a:gd name="adj" fmla="val 4545"/>
            </a:avLst>
          </a:prstGeom>
          <a:solidFill>
            <a:srgbClr val="1F2D2A"/>
          </a:solidFill>
          <a:ln w="9525">
            <a:solidFill>
              <a:srgbClr val="1F2D2A"/>
            </a:solidFill>
            <a:prstDash val="solid"/>
          </a:ln>
          <a:effectLst>
            <a:outerShdw blurRad="76200" dist="25400" dir="5400000" algn="bl" rotWithShape="0">
              <a:srgbClr val="000000">
                <a:alpha val="14000"/>
              </a:srgbClr>
            </a:outerShdw>
          </a:effectLst>
        </p:spPr>
      </p:sp>
      <p:sp>
        <p:nvSpPr>
          <p:cNvPr id="5" name="Text 2"/>
          <p:cNvSpPr txBox="1"/>
          <p:nvPr/>
        </p:nvSpPr>
        <p:spPr>
          <a:xfrm>
            <a:off x="685800" y="1389888"/>
            <a:ext cx="4114800" cy="1792224"/>
          </a:xfrm>
          <a:prstGeom prst="rect">
            <a:avLst/>
          </a:prstGeom>
          <a:noFill/>
          <a:ln/>
        </p:spPr>
        <p:txBody>
          <a:bodyPr wrap="square" lIns="0" tIns="0" rIns="0" bIns="0" rtlCol="0" anchor="ctr"/>
          <a:lstStyle/>
          <a:p>
            <a:pPr marL="0" indent="0">
              <a:lnSpc>
                <a:spcPct val="115000"/>
              </a:lnSpc>
              <a:buNone/>
            </a:pPr>
            <a:r>
              <a:rPr lang="en-US" sz="1500" dirty="0">
                <a:solidFill>
                  <a:srgbClr val="7FA595"/>
                </a:solidFill>
                <a:latin typeface="Courier New" pitchFamily="34" charset="0"/>
                <a:ea typeface="Courier New" pitchFamily="34" charset="-122"/>
                <a:cs typeface="Courier New" pitchFamily="34" charset="-120"/>
              </a:rPr>
              <a:t>1   </a:t>
            </a:r>
            <a:r>
              <a:rPr lang="en-US" sz="1500" dirty="0">
                <a:solidFill>
                  <a:srgbClr val="FFFFFF"/>
                </a:solidFill>
                <a:latin typeface="Courier New" pitchFamily="34" charset="0"/>
                <a:ea typeface="Courier New" pitchFamily="34" charset="-122"/>
                <a:cs typeface="Courier New" pitchFamily="34" charset="-120"/>
              </a:rPr>
              <a:t>set </a:t>
            </a:r>
            <a:r>
              <a:rPr lang="en-US" sz="1500" b="1" dirty="0">
                <a:solidFill>
                  <a:srgbClr val="F2B632"/>
                </a:solidFill>
                <a:latin typeface="Courier New" pitchFamily="34" charset="0"/>
                <a:ea typeface="Courier New" pitchFamily="34" charset="-122"/>
                <a:cs typeface="Courier New" pitchFamily="34" charset="-120"/>
              </a:rPr>
              <a:t>Name</a:t>
            </a:r>
            <a:r>
              <a:rPr lang="en-US" sz="1500" dirty="0">
                <a:solidFill>
                  <a:srgbClr val="FFFFFF"/>
                </a:solidFill>
                <a:latin typeface="Courier New" pitchFamily="34" charset="0"/>
                <a:ea typeface="Courier New" pitchFamily="34" charset="-122"/>
                <a:cs typeface="Courier New" pitchFamily="34" charset="-120"/>
              </a:rPr>
              <a:t> to Mike</a:t>
            </a:r>
            <a:endParaRPr lang="en-US" sz="1400" dirty="0"/>
          </a:p>
          <a:p>
            <a:pPr marL="0" indent="0">
              <a:lnSpc>
                <a:spcPct val="115000"/>
              </a:lnSpc>
              <a:buNone/>
            </a:pPr>
            <a:r>
              <a:rPr lang="en-US" sz="1500" dirty="0">
                <a:solidFill>
                  <a:srgbClr val="7FA595"/>
                </a:solidFill>
                <a:latin typeface="Courier New" pitchFamily="34" charset="0"/>
                <a:ea typeface="Courier New" pitchFamily="34" charset="-122"/>
                <a:cs typeface="Courier New" pitchFamily="34" charset="-120"/>
              </a:rPr>
              <a:t>2   </a:t>
            </a:r>
            <a:r>
              <a:rPr lang="en-US" sz="1500" dirty="0">
                <a:solidFill>
                  <a:srgbClr val="FFFFFF"/>
                </a:solidFill>
                <a:latin typeface="Courier New" pitchFamily="34" charset="0"/>
                <a:ea typeface="Courier New" pitchFamily="34" charset="-122"/>
                <a:cs typeface="Courier New" pitchFamily="34" charset="-120"/>
              </a:rPr>
              <a:t>set </a:t>
            </a:r>
            <a:r>
              <a:rPr lang="en-US" sz="1500" b="1" dirty="0">
                <a:solidFill>
                  <a:srgbClr val="F2B632"/>
                </a:solidFill>
                <a:latin typeface="Courier New" pitchFamily="34" charset="0"/>
                <a:ea typeface="Courier New" pitchFamily="34" charset="-122"/>
                <a:cs typeface="Courier New" pitchFamily="34" charset="-120"/>
              </a:rPr>
              <a:t>Age</a:t>
            </a:r>
            <a:r>
              <a:rPr lang="en-US" sz="1500" dirty="0">
                <a:solidFill>
                  <a:srgbClr val="FFFFFF"/>
                </a:solidFill>
                <a:latin typeface="Courier New" pitchFamily="34" charset="0"/>
                <a:ea typeface="Courier New" pitchFamily="34" charset="-122"/>
                <a:cs typeface="Courier New" pitchFamily="34" charset="-120"/>
              </a:rPr>
              <a:t> to 9</a:t>
            </a:r>
            <a:endParaRPr lang="en-US" sz="1400" dirty="0"/>
          </a:p>
          <a:p>
            <a:pPr marL="0" indent="0">
              <a:lnSpc>
                <a:spcPct val="115000"/>
              </a:lnSpc>
              <a:buNone/>
            </a:pPr>
            <a:r>
              <a:rPr lang="en-US" sz="1500" dirty="0">
                <a:solidFill>
                  <a:srgbClr val="7FA595"/>
                </a:solidFill>
                <a:latin typeface="Courier New" pitchFamily="34" charset="0"/>
                <a:ea typeface="Courier New" pitchFamily="34" charset="-122"/>
                <a:cs typeface="Courier New" pitchFamily="34" charset="-120"/>
              </a:rPr>
              <a:t>3   </a:t>
            </a:r>
            <a:r>
              <a:rPr lang="en-US" sz="1500" dirty="0">
                <a:solidFill>
                  <a:srgbClr val="FFFFFF"/>
                </a:solidFill>
                <a:latin typeface="Courier New" pitchFamily="34" charset="0"/>
                <a:ea typeface="Courier New" pitchFamily="34" charset="-122"/>
                <a:cs typeface="Courier New" pitchFamily="34" charset="-120"/>
              </a:rPr>
              <a:t>say Happy Birthday, </a:t>
            </a:r>
            <a:r>
              <a:rPr lang="en-US" sz="1500" b="1" dirty="0">
                <a:solidFill>
                  <a:srgbClr val="F2B632"/>
                </a:solidFill>
                <a:latin typeface="Courier New" pitchFamily="34" charset="0"/>
                <a:ea typeface="Courier New" pitchFamily="34" charset="-122"/>
                <a:cs typeface="Courier New" pitchFamily="34" charset="-120"/>
              </a:rPr>
              <a:t>Name</a:t>
            </a:r>
            <a:endParaRPr lang="en-US" sz="1400" dirty="0"/>
          </a:p>
          <a:p>
            <a:pPr marL="0" indent="0">
              <a:lnSpc>
                <a:spcPct val="115000"/>
              </a:lnSpc>
              <a:buNone/>
            </a:pPr>
            <a:r>
              <a:rPr lang="en-US" sz="1500" dirty="0">
                <a:solidFill>
                  <a:srgbClr val="7FA595"/>
                </a:solidFill>
                <a:latin typeface="Courier New" pitchFamily="34" charset="0"/>
                <a:ea typeface="Courier New" pitchFamily="34" charset="-122"/>
                <a:cs typeface="Courier New" pitchFamily="34" charset="-120"/>
              </a:rPr>
              <a:t>4   </a:t>
            </a:r>
            <a:r>
              <a:rPr lang="en-US" sz="1500" dirty="0">
                <a:solidFill>
                  <a:srgbClr val="FFFFFF"/>
                </a:solidFill>
                <a:latin typeface="Courier New" pitchFamily="34" charset="0"/>
                <a:ea typeface="Courier New" pitchFamily="34" charset="-122"/>
                <a:cs typeface="Courier New" pitchFamily="34" charset="-120"/>
              </a:rPr>
              <a:t>say You are, </a:t>
            </a:r>
            <a:r>
              <a:rPr lang="en-US" sz="1500" b="1" dirty="0">
                <a:solidFill>
                  <a:srgbClr val="F2B632"/>
                </a:solidFill>
                <a:latin typeface="Courier New" pitchFamily="34" charset="0"/>
                <a:ea typeface="Courier New" pitchFamily="34" charset="-122"/>
                <a:cs typeface="Courier New" pitchFamily="34" charset="-120"/>
              </a:rPr>
              <a:t>Age</a:t>
            </a:r>
            <a:endParaRPr lang="en-US" sz="1400" dirty="0"/>
          </a:p>
        </p:txBody>
      </p:sp>
      <p:sp>
        <p:nvSpPr>
          <p:cNvPr id="6" name="Text 3"/>
          <p:cNvSpPr txBox="1"/>
          <p:nvPr/>
        </p:nvSpPr>
        <p:spPr>
          <a:xfrm>
            <a:off x="457200" y="3520440"/>
            <a:ext cx="2194560" cy="457200"/>
          </a:xfrm>
          <a:prstGeom prst="roundRect">
            <a:avLst>
              <a:gd name="adj" fmla="val 24000"/>
            </a:avLst>
          </a:prstGeom>
          <a:solidFill>
            <a:srgbClr val="8B5A2B"/>
          </a:solidFill>
          <a:ln w="6350">
            <a:solidFill>
              <a:srgbClr val="8B5A2B"/>
            </a:solidFill>
          </a:ln>
        </p:spPr>
        <p:txBody>
          <a:bodyPr wrap="square" lIns="508" tIns="508" rIns="508" bIns="508"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Name = Mike</a:t>
            </a:r>
            <a:endParaRPr lang="en-US" sz="1500" dirty="0"/>
          </a:p>
        </p:txBody>
      </p:sp>
      <p:sp>
        <p:nvSpPr>
          <p:cNvPr id="7" name="Text 4"/>
          <p:cNvSpPr txBox="1"/>
          <p:nvPr/>
        </p:nvSpPr>
        <p:spPr>
          <a:xfrm>
            <a:off x="2834640" y="3520440"/>
            <a:ext cx="2194560" cy="457200"/>
          </a:xfrm>
          <a:prstGeom prst="roundRect">
            <a:avLst>
              <a:gd name="adj" fmla="val 24000"/>
            </a:avLst>
          </a:prstGeom>
          <a:solidFill>
            <a:srgbClr val="8B5A2B"/>
          </a:solidFill>
          <a:ln w="6350">
            <a:solidFill>
              <a:srgbClr val="8B5A2B"/>
            </a:solidFill>
          </a:ln>
        </p:spPr>
        <p:txBody>
          <a:bodyPr wrap="square" lIns="508" tIns="508" rIns="508" bIns="508"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Age = 9</a:t>
            </a:r>
            <a:endParaRPr lang="en-US" sz="1500" dirty="0"/>
          </a:p>
        </p:txBody>
      </p:sp>
      <p:sp>
        <p:nvSpPr>
          <p:cNvPr id="8" name="Text 5"/>
          <p:cNvSpPr txBox="1"/>
          <p:nvPr/>
        </p:nvSpPr>
        <p:spPr>
          <a:xfrm>
            <a:off x="457200" y="4114800"/>
            <a:ext cx="4572000" cy="365760"/>
          </a:xfrm>
          <a:prstGeom prst="rect">
            <a:avLst/>
          </a:prstGeom>
          <a:noFill/>
          <a:ln/>
        </p:spPr>
        <p:txBody>
          <a:bodyPr wrap="square" lIns="0" tIns="0" rIns="0" bIns="0" rtlCol="0" anchor="t"/>
          <a:lstStyle/>
          <a:p>
            <a:pPr marL="0" indent="0">
              <a:buNone/>
            </a:pPr>
            <a:r>
              <a:rPr lang="en-US" sz="1400" i="1" dirty="0">
                <a:solidFill>
                  <a:srgbClr val="5C6F66"/>
                </a:solidFill>
                <a:latin typeface="Calibri" pitchFamily="34" charset="0"/>
                <a:ea typeface="Calibri" pitchFamily="34" charset="-122"/>
                <a:cs typeface="Calibri" pitchFamily="34" charset="-120"/>
              </a:rPr>
              <a:t>Two variables, two boxes</a:t>
            </a:r>
            <a:endParaRPr lang="en-US" sz="1400" dirty="0"/>
          </a:p>
        </p:txBody>
      </p:sp>
      <p:sp>
        <p:nvSpPr>
          <p:cNvPr id="9" name="explain"/>
          <p:cNvSpPr/>
          <p:nvPr/>
        </p:nvSpPr>
        <p:spPr>
          <a:xfrm>
            <a:off x="5394960" y="1280160"/>
            <a:ext cx="3291840" cy="1600200"/>
          </a:xfrm>
          <a:prstGeom prst="roundRect">
            <a:avLst>
              <a:gd name="adj" fmla="val 5714"/>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0" name="Text 7"/>
          <p:cNvSpPr txBox="1"/>
          <p:nvPr/>
        </p:nvSpPr>
        <p:spPr>
          <a:xfrm>
            <a:off x="5577840" y="1371600"/>
            <a:ext cx="2926080" cy="1417320"/>
          </a:xfrm>
          <a:prstGeom prst="rect">
            <a:avLst/>
          </a:prstGeom>
          <a:noFill/>
          <a:ln/>
        </p:spPr>
        <p:txBody>
          <a:bodyPr wrap="square" lIns="0" tIns="0" rIns="0" bIns="0" rtlCol="0" anchor="ctr"/>
          <a:lstStyle/>
          <a:p>
            <a:pPr marL="0" indent="0">
              <a:buNone/>
            </a:pPr>
            <a:r>
              <a:rPr lang="en-US" sz="1400" b="1" dirty="0">
                <a:solidFill>
                  <a:srgbClr val="2E7D4F"/>
                </a:solidFill>
                <a:latin typeface="Calibri" pitchFamily="34" charset="0"/>
                <a:ea typeface="Calibri" pitchFamily="34" charset="-122"/>
                <a:cs typeface="Calibri" pitchFamily="34" charset="-120"/>
              </a:rPr>
              <a:t>Lines 1–2</a:t>
            </a:r>
            <a:endParaRPr lang="en-US" sz="1400" dirty="0"/>
          </a:p>
          <a:p>
            <a:pPr marL="0" indent="0">
              <a:spcAft>
                <a:spcPts val="600"/>
              </a:spcAft>
              <a:buNone/>
            </a:pPr>
            <a:r>
              <a:rPr lang="en-US" sz="1400" dirty="0">
                <a:solidFill>
                  <a:srgbClr val="1B2B24"/>
                </a:solidFill>
                <a:latin typeface="Calibri" pitchFamily="34" charset="0"/>
                <a:ea typeface="Calibri" pitchFamily="34" charset="-122"/>
                <a:cs typeface="Calibri" pitchFamily="34" charset="-120"/>
              </a:rPr>
              <a:t>Assign the values to the variables.</a:t>
            </a:r>
            <a:endParaRPr lang="en-US" sz="1400" dirty="0"/>
          </a:p>
          <a:p>
            <a:pPr marL="0" indent="0">
              <a:buNone/>
            </a:pPr>
            <a:r>
              <a:rPr lang="en-US" sz="1400" b="1" dirty="0">
                <a:solidFill>
                  <a:srgbClr val="2E7D4F"/>
                </a:solidFill>
                <a:latin typeface="Calibri" pitchFamily="34" charset="0"/>
                <a:ea typeface="Calibri" pitchFamily="34" charset="-122"/>
                <a:cs typeface="Calibri" pitchFamily="34" charset="-120"/>
              </a:rPr>
              <a:t>Lines 3–4</a:t>
            </a:r>
            <a:endParaRPr lang="en-US" sz="1400" dirty="0"/>
          </a:p>
          <a:p>
            <a:pPr marL="0" indent="0">
              <a:buNone/>
            </a:pPr>
            <a:r>
              <a:rPr lang="en-US" sz="1400" dirty="0">
                <a:solidFill>
                  <a:srgbClr val="1B2B24"/>
                </a:solidFill>
                <a:latin typeface="Calibri" pitchFamily="34" charset="0"/>
                <a:ea typeface="Calibri" pitchFamily="34" charset="-122"/>
                <a:cs typeface="Calibri" pitchFamily="34" charset="-120"/>
              </a:rPr>
              <a:t>say displays the values stored in them.</a:t>
            </a:r>
            <a:endParaRPr lang="en-US" sz="1400" dirty="0"/>
          </a:p>
        </p:txBody>
      </p:sp>
      <p:sp>
        <p:nvSpPr>
          <p:cNvPr id="11" name="output"/>
          <p:cNvSpPr/>
          <p:nvPr/>
        </p:nvSpPr>
        <p:spPr>
          <a:xfrm>
            <a:off x="5394960" y="3063240"/>
            <a:ext cx="3291840" cy="1463040"/>
          </a:xfrm>
          <a:prstGeom prst="roundRect">
            <a:avLst>
              <a:gd name="adj" fmla="val 6250"/>
            </a:avLst>
          </a:prstGeom>
          <a:solidFill>
            <a:srgbClr val="EAF4EC"/>
          </a:solidFill>
          <a:ln w="9525">
            <a:solidFill>
              <a:srgbClr val="EAF4EC"/>
            </a:solidFill>
            <a:prstDash val="solid"/>
          </a:ln>
          <a:effectLst>
            <a:outerShdw blurRad="76200" dist="25400" dir="5400000" algn="bl" rotWithShape="0">
              <a:srgbClr val="000000">
                <a:alpha val="14000"/>
              </a:srgbClr>
            </a:outerShdw>
          </a:effectLst>
        </p:spPr>
      </p:sp>
      <p:sp>
        <p:nvSpPr>
          <p:cNvPr id="12" name="Text 9"/>
          <p:cNvSpPr txBox="1"/>
          <p:nvPr/>
        </p:nvSpPr>
        <p:spPr>
          <a:xfrm>
            <a:off x="5577840" y="3154680"/>
            <a:ext cx="2926080" cy="1280160"/>
          </a:xfrm>
          <a:prstGeom prst="rect">
            <a:avLst/>
          </a:prstGeom>
          <a:noFill/>
          <a:ln/>
        </p:spPr>
        <p:txBody>
          <a:bodyPr wrap="square" lIns="0" tIns="0" rIns="0" bIns="0" rtlCol="0" anchor="ctr"/>
          <a:lstStyle/>
          <a:p>
            <a:pPr marL="0" indent="0">
              <a:buNone/>
            </a:pPr>
            <a:r>
              <a:rPr lang="en-US" sz="1600" b="1" dirty="0">
                <a:solidFill>
                  <a:srgbClr val="1F4D3A"/>
                </a:solidFill>
                <a:latin typeface="Calibri" pitchFamily="34" charset="0"/>
                <a:ea typeface="Calibri" pitchFamily="34" charset="-122"/>
                <a:cs typeface="Calibri" pitchFamily="34" charset="-120"/>
              </a:rPr>
              <a:t>Output</a:t>
            </a:r>
            <a:endParaRPr lang="en-US" sz="1600" dirty="0"/>
          </a:p>
          <a:p>
            <a:pPr marL="0" indent="0">
              <a:buNone/>
            </a:pPr>
            <a:r>
              <a:rPr lang="en-US" sz="1600" dirty="0">
                <a:solidFill>
                  <a:srgbClr val="1B2B24"/>
                </a:solidFill>
                <a:latin typeface="Calibri" pitchFamily="34" charset="0"/>
                <a:ea typeface="Calibri" pitchFamily="34" charset="-122"/>
                <a:cs typeface="Calibri" pitchFamily="34" charset="-120"/>
              </a:rPr>
              <a:t>Happy Birthday, Mike</a:t>
            </a:r>
            <a:endParaRPr lang="en-US" sz="1600" dirty="0"/>
          </a:p>
          <a:p>
            <a:pPr marL="0" indent="0">
              <a:buNone/>
            </a:pPr>
            <a:r>
              <a:rPr lang="en-US" sz="1600" dirty="0">
                <a:solidFill>
                  <a:srgbClr val="1B2B24"/>
                </a:solidFill>
                <a:latin typeface="Calibri" pitchFamily="34" charset="0"/>
                <a:ea typeface="Calibri" pitchFamily="34" charset="-122"/>
                <a:cs typeface="Calibri" pitchFamily="34" charset="-120"/>
              </a:rPr>
              <a:t>You are, 9</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C6F66"/>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035040" cy="731520"/>
          </a:xfrm>
          <a:prstGeom prst="rect">
            <a:avLst/>
          </a:prstGeom>
          <a:noFill/>
          <a:ln/>
        </p:spPr>
        <p:txBody>
          <a:bodyPr wrap="square" lIns="0" tIns="0" rIns="0" bIns="0" rtlCol="0" anchor="ctr"/>
          <a:lstStyle/>
          <a:p>
            <a:pPr marL="0" indent="0" algn="l">
              <a:buNone/>
            </a:pPr>
            <a:r>
              <a:rPr lang="en-US" sz="3200" b="1" dirty="0">
                <a:solidFill>
                  <a:srgbClr val="1B4F8F"/>
                </a:solidFill>
                <a:latin typeface="Cambria" pitchFamily="34" charset="0"/>
                <a:ea typeface="Cambria" pitchFamily="34" charset="-122"/>
                <a:cs typeface="Cambria" pitchFamily="34" charset="-120"/>
              </a:rPr>
              <a:t>Birthday Parties</a:t>
            </a:r>
            <a:endParaRPr lang="en-US" sz="3200" dirty="0"/>
          </a:p>
        </p:txBody>
      </p:sp>
      <p:sp>
        <p:nvSpPr>
          <p:cNvPr id="4" name="badge"/>
          <p:cNvSpPr/>
          <p:nvPr/>
        </p:nvSpPr>
        <p:spPr>
          <a:xfrm>
            <a:off x="6675120" y="411480"/>
            <a:ext cx="2011680" cy="365760"/>
          </a:xfrm>
          <a:prstGeom prst="roundRect">
            <a:avLst>
              <a:gd name="adj" fmla="val 50000"/>
            </a:avLst>
          </a:prstGeom>
          <a:solidFill>
            <a:srgbClr val="1B4F8F"/>
          </a:solidFill>
          <a:ln w="6350">
            <a:solidFill>
              <a:srgbClr val="1B4F8F"/>
            </a:solidFill>
            <a:prstDash val="solid"/>
          </a:ln>
        </p:spPr>
      </p:sp>
      <p:sp>
        <p:nvSpPr>
          <p:cNvPr id="5" name="Text 2"/>
          <p:cNvSpPr txBox="1"/>
          <p:nvPr/>
        </p:nvSpPr>
        <p:spPr>
          <a:xfrm>
            <a:off x="6675120" y="411480"/>
            <a:ext cx="20116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UNPLUGGED ACTIVITY 1</a:t>
            </a:r>
            <a:endParaRPr lang="en-US" sz="1100" dirty="0"/>
          </a:p>
        </p:txBody>
      </p:sp>
      <p:sp>
        <p:nvSpPr>
          <p:cNvPr id="6" name="frame-parties"/>
          <p:cNvSpPr/>
          <p:nvPr/>
        </p:nvSpPr>
        <p:spPr>
          <a:xfrm>
            <a:off x="475488" y="1207008"/>
            <a:ext cx="4261104" cy="1133856"/>
          </a:xfrm>
          <a:prstGeom prst="roundRect">
            <a:avLst>
              <a:gd name="adj" fmla="val 8065"/>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pic>
        <p:nvPicPr>
          <p:cNvPr id="7" name="Image 0" descr="Three children at birthday parties labelled A, B and C"/>
          <p:cNvPicPr>
            <a:picLocks noChangeAspect="1"/>
          </p:cNvPicPr>
          <p:nvPr/>
        </p:nvPicPr>
        <p:blipFill>
          <a:blip r:embed="rId3"/>
          <a:stretch>
            <a:fillRect/>
          </a:stretch>
        </p:blipFill>
        <p:spPr>
          <a:xfrm>
            <a:off x="548640" y="1280160"/>
            <a:ext cx="4114800" cy="987552"/>
          </a:xfrm>
          <a:prstGeom prst="rect">
            <a:avLst/>
          </a:prstGeom>
        </p:spPr>
      </p:pic>
      <p:sp>
        <p:nvSpPr>
          <p:cNvPr id="8" name="Text 4"/>
          <p:cNvSpPr txBox="1"/>
          <p:nvPr/>
        </p:nvSpPr>
        <p:spPr>
          <a:xfrm>
            <a:off x="457200" y="2514600"/>
            <a:ext cx="2651760" cy="347472"/>
          </a:xfrm>
          <a:prstGeom prst="roundRect">
            <a:avLst>
              <a:gd name="adj" fmla="val 31579"/>
            </a:avLst>
          </a:prstGeom>
          <a:solidFill>
            <a:srgbClr val="1B4F8F"/>
          </a:solidFill>
          <a:ln w="6350">
            <a:solidFill>
              <a:srgbClr val="1B4F8F"/>
            </a:solidFill>
          </a:ln>
        </p:spPr>
        <p:txBody>
          <a:bodyPr wrap="square" lIns="508" tIns="508" rIns="508" bIns="508"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You will need: pen and paper</a:t>
            </a:r>
            <a:endParaRPr lang="en-US" sz="1200" dirty="0"/>
          </a:p>
        </p:txBody>
      </p:sp>
      <p:sp>
        <p:nvSpPr>
          <p:cNvPr id="9" name="steps"/>
          <p:cNvSpPr/>
          <p:nvPr/>
        </p:nvSpPr>
        <p:spPr>
          <a:xfrm>
            <a:off x="5029200" y="1188720"/>
            <a:ext cx="3657600" cy="1691640"/>
          </a:xfrm>
          <a:prstGeom prst="roundRect">
            <a:avLst>
              <a:gd name="adj" fmla="val 5405"/>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0" name="Text 6"/>
          <p:cNvSpPr txBox="1"/>
          <p:nvPr/>
        </p:nvSpPr>
        <p:spPr>
          <a:xfrm>
            <a:off x="5212080" y="1261872"/>
            <a:ext cx="3337560" cy="1554480"/>
          </a:xfrm>
          <a:prstGeom prst="rect">
            <a:avLst/>
          </a:prstGeom>
          <a:noFill/>
          <a:ln/>
        </p:spPr>
        <p:txBody>
          <a:bodyPr wrap="square" lIns="0" tIns="0" rIns="0" bIns="0" rtlCol="0" anchor="ctr"/>
          <a:lstStyle/>
          <a:p>
            <a:pPr marL="0" indent="0">
              <a:buNone/>
            </a:pPr>
            <a:r>
              <a:rPr lang="en-US" sz="1400" b="1" dirty="0">
                <a:solidFill>
                  <a:srgbClr val="1B4F8F"/>
                </a:solidFill>
                <a:latin typeface="Calibri" pitchFamily="34" charset="0"/>
                <a:ea typeface="Calibri" pitchFamily="34" charset="-122"/>
                <a:cs typeface="Calibri" pitchFamily="34" charset="-120"/>
              </a:rPr>
              <a:t>How it is done</a:t>
            </a:r>
            <a:endParaRPr lang="en-US" sz="1400" dirty="0"/>
          </a:p>
          <a:p>
            <a:pPr marL="177800" indent="-177800">
              <a:buSzPct val="100000"/>
              <a:buChar char="•"/>
            </a:pPr>
            <a:r>
              <a:rPr lang="en-US" sz="1400" dirty="0">
                <a:solidFill>
                  <a:srgbClr val="1B2B24"/>
                </a:solidFill>
                <a:latin typeface="Calibri" pitchFamily="34" charset="0"/>
                <a:ea typeface="Calibri" pitchFamily="34" charset="-122"/>
                <a:cs typeface="Calibri" pitchFamily="34" charset="-120"/>
              </a:rPr>
              <a:t>Copy the table.</a:t>
            </a:r>
            <a:endParaRPr lang="en-US" sz="1400" dirty="0"/>
          </a:p>
          <a:p>
            <a:pPr marL="177800" indent="-177800">
              <a:buSzPct val="100000"/>
              <a:buChar char="•"/>
            </a:pPr>
            <a:r>
              <a:rPr lang="en-US" sz="1400" dirty="0">
                <a:solidFill>
                  <a:srgbClr val="1B2B24"/>
                </a:solidFill>
                <a:latin typeface="Calibri" pitchFamily="34" charset="0"/>
                <a:ea typeface="Calibri" pitchFamily="34" charset="-122"/>
                <a:cs typeface="Calibri" pitchFamily="34" charset="-120"/>
              </a:rPr>
              <a:t>Read the name and age in A, B, C.</a:t>
            </a:r>
            <a:endParaRPr lang="en-US" sz="1400" dirty="0"/>
          </a:p>
          <a:p>
            <a:pPr marL="177800" indent="-177800">
              <a:buSzPct val="100000"/>
              <a:buChar char="•"/>
            </a:pPr>
            <a:r>
              <a:rPr lang="en-US" sz="1400" dirty="0">
                <a:solidFill>
                  <a:srgbClr val="1B2B24"/>
                </a:solidFill>
                <a:latin typeface="Calibri" pitchFamily="34" charset="0"/>
                <a:ea typeface="Calibri" pitchFamily="34" charset="-122"/>
                <a:cs typeface="Calibri" pitchFamily="34" charset="-120"/>
              </a:rPr>
              <a:t>Fill in the two variables.</a:t>
            </a:r>
            <a:endParaRPr lang="en-US" sz="1400" dirty="0"/>
          </a:p>
          <a:p>
            <a:pPr marL="177800" indent="-177800">
              <a:buSzPct val="100000"/>
              <a:buChar char="•"/>
            </a:pPr>
            <a:r>
              <a:rPr lang="en-US" sz="1400" dirty="0">
                <a:solidFill>
                  <a:srgbClr val="1B2B24"/>
                </a:solidFill>
                <a:latin typeface="Calibri" pitchFamily="34" charset="0"/>
                <a:ea typeface="Calibri" pitchFamily="34" charset="-122"/>
                <a:cs typeface="Calibri" pitchFamily="34" charset="-120"/>
              </a:rPr>
              <a:t>Write the birthday message.</a:t>
            </a:r>
            <a:endParaRPr lang="en-US" sz="1400" dirty="0"/>
          </a:p>
        </p:txBody>
      </p:sp>
      <p:graphicFrame>
        <p:nvGraphicFramePr>
          <p:cNvPr id="11" name="answer-table"/>
          <p:cNvGraphicFramePr>
            <a:graphicFrameLocks noGrp="1"/>
          </p:cNvGraphicFramePr>
          <p:nvPr>
            <p:extLst>
              <p:ext uri="{D42A27DB-BD31-4B8C-83A1-F6EECF244321}">
                <p14:modId xmlns:p14="http://schemas.microsoft.com/office/powerpoint/2010/main" val="1579011935"/>
              </p:ext>
            </p:extLst>
          </p:nvPr>
        </p:nvGraphicFramePr>
        <p:xfrm>
          <a:off x="457200" y="3017520"/>
          <a:ext cx="8229600" cy="1481328"/>
        </p:xfrm>
        <a:graphic>
          <a:graphicData uri="http://schemas.openxmlformats.org/drawingml/2006/table">
            <a:tbl>
              <a:tblPr/>
              <a:tblGrid>
                <a:gridCol w="21945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310896">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Child</a:t>
                      </a:r>
                      <a:endParaRPr lang="en-US" sz="1200" dirty="0">
                        <a:latin typeface="Calibri" charset="0"/>
                        <a:ea typeface="Calibri" charset="0"/>
                        <a:cs typeface="Calibri" charset="0"/>
                      </a:endParaRPr>
                    </a:p>
                  </a:txBody>
                  <a:tcPr marL="45720" marR="45720" anchor="ctr">
                    <a:lnL w="9525" cap="flat" cmpd="sng" algn="ctr">
                      <a:solidFill>
                        <a:srgbClr val="9DB8D6"/>
                      </a:solidFill>
                      <a:prstDash val="solid"/>
                      <a:round/>
                      <a:headEnd type="none" w="med" len="med"/>
                      <a:tailEnd type="none" w="med" len="med"/>
                    </a:lnL>
                    <a:lnR w="9525" cap="flat" cmpd="sng" algn="ctr">
                      <a:solidFill>
                        <a:srgbClr val="9DB8D6"/>
                      </a:solidFill>
                      <a:prstDash val="solid"/>
                      <a:round/>
                      <a:headEnd type="none" w="med" len="med"/>
                      <a:tailEnd type="none" w="med" len="med"/>
                    </a:lnR>
                    <a:lnT w="9525" cap="flat" cmpd="sng" algn="ctr">
                      <a:solidFill>
                        <a:srgbClr val="9DB8D6"/>
                      </a:solidFill>
                      <a:prstDash val="solid"/>
                      <a:round/>
                      <a:headEnd type="none" w="med" len="med"/>
                      <a:tailEnd type="none" w="med" len="med"/>
                    </a:lnT>
                    <a:lnB w="9525" cap="flat" cmpd="sng" algn="ctr">
                      <a:solidFill>
                        <a:srgbClr val="9DB8D6"/>
                      </a:solidFill>
                      <a:prstDash val="solid"/>
                      <a:round/>
                      <a:headEnd type="none" w="med" len="med"/>
                      <a:tailEnd type="none" w="med" len="med"/>
                    </a:lnB>
                    <a:solidFill>
                      <a:srgbClr val="1B4F8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45720" marR="45720" anchor="ctr">
                    <a:lnL w="9525" cap="flat" cmpd="sng" algn="ctr">
                      <a:solidFill>
                        <a:srgbClr val="9DB8D6"/>
                      </a:solidFill>
                      <a:prstDash val="solid"/>
                      <a:round/>
                      <a:headEnd type="none" w="med" len="med"/>
                      <a:tailEnd type="none" w="med" len="med"/>
                    </a:lnL>
                    <a:lnR w="9525" cap="flat" cmpd="sng" algn="ctr">
                      <a:solidFill>
                        <a:srgbClr val="9DB8D6"/>
                      </a:solidFill>
                      <a:prstDash val="solid"/>
                      <a:round/>
                      <a:headEnd type="none" w="med" len="med"/>
                      <a:tailEnd type="none" w="med" len="med"/>
                    </a:lnR>
                    <a:lnT w="9525" cap="flat" cmpd="sng" algn="ctr">
                      <a:solidFill>
                        <a:srgbClr val="9DB8D6"/>
                      </a:solidFill>
                      <a:prstDash val="solid"/>
                      <a:round/>
                      <a:headEnd type="none" w="med" len="med"/>
                      <a:tailEnd type="none" w="med" len="med"/>
                    </a:lnT>
                    <a:lnB w="9525" cap="flat" cmpd="sng" algn="ctr">
                      <a:solidFill>
                        <a:srgbClr val="9DB8D6"/>
                      </a:solidFill>
                      <a:prstDash val="solid"/>
                      <a:round/>
                      <a:headEnd type="none" w="med" len="med"/>
                      <a:tailEnd type="none" w="med" len="med"/>
                    </a:lnB>
                    <a:solidFill>
                      <a:srgbClr val="1B4F8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B</a:t>
                      </a:r>
                      <a:endParaRPr lang="en-US" sz="1200" dirty="0">
                        <a:latin typeface="Calibri" charset="0"/>
                        <a:ea typeface="Calibri" charset="0"/>
                        <a:cs typeface="Calibri" charset="0"/>
                      </a:endParaRPr>
                    </a:p>
                  </a:txBody>
                  <a:tcPr marL="45720" marR="45720" anchor="ctr">
                    <a:lnL w="9525" cap="flat" cmpd="sng" algn="ctr">
                      <a:solidFill>
                        <a:srgbClr val="9DB8D6"/>
                      </a:solidFill>
                      <a:prstDash val="solid"/>
                      <a:round/>
                      <a:headEnd type="none" w="med" len="med"/>
                      <a:tailEnd type="none" w="med" len="med"/>
                    </a:lnL>
                    <a:lnR w="9525" cap="flat" cmpd="sng" algn="ctr">
                      <a:solidFill>
                        <a:srgbClr val="9DB8D6"/>
                      </a:solidFill>
                      <a:prstDash val="solid"/>
                      <a:round/>
                      <a:headEnd type="none" w="med" len="med"/>
                      <a:tailEnd type="none" w="med" len="med"/>
                    </a:lnR>
                    <a:lnT w="9525" cap="flat" cmpd="sng" algn="ctr">
                      <a:solidFill>
                        <a:srgbClr val="9DB8D6"/>
                      </a:solidFill>
                      <a:prstDash val="solid"/>
                      <a:round/>
                      <a:headEnd type="none" w="med" len="med"/>
                      <a:tailEnd type="none" w="med" len="med"/>
                    </a:lnT>
                    <a:lnB w="9525" cap="flat" cmpd="sng" algn="ctr">
                      <a:solidFill>
                        <a:srgbClr val="9DB8D6"/>
                      </a:solidFill>
                      <a:prstDash val="solid"/>
                      <a:round/>
                      <a:headEnd type="none" w="med" len="med"/>
                      <a:tailEnd type="none" w="med" len="med"/>
                    </a:lnB>
                    <a:solidFill>
                      <a:srgbClr val="1B4F8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45720" marR="45720" anchor="ctr">
                    <a:lnL w="9525" cap="flat" cmpd="sng" algn="ctr">
                      <a:solidFill>
                        <a:srgbClr val="9DB8D6"/>
                      </a:solidFill>
                      <a:prstDash val="solid"/>
                      <a:round/>
                      <a:headEnd type="none" w="med" len="med"/>
                      <a:tailEnd type="none" w="med" len="med"/>
                    </a:lnL>
                    <a:lnR w="9525" cap="flat" cmpd="sng" algn="ctr">
                      <a:solidFill>
                        <a:srgbClr val="9DB8D6"/>
                      </a:solidFill>
                      <a:prstDash val="solid"/>
                      <a:round/>
                      <a:headEnd type="none" w="med" len="med"/>
                      <a:tailEnd type="none" w="med" len="med"/>
                    </a:lnR>
                    <a:lnT w="9525" cap="flat" cmpd="sng" algn="ctr">
                      <a:solidFill>
                        <a:srgbClr val="9DB8D6"/>
                      </a:solidFill>
                      <a:prstDash val="solid"/>
                      <a:round/>
                      <a:headEnd type="none" w="med" len="med"/>
                      <a:tailEnd type="none" w="med" len="med"/>
                    </a:lnT>
                    <a:lnB w="9525" cap="flat" cmpd="sng" algn="ctr">
                      <a:solidFill>
                        <a:srgbClr val="9DB8D6"/>
                      </a:solidFill>
                      <a:prstDash val="solid"/>
                      <a:round/>
                      <a:headEnd type="none" w="med" len="med"/>
                      <a:tailEnd type="none" w="med" len="med"/>
                    </a:lnB>
                    <a:solidFill>
                      <a:srgbClr val="1B4F8F"/>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B2B24"/>
                          </a:solidFill>
                          <a:latin typeface="Calibri" pitchFamily="34" charset="0"/>
                          <a:ea typeface="Calibri" pitchFamily="34" charset="-122"/>
                          <a:cs typeface="Calibri" pitchFamily="34" charset="-120"/>
                        </a:rPr>
                        <a:t>Value for Name</a:t>
                      </a:r>
                      <a:endParaRPr lang="en-US" sz="1200" dirty="0">
                        <a:latin typeface="Calibri" charset="0"/>
                        <a:ea typeface="Calibri" charset="0"/>
                        <a:cs typeface="Calibri" charset="0"/>
                      </a:endParaRPr>
                    </a:p>
                  </a:txBody>
                  <a:tcPr marL="45720" marR="45720" anchor="ctr">
                    <a:lnL w="9525" cap="flat" cmpd="sng" algn="ctr">
                      <a:solidFill>
                        <a:srgbClr val="9DB8D6"/>
                      </a:solidFill>
                      <a:prstDash val="solid"/>
                      <a:round/>
                      <a:headEnd type="none" w="med" len="med"/>
                      <a:tailEnd type="none" w="med" len="med"/>
                    </a:lnL>
                    <a:lnR w="9525" cap="flat" cmpd="sng" algn="ctr">
                      <a:solidFill>
                        <a:srgbClr val="9DB8D6"/>
                      </a:solidFill>
                      <a:prstDash val="solid"/>
                      <a:round/>
                      <a:headEnd type="none" w="med" len="med"/>
                      <a:tailEnd type="none" w="med" len="med"/>
                    </a:lnR>
                    <a:lnT w="9525" cap="flat" cmpd="sng" algn="ctr">
                      <a:solidFill>
                        <a:srgbClr val="9DB8D6"/>
                      </a:solidFill>
                      <a:prstDash val="solid"/>
                      <a:round/>
                      <a:headEnd type="none" w="med" len="med"/>
                      <a:tailEnd type="none" w="med" len="med"/>
                    </a:lnT>
                    <a:lnB w="9525" cap="flat" cmpd="sng" algn="ctr">
                      <a:solidFill>
                        <a:srgbClr val="9DB8D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B24"/>
                          </a:solidFill>
                          <a:latin typeface="Calibri" pitchFamily="34" charset="0"/>
                          <a:ea typeface="Calibri" pitchFamily="34" charset="-122"/>
                          <a:cs typeface="Calibri" pitchFamily="34" charset="-120"/>
                        </a:rPr>
                        <a:t>Katy</a:t>
                      </a:r>
                      <a:endParaRPr lang="en-US" sz="1200" dirty="0">
                        <a:latin typeface="Calibri" charset="0"/>
                        <a:ea typeface="Calibri" charset="0"/>
                        <a:cs typeface="Calibri" charset="0"/>
                      </a:endParaRPr>
                    </a:p>
                  </a:txBody>
                  <a:tcPr marL="45720" marR="45720" anchor="ctr">
                    <a:lnL w="9525" cap="flat" cmpd="sng" algn="ctr">
                      <a:solidFill>
                        <a:srgbClr val="9DB8D6"/>
                      </a:solidFill>
                      <a:prstDash val="solid"/>
                      <a:round/>
                      <a:headEnd type="none" w="med" len="med"/>
                      <a:tailEnd type="none" w="med" len="med"/>
                    </a:lnL>
                    <a:lnR w="9525" cap="flat" cmpd="sng" algn="ctr">
                      <a:solidFill>
                        <a:srgbClr val="9DB8D6"/>
                      </a:solidFill>
                      <a:prstDash val="solid"/>
                      <a:round/>
                      <a:headEnd type="none" w="med" len="med"/>
                      <a:tailEnd type="none" w="med" len="med"/>
                    </a:lnR>
                    <a:lnT w="9525" cap="flat" cmpd="sng" algn="ctr">
                      <a:solidFill>
                        <a:srgbClr val="9DB8D6"/>
                      </a:solidFill>
                      <a:prstDash val="solid"/>
                      <a:round/>
                      <a:headEnd type="none" w="med" len="med"/>
                      <a:tailEnd type="none" w="med" len="med"/>
                    </a:lnT>
                    <a:lnB w="9525" cap="flat" cmpd="sng" algn="ctr">
                      <a:solidFill>
                        <a:srgbClr val="9DB8D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B24"/>
                          </a:solidFill>
                          <a:latin typeface="Calibri" pitchFamily="34" charset="0"/>
                          <a:ea typeface="Calibri" pitchFamily="34" charset="-122"/>
                          <a:cs typeface="Calibri" pitchFamily="34" charset="-120"/>
                        </a:rPr>
                        <a:t>Juan</a:t>
                      </a:r>
                      <a:endParaRPr lang="en-US" sz="1200" dirty="0">
                        <a:latin typeface="Calibri" charset="0"/>
                        <a:ea typeface="Calibri" charset="0"/>
                        <a:cs typeface="Calibri" charset="0"/>
                      </a:endParaRPr>
                    </a:p>
                  </a:txBody>
                  <a:tcPr marL="45720" marR="45720" anchor="ctr">
                    <a:lnL w="9525" cap="flat" cmpd="sng" algn="ctr">
                      <a:solidFill>
                        <a:srgbClr val="9DB8D6"/>
                      </a:solidFill>
                      <a:prstDash val="solid"/>
                      <a:round/>
                      <a:headEnd type="none" w="med" len="med"/>
                      <a:tailEnd type="none" w="med" len="med"/>
                    </a:lnL>
                    <a:lnR w="9525" cap="flat" cmpd="sng" algn="ctr">
                      <a:solidFill>
                        <a:srgbClr val="9DB8D6"/>
                      </a:solidFill>
                      <a:prstDash val="solid"/>
                      <a:round/>
                      <a:headEnd type="none" w="med" len="med"/>
                      <a:tailEnd type="none" w="med" len="med"/>
                    </a:lnR>
                    <a:lnT w="9525" cap="flat" cmpd="sng" algn="ctr">
                      <a:solidFill>
                        <a:srgbClr val="9DB8D6"/>
                      </a:solidFill>
                      <a:prstDash val="solid"/>
                      <a:round/>
                      <a:headEnd type="none" w="med" len="med"/>
                      <a:tailEnd type="none" w="med" len="med"/>
                    </a:lnT>
                    <a:lnB w="9525" cap="flat" cmpd="sng" algn="ctr">
                      <a:solidFill>
                        <a:srgbClr val="9DB8D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B24"/>
                          </a:solidFill>
                          <a:latin typeface="Calibri" pitchFamily="34" charset="0"/>
                          <a:ea typeface="Calibri" pitchFamily="34" charset="-122"/>
                          <a:cs typeface="Calibri" pitchFamily="34" charset="-120"/>
                        </a:rPr>
                        <a:t>Meena</a:t>
                      </a:r>
                      <a:endParaRPr lang="en-US" sz="1200" dirty="0">
                        <a:latin typeface="Calibri" charset="0"/>
                        <a:ea typeface="Calibri" charset="0"/>
                        <a:cs typeface="Calibri" charset="0"/>
                      </a:endParaRPr>
                    </a:p>
                  </a:txBody>
                  <a:tcPr marL="45720" marR="45720" anchor="ctr">
                    <a:lnL w="9525" cap="flat" cmpd="sng" algn="ctr">
                      <a:solidFill>
                        <a:srgbClr val="9DB8D6"/>
                      </a:solidFill>
                      <a:prstDash val="solid"/>
                      <a:round/>
                      <a:headEnd type="none" w="med" len="med"/>
                      <a:tailEnd type="none" w="med" len="med"/>
                    </a:lnL>
                    <a:lnR w="9525" cap="flat" cmpd="sng" algn="ctr">
                      <a:solidFill>
                        <a:srgbClr val="9DB8D6"/>
                      </a:solidFill>
                      <a:prstDash val="solid"/>
                      <a:round/>
                      <a:headEnd type="none" w="med" len="med"/>
                      <a:tailEnd type="none" w="med" len="med"/>
                    </a:lnR>
                    <a:lnT w="9525" cap="flat" cmpd="sng" algn="ctr">
                      <a:solidFill>
                        <a:srgbClr val="9DB8D6"/>
                      </a:solidFill>
                      <a:prstDash val="solid"/>
                      <a:round/>
                      <a:headEnd type="none" w="med" len="med"/>
                      <a:tailEnd type="none" w="med" len="med"/>
                    </a:lnT>
                    <a:lnB w="9525" cap="flat" cmpd="sng" algn="ctr">
                      <a:solidFill>
                        <a:srgbClr val="9DB8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B2B24"/>
                          </a:solidFill>
                          <a:latin typeface="Calibri" pitchFamily="34" charset="0"/>
                          <a:ea typeface="Calibri" pitchFamily="34" charset="-122"/>
                          <a:cs typeface="Calibri" pitchFamily="34" charset="-120"/>
                        </a:rPr>
                        <a:t>Value for Age</a:t>
                      </a:r>
                      <a:endParaRPr lang="en-US" sz="1200" dirty="0">
                        <a:latin typeface="Calibri" charset="0"/>
                        <a:ea typeface="Calibri" charset="0"/>
                        <a:cs typeface="Calibri" charset="0"/>
                      </a:endParaRPr>
                    </a:p>
                  </a:txBody>
                  <a:tcPr marL="45720" marR="45720" anchor="ctr">
                    <a:lnL w="9525" cap="flat" cmpd="sng" algn="ctr">
                      <a:solidFill>
                        <a:srgbClr val="9DB8D6"/>
                      </a:solidFill>
                      <a:prstDash val="solid"/>
                      <a:round/>
                      <a:headEnd type="none" w="med" len="med"/>
                      <a:tailEnd type="none" w="med" len="med"/>
                    </a:lnL>
                    <a:lnR w="9525" cap="flat" cmpd="sng" algn="ctr">
                      <a:solidFill>
                        <a:srgbClr val="9DB8D6"/>
                      </a:solidFill>
                      <a:prstDash val="solid"/>
                      <a:round/>
                      <a:headEnd type="none" w="med" len="med"/>
                      <a:tailEnd type="none" w="med" len="med"/>
                    </a:lnR>
                    <a:lnT w="9525" cap="flat" cmpd="sng" algn="ctr">
                      <a:solidFill>
                        <a:srgbClr val="9DB8D6"/>
                      </a:solidFill>
                      <a:prstDash val="solid"/>
                      <a:round/>
                      <a:headEnd type="none" w="med" len="med"/>
                      <a:tailEnd type="none" w="med" len="med"/>
                    </a:lnT>
                    <a:lnB w="9525" cap="flat" cmpd="sng" algn="ctr">
                      <a:solidFill>
                        <a:srgbClr val="9DB8D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B24"/>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45720" marR="45720" anchor="ctr">
                    <a:lnL w="9525" cap="flat" cmpd="sng" algn="ctr">
                      <a:solidFill>
                        <a:srgbClr val="9DB8D6"/>
                      </a:solidFill>
                      <a:prstDash val="solid"/>
                      <a:round/>
                      <a:headEnd type="none" w="med" len="med"/>
                      <a:tailEnd type="none" w="med" len="med"/>
                    </a:lnL>
                    <a:lnR w="9525" cap="flat" cmpd="sng" algn="ctr">
                      <a:solidFill>
                        <a:srgbClr val="9DB8D6"/>
                      </a:solidFill>
                      <a:prstDash val="solid"/>
                      <a:round/>
                      <a:headEnd type="none" w="med" len="med"/>
                      <a:tailEnd type="none" w="med" len="med"/>
                    </a:lnR>
                    <a:lnT w="9525" cap="flat" cmpd="sng" algn="ctr">
                      <a:solidFill>
                        <a:srgbClr val="9DB8D6"/>
                      </a:solidFill>
                      <a:prstDash val="solid"/>
                      <a:round/>
                      <a:headEnd type="none" w="med" len="med"/>
                      <a:tailEnd type="none" w="med" len="med"/>
                    </a:lnT>
                    <a:lnB w="9525" cap="flat" cmpd="sng" algn="ctr">
                      <a:solidFill>
                        <a:srgbClr val="9DB8D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B24"/>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45720" marR="45720" anchor="ctr">
                    <a:lnL w="9525" cap="flat" cmpd="sng" algn="ctr">
                      <a:solidFill>
                        <a:srgbClr val="9DB8D6"/>
                      </a:solidFill>
                      <a:prstDash val="solid"/>
                      <a:round/>
                      <a:headEnd type="none" w="med" len="med"/>
                      <a:tailEnd type="none" w="med" len="med"/>
                    </a:lnL>
                    <a:lnR w="9525" cap="flat" cmpd="sng" algn="ctr">
                      <a:solidFill>
                        <a:srgbClr val="9DB8D6"/>
                      </a:solidFill>
                      <a:prstDash val="solid"/>
                      <a:round/>
                      <a:headEnd type="none" w="med" len="med"/>
                      <a:tailEnd type="none" w="med" len="med"/>
                    </a:lnR>
                    <a:lnT w="9525" cap="flat" cmpd="sng" algn="ctr">
                      <a:solidFill>
                        <a:srgbClr val="9DB8D6"/>
                      </a:solidFill>
                      <a:prstDash val="solid"/>
                      <a:round/>
                      <a:headEnd type="none" w="med" len="med"/>
                      <a:tailEnd type="none" w="med" len="med"/>
                    </a:lnT>
                    <a:lnB w="9525" cap="flat" cmpd="sng" algn="ctr">
                      <a:solidFill>
                        <a:srgbClr val="9DB8D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B24"/>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45720" marR="45720" anchor="ctr">
                    <a:lnL w="9525" cap="flat" cmpd="sng" algn="ctr">
                      <a:solidFill>
                        <a:srgbClr val="9DB8D6"/>
                      </a:solidFill>
                      <a:prstDash val="solid"/>
                      <a:round/>
                      <a:headEnd type="none" w="med" len="med"/>
                      <a:tailEnd type="none" w="med" len="med"/>
                    </a:lnL>
                    <a:lnR w="9525" cap="flat" cmpd="sng" algn="ctr">
                      <a:solidFill>
                        <a:srgbClr val="9DB8D6"/>
                      </a:solidFill>
                      <a:prstDash val="solid"/>
                      <a:round/>
                      <a:headEnd type="none" w="med" len="med"/>
                      <a:tailEnd type="none" w="med" len="med"/>
                    </a:lnR>
                    <a:lnT w="9525" cap="flat" cmpd="sng" algn="ctr">
                      <a:solidFill>
                        <a:srgbClr val="9DB8D6"/>
                      </a:solidFill>
                      <a:prstDash val="solid"/>
                      <a:round/>
                      <a:headEnd type="none" w="med" len="med"/>
                      <a:tailEnd type="none" w="med" len="med"/>
                    </a:lnT>
                    <a:lnB w="9525" cap="flat" cmpd="sng" algn="ctr">
                      <a:solidFill>
                        <a:srgbClr val="9DB8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200" b="1" dirty="0">
                          <a:solidFill>
                            <a:srgbClr val="1B2B24"/>
                          </a:solidFill>
                          <a:latin typeface="Calibri" pitchFamily="34" charset="0"/>
                          <a:ea typeface="Calibri" pitchFamily="34" charset="-122"/>
                          <a:cs typeface="Calibri" pitchFamily="34" charset="-120"/>
                        </a:rPr>
                        <a:t>Happy birthday message</a:t>
                      </a:r>
                      <a:endParaRPr lang="en-US" sz="1200" dirty="0">
                        <a:latin typeface="Calibri" charset="0"/>
                        <a:ea typeface="Calibri" charset="0"/>
                        <a:cs typeface="Calibri" charset="0"/>
                      </a:endParaRPr>
                    </a:p>
                  </a:txBody>
                  <a:tcPr marL="45720" marR="45720" anchor="ctr">
                    <a:lnL w="9525" cap="flat" cmpd="sng" algn="ctr">
                      <a:solidFill>
                        <a:srgbClr val="9DB8D6"/>
                      </a:solidFill>
                      <a:prstDash val="solid"/>
                      <a:round/>
                      <a:headEnd type="none" w="med" len="med"/>
                      <a:tailEnd type="none" w="med" len="med"/>
                    </a:lnL>
                    <a:lnR w="9525" cap="flat" cmpd="sng" algn="ctr">
                      <a:solidFill>
                        <a:srgbClr val="9DB8D6"/>
                      </a:solidFill>
                      <a:prstDash val="solid"/>
                      <a:round/>
                      <a:headEnd type="none" w="med" len="med"/>
                      <a:tailEnd type="none" w="med" len="med"/>
                    </a:lnR>
                    <a:lnT w="9525" cap="flat" cmpd="sng" algn="ctr">
                      <a:solidFill>
                        <a:srgbClr val="9DB8D6"/>
                      </a:solidFill>
                      <a:prstDash val="solid"/>
                      <a:round/>
                      <a:headEnd type="none" w="med" len="med"/>
                      <a:tailEnd type="none" w="med" len="med"/>
                    </a:lnT>
                    <a:lnB w="9525" cap="flat" cmpd="sng" algn="ctr">
                      <a:solidFill>
                        <a:srgbClr val="9DB8D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B24"/>
                          </a:solidFill>
                          <a:latin typeface="Calibri" pitchFamily="34" charset="0"/>
                          <a:ea typeface="Calibri" pitchFamily="34" charset="-122"/>
                          <a:cs typeface="Calibri" pitchFamily="34" charset="-120"/>
                        </a:rPr>
                        <a:t>Happy Birthday, Katy!</a:t>
                      </a:r>
                      <a:endParaRPr lang="en-US" sz="1200" dirty="0">
                        <a:latin typeface="Calibri" charset="0"/>
                        <a:ea typeface="Calibri" charset="0"/>
                        <a:cs typeface="Calibri" charset="0"/>
                      </a:endParaRPr>
                    </a:p>
                    <a:p>
                      <a:pPr marL="0" indent="0" algn="ctr">
                        <a:buNone/>
                      </a:pPr>
                      <a:r>
                        <a:rPr lang="en-US" sz="1200" dirty="0">
                          <a:solidFill>
                            <a:srgbClr val="1B2B24"/>
                          </a:solidFill>
                          <a:latin typeface="Calibri" pitchFamily="34" charset="0"/>
                          <a:ea typeface="Calibri" pitchFamily="34" charset="-122"/>
                          <a:cs typeface="Calibri" pitchFamily="34" charset="-120"/>
                        </a:rPr>
                        <a:t>You are 9.</a:t>
                      </a:r>
                      <a:endParaRPr lang="en-US" sz="1200" dirty="0">
                        <a:latin typeface="Calibri" charset="0"/>
                        <a:ea typeface="Calibri" charset="0"/>
                        <a:cs typeface="Calibri" charset="0"/>
                      </a:endParaRPr>
                    </a:p>
                  </a:txBody>
                  <a:tcPr marL="45720" marR="45720" anchor="ctr">
                    <a:lnL w="9525" cap="flat" cmpd="sng" algn="ctr">
                      <a:solidFill>
                        <a:srgbClr val="9DB8D6"/>
                      </a:solidFill>
                      <a:prstDash val="solid"/>
                      <a:round/>
                      <a:headEnd type="none" w="med" len="med"/>
                      <a:tailEnd type="none" w="med" len="med"/>
                    </a:lnL>
                    <a:lnR w="9525" cap="flat" cmpd="sng" algn="ctr">
                      <a:solidFill>
                        <a:srgbClr val="9DB8D6"/>
                      </a:solidFill>
                      <a:prstDash val="solid"/>
                      <a:round/>
                      <a:headEnd type="none" w="med" len="med"/>
                      <a:tailEnd type="none" w="med" len="med"/>
                    </a:lnR>
                    <a:lnT w="9525" cap="flat" cmpd="sng" algn="ctr">
                      <a:solidFill>
                        <a:srgbClr val="9DB8D6"/>
                      </a:solidFill>
                      <a:prstDash val="solid"/>
                      <a:round/>
                      <a:headEnd type="none" w="med" len="med"/>
                      <a:tailEnd type="none" w="med" len="med"/>
                    </a:lnT>
                    <a:lnB w="9525" cap="flat" cmpd="sng" algn="ctr">
                      <a:solidFill>
                        <a:srgbClr val="9DB8D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B24"/>
                          </a:solidFill>
                          <a:latin typeface="Calibri" pitchFamily="34" charset="0"/>
                          <a:ea typeface="Calibri" pitchFamily="34" charset="-122"/>
                          <a:cs typeface="Calibri" pitchFamily="34" charset="-120"/>
                        </a:rPr>
                        <a:t>Happy Birthday, Juan!</a:t>
                      </a:r>
                      <a:endParaRPr lang="en-US" sz="1200" dirty="0">
                        <a:latin typeface="Calibri" charset="0"/>
                        <a:ea typeface="Calibri" charset="0"/>
                        <a:cs typeface="Calibri" charset="0"/>
                      </a:endParaRPr>
                    </a:p>
                    <a:p>
                      <a:pPr marL="0" indent="0" algn="ctr">
                        <a:buNone/>
                      </a:pPr>
                      <a:r>
                        <a:rPr lang="en-US" sz="1200" dirty="0">
                          <a:solidFill>
                            <a:srgbClr val="1B2B24"/>
                          </a:solidFill>
                          <a:latin typeface="Calibri" pitchFamily="34" charset="0"/>
                          <a:ea typeface="Calibri" pitchFamily="34" charset="-122"/>
                          <a:cs typeface="Calibri" pitchFamily="34" charset="-120"/>
                        </a:rPr>
                        <a:t>You are 10.</a:t>
                      </a:r>
                      <a:endParaRPr lang="en-US" sz="1200" dirty="0">
                        <a:latin typeface="Calibri" charset="0"/>
                        <a:ea typeface="Calibri" charset="0"/>
                        <a:cs typeface="Calibri" charset="0"/>
                      </a:endParaRPr>
                    </a:p>
                  </a:txBody>
                  <a:tcPr marL="45720" marR="45720" anchor="ctr">
                    <a:lnL w="9525" cap="flat" cmpd="sng" algn="ctr">
                      <a:solidFill>
                        <a:srgbClr val="9DB8D6"/>
                      </a:solidFill>
                      <a:prstDash val="solid"/>
                      <a:round/>
                      <a:headEnd type="none" w="med" len="med"/>
                      <a:tailEnd type="none" w="med" len="med"/>
                    </a:lnL>
                    <a:lnR w="9525" cap="flat" cmpd="sng" algn="ctr">
                      <a:solidFill>
                        <a:srgbClr val="9DB8D6"/>
                      </a:solidFill>
                      <a:prstDash val="solid"/>
                      <a:round/>
                      <a:headEnd type="none" w="med" len="med"/>
                      <a:tailEnd type="none" w="med" len="med"/>
                    </a:lnR>
                    <a:lnT w="9525" cap="flat" cmpd="sng" algn="ctr">
                      <a:solidFill>
                        <a:srgbClr val="9DB8D6"/>
                      </a:solidFill>
                      <a:prstDash val="solid"/>
                      <a:round/>
                      <a:headEnd type="none" w="med" len="med"/>
                      <a:tailEnd type="none" w="med" len="med"/>
                    </a:lnT>
                    <a:lnB w="9525" cap="flat" cmpd="sng" algn="ctr">
                      <a:solidFill>
                        <a:srgbClr val="9DB8D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B24"/>
                          </a:solidFill>
                          <a:latin typeface="Calibri" pitchFamily="34" charset="0"/>
                          <a:ea typeface="Calibri" pitchFamily="34" charset="-122"/>
                          <a:cs typeface="Calibri" pitchFamily="34" charset="-120"/>
                        </a:rPr>
                        <a:t>Happy Birthday, Meena!</a:t>
                      </a:r>
                      <a:endParaRPr lang="en-US" sz="1200" dirty="0">
                        <a:latin typeface="Calibri" charset="0"/>
                        <a:ea typeface="Calibri" charset="0"/>
                        <a:cs typeface="Calibri" charset="0"/>
                      </a:endParaRPr>
                    </a:p>
                    <a:p>
                      <a:pPr marL="0" indent="0" algn="ctr">
                        <a:buNone/>
                      </a:pPr>
                      <a:r>
                        <a:rPr lang="en-US" sz="1200" dirty="0">
                          <a:solidFill>
                            <a:srgbClr val="1B2B24"/>
                          </a:solidFill>
                          <a:latin typeface="Calibri" pitchFamily="34" charset="0"/>
                          <a:ea typeface="Calibri" pitchFamily="34" charset="-122"/>
                          <a:cs typeface="Calibri" pitchFamily="34" charset="-120"/>
                        </a:rPr>
                        <a:t>You are 9.</a:t>
                      </a:r>
                      <a:endParaRPr lang="en-US" sz="1200" dirty="0">
                        <a:latin typeface="Calibri" charset="0"/>
                        <a:ea typeface="Calibri" charset="0"/>
                        <a:cs typeface="Calibri" charset="0"/>
                      </a:endParaRPr>
                    </a:p>
                  </a:txBody>
                  <a:tcPr marL="45720" marR="45720" anchor="ctr">
                    <a:lnL w="9525" cap="flat" cmpd="sng" algn="ctr">
                      <a:solidFill>
                        <a:srgbClr val="9DB8D6"/>
                      </a:solidFill>
                      <a:prstDash val="solid"/>
                      <a:round/>
                      <a:headEnd type="none" w="med" len="med"/>
                      <a:tailEnd type="none" w="med" len="med"/>
                    </a:lnL>
                    <a:lnR w="9525" cap="flat" cmpd="sng" algn="ctr">
                      <a:solidFill>
                        <a:srgbClr val="9DB8D6"/>
                      </a:solidFill>
                      <a:prstDash val="solid"/>
                      <a:round/>
                      <a:headEnd type="none" w="med" len="med"/>
                      <a:tailEnd type="none" w="med" len="med"/>
                    </a:lnR>
                    <a:lnT w="9525" cap="flat" cmpd="sng" algn="ctr">
                      <a:solidFill>
                        <a:srgbClr val="9DB8D6"/>
                      </a:solidFill>
                      <a:prstDash val="solid"/>
                      <a:round/>
                      <a:headEnd type="none" w="med" len="med"/>
                      <a:tailEnd type="none" w="med" len="med"/>
                    </a:lnT>
                    <a:lnB w="9525" cap="flat" cmpd="sng" algn="ctr">
                      <a:solidFill>
                        <a:srgbClr val="9DB8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C6F66"/>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035040" cy="731520"/>
          </a:xfrm>
          <a:prstGeom prst="rect">
            <a:avLst/>
          </a:prstGeom>
          <a:noFill/>
          <a:ln/>
        </p:spPr>
        <p:txBody>
          <a:bodyPr wrap="square" lIns="0" tIns="0" rIns="0" bIns="0" rtlCol="0" anchor="ctr"/>
          <a:lstStyle/>
          <a:p>
            <a:pPr marL="0" indent="0" algn="l">
              <a:buNone/>
            </a:pPr>
            <a:r>
              <a:rPr lang="en-US" sz="3200" b="1" dirty="0">
                <a:solidFill>
                  <a:srgbClr val="1B4F8F"/>
                </a:solidFill>
                <a:latin typeface="Cambria" pitchFamily="34" charset="0"/>
                <a:ea typeface="Cambria" pitchFamily="34" charset="-122"/>
                <a:cs typeface="Cambria" pitchFamily="34" charset="-120"/>
              </a:rPr>
              <a:t>Challenge Question</a:t>
            </a:r>
            <a:endParaRPr lang="en-US" sz="3200" dirty="0"/>
          </a:p>
        </p:txBody>
      </p:sp>
      <p:sp>
        <p:nvSpPr>
          <p:cNvPr id="4" name="badge"/>
          <p:cNvSpPr/>
          <p:nvPr/>
        </p:nvSpPr>
        <p:spPr>
          <a:xfrm>
            <a:off x="6675120" y="411480"/>
            <a:ext cx="2011680" cy="365760"/>
          </a:xfrm>
          <a:prstGeom prst="roundRect">
            <a:avLst>
              <a:gd name="adj" fmla="val 50000"/>
            </a:avLst>
          </a:prstGeom>
          <a:solidFill>
            <a:srgbClr val="1B4F8F"/>
          </a:solidFill>
          <a:ln w="6350">
            <a:solidFill>
              <a:srgbClr val="1B4F8F"/>
            </a:solidFill>
            <a:prstDash val="solid"/>
          </a:ln>
        </p:spPr>
      </p:sp>
      <p:sp>
        <p:nvSpPr>
          <p:cNvPr id="5" name="Text 2"/>
          <p:cNvSpPr txBox="1"/>
          <p:nvPr/>
        </p:nvSpPr>
        <p:spPr>
          <a:xfrm>
            <a:off x="6675120" y="411480"/>
            <a:ext cx="20116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QUESTION 4</a:t>
            </a:r>
            <a:endParaRPr lang="en-US" sz="1100" dirty="0"/>
          </a:p>
        </p:txBody>
      </p:sp>
      <p:sp>
        <p:nvSpPr>
          <p:cNvPr id="6" name="question"/>
          <p:cNvSpPr/>
          <p:nvPr/>
        </p:nvSpPr>
        <p:spPr>
          <a:xfrm>
            <a:off x="457200" y="1280160"/>
            <a:ext cx="4206240" cy="1371600"/>
          </a:xfrm>
          <a:prstGeom prst="roundRect">
            <a:avLst>
              <a:gd name="adj" fmla="val 6667"/>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7" name="Text 4"/>
          <p:cNvSpPr txBox="1"/>
          <p:nvPr/>
        </p:nvSpPr>
        <p:spPr>
          <a:xfrm>
            <a:off x="685800" y="1280160"/>
            <a:ext cx="3749040" cy="1371600"/>
          </a:xfrm>
          <a:prstGeom prst="rect">
            <a:avLst/>
          </a:prstGeom>
          <a:noFill/>
          <a:ln/>
        </p:spPr>
        <p:txBody>
          <a:bodyPr wrap="square" lIns="0" tIns="0" rIns="0" bIns="0" rtlCol="0" anchor="ctr"/>
          <a:lstStyle/>
          <a:p>
            <a:pPr marL="0" indent="0">
              <a:buNone/>
            </a:pPr>
            <a:r>
              <a:rPr lang="en-US" sz="1700" b="1" dirty="0">
                <a:solidFill>
                  <a:srgbClr val="1B4F8F"/>
                </a:solidFill>
                <a:latin typeface="Calibri" pitchFamily="34" charset="0"/>
                <a:ea typeface="Calibri" pitchFamily="34" charset="-122"/>
                <a:cs typeface="Calibri" pitchFamily="34" charset="-120"/>
              </a:rPr>
              <a:t>If you wanted to add who the birthday card was from, why would you use a variable?</a:t>
            </a:r>
            <a:endParaRPr lang="en-US" sz="1700" dirty="0"/>
          </a:p>
        </p:txBody>
      </p:sp>
      <p:sp>
        <p:nvSpPr>
          <p:cNvPr id="8" name="answer"/>
          <p:cNvSpPr/>
          <p:nvPr/>
        </p:nvSpPr>
        <p:spPr>
          <a:xfrm>
            <a:off x="457200" y="2834640"/>
            <a:ext cx="4206240" cy="1691640"/>
          </a:xfrm>
          <a:prstGeom prst="roundRect">
            <a:avLst>
              <a:gd name="adj" fmla="val 5405"/>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9" name="Text 6"/>
          <p:cNvSpPr txBox="1"/>
          <p:nvPr/>
        </p:nvSpPr>
        <p:spPr>
          <a:xfrm>
            <a:off x="685800" y="2926080"/>
            <a:ext cx="3749040" cy="1508760"/>
          </a:xfrm>
          <a:prstGeom prst="rect">
            <a:avLst/>
          </a:prstGeom>
          <a:noFill/>
          <a:ln/>
        </p:spPr>
        <p:txBody>
          <a:bodyPr wrap="square" lIns="0" tIns="0" rIns="0" bIns="0" rtlCol="0" anchor="ctr"/>
          <a:lstStyle/>
          <a:p>
            <a:pPr marL="0" indent="0">
              <a:buNone/>
            </a:pPr>
            <a:r>
              <a:rPr lang="en-US" sz="1400" b="1" dirty="0">
                <a:solidFill>
                  <a:srgbClr val="2E7D4F"/>
                </a:solidFill>
                <a:latin typeface="Calibri" pitchFamily="34" charset="0"/>
                <a:ea typeface="Calibri" pitchFamily="34" charset="-122"/>
                <a:cs typeface="Calibri" pitchFamily="34" charset="-120"/>
              </a:rPr>
              <a:t>Answer</a:t>
            </a:r>
            <a:endParaRPr lang="en-US" sz="1400" dirty="0"/>
          </a:p>
          <a:p>
            <a:pPr marL="0" indent="0">
              <a:buNone/>
            </a:pPr>
            <a:r>
              <a:rPr lang="en-US" sz="1400" dirty="0">
                <a:solidFill>
                  <a:srgbClr val="1B2B24"/>
                </a:solidFill>
                <a:latin typeface="Calibri" pitchFamily="34" charset="0"/>
                <a:ea typeface="Calibri" pitchFamily="34" charset="-122"/>
                <a:cs typeface="Calibri" pitchFamily="34" charset="-120"/>
              </a:rPr>
              <a:t>The sender is different each time. A variable lets one program work for any sender: change the value once and use its name anywhere.</a:t>
            </a:r>
            <a:endParaRPr lang="en-US" sz="1400" dirty="0"/>
          </a:p>
        </p:txBody>
      </p:sp>
      <p:sp>
        <p:nvSpPr>
          <p:cNvPr id="10" name="var-card"/>
          <p:cNvSpPr/>
          <p:nvPr/>
        </p:nvSpPr>
        <p:spPr>
          <a:xfrm>
            <a:off x="5120640" y="1280160"/>
            <a:ext cx="3566160" cy="914400"/>
          </a:xfrm>
          <a:prstGeom prst="roundRect">
            <a:avLst>
              <a:gd name="adj" fmla="val 10000"/>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1" name="Text 8"/>
          <p:cNvSpPr txBox="1"/>
          <p:nvPr/>
        </p:nvSpPr>
        <p:spPr>
          <a:xfrm>
            <a:off x="5303520" y="1508760"/>
            <a:ext cx="1097280" cy="457200"/>
          </a:xfrm>
          <a:prstGeom prst="roundRect">
            <a:avLst>
              <a:gd name="adj" fmla="val 24000"/>
            </a:avLst>
          </a:prstGeom>
          <a:solidFill>
            <a:srgbClr val="8B5A2B"/>
          </a:solidFill>
          <a:ln w="6350">
            <a:solidFill>
              <a:srgbClr val="8B5A2B"/>
            </a:solidFill>
          </a:ln>
        </p:spPr>
        <p:txBody>
          <a:bodyPr wrap="square" lIns="508" tIns="508" rIns="508" bIns="508"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Name</a:t>
            </a:r>
            <a:endParaRPr lang="en-US" sz="1500" dirty="0"/>
          </a:p>
        </p:txBody>
      </p:sp>
      <p:sp>
        <p:nvSpPr>
          <p:cNvPr id="12" name="arrow"/>
          <p:cNvSpPr/>
          <p:nvPr/>
        </p:nvSpPr>
        <p:spPr>
          <a:xfrm>
            <a:off x="6492240" y="1572768"/>
            <a:ext cx="365760" cy="329184"/>
          </a:xfrm>
          <a:prstGeom prst="rightArrow">
            <a:avLst/>
          </a:prstGeom>
          <a:solidFill>
            <a:srgbClr val="F2B632"/>
          </a:solidFill>
          <a:ln w="6350">
            <a:solidFill>
              <a:srgbClr val="F2B632"/>
            </a:solidFill>
            <a:prstDash val="solid"/>
          </a:ln>
        </p:spPr>
      </p:sp>
      <p:sp>
        <p:nvSpPr>
          <p:cNvPr id="13" name="Text 10"/>
          <p:cNvSpPr txBox="1"/>
          <p:nvPr/>
        </p:nvSpPr>
        <p:spPr>
          <a:xfrm>
            <a:off x="6995160" y="1417320"/>
            <a:ext cx="1645920" cy="640080"/>
          </a:xfrm>
          <a:prstGeom prst="rect">
            <a:avLst/>
          </a:prstGeom>
          <a:noFill/>
          <a:ln/>
        </p:spPr>
        <p:txBody>
          <a:bodyPr wrap="square" lIns="0" tIns="0" rIns="0" bIns="0" rtlCol="0" anchor="ctr"/>
          <a:lstStyle/>
          <a:p>
            <a:pPr marL="0" indent="0">
              <a:buNone/>
            </a:pPr>
            <a:r>
              <a:rPr lang="en-US" sz="1600" b="1" dirty="0">
                <a:solidFill>
                  <a:srgbClr val="1F4D3A"/>
                </a:solidFill>
                <a:latin typeface="Calibri" pitchFamily="34" charset="0"/>
                <a:ea typeface="Calibri" pitchFamily="34" charset="-122"/>
                <a:cs typeface="Calibri" pitchFamily="34" charset="-120"/>
              </a:rPr>
              <a:t>Mike</a:t>
            </a:r>
            <a:endParaRPr lang="en-US" sz="1600" dirty="0"/>
          </a:p>
        </p:txBody>
      </p:sp>
      <p:sp>
        <p:nvSpPr>
          <p:cNvPr id="14" name="var-card"/>
          <p:cNvSpPr/>
          <p:nvPr/>
        </p:nvSpPr>
        <p:spPr>
          <a:xfrm>
            <a:off x="5120640" y="2377440"/>
            <a:ext cx="3566160" cy="914400"/>
          </a:xfrm>
          <a:prstGeom prst="roundRect">
            <a:avLst>
              <a:gd name="adj" fmla="val 10000"/>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5" name="Text 12"/>
          <p:cNvSpPr txBox="1"/>
          <p:nvPr/>
        </p:nvSpPr>
        <p:spPr>
          <a:xfrm>
            <a:off x="5303520" y="2606040"/>
            <a:ext cx="1097280" cy="457200"/>
          </a:xfrm>
          <a:prstGeom prst="roundRect">
            <a:avLst>
              <a:gd name="adj" fmla="val 24000"/>
            </a:avLst>
          </a:prstGeom>
          <a:solidFill>
            <a:srgbClr val="8B5A2B"/>
          </a:solidFill>
          <a:ln w="6350">
            <a:solidFill>
              <a:srgbClr val="8B5A2B"/>
            </a:solidFill>
          </a:ln>
        </p:spPr>
        <p:txBody>
          <a:bodyPr wrap="square" lIns="508" tIns="508" rIns="508" bIns="508"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Age</a:t>
            </a:r>
            <a:endParaRPr lang="en-US" sz="1500" dirty="0"/>
          </a:p>
        </p:txBody>
      </p:sp>
      <p:sp>
        <p:nvSpPr>
          <p:cNvPr id="16" name="arrow"/>
          <p:cNvSpPr/>
          <p:nvPr/>
        </p:nvSpPr>
        <p:spPr>
          <a:xfrm>
            <a:off x="6492240" y="2670048"/>
            <a:ext cx="365760" cy="329184"/>
          </a:xfrm>
          <a:prstGeom prst="rightArrow">
            <a:avLst/>
          </a:prstGeom>
          <a:solidFill>
            <a:srgbClr val="F2B632"/>
          </a:solidFill>
          <a:ln w="6350">
            <a:solidFill>
              <a:srgbClr val="F2B632"/>
            </a:solidFill>
            <a:prstDash val="solid"/>
          </a:ln>
        </p:spPr>
      </p:sp>
      <p:sp>
        <p:nvSpPr>
          <p:cNvPr id="17" name="Text 14"/>
          <p:cNvSpPr txBox="1"/>
          <p:nvPr/>
        </p:nvSpPr>
        <p:spPr>
          <a:xfrm>
            <a:off x="6995160" y="2514600"/>
            <a:ext cx="1645920" cy="640080"/>
          </a:xfrm>
          <a:prstGeom prst="rect">
            <a:avLst/>
          </a:prstGeom>
          <a:noFill/>
          <a:ln/>
        </p:spPr>
        <p:txBody>
          <a:bodyPr wrap="square" lIns="0" tIns="0" rIns="0" bIns="0" rtlCol="0" anchor="ctr"/>
          <a:lstStyle/>
          <a:p>
            <a:pPr marL="0" indent="0">
              <a:buNone/>
            </a:pPr>
            <a:r>
              <a:rPr lang="en-US" sz="1600" b="1" dirty="0">
                <a:solidFill>
                  <a:srgbClr val="1F4D3A"/>
                </a:solidFill>
                <a:latin typeface="Calibri" pitchFamily="34" charset="0"/>
                <a:ea typeface="Calibri" pitchFamily="34" charset="-122"/>
                <a:cs typeface="Calibri" pitchFamily="34" charset="-120"/>
              </a:rPr>
              <a:t>9</a:t>
            </a:r>
            <a:endParaRPr lang="en-US" sz="1600" dirty="0"/>
          </a:p>
        </p:txBody>
      </p:sp>
      <p:sp>
        <p:nvSpPr>
          <p:cNvPr id="18" name="var-card"/>
          <p:cNvSpPr/>
          <p:nvPr/>
        </p:nvSpPr>
        <p:spPr>
          <a:xfrm>
            <a:off x="5120640" y="3474720"/>
            <a:ext cx="3566160" cy="914400"/>
          </a:xfrm>
          <a:prstGeom prst="roundRect">
            <a:avLst>
              <a:gd name="adj" fmla="val 10000"/>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9" name="Text 16"/>
          <p:cNvSpPr txBox="1"/>
          <p:nvPr/>
        </p:nvSpPr>
        <p:spPr>
          <a:xfrm>
            <a:off x="5303520" y="3703320"/>
            <a:ext cx="1097280" cy="457200"/>
          </a:xfrm>
          <a:prstGeom prst="roundRect">
            <a:avLst>
              <a:gd name="adj" fmla="val 24000"/>
            </a:avLst>
          </a:prstGeom>
          <a:solidFill>
            <a:srgbClr val="8B5A2B"/>
          </a:solidFill>
          <a:ln w="6350">
            <a:solidFill>
              <a:srgbClr val="8B5A2B"/>
            </a:solidFill>
          </a:ln>
        </p:spPr>
        <p:txBody>
          <a:bodyPr wrap="square" lIns="508" tIns="508" rIns="508" bIns="508"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From</a:t>
            </a:r>
            <a:endParaRPr lang="en-US" sz="1500" dirty="0"/>
          </a:p>
        </p:txBody>
      </p:sp>
      <p:sp>
        <p:nvSpPr>
          <p:cNvPr id="20" name="arrow"/>
          <p:cNvSpPr/>
          <p:nvPr/>
        </p:nvSpPr>
        <p:spPr>
          <a:xfrm>
            <a:off x="6492240" y="3767328"/>
            <a:ext cx="365760" cy="329184"/>
          </a:xfrm>
          <a:prstGeom prst="rightArrow">
            <a:avLst/>
          </a:prstGeom>
          <a:solidFill>
            <a:srgbClr val="F2B632"/>
          </a:solidFill>
          <a:ln w="6350">
            <a:solidFill>
              <a:srgbClr val="F2B632"/>
            </a:solidFill>
            <a:prstDash val="solid"/>
          </a:ln>
        </p:spPr>
      </p:sp>
      <p:sp>
        <p:nvSpPr>
          <p:cNvPr id="21" name="Text 18"/>
          <p:cNvSpPr txBox="1"/>
          <p:nvPr/>
        </p:nvSpPr>
        <p:spPr>
          <a:xfrm>
            <a:off x="6995160" y="3611880"/>
            <a:ext cx="1645920" cy="640080"/>
          </a:xfrm>
          <a:prstGeom prst="rect">
            <a:avLst/>
          </a:prstGeom>
          <a:noFill/>
          <a:ln/>
        </p:spPr>
        <p:txBody>
          <a:bodyPr wrap="square" lIns="0" tIns="0" rIns="0" bIns="0" rtlCol="0" anchor="ctr"/>
          <a:lstStyle/>
          <a:p>
            <a:pPr marL="0" indent="0">
              <a:buNone/>
            </a:pPr>
            <a:r>
              <a:rPr lang="en-US" sz="1600" b="1" dirty="0">
                <a:solidFill>
                  <a:srgbClr val="1F4D3A"/>
                </a:solidFill>
                <a:latin typeface="Calibri" pitchFamily="34" charset="0"/>
                <a:ea typeface="Calibri" pitchFamily="34" charset="-122"/>
                <a:cs typeface="Calibri" pitchFamily="34" charset="-120"/>
              </a:rPr>
              <a:t>Sofia (example)</a:t>
            </a:r>
            <a:endParaRPr lang="en-US" sz="1600" dirty="0"/>
          </a:p>
        </p:txBody>
      </p:sp>
      <p:sp>
        <p:nvSpPr>
          <p:cNvPr id="22" name="Text 19"/>
          <p:cNvSpPr txBox="1"/>
          <p:nvPr/>
        </p:nvSpPr>
        <p:spPr>
          <a:xfrm>
            <a:off x="5120640" y="4572000"/>
            <a:ext cx="3566160" cy="274320"/>
          </a:xfrm>
          <a:prstGeom prst="rect">
            <a:avLst/>
          </a:prstGeom>
          <a:noFill/>
          <a:ln/>
        </p:spPr>
        <p:txBody>
          <a:bodyPr wrap="square" lIns="0" tIns="0" rIns="0" bIns="0" rtlCol="0" anchor="t"/>
          <a:lstStyle/>
          <a:p>
            <a:pPr marL="0" indent="0">
              <a:buNone/>
            </a:pPr>
            <a:r>
              <a:rPr lang="en-US" sz="1200" i="1" dirty="0">
                <a:solidFill>
                  <a:srgbClr val="5C6F66"/>
                </a:solidFill>
                <a:latin typeface="Calibri" pitchFamily="34" charset="0"/>
                <a:ea typeface="Calibri" pitchFamily="34" charset="-122"/>
                <a:cs typeface="Calibri" pitchFamily="34" charset="-120"/>
              </a:rPr>
              <a:t>One variable per changing value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C6F66"/>
                </a:solidFill>
                <a:latin typeface="Calibri"/>
                <a:ea typeface="Calibri"/>
                <a:cs typeface="Calibr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rgbClr val="1F4D3A"/>
                </a:solidFill>
                <a:latin typeface="Cambria" pitchFamily="34" charset="0"/>
                <a:ea typeface="Cambria" pitchFamily="34" charset="-122"/>
                <a:cs typeface="Cambria" pitchFamily="34" charset="-120"/>
              </a:rPr>
              <a:t>Marcus's Shopping Program</a:t>
            </a:r>
            <a:endParaRPr lang="en-US" sz="3200" dirty="0"/>
          </a:p>
        </p:txBody>
      </p:sp>
      <p:sp>
        <p:nvSpPr>
          <p:cNvPr id="4" name="frame-phone"/>
          <p:cNvSpPr/>
          <p:nvPr/>
        </p:nvSpPr>
        <p:spPr>
          <a:xfrm>
            <a:off x="566928" y="1298448"/>
            <a:ext cx="2889504" cy="2475436"/>
          </a:xfrm>
          <a:prstGeom prst="roundRect">
            <a:avLst>
              <a:gd name="adj" fmla="val 3694"/>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pic>
        <p:nvPicPr>
          <p:cNvPr id="5" name="Image 0" descr="A phone showing an online grocery app"/>
          <p:cNvPicPr>
            <a:picLocks noChangeAspect="1"/>
          </p:cNvPicPr>
          <p:nvPr/>
        </p:nvPicPr>
        <p:blipFill>
          <a:blip r:embed="rId3"/>
          <a:stretch>
            <a:fillRect/>
          </a:stretch>
        </p:blipFill>
        <p:spPr>
          <a:xfrm>
            <a:off x="640080" y="1371600"/>
            <a:ext cx="2743200" cy="2329132"/>
          </a:xfrm>
          <a:prstGeom prst="rect">
            <a:avLst/>
          </a:prstGeom>
        </p:spPr>
      </p:pic>
      <p:sp>
        <p:nvSpPr>
          <p:cNvPr id="6" name="idea"/>
          <p:cNvSpPr/>
          <p:nvPr/>
        </p:nvSpPr>
        <p:spPr>
          <a:xfrm>
            <a:off x="4023360" y="1280160"/>
            <a:ext cx="4663440" cy="1371600"/>
          </a:xfrm>
          <a:prstGeom prst="roundRect">
            <a:avLst>
              <a:gd name="adj" fmla="val 6667"/>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7" name="Text 3"/>
          <p:cNvSpPr txBox="1"/>
          <p:nvPr/>
        </p:nvSpPr>
        <p:spPr>
          <a:xfrm>
            <a:off x="4206240" y="1325880"/>
            <a:ext cx="4297680" cy="1280160"/>
          </a:xfrm>
          <a:prstGeom prst="rect">
            <a:avLst/>
          </a:prstGeom>
          <a:noFill/>
          <a:ln/>
        </p:spPr>
        <p:txBody>
          <a:bodyPr wrap="square" lIns="0" tIns="0" rIns="0" bIns="0" rtlCol="0" anchor="ctr"/>
          <a:lstStyle/>
          <a:p>
            <a:pPr marL="0" indent="0">
              <a:buNone/>
            </a:pPr>
            <a:r>
              <a:rPr lang="en-US" sz="1500" b="1" dirty="0">
                <a:solidFill>
                  <a:srgbClr val="2E7D4F"/>
                </a:solidFill>
                <a:latin typeface="Calibri" pitchFamily="34" charset="0"/>
                <a:ea typeface="Calibri" pitchFamily="34" charset="-122"/>
                <a:cs typeface="Calibri" pitchFamily="34" charset="-120"/>
              </a:rPr>
              <a:t>The idea</a:t>
            </a:r>
            <a:endParaRPr lang="en-US" sz="1500" dirty="0"/>
          </a:p>
          <a:p>
            <a:pPr marL="0" indent="0">
              <a:buNone/>
            </a:pPr>
            <a:r>
              <a:rPr lang="en-US" sz="1500" dirty="0">
                <a:solidFill>
                  <a:srgbClr val="1B2B24"/>
                </a:solidFill>
                <a:latin typeface="Calibri" pitchFamily="34" charset="0"/>
                <a:ea typeface="Calibri" pitchFamily="34" charset="-122"/>
                <a:cs typeface="Calibri" pitchFamily="34" charset="-120"/>
              </a:rPr>
              <a:t>Marcus stores his favourite items in variables, so shopping is quicker each time.</a:t>
            </a:r>
            <a:endParaRPr lang="en-US" sz="1500" dirty="0"/>
          </a:p>
        </p:txBody>
      </p:sp>
      <p:sp>
        <p:nvSpPr>
          <p:cNvPr id="8" name="frame-crate"/>
          <p:cNvSpPr/>
          <p:nvPr/>
        </p:nvSpPr>
        <p:spPr>
          <a:xfrm>
            <a:off x="4133088" y="2852928"/>
            <a:ext cx="2157984" cy="1522717"/>
          </a:xfrm>
          <a:prstGeom prst="roundRect">
            <a:avLst>
              <a:gd name="adj" fmla="val 6005"/>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pic>
        <p:nvPicPr>
          <p:cNvPr id="9" name="Image 1" descr="Box labelled MyFavouriteVegetable"/>
          <p:cNvPicPr>
            <a:picLocks noChangeAspect="1"/>
          </p:cNvPicPr>
          <p:nvPr/>
        </p:nvPicPr>
        <p:blipFill>
          <a:blip r:embed="rId4"/>
          <a:stretch>
            <a:fillRect/>
          </a:stretch>
        </p:blipFill>
        <p:spPr>
          <a:xfrm>
            <a:off x="4206240" y="2926080"/>
            <a:ext cx="2011680" cy="1376413"/>
          </a:xfrm>
          <a:prstGeom prst="rect">
            <a:avLst/>
          </a:prstGeom>
        </p:spPr>
      </p:pic>
      <p:sp>
        <p:nvSpPr>
          <p:cNvPr id="10" name="name"/>
          <p:cNvSpPr/>
          <p:nvPr/>
        </p:nvSpPr>
        <p:spPr>
          <a:xfrm>
            <a:off x="6675120" y="2834640"/>
            <a:ext cx="2011680" cy="1691640"/>
          </a:xfrm>
          <a:prstGeom prst="roundRect">
            <a:avLst>
              <a:gd name="adj" fmla="val 5405"/>
            </a:avLst>
          </a:prstGeom>
          <a:solidFill>
            <a:srgbClr val="EAF4EC"/>
          </a:solidFill>
          <a:ln w="9525">
            <a:solidFill>
              <a:srgbClr val="EAF4EC"/>
            </a:solidFill>
            <a:prstDash val="solid"/>
          </a:ln>
          <a:effectLst>
            <a:outerShdw blurRad="76200" dist="25400" dir="5400000" algn="bl" rotWithShape="0">
              <a:srgbClr val="000000">
                <a:alpha val="14000"/>
              </a:srgbClr>
            </a:outerShdw>
          </a:effectLst>
        </p:spPr>
      </p:sp>
      <p:sp>
        <p:nvSpPr>
          <p:cNvPr id="11" name="Text 6"/>
          <p:cNvSpPr txBox="1"/>
          <p:nvPr/>
        </p:nvSpPr>
        <p:spPr>
          <a:xfrm>
            <a:off x="6812280" y="2880360"/>
            <a:ext cx="1737360" cy="1600200"/>
          </a:xfrm>
          <a:prstGeom prst="rect">
            <a:avLst/>
          </a:prstGeom>
          <a:noFill/>
          <a:ln/>
        </p:spPr>
        <p:txBody>
          <a:bodyPr wrap="square" lIns="0" tIns="0" rIns="0" bIns="0" rtlCol="0" anchor="ctr"/>
          <a:lstStyle/>
          <a:p>
            <a:pPr marL="0" indent="0">
              <a:buNone/>
            </a:pPr>
            <a:r>
              <a:rPr lang="en-US" sz="1300" b="1" dirty="0">
                <a:solidFill>
                  <a:srgbClr val="1F4D3A"/>
                </a:solidFill>
                <a:latin typeface="Calibri" pitchFamily="34" charset="0"/>
                <a:ea typeface="Calibri" pitchFamily="34" charset="-122"/>
                <a:cs typeface="Calibri" pitchFamily="34" charset="-120"/>
              </a:rPr>
              <a:t>Variable name</a:t>
            </a:r>
            <a:endParaRPr lang="en-US" sz="1300" dirty="0"/>
          </a:p>
          <a:p>
            <a:pPr marL="0" indent="0">
              <a:buNone/>
            </a:pPr>
            <a:r>
              <a:rPr lang="en-US" sz="1300" dirty="0">
                <a:solidFill>
                  <a:srgbClr val="1B2B24"/>
                </a:solidFill>
                <a:latin typeface="Calibri" pitchFamily="34" charset="0"/>
                <a:ea typeface="Calibri" pitchFamily="34" charset="-122"/>
                <a:cs typeface="Calibri" pitchFamily="34" charset="-120"/>
              </a:rPr>
              <a:t>MyFavouriteVegetable tells us exactly what is inside.</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C6F66"/>
                </a:solidFill>
                <a:latin typeface="Calibri"/>
                <a:ea typeface="Calibri"/>
                <a:cs typeface="Calibri"/>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rgbClr val="1F4D3A"/>
                </a:solidFill>
                <a:latin typeface="Cambria" pitchFamily="34" charset="0"/>
                <a:ea typeface="Cambria" pitchFamily="34" charset="-122"/>
                <a:cs typeface="Cambria" pitchFamily="34" charset="-120"/>
              </a:rPr>
              <a:t>Assigning a Text Value</a:t>
            </a:r>
            <a:endParaRPr lang="en-US" sz="3200" dirty="0"/>
          </a:p>
        </p:txBody>
      </p:sp>
      <p:sp>
        <p:nvSpPr>
          <p:cNvPr id="4" name="code-block"/>
          <p:cNvSpPr/>
          <p:nvPr/>
        </p:nvSpPr>
        <p:spPr>
          <a:xfrm>
            <a:off x="457200" y="1280160"/>
            <a:ext cx="8229600" cy="731520"/>
          </a:xfrm>
          <a:prstGeom prst="roundRect">
            <a:avLst>
              <a:gd name="adj" fmla="val 12500"/>
            </a:avLst>
          </a:prstGeom>
          <a:solidFill>
            <a:srgbClr val="1F2D2A"/>
          </a:solidFill>
          <a:ln w="9525">
            <a:solidFill>
              <a:srgbClr val="1F2D2A"/>
            </a:solidFill>
            <a:prstDash val="solid"/>
          </a:ln>
          <a:effectLst>
            <a:outerShdw blurRad="76200" dist="25400" dir="5400000" algn="bl" rotWithShape="0">
              <a:srgbClr val="000000">
                <a:alpha val="14000"/>
              </a:srgbClr>
            </a:outerShdw>
          </a:effectLst>
        </p:spPr>
      </p:sp>
      <p:sp>
        <p:nvSpPr>
          <p:cNvPr id="5" name="Text 2"/>
          <p:cNvSpPr txBox="1"/>
          <p:nvPr/>
        </p:nvSpPr>
        <p:spPr>
          <a:xfrm>
            <a:off x="685800" y="1389888"/>
            <a:ext cx="7772400" cy="512064"/>
          </a:xfrm>
          <a:prstGeom prst="rect">
            <a:avLst/>
          </a:prstGeom>
          <a:noFill/>
          <a:ln/>
        </p:spPr>
        <p:txBody>
          <a:bodyPr wrap="square" lIns="0" tIns="0" rIns="0" bIns="0" rtlCol="0" anchor="ctr"/>
          <a:lstStyle/>
          <a:p>
            <a:pPr marL="0" indent="0">
              <a:lnSpc>
                <a:spcPct val="115000"/>
              </a:lnSpc>
              <a:buNone/>
            </a:pPr>
            <a:r>
              <a:rPr lang="en-US" sz="1900" dirty="0">
                <a:solidFill>
                  <a:srgbClr val="FFFFFF"/>
                </a:solidFill>
                <a:latin typeface="Courier New" pitchFamily="34" charset="0"/>
                <a:ea typeface="Courier New" pitchFamily="34" charset="-122"/>
                <a:cs typeface="Courier New" pitchFamily="34" charset="-120"/>
              </a:rPr>
              <a:t>set </a:t>
            </a:r>
            <a:r>
              <a:rPr lang="en-US" sz="1900" b="1" dirty="0">
                <a:solidFill>
                  <a:srgbClr val="F2B632"/>
                </a:solidFill>
                <a:latin typeface="Courier New" pitchFamily="34" charset="0"/>
                <a:ea typeface="Courier New" pitchFamily="34" charset="-122"/>
                <a:cs typeface="Courier New" pitchFamily="34" charset="-120"/>
              </a:rPr>
              <a:t>MyFavouriteVegetable</a:t>
            </a:r>
            <a:r>
              <a:rPr lang="en-US" sz="1900" dirty="0">
                <a:solidFill>
                  <a:srgbClr val="FFFFFF"/>
                </a:solidFill>
                <a:latin typeface="Courier New" pitchFamily="34" charset="0"/>
                <a:ea typeface="Courier New" pitchFamily="34" charset="-122"/>
                <a:cs typeface="Courier New" pitchFamily="34" charset="-120"/>
              </a:rPr>
              <a:t> to </a:t>
            </a:r>
            <a:r>
              <a:rPr lang="en-US" sz="1900" b="1" dirty="0">
                <a:solidFill>
                  <a:srgbClr val="F2B632"/>
                </a:solidFill>
                <a:latin typeface="Courier New" pitchFamily="34" charset="0"/>
                <a:ea typeface="Courier New" pitchFamily="34" charset="-122"/>
                <a:cs typeface="Courier New" pitchFamily="34" charset="-120"/>
              </a:rPr>
              <a:t>broccoli</a:t>
            </a:r>
            <a:endParaRPr lang="en-US" sz="1400" dirty="0"/>
          </a:p>
        </p:txBody>
      </p:sp>
      <p:sp>
        <p:nvSpPr>
          <p:cNvPr id="6" name="Text 3"/>
          <p:cNvSpPr txBox="1"/>
          <p:nvPr/>
        </p:nvSpPr>
        <p:spPr>
          <a:xfrm>
            <a:off x="457200" y="2286000"/>
            <a:ext cx="2468880" cy="411480"/>
          </a:xfrm>
          <a:prstGeom prst="roundRect">
            <a:avLst>
              <a:gd name="adj" fmla="val 26667"/>
            </a:avLst>
          </a:prstGeom>
          <a:solidFill>
            <a:srgbClr val="1F4D3A"/>
          </a:solidFill>
          <a:ln w="6350">
            <a:solidFill>
              <a:srgbClr val="1F4D3A"/>
            </a:solidFill>
          </a:ln>
        </p:spPr>
        <p:txBody>
          <a:bodyPr wrap="square" lIns="508" tIns="508" rIns="508" bIns="508"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set = the command</a:t>
            </a:r>
            <a:endParaRPr lang="en-US" sz="1400" dirty="0"/>
          </a:p>
        </p:txBody>
      </p:sp>
      <p:sp>
        <p:nvSpPr>
          <p:cNvPr id="7" name="Text 4"/>
          <p:cNvSpPr txBox="1"/>
          <p:nvPr/>
        </p:nvSpPr>
        <p:spPr>
          <a:xfrm>
            <a:off x="3108960" y="2286000"/>
            <a:ext cx="3291840" cy="411480"/>
          </a:xfrm>
          <a:prstGeom prst="roundRect">
            <a:avLst>
              <a:gd name="adj" fmla="val 26667"/>
            </a:avLst>
          </a:prstGeom>
          <a:solidFill>
            <a:srgbClr val="8B5A2B"/>
          </a:solidFill>
          <a:ln w="6350">
            <a:solidFill>
              <a:srgbClr val="8B5A2B"/>
            </a:solidFill>
          </a:ln>
        </p:spPr>
        <p:txBody>
          <a:bodyPr wrap="square" lIns="508" tIns="508" rIns="508" bIns="508"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MyFavouriteVegetable = the variable</a:t>
            </a:r>
            <a:endParaRPr lang="en-US" sz="1400" dirty="0"/>
          </a:p>
        </p:txBody>
      </p:sp>
      <p:sp>
        <p:nvSpPr>
          <p:cNvPr id="8" name="Text 5"/>
          <p:cNvSpPr txBox="1"/>
          <p:nvPr/>
        </p:nvSpPr>
        <p:spPr>
          <a:xfrm>
            <a:off x="6583680" y="2286000"/>
            <a:ext cx="2103120" cy="411480"/>
          </a:xfrm>
          <a:prstGeom prst="roundRect">
            <a:avLst>
              <a:gd name="adj" fmla="val 26667"/>
            </a:avLst>
          </a:prstGeom>
          <a:solidFill>
            <a:srgbClr val="2E7D4F"/>
          </a:solidFill>
          <a:ln w="6350">
            <a:solidFill>
              <a:srgbClr val="2E7D4F"/>
            </a:solidFill>
          </a:ln>
        </p:spPr>
        <p:txBody>
          <a:bodyPr wrap="square" lIns="508" tIns="508" rIns="508" bIns="508"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broccoli = the value</a:t>
            </a:r>
            <a:endParaRPr lang="en-US" sz="1400" dirty="0"/>
          </a:p>
        </p:txBody>
      </p:sp>
      <p:sp>
        <p:nvSpPr>
          <p:cNvPr id="9" name="frame-marcusbroc"/>
          <p:cNvSpPr/>
          <p:nvPr/>
        </p:nvSpPr>
        <p:spPr>
          <a:xfrm>
            <a:off x="566928" y="2898648"/>
            <a:ext cx="3986784" cy="2141359"/>
          </a:xfrm>
          <a:prstGeom prst="roundRect">
            <a:avLst>
              <a:gd name="adj" fmla="val 4270"/>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pic>
        <p:nvPicPr>
          <p:cNvPr id="10" name="Image 0" descr="The word broccoli going into the MyFavouriteVegetable box"/>
          <p:cNvPicPr>
            <a:picLocks noChangeAspect="1"/>
          </p:cNvPicPr>
          <p:nvPr/>
        </p:nvPicPr>
        <p:blipFill>
          <a:blip r:embed="rId3"/>
          <a:stretch>
            <a:fillRect/>
          </a:stretch>
        </p:blipFill>
        <p:spPr>
          <a:xfrm>
            <a:off x="640080" y="2971800"/>
            <a:ext cx="3840480" cy="1995055"/>
          </a:xfrm>
          <a:prstGeom prst="rect">
            <a:avLst/>
          </a:prstGeom>
        </p:spPr>
      </p:pic>
      <p:sp>
        <p:nvSpPr>
          <p:cNvPr id="11" name="note"/>
          <p:cNvSpPr/>
          <p:nvPr/>
        </p:nvSpPr>
        <p:spPr>
          <a:xfrm>
            <a:off x="4937760" y="2926080"/>
            <a:ext cx="3749040" cy="1600200"/>
          </a:xfrm>
          <a:prstGeom prst="roundRect">
            <a:avLst>
              <a:gd name="adj" fmla="val 5714"/>
            </a:avLst>
          </a:prstGeom>
          <a:solidFill>
            <a:srgbClr val="EAF4EC"/>
          </a:solidFill>
          <a:ln w="9525">
            <a:solidFill>
              <a:srgbClr val="EAF4EC"/>
            </a:solidFill>
            <a:prstDash val="solid"/>
          </a:ln>
          <a:effectLst>
            <a:outerShdw blurRad="76200" dist="25400" dir="5400000" algn="bl" rotWithShape="0">
              <a:srgbClr val="000000">
                <a:alpha val="14000"/>
              </a:srgbClr>
            </a:outerShdw>
          </a:effectLst>
        </p:spPr>
      </p:sp>
      <p:sp>
        <p:nvSpPr>
          <p:cNvPr id="12" name="Text 8"/>
          <p:cNvSpPr txBox="1"/>
          <p:nvPr/>
        </p:nvSpPr>
        <p:spPr>
          <a:xfrm>
            <a:off x="5120640" y="2926080"/>
            <a:ext cx="3383280" cy="1600200"/>
          </a:xfrm>
          <a:prstGeom prst="rect">
            <a:avLst/>
          </a:prstGeom>
          <a:noFill/>
          <a:ln/>
        </p:spPr>
        <p:txBody>
          <a:bodyPr wrap="square" lIns="0" tIns="0" rIns="0" bIns="0" rtlCol="0" anchor="ctr"/>
          <a:lstStyle/>
          <a:p>
            <a:pPr marL="0" indent="0">
              <a:buNone/>
            </a:pPr>
            <a:r>
              <a:rPr lang="en-US" sz="1500" dirty="0">
                <a:solidFill>
                  <a:srgbClr val="1B2B24"/>
                </a:solidFill>
                <a:latin typeface="Calibri" pitchFamily="34" charset="0"/>
                <a:ea typeface="Calibri" pitchFamily="34" charset="-122"/>
                <a:cs typeface="Calibri" pitchFamily="34" charset="-120"/>
              </a:rPr>
              <a:t>The value broccoli goes into the box called MyFavouriteVegetable. Values can be words as well as numbers.</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C6F66"/>
                </a:solidFill>
                <a:latin typeface="Calibri"/>
                <a:ea typeface="Calibri"/>
                <a:cs typeface="Calibri"/>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rgbClr val="1F4D3A"/>
                </a:solidFill>
                <a:latin typeface="Cambria" pitchFamily="34" charset="0"/>
                <a:ea typeface="Cambria" pitchFamily="34" charset="-122"/>
                <a:cs typeface="Cambria" pitchFamily="34" charset="-120"/>
              </a:rPr>
              <a:t>Displaying a Value with say</a:t>
            </a:r>
            <a:endParaRPr lang="en-US" sz="3200" dirty="0"/>
          </a:p>
        </p:txBody>
      </p:sp>
      <p:sp>
        <p:nvSpPr>
          <p:cNvPr id="4" name="frame-marcus"/>
          <p:cNvSpPr/>
          <p:nvPr/>
        </p:nvSpPr>
        <p:spPr>
          <a:xfrm>
            <a:off x="566928" y="1298448"/>
            <a:ext cx="2706624" cy="2830510"/>
          </a:xfrm>
          <a:prstGeom prst="roundRect">
            <a:avLst>
              <a:gd name="adj" fmla="val 3378"/>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pic>
        <p:nvPicPr>
          <p:cNvPr id="5" name="Image 0" descr="Marcus standing next to his vegetable box"/>
          <p:cNvPicPr>
            <a:picLocks noChangeAspect="1"/>
          </p:cNvPicPr>
          <p:nvPr/>
        </p:nvPicPr>
        <p:blipFill>
          <a:blip r:embed="rId3"/>
          <a:stretch>
            <a:fillRect/>
          </a:stretch>
        </p:blipFill>
        <p:spPr>
          <a:xfrm>
            <a:off x="640080" y="1371600"/>
            <a:ext cx="2560320" cy="2684206"/>
          </a:xfrm>
          <a:prstGeom prst="rect">
            <a:avLst/>
          </a:prstGeom>
        </p:spPr>
      </p:pic>
      <p:sp>
        <p:nvSpPr>
          <p:cNvPr id="6" name="code-block"/>
          <p:cNvSpPr/>
          <p:nvPr/>
        </p:nvSpPr>
        <p:spPr>
          <a:xfrm>
            <a:off x="3657600" y="1280160"/>
            <a:ext cx="5029200" cy="1325880"/>
          </a:xfrm>
          <a:prstGeom prst="roundRect">
            <a:avLst>
              <a:gd name="adj" fmla="val 6897"/>
            </a:avLst>
          </a:prstGeom>
          <a:solidFill>
            <a:srgbClr val="1F2D2A"/>
          </a:solidFill>
          <a:ln w="9525">
            <a:solidFill>
              <a:srgbClr val="1F2D2A"/>
            </a:solidFill>
            <a:prstDash val="solid"/>
          </a:ln>
          <a:effectLst>
            <a:outerShdw blurRad="76200" dist="25400" dir="5400000" algn="bl" rotWithShape="0">
              <a:srgbClr val="000000">
                <a:alpha val="14000"/>
              </a:srgbClr>
            </a:outerShdw>
          </a:effectLst>
        </p:spPr>
      </p:sp>
      <p:sp>
        <p:nvSpPr>
          <p:cNvPr id="7" name="Text 3"/>
          <p:cNvSpPr txBox="1"/>
          <p:nvPr/>
        </p:nvSpPr>
        <p:spPr>
          <a:xfrm>
            <a:off x="3886200" y="1389888"/>
            <a:ext cx="4572000" cy="1106424"/>
          </a:xfrm>
          <a:prstGeom prst="rect">
            <a:avLst/>
          </a:prstGeom>
          <a:noFill/>
          <a:ln/>
        </p:spPr>
        <p:txBody>
          <a:bodyPr wrap="square" lIns="0" tIns="0" rIns="0" bIns="0" rtlCol="0" anchor="ctr"/>
          <a:lstStyle/>
          <a:p>
            <a:pPr marL="0" indent="0">
              <a:lnSpc>
                <a:spcPct val="115000"/>
              </a:lnSpc>
              <a:buNone/>
            </a:pPr>
            <a:r>
              <a:rPr lang="en-US" sz="1300" dirty="0">
                <a:solidFill>
                  <a:srgbClr val="7FA595"/>
                </a:solidFill>
                <a:latin typeface="Courier New" pitchFamily="34" charset="0"/>
                <a:ea typeface="Courier New" pitchFamily="34" charset="-122"/>
                <a:cs typeface="Courier New" pitchFamily="34" charset="-120"/>
              </a:rPr>
              <a:t>1   </a:t>
            </a:r>
            <a:r>
              <a:rPr lang="en-US" sz="1300" dirty="0">
                <a:solidFill>
                  <a:srgbClr val="FFFFFF"/>
                </a:solidFill>
                <a:latin typeface="Courier New" pitchFamily="34" charset="0"/>
                <a:ea typeface="Courier New" pitchFamily="34" charset="-122"/>
                <a:cs typeface="Courier New" pitchFamily="34" charset="-120"/>
              </a:rPr>
              <a:t>set </a:t>
            </a:r>
            <a:r>
              <a:rPr lang="en-US" sz="1300" b="1" dirty="0">
                <a:solidFill>
                  <a:srgbClr val="F2B632"/>
                </a:solidFill>
                <a:latin typeface="Courier New" pitchFamily="34" charset="0"/>
                <a:ea typeface="Courier New" pitchFamily="34" charset="-122"/>
                <a:cs typeface="Courier New" pitchFamily="34" charset="-120"/>
              </a:rPr>
              <a:t>MyFavouriteVegetable</a:t>
            </a:r>
            <a:r>
              <a:rPr lang="en-US" sz="1300" dirty="0">
                <a:solidFill>
                  <a:srgbClr val="FFFFFF"/>
                </a:solidFill>
                <a:latin typeface="Courier New" pitchFamily="34" charset="0"/>
                <a:ea typeface="Courier New" pitchFamily="34" charset="-122"/>
                <a:cs typeface="Courier New" pitchFamily="34" charset="-120"/>
              </a:rPr>
              <a:t> to </a:t>
            </a:r>
            <a:r>
              <a:rPr lang="en-US" sz="1300" b="1" dirty="0">
                <a:solidFill>
                  <a:srgbClr val="F2B632"/>
                </a:solidFill>
                <a:latin typeface="Courier New" pitchFamily="34" charset="0"/>
                <a:ea typeface="Courier New" pitchFamily="34" charset="-122"/>
                <a:cs typeface="Courier New" pitchFamily="34" charset="-120"/>
              </a:rPr>
              <a:t>broccoli</a:t>
            </a:r>
            <a:endParaRPr lang="en-US" sz="1400" dirty="0"/>
          </a:p>
          <a:p>
            <a:pPr marL="0" indent="0">
              <a:lnSpc>
                <a:spcPct val="115000"/>
              </a:lnSpc>
              <a:buNone/>
            </a:pPr>
            <a:r>
              <a:rPr lang="en-US" sz="1300" dirty="0">
                <a:solidFill>
                  <a:srgbClr val="7FA595"/>
                </a:solidFill>
                <a:latin typeface="Courier New" pitchFamily="34" charset="0"/>
                <a:ea typeface="Courier New" pitchFamily="34" charset="-122"/>
                <a:cs typeface="Courier New" pitchFamily="34" charset="-120"/>
              </a:rPr>
              <a:t>2   </a:t>
            </a:r>
            <a:r>
              <a:rPr lang="en-US" sz="1300" dirty="0">
                <a:solidFill>
                  <a:srgbClr val="FFFFFF"/>
                </a:solidFill>
                <a:latin typeface="Courier New" pitchFamily="34" charset="0"/>
                <a:ea typeface="Courier New" pitchFamily="34" charset="-122"/>
                <a:cs typeface="Courier New" pitchFamily="34" charset="-120"/>
              </a:rPr>
              <a:t>say </a:t>
            </a:r>
            <a:r>
              <a:rPr lang="en-US" sz="1300" b="1" dirty="0">
                <a:solidFill>
                  <a:srgbClr val="F2B632"/>
                </a:solidFill>
                <a:latin typeface="Courier New" pitchFamily="34" charset="0"/>
                <a:ea typeface="Courier New" pitchFamily="34" charset="-122"/>
                <a:cs typeface="Courier New" pitchFamily="34" charset="-120"/>
              </a:rPr>
              <a:t>MyFavouriteVegetable</a:t>
            </a:r>
            <a:endParaRPr lang="en-US" sz="1400" dirty="0"/>
          </a:p>
        </p:txBody>
      </p:sp>
      <p:sp>
        <p:nvSpPr>
          <p:cNvPr id="8" name="explain"/>
          <p:cNvSpPr/>
          <p:nvPr/>
        </p:nvSpPr>
        <p:spPr>
          <a:xfrm>
            <a:off x="3657600" y="2834640"/>
            <a:ext cx="2377440" cy="1691640"/>
          </a:xfrm>
          <a:prstGeom prst="roundRect">
            <a:avLst>
              <a:gd name="adj" fmla="val 5405"/>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9" name="Text 5"/>
          <p:cNvSpPr txBox="1"/>
          <p:nvPr/>
        </p:nvSpPr>
        <p:spPr>
          <a:xfrm>
            <a:off x="3840480" y="2880360"/>
            <a:ext cx="2011680" cy="1600200"/>
          </a:xfrm>
          <a:prstGeom prst="rect">
            <a:avLst/>
          </a:prstGeom>
          <a:noFill/>
          <a:ln/>
        </p:spPr>
        <p:txBody>
          <a:bodyPr wrap="square" lIns="0" tIns="0" rIns="0" bIns="0" rtlCol="0" anchor="ctr"/>
          <a:lstStyle/>
          <a:p>
            <a:pPr marL="0" indent="0">
              <a:buNone/>
            </a:pPr>
            <a:r>
              <a:rPr lang="en-US" sz="1400" b="1" dirty="0">
                <a:solidFill>
                  <a:srgbClr val="2E7D4F"/>
                </a:solidFill>
                <a:latin typeface="Calibri" pitchFamily="34" charset="0"/>
                <a:ea typeface="Calibri" pitchFamily="34" charset="-122"/>
                <a:cs typeface="Calibri" pitchFamily="34" charset="-120"/>
              </a:rPr>
              <a:t>Line 2</a:t>
            </a:r>
            <a:endParaRPr lang="en-US" sz="1400" dirty="0"/>
          </a:p>
          <a:p>
            <a:pPr marL="0" indent="0">
              <a:buNone/>
            </a:pPr>
            <a:r>
              <a:rPr lang="en-US" sz="1400" dirty="0">
                <a:solidFill>
                  <a:srgbClr val="1B2B24"/>
                </a:solidFill>
                <a:latin typeface="Calibri" pitchFamily="34" charset="0"/>
                <a:ea typeface="Calibri" pitchFamily="34" charset="-122"/>
                <a:cs typeface="Calibri" pitchFamily="34" charset="-120"/>
              </a:rPr>
              <a:t>say looks inside the variable and shows its value.</a:t>
            </a:r>
            <a:endParaRPr lang="en-US" sz="1400" dirty="0"/>
          </a:p>
        </p:txBody>
      </p:sp>
      <p:sp>
        <p:nvSpPr>
          <p:cNvPr id="10" name="output"/>
          <p:cNvSpPr/>
          <p:nvPr/>
        </p:nvSpPr>
        <p:spPr>
          <a:xfrm>
            <a:off x="6309360" y="2834640"/>
            <a:ext cx="2377440" cy="1691640"/>
          </a:xfrm>
          <a:prstGeom prst="roundRect">
            <a:avLst>
              <a:gd name="adj" fmla="val 5405"/>
            </a:avLst>
          </a:prstGeom>
          <a:solidFill>
            <a:srgbClr val="EAF4EC"/>
          </a:solidFill>
          <a:ln w="9525">
            <a:solidFill>
              <a:srgbClr val="EAF4EC"/>
            </a:solidFill>
            <a:prstDash val="solid"/>
          </a:ln>
          <a:effectLst>
            <a:outerShdw blurRad="76200" dist="25400" dir="5400000" algn="bl" rotWithShape="0">
              <a:srgbClr val="000000">
                <a:alpha val="14000"/>
              </a:srgbClr>
            </a:outerShdw>
          </a:effectLst>
        </p:spPr>
      </p:sp>
      <p:sp>
        <p:nvSpPr>
          <p:cNvPr id="11" name="Text 7"/>
          <p:cNvSpPr txBox="1"/>
          <p:nvPr/>
        </p:nvSpPr>
        <p:spPr>
          <a:xfrm>
            <a:off x="6492240" y="2880360"/>
            <a:ext cx="2011680" cy="1600200"/>
          </a:xfrm>
          <a:prstGeom prst="rect">
            <a:avLst/>
          </a:prstGeom>
          <a:noFill/>
          <a:ln/>
        </p:spPr>
        <p:txBody>
          <a:bodyPr wrap="square" lIns="0" tIns="0" rIns="0" bIns="0" rtlCol="0" anchor="ctr"/>
          <a:lstStyle/>
          <a:p>
            <a:pPr marL="0" indent="0" algn="ctr">
              <a:buNone/>
            </a:pPr>
            <a:r>
              <a:rPr lang="en-US" sz="1400" b="1" dirty="0">
                <a:solidFill>
                  <a:srgbClr val="1F4D3A"/>
                </a:solidFill>
                <a:latin typeface="Calibri" pitchFamily="34" charset="0"/>
                <a:ea typeface="Calibri" pitchFamily="34" charset="-122"/>
                <a:cs typeface="Calibri" pitchFamily="34" charset="-120"/>
              </a:rPr>
              <a:t>Output</a:t>
            </a:r>
            <a:endParaRPr lang="en-US" sz="1400" dirty="0"/>
          </a:p>
          <a:p>
            <a:pPr marL="0" indent="0" algn="ctr">
              <a:buNone/>
            </a:pPr>
            <a:r>
              <a:rPr lang="en-US" sz="2400" b="1" dirty="0">
                <a:solidFill>
                  <a:srgbClr val="2E7D4F"/>
                </a:solidFill>
                <a:latin typeface="Calibri" pitchFamily="34" charset="0"/>
                <a:ea typeface="Calibri" pitchFamily="34" charset="-122"/>
                <a:cs typeface="Calibri" pitchFamily="34" charset="-120"/>
              </a:rPr>
              <a:t>broccoli</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C6F66"/>
                </a:solidFill>
                <a:latin typeface="Calibri"/>
                <a:ea typeface="Calibri"/>
                <a:cs typeface="Calibri"/>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rgbClr val="1F4D3A"/>
                </a:solidFill>
                <a:latin typeface="Cambria" pitchFamily="34" charset="0"/>
                <a:ea typeface="Cambria" pitchFamily="34" charset="-122"/>
                <a:cs typeface="Cambria" pitchFamily="34" charset="-120"/>
              </a:rPr>
              <a:t>Values Are Temporary</a:t>
            </a:r>
            <a:endParaRPr lang="en-US" sz="3200" dirty="0"/>
          </a:p>
        </p:txBody>
      </p:sp>
      <p:sp>
        <p:nvSpPr>
          <p:cNvPr id="4" name="marcus-card"/>
          <p:cNvSpPr/>
          <p:nvPr/>
        </p:nvSpPr>
        <p:spPr>
          <a:xfrm>
            <a:off x="457200" y="1280160"/>
            <a:ext cx="4023360" cy="2377440"/>
          </a:xfrm>
          <a:prstGeom prst="roundRect">
            <a:avLst>
              <a:gd name="adj" fmla="val 3846"/>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5" name="Text 2"/>
          <p:cNvSpPr txBox="1"/>
          <p:nvPr/>
        </p:nvSpPr>
        <p:spPr>
          <a:xfrm>
            <a:off x="640080" y="1417320"/>
            <a:ext cx="1188720" cy="365760"/>
          </a:xfrm>
          <a:prstGeom prst="roundRect">
            <a:avLst>
              <a:gd name="adj" fmla="val 30000"/>
            </a:avLst>
          </a:prstGeom>
          <a:solidFill>
            <a:srgbClr val="2E7D4F"/>
          </a:solidFill>
          <a:ln w="6350">
            <a:solidFill>
              <a:srgbClr val="2E7D4F"/>
            </a:solidFill>
          </a:ln>
        </p:spPr>
        <p:txBody>
          <a:bodyPr wrap="square" lIns="508" tIns="508" rIns="508" bIns="508"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Marcus</a:t>
            </a:r>
            <a:endParaRPr lang="en-US" sz="1400" dirty="0"/>
          </a:p>
        </p:txBody>
      </p:sp>
      <p:sp>
        <p:nvSpPr>
          <p:cNvPr id="6" name="code-block"/>
          <p:cNvSpPr/>
          <p:nvPr/>
        </p:nvSpPr>
        <p:spPr>
          <a:xfrm>
            <a:off x="640080" y="1920240"/>
            <a:ext cx="3657600" cy="914400"/>
          </a:xfrm>
          <a:prstGeom prst="roundRect">
            <a:avLst>
              <a:gd name="adj" fmla="val 10000"/>
            </a:avLst>
          </a:prstGeom>
          <a:solidFill>
            <a:srgbClr val="1F2D2A"/>
          </a:solidFill>
          <a:ln w="9525">
            <a:solidFill>
              <a:srgbClr val="1F2D2A"/>
            </a:solidFill>
            <a:prstDash val="solid"/>
          </a:ln>
          <a:effectLst>
            <a:outerShdw blurRad="76200" dist="25400" dir="5400000" algn="bl" rotWithShape="0">
              <a:srgbClr val="000000">
                <a:alpha val="14000"/>
              </a:srgbClr>
            </a:outerShdw>
          </a:effectLst>
        </p:spPr>
      </p:sp>
      <p:sp>
        <p:nvSpPr>
          <p:cNvPr id="7" name="Text 4"/>
          <p:cNvSpPr txBox="1"/>
          <p:nvPr/>
        </p:nvSpPr>
        <p:spPr>
          <a:xfrm>
            <a:off x="868680" y="2029968"/>
            <a:ext cx="3200400" cy="694944"/>
          </a:xfrm>
          <a:prstGeom prst="rect">
            <a:avLst/>
          </a:prstGeom>
          <a:noFill/>
          <a:ln/>
        </p:spPr>
        <p:txBody>
          <a:bodyPr wrap="square" lIns="0" tIns="0" rIns="0" bIns="0" rtlCol="0" anchor="ctr"/>
          <a:lstStyle/>
          <a:p>
            <a:pPr marL="0" indent="0">
              <a:lnSpc>
                <a:spcPct val="115000"/>
              </a:lnSpc>
              <a:buNone/>
            </a:pPr>
            <a:r>
              <a:rPr lang="en-US" sz="1100" dirty="0">
                <a:solidFill>
                  <a:srgbClr val="FFFFFF"/>
                </a:solidFill>
                <a:latin typeface="Courier New" pitchFamily="34" charset="0"/>
                <a:ea typeface="Courier New" pitchFamily="34" charset="-122"/>
                <a:cs typeface="Courier New" pitchFamily="34" charset="-120"/>
              </a:rPr>
              <a:t>set MyFavouriteVegetable to </a:t>
            </a:r>
            <a:r>
              <a:rPr lang="en-US" sz="1100" b="1" dirty="0">
                <a:solidFill>
                  <a:srgbClr val="F2B632"/>
                </a:solidFill>
                <a:latin typeface="Courier New" pitchFamily="34" charset="0"/>
                <a:ea typeface="Courier New" pitchFamily="34" charset="-122"/>
                <a:cs typeface="Courier New" pitchFamily="34" charset="-120"/>
              </a:rPr>
              <a:t>broccoli</a:t>
            </a:r>
            <a:endParaRPr lang="en-US" sz="1400" dirty="0"/>
          </a:p>
          <a:p>
            <a:pPr marL="0" indent="0">
              <a:lnSpc>
                <a:spcPct val="115000"/>
              </a:lnSpc>
              <a:buNone/>
            </a:pPr>
            <a:r>
              <a:rPr lang="en-US" sz="1100" dirty="0">
                <a:solidFill>
                  <a:srgbClr val="FFFFFF"/>
                </a:solidFill>
                <a:latin typeface="Courier New" pitchFamily="34" charset="0"/>
                <a:ea typeface="Courier New" pitchFamily="34" charset="-122"/>
                <a:cs typeface="Courier New" pitchFamily="34" charset="-120"/>
              </a:rPr>
              <a:t>say MyFavouriteVegetable</a:t>
            </a:r>
            <a:endParaRPr lang="en-US" sz="1400" dirty="0"/>
          </a:p>
        </p:txBody>
      </p:sp>
      <p:pic>
        <p:nvPicPr>
          <p:cNvPr id="8" name="Image 0" descr="Broccoli"/>
          <p:cNvPicPr>
            <a:picLocks noChangeAspect="1"/>
          </p:cNvPicPr>
          <p:nvPr/>
        </p:nvPicPr>
        <p:blipFill>
          <a:blip r:embed="rId3"/>
          <a:stretch>
            <a:fillRect/>
          </a:stretch>
        </p:blipFill>
        <p:spPr>
          <a:xfrm>
            <a:off x="731520" y="2926080"/>
            <a:ext cx="640080" cy="676656"/>
          </a:xfrm>
          <a:prstGeom prst="rect">
            <a:avLst/>
          </a:prstGeom>
        </p:spPr>
      </p:pic>
      <p:sp>
        <p:nvSpPr>
          <p:cNvPr id="9" name="Text 5"/>
          <p:cNvSpPr txBox="1"/>
          <p:nvPr/>
        </p:nvSpPr>
        <p:spPr>
          <a:xfrm>
            <a:off x="1554480" y="2926080"/>
            <a:ext cx="2743200" cy="676656"/>
          </a:xfrm>
          <a:prstGeom prst="rect">
            <a:avLst/>
          </a:prstGeom>
          <a:noFill/>
          <a:ln/>
        </p:spPr>
        <p:txBody>
          <a:bodyPr wrap="square" lIns="0" tIns="0" rIns="0" bIns="0" rtlCol="0" anchor="ctr"/>
          <a:lstStyle/>
          <a:p>
            <a:pPr marL="0" indent="0">
              <a:buNone/>
            </a:pPr>
            <a:r>
              <a:rPr lang="en-US" sz="1800" b="1" dirty="0">
                <a:solidFill>
                  <a:srgbClr val="1F4D3A"/>
                </a:solidFill>
                <a:latin typeface="Calibri" pitchFamily="34" charset="0"/>
                <a:ea typeface="Calibri" pitchFamily="34" charset="-122"/>
                <a:cs typeface="Calibri" pitchFamily="34" charset="-120"/>
              </a:rPr>
              <a:t>Output: broccoli</a:t>
            </a:r>
            <a:endParaRPr lang="en-US" sz="1800" dirty="0"/>
          </a:p>
        </p:txBody>
      </p:sp>
      <p:sp>
        <p:nvSpPr>
          <p:cNvPr id="10" name="sofia-card"/>
          <p:cNvSpPr/>
          <p:nvPr/>
        </p:nvSpPr>
        <p:spPr>
          <a:xfrm>
            <a:off x="4663440" y="1280160"/>
            <a:ext cx="4023360" cy="2377440"/>
          </a:xfrm>
          <a:prstGeom prst="roundRect">
            <a:avLst>
              <a:gd name="adj" fmla="val 3846"/>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1" name="Text 7"/>
          <p:cNvSpPr txBox="1"/>
          <p:nvPr/>
        </p:nvSpPr>
        <p:spPr>
          <a:xfrm>
            <a:off x="4846320" y="1417320"/>
            <a:ext cx="1188720" cy="365760"/>
          </a:xfrm>
          <a:prstGeom prst="roundRect">
            <a:avLst>
              <a:gd name="adj" fmla="val 30000"/>
            </a:avLst>
          </a:prstGeom>
          <a:solidFill>
            <a:srgbClr val="8B5A2B"/>
          </a:solidFill>
          <a:ln w="6350">
            <a:solidFill>
              <a:srgbClr val="8B5A2B"/>
            </a:solidFill>
          </a:ln>
        </p:spPr>
        <p:txBody>
          <a:bodyPr wrap="square" lIns="508" tIns="508" rIns="508" bIns="508"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Sofia</a:t>
            </a:r>
            <a:endParaRPr lang="en-US" sz="1400" dirty="0"/>
          </a:p>
        </p:txBody>
      </p:sp>
      <p:sp>
        <p:nvSpPr>
          <p:cNvPr id="12" name="code-block"/>
          <p:cNvSpPr/>
          <p:nvPr/>
        </p:nvSpPr>
        <p:spPr>
          <a:xfrm>
            <a:off x="4846320" y="1920240"/>
            <a:ext cx="3657600" cy="914400"/>
          </a:xfrm>
          <a:prstGeom prst="roundRect">
            <a:avLst>
              <a:gd name="adj" fmla="val 10000"/>
            </a:avLst>
          </a:prstGeom>
          <a:solidFill>
            <a:srgbClr val="1F2D2A"/>
          </a:solidFill>
          <a:ln w="9525">
            <a:solidFill>
              <a:srgbClr val="1F2D2A"/>
            </a:solidFill>
            <a:prstDash val="solid"/>
          </a:ln>
          <a:effectLst>
            <a:outerShdw blurRad="76200" dist="25400" dir="5400000" algn="bl" rotWithShape="0">
              <a:srgbClr val="000000">
                <a:alpha val="14000"/>
              </a:srgbClr>
            </a:outerShdw>
          </a:effectLst>
        </p:spPr>
      </p:sp>
      <p:sp>
        <p:nvSpPr>
          <p:cNvPr id="13" name="Text 9"/>
          <p:cNvSpPr txBox="1"/>
          <p:nvPr/>
        </p:nvSpPr>
        <p:spPr>
          <a:xfrm>
            <a:off x="5074920" y="2029968"/>
            <a:ext cx="3200400" cy="694944"/>
          </a:xfrm>
          <a:prstGeom prst="rect">
            <a:avLst/>
          </a:prstGeom>
          <a:noFill/>
          <a:ln/>
        </p:spPr>
        <p:txBody>
          <a:bodyPr wrap="square" lIns="0" tIns="0" rIns="0" bIns="0" rtlCol="0" anchor="ctr"/>
          <a:lstStyle/>
          <a:p>
            <a:pPr marL="0" indent="0">
              <a:lnSpc>
                <a:spcPct val="115000"/>
              </a:lnSpc>
              <a:buNone/>
            </a:pPr>
            <a:r>
              <a:rPr lang="en-US" sz="1100" dirty="0">
                <a:solidFill>
                  <a:srgbClr val="FFFFFF"/>
                </a:solidFill>
                <a:latin typeface="Courier New" pitchFamily="34" charset="0"/>
                <a:ea typeface="Courier New" pitchFamily="34" charset="-122"/>
                <a:cs typeface="Courier New" pitchFamily="34" charset="-120"/>
              </a:rPr>
              <a:t>set MyFavouriteVegetable to </a:t>
            </a:r>
            <a:r>
              <a:rPr lang="en-US" sz="1100" b="1" dirty="0">
                <a:solidFill>
                  <a:srgbClr val="F2B632"/>
                </a:solidFill>
                <a:latin typeface="Courier New" pitchFamily="34" charset="0"/>
                <a:ea typeface="Courier New" pitchFamily="34" charset="-122"/>
                <a:cs typeface="Courier New" pitchFamily="34" charset="-120"/>
              </a:rPr>
              <a:t>carrot</a:t>
            </a:r>
            <a:endParaRPr lang="en-US" sz="1400" dirty="0"/>
          </a:p>
          <a:p>
            <a:pPr marL="0" indent="0">
              <a:lnSpc>
                <a:spcPct val="115000"/>
              </a:lnSpc>
              <a:buNone/>
            </a:pPr>
            <a:r>
              <a:rPr lang="en-US" sz="1100" dirty="0">
                <a:solidFill>
                  <a:srgbClr val="FFFFFF"/>
                </a:solidFill>
                <a:latin typeface="Courier New" pitchFamily="34" charset="0"/>
                <a:ea typeface="Courier New" pitchFamily="34" charset="-122"/>
                <a:cs typeface="Courier New" pitchFamily="34" charset="-120"/>
              </a:rPr>
              <a:t>say MyFavouriteVegetable</a:t>
            </a:r>
            <a:endParaRPr lang="en-US" sz="1400" dirty="0"/>
          </a:p>
        </p:txBody>
      </p:sp>
      <p:pic>
        <p:nvPicPr>
          <p:cNvPr id="14" name="Image 1" descr="Carrot"/>
          <p:cNvPicPr>
            <a:picLocks noChangeAspect="1"/>
          </p:cNvPicPr>
          <p:nvPr/>
        </p:nvPicPr>
        <p:blipFill>
          <a:blip r:embed="rId4"/>
          <a:stretch>
            <a:fillRect/>
          </a:stretch>
        </p:blipFill>
        <p:spPr>
          <a:xfrm>
            <a:off x="5029200" y="2926080"/>
            <a:ext cx="438912" cy="676656"/>
          </a:xfrm>
          <a:prstGeom prst="rect">
            <a:avLst/>
          </a:prstGeom>
        </p:spPr>
      </p:pic>
      <p:sp>
        <p:nvSpPr>
          <p:cNvPr id="15" name="Text 10"/>
          <p:cNvSpPr txBox="1"/>
          <p:nvPr/>
        </p:nvSpPr>
        <p:spPr>
          <a:xfrm>
            <a:off x="5669280" y="2926080"/>
            <a:ext cx="2743200" cy="676656"/>
          </a:xfrm>
          <a:prstGeom prst="rect">
            <a:avLst/>
          </a:prstGeom>
          <a:noFill/>
          <a:ln/>
        </p:spPr>
        <p:txBody>
          <a:bodyPr wrap="square" lIns="0" tIns="0" rIns="0" bIns="0" rtlCol="0" anchor="ctr"/>
          <a:lstStyle/>
          <a:p>
            <a:pPr marL="0" indent="0">
              <a:buNone/>
            </a:pPr>
            <a:r>
              <a:rPr lang="en-US" sz="1800" b="1" dirty="0">
                <a:solidFill>
                  <a:srgbClr val="1F4D3A"/>
                </a:solidFill>
                <a:latin typeface="Calibri" pitchFamily="34" charset="0"/>
                <a:ea typeface="Calibri" pitchFamily="34" charset="-122"/>
                <a:cs typeface="Calibri" pitchFamily="34" charset="-120"/>
              </a:rPr>
              <a:t>Output: carrot</a:t>
            </a:r>
            <a:endParaRPr lang="en-US" sz="1800" dirty="0"/>
          </a:p>
        </p:txBody>
      </p:sp>
      <p:sp>
        <p:nvSpPr>
          <p:cNvPr id="16" name="callout"/>
          <p:cNvSpPr/>
          <p:nvPr/>
        </p:nvSpPr>
        <p:spPr>
          <a:xfrm>
            <a:off x="457200" y="3840480"/>
            <a:ext cx="8229600" cy="731520"/>
          </a:xfrm>
          <a:prstGeom prst="roundRect">
            <a:avLst>
              <a:gd name="adj" fmla="val 12500"/>
            </a:avLst>
          </a:prstGeom>
          <a:solidFill>
            <a:srgbClr val="EAF4EC"/>
          </a:solidFill>
          <a:ln w="9525">
            <a:solidFill>
              <a:srgbClr val="EAF4EC"/>
            </a:solidFill>
            <a:prstDash val="solid"/>
          </a:ln>
          <a:effectLst>
            <a:outerShdw blurRad="76200" dist="25400" dir="5400000" algn="bl" rotWithShape="0">
              <a:srgbClr val="000000">
                <a:alpha val="14000"/>
              </a:srgbClr>
            </a:outerShdw>
          </a:effectLst>
        </p:spPr>
      </p:sp>
      <p:sp>
        <p:nvSpPr>
          <p:cNvPr id="17" name="Text 12"/>
          <p:cNvSpPr txBox="1"/>
          <p:nvPr/>
        </p:nvSpPr>
        <p:spPr>
          <a:xfrm>
            <a:off x="685800" y="3840480"/>
            <a:ext cx="7772400" cy="731520"/>
          </a:xfrm>
          <a:prstGeom prst="rect">
            <a:avLst/>
          </a:prstGeom>
          <a:noFill/>
          <a:ln/>
        </p:spPr>
        <p:txBody>
          <a:bodyPr wrap="square" lIns="0" tIns="0" rIns="0" bIns="0" rtlCol="0" anchor="ctr"/>
          <a:lstStyle/>
          <a:p>
            <a:pPr marL="0" indent="0">
              <a:buNone/>
            </a:pPr>
            <a:r>
              <a:rPr lang="en-US" sz="1500" b="1" dirty="0">
                <a:solidFill>
                  <a:srgbClr val="1F4D3A"/>
                </a:solidFill>
                <a:latin typeface="Calibri" pitchFamily="34" charset="0"/>
                <a:ea typeface="Calibri" pitchFamily="34" charset="-122"/>
                <a:cs typeface="Calibri" pitchFamily="34" charset="-120"/>
              </a:rPr>
              <a:t>Temporary means the value is not kept forever. Same program, different value for each user.</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C6F66"/>
                </a:solidFill>
                <a:latin typeface="Calibri"/>
                <a:ea typeface="Calibri"/>
                <a:cs typeface="Calibri"/>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035040" cy="731520"/>
          </a:xfrm>
          <a:prstGeom prst="rect">
            <a:avLst/>
          </a:prstGeom>
          <a:noFill/>
          <a:ln/>
        </p:spPr>
        <p:txBody>
          <a:bodyPr wrap="square" lIns="0" tIns="0" rIns="0" bIns="0" rtlCol="0" anchor="ctr"/>
          <a:lstStyle/>
          <a:p>
            <a:pPr marL="0" indent="0" algn="l">
              <a:buNone/>
            </a:pPr>
            <a:r>
              <a:rPr lang="en-US" sz="3200" b="1" dirty="0">
                <a:solidFill>
                  <a:srgbClr val="1B4F8F"/>
                </a:solidFill>
                <a:latin typeface="Cambria" pitchFamily="34" charset="0"/>
                <a:ea typeface="Cambria" pitchFamily="34" charset="-122"/>
                <a:cs typeface="Cambria" pitchFamily="34" charset="-120"/>
              </a:rPr>
              <a:t>Questions 5 – 7</a:t>
            </a:r>
            <a:endParaRPr lang="en-US" sz="3200" dirty="0"/>
          </a:p>
        </p:txBody>
      </p:sp>
      <p:sp>
        <p:nvSpPr>
          <p:cNvPr id="4" name="badge"/>
          <p:cNvSpPr/>
          <p:nvPr/>
        </p:nvSpPr>
        <p:spPr>
          <a:xfrm>
            <a:off x="6675120" y="411480"/>
            <a:ext cx="2011680" cy="365760"/>
          </a:xfrm>
          <a:prstGeom prst="roundRect">
            <a:avLst>
              <a:gd name="adj" fmla="val 50000"/>
            </a:avLst>
          </a:prstGeom>
          <a:solidFill>
            <a:srgbClr val="1B4F8F"/>
          </a:solidFill>
          <a:ln w="6350">
            <a:solidFill>
              <a:srgbClr val="1B4F8F"/>
            </a:solidFill>
            <a:prstDash val="solid"/>
          </a:ln>
        </p:spPr>
      </p:sp>
      <p:sp>
        <p:nvSpPr>
          <p:cNvPr id="5" name="Text 2"/>
          <p:cNvSpPr txBox="1"/>
          <p:nvPr/>
        </p:nvSpPr>
        <p:spPr>
          <a:xfrm>
            <a:off x="6675120" y="411480"/>
            <a:ext cx="20116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PRACTICE</a:t>
            </a:r>
            <a:endParaRPr lang="en-US" sz="1100" dirty="0"/>
          </a:p>
        </p:txBody>
      </p:sp>
      <p:sp>
        <p:nvSpPr>
          <p:cNvPr id="6" name="q-card"/>
          <p:cNvSpPr/>
          <p:nvPr/>
        </p:nvSpPr>
        <p:spPr>
          <a:xfrm>
            <a:off x="457200" y="1234440"/>
            <a:ext cx="6400800" cy="987552"/>
          </a:xfrm>
          <a:prstGeom prst="roundRect">
            <a:avLst>
              <a:gd name="adj" fmla="val 9259"/>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7" name="Text 4"/>
          <p:cNvSpPr txBox="1"/>
          <p:nvPr/>
        </p:nvSpPr>
        <p:spPr>
          <a:xfrm>
            <a:off x="594360" y="1536192"/>
            <a:ext cx="384048" cy="384048"/>
          </a:xfrm>
          <a:prstGeom prst="ellipse">
            <a:avLst/>
          </a:prstGeom>
          <a:solidFill>
            <a:srgbClr val="1B4F8F"/>
          </a:solidFill>
          <a:ln w="6350">
            <a:solidFill>
              <a:srgbClr val="1B4F8F"/>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8" name="Text 5"/>
          <p:cNvSpPr txBox="1"/>
          <p:nvPr/>
        </p:nvSpPr>
        <p:spPr>
          <a:xfrm>
            <a:off x="1143000" y="1280160"/>
            <a:ext cx="5577840" cy="896112"/>
          </a:xfrm>
          <a:prstGeom prst="rect">
            <a:avLst/>
          </a:prstGeom>
          <a:noFill/>
          <a:ln/>
        </p:spPr>
        <p:txBody>
          <a:bodyPr wrap="square" lIns="0" tIns="0" rIns="0" bIns="0" rtlCol="0" anchor="ctr"/>
          <a:lstStyle/>
          <a:p>
            <a:pPr marL="0" indent="0">
              <a:buNone/>
            </a:pPr>
            <a:r>
              <a:rPr lang="en-US" sz="1400" b="1" dirty="0">
                <a:solidFill>
                  <a:srgbClr val="1B2B24"/>
                </a:solidFill>
                <a:latin typeface="Calibri" pitchFamily="34" charset="0"/>
                <a:ea typeface="Calibri" pitchFamily="34" charset="-122"/>
                <a:cs typeface="Calibri" pitchFamily="34" charset="-120"/>
              </a:rPr>
              <a:t>Write an algorithm that assigns MyFavouriteVegetable to your own favourite vegetable.</a:t>
            </a:r>
            <a:endParaRPr lang="en-US" sz="1400" dirty="0"/>
          </a:p>
          <a:p>
            <a:pPr marL="0" indent="0">
              <a:buNone/>
            </a:pPr>
            <a:r>
              <a:rPr lang="en-US" sz="1300" b="1" dirty="0">
                <a:solidFill>
                  <a:srgbClr val="2E7D4F"/>
                </a:solidFill>
                <a:latin typeface="Calibri" pitchFamily="34" charset="0"/>
                <a:ea typeface="Calibri" pitchFamily="34" charset="-122"/>
                <a:cs typeface="Calibri" pitchFamily="34" charset="-120"/>
              </a:rPr>
              <a:t>Example: set MyFavouriteVegetable to peas, then say MyFavouriteVegetable</a:t>
            </a:r>
            <a:endParaRPr lang="en-US" sz="1400" dirty="0"/>
          </a:p>
        </p:txBody>
      </p:sp>
      <p:sp>
        <p:nvSpPr>
          <p:cNvPr id="9" name="q-card"/>
          <p:cNvSpPr/>
          <p:nvPr/>
        </p:nvSpPr>
        <p:spPr>
          <a:xfrm>
            <a:off x="457200" y="2350008"/>
            <a:ext cx="6400800" cy="987552"/>
          </a:xfrm>
          <a:prstGeom prst="roundRect">
            <a:avLst>
              <a:gd name="adj" fmla="val 9259"/>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0" name="Text 7"/>
          <p:cNvSpPr txBox="1"/>
          <p:nvPr/>
        </p:nvSpPr>
        <p:spPr>
          <a:xfrm>
            <a:off x="594360" y="2651760"/>
            <a:ext cx="384048" cy="384048"/>
          </a:xfrm>
          <a:prstGeom prst="ellipse">
            <a:avLst/>
          </a:prstGeom>
          <a:solidFill>
            <a:srgbClr val="1B4F8F"/>
          </a:solidFill>
          <a:ln w="6350">
            <a:solidFill>
              <a:srgbClr val="1B4F8F"/>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1" name="Text 8"/>
          <p:cNvSpPr txBox="1"/>
          <p:nvPr/>
        </p:nvSpPr>
        <p:spPr>
          <a:xfrm>
            <a:off x="1143000" y="2395728"/>
            <a:ext cx="5577840" cy="896112"/>
          </a:xfrm>
          <a:prstGeom prst="rect">
            <a:avLst/>
          </a:prstGeom>
          <a:noFill/>
          <a:ln/>
        </p:spPr>
        <p:txBody>
          <a:bodyPr wrap="square" lIns="0" tIns="0" rIns="0" bIns="0" rtlCol="0" anchor="ctr"/>
          <a:lstStyle/>
          <a:p>
            <a:pPr marL="0" indent="0">
              <a:buNone/>
            </a:pPr>
            <a:r>
              <a:rPr lang="en-US" sz="1400" b="1" dirty="0">
                <a:solidFill>
                  <a:srgbClr val="1B2B24"/>
                </a:solidFill>
                <a:latin typeface="Calibri" pitchFamily="34" charset="0"/>
                <a:ea typeface="Calibri" pitchFamily="34" charset="-122"/>
                <a:cs typeface="Calibri" pitchFamily="34" charset="-120"/>
              </a:rPr>
              <a:t>Compare your algorithm with your partner's and discuss the differences.</a:t>
            </a:r>
            <a:endParaRPr lang="en-US" sz="1400" dirty="0"/>
          </a:p>
          <a:p>
            <a:pPr marL="0" indent="0">
              <a:buNone/>
            </a:pPr>
            <a:r>
              <a:rPr lang="en-US" sz="1300" b="1" dirty="0">
                <a:solidFill>
                  <a:srgbClr val="2E7D4F"/>
                </a:solidFill>
                <a:latin typeface="Calibri" pitchFamily="34" charset="0"/>
                <a:ea typeface="Calibri" pitchFamily="34" charset="-122"/>
                <a:cs typeface="Calibri" pitchFamily="34" charset="-120"/>
              </a:rPr>
              <a:t>Same structure, different value. That is the point of a variable.</a:t>
            </a:r>
            <a:endParaRPr lang="en-US" sz="1400" dirty="0"/>
          </a:p>
        </p:txBody>
      </p:sp>
      <p:sp>
        <p:nvSpPr>
          <p:cNvPr id="12" name="q-card"/>
          <p:cNvSpPr/>
          <p:nvPr/>
        </p:nvSpPr>
        <p:spPr>
          <a:xfrm>
            <a:off x="457200" y="3465576"/>
            <a:ext cx="6400800" cy="987552"/>
          </a:xfrm>
          <a:prstGeom prst="roundRect">
            <a:avLst>
              <a:gd name="adj" fmla="val 9259"/>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3" name="Text 10"/>
          <p:cNvSpPr txBox="1"/>
          <p:nvPr/>
        </p:nvSpPr>
        <p:spPr>
          <a:xfrm>
            <a:off x="594360" y="3767328"/>
            <a:ext cx="384048" cy="384048"/>
          </a:xfrm>
          <a:prstGeom prst="ellipse">
            <a:avLst/>
          </a:prstGeom>
          <a:solidFill>
            <a:srgbClr val="1B4F8F"/>
          </a:solidFill>
          <a:ln w="6350">
            <a:solidFill>
              <a:srgbClr val="1B4F8F"/>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14" name="Text 11"/>
          <p:cNvSpPr txBox="1"/>
          <p:nvPr/>
        </p:nvSpPr>
        <p:spPr>
          <a:xfrm>
            <a:off x="1143000" y="3511296"/>
            <a:ext cx="5577840" cy="896112"/>
          </a:xfrm>
          <a:prstGeom prst="rect">
            <a:avLst/>
          </a:prstGeom>
          <a:noFill/>
          <a:ln/>
        </p:spPr>
        <p:txBody>
          <a:bodyPr wrap="square" lIns="0" tIns="0" rIns="0" bIns="0" rtlCol="0" anchor="ctr"/>
          <a:lstStyle/>
          <a:p>
            <a:pPr marL="0" indent="0">
              <a:buNone/>
            </a:pPr>
            <a:r>
              <a:rPr lang="en-US" sz="1400" b="1" dirty="0">
                <a:solidFill>
                  <a:srgbClr val="1B2B24"/>
                </a:solidFill>
                <a:latin typeface="Calibri" pitchFamily="34" charset="0"/>
                <a:ea typeface="Calibri" pitchFamily="34" charset="-122"/>
                <a:cs typeface="Calibri" pitchFamily="34" charset="-120"/>
              </a:rPr>
              <a:t>What meaningful name would you give Marcus's favourite fruit variable?</a:t>
            </a:r>
            <a:endParaRPr lang="en-US" sz="1400" dirty="0"/>
          </a:p>
          <a:p>
            <a:pPr marL="0" indent="0">
              <a:buNone/>
            </a:pPr>
            <a:r>
              <a:rPr lang="en-US" sz="1300" b="1" dirty="0">
                <a:solidFill>
                  <a:srgbClr val="2E7D4F"/>
                </a:solidFill>
                <a:latin typeface="Calibri" pitchFamily="34" charset="0"/>
                <a:ea typeface="Calibri" pitchFamily="34" charset="-122"/>
                <a:cs typeface="Calibri" pitchFamily="34" charset="-120"/>
              </a:rPr>
              <a:t>Example: MyFavouriteFruit</a:t>
            </a:r>
            <a:endParaRPr lang="en-US" sz="1400" dirty="0"/>
          </a:p>
        </p:txBody>
      </p:sp>
      <p:sp>
        <p:nvSpPr>
          <p:cNvPr id="15" name="frame-tomato"/>
          <p:cNvSpPr/>
          <p:nvPr/>
        </p:nvSpPr>
        <p:spPr>
          <a:xfrm>
            <a:off x="7424928" y="1664208"/>
            <a:ext cx="1152144" cy="1252728"/>
          </a:xfrm>
          <a:prstGeom prst="roundRect">
            <a:avLst>
              <a:gd name="adj" fmla="val 7937"/>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pic>
        <p:nvPicPr>
          <p:cNvPr id="16" name="Image 0" descr="A tomato"/>
          <p:cNvPicPr>
            <a:picLocks noChangeAspect="1"/>
          </p:cNvPicPr>
          <p:nvPr/>
        </p:nvPicPr>
        <p:blipFill>
          <a:blip r:embed="rId3"/>
          <a:stretch>
            <a:fillRect/>
          </a:stretch>
        </p:blipFill>
        <p:spPr>
          <a:xfrm>
            <a:off x="7498080" y="1737360"/>
            <a:ext cx="1005840" cy="1106424"/>
          </a:xfrm>
          <a:prstGeom prst="rect">
            <a:avLst/>
          </a:prstGeom>
        </p:spPr>
      </p:pic>
      <p:sp>
        <p:nvSpPr>
          <p:cNvPr id="17" name="Text 13"/>
          <p:cNvSpPr txBox="1"/>
          <p:nvPr/>
        </p:nvSpPr>
        <p:spPr>
          <a:xfrm>
            <a:off x="7223760" y="3017520"/>
            <a:ext cx="1463040" cy="1188720"/>
          </a:xfrm>
          <a:prstGeom prst="rect">
            <a:avLst/>
          </a:prstGeom>
          <a:noFill/>
          <a:ln/>
        </p:spPr>
        <p:txBody>
          <a:bodyPr wrap="square" lIns="0" tIns="0" rIns="0" bIns="0" rtlCol="0" anchor="t"/>
          <a:lstStyle/>
          <a:p>
            <a:pPr marL="0" indent="0" algn="ctr">
              <a:buNone/>
            </a:pPr>
            <a:r>
              <a:rPr lang="en-US" sz="1200" i="1" dirty="0">
                <a:solidFill>
                  <a:srgbClr val="5C6F66"/>
                </a:solidFill>
                <a:latin typeface="Calibri" pitchFamily="34" charset="0"/>
                <a:ea typeface="Calibri" pitchFamily="34" charset="-122"/>
                <a:cs typeface="Calibri" pitchFamily="34" charset="-120"/>
              </a:rPr>
              <a:t>Is a tomato a fruit or a vegetable? Choose your names carefully!</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C6F66"/>
                </a:solidFill>
                <a:latin typeface="Calibri"/>
                <a:ea typeface="Calibri"/>
                <a:cs typeface="Calibri"/>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035040" cy="731520"/>
          </a:xfrm>
          <a:prstGeom prst="rect">
            <a:avLst/>
          </a:prstGeom>
          <a:noFill/>
          <a:ln/>
        </p:spPr>
        <p:txBody>
          <a:bodyPr wrap="square" lIns="0" tIns="0" rIns="0" bIns="0" rtlCol="0" anchor="ctr"/>
          <a:lstStyle/>
          <a:p>
            <a:pPr marL="0" indent="0" algn="l">
              <a:buNone/>
            </a:pPr>
            <a:r>
              <a:rPr lang="en-US" sz="3200" b="1" dirty="0">
                <a:solidFill>
                  <a:srgbClr val="1B4F8F"/>
                </a:solidFill>
                <a:latin typeface="Cambria" pitchFamily="34" charset="0"/>
                <a:ea typeface="Cambria" pitchFamily="34" charset="-122"/>
                <a:cs typeface="Cambria" pitchFamily="34" charset="-120"/>
              </a:rPr>
              <a:t>Make a Poster</a:t>
            </a:r>
            <a:endParaRPr lang="en-US" sz="3200" dirty="0"/>
          </a:p>
        </p:txBody>
      </p:sp>
      <p:sp>
        <p:nvSpPr>
          <p:cNvPr id="4" name="badge"/>
          <p:cNvSpPr/>
          <p:nvPr/>
        </p:nvSpPr>
        <p:spPr>
          <a:xfrm>
            <a:off x="6675120" y="411480"/>
            <a:ext cx="2011680" cy="365760"/>
          </a:xfrm>
          <a:prstGeom prst="roundRect">
            <a:avLst>
              <a:gd name="adj" fmla="val 50000"/>
            </a:avLst>
          </a:prstGeom>
          <a:solidFill>
            <a:srgbClr val="1B4F8F"/>
          </a:solidFill>
          <a:ln w="6350">
            <a:solidFill>
              <a:srgbClr val="1B4F8F"/>
            </a:solidFill>
            <a:prstDash val="solid"/>
          </a:ln>
        </p:spPr>
      </p:sp>
      <p:sp>
        <p:nvSpPr>
          <p:cNvPr id="5" name="Text 2"/>
          <p:cNvSpPr txBox="1"/>
          <p:nvPr/>
        </p:nvSpPr>
        <p:spPr>
          <a:xfrm>
            <a:off x="6675120" y="411480"/>
            <a:ext cx="20116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ACTIVITY 2</a:t>
            </a:r>
            <a:endParaRPr lang="en-US" sz="1100" dirty="0"/>
          </a:p>
        </p:txBody>
      </p:sp>
      <p:sp>
        <p:nvSpPr>
          <p:cNvPr id="6" name="Text 3"/>
          <p:cNvSpPr txBox="1"/>
          <p:nvPr/>
        </p:nvSpPr>
        <p:spPr>
          <a:xfrm>
            <a:off x="457200" y="1188720"/>
            <a:ext cx="5669280" cy="365760"/>
          </a:xfrm>
          <a:prstGeom prst="roundRect">
            <a:avLst>
              <a:gd name="adj" fmla="val 30000"/>
            </a:avLst>
          </a:prstGeom>
          <a:solidFill>
            <a:srgbClr val="1B4F8F"/>
          </a:solidFill>
          <a:ln w="6350">
            <a:solidFill>
              <a:srgbClr val="1B4F8F"/>
            </a:solidFill>
          </a:ln>
        </p:spPr>
        <p:txBody>
          <a:bodyPr wrap="square" lIns="508" tIns="508" rIns="508" bIns="508"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You will need: a computer or tablet with word-processing software</a:t>
            </a:r>
            <a:endParaRPr lang="en-US" sz="1200" dirty="0"/>
          </a:p>
        </p:txBody>
      </p:sp>
      <p:sp>
        <p:nvSpPr>
          <p:cNvPr id="7" name="step"/>
          <p:cNvSpPr/>
          <p:nvPr/>
        </p:nvSpPr>
        <p:spPr>
          <a:xfrm>
            <a:off x="457200" y="1691640"/>
            <a:ext cx="5669280" cy="640080"/>
          </a:xfrm>
          <a:prstGeom prst="roundRect">
            <a:avLst>
              <a:gd name="adj" fmla="val 14286"/>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8" name="Text 5"/>
          <p:cNvSpPr txBox="1"/>
          <p:nvPr/>
        </p:nvSpPr>
        <p:spPr>
          <a:xfrm>
            <a:off x="594360" y="1819656"/>
            <a:ext cx="384048" cy="384048"/>
          </a:xfrm>
          <a:prstGeom prst="ellipse">
            <a:avLst/>
          </a:prstGeom>
          <a:solidFill>
            <a:srgbClr val="1B4F8F"/>
          </a:solidFill>
          <a:ln w="6350">
            <a:solidFill>
              <a:srgbClr val="1B4F8F"/>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1143000" y="1691640"/>
            <a:ext cx="4846320" cy="640080"/>
          </a:xfrm>
          <a:prstGeom prst="rect">
            <a:avLst/>
          </a:prstGeom>
          <a:noFill/>
          <a:ln/>
        </p:spPr>
        <p:txBody>
          <a:bodyPr wrap="square" lIns="0" tIns="0" rIns="0" bIns="0" rtlCol="0" anchor="ctr"/>
          <a:lstStyle/>
          <a:p>
            <a:pPr marL="0" indent="0">
              <a:buNone/>
            </a:pPr>
            <a:r>
              <a:rPr lang="en-US" sz="1400" dirty="0">
                <a:solidFill>
                  <a:srgbClr val="1B2B24"/>
                </a:solidFill>
                <a:latin typeface="Calibri" pitchFamily="34" charset="0"/>
                <a:ea typeface="Calibri" pitchFamily="34" charset="-122"/>
                <a:cs typeface="Calibri" pitchFamily="34" charset="-120"/>
              </a:rPr>
              <a:t>Plan: what is a variable? Add the box idea and the words value and name.</a:t>
            </a:r>
            <a:endParaRPr lang="en-US" sz="1400" dirty="0"/>
          </a:p>
        </p:txBody>
      </p:sp>
      <p:sp>
        <p:nvSpPr>
          <p:cNvPr id="10" name="step"/>
          <p:cNvSpPr/>
          <p:nvPr/>
        </p:nvSpPr>
        <p:spPr>
          <a:xfrm>
            <a:off x="457200" y="2441448"/>
            <a:ext cx="5669280" cy="640080"/>
          </a:xfrm>
          <a:prstGeom prst="roundRect">
            <a:avLst>
              <a:gd name="adj" fmla="val 14286"/>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1" name="Text 8"/>
          <p:cNvSpPr txBox="1"/>
          <p:nvPr/>
        </p:nvSpPr>
        <p:spPr>
          <a:xfrm>
            <a:off x="594360" y="2569464"/>
            <a:ext cx="384048" cy="384048"/>
          </a:xfrm>
          <a:prstGeom prst="ellipse">
            <a:avLst/>
          </a:prstGeom>
          <a:solidFill>
            <a:srgbClr val="1B4F8F"/>
          </a:solidFill>
          <a:ln w="6350">
            <a:solidFill>
              <a:srgbClr val="1B4F8F"/>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1143000" y="2441448"/>
            <a:ext cx="4846320" cy="640080"/>
          </a:xfrm>
          <a:prstGeom prst="rect">
            <a:avLst/>
          </a:prstGeom>
          <a:noFill/>
          <a:ln/>
        </p:spPr>
        <p:txBody>
          <a:bodyPr wrap="square" lIns="0" tIns="0" rIns="0" bIns="0" rtlCol="0" anchor="ctr"/>
          <a:lstStyle/>
          <a:p>
            <a:pPr marL="0" indent="0">
              <a:buNone/>
            </a:pPr>
            <a:r>
              <a:rPr lang="en-US" sz="1400" dirty="0">
                <a:solidFill>
                  <a:srgbClr val="1B2B24"/>
                </a:solidFill>
                <a:latin typeface="Calibri" pitchFamily="34" charset="0"/>
                <a:ea typeface="Calibri" pitchFamily="34" charset="-122"/>
                <a:cs typeface="Calibri" pitchFamily="34" charset="-120"/>
              </a:rPr>
              <a:t>Open your word processor and add a title.</a:t>
            </a:r>
            <a:endParaRPr lang="en-US" sz="1400" dirty="0"/>
          </a:p>
        </p:txBody>
      </p:sp>
      <p:sp>
        <p:nvSpPr>
          <p:cNvPr id="13" name="step"/>
          <p:cNvSpPr/>
          <p:nvPr/>
        </p:nvSpPr>
        <p:spPr>
          <a:xfrm>
            <a:off x="457200" y="3191256"/>
            <a:ext cx="5669280" cy="640080"/>
          </a:xfrm>
          <a:prstGeom prst="roundRect">
            <a:avLst>
              <a:gd name="adj" fmla="val 14286"/>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4" name="Text 11"/>
          <p:cNvSpPr txBox="1"/>
          <p:nvPr/>
        </p:nvSpPr>
        <p:spPr>
          <a:xfrm>
            <a:off x="594360" y="3319272"/>
            <a:ext cx="384048" cy="384048"/>
          </a:xfrm>
          <a:prstGeom prst="ellipse">
            <a:avLst/>
          </a:prstGeom>
          <a:solidFill>
            <a:srgbClr val="1B4F8F"/>
          </a:solidFill>
          <a:ln w="6350">
            <a:solidFill>
              <a:srgbClr val="1B4F8F"/>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143000" y="3191256"/>
            <a:ext cx="4846320" cy="640080"/>
          </a:xfrm>
          <a:prstGeom prst="rect">
            <a:avLst/>
          </a:prstGeom>
          <a:noFill/>
          <a:ln/>
        </p:spPr>
        <p:txBody>
          <a:bodyPr wrap="square" lIns="0" tIns="0" rIns="0" bIns="0" rtlCol="0" anchor="ctr"/>
          <a:lstStyle/>
          <a:p>
            <a:pPr marL="0" indent="0">
              <a:buNone/>
            </a:pPr>
            <a:r>
              <a:rPr lang="en-US" sz="1400" dirty="0">
                <a:solidFill>
                  <a:srgbClr val="1B2B24"/>
                </a:solidFill>
                <a:latin typeface="Calibri" pitchFamily="34" charset="0"/>
                <a:ea typeface="Calibri" pitchFamily="34" charset="-122"/>
                <a:cs typeface="Calibri" pitchFamily="34" charset="-120"/>
              </a:rPr>
              <a:t>Add images, such as a labelled box, and an example like set Count to 4.</a:t>
            </a:r>
            <a:endParaRPr lang="en-US" sz="1400" dirty="0"/>
          </a:p>
        </p:txBody>
      </p:sp>
      <p:sp>
        <p:nvSpPr>
          <p:cNvPr id="16" name="step"/>
          <p:cNvSpPr/>
          <p:nvPr/>
        </p:nvSpPr>
        <p:spPr>
          <a:xfrm>
            <a:off x="457200" y="3941064"/>
            <a:ext cx="5669280" cy="640080"/>
          </a:xfrm>
          <a:prstGeom prst="roundRect">
            <a:avLst>
              <a:gd name="adj" fmla="val 14286"/>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7" name="Text 14"/>
          <p:cNvSpPr txBox="1"/>
          <p:nvPr/>
        </p:nvSpPr>
        <p:spPr>
          <a:xfrm>
            <a:off x="594360" y="4069080"/>
            <a:ext cx="384048" cy="384048"/>
          </a:xfrm>
          <a:prstGeom prst="ellipse">
            <a:avLst/>
          </a:prstGeom>
          <a:solidFill>
            <a:srgbClr val="1B4F8F"/>
          </a:solidFill>
          <a:ln w="6350">
            <a:solidFill>
              <a:srgbClr val="1B4F8F"/>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5"/>
          <p:cNvSpPr txBox="1"/>
          <p:nvPr/>
        </p:nvSpPr>
        <p:spPr>
          <a:xfrm>
            <a:off x="1143000" y="3941064"/>
            <a:ext cx="4846320" cy="640080"/>
          </a:xfrm>
          <a:prstGeom prst="rect">
            <a:avLst/>
          </a:prstGeom>
          <a:noFill/>
          <a:ln/>
        </p:spPr>
        <p:txBody>
          <a:bodyPr wrap="square" lIns="0" tIns="0" rIns="0" bIns="0" rtlCol="0" anchor="ctr"/>
          <a:lstStyle/>
          <a:p>
            <a:pPr marL="0" indent="0">
              <a:buNone/>
            </a:pPr>
            <a:r>
              <a:rPr lang="en-US" sz="1400" dirty="0">
                <a:solidFill>
                  <a:srgbClr val="1B2B24"/>
                </a:solidFill>
                <a:latin typeface="Calibri" pitchFamily="34" charset="0"/>
                <a:ea typeface="Calibri" pitchFamily="34" charset="-122"/>
                <a:cs typeface="Calibri" pitchFamily="34" charset="-120"/>
              </a:rPr>
              <a:t>Check it, then share it with the class.</a:t>
            </a:r>
            <a:endParaRPr lang="en-US" sz="1400" dirty="0"/>
          </a:p>
        </p:txBody>
      </p:sp>
      <p:sp>
        <p:nvSpPr>
          <p:cNvPr id="19" name="poster"/>
          <p:cNvSpPr/>
          <p:nvPr/>
        </p:nvSpPr>
        <p:spPr>
          <a:xfrm>
            <a:off x="6492240" y="1188720"/>
            <a:ext cx="2194560" cy="3337560"/>
          </a:xfrm>
          <a:prstGeom prst="roundRect">
            <a:avLst>
              <a:gd name="adj" fmla="val 4167"/>
            </a:avLst>
          </a:prstGeom>
          <a:solidFill>
            <a:srgbClr val="FFFFFF"/>
          </a:solidFill>
          <a:ln w="9525">
            <a:solidFill>
              <a:srgbClr val="9DB8D6"/>
            </a:solidFill>
            <a:prstDash val="solid"/>
          </a:ln>
          <a:effectLst>
            <a:outerShdw blurRad="76200" dist="25400" dir="5400000" algn="bl" rotWithShape="0">
              <a:srgbClr val="000000">
                <a:alpha val="14000"/>
              </a:srgbClr>
            </a:outerShdw>
          </a:effectLst>
        </p:spPr>
      </p:sp>
      <p:sp>
        <p:nvSpPr>
          <p:cNvPr id="20" name="Text 17"/>
          <p:cNvSpPr txBox="1"/>
          <p:nvPr/>
        </p:nvSpPr>
        <p:spPr>
          <a:xfrm>
            <a:off x="6583680" y="1280160"/>
            <a:ext cx="2011680" cy="548640"/>
          </a:xfrm>
          <a:prstGeom prst="rect">
            <a:avLst/>
          </a:prstGeom>
          <a:noFill/>
          <a:ln/>
        </p:spPr>
        <p:txBody>
          <a:bodyPr wrap="square" lIns="0" tIns="0" rIns="0" bIns="0" rtlCol="0" anchor="ctr"/>
          <a:lstStyle/>
          <a:p>
            <a:pPr marL="0" indent="0" algn="ctr">
              <a:buNone/>
            </a:pPr>
            <a:r>
              <a:rPr lang="en-US" sz="1500" b="1" dirty="0">
                <a:solidFill>
                  <a:srgbClr val="1F4D3A"/>
                </a:solidFill>
                <a:latin typeface="Calibri" pitchFamily="34" charset="0"/>
                <a:ea typeface="Calibri" pitchFamily="34" charset="-122"/>
                <a:cs typeface="Calibri" pitchFamily="34" charset="-120"/>
              </a:rPr>
              <a:t>What is a variable?</a:t>
            </a:r>
            <a:endParaRPr lang="en-US" sz="1500" dirty="0"/>
          </a:p>
        </p:txBody>
      </p:sp>
      <p:pic>
        <p:nvPicPr>
          <p:cNvPr id="21" name="Image 0" descr="Box labelled Count on a sample poster"/>
          <p:cNvPicPr>
            <a:picLocks noChangeAspect="1"/>
          </p:cNvPicPr>
          <p:nvPr/>
        </p:nvPicPr>
        <p:blipFill>
          <a:blip r:embed="rId3"/>
          <a:stretch>
            <a:fillRect/>
          </a:stretch>
        </p:blipFill>
        <p:spPr>
          <a:xfrm>
            <a:off x="6766560" y="1874520"/>
            <a:ext cx="1463040" cy="960120"/>
          </a:xfrm>
          <a:prstGeom prst="rect">
            <a:avLst/>
          </a:prstGeom>
        </p:spPr>
      </p:pic>
      <p:sp>
        <p:nvSpPr>
          <p:cNvPr id="22" name="Text 18"/>
          <p:cNvSpPr txBox="1"/>
          <p:nvPr/>
        </p:nvSpPr>
        <p:spPr>
          <a:xfrm>
            <a:off x="6583680" y="2926080"/>
            <a:ext cx="2011680" cy="502920"/>
          </a:xfrm>
          <a:prstGeom prst="rect">
            <a:avLst/>
          </a:prstGeom>
          <a:noFill/>
          <a:ln/>
        </p:spPr>
        <p:txBody>
          <a:bodyPr wrap="square" lIns="0" tIns="0" rIns="0" bIns="0" rtlCol="0" anchor="t"/>
          <a:lstStyle/>
          <a:p>
            <a:pPr marL="0" indent="0" algn="ctr">
              <a:buNone/>
            </a:pPr>
            <a:r>
              <a:rPr lang="en-US" sz="1200" dirty="0">
                <a:solidFill>
                  <a:srgbClr val="1B2B24"/>
                </a:solidFill>
                <a:latin typeface="Calibri" pitchFamily="34" charset="0"/>
                <a:ea typeface="Calibri" pitchFamily="34" charset="-122"/>
                <a:cs typeface="Calibri" pitchFamily="34" charset="-120"/>
              </a:rPr>
              <a:t>A labelled box that stores a value</a:t>
            </a:r>
            <a:endParaRPr lang="en-US" sz="1200" dirty="0"/>
          </a:p>
        </p:txBody>
      </p:sp>
      <p:sp>
        <p:nvSpPr>
          <p:cNvPr id="23" name="poster-code"/>
          <p:cNvSpPr/>
          <p:nvPr/>
        </p:nvSpPr>
        <p:spPr>
          <a:xfrm>
            <a:off x="6675120" y="3566160"/>
            <a:ext cx="1828800" cy="640080"/>
          </a:xfrm>
          <a:prstGeom prst="roundRect">
            <a:avLst>
              <a:gd name="adj" fmla="val 14286"/>
            </a:avLst>
          </a:prstGeom>
          <a:solidFill>
            <a:srgbClr val="1F2D2A"/>
          </a:solidFill>
          <a:ln w="9525">
            <a:solidFill>
              <a:srgbClr val="1F2D2A"/>
            </a:solidFill>
            <a:prstDash val="solid"/>
          </a:ln>
          <a:effectLst>
            <a:outerShdw blurRad="76200" dist="25400" dir="5400000" algn="bl" rotWithShape="0">
              <a:srgbClr val="000000">
                <a:alpha val="14000"/>
              </a:srgbClr>
            </a:outerShdw>
          </a:effectLst>
        </p:spPr>
      </p:sp>
      <p:sp>
        <p:nvSpPr>
          <p:cNvPr id="24" name="Text 20"/>
          <p:cNvSpPr txBox="1"/>
          <p:nvPr/>
        </p:nvSpPr>
        <p:spPr>
          <a:xfrm>
            <a:off x="6675120" y="3566160"/>
            <a:ext cx="1828800" cy="640080"/>
          </a:xfrm>
          <a:prstGeom prst="rect">
            <a:avLst/>
          </a:prstGeom>
          <a:noFill/>
          <a:ln/>
        </p:spPr>
        <p:txBody>
          <a:bodyPr wrap="square" lIns="0" tIns="0" rIns="0" bIns="0" rtlCol="0" anchor="ctr"/>
          <a:lstStyle/>
          <a:p>
            <a:pPr marL="0" indent="0" algn="ctr">
              <a:buNone/>
            </a:pPr>
            <a:r>
              <a:rPr lang="en-US" sz="1300" b="1" dirty="0">
                <a:solidFill>
                  <a:srgbClr val="F2B632"/>
                </a:solidFill>
                <a:latin typeface="Courier New" pitchFamily="34" charset="0"/>
                <a:ea typeface="Courier New" pitchFamily="34" charset="-122"/>
                <a:cs typeface="Courier New" pitchFamily="34" charset="-120"/>
              </a:rPr>
              <a:t>set Count to 4</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C6F66"/>
                </a:solidFill>
                <a:latin typeface="Calibri"/>
                <a:ea typeface="Calibri"/>
                <a:cs typeface="Calibri"/>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035040" cy="731520"/>
          </a:xfrm>
          <a:prstGeom prst="rect">
            <a:avLst/>
          </a:prstGeom>
          <a:noFill/>
          <a:ln/>
        </p:spPr>
        <p:txBody>
          <a:bodyPr wrap="square" lIns="0" tIns="0" rIns="0" bIns="0" rtlCol="0" anchor="ctr"/>
          <a:lstStyle/>
          <a:p>
            <a:pPr marL="0" indent="0" algn="l">
              <a:buNone/>
            </a:pPr>
            <a:r>
              <a:rPr lang="en-US" sz="3200" b="1" dirty="0">
                <a:solidFill>
                  <a:srgbClr val="1B4F8F"/>
                </a:solidFill>
                <a:latin typeface="Cambria" pitchFamily="34" charset="0"/>
                <a:ea typeface="Cambria" pitchFamily="34" charset="-122"/>
                <a:cs typeface="Cambria" pitchFamily="34" charset="-120"/>
              </a:rPr>
              <a:t>Football: Part A</a:t>
            </a:r>
            <a:endParaRPr lang="en-US" sz="3200" dirty="0"/>
          </a:p>
        </p:txBody>
      </p:sp>
      <p:sp>
        <p:nvSpPr>
          <p:cNvPr id="4" name="badge"/>
          <p:cNvSpPr/>
          <p:nvPr/>
        </p:nvSpPr>
        <p:spPr>
          <a:xfrm>
            <a:off x="6675120" y="411480"/>
            <a:ext cx="2011680" cy="365760"/>
          </a:xfrm>
          <a:prstGeom prst="roundRect">
            <a:avLst>
              <a:gd name="adj" fmla="val 50000"/>
            </a:avLst>
          </a:prstGeom>
          <a:solidFill>
            <a:srgbClr val="1B4F8F"/>
          </a:solidFill>
          <a:ln w="6350">
            <a:solidFill>
              <a:srgbClr val="1B4F8F"/>
            </a:solidFill>
            <a:prstDash val="solid"/>
          </a:ln>
        </p:spPr>
      </p:sp>
      <p:sp>
        <p:nvSpPr>
          <p:cNvPr id="5" name="Text 2"/>
          <p:cNvSpPr txBox="1"/>
          <p:nvPr/>
        </p:nvSpPr>
        <p:spPr>
          <a:xfrm>
            <a:off x="6675120" y="411480"/>
            <a:ext cx="20116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UNPLUGGED ACTIVITY 3</a:t>
            </a:r>
            <a:endParaRPr lang="en-US" sz="1100" dirty="0"/>
          </a:p>
        </p:txBody>
      </p:sp>
      <p:sp>
        <p:nvSpPr>
          <p:cNvPr id="6" name="frame-score"/>
          <p:cNvSpPr/>
          <p:nvPr/>
        </p:nvSpPr>
        <p:spPr>
          <a:xfrm>
            <a:off x="475488" y="1207008"/>
            <a:ext cx="4169664" cy="1675181"/>
          </a:xfrm>
          <a:prstGeom prst="roundRect">
            <a:avLst>
              <a:gd name="adj" fmla="val 5459"/>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pic>
        <p:nvPicPr>
          <p:cNvPr id="7" name="Image 0" descr="Football scoreboard: Python 2, Sprite 3, 30:00 remaining"/>
          <p:cNvPicPr>
            <a:picLocks noChangeAspect="1"/>
          </p:cNvPicPr>
          <p:nvPr/>
        </p:nvPicPr>
        <p:blipFill>
          <a:blip r:embed="rId3"/>
          <a:stretch>
            <a:fillRect/>
          </a:stretch>
        </p:blipFill>
        <p:spPr>
          <a:xfrm>
            <a:off x="548640" y="1280160"/>
            <a:ext cx="4023360" cy="1528877"/>
          </a:xfrm>
          <a:prstGeom prst="rect">
            <a:avLst/>
          </a:prstGeom>
        </p:spPr>
      </p:pic>
      <p:sp>
        <p:nvSpPr>
          <p:cNvPr id="8" name="frame-football"/>
          <p:cNvSpPr/>
          <p:nvPr/>
        </p:nvSpPr>
        <p:spPr>
          <a:xfrm>
            <a:off x="475488" y="2807208"/>
            <a:ext cx="4169664" cy="1742348"/>
          </a:xfrm>
          <a:prstGeom prst="roundRect">
            <a:avLst>
              <a:gd name="adj" fmla="val 5248"/>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pic>
        <p:nvPicPr>
          <p:cNvPr id="9" name="Image 1" descr="Children playing football"/>
          <p:cNvPicPr>
            <a:picLocks noChangeAspect="1"/>
          </p:cNvPicPr>
          <p:nvPr/>
        </p:nvPicPr>
        <p:blipFill>
          <a:blip r:embed="rId4"/>
          <a:stretch>
            <a:fillRect/>
          </a:stretch>
        </p:blipFill>
        <p:spPr>
          <a:xfrm>
            <a:off x="548640" y="2880360"/>
            <a:ext cx="4023360" cy="1596044"/>
          </a:xfrm>
          <a:prstGeom prst="rect">
            <a:avLst/>
          </a:prstGeom>
        </p:spPr>
      </p:pic>
      <p:sp>
        <p:nvSpPr>
          <p:cNvPr id="10" name="qa"/>
          <p:cNvSpPr/>
          <p:nvPr/>
        </p:nvSpPr>
        <p:spPr>
          <a:xfrm>
            <a:off x="4937760" y="1188720"/>
            <a:ext cx="3749040" cy="749808"/>
          </a:xfrm>
          <a:prstGeom prst="roundRect">
            <a:avLst>
              <a:gd name="adj" fmla="val 12195"/>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1" name="Text 6"/>
          <p:cNvSpPr txBox="1"/>
          <p:nvPr/>
        </p:nvSpPr>
        <p:spPr>
          <a:xfrm>
            <a:off x="5074920" y="1188720"/>
            <a:ext cx="3520440" cy="749808"/>
          </a:xfrm>
          <a:prstGeom prst="rect">
            <a:avLst/>
          </a:prstGeom>
          <a:noFill/>
          <a:ln/>
        </p:spPr>
        <p:txBody>
          <a:bodyPr wrap="square" lIns="0" tIns="0" rIns="0" bIns="0" rtlCol="0" anchor="ctr"/>
          <a:lstStyle/>
          <a:p>
            <a:pPr marL="0" indent="0">
              <a:buNone/>
            </a:pPr>
            <a:r>
              <a:rPr lang="en-US" sz="1200" b="1" dirty="0">
                <a:solidFill>
                  <a:srgbClr val="1B4F8F"/>
                </a:solidFill>
                <a:latin typeface="Calibri" pitchFamily="34" charset="0"/>
                <a:ea typeface="Calibri" pitchFamily="34" charset="-122"/>
                <a:cs typeface="Calibri" pitchFamily="34" charset="-120"/>
              </a:rPr>
              <a:t>1  How many different values are on the screen?</a:t>
            </a:r>
            <a:endParaRPr lang="en-US" sz="1400" dirty="0"/>
          </a:p>
          <a:p>
            <a:pPr marL="0" indent="0">
              <a:buNone/>
            </a:pPr>
            <a:r>
              <a:rPr lang="en-US" sz="1400" b="1" dirty="0">
                <a:solidFill>
                  <a:srgbClr val="2E7D4F"/>
                </a:solidFill>
                <a:latin typeface="Calibri" pitchFamily="34" charset="0"/>
                <a:ea typeface="Calibri" pitchFamily="34" charset="-122"/>
                <a:cs typeface="Calibri" pitchFamily="34" charset="-120"/>
              </a:rPr>
              <a:t>5 values: Python, Sprite, 2, 3 and 30:00</a:t>
            </a:r>
            <a:endParaRPr lang="en-US" sz="1400" dirty="0"/>
          </a:p>
        </p:txBody>
      </p:sp>
      <p:sp>
        <p:nvSpPr>
          <p:cNvPr id="12" name="qa"/>
          <p:cNvSpPr/>
          <p:nvPr/>
        </p:nvSpPr>
        <p:spPr>
          <a:xfrm>
            <a:off x="4937760" y="2039112"/>
            <a:ext cx="3749040" cy="749808"/>
          </a:xfrm>
          <a:prstGeom prst="roundRect">
            <a:avLst>
              <a:gd name="adj" fmla="val 12195"/>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3" name="Text 8"/>
          <p:cNvSpPr txBox="1"/>
          <p:nvPr/>
        </p:nvSpPr>
        <p:spPr>
          <a:xfrm>
            <a:off x="5074920" y="2039112"/>
            <a:ext cx="3520440" cy="749808"/>
          </a:xfrm>
          <a:prstGeom prst="rect">
            <a:avLst/>
          </a:prstGeom>
          <a:noFill/>
          <a:ln/>
        </p:spPr>
        <p:txBody>
          <a:bodyPr wrap="square" lIns="0" tIns="0" rIns="0" bIns="0" rtlCol="0" anchor="ctr"/>
          <a:lstStyle/>
          <a:p>
            <a:pPr marL="0" indent="0">
              <a:buNone/>
            </a:pPr>
            <a:r>
              <a:rPr lang="en-US" sz="1200" b="1" dirty="0">
                <a:solidFill>
                  <a:srgbClr val="1B4F8F"/>
                </a:solidFill>
                <a:latin typeface="Calibri" pitchFamily="34" charset="0"/>
                <a:ea typeface="Calibri" pitchFamily="34" charset="-122"/>
                <a:cs typeface="Calibri" pitchFamily="34" charset="-120"/>
              </a:rPr>
              <a:t>2  What do the values represent?</a:t>
            </a:r>
            <a:endParaRPr lang="en-US" sz="1400" dirty="0"/>
          </a:p>
          <a:p>
            <a:pPr marL="0" indent="0">
              <a:buNone/>
            </a:pPr>
            <a:r>
              <a:rPr lang="en-US" sz="1400" b="1" dirty="0">
                <a:solidFill>
                  <a:srgbClr val="2E7D4F"/>
                </a:solidFill>
                <a:latin typeface="Calibri" pitchFamily="34" charset="0"/>
                <a:ea typeface="Calibri" pitchFamily="34" charset="-122"/>
                <a:cs typeface="Calibri" pitchFamily="34" charset="-120"/>
              </a:rPr>
              <a:t>Team names, each score, and time left</a:t>
            </a:r>
            <a:endParaRPr lang="en-US" sz="1400" dirty="0"/>
          </a:p>
        </p:txBody>
      </p:sp>
      <p:sp>
        <p:nvSpPr>
          <p:cNvPr id="14" name="qa"/>
          <p:cNvSpPr/>
          <p:nvPr/>
        </p:nvSpPr>
        <p:spPr>
          <a:xfrm>
            <a:off x="4937760" y="2889504"/>
            <a:ext cx="3749040" cy="749808"/>
          </a:xfrm>
          <a:prstGeom prst="roundRect">
            <a:avLst>
              <a:gd name="adj" fmla="val 12195"/>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5" name="Text 10"/>
          <p:cNvSpPr txBox="1"/>
          <p:nvPr/>
        </p:nvSpPr>
        <p:spPr>
          <a:xfrm>
            <a:off x="5074920" y="2889504"/>
            <a:ext cx="3520440" cy="749808"/>
          </a:xfrm>
          <a:prstGeom prst="rect">
            <a:avLst/>
          </a:prstGeom>
          <a:noFill/>
          <a:ln/>
        </p:spPr>
        <p:txBody>
          <a:bodyPr wrap="square" lIns="0" tIns="0" rIns="0" bIns="0" rtlCol="0" anchor="ctr"/>
          <a:lstStyle/>
          <a:p>
            <a:pPr marL="0" indent="0">
              <a:buNone/>
            </a:pPr>
            <a:r>
              <a:rPr lang="en-US" sz="1200" b="1" dirty="0">
                <a:solidFill>
                  <a:srgbClr val="1B4F8F"/>
                </a:solidFill>
                <a:latin typeface="Calibri" pitchFamily="34" charset="0"/>
                <a:ea typeface="Calibri" pitchFamily="34" charset="-122"/>
                <a:cs typeface="Calibri" pitchFamily="34" charset="-120"/>
              </a:rPr>
              <a:t>3  Which values might change?</a:t>
            </a:r>
            <a:endParaRPr lang="en-US" sz="1400" dirty="0"/>
          </a:p>
          <a:p>
            <a:pPr marL="0" indent="0">
              <a:buNone/>
            </a:pPr>
            <a:r>
              <a:rPr lang="en-US" sz="1400" b="1" dirty="0">
                <a:solidFill>
                  <a:srgbClr val="2E7D4F"/>
                </a:solidFill>
                <a:latin typeface="Calibri" pitchFamily="34" charset="0"/>
                <a:ea typeface="Calibri" pitchFamily="34" charset="-122"/>
                <a:cs typeface="Calibri" pitchFamily="34" charset="-120"/>
              </a:rPr>
              <a:t>The scores and the time remaining</a:t>
            </a:r>
            <a:endParaRPr lang="en-US" sz="1400" dirty="0"/>
          </a:p>
        </p:txBody>
      </p:sp>
      <p:sp>
        <p:nvSpPr>
          <p:cNvPr id="16" name="qa"/>
          <p:cNvSpPr/>
          <p:nvPr/>
        </p:nvSpPr>
        <p:spPr>
          <a:xfrm>
            <a:off x="4937760" y="3739896"/>
            <a:ext cx="3749040" cy="749808"/>
          </a:xfrm>
          <a:prstGeom prst="roundRect">
            <a:avLst>
              <a:gd name="adj" fmla="val 12195"/>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7" name="Text 12"/>
          <p:cNvSpPr txBox="1"/>
          <p:nvPr/>
        </p:nvSpPr>
        <p:spPr>
          <a:xfrm>
            <a:off x="5074920" y="3739896"/>
            <a:ext cx="3520440" cy="749808"/>
          </a:xfrm>
          <a:prstGeom prst="rect">
            <a:avLst/>
          </a:prstGeom>
          <a:noFill/>
          <a:ln/>
        </p:spPr>
        <p:txBody>
          <a:bodyPr wrap="square" lIns="0" tIns="0" rIns="0" bIns="0" rtlCol="0" anchor="ctr"/>
          <a:lstStyle/>
          <a:p>
            <a:pPr marL="0" indent="0">
              <a:buNone/>
            </a:pPr>
            <a:r>
              <a:rPr lang="en-US" sz="1200" b="1" dirty="0">
                <a:solidFill>
                  <a:srgbClr val="1B4F8F"/>
                </a:solidFill>
                <a:latin typeface="Calibri" pitchFamily="34" charset="0"/>
                <a:ea typeface="Calibri" pitchFamily="34" charset="-122"/>
                <a:cs typeface="Calibri" pitchFamily="34" charset="-120"/>
              </a:rPr>
              <a:t>4  Why hold each value in a variable?</a:t>
            </a:r>
            <a:endParaRPr lang="en-US" sz="1400" dirty="0"/>
          </a:p>
          <a:p>
            <a:pPr marL="0" indent="0">
              <a:buNone/>
            </a:pPr>
            <a:r>
              <a:rPr lang="en-US" sz="1400" b="1" dirty="0">
                <a:solidFill>
                  <a:srgbClr val="2E7D4F"/>
                </a:solidFill>
                <a:latin typeface="Calibri" pitchFamily="34" charset="0"/>
                <a:ea typeface="Calibri" pitchFamily="34" charset="-122"/>
                <a:cs typeface="Calibri" pitchFamily="34" charset="-120"/>
              </a:rPr>
              <a:t>We can update and reuse it by its name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C6F66"/>
                </a:solidFill>
                <a:latin typeface="Calibri"/>
                <a:ea typeface="Calibri"/>
                <a:cs typeface="Calibri"/>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035040" cy="731520"/>
          </a:xfrm>
          <a:prstGeom prst="rect">
            <a:avLst/>
          </a:prstGeom>
          <a:noFill/>
          <a:ln/>
        </p:spPr>
        <p:txBody>
          <a:bodyPr wrap="square" lIns="0" tIns="0" rIns="0" bIns="0" rtlCol="0" anchor="ctr"/>
          <a:lstStyle/>
          <a:p>
            <a:pPr marL="0" indent="0" algn="l">
              <a:buNone/>
            </a:pPr>
            <a:r>
              <a:rPr lang="en-US" sz="3200" b="1" dirty="0">
                <a:solidFill>
                  <a:srgbClr val="1B4F8F"/>
                </a:solidFill>
                <a:latin typeface="Cambria" pitchFamily="34" charset="0"/>
                <a:ea typeface="Cambria" pitchFamily="34" charset="-122"/>
                <a:cs typeface="Cambria" pitchFamily="34" charset="-120"/>
              </a:rPr>
              <a:t>Football: Part B</a:t>
            </a:r>
            <a:endParaRPr lang="en-US" sz="3200" dirty="0"/>
          </a:p>
        </p:txBody>
      </p:sp>
      <p:sp>
        <p:nvSpPr>
          <p:cNvPr id="4" name="badge"/>
          <p:cNvSpPr/>
          <p:nvPr/>
        </p:nvSpPr>
        <p:spPr>
          <a:xfrm>
            <a:off x="6675120" y="411480"/>
            <a:ext cx="2011680" cy="365760"/>
          </a:xfrm>
          <a:prstGeom prst="roundRect">
            <a:avLst>
              <a:gd name="adj" fmla="val 50000"/>
            </a:avLst>
          </a:prstGeom>
          <a:solidFill>
            <a:srgbClr val="1B4F8F"/>
          </a:solidFill>
          <a:ln w="6350">
            <a:solidFill>
              <a:srgbClr val="1B4F8F"/>
            </a:solidFill>
            <a:prstDash val="solid"/>
          </a:ln>
        </p:spPr>
      </p:sp>
      <p:sp>
        <p:nvSpPr>
          <p:cNvPr id="5" name="Text 2"/>
          <p:cNvSpPr txBox="1"/>
          <p:nvPr/>
        </p:nvSpPr>
        <p:spPr>
          <a:xfrm>
            <a:off x="6675120" y="411480"/>
            <a:ext cx="20116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UNPLUGGED ACTIVITY 3</a:t>
            </a:r>
            <a:endParaRPr lang="en-US" sz="1100" dirty="0"/>
          </a:p>
        </p:txBody>
      </p:sp>
      <p:sp>
        <p:nvSpPr>
          <p:cNvPr id="6" name="code-block"/>
          <p:cNvSpPr/>
          <p:nvPr/>
        </p:nvSpPr>
        <p:spPr>
          <a:xfrm>
            <a:off x="457200" y="1234440"/>
            <a:ext cx="4846320" cy="2240280"/>
          </a:xfrm>
          <a:prstGeom prst="roundRect">
            <a:avLst>
              <a:gd name="adj" fmla="val 4082"/>
            </a:avLst>
          </a:prstGeom>
          <a:solidFill>
            <a:srgbClr val="1F2D2A"/>
          </a:solidFill>
          <a:ln w="9525">
            <a:solidFill>
              <a:srgbClr val="1F2D2A"/>
            </a:solidFill>
            <a:prstDash val="solid"/>
          </a:ln>
          <a:effectLst>
            <a:outerShdw blurRad="76200" dist="25400" dir="5400000" algn="bl" rotWithShape="0">
              <a:srgbClr val="000000">
                <a:alpha val="14000"/>
              </a:srgbClr>
            </a:outerShdw>
          </a:effectLst>
        </p:spPr>
      </p:sp>
      <p:sp>
        <p:nvSpPr>
          <p:cNvPr id="7" name="Text 4"/>
          <p:cNvSpPr txBox="1"/>
          <p:nvPr/>
        </p:nvSpPr>
        <p:spPr>
          <a:xfrm>
            <a:off x="685800" y="1344168"/>
            <a:ext cx="4389120" cy="2020824"/>
          </a:xfrm>
          <a:prstGeom prst="rect">
            <a:avLst/>
          </a:prstGeom>
          <a:noFill/>
          <a:ln/>
        </p:spPr>
        <p:txBody>
          <a:bodyPr wrap="square" lIns="0" tIns="0" rIns="0" bIns="0" rtlCol="0" anchor="ctr"/>
          <a:lstStyle/>
          <a:p>
            <a:pPr marL="0" indent="0">
              <a:lnSpc>
                <a:spcPct val="115000"/>
              </a:lnSpc>
              <a:buNone/>
            </a:pPr>
            <a:r>
              <a:rPr lang="en-US" sz="1400" dirty="0">
                <a:solidFill>
                  <a:srgbClr val="7FA595"/>
                </a:solidFill>
                <a:latin typeface="Courier New" pitchFamily="34" charset="0"/>
                <a:ea typeface="Courier New" pitchFamily="34" charset="-122"/>
                <a:cs typeface="Courier New" pitchFamily="34" charset="-120"/>
              </a:rPr>
              <a:t>1   </a:t>
            </a:r>
            <a:r>
              <a:rPr lang="en-US" sz="1400" dirty="0">
                <a:solidFill>
                  <a:srgbClr val="FFFFFF"/>
                </a:solidFill>
                <a:latin typeface="Courier New" pitchFamily="34" charset="0"/>
                <a:ea typeface="Courier New" pitchFamily="34" charset="-122"/>
                <a:cs typeface="Courier New" pitchFamily="34" charset="-120"/>
              </a:rPr>
              <a:t>set </a:t>
            </a:r>
            <a:r>
              <a:rPr lang="en-US" sz="1400" b="1" dirty="0">
                <a:solidFill>
                  <a:srgbClr val="F2B632"/>
                </a:solidFill>
                <a:latin typeface="Courier New" pitchFamily="34" charset="0"/>
                <a:ea typeface="Courier New" pitchFamily="34" charset="-122"/>
                <a:cs typeface="Courier New" pitchFamily="34" charset="-120"/>
              </a:rPr>
              <a:t>Team1Name</a:t>
            </a:r>
            <a:r>
              <a:rPr lang="en-US" sz="1400" dirty="0">
                <a:solidFill>
                  <a:srgbClr val="FFFFFF"/>
                </a:solidFill>
                <a:latin typeface="Courier New" pitchFamily="34" charset="0"/>
                <a:ea typeface="Courier New" pitchFamily="34" charset="-122"/>
                <a:cs typeface="Courier New" pitchFamily="34" charset="-120"/>
              </a:rPr>
              <a:t> to Python</a:t>
            </a:r>
            <a:endParaRPr lang="en-US" sz="1400" dirty="0"/>
          </a:p>
          <a:p>
            <a:pPr marL="0" indent="0">
              <a:lnSpc>
                <a:spcPct val="115000"/>
              </a:lnSpc>
              <a:buNone/>
            </a:pPr>
            <a:r>
              <a:rPr lang="en-US" sz="1400" dirty="0">
                <a:solidFill>
                  <a:srgbClr val="7FA595"/>
                </a:solidFill>
                <a:latin typeface="Courier New" pitchFamily="34" charset="0"/>
                <a:ea typeface="Courier New" pitchFamily="34" charset="-122"/>
                <a:cs typeface="Courier New" pitchFamily="34" charset="-120"/>
              </a:rPr>
              <a:t>2   </a:t>
            </a:r>
            <a:r>
              <a:rPr lang="en-US" sz="1400" dirty="0">
                <a:solidFill>
                  <a:srgbClr val="FFFFFF"/>
                </a:solidFill>
                <a:latin typeface="Courier New" pitchFamily="34" charset="0"/>
                <a:ea typeface="Courier New" pitchFamily="34" charset="-122"/>
                <a:cs typeface="Courier New" pitchFamily="34" charset="-120"/>
              </a:rPr>
              <a:t>set </a:t>
            </a:r>
            <a:r>
              <a:rPr lang="en-US" sz="1400" b="1" dirty="0">
                <a:solidFill>
                  <a:srgbClr val="F2B632"/>
                </a:solidFill>
                <a:latin typeface="Courier New" pitchFamily="34" charset="0"/>
                <a:ea typeface="Courier New" pitchFamily="34" charset="-122"/>
                <a:cs typeface="Courier New" pitchFamily="34" charset="-120"/>
              </a:rPr>
              <a:t>Team2Name</a:t>
            </a:r>
            <a:r>
              <a:rPr lang="en-US" sz="1400" dirty="0">
                <a:solidFill>
                  <a:srgbClr val="FFFFFF"/>
                </a:solidFill>
                <a:latin typeface="Courier New" pitchFamily="34" charset="0"/>
                <a:ea typeface="Courier New" pitchFamily="34" charset="-122"/>
                <a:cs typeface="Courier New" pitchFamily="34" charset="-120"/>
              </a:rPr>
              <a:t> to Sprite</a:t>
            </a:r>
            <a:endParaRPr lang="en-US" sz="1400" dirty="0"/>
          </a:p>
          <a:p>
            <a:pPr marL="0" indent="0">
              <a:lnSpc>
                <a:spcPct val="115000"/>
              </a:lnSpc>
              <a:buNone/>
            </a:pPr>
            <a:r>
              <a:rPr lang="en-US" sz="1400" dirty="0">
                <a:solidFill>
                  <a:srgbClr val="7FA595"/>
                </a:solidFill>
                <a:latin typeface="Courier New" pitchFamily="34" charset="0"/>
                <a:ea typeface="Courier New" pitchFamily="34" charset="-122"/>
                <a:cs typeface="Courier New" pitchFamily="34" charset="-120"/>
              </a:rPr>
              <a:t>3   </a:t>
            </a:r>
            <a:r>
              <a:rPr lang="en-US" sz="1400" dirty="0">
                <a:solidFill>
                  <a:srgbClr val="FFFFFF"/>
                </a:solidFill>
                <a:latin typeface="Courier New" pitchFamily="34" charset="0"/>
                <a:ea typeface="Courier New" pitchFamily="34" charset="-122"/>
                <a:cs typeface="Courier New" pitchFamily="34" charset="-120"/>
              </a:rPr>
              <a:t>set </a:t>
            </a:r>
            <a:r>
              <a:rPr lang="en-US" sz="1400" b="1" dirty="0">
                <a:solidFill>
                  <a:srgbClr val="F2B632"/>
                </a:solidFill>
                <a:latin typeface="Courier New" pitchFamily="34" charset="0"/>
                <a:ea typeface="Courier New" pitchFamily="34" charset="-122"/>
                <a:cs typeface="Courier New" pitchFamily="34" charset="-120"/>
              </a:rPr>
              <a:t>Team1Score</a:t>
            </a:r>
            <a:r>
              <a:rPr lang="en-US" sz="1400" dirty="0">
                <a:solidFill>
                  <a:srgbClr val="FFFFFF"/>
                </a:solidFill>
                <a:latin typeface="Courier New" pitchFamily="34" charset="0"/>
                <a:ea typeface="Courier New" pitchFamily="34" charset="-122"/>
                <a:cs typeface="Courier New" pitchFamily="34" charset="-120"/>
              </a:rPr>
              <a:t> to 0</a:t>
            </a:r>
            <a:endParaRPr lang="en-US" sz="1400" dirty="0"/>
          </a:p>
          <a:p>
            <a:pPr marL="0" indent="0">
              <a:lnSpc>
                <a:spcPct val="115000"/>
              </a:lnSpc>
              <a:buNone/>
            </a:pPr>
            <a:r>
              <a:rPr lang="en-US" sz="1400" dirty="0">
                <a:solidFill>
                  <a:srgbClr val="7FA595"/>
                </a:solidFill>
                <a:latin typeface="Courier New" pitchFamily="34" charset="0"/>
                <a:ea typeface="Courier New" pitchFamily="34" charset="-122"/>
                <a:cs typeface="Courier New" pitchFamily="34" charset="-120"/>
              </a:rPr>
              <a:t>4   </a:t>
            </a:r>
            <a:r>
              <a:rPr lang="en-US" sz="1400" dirty="0">
                <a:solidFill>
                  <a:srgbClr val="FFFFFF"/>
                </a:solidFill>
                <a:latin typeface="Courier New" pitchFamily="34" charset="0"/>
                <a:ea typeface="Courier New" pitchFamily="34" charset="-122"/>
                <a:cs typeface="Courier New" pitchFamily="34" charset="-120"/>
              </a:rPr>
              <a:t>set </a:t>
            </a:r>
            <a:r>
              <a:rPr lang="en-US" sz="1400" b="1" dirty="0">
                <a:solidFill>
                  <a:srgbClr val="F2B632"/>
                </a:solidFill>
                <a:latin typeface="Courier New" pitchFamily="34" charset="0"/>
                <a:ea typeface="Courier New" pitchFamily="34" charset="-122"/>
                <a:cs typeface="Courier New" pitchFamily="34" charset="-120"/>
              </a:rPr>
              <a:t>Team2Score</a:t>
            </a:r>
            <a:r>
              <a:rPr lang="en-US" sz="1400" dirty="0">
                <a:solidFill>
                  <a:srgbClr val="FFFFFF"/>
                </a:solidFill>
                <a:latin typeface="Courier New" pitchFamily="34" charset="0"/>
                <a:ea typeface="Courier New" pitchFamily="34" charset="-122"/>
                <a:cs typeface="Courier New" pitchFamily="34" charset="-120"/>
              </a:rPr>
              <a:t> to 0</a:t>
            </a:r>
            <a:endParaRPr lang="en-US" sz="1400" dirty="0"/>
          </a:p>
          <a:p>
            <a:pPr marL="0" indent="0">
              <a:lnSpc>
                <a:spcPct val="115000"/>
              </a:lnSpc>
              <a:buNone/>
            </a:pPr>
            <a:r>
              <a:rPr lang="en-US" sz="1400" dirty="0">
                <a:solidFill>
                  <a:srgbClr val="7FA595"/>
                </a:solidFill>
                <a:latin typeface="Courier New" pitchFamily="34" charset="0"/>
                <a:ea typeface="Courier New" pitchFamily="34" charset="-122"/>
                <a:cs typeface="Courier New" pitchFamily="34" charset="-120"/>
              </a:rPr>
              <a:t>5   </a:t>
            </a:r>
            <a:r>
              <a:rPr lang="en-US" sz="1400" dirty="0">
                <a:solidFill>
                  <a:srgbClr val="FFFFFF"/>
                </a:solidFill>
                <a:latin typeface="Courier New" pitchFamily="34" charset="0"/>
                <a:ea typeface="Courier New" pitchFamily="34" charset="-122"/>
                <a:cs typeface="Courier New" pitchFamily="34" charset="-120"/>
              </a:rPr>
              <a:t>set </a:t>
            </a:r>
            <a:r>
              <a:rPr lang="en-US" sz="1400" b="1" dirty="0">
                <a:solidFill>
                  <a:srgbClr val="F2B632"/>
                </a:solidFill>
                <a:latin typeface="Courier New" pitchFamily="34" charset="0"/>
                <a:ea typeface="Courier New" pitchFamily="34" charset="-122"/>
                <a:cs typeface="Courier New" pitchFamily="34" charset="-120"/>
              </a:rPr>
              <a:t>TimeRemaining</a:t>
            </a:r>
            <a:r>
              <a:rPr lang="en-US" sz="1400" dirty="0">
                <a:solidFill>
                  <a:srgbClr val="FFFFFF"/>
                </a:solidFill>
                <a:latin typeface="Courier New" pitchFamily="34" charset="0"/>
                <a:ea typeface="Courier New" pitchFamily="34" charset="-122"/>
                <a:cs typeface="Courier New" pitchFamily="34" charset="-120"/>
              </a:rPr>
              <a:t> to 30:00</a:t>
            </a:r>
            <a:endParaRPr lang="en-US" sz="1400" dirty="0"/>
          </a:p>
        </p:txBody>
      </p:sp>
      <p:sp>
        <p:nvSpPr>
          <p:cNvPr id="8" name="note"/>
          <p:cNvSpPr/>
          <p:nvPr/>
        </p:nvSpPr>
        <p:spPr>
          <a:xfrm>
            <a:off x="457200" y="3657600"/>
            <a:ext cx="4846320" cy="868680"/>
          </a:xfrm>
          <a:prstGeom prst="roundRect">
            <a:avLst>
              <a:gd name="adj" fmla="val 10526"/>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9" name="Text 6"/>
          <p:cNvSpPr txBox="1"/>
          <p:nvPr/>
        </p:nvSpPr>
        <p:spPr>
          <a:xfrm>
            <a:off x="640080" y="3657600"/>
            <a:ext cx="4480560" cy="868680"/>
          </a:xfrm>
          <a:prstGeom prst="rect">
            <a:avLst/>
          </a:prstGeom>
          <a:noFill/>
          <a:ln/>
        </p:spPr>
        <p:txBody>
          <a:bodyPr wrap="square" lIns="0" tIns="0" rIns="0" bIns="0" rtlCol="0" anchor="ctr"/>
          <a:lstStyle/>
          <a:p>
            <a:pPr marL="0" indent="0">
              <a:buNone/>
            </a:pPr>
            <a:r>
              <a:rPr lang="en-US" sz="1400" dirty="0">
                <a:solidFill>
                  <a:srgbClr val="1B2B24"/>
                </a:solidFill>
                <a:latin typeface="Calibri" pitchFamily="34" charset="0"/>
                <a:ea typeface="Calibri" pitchFamily="34" charset="-122"/>
                <a:cs typeface="Calibri" pitchFamily="34" charset="-120"/>
              </a:rPr>
              <a:t>At the start of the match the scores are 0, so we use 0 instead of the 2 and 3 in the picture.</a:t>
            </a:r>
            <a:endParaRPr lang="en-US" sz="1400" dirty="0"/>
          </a:p>
        </p:txBody>
      </p:sp>
      <p:sp>
        <p:nvSpPr>
          <p:cNvPr id="10" name="how"/>
          <p:cNvSpPr/>
          <p:nvPr/>
        </p:nvSpPr>
        <p:spPr>
          <a:xfrm>
            <a:off x="5669280" y="1234440"/>
            <a:ext cx="3017520" cy="2240280"/>
          </a:xfrm>
          <a:prstGeom prst="roundRect">
            <a:avLst>
              <a:gd name="adj" fmla="val 4082"/>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sp>
        <p:nvSpPr>
          <p:cNvPr id="11" name="Text 8"/>
          <p:cNvSpPr txBox="1"/>
          <p:nvPr/>
        </p:nvSpPr>
        <p:spPr>
          <a:xfrm>
            <a:off x="5852160" y="1325880"/>
            <a:ext cx="2697480" cy="2057400"/>
          </a:xfrm>
          <a:prstGeom prst="rect">
            <a:avLst/>
          </a:prstGeom>
          <a:noFill/>
          <a:ln/>
        </p:spPr>
        <p:txBody>
          <a:bodyPr wrap="square" lIns="0" tIns="0" rIns="0" bIns="0" rtlCol="0" anchor="ctr"/>
          <a:lstStyle/>
          <a:p>
            <a:pPr marL="0" indent="0">
              <a:buNone/>
            </a:pPr>
            <a:r>
              <a:rPr lang="en-US" sz="1400" b="1" dirty="0">
                <a:solidFill>
                  <a:srgbClr val="1B4F8F"/>
                </a:solidFill>
                <a:latin typeface="Calibri" pitchFamily="34" charset="0"/>
                <a:ea typeface="Calibri" pitchFamily="34" charset="-122"/>
                <a:cs typeface="Calibri" pitchFamily="34" charset="-120"/>
              </a:rPr>
              <a:t>How it is done</a:t>
            </a:r>
            <a:endParaRPr lang="en-US" sz="1400" dirty="0"/>
          </a:p>
          <a:p>
            <a:pPr marL="177800" indent="-177800">
              <a:buSzPct val="100000"/>
              <a:buChar char="•"/>
            </a:pPr>
            <a:r>
              <a:rPr lang="en-US" sz="1400" dirty="0">
                <a:solidFill>
                  <a:srgbClr val="1B2B24"/>
                </a:solidFill>
                <a:latin typeface="Calibri" pitchFamily="34" charset="0"/>
                <a:ea typeface="Calibri" pitchFamily="34" charset="-122"/>
                <a:cs typeface="Calibri" pitchFamily="34" charset="-120"/>
              </a:rPr>
              <a:t>Work in pairs.</a:t>
            </a:r>
            <a:endParaRPr lang="en-US" sz="1400" dirty="0"/>
          </a:p>
          <a:p>
            <a:pPr marL="177800" indent="-177800">
              <a:buSzPct val="100000"/>
              <a:buChar char="•"/>
            </a:pPr>
            <a:r>
              <a:rPr lang="en-US" sz="1400" dirty="0">
                <a:solidFill>
                  <a:srgbClr val="1B2B24"/>
                </a:solidFill>
                <a:latin typeface="Calibri" pitchFamily="34" charset="0"/>
                <a:ea typeface="Calibri" pitchFamily="34" charset="-122"/>
                <a:cs typeface="Calibri" pitchFamily="34" charset="-120"/>
              </a:rPr>
              <a:t>Use Part A answers.</a:t>
            </a:r>
            <a:endParaRPr lang="en-US" sz="1400" dirty="0"/>
          </a:p>
          <a:p>
            <a:pPr marL="177800" indent="-177800">
              <a:buSzPct val="100000"/>
              <a:buChar char="•"/>
            </a:pPr>
            <a:r>
              <a:rPr lang="en-US" sz="1400" dirty="0">
                <a:solidFill>
                  <a:srgbClr val="1B2B24"/>
                </a:solidFill>
                <a:latin typeface="Calibri" pitchFamily="34" charset="0"/>
                <a:ea typeface="Calibri" pitchFamily="34" charset="-122"/>
                <a:cs typeface="Calibri" pitchFamily="34" charset="-120"/>
              </a:rPr>
              <a:t>Meaningful names.</a:t>
            </a:r>
            <a:endParaRPr lang="en-US" sz="1400" dirty="0"/>
          </a:p>
          <a:p>
            <a:pPr marL="177800" indent="-177800">
              <a:buSzPct val="100000"/>
              <a:buChar char="•"/>
            </a:pPr>
            <a:r>
              <a:rPr lang="en-US" sz="1400" dirty="0">
                <a:solidFill>
                  <a:srgbClr val="1B2B24"/>
                </a:solidFill>
                <a:latin typeface="Calibri" pitchFamily="34" charset="0"/>
                <a:ea typeface="Calibri" pitchFamily="34" charset="-122"/>
                <a:cs typeface="Calibri" pitchFamily="34" charset="-120"/>
              </a:rPr>
              <a:t>One set line per value.</a:t>
            </a:r>
            <a:endParaRPr lang="en-US" sz="1400" dirty="0"/>
          </a:p>
        </p:txBody>
      </p:sp>
      <p:sp>
        <p:nvSpPr>
          <p:cNvPr id="12" name="frame-score"/>
          <p:cNvSpPr/>
          <p:nvPr/>
        </p:nvSpPr>
        <p:spPr>
          <a:xfrm>
            <a:off x="5870448" y="3566160"/>
            <a:ext cx="2615184" cy="1084478"/>
          </a:xfrm>
          <a:prstGeom prst="roundRect">
            <a:avLst>
              <a:gd name="adj" fmla="val 8432"/>
            </a:avLst>
          </a:prstGeom>
          <a:solidFill>
            <a:srgbClr val="FFFFFF"/>
          </a:solidFill>
          <a:ln w="9525">
            <a:solidFill>
              <a:srgbClr val="D5E3DA"/>
            </a:solidFill>
            <a:prstDash val="solid"/>
          </a:ln>
          <a:effectLst>
            <a:outerShdw blurRad="76200" dist="25400" dir="5400000" algn="bl" rotWithShape="0">
              <a:srgbClr val="000000">
                <a:alpha val="14000"/>
              </a:srgbClr>
            </a:outerShdw>
          </a:effectLst>
        </p:spPr>
      </p:sp>
      <p:pic>
        <p:nvPicPr>
          <p:cNvPr id="13" name="Image 0" descr="Football scoreboard"/>
          <p:cNvPicPr>
            <a:picLocks noChangeAspect="1"/>
          </p:cNvPicPr>
          <p:nvPr/>
        </p:nvPicPr>
        <p:blipFill>
          <a:blip r:embed="rId3"/>
          <a:stretch>
            <a:fillRect/>
          </a:stretch>
        </p:blipFill>
        <p:spPr>
          <a:xfrm>
            <a:off x="5943600" y="3639312"/>
            <a:ext cx="2468880" cy="938174"/>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C6F66"/>
                </a:solidFill>
                <a:latin typeface="Calibri"/>
                <a:ea typeface="Calibri"/>
                <a:cs typeface="Calibri"/>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4" name="takeaway"/>
          <p:cNvSpPr/>
          <p:nvPr/>
        </p:nvSpPr>
        <p:spPr>
          <a:xfrm>
            <a:off x="457200" y="1188720"/>
            <a:ext cx="5669280" cy="566928"/>
          </a:xfrm>
          <a:prstGeom prst="roundRect">
            <a:avLst>
              <a:gd name="adj" fmla="val 16129"/>
            </a:avLst>
          </a:prstGeom>
          <a:solidFill>
            <a:srgbClr val="2A6249"/>
          </a:solidFill>
          <a:ln w="6350">
            <a:solidFill>
              <a:srgbClr val="2A6249"/>
            </a:solidFill>
            <a:prstDash val="solid"/>
          </a:ln>
        </p:spPr>
      </p:sp>
      <p:sp>
        <p:nvSpPr>
          <p:cNvPr id="5" name="Text 2"/>
          <p:cNvSpPr txBox="1"/>
          <p:nvPr/>
        </p:nvSpPr>
        <p:spPr>
          <a:xfrm>
            <a:off x="594360" y="1280160"/>
            <a:ext cx="384048" cy="384048"/>
          </a:xfrm>
          <a:prstGeom prst="ellipse">
            <a:avLst/>
          </a:prstGeom>
          <a:solidFill>
            <a:srgbClr val="F2B632"/>
          </a:solidFill>
          <a:ln w="6350">
            <a:solidFill>
              <a:srgbClr val="F2B632"/>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3"/>
          <p:cNvSpPr txBox="1"/>
          <p:nvPr/>
        </p:nvSpPr>
        <p:spPr>
          <a:xfrm>
            <a:off x="1143000" y="1188720"/>
            <a:ext cx="4846320" cy="56692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A variable is a labelled box that stores a value.</a:t>
            </a:r>
            <a:endParaRPr lang="en-US" sz="1500" dirty="0"/>
          </a:p>
        </p:txBody>
      </p:sp>
      <p:sp>
        <p:nvSpPr>
          <p:cNvPr id="7" name="takeaway"/>
          <p:cNvSpPr/>
          <p:nvPr/>
        </p:nvSpPr>
        <p:spPr>
          <a:xfrm>
            <a:off x="457200" y="1874520"/>
            <a:ext cx="5669280" cy="566928"/>
          </a:xfrm>
          <a:prstGeom prst="roundRect">
            <a:avLst>
              <a:gd name="adj" fmla="val 16129"/>
            </a:avLst>
          </a:prstGeom>
          <a:solidFill>
            <a:srgbClr val="2A6249"/>
          </a:solidFill>
          <a:ln w="6350">
            <a:solidFill>
              <a:srgbClr val="2A6249"/>
            </a:solidFill>
            <a:prstDash val="solid"/>
          </a:ln>
        </p:spPr>
      </p:sp>
      <p:sp>
        <p:nvSpPr>
          <p:cNvPr id="8" name="Text 5"/>
          <p:cNvSpPr txBox="1"/>
          <p:nvPr/>
        </p:nvSpPr>
        <p:spPr>
          <a:xfrm>
            <a:off x="594360" y="1965960"/>
            <a:ext cx="384048" cy="384048"/>
          </a:xfrm>
          <a:prstGeom prst="ellipse">
            <a:avLst/>
          </a:prstGeom>
          <a:solidFill>
            <a:srgbClr val="F2B632"/>
          </a:solidFill>
          <a:ln w="6350">
            <a:solidFill>
              <a:srgbClr val="F2B632"/>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6"/>
          <p:cNvSpPr txBox="1"/>
          <p:nvPr/>
        </p:nvSpPr>
        <p:spPr>
          <a:xfrm>
            <a:off x="1143000" y="1874520"/>
            <a:ext cx="4846320" cy="56692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set Name to value puts a value in the box.</a:t>
            </a:r>
            <a:endParaRPr lang="en-US" sz="1500" dirty="0"/>
          </a:p>
        </p:txBody>
      </p:sp>
      <p:sp>
        <p:nvSpPr>
          <p:cNvPr id="10" name="takeaway"/>
          <p:cNvSpPr/>
          <p:nvPr/>
        </p:nvSpPr>
        <p:spPr>
          <a:xfrm>
            <a:off x="457200" y="2560320"/>
            <a:ext cx="5669280" cy="566928"/>
          </a:xfrm>
          <a:prstGeom prst="roundRect">
            <a:avLst>
              <a:gd name="adj" fmla="val 16129"/>
            </a:avLst>
          </a:prstGeom>
          <a:solidFill>
            <a:srgbClr val="2A6249"/>
          </a:solidFill>
          <a:ln w="6350">
            <a:solidFill>
              <a:srgbClr val="2A6249"/>
            </a:solidFill>
            <a:prstDash val="solid"/>
          </a:ln>
        </p:spPr>
      </p:sp>
      <p:sp>
        <p:nvSpPr>
          <p:cNvPr id="11" name="Text 8"/>
          <p:cNvSpPr txBox="1"/>
          <p:nvPr/>
        </p:nvSpPr>
        <p:spPr>
          <a:xfrm>
            <a:off x="594360" y="2651760"/>
            <a:ext cx="384048" cy="384048"/>
          </a:xfrm>
          <a:prstGeom prst="ellipse">
            <a:avLst/>
          </a:prstGeom>
          <a:solidFill>
            <a:srgbClr val="F2B632"/>
          </a:solidFill>
          <a:ln w="6350">
            <a:solidFill>
              <a:srgbClr val="F2B632"/>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9"/>
          <p:cNvSpPr txBox="1"/>
          <p:nvPr/>
        </p:nvSpPr>
        <p:spPr>
          <a:xfrm>
            <a:off x="1143000" y="2560320"/>
            <a:ext cx="4846320" cy="56692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It holds one value at a time, and the value can change.</a:t>
            </a:r>
            <a:endParaRPr lang="en-US" sz="1500" dirty="0"/>
          </a:p>
        </p:txBody>
      </p:sp>
      <p:sp>
        <p:nvSpPr>
          <p:cNvPr id="13" name="takeaway"/>
          <p:cNvSpPr/>
          <p:nvPr/>
        </p:nvSpPr>
        <p:spPr>
          <a:xfrm>
            <a:off x="457200" y="3246120"/>
            <a:ext cx="5669280" cy="566928"/>
          </a:xfrm>
          <a:prstGeom prst="roundRect">
            <a:avLst>
              <a:gd name="adj" fmla="val 16129"/>
            </a:avLst>
          </a:prstGeom>
          <a:solidFill>
            <a:srgbClr val="2A6249"/>
          </a:solidFill>
          <a:ln w="6350">
            <a:solidFill>
              <a:srgbClr val="2A6249"/>
            </a:solidFill>
            <a:prstDash val="solid"/>
          </a:ln>
        </p:spPr>
      </p:sp>
      <p:sp>
        <p:nvSpPr>
          <p:cNvPr id="14" name="Text 11"/>
          <p:cNvSpPr txBox="1"/>
          <p:nvPr/>
        </p:nvSpPr>
        <p:spPr>
          <a:xfrm>
            <a:off x="594360" y="3337560"/>
            <a:ext cx="384048" cy="384048"/>
          </a:xfrm>
          <a:prstGeom prst="ellipse">
            <a:avLst/>
          </a:prstGeom>
          <a:solidFill>
            <a:srgbClr val="F2B632"/>
          </a:solidFill>
          <a:ln w="6350">
            <a:solidFill>
              <a:srgbClr val="F2B632"/>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2"/>
          <p:cNvSpPr txBox="1"/>
          <p:nvPr/>
        </p:nvSpPr>
        <p:spPr>
          <a:xfrm>
            <a:off x="1143000" y="3246120"/>
            <a:ext cx="4846320" cy="56692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Choose meaningful names, such as Count or Age.</a:t>
            </a:r>
            <a:endParaRPr lang="en-US" sz="1500" dirty="0"/>
          </a:p>
        </p:txBody>
      </p:sp>
      <p:sp>
        <p:nvSpPr>
          <p:cNvPr id="16" name="takeaway"/>
          <p:cNvSpPr/>
          <p:nvPr/>
        </p:nvSpPr>
        <p:spPr>
          <a:xfrm>
            <a:off x="457200" y="3931920"/>
            <a:ext cx="5669280" cy="566928"/>
          </a:xfrm>
          <a:prstGeom prst="roundRect">
            <a:avLst>
              <a:gd name="adj" fmla="val 16129"/>
            </a:avLst>
          </a:prstGeom>
          <a:solidFill>
            <a:srgbClr val="2A6249"/>
          </a:solidFill>
          <a:ln w="6350">
            <a:solidFill>
              <a:srgbClr val="2A6249"/>
            </a:solidFill>
            <a:prstDash val="solid"/>
          </a:ln>
        </p:spPr>
      </p:sp>
      <p:sp>
        <p:nvSpPr>
          <p:cNvPr id="17" name="Text 14"/>
          <p:cNvSpPr txBox="1"/>
          <p:nvPr/>
        </p:nvSpPr>
        <p:spPr>
          <a:xfrm>
            <a:off x="594360" y="4023360"/>
            <a:ext cx="384048" cy="384048"/>
          </a:xfrm>
          <a:prstGeom prst="ellipse">
            <a:avLst/>
          </a:prstGeom>
          <a:solidFill>
            <a:srgbClr val="F2B632"/>
          </a:solidFill>
          <a:ln w="6350">
            <a:solidFill>
              <a:srgbClr val="F2B632"/>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5"/>
          <p:cNvSpPr txBox="1"/>
          <p:nvPr/>
        </p:nvSpPr>
        <p:spPr>
          <a:xfrm>
            <a:off x="1143000" y="3931920"/>
            <a:ext cx="4846320" cy="56692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say displays the value inside the variable.</a:t>
            </a:r>
            <a:endParaRPr lang="en-US" sz="1500" dirty="0"/>
          </a:p>
        </p:txBody>
      </p:sp>
      <p:pic>
        <p:nvPicPr>
          <p:cNvPr id="19" name="Image 0" descr="Box labelled Count"/>
          <p:cNvPicPr>
            <a:picLocks noChangeAspect="1"/>
          </p:cNvPicPr>
          <p:nvPr/>
        </p:nvPicPr>
        <p:blipFill>
          <a:blip r:embed="rId3"/>
          <a:stretch>
            <a:fillRect/>
          </a:stretch>
        </p:blipFill>
        <p:spPr>
          <a:xfrm>
            <a:off x="6492240" y="1828800"/>
            <a:ext cx="2194560" cy="1442139"/>
          </a:xfrm>
          <a:prstGeom prst="rect">
            <a:avLst/>
          </a:prstGeom>
        </p:spPr>
      </p:pic>
      <p:sp>
        <p:nvSpPr>
          <p:cNvPr id="20" name="Text 16"/>
          <p:cNvSpPr txBox="1"/>
          <p:nvPr/>
        </p:nvSpPr>
        <p:spPr>
          <a:xfrm>
            <a:off x="6492240" y="4023360"/>
            <a:ext cx="2194560" cy="457200"/>
          </a:xfrm>
          <a:prstGeom prst="rect">
            <a:avLst/>
          </a:prstGeom>
          <a:noFill/>
          <a:ln/>
        </p:spPr>
        <p:txBody>
          <a:bodyPr wrap="square" lIns="0" tIns="0" rIns="0" bIns="0" rtlCol="0" anchor="t"/>
          <a:lstStyle/>
          <a:p>
            <a:pPr marL="0" indent="0" algn="ctr">
              <a:buNone/>
            </a:pPr>
            <a:r>
              <a:rPr lang="en-US" sz="2200" b="1" dirty="0">
                <a:solidFill>
                  <a:srgbClr val="F2B632"/>
                </a:solidFill>
                <a:latin typeface="Cambria" pitchFamily="34" charset="0"/>
                <a:ea typeface="Cambria" pitchFamily="34" charset="-122"/>
                <a:cs typeface="Cambria" pitchFamily="34" charset="-120"/>
              </a:rPr>
              <a:t>Thank you!</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CFE6D8"/>
                </a:solidFill>
                <a:latin typeface="Calibri"/>
                <a:ea typeface="Calibri"/>
                <a:cs typeface="Calibri"/>
              </a:defRPr>
            </a:lvl1pPr>
          </a:lstStyle>
          <a:p>
            <a:pPr algn="l"/>
            <a:fld id="{F7021451-1387-4CA6-816F-3879F97B5CBC}" type="slidenum">
              <a:rPr lang="en-US" b="0"/>
              <a:t>20</a:t>
            </a:fld>
            <a:endParaRPr lang="en-US"/>
          </a:p>
        </p:txBody>
      </p:sp>
    </p:spTree>
  </p:cSld>
  <p:clrMapOvr>
    <a:masterClrMapping/>
  </p:clrMapOvr>
</p:sld>
</file>

<file path=ppt/theme/theme1.xml><?xml version="1.0" encoding="utf-8"?>
<a:theme xmlns:a="http://schemas.openxmlformats.org/drawingml/2006/main" name="Variables Lesson">
  <a:themeElements>
    <a:clrScheme name="Variables Lesson">
      <a:dk1>
        <a:srgbClr val="1B2B24"/>
      </a:dk1>
      <a:lt1>
        <a:srgbClr val="FFFFFF"/>
      </a:lt1>
      <a:dk2>
        <a:srgbClr val="1F4D3A"/>
      </a:dk2>
      <a:lt2>
        <a:srgbClr val="EAF4EC"/>
      </a:lt2>
      <a:accent1>
        <a:srgbClr val="2E7D4F"/>
      </a:accent1>
      <a:accent2>
        <a:srgbClr val="D64545"/>
      </a:accent2>
      <a:accent3>
        <a:srgbClr val="8B5A2B"/>
      </a:accent3>
      <a:accent4>
        <a:srgbClr val="F2B632"/>
      </a:accent4>
      <a:accent5>
        <a:srgbClr val="1B4F8F"/>
      </a:accent5>
      <a:accent6>
        <a:srgbClr val="5C6F66"/>
      </a:accent6>
      <a:hlink>
        <a:srgbClr val="1B4F8F"/>
      </a:hlink>
      <a:folHlink>
        <a:srgbClr val="5C6F66"/>
      </a:folHlink>
    </a:clrScheme>
    <a:fontScheme name="Variables Less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Variables Lesson</vt:lpstr>
      <vt:lpstr>Assigning Variables</vt:lpstr>
      <vt:lpstr>Recap: Count-Controlled Loops</vt:lpstr>
      <vt:lpstr>The Ladybug Algorithm</vt:lpstr>
      <vt:lpstr>What Is a Variable?</vt:lpstr>
      <vt:lpstr>Questions 1 &amp; 2</vt:lpstr>
      <vt:lpstr>Assigning a Value</vt:lpstr>
      <vt:lpstr>Changing the Value</vt:lpstr>
      <vt:lpstr>Values That Can Change</vt:lpstr>
      <vt:lpstr>The Birthday Card Algorithm</vt:lpstr>
      <vt:lpstr>Birthday Parties</vt:lpstr>
      <vt:lpstr>Challenge Question</vt:lpstr>
      <vt:lpstr>Marcus's Shopping Program</vt:lpstr>
      <vt:lpstr>Assigning a Text Value</vt:lpstr>
      <vt:lpstr>Displaying a Value with say</vt:lpstr>
      <vt:lpstr>Values Are Temporary</vt:lpstr>
      <vt:lpstr>Questions 5 – 7</vt:lpstr>
      <vt:lpstr>Make a Poster</vt:lpstr>
      <vt:lpstr>Football: Part A</vt:lpstr>
      <vt:lpstr>Football: Part B</vt:lpstr>
      <vt:lpstr>Key Takeaways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Assigning Variables</dc:title>
  <dc:subject>PptxGenJS Presentation</dc:subject>
  <dc:creator>PptxGenJS</dc:creator>
  <cp:lastModifiedBy>Habiba Hassan</cp:lastModifiedBy>
  <cp:revision>3</cp:revision>
  <dcterms:created xsi:type="dcterms:W3CDTF">2026-10-03T19:03:08Z</dcterms:created>
  <dcterms:modified xsi:type="dcterms:W3CDTF">2026-10-13T10:54:12Z</dcterms:modified>
</cp:coreProperties>
</file>