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A40E-C838-79D6-E065-EEA4003EA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8BA68-B8A8-C7A9-7FA5-9EC6C738E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08DA7-2D70-39CB-CBA5-C8C84D8D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28999-FA93-AD51-4193-C7D6DD694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7AFF7-2EB1-FEC8-6C11-234B4AA1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7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D348-4E90-33C8-2287-154DF4ED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C568D-5C48-18F5-7F94-6EAAB0126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95239-9035-1DB6-A91D-823C8ED5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DB62D-6937-28A6-0482-79DAA420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62FC9-8B52-4101-8729-46C1E27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15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291A-4672-4DB6-E726-97A5F911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0DA17-DD67-4BAB-12FE-F015415A6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FB7E0-830D-FBC5-0DFA-E0198CAC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2F398-BEA4-5052-4B9B-2E4E4F15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E9D5D-B6A4-4581-49EE-C2A25092C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3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354D-C14A-1AA6-A773-4635867C7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9E21C-8B55-BBAA-7C5F-C7AB4AB65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140C4-D5B2-C718-740B-B9637A4CA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0E378-7ACA-2B79-B5D2-437A1C11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228A6-CA44-7446-D160-0932BD0BC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2F379-A7B9-E934-857A-083CEAAB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6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7C47-ECAF-7E0B-5AB4-99902B898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A0744-CB3A-E621-B6C7-3CD87EA3D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70D61-CC77-2D67-016D-88B8508FA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4D079-F34C-11A5-1D78-A0D70B714E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079E3-4AC9-36AE-B143-55E2DEEB8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93068-B78D-3613-347B-A2505DC2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FF3BF-1D9A-6740-0499-02418C90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73A2B1-8693-0C0A-7C33-34F7A1B9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24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DFDB9-8C46-D8DF-3ABC-6EF38FC7E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F6B3C-2D0A-FD5B-CE66-4353ABE5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168DC-3886-6448-228B-4F2792769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14377-954E-E6FF-5DCD-05C13A2C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8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4202B5-13A6-7181-FDAD-DAD07340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07E4E-94CF-9153-56CE-4C69D07E8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3F82E-0952-4EFB-0ED8-BC6E8B0A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7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FBF4-C168-572D-EB77-F173E7E2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EB8F5-69F9-5CA9-FF9D-F42750F6B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1A1D7-CD26-8950-66DC-D0515666D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D876D-0FF4-664B-D86C-5AAEE02C3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2AB1C-B32B-0F00-B5A3-F25E355A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8139E-C318-1D5E-B673-669C89A9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81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63D42-311D-9008-645B-2258C1D01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85600F-6127-9F68-57EB-76BA5FEFDA8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2375B-AC17-B518-9AD6-7AC4EE987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C2FCB-8644-AE1A-8E67-6708C8A1D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B043E-7C94-925A-B4CC-59CD08C40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2FDFF-05A0-797C-B8CB-12A4A08B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60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2073-0EF8-D473-4ECB-A31CAFCAE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25E49-C349-13F1-9A13-70CC0CC70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11A66-276C-53E7-B237-153975CF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EDDD1-DFF6-58A3-57A6-B8EB094F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921E8-142D-C845-3226-75683C88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59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D836E1-15F1-0752-2480-3493B1852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BD05E-E754-3568-725D-942EE0860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C0F3F-6798-AB6B-2323-A98137D4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21636-02C1-105C-E936-C5290AC9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8C8D1-8D55-ADB3-991A-A28ED94B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0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0F4C99-AB59-AC79-974F-2A0C9A23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E43B1-15DA-53DE-6DEC-1D76ABF8F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EEEB7-533F-565D-C0FA-79FB4BD0D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9B4B5-01BD-6B43-BC19-460D5D025EF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27FD2-84E1-70C1-5538-266F509F7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5C45C-03FD-88C1-B552-67340FFFC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C4072-C9EC-5C4F-A055-F31632C7C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8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F404-25EB-72A4-6A2A-881F78747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034" y="-933544"/>
            <a:ext cx="12066495" cy="2451567"/>
          </a:xfrm>
        </p:spPr>
        <p:txBody>
          <a:bodyPr>
            <a:normAutofit/>
          </a:bodyPr>
          <a:lstStyle/>
          <a:p>
            <a:r>
              <a:rPr lang="en-GB" sz="5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Unit 1: Computational Thinking and Programming</a:t>
            </a:r>
            <a:endParaRPr lang="en-US" sz="54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3522B-E4AA-072E-96D3-1E76A2E67114}"/>
              </a:ext>
            </a:extLst>
          </p:cNvPr>
          <p:cNvSpPr txBox="1"/>
          <p:nvPr/>
        </p:nvSpPr>
        <p:spPr>
          <a:xfrm>
            <a:off x="3967627" y="1362751"/>
            <a:ext cx="61557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7030A0"/>
                </a:solidFill>
              </a:rPr>
              <a:t>1.1 Assigning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39195-5675-A143-3008-845977C23965}"/>
              </a:ext>
            </a:extLst>
          </p:cNvPr>
          <p:cNvSpPr txBox="1"/>
          <p:nvPr/>
        </p:nvSpPr>
        <p:spPr>
          <a:xfrm>
            <a:off x="470648" y="1985593"/>
            <a:ext cx="4138707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GB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Learning Objectives</a:t>
            </a:r>
            <a:endParaRPr lang="en-US" sz="32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BFB223-6A06-6936-C50F-F9CE769FF2F2}"/>
              </a:ext>
            </a:extLst>
          </p:cNvPr>
          <p:cNvSpPr txBox="1"/>
          <p:nvPr/>
        </p:nvSpPr>
        <p:spPr>
          <a:xfrm>
            <a:off x="2832554" y="2643366"/>
            <a:ext cx="7189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7030A0"/>
                </a:solidFill>
              </a:rPr>
              <a:t>By the end of the lesson, students will be able to: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00519C-B5F2-47EB-7517-F0BBCDE31EEC}"/>
              </a:ext>
            </a:extLst>
          </p:cNvPr>
          <p:cNvSpPr txBox="1"/>
          <p:nvPr/>
        </p:nvSpPr>
        <p:spPr>
          <a:xfrm>
            <a:off x="7712258" y="1986372"/>
            <a:ext cx="4138707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GB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Key Concepts</a:t>
            </a:r>
            <a:endParaRPr lang="en-US" sz="32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B643D6-0E9D-1310-804E-E52E892E80D1}"/>
              </a:ext>
            </a:extLst>
          </p:cNvPr>
          <p:cNvSpPr txBox="1"/>
          <p:nvPr/>
        </p:nvSpPr>
        <p:spPr>
          <a:xfrm>
            <a:off x="195730" y="3240175"/>
            <a:ext cx="796663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Define a variable as something that holds a value that can change.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DDA9AB-9860-0D79-4205-ED0F4AFA79CC}"/>
              </a:ext>
            </a:extLst>
          </p:cNvPr>
          <p:cNvSpPr txBox="1"/>
          <p:nvPr/>
        </p:nvSpPr>
        <p:spPr>
          <a:xfrm>
            <a:off x="245034" y="4002708"/>
            <a:ext cx="5737042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Identify values that can change in an algorithm.</a:t>
            </a:r>
            <a:endParaRPr lang="en-US" sz="20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B70A3C-6D52-71FF-34BD-1A2709E3523F}"/>
              </a:ext>
            </a:extLst>
          </p:cNvPr>
          <p:cNvSpPr txBox="1"/>
          <p:nvPr/>
        </p:nvSpPr>
        <p:spPr>
          <a:xfrm>
            <a:off x="222248" y="4715456"/>
            <a:ext cx="6056033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Assign values such as text or numbers to variables</a:t>
            </a:r>
            <a:endParaRPr lang="en-US" sz="20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ECD8D8-1203-E79D-A104-7558A9E39851}"/>
              </a:ext>
            </a:extLst>
          </p:cNvPr>
          <p:cNvSpPr txBox="1"/>
          <p:nvPr/>
        </p:nvSpPr>
        <p:spPr>
          <a:xfrm>
            <a:off x="234482" y="5356627"/>
            <a:ext cx="5758145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Create variables with meaningful names.</a:t>
            </a:r>
            <a:endParaRPr lang="en-US" sz="20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11F669-16C5-2296-09AB-ADF3869BA5BB}"/>
              </a:ext>
            </a:extLst>
          </p:cNvPr>
          <p:cNvSpPr txBox="1"/>
          <p:nvPr/>
        </p:nvSpPr>
        <p:spPr>
          <a:xfrm>
            <a:off x="195730" y="6069375"/>
            <a:ext cx="5758145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Modify an existing variable in Scratch.</a:t>
            </a:r>
            <a:endParaRPr lang="en-US" sz="20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8C9F44-B035-114E-018A-1EC59745E7F8}"/>
              </a:ext>
            </a:extLst>
          </p:cNvPr>
          <p:cNvSpPr txBox="1"/>
          <p:nvPr/>
        </p:nvSpPr>
        <p:spPr>
          <a:xfrm>
            <a:off x="8829381" y="3056667"/>
            <a:ext cx="2365186" cy="5411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Algorithm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9E6D13-4837-4024-BFE2-695375F4ADFF}"/>
              </a:ext>
            </a:extLst>
          </p:cNvPr>
          <p:cNvSpPr txBox="1"/>
          <p:nvPr/>
        </p:nvSpPr>
        <p:spPr>
          <a:xfrm>
            <a:off x="7712258" y="3752969"/>
            <a:ext cx="431408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Instructions and order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6743A-A092-42D8-D1C4-2F5DCA463EFF}"/>
              </a:ext>
            </a:extLst>
          </p:cNvPr>
          <p:cNvSpPr txBox="1"/>
          <p:nvPr/>
        </p:nvSpPr>
        <p:spPr>
          <a:xfrm>
            <a:off x="8855861" y="4380612"/>
            <a:ext cx="2058989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Loops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82171-6E8D-E531-56BC-EBEB77A03E86}"/>
              </a:ext>
            </a:extLst>
          </p:cNvPr>
          <p:cNvSpPr txBox="1"/>
          <p:nvPr/>
        </p:nvSpPr>
        <p:spPr>
          <a:xfrm>
            <a:off x="8686705" y="5012936"/>
            <a:ext cx="236518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Variables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C55F19-CB4F-F317-E286-7A9211550747}"/>
              </a:ext>
            </a:extLst>
          </p:cNvPr>
          <p:cNvSpPr txBox="1"/>
          <p:nvPr/>
        </p:nvSpPr>
        <p:spPr>
          <a:xfrm>
            <a:off x="8686705" y="5645260"/>
            <a:ext cx="236518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Values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0DAB28-AADA-AD6A-89D4-93644A99B1DA}"/>
              </a:ext>
            </a:extLst>
          </p:cNvPr>
          <p:cNvSpPr txBox="1"/>
          <p:nvPr/>
        </p:nvSpPr>
        <p:spPr>
          <a:xfrm>
            <a:off x="8360983" y="6269430"/>
            <a:ext cx="3048744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Changing data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8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86DB65-359F-5209-FA1B-B8286E031E97}"/>
              </a:ext>
            </a:extLst>
          </p:cNvPr>
          <p:cNvSpPr txBox="1"/>
          <p:nvPr/>
        </p:nvSpPr>
        <p:spPr>
          <a:xfrm>
            <a:off x="699245" y="158413"/>
            <a:ext cx="3729318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Key Vocabulary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B4D68-7408-B685-5884-11CEBB2F857F}"/>
              </a:ext>
            </a:extLst>
          </p:cNvPr>
          <p:cNvSpPr txBox="1"/>
          <p:nvPr/>
        </p:nvSpPr>
        <p:spPr>
          <a:xfrm>
            <a:off x="1171387" y="1184420"/>
            <a:ext cx="2318871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771968-CBD7-CA6C-B9F9-8E3E82850A07}"/>
              </a:ext>
            </a:extLst>
          </p:cNvPr>
          <p:cNvSpPr txBox="1"/>
          <p:nvPr/>
        </p:nvSpPr>
        <p:spPr>
          <a:xfrm>
            <a:off x="1171387" y="1961889"/>
            <a:ext cx="2318871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Value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54F75-7C1D-A5B7-2B96-72CE7EED5BFF}"/>
              </a:ext>
            </a:extLst>
          </p:cNvPr>
          <p:cNvSpPr txBox="1"/>
          <p:nvPr/>
        </p:nvSpPr>
        <p:spPr>
          <a:xfrm>
            <a:off x="1171387" y="2739358"/>
            <a:ext cx="2318871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Assign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713B80-B1BF-A602-BBB5-D63ECF2CB129}"/>
              </a:ext>
            </a:extLst>
          </p:cNvPr>
          <p:cNvSpPr txBox="1"/>
          <p:nvPr/>
        </p:nvSpPr>
        <p:spPr>
          <a:xfrm>
            <a:off x="466163" y="3469220"/>
            <a:ext cx="3729318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Variable assignment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75683D-422A-BA80-D4D2-728609647978}"/>
              </a:ext>
            </a:extLst>
          </p:cNvPr>
          <p:cNvSpPr txBox="1"/>
          <p:nvPr/>
        </p:nvSpPr>
        <p:spPr>
          <a:xfrm>
            <a:off x="1171387" y="4199082"/>
            <a:ext cx="2318871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Meaningful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AFD42C-EE2C-7A9B-57F3-4A3FA1DCCBE1}"/>
              </a:ext>
            </a:extLst>
          </p:cNvPr>
          <p:cNvSpPr txBox="1"/>
          <p:nvPr/>
        </p:nvSpPr>
        <p:spPr>
          <a:xfrm>
            <a:off x="1171387" y="4928944"/>
            <a:ext cx="2318871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Temporary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537752-8C43-B6B8-93C2-C9961DD8A5F7}"/>
              </a:ext>
            </a:extLst>
          </p:cNvPr>
          <p:cNvSpPr txBox="1"/>
          <p:nvPr/>
        </p:nvSpPr>
        <p:spPr>
          <a:xfrm>
            <a:off x="7763439" y="158413"/>
            <a:ext cx="3729318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40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Skills</a:t>
            </a:r>
            <a:endParaRPr lang="en-US" sz="40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DED75D-BD2A-CB0D-ACD3-6D4760BB7CF6}"/>
              </a:ext>
            </a:extLst>
          </p:cNvPr>
          <p:cNvSpPr txBox="1"/>
          <p:nvPr/>
        </p:nvSpPr>
        <p:spPr>
          <a:xfrm>
            <a:off x="7968135" y="1184420"/>
            <a:ext cx="331992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Writing algorithms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533E89-7983-6ED8-E102-BB920B481B60}"/>
              </a:ext>
            </a:extLst>
          </p:cNvPr>
          <p:cNvSpPr txBox="1"/>
          <p:nvPr/>
        </p:nvSpPr>
        <p:spPr>
          <a:xfrm>
            <a:off x="6686180" y="1961889"/>
            <a:ext cx="523090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Following instructions in order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B1C3C1-DCDD-84FD-08EB-382DF2D5C2A5}"/>
              </a:ext>
            </a:extLst>
          </p:cNvPr>
          <p:cNvSpPr txBox="1"/>
          <p:nvPr/>
        </p:nvSpPr>
        <p:spPr>
          <a:xfrm>
            <a:off x="7968135" y="2724409"/>
            <a:ext cx="331992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Using loops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DCB910-2599-AB99-621B-C4C85965B73C}"/>
              </a:ext>
            </a:extLst>
          </p:cNvPr>
          <p:cNvSpPr txBox="1"/>
          <p:nvPr/>
        </p:nvSpPr>
        <p:spPr>
          <a:xfrm>
            <a:off x="6680207" y="3580699"/>
            <a:ext cx="523090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Identifying changing values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0446B7-2785-8EE7-FDE8-009B7DFD4951}"/>
              </a:ext>
            </a:extLst>
          </p:cNvPr>
          <p:cNvSpPr txBox="1"/>
          <p:nvPr/>
        </p:nvSpPr>
        <p:spPr>
          <a:xfrm>
            <a:off x="4522697" y="4571711"/>
            <a:ext cx="7388412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Creating and modifying variables in Scratch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64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46EF-B3A8-24C6-3C6F-5D8C82AA2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2578" y="-106425"/>
            <a:ext cx="10278035" cy="901794"/>
          </a:xfrm>
        </p:spPr>
        <p:txBody>
          <a:bodyPr>
            <a:noAutofit/>
          </a:bodyPr>
          <a:lstStyle/>
          <a:p>
            <a:r>
              <a:rPr lang="en-GB" sz="6000" b="1" i="1" dirty="0">
                <a:solidFill>
                  <a:srgbClr val="7030A0"/>
                </a:solidFill>
              </a:rPr>
              <a:t>What is an Algorithm?</a:t>
            </a:r>
            <a:endParaRPr lang="en-US" sz="6000" b="1" i="1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79368-F813-2EFA-BD70-1ADE7615D634}"/>
              </a:ext>
            </a:extLst>
          </p:cNvPr>
          <p:cNvSpPr txBox="1"/>
          <p:nvPr/>
        </p:nvSpPr>
        <p:spPr>
          <a:xfrm>
            <a:off x="155387" y="752083"/>
            <a:ext cx="6956612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GB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An algorithm is a set of instructions written in a specific order.</a:t>
            </a:r>
            <a:endParaRPr lang="en-US" sz="32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343DF-540A-F171-82AA-7D35D689D448}"/>
              </a:ext>
            </a:extLst>
          </p:cNvPr>
          <p:cNvSpPr txBox="1"/>
          <p:nvPr/>
        </p:nvSpPr>
        <p:spPr>
          <a:xfrm>
            <a:off x="7853078" y="490473"/>
            <a:ext cx="3633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i="1" dirty="0">
                <a:solidFill>
                  <a:srgbClr val="7030A0"/>
                </a:solidFill>
              </a:rPr>
              <a:t>An algorithm tells us: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AA80B-F132-E74A-FD41-07C5D9B1E532}"/>
              </a:ext>
            </a:extLst>
          </p:cNvPr>
          <p:cNvSpPr txBox="1"/>
          <p:nvPr/>
        </p:nvSpPr>
        <p:spPr>
          <a:xfrm>
            <a:off x="7643899" y="978664"/>
            <a:ext cx="4052051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7030A0"/>
                </a:solidFill>
              </a:rPr>
              <a:t>What to do → and in what order to do 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9B427-6E0B-88EB-4F3F-642563EBF833}"/>
              </a:ext>
            </a:extLst>
          </p:cNvPr>
          <p:cNvSpPr txBox="1"/>
          <p:nvPr/>
        </p:nvSpPr>
        <p:spPr>
          <a:xfrm>
            <a:off x="155387" y="1956650"/>
            <a:ext cx="5474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Example: Making an Iced Coffee</a:t>
            </a:r>
            <a:endParaRPr lang="en-US" sz="28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93FB55-8D34-68B2-3B5C-EDF71842EF56}"/>
              </a:ext>
            </a:extLst>
          </p:cNvPr>
          <p:cNvSpPr txBox="1"/>
          <p:nvPr/>
        </p:nvSpPr>
        <p:spPr>
          <a:xfrm>
            <a:off x="176306" y="2578816"/>
            <a:ext cx="3801035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7030A0"/>
                </a:solidFill>
              </a:rPr>
              <a:t>Step 1: Get a glass.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F1DDDB-D4A0-E9CB-27E9-4713E10BD056}"/>
              </a:ext>
            </a:extLst>
          </p:cNvPr>
          <p:cNvSpPr txBox="1"/>
          <p:nvPr/>
        </p:nvSpPr>
        <p:spPr>
          <a:xfrm>
            <a:off x="176306" y="3318719"/>
            <a:ext cx="5608917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7030A0"/>
                </a:solidFill>
              </a:rPr>
              <a:t>Step 2: Put ice cubes in the glass.</a:t>
            </a:r>
            <a:endParaRPr lang="en-US" sz="2800" b="1" i="1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11855F-FA3D-9131-92CC-6AFCD9A9B28D}"/>
              </a:ext>
            </a:extLst>
          </p:cNvPr>
          <p:cNvSpPr txBox="1"/>
          <p:nvPr/>
        </p:nvSpPr>
        <p:spPr>
          <a:xfrm>
            <a:off x="176306" y="4026519"/>
            <a:ext cx="3801035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3200" b="1" i="1" dirty="0">
                <a:solidFill>
                  <a:srgbClr val="7030A0"/>
                </a:solidFill>
              </a:rPr>
              <a:t>Step 3: Add coffee.</a:t>
            </a:r>
            <a:endParaRPr lang="en-US" sz="3200" b="1" i="1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F0BF85-59B7-EAD2-CEEB-C8AF46D2C67A}"/>
              </a:ext>
            </a:extLst>
          </p:cNvPr>
          <p:cNvSpPr txBox="1"/>
          <p:nvPr/>
        </p:nvSpPr>
        <p:spPr>
          <a:xfrm>
            <a:off x="212164" y="4742343"/>
            <a:ext cx="3801035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3200" b="1" i="1" dirty="0">
                <a:solidFill>
                  <a:srgbClr val="7030A0"/>
                </a:solidFill>
              </a:rPr>
              <a:t>Step 4: Add milk.</a:t>
            </a:r>
            <a:endParaRPr lang="en-US" sz="3200" b="1" i="1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3625DD-B4DF-38AE-0BE6-6A9CAD9E0476}"/>
              </a:ext>
            </a:extLst>
          </p:cNvPr>
          <p:cNvSpPr txBox="1"/>
          <p:nvPr/>
        </p:nvSpPr>
        <p:spPr>
          <a:xfrm>
            <a:off x="212164" y="5521142"/>
            <a:ext cx="5608918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3200" b="1" i="1" dirty="0">
                <a:solidFill>
                  <a:srgbClr val="7030A0"/>
                </a:solidFill>
              </a:rPr>
              <a:t>Step 5: Add sugar if you want.</a:t>
            </a:r>
            <a:endParaRPr lang="en-US" sz="3200" b="1" i="1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1C18B2-4E4A-D832-FFAB-CB32FE070BA3}"/>
              </a:ext>
            </a:extLst>
          </p:cNvPr>
          <p:cNvSpPr txBox="1"/>
          <p:nvPr/>
        </p:nvSpPr>
        <p:spPr>
          <a:xfrm>
            <a:off x="212164" y="6228942"/>
            <a:ext cx="3801035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3200" b="1" i="1" dirty="0">
                <a:solidFill>
                  <a:srgbClr val="7030A0"/>
                </a:solidFill>
              </a:rPr>
              <a:t>Step 6: Stir well. </a:t>
            </a:r>
            <a:endParaRPr lang="en-US" sz="3200" b="1" i="1" dirty="0">
              <a:solidFill>
                <a:srgbClr val="7030A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F2235C-3DDE-6C0D-8B01-550FC0500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718" y="2100165"/>
            <a:ext cx="6122895" cy="47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0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5421-026D-BC4D-D78C-56A538EA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6129" y="-172758"/>
            <a:ext cx="6417235" cy="1236569"/>
          </a:xfrm>
        </p:spPr>
        <p:txBody>
          <a:bodyPr>
            <a:normAutofit/>
          </a:bodyPr>
          <a:lstStyle/>
          <a:p>
            <a:r>
              <a:rPr lang="en-GB" sz="6000" b="1" i="1" dirty="0">
                <a:solidFill>
                  <a:srgbClr val="7030A0"/>
                </a:solidFill>
              </a:rPr>
              <a:t>What is a Loop?</a:t>
            </a:r>
            <a:endParaRPr lang="en-US" sz="6000" b="1" i="1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C5A51-6826-60FE-EDB6-736A988EC75C}"/>
              </a:ext>
            </a:extLst>
          </p:cNvPr>
          <p:cNvSpPr txBox="1"/>
          <p:nvPr/>
        </p:nvSpPr>
        <p:spPr>
          <a:xfrm>
            <a:off x="3290047" y="912342"/>
            <a:ext cx="5611906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GB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 loop repeats instructions.</a:t>
            </a:r>
            <a:endParaRPr lang="en-US" sz="32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D47EA-71AE-1131-10CB-A33C29F5580A}"/>
              </a:ext>
            </a:extLst>
          </p:cNvPr>
          <p:cNvSpPr txBox="1"/>
          <p:nvPr/>
        </p:nvSpPr>
        <p:spPr>
          <a:xfrm>
            <a:off x="103093" y="1630047"/>
            <a:ext cx="6586071" cy="10772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7030A0"/>
                </a:solidFill>
              </a:rPr>
              <a:t>“After making our iced coffee, imagine we want to stir it 5 times.”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FB85-0B7B-5EC7-C6A7-31C30138FBAE}"/>
              </a:ext>
            </a:extLst>
          </p:cNvPr>
          <p:cNvSpPr txBox="1"/>
          <p:nvPr/>
        </p:nvSpPr>
        <p:spPr>
          <a:xfrm>
            <a:off x="4377763" y="4188449"/>
            <a:ext cx="2323354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rgbClr val="7030A0"/>
                </a:solidFill>
              </a:rPr>
              <a:t>Repeat → Stir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89503B-3EC1-3788-4915-FE63A2540DEE}"/>
              </a:ext>
            </a:extLst>
          </p:cNvPr>
          <p:cNvSpPr txBox="1"/>
          <p:nvPr/>
        </p:nvSpPr>
        <p:spPr>
          <a:xfrm>
            <a:off x="103093" y="2863754"/>
            <a:ext cx="3789083" cy="71105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7030A0"/>
                </a:solidFill>
              </a:rPr>
              <a:t>Without a Loop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E50D48-E9D7-3656-E637-2BF000B197A7}"/>
              </a:ext>
            </a:extLst>
          </p:cNvPr>
          <p:cNvSpPr txBox="1"/>
          <p:nvPr/>
        </p:nvSpPr>
        <p:spPr>
          <a:xfrm>
            <a:off x="516964" y="3668452"/>
            <a:ext cx="296134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Stir the coffee.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571758-B702-5A7D-CADC-C97CEE08420E}"/>
              </a:ext>
            </a:extLst>
          </p:cNvPr>
          <p:cNvSpPr txBox="1"/>
          <p:nvPr/>
        </p:nvSpPr>
        <p:spPr>
          <a:xfrm>
            <a:off x="516964" y="6224216"/>
            <a:ext cx="296134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Stir the coffee.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412FE7-0A23-80E2-B90C-957138AB3B9E}"/>
              </a:ext>
            </a:extLst>
          </p:cNvPr>
          <p:cNvSpPr txBox="1"/>
          <p:nvPr/>
        </p:nvSpPr>
        <p:spPr>
          <a:xfrm>
            <a:off x="516964" y="4923756"/>
            <a:ext cx="296134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Stir the coffee.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472865-5271-071A-3908-6FB8C5A694FD}"/>
              </a:ext>
            </a:extLst>
          </p:cNvPr>
          <p:cNvSpPr txBox="1"/>
          <p:nvPr/>
        </p:nvSpPr>
        <p:spPr>
          <a:xfrm>
            <a:off x="516964" y="5573986"/>
            <a:ext cx="296134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Stir the coffee.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C1107B-066C-9422-A013-70E4320C9B3D}"/>
              </a:ext>
            </a:extLst>
          </p:cNvPr>
          <p:cNvSpPr txBox="1"/>
          <p:nvPr/>
        </p:nvSpPr>
        <p:spPr>
          <a:xfrm>
            <a:off x="516964" y="4273526"/>
            <a:ext cx="296134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Stir the coffee.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F68C4C-2329-9397-1EDF-F52E50BD1366}"/>
              </a:ext>
            </a:extLst>
          </p:cNvPr>
          <p:cNvSpPr txBox="1"/>
          <p:nvPr/>
        </p:nvSpPr>
        <p:spPr>
          <a:xfrm>
            <a:off x="4078940" y="2903615"/>
            <a:ext cx="3487271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7030A0"/>
                </a:solidFill>
              </a:rPr>
              <a:t>With a Loop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923EDC-541A-E004-9A1E-ACB0D37AA7C4}"/>
              </a:ext>
            </a:extLst>
          </p:cNvPr>
          <p:cNvSpPr txBox="1"/>
          <p:nvPr/>
        </p:nvSpPr>
        <p:spPr>
          <a:xfrm>
            <a:off x="4072963" y="3568242"/>
            <a:ext cx="34872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5 times: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FFCADD-A45E-10A9-A006-2B6038C3B0F9}"/>
              </a:ext>
            </a:extLst>
          </p:cNvPr>
          <p:cNvSpPr txBox="1"/>
          <p:nvPr/>
        </p:nvSpPr>
        <p:spPr>
          <a:xfrm>
            <a:off x="4213412" y="4933184"/>
            <a:ext cx="2796988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</a:rPr>
              <a:t>We tell the loop how many times to repeat.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2FD192-D9E0-C685-3DF6-E06931962DF1}"/>
              </a:ext>
            </a:extLst>
          </p:cNvPr>
          <p:cNvSpPr txBox="1"/>
          <p:nvPr/>
        </p:nvSpPr>
        <p:spPr>
          <a:xfrm>
            <a:off x="7566211" y="1583178"/>
            <a:ext cx="3974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Count-Controlled Loop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0CF14F-1009-266A-8C40-7971351D01C1}"/>
              </a:ext>
            </a:extLst>
          </p:cNvPr>
          <p:cNvSpPr txBox="1"/>
          <p:nvPr/>
        </p:nvSpPr>
        <p:spPr>
          <a:xfrm>
            <a:off x="7010400" y="2086581"/>
            <a:ext cx="5414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What is a Count-Controlled Loop?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E2E0F5-8F04-EFBA-46C0-0901A2B51FC1}"/>
              </a:ext>
            </a:extLst>
          </p:cNvPr>
          <p:cNvSpPr txBox="1"/>
          <p:nvPr/>
        </p:nvSpPr>
        <p:spPr>
          <a:xfrm>
            <a:off x="7752975" y="2634753"/>
            <a:ext cx="4341911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7030A0"/>
                </a:solidFill>
              </a:rPr>
              <a:t>A count-controlled loop repeats instructions a specific number of times.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4A9EC-F2DB-DA2C-EC36-1DF961747175}"/>
              </a:ext>
            </a:extLst>
          </p:cNvPr>
          <p:cNvSpPr txBox="1"/>
          <p:nvPr/>
        </p:nvSpPr>
        <p:spPr>
          <a:xfrm>
            <a:off x="8743570" y="3849895"/>
            <a:ext cx="25848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7030A0"/>
                </a:solidFill>
              </a:rPr>
              <a:t>Example: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3C35DB-C5D9-5A92-53A0-7126D265F287}"/>
              </a:ext>
            </a:extLst>
          </p:cNvPr>
          <p:cNvSpPr txBox="1"/>
          <p:nvPr/>
        </p:nvSpPr>
        <p:spPr>
          <a:xfrm>
            <a:off x="8107824" y="4258137"/>
            <a:ext cx="38563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5 times:➡️ Stir the coffee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173C16-DD7C-4ADA-3621-B4D2F019536D}"/>
              </a:ext>
            </a:extLst>
          </p:cNvPr>
          <p:cNvSpPr txBox="1"/>
          <p:nvPr/>
        </p:nvSpPr>
        <p:spPr>
          <a:xfrm>
            <a:off x="8455211" y="5271294"/>
            <a:ext cx="2716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1" dirty="0">
                <a:solidFill>
                  <a:srgbClr val="7030A0"/>
                </a:solidFill>
              </a:rPr>
              <a:t>Another Example:</a:t>
            </a:r>
            <a:endParaRPr lang="en-US" sz="2400" b="1" i="1" dirty="0">
              <a:solidFill>
                <a:srgbClr val="7030A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3E2B22-AF82-5285-FC1D-FE2876EA7AEF}"/>
              </a:ext>
            </a:extLst>
          </p:cNvPr>
          <p:cNvSpPr txBox="1"/>
          <p:nvPr/>
        </p:nvSpPr>
        <p:spPr>
          <a:xfrm>
            <a:off x="8128754" y="5620152"/>
            <a:ext cx="406324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4 times:➡️ Move forward</a:t>
            </a:r>
          </a:p>
        </p:txBody>
      </p:sp>
    </p:spTree>
    <p:extLst>
      <p:ext uri="{BB962C8B-B14F-4D97-AF65-F5344CB8AC3E}">
        <p14:creationId xmlns:p14="http://schemas.microsoft.com/office/powerpoint/2010/main" val="1383284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C646C-BAE8-5E97-12BD-8A578CF7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565" y="-246098"/>
            <a:ext cx="5664200" cy="1200710"/>
          </a:xfrm>
        </p:spPr>
        <p:txBody>
          <a:bodyPr>
            <a:normAutofit/>
          </a:bodyPr>
          <a:lstStyle/>
          <a:p>
            <a:r>
              <a:rPr lang="ar-SA" sz="6000" b="1" i="1" dirty="0" err="1">
                <a:solidFill>
                  <a:srgbClr val="7030A0"/>
                </a:solidFill>
              </a:rPr>
              <a:t>Let’s</a:t>
            </a:r>
            <a:r>
              <a:rPr lang="ar-SA" sz="6000" b="1" i="1" dirty="0">
                <a:solidFill>
                  <a:srgbClr val="7030A0"/>
                </a:solidFill>
              </a:rPr>
              <a:t> </a:t>
            </a:r>
            <a:r>
              <a:rPr lang="ar-SA" sz="6000" b="1" i="1" dirty="0" err="1">
                <a:solidFill>
                  <a:srgbClr val="7030A0"/>
                </a:solidFill>
              </a:rPr>
              <a:t>Apply</a:t>
            </a:r>
            <a:r>
              <a:rPr lang="ar-SA" sz="6000" b="1" i="1" dirty="0">
                <a:solidFill>
                  <a:srgbClr val="7030A0"/>
                </a:solidFill>
              </a:rPr>
              <a:t> </a:t>
            </a:r>
            <a:r>
              <a:rPr lang="ar-SA" sz="6000" b="1" i="1" dirty="0" err="1">
                <a:solidFill>
                  <a:srgbClr val="7030A0"/>
                </a:solidFill>
              </a:rPr>
              <a:t>It</a:t>
            </a:r>
            <a:r>
              <a:rPr lang="ar-SA" sz="6000" b="1" i="1" dirty="0">
                <a:solidFill>
                  <a:srgbClr val="7030A0"/>
                </a:solidFill>
              </a:rPr>
              <a:t>!</a:t>
            </a:r>
            <a:endParaRPr lang="en-US" sz="6000" b="1" i="1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4DD24B-F8F1-C04D-FF71-6D5500E8D3BD}"/>
              </a:ext>
            </a:extLst>
          </p:cNvPr>
          <p:cNvSpPr txBox="1"/>
          <p:nvPr/>
        </p:nvSpPr>
        <p:spPr>
          <a:xfrm>
            <a:off x="3107018" y="759999"/>
            <a:ext cx="6275294" cy="8480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ar-SA" sz="2400" b="1" i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Help</a:t>
            </a:r>
            <a:r>
              <a:rPr lang="ar-SA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ar-SA" sz="2400" b="1" i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the</a:t>
            </a:r>
            <a:r>
              <a:rPr lang="ar-SA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ar-SA" sz="2400" b="1" i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Ladybug</a:t>
            </a:r>
            <a:r>
              <a:rPr lang="ar-SA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ar-SA" sz="2400" b="1" i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Reach</a:t>
            </a:r>
            <a:r>
              <a:rPr lang="ar-SA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ar-SA" sz="2400" b="1" i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the</a:t>
            </a:r>
            <a:r>
              <a:rPr lang="ar-SA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ar-SA" sz="2400" b="1" i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Bug</a:t>
            </a:r>
            <a:r>
              <a:rPr lang="ar-SA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ar-SA" sz="2400" b="1" i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Hotel</a:t>
            </a:r>
            <a:r>
              <a:rPr lang="en-US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Help the Ladybug Reach the Bug Hotel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B79329-1997-ED16-8886-1CB21A04A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598" y="1793792"/>
            <a:ext cx="6275294" cy="4959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322710-ABE6-BAEE-A223-E177684F81C8}"/>
              </a:ext>
            </a:extLst>
          </p:cNvPr>
          <p:cNvSpPr txBox="1"/>
          <p:nvPr/>
        </p:nvSpPr>
        <p:spPr>
          <a:xfrm>
            <a:off x="0" y="1610053"/>
            <a:ext cx="3829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7030A0"/>
                </a:solidFill>
              </a:rPr>
              <a:t>The ladybug understands: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C4847-FD6D-69E2-A50A-48A99D136CF0}"/>
              </a:ext>
            </a:extLst>
          </p:cNvPr>
          <p:cNvSpPr txBox="1"/>
          <p:nvPr/>
        </p:nvSpPr>
        <p:spPr>
          <a:xfrm>
            <a:off x="121108" y="2057448"/>
            <a:ext cx="3424516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➡️ Move forward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07155D-ACFE-14CD-0957-57021642F02E}"/>
              </a:ext>
            </a:extLst>
          </p:cNvPr>
          <p:cNvSpPr txBox="1"/>
          <p:nvPr/>
        </p:nvSpPr>
        <p:spPr>
          <a:xfrm>
            <a:off x="535114" y="2709882"/>
            <a:ext cx="2639144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↪️ Turn right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AFF72E-A1E4-EE7F-07E2-742DCF093097}"/>
              </a:ext>
            </a:extLst>
          </p:cNvPr>
          <p:cNvSpPr txBox="1"/>
          <p:nvPr/>
        </p:nvSpPr>
        <p:spPr>
          <a:xfrm>
            <a:off x="680309" y="3371339"/>
            <a:ext cx="2348753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↩️ Turn left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34599-174E-885D-3B86-6B26CD543F65}"/>
              </a:ext>
            </a:extLst>
          </p:cNvPr>
          <p:cNvSpPr txBox="1"/>
          <p:nvPr/>
        </p:nvSpPr>
        <p:spPr>
          <a:xfrm>
            <a:off x="660144" y="4036255"/>
            <a:ext cx="2495172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7030A0"/>
                </a:solidFill>
              </a:rPr>
              <a:t>Challenge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DF122F-4620-5014-6D07-A02EA8A02D35}"/>
              </a:ext>
            </a:extLst>
          </p:cNvPr>
          <p:cNvSpPr txBox="1"/>
          <p:nvPr/>
        </p:nvSpPr>
        <p:spPr>
          <a:xfrm>
            <a:off x="41835" y="4621030"/>
            <a:ext cx="6741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Write the instructions as a linear algorithm.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FAAE88-E348-29BD-8242-B5D40AB2C33C}"/>
              </a:ext>
            </a:extLst>
          </p:cNvPr>
          <p:cNvSpPr txBox="1"/>
          <p:nvPr/>
        </p:nvSpPr>
        <p:spPr>
          <a:xfrm>
            <a:off x="660144" y="5033711"/>
            <a:ext cx="2495172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7030A0"/>
                </a:solidFill>
              </a:rPr>
              <a:t>Challenge </a:t>
            </a:r>
            <a:r>
              <a:rPr lang="ar-SA" sz="3200" b="1" i="1" dirty="0">
                <a:solidFill>
                  <a:srgbClr val="7030A0"/>
                </a:solidFill>
              </a:rPr>
              <a:t>2</a:t>
            </a:r>
            <a:endParaRPr lang="en-US" sz="3200" b="1" i="1" dirty="0">
              <a:solidFill>
                <a:srgbClr val="7030A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11D901-8A9C-9B99-DA6A-717B61A528BC}"/>
              </a:ext>
            </a:extLst>
          </p:cNvPr>
          <p:cNvSpPr txBox="1"/>
          <p:nvPr/>
        </p:nvSpPr>
        <p:spPr>
          <a:xfrm>
            <a:off x="102831" y="5768840"/>
            <a:ext cx="54816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Can you make your algorithm shorter using a count-controlled loop?</a:t>
            </a:r>
          </a:p>
        </p:txBody>
      </p:sp>
    </p:spTree>
    <p:extLst>
      <p:ext uri="{BB962C8B-B14F-4D97-AF65-F5344CB8AC3E}">
        <p14:creationId xmlns:p14="http://schemas.microsoft.com/office/powerpoint/2010/main" val="1316137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1C4CC-18E1-F1C3-39E6-2B567724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848" y="-196662"/>
            <a:ext cx="8353612" cy="1296334"/>
          </a:xfrm>
        </p:spPr>
        <p:txBody>
          <a:bodyPr>
            <a:normAutofit/>
          </a:bodyPr>
          <a:lstStyle/>
          <a:p>
            <a:r>
              <a:rPr lang="ar-SA" sz="6000" b="1" i="1" dirty="0" err="1">
                <a:solidFill>
                  <a:srgbClr val="7030A0"/>
                </a:solidFill>
              </a:rPr>
              <a:t>Introducing</a:t>
            </a:r>
            <a:r>
              <a:rPr lang="ar-SA" sz="6000" b="1" i="1" dirty="0">
                <a:solidFill>
                  <a:srgbClr val="7030A0"/>
                </a:solidFill>
              </a:rPr>
              <a:t> </a:t>
            </a:r>
            <a:r>
              <a:rPr lang="ar-SA" sz="6000" b="1" i="1" dirty="0" err="1">
                <a:solidFill>
                  <a:srgbClr val="7030A0"/>
                </a:solidFill>
              </a:rPr>
              <a:t>Variables</a:t>
            </a:r>
            <a:endParaRPr lang="en-US" sz="6000" b="1" i="1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01282-C2F1-E22F-9AF7-AA4FC6A563C2}"/>
              </a:ext>
            </a:extLst>
          </p:cNvPr>
          <p:cNvSpPr txBox="1"/>
          <p:nvPr/>
        </p:nvSpPr>
        <p:spPr>
          <a:xfrm>
            <a:off x="4028142" y="807284"/>
            <a:ext cx="44943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What is a Variable?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25402-AB88-EACE-E46C-CA5D17D26ACF}"/>
              </a:ext>
            </a:extLst>
          </p:cNvPr>
          <p:cNvSpPr txBox="1"/>
          <p:nvPr/>
        </p:nvSpPr>
        <p:spPr>
          <a:xfrm>
            <a:off x="2856753" y="1392059"/>
            <a:ext cx="7614024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 variable stores data that can change.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CFBC9-9726-67ED-B6F7-3BE2E7CF60BD}"/>
              </a:ext>
            </a:extLst>
          </p:cNvPr>
          <p:cNvSpPr txBox="1"/>
          <p:nvPr/>
        </p:nvSpPr>
        <p:spPr>
          <a:xfrm>
            <a:off x="657412" y="1915278"/>
            <a:ext cx="32751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7030A0"/>
                </a:solidFill>
              </a:rPr>
              <a:t>Example: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7088B5-92AC-0B41-2EF3-A08B7D5A8C26}"/>
              </a:ext>
            </a:extLst>
          </p:cNvPr>
          <p:cNvSpPr txBox="1"/>
          <p:nvPr/>
        </p:nvSpPr>
        <p:spPr>
          <a:xfrm>
            <a:off x="149412" y="2623164"/>
            <a:ext cx="4291106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60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Score = 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281960-93AE-12D7-2754-E0E5090D3E9B}"/>
              </a:ext>
            </a:extLst>
          </p:cNvPr>
          <p:cNvSpPr txBox="1"/>
          <p:nvPr/>
        </p:nvSpPr>
        <p:spPr>
          <a:xfrm>
            <a:off x="194240" y="3865504"/>
            <a:ext cx="4291107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60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Score = 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228A55-3A09-CB46-D681-9FFE9218885F}"/>
              </a:ext>
            </a:extLst>
          </p:cNvPr>
          <p:cNvSpPr txBox="1"/>
          <p:nvPr/>
        </p:nvSpPr>
        <p:spPr>
          <a:xfrm>
            <a:off x="194240" y="4862890"/>
            <a:ext cx="6209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7030A0"/>
                </a:solidFill>
              </a:rPr>
              <a:t>The value has changed.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705EB-544C-BF57-26D2-2548B661125B}"/>
              </a:ext>
            </a:extLst>
          </p:cNvPr>
          <p:cNvSpPr txBox="1"/>
          <p:nvPr/>
        </p:nvSpPr>
        <p:spPr>
          <a:xfrm>
            <a:off x="144931" y="5489659"/>
            <a:ext cx="5508811" cy="132343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4000" b="1" i="1" dirty="0">
                <a:solidFill>
                  <a:srgbClr val="7030A0"/>
                </a:solidFill>
              </a:rPr>
              <a:t>A variable can hold a value that changes.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48D13B-0BE0-B9B2-1D02-167B55272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051" y="2148520"/>
            <a:ext cx="6209552" cy="470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44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Unit 1: Computational Thinking and Programming</vt:lpstr>
      <vt:lpstr>PowerPoint Presentation</vt:lpstr>
      <vt:lpstr>What is an Algorithm?</vt:lpstr>
      <vt:lpstr>What is a Loop?</vt:lpstr>
      <vt:lpstr>Let’s Apply It!</vt:lpstr>
      <vt:lpstr>Introducing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1: Computational Thinking and Programming</dc:title>
  <dc:creator>Habiba Hassan</dc:creator>
  <cp:lastModifiedBy>Habiba Hassan</cp:lastModifiedBy>
  <cp:revision>8</cp:revision>
  <dcterms:created xsi:type="dcterms:W3CDTF">2026-09-18T06:49:06Z</dcterms:created>
  <dcterms:modified xsi:type="dcterms:W3CDTF">2026-09-18T21:11:24Z</dcterms:modified>
</cp:coreProperties>
</file>