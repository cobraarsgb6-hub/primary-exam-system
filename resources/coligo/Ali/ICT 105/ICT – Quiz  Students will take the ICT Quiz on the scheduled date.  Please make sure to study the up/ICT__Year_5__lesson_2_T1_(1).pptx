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 /><Relationship Id="rId2" Type="http://schemas.openxmlformats.org/package/2006/relationships/metadata/core-properties" Target="docProps/core.xml" /><Relationship Id="rId1" Type="http://schemas.openxmlformats.org/officeDocument/2006/relationships/officeDocument" Target="ppt/presentation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176E9127-98C1-9BBF-E20D-46C2A66C0558}">
          <p14:sldIdLst>
            <p14:sldId id="256"/>
            <p14:sldId id="257"/>
            <p14:sldId id="258"/>
            <p14:sldId id="259"/>
          </p14:sldIdLst>
        </p14:section>
        <p14:section name="Arithmetic" id="{41A84949-6CD3-F4BC-A966-A9AD0014C5EC}">
          <p14:sldIdLst>
            <p14:sldId id="260"/>
            <p14:sldId id="261"/>
            <p14:sldId id="262"/>
          </p14:sldIdLst>
        </p14:section>
        <p14:section name="Variables and user input" id="{36696108-CA55-7DB3-84B2-D77FA453920B}">
          <p14:sldIdLst>
            <p14:sldId id="263"/>
            <p14:sldId id="264"/>
          </p14:sldIdLst>
        </p14:section>
        <p14:section name="Activities" id="{C1131A5D-C6EF-2FEE-2452-3278FC17F095}">
          <p14:sldIdLst>
            <p14:sldId id="265"/>
            <p14:sldId id="266"/>
            <p14:sldId id="267"/>
            <p14:sldId id="268"/>
          </p14:sldIdLst>
        </p14:section>
        <p14:section name="Comparison" id="{29330AF1-F6A4-A90C-A9CB-39A48CA40F4C}">
          <p14:sldIdLst>
            <p14:sldId id="269"/>
            <p14:sldId id="270"/>
            <p14:sldId id="271"/>
          </p14:sldIdLst>
        </p14:section>
        <p14:section name="Programming tasks" id="{DF27D318-E694-9D37-A5A5-787A40C7093F}">
          <p14:sldIdLst>
            <p14:sldId id="272"/>
            <p14:sldId id="273"/>
            <p14:sldId id="274"/>
            <p14:sldId id="27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slide" Target="slides/slide12.xml" /><Relationship Id="rId18" Type="http://schemas.openxmlformats.org/officeDocument/2006/relationships/slide" Target="slides/slide17.xml" /><Relationship Id="rId26" Type="http://schemas.openxmlformats.org/officeDocument/2006/relationships/tableStyles" Target="tableStyles.xml" /><Relationship Id="rId3" Type="http://schemas.openxmlformats.org/officeDocument/2006/relationships/slide" Target="slides/slide2.xml" /><Relationship Id="rId21" Type="http://schemas.openxmlformats.org/officeDocument/2006/relationships/slide" Target="slides/slide20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slide" Target="slides/slide16.xml" /><Relationship Id="rId25" Type="http://schemas.openxmlformats.org/officeDocument/2006/relationships/theme" Target="theme/theme1.xml" /><Relationship Id="rId2" Type="http://schemas.openxmlformats.org/officeDocument/2006/relationships/slide" Target="slides/slide1.xml" /><Relationship Id="rId16" Type="http://schemas.openxmlformats.org/officeDocument/2006/relationships/slide" Target="slides/slide15.xml" /><Relationship Id="rId20" Type="http://schemas.openxmlformats.org/officeDocument/2006/relationships/slide" Target="slides/slide19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24" Type="http://schemas.openxmlformats.org/officeDocument/2006/relationships/viewProps" Target="viewProps.xml" /><Relationship Id="rId5" Type="http://schemas.openxmlformats.org/officeDocument/2006/relationships/slide" Target="slides/slide4.xml" /><Relationship Id="rId15" Type="http://schemas.openxmlformats.org/officeDocument/2006/relationships/slide" Target="slides/slide14.xml" /><Relationship Id="rId23" Type="http://schemas.openxmlformats.org/officeDocument/2006/relationships/presProps" Target="presProps.xml" /><Relationship Id="rId10" Type="http://schemas.openxmlformats.org/officeDocument/2006/relationships/slide" Target="slides/slide9.xml" /><Relationship Id="rId19" Type="http://schemas.openxmlformats.org/officeDocument/2006/relationships/slide" Target="slides/slide18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slide" Target="slides/slide13.xml" /><Relationship Id="rId22" Type="http://schemas.openxmlformats.org/officeDocument/2006/relationships/notesMaster" Target="notesMasters/notesMaster1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E90559-EF4A-CD45-B982-591DC213E370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0B8C8A7-CA6B-8E46-9C10-0137D39A74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83626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 /><Relationship Id="rId1" Type="http://schemas.openxmlformats.org/officeDocument/2006/relationships/notesMaster" Target="../notesMasters/notesMaster1.xml" 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 /><Relationship Id="rId1" Type="http://schemas.openxmlformats.org/officeDocument/2006/relationships/notesMaster" Target="../notesMasters/notesMaster1.xml" 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 /><Relationship Id="rId1" Type="http://schemas.openxmlformats.org/officeDocument/2006/relationships/notesMaster" Target="../notesMasters/notesMaster1.xml" 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 /><Relationship Id="rId1" Type="http://schemas.openxmlformats.org/officeDocument/2006/relationships/notesMaster" Target="../notesMasters/notesMaster1.xml" 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 /><Relationship Id="rId1" Type="http://schemas.openxmlformats.org/officeDocument/2006/relationships/notesMaster" Target="../notesMasters/notesMaster1.xml" 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 /><Relationship Id="rId1" Type="http://schemas.openxmlformats.org/officeDocument/2006/relationships/notesMaster" Target="../notesMasters/notesMaster1.xml" 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 /><Relationship Id="rId1" Type="http://schemas.openxmlformats.org/officeDocument/2006/relationships/notesMaster" Target="../notesMasters/notesMaster1.xml" 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 /><Relationship Id="rId1" Type="http://schemas.openxmlformats.org/officeDocument/2006/relationships/notesMaster" Target="../notesMasters/notesMaster1.xml" 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 /><Relationship Id="rId1" Type="http://schemas.openxmlformats.org/officeDocument/2006/relationships/notesMaster" Target="../notesMasters/notesMaster1.xml" 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Welcome. Today's lesson is Unit 1, Computational Thinking and Programming, Lesson 1.2: Using operators. We will learn how computers do arithmetic with variables, take user input, and compare values.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five learning objectives. Each one matches a part of the lesson: arithmetic operators, variables, user input, the equal-to comparison operator, and finally building a calculator in Scratch.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six key words. Students will meet each one again during the lesson. Ask them to listen for these words and to use them when they explain their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Quick revision before the new topic. Check that students remember what a variable is, how to assign a value, and how to take user input in Scratch. A calculator is a computing device: input (7 + 6), process (calculate), output (13).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Start here: an operator is a symbol that tells the computer what type of calculation or comparison to carry out on two or more values. Examples: + add, – subtract, x multiply, / divide. In 7 + 6 the numbers are the values and + is the operator. This lesson focuses on + and –, and later on the equal-to comparison operator.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Arithmetic means using numbers in calculations. To make a computer do arithmetic we must give it clear instructions, for example to calculate a score in a video game or the total of a shopping bill. The two most important arithmetic operators are + for addition and – for subtraction. Example: 7 + 6 adds 7 and 6. 10 – 3 subtracts 3 from 10.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 the calculation is written as an algorithm. Line 1 assigns 7 to FirstNumber, line 2 assigns 6 to SecondNumber, line 3 adds them and assigns the answer 13 to Result. So the value assigned to Result is 13.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Mario uses variables because the number of fruits can change. Lines 1 to 4 assign the amounts; line 5 adds them: 200 + 100 + 300 + 50 = 650, stored in TotalFruits.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same algorithm works at any time because the user types the values each time it runs. That is why USER INPUT is so useful.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HOW: students work in pairs on paper. They go through each instruction in sequence and update the variable's value. ANSWERS: Q1 Result = 10. Q2 TotalApples = 25. Q3 SportsBalls = 4. Q4 Birds: Ducks 20, Chickens 4, Birds = 24, then Ducks is changed to 2, then Birds = Birds + Ducks = 24 + 2 = 26. Q5: any example, e.g. set Pens to 4, set Pencils to 3, set Total to Pens + Pencils = 7. How are we doing: 'set Birds to Ducks + 5' means take the value stored in Ducks, add 5 using the + arithmetic operator, and assign the result to Birds.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HOW: pairs read the three instructions, calculate each total, then discuss the two questions. ANSWERS: SweetCorn 3, Carrot 7, Beans 30.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Zara explains: when I use a calculator I assign values to variables when I press the buttons; this is my user input. HOW: students use a real calculator for 3941 + 678 and describe each step with the key words input, arithmetic operator, output, assign, variable. Answer: 4619.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Ask and answer. Question 1: compare the Scratch code with Zara's algorithm. Model answer: both ask for two numbers and add them. Zara's algorithm is shorter and written in plain English, so many students find it easier to understand; the Scratch code is longer because each input needs an ask block and a set block, but it can be run. Accept any answer with a reason.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equal-to operator returns True if both values are the same, otherwise False. With Height 150 the comparison is True. With Height 160 it is False. Conditions are questions with a yes (True) or no (False)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HOW: pairs read each set of instructions and write True or False. Answers: 2a True; 2b False; 3 any value other than full; 4 exactly 123ABC; 5 open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123ABC is weak. A strong password is long and easy to remember, such as three random words. Never write it down or share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Part A: predict what Frank says for each program. Answers: 1) I have 35 sports balls. 2) I have 15 sports balls because SportsBalls is reassigned: 35 - 20 = 15. 3) 3. 4) 11.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program shown is the second program. Line by line: 1-3 assign 5, 15 and 20. Line 4 adds Football and TennisBall: 35 stored in SportsBalls. Line 5 subtracts TennisBall from SportsBalls: 15, assigned back to SportsBalls. The last block displays the text with the value for 5 seconds. Frank says: I have 15 sports balls.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Arun's calculator does not work because the addition blocks are in the wrong order and the subtraction button has no code. Step 1: open 1.3_calculator and order the blocks to match the algorithm. Step 2: copy the stack for the minus sprite and change the + operator to –.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Recap the four big ideas. Did you know: the word algorithm comes from Muhammad ibn Musa al-Khwarizmi. In Latin his name was Algoritmi, from the title of his book on arithmetic, Algoritmi de numero Indorum, meaning the decimal number system.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0F4C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4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F7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 · Lesson 1.2 Using operators</a:t>
            </a:r>
            <a:endParaRPr lang="en-US" sz="10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2800" b="1" dirty="0">
                <a:solidFill>
                  <a:srgbClr val="0F4C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marL="0" indent="0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73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4" Type="http://schemas.openxmlformats.org/officeDocument/2006/relationships/theme" Target="../theme/theme1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2.xml" 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7" Type="http://schemas.openxmlformats.org/officeDocument/2006/relationships/image" Target="../media/image5.png" /><Relationship Id="rId2" Type="http://schemas.openxmlformats.org/officeDocument/2006/relationships/notesSlide" Target="../notesSlides/notesSlide2.xml" /><Relationship Id="rId1" Type="http://schemas.openxmlformats.org/officeDocument/2006/relationships/slideLayout" Target="../slideLayouts/slideLayout3.xml" /><Relationship Id="rId6" Type="http://schemas.openxmlformats.org/officeDocument/2006/relationships/image" Target="../media/image4.png" /><Relationship Id="rId5" Type="http://schemas.openxmlformats.org/officeDocument/2006/relationships/image" Target="../media/image3.png" /><Relationship Id="rId4" Type="http://schemas.openxmlformats.org/officeDocument/2006/relationships/image" Target="../media/image2.png" 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 /><Relationship Id="rId3" Type="http://schemas.openxmlformats.org/officeDocument/2006/relationships/image" Target="../media/image5.png" /><Relationship Id="rId7" Type="http://schemas.openxmlformats.org/officeDocument/2006/relationships/image" Target="../media/image3.png" /><Relationship Id="rId2" Type="http://schemas.openxmlformats.org/officeDocument/2006/relationships/notesSlide" Target="../notesSlides/notesSlide3.xml" /><Relationship Id="rId1" Type="http://schemas.openxmlformats.org/officeDocument/2006/relationships/slideLayout" Target="../slideLayouts/slideLayout3.xml" /><Relationship Id="rId6" Type="http://schemas.openxmlformats.org/officeDocument/2006/relationships/image" Target="../media/image7.png" /><Relationship Id="rId5" Type="http://schemas.openxmlformats.org/officeDocument/2006/relationships/image" Target="../media/image6.png" /><Relationship Id="rId4" Type="http://schemas.openxmlformats.org/officeDocument/2006/relationships/image" Target="../media/image1.png" 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notesSlide" Target="../notesSlides/notesSlide4.xml" /><Relationship Id="rId1" Type="http://schemas.openxmlformats.org/officeDocument/2006/relationships/slideLayout" Target="../slideLayouts/slideLayout3.xml" /><Relationship Id="rId6" Type="http://schemas.openxmlformats.org/officeDocument/2006/relationships/image" Target="../media/image5.png" /><Relationship Id="rId5" Type="http://schemas.openxmlformats.org/officeDocument/2006/relationships/image" Target="../media/image3.png" /><Relationship Id="rId4" Type="http://schemas.openxmlformats.org/officeDocument/2006/relationships/image" Target="../media/image8.png" 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 /><Relationship Id="rId1" Type="http://schemas.openxmlformats.org/officeDocument/2006/relationships/slideLayout" Target="../slideLayouts/slideLayout3.xml" 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 /><Relationship Id="rId2" Type="http://schemas.openxmlformats.org/officeDocument/2006/relationships/notesSlide" Target="../notesSlides/notesSlide6.xml" /><Relationship Id="rId1" Type="http://schemas.openxmlformats.org/officeDocument/2006/relationships/slideLayout" Target="../slideLayouts/slideLayout3.xml" /><Relationship Id="rId5" Type="http://schemas.openxmlformats.org/officeDocument/2006/relationships/image" Target="../media/image1.png" /><Relationship Id="rId4" Type="http://schemas.openxmlformats.org/officeDocument/2006/relationships/image" Target="../media/image9.png" 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 /><Relationship Id="rId1" Type="http://schemas.openxmlformats.org/officeDocument/2006/relationships/slideLayout" Target="../slideLayouts/slideLayout3.xml" 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 /><Relationship Id="rId2" Type="http://schemas.openxmlformats.org/officeDocument/2006/relationships/notesSlide" Target="../notesSlides/notesSlide8.xml" /><Relationship Id="rId1" Type="http://schemas.openxmlformats.org/officeDocument/2006/relationships/slideLayout" Target="../slideLayouts/slideLayout3.xml" 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 /><Relationship Id="rId2" Type="http://schemas.openxmlformats.org/officeDocument/2006/relationships/notesSlide" Target="../notesSlides/notesSlide9.xml" /><Relationship Id="rId1" Type="http://schemas.openxmlformats.org/officeDocument/2006/relationships/slideLayout" Target="../slideLayouts/slideLayout3.xml" 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 /><Relationship Id="rId1" Type="http://schemas.openxmlformats.org/officeDocument/2006/relationships/slideLayout" Target="../slideLayouts/slideLayout3.xml" 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 /><Relationship Id="rId2" Type="http://schemas.openxmlformats.org/officeDocument/2006/relationships/notesSlide" Target="../notesSlides/notesSlide11.xml" /><Relationship Id="rId1" Type="http://schemas.openxmlformats.org/officeDocument/2006/relationships/slideLayout" Target="../slideLayouts/slideLayout3.xml" 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 /><Relationship Id="rId2" Type="http://schemas.openxmlformats.org/officeDocument/2006/relationships/notesSlide" Target="../notesSlides/notesSlide12.xml" /><Relationship Id="rId1" Type="http://schemas.openxmlformats.org/officeDocument/2006/relationships/slideLayout" Target="../slideLayouts/slideLayout3.xml" /><Relationship Id="rId6" Type="http://schemas.openxmlformats.org/officeDocument/2006/relationships/image" Target="../media/image4.png" /><Relationship Id="rId5" Type="http://schemas.openxmlformats.org/officeDocument/2006/relationships/image" Target="../media/image2.png" /><Relationship Id="rId4" Type="http://schemas.openxmlformats.org/officeDocument/2006/relationships/image" Target="../media/image1.png" 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 /><Relationship Id="rId1" Type="http://schemas.openxmlformats.org/officeDocument/2006/relationships/slideLayout" Target="../slideLayouts/slideLayout3.xml" 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 /><Relationship Id="rId2" Type="http://schemas.openxmlformats.org/officeDocument/2006/relationships/notesSlide" Target="../notesSlides/notesSlide14.xml" /><Relationship Id="rId1" Type="http://schemas.openxmlformats.org/officeDocument/2006/relationships/slideLayout" Target="../slideLayouts/slideLayout3.xml" /><Relationship Id="rId5" Type="http://schemas.openxmlformats.org/officeDocument/2006/relationships/image" Target="../media/image7.png" /><Relationship Id="rId4" Type="http://schemas.openxmlformats.org/officeDocument/2006/relationships/image" Target="../media/image4.png" 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 /><Relationship Id="rId1" Type="http://schemas.openxmlformats.org/officeDocument/2006/relationships/slideLayout" Target="../slideLayouts/slideLayout3.xml" 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 /><Relationship Id="rId2" Type="http://schemas.openxmlformats.org/officeDocument/2006/relationships/notesSlide" Target="../notesSlides/notesSlide16.xml" /><Relationship Id="rId1" Type="http://schemas.openxmlformats.org/officeDocument/2006/relationships/slideLayout" Target="../slideLayouts/slideLayout3.xml" /><Relationship Id="rId5" Type="http://schemas.openxmlformats.org/officeDocument/2006/relationships/image" Target="../media/image14.png" /><Relationship Id="rId4" Type="http://schemas.openxmlformats.org/officeDocument/2006/relationships/image" Target="../media/image13.png" 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 /><Relationship Id="rId1" Type="http://schemas.openxmlformats.org/officeDocument/2006/relationships/slideLayout" Target="../slideLayouts/slideLayout3.xml" 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 /><Relationship Id="rId1" Type="http://schemas.openxmlformats.org/officeDocument/2006/relationships/slideLayout" Target="../slideLayouts/slideLayout3.xml" 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 /><Relationship Id="rId1" Type="http://schemas.openxmlformats.org/officeDocument/2006/relationships/slideLayout" Target="../slideLayouts/slideLayout3.xml" 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notesSlide" Target="../notesSlides/notesSlide20.xml" /><Relationship Id="rId1" Type="http://schemas.openxmlformats.org/officeDocument/2006/relationships/slideLayout" Target="../slideLayouts/slideLayout3.xml" /><Relationship Id="rId6" Type="http://schemas.openxmlformats.org/officeDocument/2006/relationships/image" Target="../media/image4.png" /><Relationship Id="rId5" Type="http://schemas.openxmlformats.org/officeDocument/2006/relationships/image" Target="../media/image3.png" /><Relationship Id="rId4" Type="http://schemas.openxmlformats.org/officeDocument/2006/relationships/image" Target="../media/image2.png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40080"/>
            <a:ext cx="1188720" cy="347472"/>
          </a:xfrm>
          <a:prstGeom prst="roundRect">
            <a:avLst>
              <a:gd name="adj" fmla="val 44737"/>
            </a:avLst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64008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4300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dirty="0">
                <a:solidFill>
                  <a:srgbClr val="CFE9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Computational Thinking and Programming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0574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FFC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1.2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514600"/>
            <a:ext cx="5303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Using Operators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74904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CFE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Arithmetic operators · Variables · User input · Comparison operators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309360" y="548640"/>
            <a:ext cx="2011680" cy="3118104"/>
          </a:xfrm>
          <a:prstGeom prst="roundRect">
            <a:avLst>
              <a:gd name="adj" fmla="val 6818"/>
            </a:avLst>
          </a:prstGeom>
          <a:solidFill>
            <a:srgbClr val="6CC24A"/>
          </a:solidFill>
          <a:ln w="12700">
            <a:solidFill>
              <a:srgbClr val="4E9F33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510528" y="735726"/>
            <a:ext cx="1609344" cy="498897"/>
          </a:xfrm>
          <a:prstGeom prst="roundRect">
            <a:avLst>
              <a:gd name="adj" fmla="val 9164"/>
            </a:avLst>
          </a:prstGeom>
          <a:solidFill>
            <a:srgbClr val="2E5E3A"/>
          </a:solidFill>
          <a:ln w="12700">
            <a:solidFill>
              <a:srgbClr val="2E5E3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510528" y="735726"/>
            <a:ext cx="1528877" cy="4988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C8F7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6510528" y="1484071"/>
            <a:ext cx="362102" cy="374172"/>
          </a:xfrm>
          <a:prstGeom prst="roundRect">
            <a:avLst>
              <a:gd name="adj" fmla="val 12626"/>
            </a:avLst>
          </a:prstGeom>
          <a:solidFill>
            <a:srgbClr val="FFFFFF"/>
          </a:solidFill>
          <a:ln w="6350">
            <a:solidFill>
              <a:srgbClr val="3E8E2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510528" y="1484071"/>
            <a:ext cx="362102" cy="374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953098" y="1484071"/>
            <a:ext cx="362102" cy="374172"/>
          </a:xfrm>
          <a:prstGeom prst="roundRect">
            <a:avLst>
              <a:gd name="adj" fmla="val 12626"/>
            </a:avLst>
          </a:prstGeom>
          <a:solidFill>
            <a:srgbClr val="FFFFFF"/>
          </a:solidFill>
          <a:ln w="6350">
            <a:solidFill>
              <a:srgbClr val="3E8E2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953098" y="1484071"/>
            <a:ext cx="362102" cy="374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395667" y="1484071"/>
            <a:ext cx="362102" cy="374172"/>
          </a:xfrm>
          <a:prstGeom prst="roundRect">
            <a:avLst>
              <a:gd name="adj" fmla="val 12626"/>
            </a:avLst>
          </a:prstGeom>
          <a:solidFill>
            <a:srgbClr val="FFFFFF"/>
          </a:solidFill>
          <a:ln w="6350">
            <a:solidFill>
              <a:srgbClr val="3E8E2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395667" y="1484071"/>
            <a:ext cx="362102" cy="374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838237" y="1484071"/>
            <a:ext cx="362102" cy="374172"/>
          </a:xfrm>
          <a:prstGeom prst="roundRect">
            <a:avLst>
              <a:gd name="adj" fmla="val 12626"/>
            </a:avLst>
          </a:prstGeom>
          <a:solidFill>
            <a:srgbClr val="FF8C1A"/>
          </a:solidFill>
          <a:ln w="6350">
            <a:solidFill>
              <a:srgbClr val="3E8E2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838237" y="1484071"/>
            <a:ext cx="362102" cy="374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510528" y="1951787"/>
            <a:ext cx="362102" cy="374172"/>
          </a:xfrm>
          <a:prstGeom prst="roundRect">
            <a:avLst>
              <a:gd name="adj" fmla="val 12626"/>
            </a:avLst>
          </a:prstGeom>
          <a:solidFill>
            <a:srgbClr val="FFFFFF"/>
          </a:solidFill>
          <a:ln w="6350">
            <a:solidFill>
              <a:srgbClr val="3E8E2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510528" y="1951787"/>
            <a:ext cx="362102" cy="374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953098" y="1951787"/>
            <a:ext cx="362102" cy="374172"/>
          </a:xfrm>
          <a:prstGeom prst="roundRect">
            <a:avLst>
              <a:gd name="adj" fmla="val 12626"/>
            </a:avLst>
          </a:prstGeom>
          <a:solidFill>
            <a:srgbClr val="FFFFFF"/>
          </a:solidFill>
          <a:ln w="6350">
            <a:solidFill>
              <a:srgbClr val="3E8E2E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953098" y="1951787"/>
            <a:ext cx="362102" cy="374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7395667" y="1951787"/>
            <a:ext cx="362102" cy="374172"/>
          </a:xfrm>
          <a:prstGeom prst="roundRect">
            <a:avLst>
              <a:gd name="adj" fmla="val 12626"/>
            </a:avLst>
          </a:prstGeom>
          <a:solidFill>
            <a:srgbClr val="FFFFFF"/>
          </a:solidFill>
          <a:ln w="6350">
            <a:solidFill>
              <a:srgbClr val="3E8E2E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395667" y="1951787"/>
            <a:ext cx="362102" cy="374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838237" y="1951787"/>
            <a:ext cx="362102" cy="374172"/>
          </a:xfrm>
          <a:prstGeom prst="roundRect">
            <a:avLst>
              <a:gd name="adj" fmla="val 12626"/>
            </a:avLst>
          </a:prstGeom>
          <a:solidFill>
            <a:srgbClr val="FF8C1A"/>
          </a:solidFill>
          <a:ln w="6350">
            <a:solidFill>
              <a:srgbClr val="3E8E2E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838237" y="1951787"/>
            <a:ext cx="362102" cy="374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510528" y="2419502"/>
            <a:ext cx="362102" cy="374172"/>
          </a:xfrm>
          <a:prstGeom prst="roundRect">
            <a:avLst>
              <a:gd name="adj" fmla="val 12626"/>
            </a:avLst>
          </a:prstGeom>
          <a:solidFill>
            <a:srgbClr val="FFFFFF"/>
          </a:solidFill>
          <a:ln w="6350">
            <a:solidFill>
              <a:srgbClr val="3E8E2E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510528" y="2419502"/>
            <a:ext cx="362102" cy="374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953098" y="2419502"/>
            <a:ext cx="362102" cy="374172"/>
          </a:xfrm>
          <a:prstGeom prst="roundRect">
            <a:avLst>
              <a:gd name="adj" fmla="val 12626"/>
            </a:avLst>
          </a:prstGeom>
          <a:solidFill>
            <a:srgbClr val="FFFFFF"/>
          </a:solidFill>
          <a:ln w="6350">
            <a:solidFill>
              <a:srgbClr val="3E8E2E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953098" y="2419502"/>
            <a:ext cx="362102" cy="374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7395667" y="2419502"/>
            <a:ext cx="362102" cy="374172"/>
          </a:xfrm>
          <a:prstGeom prst="roundRect">
            <a:avLst>
              <a:gd name="adj" fmla="val 12626"/>
            </a:avLst>
          </a:prstGeom>
          <a:solidFill>
            <a:srgbClr val="FFFFFF"/>
          </a:solidFill>
          <a:ln w="6350">
            <a:solidFill>
              <a:srgbClr val="3E8E2E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7395667" y="2419502"/>
            <a:ext cx="362102" cy="374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7838237" y="2419502"/>
            <a:ext cx="362102" cy="374172"/>
          </a:xfrm>
          <a:prstGeom prst="roundRect">
            <a:avLst>
              <a:gd name="adj" fmla="val 12626"/>
            </a:avLst>
          </a:prstGeom>
          <a:solidFill>
            <a:srgbClr val="FF8C1A"/>
          </a:solidFill>
          <a:ln w="6350">
            <a:solidFill>
              <a:srgbClr val="3E8E2E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7838237" y="2419502"/>
            <a:ext cx="362102" cy="374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6510528" y="2887218"/>
            <a:ext cx="362102" cy="374172"/>
          </a:xfrm>
          <a:prstGeom prst="roundRect">
            <a:avLst>
              <a:gd name="adj" fmla="val 12626"/>
            </a:avLst>
          </a:prstGeom>
          <a:solidFill>
            <a:srgbClr val="FFFFFF"/>
          </a:solidFill>
          <a:ln w="6350">
            <a:solidFill>
              <a:srgbClr val="3E8E2E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510528" y="2887218"/>
            <a:ext cx="362102" cy="374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6953098" y="2887218"/>
            <a:ext cx="362102" cy="374172"/>
          </a:xfrm>
          <a:prstGeom prst="roundRect">
            <a:avLst>
              <a:gd name="adj" fmla="val 12626"/>
            </a:avLst>
          </a:prstGeom>
          <a:solidFill>
            <a:srgbClr val="FFFFFF"/>
          </a:solidFill>
          <a:ln w="6350">
            <a:solidFill>
              <a:srgbClr val="3E8E2E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6953098" y="2887218"/>
            <a:ext cx="362102" cy="374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7395667" y="2887218"/>
            <a:ext cx="362102" cy="374172"/>
          </a:xfrm>
          <a:prstGeom prst="roundRect">
            <a:avLst>
              <a:gd name="adj" fmla="val 12626"/>
            </a:avLst>
          </a:prstGeom>
          <a:solidFill>
            <a:srgbClr val="FF8C1A"/>
          </a:solidFill>
          <a:ln w="6350">
            <a:solidFill>
              <a:srgbClr val="3E8E2E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7395667" y="2887218"/>
            <a:ext cx="362102" cy="374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7838237" y="2887218"/>
            <a:ext cx="362102" cy="374172"/>
          </a:xfrm>
          <a:prstGeom prst="roundRect">
            <a:avLst>
              <a:gd name="adj" fmla="val 12626"/>
            </a:avLst>
          </a:prstGeom>
          <a:solidFill>
            <a:srgbClr val="FF8C1A"/>
          </a:solidFill>
          <a:ln w="6350">
            <a:solidFill>
              <a:srgbClr val="3E8E2E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7838237" y="2887218"/>
            <a:ext cx="362102" cy="374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÷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6035040" y="3977640"/>
            <a:ext cx="1828800" cy="365760"/>
          </a:xfrm>
          <a:prstGeom prst="roundRect">
            <a:avLst>
              <a:gd name="adj" fmla="val 42500"/>
            </a:avLst>
          </a:prstGeom>
          <a:solidFill>
            <a:srgbClr val="FF8C1A"/>
          </a:solidFill>
          <a:ln w="12700">
            <a:solidFill>
              <a:srgbClr val="FF8C1A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6035040" y="39776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+ 6 = 13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4C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are going to learn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8229600" cy="621792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66928" y="1097280"/>
            <a:ext cx="530352" cy="530352"/>
          </a:xfrm>
          <a:prstGeom prst="ellipse">
            <a:avLst/>
          </a:prstGeom>
          <a:solidFill>
            <a:srgbClr val="1B8A8F"/>
          </a:solidFill>
          <a:ln w="12700">
            <a:solidFill>
              <a:srgbClr val="1B8A8F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605" y="1213957"/>
            <a:ext cx="296997" cy="296997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80160" y="1051560"/>
            <a:ext cx="7223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instructions for adding and subtracting numbers using the plus (+) and minus (–) symbols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457200" y="1764792"/>
            <a:ext cx="8229600" cy="621792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66928" y="1810512"/>
            <a:ext cx="530352" cy="530352"/>
          </a:xfrm>
          <a:prstGeom prst="ellipse">
            <a:avLst/>
          </a:prstGeom>
          <a:solidFill>
            <a:srgbClr val="FF8C1A"/>
          </a:solidFill>
          <a:ln w="12700">
            <a:solidFill>
              <a:srgbClr val="FF8C1A"/>
            </a:solidFill>
            <a:prstDash val="solid"/>
          </a:ln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3605" y="1927189"/>
            <a:ext cx="296997" cy="296997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280160" y="1764792"/>
            <a:ext cx="7223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and subtract values held inside variables and output the answer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457200" y="2478024"/>
            <a:ext cx="8229600" cy="621792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566928" y="2523744"/>
            <a:ext cx="530352" cy="530352"/>
          </a:xfrm>
          <a:prstGeom prst="ellipse">
            <a:avLst/>
          </a:prstGeom>
          <a:solidFill>
            <a:srgbClr val="7E57C2"/>
          </a:solidFill>
          <a:ln w="12700">
            <a:solidFill>
              <a:srgbClr val="7E57C2"/>
            </a:solidFill>
            <a:prstDash val="solid"/>
          </a:ln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3605" y="2640421"/>
            <a:ext cx="296997" cy="296997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280160" y="2478024"/>
            <a:ext cx="7223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values that a user inputs in variables to perform calculations</a:t>
            </a:r>
            <a:endParaRPr lang="en-US" sz="1500" dirty="0"/>
          </a:p>
        </p:txBody>
      </p:sp>
      <p:sp>
        <p:nvSpPr>
          <p:cNvPr id="15" name="Shape 10"/>
          <p:cNvSpPr/>
          <p:nvPr/>
        </p:nvSpPr>
        <p:spPr>
          <a:xfrm>
            <a:off x="457200" y="3191256"/>
            <a:ext cx="8229600" cy="621792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566928" y="3236976"/>
            <a:ext cx="530352" cy="530352"/>
          </a:xfrm>
          <a:prstGeom prst="ellipse">
            <a:avLst/>
          </a:prstGeom>
          <a:solidFill>
            <a:srgbClr val="3FAE5A"/>
          </a:solidFill>
          <a:ln w="12700">
            <a:solidFill>
              <a:srgbClr val="3FAE5A"/>
            </a:solidFill>
            <a:prstDash val="solid"/>
          </a:ln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3605" y="3353653"/>
            <a:ext cx="296997" cy="296997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280160" y="3191256"/>
            <a:ext cx="7223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‘equal to’ comparison operator to check if values are the same</a:t>
            </a:r>
            <a:endParaRPr lang="en-US" sz="1500" dirty="0"/>
          </a:p>
        </p:txBody>
      </p:sp>
      <p:sp>
        <p:nvSpPr>
          <p:cNvPr id="19" name="Shape 13"/>
          <p:cNvSpPr/>
          <p:nvPr/>
        </p:nvSpPr>
        <p:spPr>
          <a:xfrm>
            <a:off x="457200" y="3904488"/>
            <a:ext cx="8229600" cy="621792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4"/>
          <p:cNvSpPr/>
          <p:nvPr/>
        </p:nvSpPr>
        <p:spPr>
          <a:xfrm>
            <a:off x="566928" y="3950208"/>
            <a:ext cx="530352" cy="530352"/>
          </a:xfrm>
          <a:prstGeom prst="ellipse">
            <a:avLst/>
          </a:prstGeom>
          <a:solidFill>
            <a:srgbClr val="4C97FF"/>
          </a:solidFill>
          <a:ln w="12700">
            <a:solidFill>
              <a:srgbClr val="4C97FF"/>
            </a:solidFill>
            <a:prstDash val="solid"/>
          </a:ln>
        </p:spPr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3605" y="4066885"/>
            <a:ext cx="296997" cy="296997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1280160" y="3904488"/>
            <a:ext cx="7223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Modify and develop a calculator program to perform simple calculations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73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4C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words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2651760" cy="1645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94360" y="1188720"/>
            <a:ext cx="457200" cy="457200"/>
          </a:xfrm>
          <a:prstGeom prst="ellipse">
            <a:avLst/>
          </a:prstGeom>
          <a:solidFill>
            <a:srgbClr val="1B8A8F"/>
          </a:solidFill>
          <a:ln w="12700">
            <a:solidFill>
              <a:srgbClr val="1B8A8F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1289304"/>
            <a:ext cx="256032" cy="25603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143000" y="118872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Arithmetic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594360" y="178308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numbers in calculations and counting, such as adding or subtracting.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3246120" y="1051560"/>
            <a:ext cx="2651760" cy="1645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3383280" y="1188720"/>
            <a:ext cx="457200" cy="457200"/>
          </a:xfrm>
          <a:prstGeom prst="ellipse">
            <a:avLst/>
          </a:prstGeom>
          <a:solidFill>
            <a:srgbClr val="FF8C1A"/>
          </a:solidFill>
          <a:ln w="12700">
            <a:solidFill>
              <a:srgbClr val="FF8C1A"/>
            </a:solidFill>
            <a:prstDash val="solid"/>
          </a:ln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83864" y="1289304"/>
            <a:ext cx="256032" cy="25603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931920" y="118872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Arithmetic operator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3383280" y="178308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symbol (+ or –) that tells the computer which calculation to do on two or more values.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6035040" y="1051560"/>
            <a:ext cx="2651760" cy="1645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6172200" y="1188720"/>
            <a:ext cx="457200" cy="457200"/>
          </a:xfrm>
          <a:prstGeom prst="ellipse">
            <a:avLst/>
          </a:prstGeom>
          <a:solidFill>
            <a:srgbClr val="3FAE5A"/>
          </a:solidFill>
          <a:ln w="12700">
            <a:solidFill>
              <a:srgbClr val="3FAE5A"/>
            </a:solidFill>
            <a:prstDash val="solid"/>
          </a:ln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1289304"/>
            <a:ext cx="256032" cy="256032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720840" y="118872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operator</a:t>
            </a:r>
            <a:endParaRPr lang="en-US" sz="1500" dirty="0"/>
          </a:p>
        </p:txBody>
      </p:sp>
      <p:sp>
        <p:nvSpPr>
          <p:cNvPr id="17" name="Text 12"/>
          <p:cNvSpPr txBox="1"/>
          <p:nvPr/>
        </p:nvSpPr>
        <p:spPr>
          <a:xfrm>
            <a:off x="6172200" y="178308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Compares two values and returns True or False.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457200" y="2834640"/>
            <a:ext cx="2651760" cy="1645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594360" y="2971800"/>
            <a:ext cx="457200" cy="457200"/>
          </a:xfrm>
          <a:prstGeom prst="ellipse">
            <a:avLst/>
          </a:prstGeom>
          <a:solidFill>
            <a:srgbClr val="7E57C2"/>
          </a:solidFill>
          <a:ln w="12700">
            <a:solidFill>
              <a:srgbClr val="7E57C2"/>
            </a:solidFill>
            <a:prstDash val="solid"/>
          </a:ln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4944" y="3072384"/>
            <a:ext cx="256032" cy="256032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143000" y="297180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</a:t>
            </a:r>
            <a:endParaRPr lang="en-US" sz="1500" dirty="0"/>
          </a:p>
        </p:txBody>
      </p:sp>
      <p:sp>
        <p:nvSpPr>
          <p:cNvPr id="22" name="Text 16"/>
          <p:cNvSpPr txBox="1"/>
          <p:nvPr/>
        </p:nvSpPr>
        <p:spPr>
          <a:xfrm>
            <a:off x="594360" y="356616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question in an algorithm whose answer is True or False (yes or no).</a:t>
            </a:r>
            <a:endParaRPr lang="en-US" sz="1300" dirty="0"/>
          </a:p>
        </p:txBody>
      </p:sp>
      <p:sp>
        <p:nvSpPr>
          <p:cNvPr id="23" name="Shape 17"/>
          <p:cNvSpPr/>
          <p:nvPr/>
        </p:nvSpPr>
        <p:spPr>
          <a:xfrm>
            <a:off x="3246120" y="2834640"/>
            <a:ext cx="2651760" cy="1645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3383280" y="2971800"/>
            <a:ext cx="457200" cy="457200"/>
          </a:xfrm>
          <a:prstGeom prst="ellipse">
            <a:avLst/>
          </a:prstGeom>
          <a:solidFill>
            <a:srgbClr val="4C97FF"/>
          </a:solidFill>
          <a:ln w="12700">
            <a:solidFill>
              <a:srgbClr val="4C97FF"/>
            </a:solidFill>
            <a:prstDash val="solid"/>
          </a:ln>
        </p:spPr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83864" y="3072384"/>
            <a:ext cx="256032" cy="256032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3931920" y="297180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input</a:t>
            </a:r>
            <a:endParaRPr lang="en-US" sz="1500" dirty="0"/>
          </a:p>
        </p:txBody>
      </p:sp>
      <p:sp>
        <p:nvSpPr>
          <p:cNvPr id="27" name="Text 20"/>
          <p:cNvSpPr txBox="1"/>
          <p:nvPr/>
        </p:nvSpPr>
        <p:spPr>
          <a:xfrm>
            <a:off x="3383280" y="356616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that a user gives to a computer, e.g. typing on a keyboard.</a:t>
            </a:r>
            <a:endParaRPr lang="en-US" sz="1300" dirty="0"/>
          </a:p>
        </p:txBody>
      </p:sp>
      <p:sp>
        <p:nvSpPr>
          <p:cNvPr id="28" name="Shape 21"/>
          <p:cNvSpPr/>
          <p:nvPr/>
        </p:nvSpPr>
        <p:spPr>
          <a:xfrm>
            <a:off x="6035040" y="2834640"/>
            <a:ext cx="2651760" cy="1645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Shape 22"/>
          <p:cNvSpPr/>
          <p:nvPr/>
        </p:nvSpPr>
        <p:spPr>
          <a:xfrm>
            <a:off x="6172200" y="2971800"/>
            <a:ext cx="457200" cy="457200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72784" y="3072384"/>
            <a:ext cx="256032" cy="256032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6720840" y="297180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</a:t>
            </a:r>
            <a:endParaRPr lang="en-US" sz="1500" dirty="0"/>
          </a:p>
        </p:txBody>
      </p:sp>
      <p:sp>
        <p:nvSpPr>
          <p:cNvPr id="32" name="Text 24"/>
          <p:cNvSpPr txBox="1"/>
          <p:nvPr/>
        </p:nvSpPr>
        <p:spPr>
          <a:xfrm>
            <a:off x="6172200" y="356616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named container that holds a value that can change.</a:t>
            </a:r>
            <a:endParaRPr lang="en-US" sz="1300" dirty="0"/>
          </a:p>
        </p:txBody>
      </p:sp>
      <p:sp>
        <p:nvSpPr>
          <p:cNvPr id="3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73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4C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Getting started: what do you already know?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4572000" cy="749808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66928" y="1143000"/>
            <a:ext cx="566928" cy="566928"/>
          </a:xfrm>
          <a:prstGeom prst="ellipse">
            <a:avLst/>
          </a:prstGeom>
          <a:solidFill>
            <a:srgbClr val="1B8A8F"/>
          </a:solidFill>
          <a:ln w="12700">
            <a:solidFill>
              <a:srgbClr val="1B8A8F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652" y="1267724"/>
            <a:ext cx="317480" cy="3174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80160" y="1051560"/>
            <a:ext cx="3657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hold values that can change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457200" y="1920240"/>
            <a:ext cx="4572000" cy="749808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66928" y="2011680"/>
            <a:ext cx="566928" cy="566928"/>
          </a:xfrm>
          <a:prstGeom prst="ellipse">
            <a:avLst/>
          </a:prstGeom>
          <a:solidFill>
            <a:srgbClr val="FF8C1A"/>
          </a:solidFill>
          <a:ln w="12700">
            <a:solidFill>
              <a:srgbClr val="FF8C1A"/>
            </a:solidFill>
            <a:prstDash val="solid"/>
          </a:ln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1652" y="2136404"/>
            <a:ext cx="317480" cy="31748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280160" y="1920240"/>
            <a:ext cx="3657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create a variable and assign a value to it in Scratch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457200" y="2788920"/>
            <a:ext cx="4572000" cy="749808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566928" y="2880360"/>
            <a:ext cx="566928" cy="566928"/>
          </a:xfrm>
          <a:prstGeom prst="ellipse">
            <a:avLst/>
          </a:prstGeom>
          <a:solidFill>
            <a:srgbClr val="7E57C2"/>
          </a:solidFill>
          <a:ln w="12700">
            <a:solidFill>
              <a:srgbClr val="7E57C2"/>
            </a:solidFill>
            <a:prstDash val="solid"/>
          </a:ln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1652" y="3005084"/>
            <a:ext cx="317480" cy="31748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280160" y="2788920"/>
            <a:ext cx="3657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take a user input from the keyboard in Scratch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457200" y="3657600"/>
            <a:ext cx="4572000" cy="749808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566928" y="3749040"/>
            <a:ext cx="566928" cy="566928"/>
          </a:xfrm>
          <a:prstGeom prst="ellipse">
            <a:avLst/>
          </a:prstGeom>
          <a:solidFill>
            <a:srgbClr val="3FAE5A"/>
          </a:solidFill>
          <a:ln w="12700">
            <a:solidFill>
              <a:srgbClr val="3FAE5A"/>
            </a:solidFill>
            <a:prstDash val="solid"/>
          </a:ln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1652" y="3873764"/>
            <a:ext cx="317480" cy="31748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280160" y="3657600"/>
            <a:ext cx="3657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calculator is a computing device: it takes inputs, processes them and produces outputs</a:t>
            </a:r>
            <a:endParaRPr lang="en-US" sz="1300" dirty="0"/>
          </a:p>
        </p:txBody>
      </p:sp>
      <p:sp>
        <p:nvSpPr>
          <p:cNvPr id="19" name="Shape 13"/>
          <p:cNvSpPr/>
          <p:nvPr/>
        </p:nvSpPr>
        <p:spPr>
          <a:xfrm>
            <a:off x="5486400" y="1051560"/>
            <a:ext cx="32004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Text 14"/>
          <p:cNvSpPr txBox="1"/>
          <p:nvPr/>
        </p:nvSpPr>
        <p:spPr>
          <a:xfrm>
            <a:off x="5669280" y="1143000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500" dirty="0"/>
          </a:p>
        </p:txBody>
      </p:sp>
      <p:sp>
        <p:nvSpPr>
          <p:cNvPr id="21" name="Shape 15"/>
          <p:cNvSpPr/>
          <p:nvPr/>
        </p:nvSpPr>
        <p:spPr>
          <a:xfrm>
            <a:off x="6858000" y="1280160"/>
            <a:ext cx="1645920" cy="457200"/>
          </a:xfrm>
          <a:prstGeom prst="roundRect">
            <a:avLst>
              <a:gd name="adj" fmla="val 34000"/>
            </a:avLst>
          </a:prstGeom>
          <a:solidFill>
            <a:srgbClr val="7E57C2"/>
          </a:solidFill>
          <a:ln w="12700">
            <a:solidFill>
              <a:srgbClr val="7E57C2"/>
            </a:solidFill>
            <a:prstDash val="solid"/>
          </a:ln>
        </p:spPr>
      </p:sp>
      <p:sp>
        <p:nvSpPr>
          <p:cNvPr id="22" name="Text 16"/>
          <p:cNvSpPr txBox="1"/>
          <p:nvPr/>
        </p:nvSpPr>
        <p:spPr>
          <a:xfrm>
            <a:off x="6858000" y="12801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+ 6</a:t>
            </a:r>
            <a:endParaRPr lang="en-US" sz="1500" dirty="0"/>
          </a:p>
        </p:txBody>
      </p:sp>
      <p:sp>
        <p:nvSpPr>
          <p:cNvPr id="23" name="Text 17"/>
          <p:cNvSpPr txBox="1"/>
          <p:nvPr/>
        </p:nvSpPr>
        <p:spPr>
          <a:xfrm>
            <a:off x="5486400" y="19659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5F7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800" dirty="0"/>
          </a:p>
        </p:txBody>
      </p:sp>
      <p:sp>
        <p:nvSpPr>
          <p:cNvPr id="24" name="Shape 18"/>
          <p:cNvSpPr/>
          <p:nvPr/>
        </p:nvSpPr>
        <p:spPr>
          <a:xfrm>
            <a:off x="5486400" y="2286000"/>
            <a:ext cx="32004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Text 19"/>
          <p:cNvSpPr txBox="1"/>
          <p:nvPr/>
        </p:nvSpPr>
        <p:spPr>
          <a:xfrm>
            <a:off x="5669280" y="2377440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</a:t>
            </a:r>
            <a:endParaRPr lang="en-US" sz="1500" dirty="0"/>
          </a:p>
        </p:txBody>
      </p:sp>
      <p:sp>
        <p:nvSpPr>
          <p:cNvPr id="26" name="Shape 20"/>
          <p:cNvSpPr/>
          <p:nvPr/>
        </p:nvSpPr>
        <p:spPr>
          <a:xfrm>
            <a:off x="6858000" y="2514600"/>
            <a:ext cx="1645920" cy="457200"/>
          </a:xfrm>
          <a:prstGeom prst="roundRect">
            <a:avLst>
              <a:gd name="adj" fmla="val 34000"/>
            </a:avLst>
          </a:prstGeom>
          <a:solidFill>
            <a:srgbClr val="FF8C1A"/>
          </a:solidFill>
          <a:ln w="12700">
            <a:solidFill>
              <a:srgbClr val="FF8C1A"/>
            </a:solidFill>
            <a:prstDash val="solid"/>
          </a:ln>
        </p:spPr>
      </p:sp>
      <p:sp>
        <p:nvSpPr>
          <p:cNvPr id="27" name="Text 21"/>
          <p:cNvSpPr txBox="1"/>
          <p:nvPr/>
        </p:nvSpPr>
        <p:spPr>
          <a:xfrm>
            <a:off x="6858000" y="25146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</a:t>
            </a:r>
            <a:endParaRPr lang="en-US" sz="1500" dirty="0"/>
          </a:p>
        </p:txBody>
      </p:sp>
      <p:sp>
        <p:nvSpPr>
          <p:cNvPr id="28" name="Text 22"/>
          <p:cNvSpPr txBox="1"/>
          <p:nvPr/>
        </p:nvSpPr>
        <p:spPr>
          <a:xfrm>
            <a:off x="5486400" y="32004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5F7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800" dirty="0"/>
          </a:p>
        </p:txBody>
      </p:sp>
      <p:sp>
        <p:nvSpPr>
          <p:cNvPr id="29" name="Shape 23"/>
          <p:cNvSpPr/>
          <p:nvPr/>
        </p:nvSpPr>
        <p:spPr>
          <a:xfrm>
            <a:off x="5486400" y="3520440"/>
            <a:ext cx="32004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Text 24"/>
          <p:cNvSpPr txBox="1"/>
          <p:nvPr/>
        </p:nvSpPr>
        <p:spPr>
          <a:xfrm>
            <a:off x="5669280" y="3611880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500" dirty="0"/>
          </a:p>
        </p:txBody>
      </p:sp>
      <p:sp>
        <p:nvSpPr>
          <p:cNvPr id="31" name="Shape 25"/>
          <p:cNvSpPr/>
          <p:nvPr/>
        </p:nvSpPr>
        <p:spPr>
          <a:xfrm>
            <a:off x="6858000" y="3749040"/>
            <a:ext cx="1645920" cy="457200"/>
          </a:xfrm>
          <a:prstGeom prst="roundRect">
            <a:avLst>
              <a:gd name="adj" fmla="val 34000"/>
            </a:avLst>
          </a:prstGeom>
          <a:solidFill>
            <a:srgbClr val="3FAE5A"/>
          </a:solidFill>
          <a:ln w="12700">
            <a:solidFill>
              <a:srgbClr val="3FAE5A"/>
            </a:solidFill>
            <a:prstDash val="solid"/>
          </a:ln>
        </p:spPr>
      </p:sp>
      <p:sp>
        <p:nvSpPr>
          <p:cNvPr id="32" name="Text 26"/>
          <p:cNvSpPr txBox="1"/>
          <p:nvPr/>
        </p:nvSpPr>
        <p:spPr>
          <a:xfrm>
            <a:off x="6858000" y="37490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500" dirty="0"/>
          </a:p>
        </p:txBody>
      </p:sp>
      <p:sp>
        <p:nvSpPr>
          <p:cNvPr id="3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73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4C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an operator?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058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operator is a symbol that tells the computer what to do with two or more values.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457200" y="1783080"/>
            <a:ext cx="1097280" cy="1097280"/>
          </a:xfrm>
          <a:prstGeom prst="ellipse">
            <a:avLst/>
          </a:prstGeom>
          <a:solidFill>
            <a:srgbClr val="3FAE5A"/>
          </a:solidFill>
          <a:ln w="12700">
            <a:solidFill>
              <a:srgbClr val="3FAE5A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457200" y="178308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9260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783080" y="1783080"/>
            <a:ext cx="1097280" cy="1097280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1783080" y="178308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1783080" y="29260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subtract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108960" y="1783080"/>
            <a:ext cx="1097280" cy="1097280"/>
          </a:xfrm>
          <a:prstGeom prst="ellipse">
            <a:avLst/>
          </a:prstGeom>
          <a:solidFill>
            <a:srgbClr val="FF8C1A"/>
          </a:solidFill>
          <a:ln w="12700">
            <a:solidFill>
              <a:srgbClr val="FF8C1A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3108960" y="178308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</a:t>
            </a:r>
            <a:endParaRPr lang="en-US" sz="4000" dirty="0"/>
          </a:p>
        </p:txBody>
      </p:sp>
      <p:sp>
        <p:nvSpPr>
          <p:cNvPr id="12" name="Text 10"/>
          <p:cNvSpPr txBox="1"/>
          <p:nvPr/>
        </p:nvSpPr>
        <p:spPr>
          <a:xfrm>
            <a:off x="3108960" y="29260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multiply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434840" y="1783080"/>
            <a:ext cx="1097280" cy="1097280"/>
          </a:xfrm>
          <a:prstGeom prst="ellipse">
            <a:avLst/>
          </a:prstGeom>
          <a:solidFill>
            <a:srgbClr val="7E57C2"/>
          </a:solidFill>
          <a:ln w="12700">
            <a:solidFill>
              <a:srgbClr val="7E57C2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4434840" y="178308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÷</a:t>
            </a:r>
            <a:endParaRPr lang="en-US" sz="4000" dirty="0"/>
          </a:p>
        </p:txBody>
      </p:sp>
      <p:sp>
        <p:nvSpPr>
          <p:cNvPr id="15" name="Text 13"/>
          <p:cNvSpPr txBox="1"/>
          <p:nvPr/>
        </p:nvSpPr>
        <p:spPr>
          <a:xfrm>
            <a:off x="4434840" y="29260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943600" y="1783080"/>
            <a:ext cx="274320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5943600" y="187452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 +  6</a:t>
            </a:r>
            <a:endParaRPr lang="en-US" sz="3000" dirty="0"/>
          </a:p>
        </p:txBody>
      </p:sp>
      <p:sp>
        <p:nvSpPr>
          <p:cNvPr id="18" name="Text 16"/>
          <p:cNvSpPr txBox="1"/>
          <p:nvPr/>
        </p:nvSpPr>
        <p:spPr>
          <a:xfrm>
            <a:off x="5943600" y="2560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F7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  operator   value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5943600" y="28346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FA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13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457200" y="3566160"/>
            <a:ext cx="8229600" cy="914400"/>
          </a:xfrm>
          <a:prstGeom prst="roundRect">
            <a:avLst>
              <a:gd name="adj" fmla="val 12000"/>
            </a:avLst>
          </a:prstGeom>
          <a:solidFill>
            <a:srgbClr val="EDE7F6"/>
          </a:solidFill>
          <a:ln w="12700">
            <a:solidFill>
              <a:srgbClr val="EDE7F6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640080" y="356616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kinds in this lesson: </a:t>
            </a:r>
            <a:r>
              <a:rPr lang="en-US" sz="14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arithmetic operators (+ and –) do calculations; comparison operators (equal to) compare two values and return True or False.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73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4C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Arithmetic and arithmetic operators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548640" cy="548640"/>
          </a:xfrm>
          <a:prstGeom prst="ellipse">
            <a:avLst/>
          </a:prstGeom>
          <a:solidFill>
            <a:srgbClr val="1B8A8F"/>
          </a:solidFill>
          <a:ln w="12700">
            <a:solidFill>
              <a:srgbClr val="1B8A8F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901" y="1172261"/>
            <a:ext cx="307238" cy="30723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188720" y="105156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Arithmetic is using numbers in calculations and counting, like adding or subtracting.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457200" y="1856232"/>
            <a:ext cx="548640" cy="548640"/>
          </a:xfrm>
          <a:prstGeom prst="ellipse">
            <a:avLst/>
          </a:prstGeom>
          <a:solidFill>
            <a:srgbClr val="7E57C2"/>
          </a:solidFill>
          <a:ln w="12700">
            <a:solidFill>
              <a:srgbClr val="7E57C2"/>
            </a:solidFill>
            <a:prstDash val="solid"/>
          </a:ln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7901" y="1976933"/>
            <a:ext cx="307238" cy="30723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188720" y="1856232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Computers do complicated arithmetic faster than people. A calculator is a hand-held computer.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457200" y="2660904"/>
            <a:ext cx="548640" cy="548640"/>
          </a:xfrm>
          <a:prstGeom prst="ellipse">
            <a:avLst/>
          </a:prstGeom>
          <a:solidFill>
            <a:srgbClr val="FF8C1A"/>
          </a:solidFill>
          <a:ln w="12700">
            <a:solidFill>
              <a:srgbClr val="FF8C1A"/>
            </a:solidFill>
            <a:prstDash val="solid"/>
          </a:ln>
        </p:spPr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7901" y="2781605"/>
            <a:ext cx="307238" cy="307238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188720" y="2660904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Arithmetic operators are symbols (+ and –) that tell a computer which calculation to do.</a:t>
            </a:r>
            <a:endParaRPr lang="en-US" sz="1400" dirty="0"/>
          </a:p>
        </p:txBody>
      </p:sp>
      <p:sp>
        <p:nvSpPr>
          <p:cNvPr id="12" name="Shape 7"/>
          <p:cNvSpPr/>
          <p:nvPr/>
        </p:nvSpPr>
        <p:spPr>
          <a:xfrm>
            <a:off x="457200" y="3611880"/>
            <a:ext cx="237744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8"/>
          <p:cNvSpPr txBox="1"/>
          <p:nvPr/>
        </p:nvSpPr>
        <p:spPr>
          <a:xfrm>
            <a:off x="594360" y="3675888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FF8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+ 6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the first number (7) to the second (6)</a:t>
            </a:r>
            <a:endParaRPr lang="en-US" sz="1400" dirty="0"/>
          </a:p>
        </p:txBody>
      </p:sp>
      <p:sp>
        <p:nvSpPr>
          <p:cNvPr id="14" name="Shape 9"/>
          <p:cNvSpPr/>
          <p:nvPr/>
        </p:nvSpPr>
        <p:spPr>
          <a:xfrm>
            <a:off x="3017520" y="3611880"/>
            <a:ext cx="237744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0"/>
          <p:cNvSpPr txBox="1"/>
          <p:nvPr/>
        </p:nvSpPr>
        <p:spPr>
          <a:xfrm>
            <a:off x="3154680" y="3675888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FF8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– 3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subtract the second number (3) from the first (10)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6126480" y="1005840"/>
            <a:ext cx="2194560" cy="3401568"/>
          </a:xfrm>
          <a:prstGeom prst="roundRect">
            <a:avLst>
              <a:gd name="adj" fmla="val 6250"/>
            </a:avLst>
          </a:prstGeom>
          <a:solidFill>
            <a:srgbClr val="6CC24A"/>
          </a:solidFill>
          <a:ln w="12700">
            <a:solidFill>
              <a:srgbClr val="4E9F33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6345936" y="1209934"/>
            <a:ext cx="1755648" cy="544251"/>
          </a:xfrm>
          <a:prstGeom prst="roundRect">
            <a:avLst>
              <a:gd name="adj" fmla="val 8401"/>
            </a:avLst>
          </a:prstGeom>
          <a:solidFill>
            <a:srgbClr val="2E5E3A"/>
          </a:solidFill>
          <a:ln w="12700">
            <a:solidFill>
              <a:srgbClr val="2E5E3A"/>
            </a:solidFill>
            <a:prstDash val="solid"/>
          </a:ln>
        </p:spPr>
      </p:sp>
      <p:sp>
        <p:nvSpPr>
          <p:cNvPr id="18" name="Text 13"/>
          <p:cNvSpPr txBox="1"/>
          <p:nvPr/>
        </p:nvSpPr>
        <p:spPr>
          <a:xfrm>
            <a:off x="6345936" y="1209934"/>
            <a:ext cx="1667866" cy="5442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C8F7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2000" dirty="0"/>
          </a:p>
        </p:txBody>
      </p:sp>
      <p:sp>
        <p:nvSpPr>
          <p:cNvPr id="19" name="Shape 14"/>
          <p:cNvSpPr/>
          <p:nvPr/>
        </p:nvSpPr>
        <p:spPr>
          <a:xfrm>
            <a:off x="6345936" y="2026310"/>
            <a:ext cx="395021" cy="408188"/>
          </a:xfrm>
          <a:prstGeom prst="roundRect">
            <a:avLst>
              <a:gd name="adj" fmla="val 11574"/>
            </a:avLst>
          </a:prstGeom>
          <a:solidFill>
            <a:srgbClr val="FFFFFF"/>
          </a:solidFill>
          <a:ln w="6350">
            <a:solidFill>
              <a:srgbClr val="3E8E2E"/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6345936" y="2026310"/>
            <a:ext cx="395021" cy="408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21" name="Shape 16"/>
          <p:cNvSpPr/>
          <p:nvPr/>
        </p:nvSpPr>
        <p:spPr>
          <a:xfrm>
            <a:off x="6828739" y="2026310"/>
            <a:ext cx="395021" cy="408188"/>
          </a:xfrm>
          <a:prstGeom prst="roundRect">
            <a:avLst>
              <a:gd name="adj" fmla="val 11574"/>
            </a:avLst>
          </a:prstGeom>
          <a:solidFill>
            <a:srgbClr val="FFFFFF"/>
          </a:solidFill>
          <a:ln w="6350">
            <a:solidFill>
              <a:srgbClr val="3E8E2E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6828739" y="2026310"/>
            <a:ext cx="395021" cy="408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00" dirty="0"/>
          </a:p>
        </p:txBody>
      </p:sp>
      <p:sp>
        <p:nvSpPr>
          <p:cNvPr id="23" name="Shape 18"/>
          <p:cNvSpPr/>
          <p:nvPr/>
        </p:nvSpPr>
        <p:spPr>
          <a:xfrm>
            <a:off x="7311542" y="2026310"/>
            <a:ext cx="395021" cy="408188"/>
          </a:xfrm>
          <a:prstGeom prst="roundRect">
            <a:avLst>
              <a:gd name="adj" fmla="val 11574"/>
            </a:avLst>
          </a:prstGeom>
          <a:solidFill>
            <a:srgbClr val="FFFFFF"/>
          </a:solidFill>
          <a:ln w="6350">
            <a:solidFill>
              <a:srgbClr val="3E8E2E"/>
            </a:solidFill>
            <a:prstDash val="solid"/>
          </a:ln>
        </p:spPr>
      </p:sp>
      <p:sp>
        <p:nvSpPr>
          <p:cNvPr id="24" name="Text 19"/>
          <p:cNvSpPr txBox="1"/>
          <p:nvPr/>
        </p:nvSpPr>
        <p:spPr>
          <a:xfrm>
            <a:off x="7311542" y="2026310"/>
            <a:ext cx="395021" cy="408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300" dirty="0"/>
          </a:p>
        </p:txBody>
      </p:sp>
      <p:sp>
        <p:nvSpPr>
          <p:cNvPr id="25" name="Shape 20"/>
          <p:cNvSpPr/>
          <p:nvPr/>
        </p:nvSpPr>
        <p:spPr>
          <a:xfrm>
            <a:off x="7794346" y="2026310"/>
            <a:ext cx="395021" cy="408188"/>
          </a:xfrm>
          <a:prstGeom prst="roundRect">
            <a:avLst>
              <a:gd name="adj" fmla="val 11574"/>
            </a:avLst>
          </a:prstGeom>
          <a:solidFill>
            <a:srgbClr val="FF8C1A"/>
          </a:solidFill>
          <a:ln w="6350">
            <a:solidFill>
              <a:srgbClr val="3E8E2E"/>
            </a:solidFill>
            <a:prstDash val="solid"/>
          </a:ln>
        </p:spPr>
      </p:sp>
      <p:sp>
        <p:nvSpPr>
          <p:cNvPr id="26" name="Text 21"/>
          <p:cNvSpPr txBox="1"/>
          <p:nvPr/>
        </p:nvSpPr>
        <p:spPr>
          <a:xfrm>
            <a:off x="7794346" y="2026310"/>
            <a:ext cx="395021" cy="408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</a:t>
            </a:r>
            <a:endParaRPr lang="en-US" sz="1300" dirty="0"/>
          </a:p>
        </p:txBody>
      </p:sp>
      <p:sp>
        <p:nvSpPr>
          <p:cNvPr id="27" name="Shape 22"/>
          <p:cNvSpPr/>
          <p:nvPr/>
        </p:nvSpPr>
        <p:spPr>
          <a:xfrm>
            <a:off x="6345936" y="2536546"/>
            <a:ext cx="395021" cy="408188"/>
          </a:xfrm>
          <a:prstGeom prst="roundRect">
            <a:avLst>
              <a:gd name="adj" fmla="val 11574"/>
            </a:avLst>
          </a:prstGeom>
          <a:solidFill>
            <a:srgbClr val="FFFFFF"/>
          </a:solidFill>
          <a:ln w="6350">
            <a:solidFill>
              <a:srgbClr val="3E8E2E"/>
            </a:solidFill>
            <a:prstDash val="solid"/>
          </a:ln>
        </p:spPr>
      </p:sp>
      <p:sp>
        <p:nvSpPr>
          <p:cNvPr id="28" name="Text 23"/>
          <p:cNvSpPr txBox="1"/>
          <p:nvPr/>
        </p:nvSpPr>
        <p:spPr>
          <a:xfrm>
            <a:off x="6345936" y="2536546"/>
            <a:ext cx="395021" cy="408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9" name="Shape 24"/>
          <p:cNvSpPr/>
          <p:nvPr/>
        </p:nvSpPr>
        <p:spPr>
          <a:xfrm>
            <a:off x="6828739" y="2536546"/>
            <a:ext cx="395021" cy="408188"/>
          </a:xfrm>
          <a:prstGeom prst="roundRect">
            <a:avLst>
              <a:gd name="adj" fmla="val 11574"/>
            </a:avLst>
          </a:prstGeom>
          <a:solidFill>
            <a:srgbClr val="FFFFFF"/>
          </a:solidFill>
          <a:ln w="6350">
            <a:solidFill>
              <a:srgbClr val="3E8E2E"/>
            </a:solidFill>
            <a:prstDash val="solid"/>
          </a:ln>
        </p:spPr>
      </p:sp>
      <p:sp>
        <p:nvSpPr>
          <p:cNvPr id="30" name="Text 25"/>
          <p:cNvSpPr txBox="1"/>
          <p:nvPr/>
        </p:nvSpPr>
        <p:spPr>
          <a:xfrm>
            <a:off x="6828739" y="2536546"/>
            <a:ext cx="395021" cy="408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1" name="Shape 26"/>
          <p:cNvSpPr/>
          <p:nvPr/>
        </p:nvSpPr>
        <p:spPr>
          <a:xfrm>
            <a:off x="7311542" y="2536546"/>
            <a:ext cx="395021" cy="408188"/>
          </a:xfrm>
          <a:prstGeom prst="roundRect">
            <a:avLst>
              <a:gd name="adj" fmla="val 11574"/>
            </a:avLst>
          </a:prstGeom>
          <a:solidFill>
            <a:srgbClr val="FFFFFF"/>
          </a:solidFill>
          <a:ln w="6350">
            <a:solidFill>
              <a:srgbClr val="3E8E2E"/>
            </a:solidFill>
            <a:prstDash val="solid"/>
          </a:ln>
        </p:spPr>
      </p:sp>
      <p:sp>
        <p:nvSpPr>
          <p:cNvPr id="32" name="Text 27"/>
          <p:cNvSpPr txBox="1"/>
          <p:nvPr/>
        </p:nvSpPr>
        <p:spPr>
          <a:xfrm>
            <a:off x="7311542" y="2536546"/>
            <a:ext cx="395021" cy="408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3" name="Shape 28"/>
          <p:cNvSpPr/>
          <p:nvPr/>
        </p:nvSpPr>
        <p:spPr>
          <a:xfrm>
            <a:off x="7794346" y="2536546"/>
            <a:ext cx="395021" cy="408188"/>
          </a:xfrm>
          <a:prstGeom prst="roundRect">
            <a:avLst>
              <a:gd name="adj" fmla="val 11574"/>
            </a:avLst>
          </a:prstGeom>
          <a:solidFill>
            <a:srgbClr val="FF8C1A"/>
          </a:solidFill>
          <a:ln w="6350">
            <a:solidFill>
              <a:srgbClr val="3E8E2E"/>
            </a:solidFill>
            <a:prstDash val="solid"/>
          </a:ln>
        </p:spPr>
      </p:sp>
      <p:sp>
        <p:nvSpPr>
          <p:cNvPr id="34" name="Text 29"/>
          <p:cNvSpPr txBox="1"/>
          <p:nvPr/>
        </p:nvSpPr>
        <p:spPr>
          <a:xfrm>
            <a:off x="7794346" y="2536546"/>
            <a:ext cx="395021" cy="408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</a:t>
            </a:r>
            <a:endParaRPr lang="en-US" sz="1300" dirty="0"/>
          </a:p>
        </p:txBody>
      </p:sp>
      <p:sp>
        <p:nvSpPr>
          <p:cNvPr id="35" name="Shape 30"/>
          <p:cNvSpPr/>
          <p:nvPr/>
        </p:nvSpPr>
        <p:spPr>
          <a:xfrm>
            <a:off x="6345936" y="3046781"/>
            <a:ext cx="395021" cy="408188"/>
          </a:xfrm>
          <a:prstGeom prst="roundRect">
            <a:avLst>
              <a:gd name="adj" fmla="val 11574"/>
            </a:avLst>
          </a:prstGeom>
          <a:solidFill>
            <a:srgbClr val="FFFFFF"/>
          </a:solidFill>
          <a:ln w="6350">
            <a:solidFill>
              <a:srgbClr val="3E8E2E"/>
            </a:solidFill>
            <a:prstDash val="solid"/>
          </a:ln>
        </p:spPr>
      </p:sp>
      <p:sp>
        <p:nvSpPr>
          <p:cNvPr id="36" name="Text 31"/>
          <p:cNvSpPr txBox="1"/>
          <p:nvPr/>
        </p:nvSpPr>
        <p:spPr>
          <a:xfrm>
            <a:off x="6345936" y="3046781"/>
            <a:ext cx="395021" cy="408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37" name="Shape 32"/>
          <p:cNvSpPr/>
          <p:nvPr/>
        </p:nvSpPr>
        <p:spPr>
          <a:xfrm>
            <a:off x="6828739" y="3046781"/>
            <a:ext cx="395021" cy="408188"/>
          </a:xfrm>
          <a:prstGeom prst="roundRect">
            <a:avLst>
              <a:gd name="adj" fmla="val 11574"/>
            </a:avLst>
          </a:prstGeom>
          <a:solidFill>
            <a:srgbClr val="FFFFFF"/>
          </a:solidFill>
          <a:ln w="6350">
            <a:solidFill>
              <a:srgbClr val="3E8E2E"/>
            </a:solidFill>
            <a:prstDash val="solid"/>
          </a:ln>
        </p:spPr>
      </p:sp>
      <p:sp>
        <p:nvSpPr>
          <p:cNvPr id="38" name="Text 33"/>
          <p:cNvSpPr txBox="1"/>
          <p:nvPr/>
        </p:nvSpPr>
        <p:spPr>
          <a:xfrm>
            <a:off x="6828739" y="3046781"/>
            <a:ext cx="395021" cy="408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39" name="Shape 34"/>
          <p:cNvSpPr/>
          <p:nvPr/>
        </p:nvSpPr>
        <p:spPr>
          <a:xfrm>
            <a:off x="7311542" y="3046781"/>
            <a:ext cx="395021" cy="408188"/>
          </a:xfrm>
          <a:prstGeom prst="roundRect">
            <a:avLst>
              <a:gd name="adj" fmla="val 11574"/>
            </a:avLst>
          </a:prstGeom>
          <a:solidFill>
            <a:srgbClr val="FFFFFF"/>
          </a:solidFill>
          <a:ln w="6350">
            <a:solidFill>
              <a:srgbClr val="3E8E2E"/>
            </a:solidFill>
            <a:prstDash val="solid"/>
          </a:ln>
        </p:spPr>
      </p:sp>
      <p:sp>
        <p:nvSpPr>
          <p:cNvPr id="40" name="Text 35"/>
          <p:cNvSpPr txBox="1"/>
          <p:nvPr/>
        </p:nvSpPr>
        <p:spPr>
          <a:xfrm>
            <a:off x="7311542" y="3046781"/>
            <a:ext cx="395021" cy="408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41" name="Shape 36"/>
          <p:cNvSpPr/>
          <p:nvPr/>
        </p:nvSpPr>
        <p:spPr>
          <a:xfrm>
            <a:off x="7794346" y="3046781"/>
            <a:ext cx="395021" cy="408188"/>
          </a:xfrm>
          <a:prstGeom prst="roundRect">
            <a:avLst>
              <a:gd name="adj" fmla="val 11574"/>
            </a:avLst>
          </a:prstGeom>
          <a:solidFill>
            <a:srgbClr val="FF8C1A"/>
          </a:solidFill>
          <a:ln w="6350">
            <a:solidFill>
              <a:srgbClr val="3E8E2E"/>
            </a:solidFill>
            <a:prstDash val="solid"/>
          </a:ln>
        </p:spPr>
      </p:sp>
      <p:sp>
        <p:nvSpPr>
          <p:cNvPr id="42" name="Text 37"/>
          <p:cNvSpPr txBox="1"/>
          <p:nvPr/>
        </p:nvSpPr>
        <p:spPr>
          <a:xfrm>
            <a:off x="7794346" y="3046781"/>
            <a:ext cx="395021" cy="408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300" dirty="0"/>
          </a:p>
        </p:txBody>
      </p:sp>
      <p:sp>
        <p:nvSpPr>
          <p:cNvPr id="43" name="Shape 38"/>
          <p:cNvSpPr/>
          <p:nvPr/>
        </p:nvSpPr>
        <p:spPr>
          <a:xfrm>
            <a:off x="6345936" y="3557016"/>
            <a:ext cx="395021" cy="408188"/>
          </a:xfrm>
          <a:prstGeom prst="roundRect">
            <a:avLst>
              <a:gd name="adj" fmla="val 11574"/>
            </a:avLst>
          </a:prstGeom>
          <a:solidFill>
            <a:srgbClr val="FFFFFF"/>
          </a:solidFill>
          <a:ln w="6350">
            <a:solidFill>
              <a:srgbClr val="3E8E2E"/>
            </a:solidFill>
            <a:prstDash val="solid"/>
          </a:ln>
        </p:spPr>
      </p:sp>
      <p:sp>
        <p:nvSpPr>
          <p:cNvPr id="44" name="Text 39"/>
          <p:cNvSpPr txBox="1"/>
          <p:nvPr/>
        </p:nvSpPr>
        <p:spPr>
          <a:xfrm>
            <a:off x="6345936" y="3557016"/>
            <a:ext cx="395021" cy="408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300" dirty="0"/>
          </a:p>
        </p:txBody>
      </p:sp>
      <p:sp>
        <p:nvSpPr>
          <p:cNvPr id="45" name="Shape 40"/>
          <p:cNvSpPr/>
          <p:nvPr/>
        </p:nvSpPr>
        <p:spPr>
          <a:xfrm>
            <a:off x="6828739" y="3557016"/>
            <a:ext cx="395021" cy="408188"/>
          </a:xfrm>
          <a:prstGeom prst="roundRect">
            <a:avLst>
              <a:gd name="adj" fmla="val 11574"/>
            </a:avLst>
          </a:prstGeom>
          <a:solidFill>
            <a:srgbClr val="FFFFFF"/>
          </a:solidFill>
          <a:ln w="6350">
            <a:solidFill>
              <a:srgbClr val="3E8E2E"/>
            </a:solidFill>
            <a:prstDash val="solid"/>
          </a:ln>
        </p:spPr>
      </p:sp>
      <p:sp>
        <p:nvSpPr>
          <p:cNvPr id="46" name="Text 41"/>
          <p:cNvSpPr txBox="1"/>
          <p:nvPr/>
        </p:nvSpPr>
        <p:spPr>
          <a:xfrm>
            <a:off x="6828739" y="3557016"/>
            <a:ext cx="395021" cy="408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</p:txBody>
      </p:sp>
      <p:sp>
        <p:nvSpPr>
          <p:cNvPr id="47" name="Shape 42"/>
          <p:cNvSpPr/>
          <p:nvPr/>
        </p:nvSpPr>
        <p:spPr>
          <a:xfrm>
            <a:off x="7311542" y="3557016"/>
            <a:ext cx="395021" cy="408188"/>
          </a:xfrm>
          <a:prstGeom prst="roundRect">
            <a:avLst>
              <a:gd name="adj" fmla="val 11574"/>
            </a:avLst>
          </a:prstGeom>
          <a:solidFill>
            <a:srgbClr val="FF8C1A"/>
          </a:solidFill>
          <a:ln w="6350">
            <a:solidFill>
              <a:srgbClr val="3E8E2E"/>
            </a:solidFill>
            <a:prstDash val="solid"/>
          </a:ln>
        </p:spPr>
      </p:sp>
      <p:sp>
        <p:nvSpPr>
          <p:cNvPr id="48" name="Text 43"/>
          <p:cNvSpPr txBox="1"/>
          <p:nvPr/>
        </p:nvSpPr>
        <p:spPr>
          <a:xfrm>
            <a:off x="7311542" y="3557016"/>
            <a:ext cx="395021" cy="408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</a:t>
            </a:r>
            <a:endParaRPr lang="en-US" sz="1300" dirty="0"/>
          </a:p>
        </p:txBody>
      </p:sp>
      <p:sp>
        <p:nvSpPr>
          <p:cNvPr id="49" name="Shape 44"/>
          <p:cNvSpPr/>
          <p:nvPr/>
        </p:nvSpPr>
        <p:spPr>
          <a:xfrm>
            <a:off x="7794346" y="3557016"/>
            <a:ext cx="395021" cy="408188"/>
          </a:xfrm>
          <a:prstGeom prst="roundRect">
            <a:avLst>
              <a:gd name="adj" fmla="val 11574"/>
            </a:avLst>
          </a:prstGeom>
          <a:solidFill>
            <a:srgbClr val="FF8C1A"/>
          </a:solidFill>
          <a:ln w="6350">
            <a:solidFill>
              <a:srgbClr val="3E8E2E"/>
            </a:solidFill>
            <a:prstDash val="solid"/>
          </a:ln>
        </p:spPr>
      </p:sp>
      <p:sp>
        <p:nvSpPr>
          <p:cNvPr id="50" name="Text 45"/>
          <p:cNvSpPr txBox="1"/>
          <p:nvPr/>
        </p:nvSpPr>
        <p:spPr>
          <a:xfrm>
            <a:off x="7794346" y="3557016"/>
            <a:ext cx="395021" cy="408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÷</a:t>
            </a:r>
            <a:endParaRPr lang="en-US" sz="1300" dirty="0"/>
          </a:p>
        </p:txBody>
      </p:sp>
      <p:sp>
        <p:nvSpPr>
          <p:cNvPr id="51" name="Shape 46"/>
          <p:cNvSpPr/>
          <p:nvPr/>
        </p:nvSpPr>
        <p:spPr>
          <a:xfrm>
            <a:off x="5760720" y="4480560"/>
            <a:ext cx="1280160" cy="274320"/>
          </a:xfrm>
          <a:prstGeom prst="roundRect">
            <a:avLst>
              <a:gd name="adj" fmla="val 56667"/>
            </a:avLst>
          </a:prstGeom>
          <a:solidFill>
            <a:srgbClr val="3FAE5A"/>
          </a:solidFill>
          <a:ln w="12700">
            <a:solidFill>
              <a:srgbClr val="3FAE5A"/>
            </a:solidFill>
            <a:prstDash val="solid"/>
          </a:ln>
        </p:spPr>
      </p:sp>
      <p:sp>
        <p:nvSpPr>
          <p:cNvPr id="52" name="Text 47"/>
          <p:cNvSpPr txBox="1"/>
          <p:nvPr/>
        </p:nvSpPr>
        <p:spPr>
          <a:xfrm>
            <a:off x="5760720" y="44805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 addition</a:t>
            </a:r>
            <a:endParaRPr lang="en-US" sz="1200" dirty="0"/>
          </a:p>
        </p:txBody>
      </p:sp>
      <p:sp>
        <p:nvSpPr>
          <p:cNvPr id="53" name="Shape 48"/>
          <p:cNvSpPr/>
          <p:nvPr/>
        </p:nvSpPr>
        <p:spPr>
          <a:xfrm>
            <a:off x="7178040" y="4480560"/>
            <a:ext cx="1371600" cy="274320"/>
          </a:xfrm>
          <a:prstGeom prst="roundRect">
            <a:avLst>
              <a:gd name="adj" fmla="val 56667"/>
            </a:avLst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54" name="Text 49"/>
          <p:cNvSpPr txBox="1"/>
          <p:nvPr/>
        </p:nvSpPr>
        <p:spPr>
          <a:xfrm>
            <a:off x="7178040" y="44805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subtraction</a:t>
            </a:r>
            <a:endParaRPr lang="en-US" sz="1200" dirty="0"/>
          </a:p>
        </p:txBody>
      </p:sp>
      <p:sp>
        <p:nvSpPr>
          <p:cNvPr id="5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73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4C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Arithmetic operators and variables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0584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can use operators with variables in programs. 7 + 6 = 13 can be written as: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645920"/>
            <a:ext cx="4297680" cy="1115568"/>
          </a:xfrm>
          <a:prstGeom prst="roundRect">
            <a:avLst>
              <a:gd name="adj" fmla="val 8197"/>
            </a:avLst>
          </a:prstGeom>
          <a:solidFill>
            <a:srgbClr val="DCEFEF"/>
          </a:solidFill>
          <a:ln w="12700">
            <a:solidFill>
              <a:srgbClr val="DCEFE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737360"/>
            <a:ext cx="274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8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1737360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FirstNumber to 7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2048256"/>
            <a:ext cx="274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8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2048256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SecondNumber to 6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594360" y="2359152"/>
            <a:ext cx="274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8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960120" y="2359152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Result to FirstNumber + SecondNumber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3063240"/>
            <a:ext cx="329184" cy="329184"/>
          </a:xfrm>
          <a:prstGeom prst="ellipse">
            <a:avLst/>
          </a:prstGeom>
          <a:solidFill>
            <a:srgbClr val="1B8A8F"/>
          </a:solidFill>
          <a:ln w="12700">
            <a:solidFill>
              <a:srgbClr val="1B8A8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7200" y="30632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914400" y="3026664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Values 7 and 6 are assigned to FirstNumber and SecondNumber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3593592"/>
            <a:ext cx="329184" cy="329184"/>
          </a:xfrm>
          <a:prstGeom prst="ellipse">
            <a:avLst/>
          </a:prstGeom>
          <a:solidFill>
            <a:srgbClr val="1B8A8F"/>
          </a:solidFill>
          <a:ln w="12700">
            <a:solidFill>
              <a:srgbClr val="1B8A8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57200" y="35935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914400" y="3557016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 values are added together: 7 + 6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4123944"/>
            <a:ext cx="329184" cy="329184"/>
          </a:xfrm>
          <a:prstGeom prst="ellipse">
            <a:avLst/>
          </a:prstGeom>
          <a:solidFill>
            <a:srgbClr val="1B8A8F"/>
          </a:solidFill>
          <a:ln w="12700">
            <a:solidFill>
              <a:srgbClr val="1B8A8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57200" y="41239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914400" y="4087368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answer, 13, is assigned to the variable Result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120640" y="1051560"/>
            <a:ext cx="356616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5303520" y="105156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FirstNumber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315200" y="1188720"/>
            <a:ext cx="1188720" cy="640080"/>
          </a:xfrm>
          <a:prstGeom prst="roundRect">
            <a:avLst>
              <a:gd name="adj" fmla="val 24286"/>
            </a:avLst>
          </a:prstGeom>
          <a:solidFill>
            <a:srgbClr val="1B8A8F"/>
          </a:solidFill>
          <a:ln w="12700">
            <a:solidFill>
              <a:srgbClr val="1B8A8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315200" y="118872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600" dirty="0"/>
          </a:p>
        </p:txBody>
      </p:sp>
      <p:sp>
        <p:nvSpPr>
          <p:cNvPr id="24" name="Shape 22"/>
          <p:cNvSpPr/>
          <p:nvPr/>
        </p:nvSpPr>
        <p:spPr>
          <a:xfrm>
            <a:off x="5120640" y="2148840"/>
            <a:ext cx="356616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5303520" y="214884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SecondNumber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7315200" y="2286000"/>
            <a:ext cx="1188720" cy="640080"/>
          </a:xfrm>
          <a:prstGeom prst="roundRect">
            <a:avLst>
              <a:gd name="adj" fmla="val 24286"/>
            </a:avLst>
          </a:prstGeom>
          <a:solidFill>
            <a:srgbClr val="7E57C2"/>
          </a:solidFill>
          <a:ln w="12700">
            <a:solidFill>
              <a:srgbClr val="7E57C2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315200" y="228600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600" dirty="0"/>
          </a:p>
        </p:txBody>
      </p:sp>
      <p:sp>
        <p:nvSpPr>
          <p:cNvPr id="28" name="Shape 26"/>
          <p:cNvSpPr/>
          <p:nvPr/>
        </p:nvSpPr>
        <p:spPr>
          <a:xfrm>
            <a:off x="5120640" y="3246120"/>
            <a:ext cx="356616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 txBox="1"/>
          <p:nvPr/>
        </p:nvSpPr>
        <p:spPr>
          <a:xfrm>
            <a:off x="5303520" y="324612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7315200" y="3383280"/>
            <a:ext cx="1188720" cy="640080"/>
          </a:xfrm>
          <a:prstGeom prst="roundRect">
            <a:avLst>
              <a:gd name="adj" fmla="val 24286"/>
            </a:avLst>
          </a:prstGeom>
          <a:solidFill>
            <a:srgbClr val="FF8C1A"/>
          </a:solidFill>
          <a:ln w="12700">
            <a:solidFill>
              <a:srgbClr val="FF8C1A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315200" y="338328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2600" dirty="0"/>
          </a:p>
        </p:txBody>
      </p:sp>
      <p:sp>
        <p:nvSpPr>
          <p:cNvPr id="32" name="Text 30"/>
          <p:cNvSpPr txBox="1"/>
          <p:nvPr/>
        </p:nvSpPr>
        <p:spPr>
          <a:xfrm>
            <a:off x="6766560" y="1828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5F7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6766560" y="29260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5F7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</a:t>
            </a:r>
            <a:endParaRPr lang="en-US" sz="1600" dirty="0"/>
          </a:p>
        </p:txBody>
      </p:sp>
      <p:sp>
        <p:nvSpPr>
          <p:cNvPr id="3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73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4C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Assigning values to variables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0584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Mario sells fruit. He knows how many of each fruit he has, so he assigns the values to variables and adds them: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691640"/>
            <a:ext cx="4846320" cy="1828800"/>
          </a:xfrm>
          <a:prstGeom prst="roundRect">
            <a:avLst>
              <a:gd name="adj" fmla="val 5000"/>
            </a:avLst>
          </a:prstGeom>
          <a:solidFill>
            <a:srgbClr val="DCEFEF"/>
          </a:solidFill>
          <a:ln w="12700">
            <a:solidFill>
              <a:srgbClr val="DCEFE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7830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B8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178308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BananasAmount to 200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20574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B8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205740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PapayasAmount to 100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594360" y="23317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B8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960120" y="233172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PomegranatesAmount to 300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594360" y="26060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B8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260604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OrangesAmount to 50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594360" y="28803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B8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960120" y="288036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TotalFruits to BananasAmount + PapayasAmount + PomegranatesAmount + OrangesAmount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393192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know what type of value a variable holds. TotalFruits stores a number.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623560" y="1051560"/>
            <a:ext cx="1463040" cy="1097280"/>
          </a:xfrm>
          <a:prstGeom prst="roundRect">
            <a:avLst>
              <a:gd name="adj" fmla="val 10000"/>
            </a:avLst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26480" y="1124712"/>
            <a:ext cx="457200" cy="457200"/>
          </a:xfrm>
          <a:prstGeom prst="ellipse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pic>
        <p:nvPicPr>
          <p:cNvPr id="1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7064" y="1225296"/>
            <a:ext cx="256032" cy="256032"/>
          </a:xfrm>
          <a:prstGeom prst="rect">
            <a:avLst/>
          </a:prstGeom>
        </p:spPr>
      </p:pic>
      <p:sp>
        <p:nvSpPr>
          <p:cNvPr id="19" name="Text 16"/>
          <p:cNvSpPr txBox="1"/>
          <p:nvPr/>
        </p:nvSpPr>
        <p:spPr>
          <a:xfrm>
            <a:off x="5623560" y="1618488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Bananas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5623560" y="18288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7178040" y="1051560"/>
            <a:ext cx="1463040" cy="1097280"/>
          </a:xfrm>
          <a:prstGeom prst="roundRect">
            <a:avLst>
              <a:gd name="adj" fmla="val 10000"/>
            </a:avLst>
          </a:prstGeom>
          <a:solidFill>
            <a:srgbClr val="FF8C1A"/>
          </a:solidFill>
          <a:ln w="12700">
            <a:solidFill>
              <a:srgbClr val="FF8C1A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7680960" y="1124712"/>
            <a:ext cx="457200" cy="457200"/>
          </a:xfrm>
          <a:prstGeom prst="ellipse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pic>
        <p:nvPicPr>
          <p:cNvPr id="2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81544" y="1225296"/>
            <a:ext cx="256032" cy="256032"/>
          </a:xfrm>
          <a:prstGeom prst="rect">
            <a:avLst/>
          </a:prstGeom>
        </p:spPr>
      </p:pic>
      <p:sp>
        <p:nvSpPr>
          <p:cNvPr id="24" name="Text 20"/>
          <p:cNvSpPr txBox="1"/>
          <p:nvPr/>
        </p:nvSpPr>
        <p:spPr>
          <a:xfrm>
            <a:off x="7178040" y="1618488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Papayas</a:t>
            </a:r>
            <a:endParaRPr lang="en-US" sz="1200" dirty="0"/>
          </a:p>
        </p:txBody>
      </p:sp>
      <p:sp>
        <p:nvSpPr>
          <p:cNvPr id="25" name="Text 21"/>
          <p:cNvSpPr txBox="1"/>
          <p:nvPr/>
        </p:nvSpPr>
        <p:spPr>
          <a:xfrm>
            <a:off x="7178040" y="18288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</a:t>
            </a:r>
            <a:endParaRPr lang="en-US" sz="1600" dirty="0"/>
          </a:p>
        </p:txBody>
      </p:sp>
      <p:sp>
        <p:nvSpPr>
          <p:cNvPr id="26" name="Shape 22"/>
          <p:cNvSpPr/>
          <p:nvPr/>
        </p:nvSpPr>
        <p:spPr>
          <a:xfrm>
            <a:off x="5623560" y="2240280"/>
            <a:ext cx="1463040" cy="1097280"/>
          </a:xfrm>
          <a:prstGeom prst="roundRect">
            <a:avLst>
              <a:gd name="adj" fmla="val 10000"/>
            </a:avLst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Shape 23"/>
          <p:cNvSpPr/>
          <p:nvPr/>
        </p:nvSpPr>
        <p:spPr>
          <a:xfrm>
            <a:off x="6126480" y="2313432"/>
            <a:ext cx="457200" cy="457200"/>
          </a:xfrm>
          <a:prstGeom prst="ellipse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pic>
        <p:nvPicPr>
          <p:cNvPr id="2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7064" y="2414016"/>
            <a:ext cx="256032" cy="256032"/>
          </a:xfrm>
          <a:prstGeom prst="rect">
            <a:avLst/>
          </a:prstGeom>
        </p:spPr>
      </p:pic>
      <p:sp>
        <p:nvSpPr>
          <p:cNvPr id="29" name="Text 24"/>
          <p:cNvSpPr txBox="1"/>
          <p:nvPr/>
        </p:nvSpPr>
        <p:spPr>
          <a:xfrm>
            <a:off x="5623560" y="2807208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Pomegranates</a:t>
            </a:r>
            <a:endParaRPr lang="en-US" sz="1200" dirty="0"/>
          </a:p>
        </p:txBody>
      </p:sp>
      <p:sp>
        <p:nvSpPr>
          <p:cNvPr id="30" name="Text 25"/>
          <p:cNvSpPr txBox="1"/>
          <p:nvPr/>
        </p:nvSpPr>
        <p:spPr>
          <a:xfrm>
            <a:off x="5623560" y="30175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</a:t>
            </a:r>
            <a:endParaRPr lang="en-US" sz="1600" dirty="0"/>
          </a:p>
        </p:txBody>
      </p:sp>
      <p:sp>
        <p:nvSpPr>
          <p:cNvPr id="31" name="Shape 26"/>
          <p:cNvSpPr/>
          <p:nvPr/>
        </p:nvSpPr>
        <p:spPr>
          <a:xfrm>
            <a:off x="7178040" y="2240280"/>
            <a:ext cx="1463040" cy="1097280"/>
          </a:xfrm>
          <a:prstGeom prst="roundRect">
            <a:avLst>
              <a:gd name="adj" fmla="val 10000"/>
            </a:avLst>
          </a:prstGeom>
          <a:solidFill>
            <a:srgbClr val="FF8C1A"/>
          </a:solidFill>
          <a:ln w="12700">
            <a:solidFill>
              <a:srgbClr val="FF8C1A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2" name="Shape 27"/>
          <p:cNvSpPr/>
          <p:nvPr/>
        </p:nvSpPr>
        <p:spPr>
          <a:xfrm>
            <a:off x="7680960" y="2313432"/>
            <a:ext cx="457200" cy="457200"/>
          </a:xfrm>
          <a:prstGeom prst="ellipse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pic>
        <p:nvPicPr>
          <p:cNvPr id="33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81544" y="2414016"/>
            <a:ext cx="256032" cy="256032"/>
          </a:xfrm>
          <a:prstGeom prst="rect">
            <a:avLst/>
          </a:prstGeom>
        </p:spPr>
      </p:pic>
      <p:sp>
        <p:nvSpPr>
          <p:cNvPr id="34" name="Text 28"/>
          <p:cNvSpPr txBox="1"/>
          <p:nvPr/>
        </p:nvSpPr>
        <p:spPr>
          <a:xfrm>
            <a:off x="7178040" y="2807208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Oranges</a:t>
            </a:r>
            <a:endParaRPr lang="en-US" sz="1200" dirty="0"/>
          </a:p>
        </p:txBody>
      </p:sp>
      <p:sp>
        <p:nvSpPr>
          <p:cNvPr id="35" name="Text 29"/>
          <p:cNvSpPr txBox="1"/>
          <p:nvPr/>
        </p:nvSpPr>
        <p:spPr>
          <a:xfrm>
            <a:off x="7178040" y="30175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1600" dirty="0"/>
          </a:p>
        </p:txBody>
      </p:sp>
      <p:sp>
        <p:nvSpPr>
          <p:cNvPr id="36" name="Shape 30"/>
          <p:cNvSpPr/>
          <p:nvPr/>
        </p:nvSpPr>
        <p:spPr>
          <a:xfrm>
            <a:off x="5623560" y="3520440"/>
            <a:ext cx="3017520" cy="457200"/>
          </a:xfrm>
          <a:prstGeom prst="roundRect">
            <a:avLst>
              <a:gd name="adj" fmla="val 34000"/>
            </a:avLst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sp>
        <p:nvSpPr>
          <p:cNvPr id="37" name="Text 31"/>
          <p:cNvSpPr txBox="1"/>
          <p:nvPr/>
        </p:nvSpPr>
        <p:spPr>
          <a:xfrm>
            <a:off x="5623560" y="35204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TotalFruits = 650</a:t>
            </a:r>
            <a:endParaRPr lang="en-US" sz="1800" dirty="0"/>
          </a:p>
        </p:txBody>
      </p:sp>
      <p:sp>
        <p:nvSpPr>
          <p:cNvPr id="3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73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4C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Assigning values from a user input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05840"/>
            <a:ext cx="502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Sometimes we cannot assign a value in advance, e.g. the seller has not counted the bananas yet. The algorithm lets the user type the values. This is called user input: a user provides data to a computer.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219456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DCEFEF"/>
          </a:solidFill>
          <a:ln w="12700">
            <a:solidFill>
              <a:srgbClr val="DCEFE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22860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B8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28600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BananasAmount to USER INPUT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25603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B8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256032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PapayasAmount to USER INPUT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594360" y="28346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B8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960120" y="283464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PomegranatesAmount to USER INPUT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594360" y="31089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B8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310896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OrangesAmount to USER INPUT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594360" y="33832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B8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960120" y="338328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TotalFruits to BananasAmount + PapayasAmount + PomegranatesAmount + OrangesAmount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583680" y="1097280"/>
            <a:ext cx="1371600" cy="1371600"/>
          </a:xfrm>
          <a:prstGeom prst="ellipse">
            <a:avLst/>
          </a:prstGeom>
          <a:solidFill>
            <a:srgbClr val="7E57C2"/>
          </a:solidFill>
          <a:ln w="12700">
            <a:solidFill>
              <a:srgbClr val="7E57C2"/>
            </a:solidFill>
            <a:prstDash val="solid"/>
          </a:ln>
        </p:spPr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5432" y="1399032"/>
            <a:ext cx="768096" cy="768096"/>
          </a:xfrm>
          <a:prstGeom prst="rect">
            <a:avLst/>
          </a:prstGeom>
        </p:spPr>
      </p:pic>
      <p:sp>
        <p:nvSpPr>
          <p:cNvPr id="17" name="Shape 14"/>
          <p:cNvSpPr/>
          <p:nvPr/>
        </p:nvSpPr>
        <p:spPr>
          <a:xfrm>
            <a:off x="5852160" y="2743200"/>
            <a:ext cx="2834640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15"/>
          <p:cNvSpPr txBox="1"/>
          <p:nvPr/>
        </p:nvSpPr>
        <p:spPr>
          <a:xfrm>
            <a:off x="5989320" y="274320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of the day: Mario types how many fruits he has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5852160" y="3657600"/>
            <a:ext cx="2834640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Text 17"/>
          <p:cNvSpPr txBox="1"/>
          <p:nvPr/>
        </p:nvSpPr>
        <p:spPr>
          <a:xfrm>
            <a:off x="5989320" y="365760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of the day: he runs the same algorithm again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73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-137160" y="62175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4C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Unplugged activity 1: follow the algorithm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498080" y="365760"/>
            <a:ext cx="1188720" cy="329184"/>
          </a:xfrm>
          <a:prstGeom prst="roundRect">
            <a:avLst>
              <a:gd name="adj" fmla="val 47222"/>
            </a:avLst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498080" y="365760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058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Need: pen and paper. Work with a partner.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329184" cy="329184"/>
          </a:xfrm>
          <a:prstGeom prst="ellipse">
            <a:avLst/>
          </a:prstGeom>
          <a:solidFill>
            <a:srgbClr val="1B8A8F"/>
          </a:solidFill>
          <a:ln w="12700">
            <a:solidFill>
              <a:srgbClr val="1B8A8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4173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1380744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each algorithm line by line, in order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039112"/>
            <a:ext cx="329184" cy="329184"/>
          </a:xfrm>
          <a:prstGeom prst="ellipse">
            <a:avLst/>
          </a:prstGeom>
          <a:solidFill>
            <a:srgbClr val="1B8A8F"/>
          </a:solidFill>
          <a:ln w="12700">
            <a:solidFill>
              <a:srgbClr val="1B8A8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20391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914400" y="2002536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hold one value at a time: the last assigned value stays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660904"/>
            <a:ext cx="329184" cy="329184"/>
          </a:xfrm>
          <a:prstGeom prst="ellipse">
            <a:avLst/>
          </a:prstGeom>
          <a:solidFill>
            <a:srgbClr val="1B8A8F"/>
          </a:solidFill>
          <a:ln w="12700">
            <a:solidFill>
              <a:srgbClr val="1B8A8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266090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914400" y="2624328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down the final value of the last variable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3282696"/>
            <a:ext cx="329184" cy="329184"/>
          </a:xfrm>
          <a:prstGeom prst="ellipse">
            <a:avLst/>
          </a:prstGeom>
          <a:solidFill>
            <a:srgbClr val="1B8A8F"/>
          </a:solidFill>
          <a:ln w="12700">
            <a:solidFill>
              <a:srgbClr val="1B8A8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7200" y="328269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914400" y="3246120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with the words variable, assigned, value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4023360"/>
            <a:ext cx="4023360" cy="502920"/>
          </a:xfrm>
          <a:prstGeom prst="roundRect">
            <a:avLst>
              <a:gd name="adj" fmla="val 21818"/>
            </a:avLst>
          </a:prstGeom>
          <a:solidFill>
            <a:srgbClr val="FFF3D6"/>
          </a:solidFill>
          <a:ln w="12700">
            <a:solidFill>
              <a:srgbClr val="FFF3D6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594360" y="402336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Basketballs set to 1, then 2, then 3  →  value is 3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754880" y="1051560"/>
            <a:ext cx="3931920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4892040" y="1051560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Result = 5 + 5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7680960" y="1197864"/>
            <a:ext cx="822960" cy="365760"/>
          </a:xfrm>
          <a:prstGeom prst="roundRect">
            <a:avLst>
              <a:gd name="adj" fmla="val 42500"/>
            </a:avLst>
          </a:prstGeom>
          <a:solidFill>
            <a:srgbClr val="3FAE5A"/>
          </a:solidFill>
          <a:ln w="12700">
            <a:solidFill>
              <a:srgbClr val="3FAE5A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680960" y="1197864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754880" y="1801368"/>
            <a:ext cx="3931920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4892040" y="1801368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TotalApples = 20 + 5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7680960" y="1947672"/>
            <a:ext cx="822960" cy="365760"/>
          </a:xfrm>
          <a:prstGeom prst="roundRect">
            <a:avLst>
              <a:gd name="adj" fmla="val 42500"/>
            </a:avLst>
          </a:prstGeom>
          <a:solidFill>
            <a:srgbClr val="3FAE5A"/>
          </a:solidFill>
          <a:ln w="12700">
            <a:solidFill>
              <a:srgbClr val="3FAE5A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680960" y="1947672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754880" y="2551176"/>
            <a:ext cx="3931920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 txBox="1"/>
          <p:nvPr/>
        </p:nvSpPr>
        <p:spPr>
          <a:xfrm>
            <a:off x="4892040" y="2551176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SportsBalls = 3 + 1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7680960" y="2697480"/>
            <a:ext cx="822960" cy="365760"/>
          </a:xfrm>
          <a:prstGeom prst="roundRect">
            <a:avLst>
              <a:gd name="adj" fmla="val 42500"/>
            </a:avLst>
          </a:prstGeom>
          <a:solidFill>
            <a:srgbClr val="3FAE5A"/>
          </a:solidFill>
          <a:ln w="12700">
            <a:solidFill>
              <a:srgbClr val="3FAE5A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680960" y="269748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4754880" y="3300984"/>
            <a:ext cx="3931920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3" name="Text 31"/>
          <p:cNvSpPr txBox="1"/>
          <p:nvPr/>
        </p:nvSpPr>
        <p:spPr>
          <a:xfrm>
            <a:off x="4892040" y="3300984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Birds: 20 + 4 = 24, Ducks = 2, Birds = 24 + 2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7680960" y="3447288"/>
            <a:ext cx="822960" cy="365760"/>
          </a:xfrm>
          <a:prstGeom prst="roundRect">
            <a:avLst>
              <a:gd name="adj" fmla="val 42500"/>
            </a:avLst>
          </a:prstGeom>
          <a:solidFill>
            <a:srgbClr val="3FAE5A"/>
          </a:solidFill>
          <a:ln w="12700">
            <a:solidFill>
              <a:srgbClr val="3FAE5A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7680960" y="3447288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600" dirty="0"/>
          </a:p>
        </p:txBody>
      </p:sp>
      <p:sp>
        <p:nvSpPr>
          <p:cNvPr id="36" name="Text 34"/>
          <p:cNvSpPr txBox="1"/>
          <p:nvPr/>
        </p:nvSpPr>
        <p:spPr>
          <a:xfrm>
            <a:off x="4754880" y="411480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Create two variables, assign values, add them into a third.</a:t>
            </a:r>
            <a:endParaRPr lang="en-US" sz="1300" dirty="0"/>
          </a:p>
        </p:txBody>
      </p:sp>
      <p:sp>
        <p:nvSpPr>
          <p:cNvPr id="3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73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4C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Now try this: preparing a meal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498080" y="365760"/>
            <a:ext cx="1188720" cy="329184"/>
          </a:xfrm>
          <a:prstGeom prst="roundRect">
            <a:avLst>
              <a:gd name="adj" fmla="val 47222"/>
            </a:avLst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498080" y="365760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0584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 partner, follow the recipe instructions and work out the total number of each vegetable.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4572000" cy="548640"/>
          </a:xfrm>
          <a:prstGeom prst="roundRect">
            <a:avLst>
              <a:gd name="adj" fmla="val 20000"/>
            </a:avLst>
          </a:prstGeom>
          <a:solidFill>
            <a:srgbClr val="DCEFEF"/>
          </a:solidFill>
          <a:ln w="12700">
            <a:solidFill>
              <a:srgbClr val="DCEFE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640080" y="169164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SweetCornAmount to 1 + 2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114800" y="1783080"/>
            <a:ext cx="731520" cy="365760"/>
          </a:xfrm>
          <a:prstGeom prst="roundRect">
            <a:avLst>
              <a:gd name="adj" fmla="val 42500"/>
            </a:avLst>
          </a:prstGeom>
          <a:solidFill>
            <a:srgbClr val="3FAE5A"/>
          </a:solidFill>
          <a:ln w="12700">
            <a:solidFill>
              <a:srgbClr val="3FAE5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114800" y="178308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57200" y="2331720"/>
            <a:ext cx="4572000" cy="548640"/>
          </a:xfrm>
          <a:prstGeom prst="roundRect">
            <a:avLst>
              <a:gd name="adj" fmla="val 20000"/>
            </a:avLst>
          </a:prstGeom>
          <a:solidFill>
            <a:srgbClr val="DCEFEF"/>
          </a:solidFill>
          <a:ln w="12700">
            <a:solidFill>
              <a:srgbClr val="DCEFE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40080" y="233172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CarrotAmount to 5 + 2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114800" y="2423160"/>
            <a:ext cx="731520" cy="365760"/>
          </a:xfrm>
          <a:prstGeom prst="roundRect">
            <a:avLst>
              <a:gd name="adj" fmla="val 42500"/>
            </a:avLst>
          </a:prstGeom>
          <a:solidFill>
            <a:srgbClr val="3FAE5A"/>
          </a:solidFill>
          <a:ln w="12700">
            <a:solidFill>
              <a:srgbClr val="3FAE5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114800" y="242316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457200" y="2971800"/>
            <a:ext cx="4572000" cy="548640"/>
          </a:xfrm>
          <a:prstGeom prst="roundRect">
            <a:avLst>
              <a:gd name="adj" fmla="val 20000"/>
            </a:avLst>
          </a:prstGeom>
          <a:solidFill>
            <a:srgbClr val="DCEFEF"/>
          </a:solidFill>
          <a:ln w="12700">
            <a:solidFill>
              <a:srgbClr val="DCEFE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640080" y="297180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BeansAmount to 20 + 10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114800" y="3063240"/>
            <a:ext cx="731520" cy="365760"/>
          </a:xfrm>
          <a:prstGeom prst="roundRect">
            <a:avLst>
              <a:gd name="adj" fmla="val 42500"/>
            </a:avLst>
          </a:prstGeom>
          <a:solidFill>
            <a:srgbClr val="3FAE5A"/>
          </a:solidFill>
          <a:ln w="12700">
            <a:solidFill>
              <a:srgbClr val="3FAE5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114800" y="306324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577840" y="1051560"/>
            <a:ext cx="548640" cy="548640"/>
          </a:xfrm>
          <a:prstGeom prst="ellipse">
            <a:avLst/>
          </a:prstGeom>
          <a:solidFill>
            <a:srgbClr val="FF8C1A"/>
          </a:solidFill>
          <a:ln w="12700">
            <a:solidFill>
              <a:srgbClr val="FF8C1A"/>
            </a:solidFill>
            <a:prstDash val="solid"/>
          </a:ln>
        </p:spPr>
      </p:sp>
      <p:pic>
        <p:nvPicPr>
          <p:cNvPr id="1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8541" y="1172261"/>
            <a:ext cx="307238" cy="307238"/>
          </a:xfrm>
          <a:prstGeom prst="rect">
            <a:avLst/>
          </a:prstGeom>
        </p:spPr>
      </p:pic>
      <p:sp>
        <p:nvSpPr>
          <p:cNvPr id="20" name="Shape 17"/>
          <p:cNvSpPr/>
          <p:nvPr/>
        </p:nvSpPr>
        <p:spPr>
          <a:xfrm>
            <a:off x="6309360" y="1005840"/>
            <a:ext cx="237744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Text 18"/>
          <p:cNvSpPr txBox="1"/>
          <p:nvPr/>
        </p:nvSpPr>
        <p:spPr>
          <a:xfrm>
            <a:off x="6446520" y="1051560"/>
            <a:ext cx="2148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8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Same: </a:t>
            </a:r>
            <a:r>
              <a:rPr lang="en-US" sz="13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use + and ‘set … to’ to assign an answer to a variable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5577840" y="2423160"/>
            <a:ext cx="310896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Text 20"/>
          <p:cNvSpPr txBox="1"/>
          <p:nvPr/>
        </p:nvSpPr>
        <p:spPr>
          <a:xfrm>
            <a:off x="5715000" y="2468880"/>
            <a:ext cx="2834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Different: </a:t>
            </a:r>
            <a:r>
              <a:rPr lang="en-US" sz="13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variable names, the numbers added and the answers (3, 7, 30)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457200" y="3749040"/>
            <a:ext cx="8229600" cy="731520"/>
          </a:xfrm>
          <a:prstGeom prst="roundRect">
            <a:avLst>
              <a:gd name="adj" fmla="val 15000"/>
            </a:avLst>
          </a:prstGeom>
          <a:solidFill>
            <a:srgbClr val="EDE7F6"/>
          </a:solidFill>
          <a:ln w="12700">
            <a:solidFill>
              <a:srgbClr val="EDE7F6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Text 22"/>
          <p:cNvSpPr txBox="1"/>
          <p:nvPr/>
        </p:nvSpPr>
        <p:spPr>
          <a:xfrm>
            <a:off x="640080" y="374904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CarrotAmount a variable? Yes! It stores an amount of carrots. The value can change, so different recipes can use different amounts.</a:t>
            </a:r>
            <a:endParaRPr lang="en-US" sz="140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73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4C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Using a calculator and Activity 2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0" y="365760"/>
            <a:ext cx="1371600" cy="329184"/>
          </a:xfrm>
          <a:prstGeom prst="roundRect">
            <a:avLst>
              <a:gd name="adj" fmla="val 47222"/>
            </a:avLst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0" y="36576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2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1920240" cy="2976372"/>
          </a:xfrm>
          <a:prstGeom prst="roundRect">
            <a:avLst>
              <a:gd name="adj" fmla="val 7143"/>
            </a:avLst>
          </a:prstGeom>
          <a:solidFill>
            <a:srgbClr val="6CC24A"/>
          </a:solidFill>
          <a:ln w="12700">
            <a:solidFill>
              <a:srgbClr val="4E9F33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9224" y="1184422"/>
            <a:ext cx="1536192" cy="476220"/>
          </a:xfrm>
          <a:prstGeom prst="roundRect">
            <a:avLst>
              <a:gd name="adj" fmla="val 9601"/>
            </a:avLst>
          </a:prstGeom>
          <a:solidFill>
            <a:srgbClr val="2E5E3A"/>
          </a:solidFill>
          <a:ln w="12700">
            <a:solidFill>
              <a:srgbClr val="2E5E3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9224" y="1184422"/>
            <a:ext cx="1459382" cy="476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C8F7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4619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649224" y="1898752"/>
            <a:ext cx="345643" cy="357165"/>
          </a:xfrm>
          <a:prstGeom prst="roundRect">
            <a:avLst>
              <a:gd name="adj" fmla="val 13228"/>
            </a:avLst>
          </a:prstGeom>
          <a:solidFill>
            <a:srgbClr val="FFFFFF"/>
          </a:solidFill>
          <a:ln w="6350">
            <a:solidFill>
              <a:srgbClr val="3E8E2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9224" y="1898752"/>
            <a:ext cx="345643" cy="3571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071677" y="1898752"/>
            <a:ext cx="345643" cy="357165"/>
          </a:xfrm>
          <a:prstGeom prst="roundRect">
            <a:avLst>
              <a:gd name="adj" fmla="val 13228"/>
            </a:avLst>
          </a:prstGeom>
          <a:solidFill>
            <a:srgbClr val="FFFFFF"/>
          </a:solidFill>
          <a:ln w="6350">
            <a:solidFill>
              <a:srgbClr val="3E8E2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71677" y="1898752"/>
            <a:ext cx="345643" cy="3571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494130" y="1898752"/>
            <a:ext cx="345643" cy="357165"/>
          </a:xfrm>
          <a:prstGeom prst="roundRect">
            <a:avLst>
              <a:gd name="adj" fmla="val 13228"/>
            </a:avLst>
          </a:prstGeom>
          <a:solidFill>
            <a:srgbClr val="FFFFFF"/>
          </a:solidFill>
          <a:ln w="6350">
            <a:solidFill>
              <a:srgbClr val="3E8E2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494130" y="1898752"/>
            <a:ext cx="345643" cy="3571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1916582" y="1898752"/>
            <a:ext cx="345643" cy="357165"/>
          </a:xfrm>
          <a:prstGeom prst="roundRect">
            <a:avLst>
              <a:gd name="adj" fmla="val 13228"/>
            </a:avLst>
          </a:prstGeom>
          <a:solidFill>
            <a:srgbClr val="FF8C1A"/>
          </a:solidFill>
          <a:ln w="6350">
            <a:solidFill>
              <a:srgbClr val="3E8E2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916582" y="1898752"/>
            <a:ext cx="345643" cy="3571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9224" y="2345207"/>
            <a:ext cx="345643" cy="357165"/>
          </a:xfrm>
          <a:prstGeom prst="roundRect">
            <a:avLst>
              <a:gd name="adj" fmla="val 13228"/>
            </a:avLst>
          </a:prstGeom>
          <a:solidFill>
            <a:srgbClr val="FFFFFF"/>
          </a:solidFill>
          <a:ln w="6350">
            <a:solidFill>
              <a:srgbClr val="3E8E2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9224" y="2345207"/>
            <a:ext cx="345643" cy="3571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1071677" y="2345207"/>
            <a:ext cx="345643" cy="357165"/>
          </a:xfrm>
          <a:prstGeom prst="roundRect">
            <a:avLst>
              <a:gd name="adj" fmla="val 13228"/>
            </a:avLst>
          </a:prstGeom>
          <a:solidFill>
            <a:srgbClr val="FFFFFF"/>
          </a:solidFill>
          <a:ln w="6350">
            <a:solidFill>
              <a:srgbClr val="3E8E2E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071677" y="2345207"/>
            <a:ext cx="345643" cy="3571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1494130" y="2345207"/>
            <a:ext cx="345643" cy="357165"/>
          </a:xfrm>
          <a:prstGeom prst="roundRect">
            <a:avLst>
              <a:gd name="adj" fmla="val 13228"/>
            </a:avLst>
          </a:prstGeom>
          <a:solidFill>
            <a:srgbClr val="FFFFFF"/>
          </a:solidFill>
          <a:ln w="6350">
            <a:solidFill>
              <a:srgbClr val="3E8E2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494130" y="2345207"/>
            <a:ext cx="345643" cy="3571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1916582" y="2345207"/>
            <a:ext cx="345643" cy="357165"/>
          </a:xfrm>
          <a:prstGeom prst="roundRect">
            <a:avLst>
              <a:gd name="adj" fmla="val 13228"/>
            </a:avLst>
          </a:prstGeom>
          <a:solidFill>
            <a:srgbClr val="FF8C1A"/>
          </a:solidFill>
          <a:ln w="6350">
            <a:solidFill>
              <a:srgbClr val="3E8E2E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1916582" y="2345207"/>
            <a:ext cx="345643" cy="3571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49224" y="2791663"/>
            <a:ext cx="345643" cy="357165"/>
          </a:xfrm>
          <a:prstGeom prst="roundRect">
            <a:avLst>
              <a:gd name="adj" fmla="val 13228"/>
            </a:avLst>
          </a:prstGeom>
          <a:solidFill>
            <a:srgbClr val="FFFFFF"/>
          </a:solidFill>
          <a:ln w="6350">
            <a:solidFill>
              <a:srgbClr val="3E8E2E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49224" y="2791663"/>
            <a:ext cx="345643" cy="3571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1071677" y="2791663"/>
            <a:ext cx="345643" cy="357165"/>
          </a:xfrm>
          <a:prstGeom prst="roundRect">
            <a:avLst>
              <a:gd name="adj" fmla="val 13228"/>
            </a:avLst>
          </a:prstGeom>
          <a:solidFill>
            <a:srgbClr val="FFFFFF"/>
          </a:solidFill>
          <a:ln w="6350">
            <a:solidFill>
              <a:srgbClr val="3E8E2E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1071677" y="2791663"/>
            <a:ext cx="345643" cy="3571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1494130" y="2791663"/>
            <a:ext cx="345643" cy="357165"/>
          </a:xfrm>
          <a:prstGeom prst="roundRect">
            <a:avLst>
              <a:gd name="adj" fmla="val 13228"/>
            </a:avLst>
          </a:prstGeom>
          <a:solidFill>
            <a:srgbClr val="FFFFFF"/>
          </a:solidFill>
          <a:ln w="6350">
            <a:solidFill>
              <a:srgbClr val="3E8E2E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1494130" y="2791663"/>
            <a:ext cx="345643" cy="3571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1916582" y="2791663"/>
            <a:ext cx="345643" cy="357165"/>
          </a:xfrm>
          <a:prstGeom prst="roundRect">
            <a:avLst>
              <a:gd name="adj" fmla="val 13228"/>
            </a:avLst>
          </a:prstGeom>
          <a:solidFill>
            <a:srgbClr val="FF8C1A"/>
          </a:solidFill>
          <a:ln w="6350">
            <a:solidFill>
              <a:srgbClr val="3E8E2E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1916582" y="2791663"/>
            <a:ext cx="345643" cy="3571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649224" y="3238119"/>
            <a:ext cx="345643" cy="357165"/>
          </a:xfrm>
          <a:prstGeom prst="roundRect">
            <a:avLst>
              <a:gd name="adj" fmla="val 13228"/>
            </a:avLst>
          </a:prstGeom>
          <a:solidFill>
            <a:srgbClr val="FFFFFF"/>
          </a:solidFill>
          <a:ln w="6350">
            <a:solidFill>
              <a:srgbClr val="3E8E2E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49224" y="3238119"/>
            <a:ext cx="345643" cy="3571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1071677" y="3238119"/>
            <a:ext cx="345643" cy="357165"/>
          </a:xfrm>
          <a:prstGeom prst="roundRect">
            <a:avLst>
              <a:gd name="adj" fmla="val 13228"/>
            </a:avLst>
          </a:prstGeom>
          <a:solidFill>
            <a:srgbClr val="FFFFFF"/>
          </a:solidFill>
          <a:ln w="6350">
            <a:solidFill>
              <a:srgbClr val="3E8E2E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1071677" y="3238119"/>
            <a:ext cx="345643" cy="3571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1494130" y="3238119"/>
            <a:ext cx="345643" cy="357165"/>
          </a:xfrm>
          <a:prstGeom prst="roundRect">
            <a:avLst>
              <a:gd name="adj" fmla="val 13228"/>
            </a:avLst>
          </a:prstGeom>
          <a:solidFill>
            <a:srgbClr val="FF8C1A"/>
          </a:solidFill>
          <a:ln w="6350">
            <a:solidFill>
              <a:srgbClr val="3E8E2E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1494130" y="3238119"/>
            <a:ext cx="345643" cy="3571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1916582" y="3238119"/>
            <a:ext cx="345643" cy="357165"/>
          </a:xfrm>
          <a:prstGeom prst="roundRect">
            <a:avLst>
              <a:gd name="adj" fmla="val 13228"/>
            </a:avLst>
          </a:prstGeom>
          <a:solidFill>
            <a:srgbClr val="FF8C1A"/>
          </a:solidFill>
          <a:ln w="6350">
            <a:solidFill>
              <a:srgbClr val="3E8E2E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1916582" y="3238119"/>
            <a:ext cx="345643" cy="3571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÷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2743200" y="1051560"/>
            <a:ext cx="5943600" cy="1005840"/>
          </a:xfrm>
          <a:prstGeom prst="roundRect">
            <a:avLst>
              <a:gd name="adj" fmla="val 9091"/>
            </a:avLst>
          </a:prstGeom>
          <a:solidFill>
            <a:srgbClr val="DCEFEF"/>
          </a:solidFill>
          <a:ln w="12700">
            <a:solidFill>
              <a:srgbClr val="DCEFEF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2880360" y="11430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B8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42" name="Text 40"/>
          <p:cNvSpPr txBox="1"/>
          <p:nvPr/>
        </p:nvSpPr>
        <p:spPr>
          <a:xfrm>
            <a:off x="3246120" y="114300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FirstNumber to USER INPUT</a:t>
            </a:r>
            <a:endParaRPr lang="en-US" sz="1300" dirty="0"/>
          </a:p>
        </p:txBody>
      </p:sp>
      <p:sp>
        <p:nvSpPr>
          <p:cNvPr id="43" name="Text 41"/>
          <p:cNvSpPr txBox="1"/>
          <p:nvPr/>
        </p:nvSpPr>
        <p:spPr>
          <a:xfrm>
            <a:off x="2880360" y="14173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B8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44" name="Text 42"/>
          <p:cNvSpPr txBox="1"/>
          <p:nvPr/>
        </p:nvSpPr>
        <p:spPr>
          <a:xfrm>
            <a:off x="3246120" y="141732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SecondNumber to USER INPUT</a:t>
            </a:r>
            <a:endParaRPr lang="en-US" sz="1300" dirty="0"/>
          </a:p>
        </p:txBody>
      </p:sp>
      <p:sp>
        <p:nvSpPr>
          <p:cNvPr id="45" name="Text 43"/>
          <p:cNvSpPr txBox="1"/>
          <p:nvPr/>
        </p:nvSpPr>
        <p:spPr>
          <a:xfrm>
            <a:off x="2880360" y="16916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B8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46" name="Text 44"/>
          <p:cNvSpPr txBox="1"/>
          <p:nvPr/>
        </p:nvSpPr>
        <p:spPr>
          <a:xfrm>
            <a:off x="3246120" y="169164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Answer to FirstNumber + SecondNumber</a:t>
            </a:r>
            <a:endParaRPr lang="en-US" sz="1300" dirty="0"/>
          </a:p>
        </p:txBody>
      </p:sp>
      <p:sp>
        <p:nvSpPr>
          <p:cNvPr id="47" name="Text 45"/>
          <p:cNvSpPr txBox="1"/>
          <p:nvPr/>
        </p:nvSpPr>
        <p:spPr>
          <a:xfrm>
            <a:off x="2743200" y="228600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Activity: calculate 3941 + 678 on a calculator and explain what you do using the key words:</a:t>
            </a: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>
            <a:off x="2743200" y="2834640"/>
            <a:ext cx="292608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2834640" y="2990088"/>
            <a:ext cx="457200" cy="457200"/>
          </a:xfrm>
          <a:prstGeom prst="ellipse">
            <a:avLst/>
          </a:prstGeom>
          <a:solidFill>
            <a:srgbClr val="7E57C2"/>
          </a:solidFill>
          <a:ln w="12700">
            <a:solidFill>
              <a:srgbClr val="7E57C2"/>
            </a:solidFill>
            <a:prstDash val="solid"/>
          </a:ln>
        </p:spPr>
      </p:sp>
      <p:pic>
        <p:nvPicPr>
          <p:cNvPr id="5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35224" y="3090672"/>
            <a:ext cx="256032" cy="256032"/>
          </a:xfrm>
          <a:prstGeom prst="rect">
            <a:avLst/>
          </a:prstGeom>
        </p:spPr>
      </p:pic>
      <p:sp>
        <p:nvSpPr>
          <p:cNvPr id="51" name="Text 48"/>
          <p:cNvSpPr txBox="1"/>
          <p:nvPr/>
        </p:nvSpPr>
        <p:spPr>
          <a:xfrm>
            <a:off x="3383280" y="288036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3941, then 678</a:t>
            </a:r>
            <a:endParaRPr lang="en-US" sz="1300" dirty="0"/>
          </a:p>
        </p:txBody>
      </p:sp>
      <p:sp>
        <p:nvSpPr>
          <p:cNvPr id="52" name="Shape 49"/>
          <p:cNvSpPr/>
          <p:nvPr/>
        </p:nvSpPr>
        <p:spPr>
          <a:xfrm>
            <a:off x="5760720" y="2834640"/>
            <a:ext cx="292608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3" name="Shape 50"/>
          <p:cNvSpPr/>
          <p:nvPr/>
        </p:nvSpPr>
        <p:spPr>
          <a:xfrm>
            <a:off x="5852160" y="2990088"/>
            <a:ext cx="457200" cy="457200"/>
          </a:xfrm>
          <a:prstGeom prst="ellipse">
            <a:avLst/>
          </a:prstGeom>
          <a:solidFill>
            <a:srgbClr val="FF8C1A"/>
          </a:solidFill>
          <a:ln w="12700">
            <a:solidFill>
              <a:srgbClr val="FF8C1A"/>
            </a:solidFill>
            <a:prstDash val="solid"/>
          </a:ln>
        </p:spPr>
      </p:sp>
      <p:pic>
        <p:nvPicPr>
          <p:cNvPr id="5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2744" y="3090672"/>
            <a:ext cx="256032" cy="256032"/>
          </a:xfrm>
          <a:prstGeom prst="rect">
            <a:avLst/>
          </a:prstGeom>
        </p:spPr>
      </p:pic>
      <p:sp>
        <p:nvSpPr>
          <p:cNvPr id="55" name="Text 51"/>
          <p:cNvSpPr txBox="1"/>
          <p:nvPr/>
        </p:nvSpPr>
        <p:spPr>
          <a:xfrm>
            <a:off x="6400800" y="288036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Arithmetic operator</a:t>
            </a: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 the + symbol</a:t>
            </a:r>
            <a:endParaRPr lang="en-US" sz="1300" dirty="0"/>
          </a:p>
        </p:txBody>
      </p:sp>
      <p:sp>
        <p:nvSpPr>
          <p:cNvPr id="56" name="Shape 52"/>
          <p:cNvSpPr/>
          <p:nvPr/>
        </p:nvSpPr>
        <p:spPr>
          <a:xfrm>
            <a:off x="2743200" y="3703320"/>
            <a:ext cx="292608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7" name="Shape 53"/>
          <p:cNvSpPr/>
          <p:nvPr/>
        </p:nvSpPr>
        <p:spPr>
          <a:xfrm>
            <a:off x="2834640" y="3858768"/>
            <a:ext cx="457200" cy="457200"/>
          </a:xfrm>
          <a:prstGeom prst="ellipse">
            <a:avLst/>
          </a:prstGeom>
          <a:solidFill>
            <a:srgbClr val="1B8A8F"/>
          </a:solidFill>
          <a:ln w="12700">
            <a:solidFill>
              <a:srgbClr val="1B8A8F"/>
            </a:solidFill>
            <a:prstDash val="solid"/>
          </a:ln>
        </p:spPr>
      </p:sp>
      <p:pic>
        <p:nvPicPr>
          <p:cNvPr id="5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35224" y="3959352"/>
            <a:ext cx="256032" cy="256032"/>
          </a:xfrm>
          <a:prstGeom prst="rect">
            <a:avLst/>
          </a:prstGeom>
        </p:spPr>
      </p:pic>
      <p:sp>
        <p:nvSpPr>
          <p:cNvPr id="59" name="Text 54"/>
          <p:cNvSpPr txBox="1"/>
          <p:nvPr/>
        </p:nvSpPr>
        <p:spPr>
          <a:xfrm>
            <a:off x="3383280" y="374904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/ variable</a:t>
            </a: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Values go into FirstNumber and SecondNumber</a:t>
            </a:r>
            <a:endParaRPr lang="en-US" sz="1300" dirty="0"/>
          </a:p>
        </p:txBody>
      </p:sp>
      <p:sp>
        <p:nvSpPr>
          <p:cNvPr id="60" name="Shape 55"/>
          <p:cNvSpPr/>
          <p:nvPr/>
        </p:nvSpPr>
        <p:spPr>
          <a:xfrm>
            <a:off x="5760720" y="3703320"/>
            <a:ext cx="292608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1" name="Shape 56"/>
          <p:cNvSpPr/>
          <p:nvPr/>
        </p:nvSpPr>
        <p:spPr>
          <a:xfrm>
            <a:off x="5852160" y="3858768"/>
            <a:ext cx="457200" cy="457200"/>
          </a:xfrm>
          <a:prstGeom prst="ellipse">
            <a:avLst/>
          </a:prstGeom>
          <a:solidFill>
            <a:srgbClr val="3FAE5A"/>
          </a:solidFill>
          <a:ln w="12700">
            <a:solidFill>
              <a:srgbClr val="3FAE5A"/>
            </a:solidFill>
            <a:prstDash val="solid"/>
          </a:ln>
        </p:spPr>
      </p:sp>
      <p:pic>
        <p:nvPicPr>
          <p:cNvPr id="6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52744" y="3959352"/>
            <a:ext cx="256032" cy="256032"/>
          </a:xfrm>
          <a:prstGeom prst="rect">
            <a:avLst/>
          </a:prstGeom>
        </p:spPr>
      </p:pic>
      <p:sp>
        <p:nvSpPr>
          <p:cNvPr id="63" name="Text 57"/>
          <p:cNvSpPr txBox="1"/>
          <p:nvPr/>
        </p:nvSpPr>
        <p:spPr>
          <a:xfrm>
            <a:off x="6400800" y="374904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 = and the answer 4619 is shown</a:t>
            </a:r>
            <a:endParaRPr lang="en-US" sz="1300" dirty="0"/>
          </a:p>
        </p:txBody>
      </p:sp>
      <p:sp>
        <p:nvSpPr>
          <p:cNvPr id="6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73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4C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Using operators in Scratch and Question 1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0584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 block (Sensing) lets the user type. The input is always stored in the variable answer.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737360"/>
            <a:ext cx="2565806" cy="292608"/>
          </a:xfrm>
          <a:prstGeom prst="roundRect">
            <a:avLst>
              <a:gd name="adj" fmla="val 18750"/>
            </a:avLst>
          </a:prstGeom>
          <a:solidFill>
            <a:srgbClr val="5CB1D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737360"/>
            <a:ext cx="24780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60450" y="1783080"/>
            <a:ext cx="1434694" cy="201168"/>
          </a:xfrm>
          <a:prstGeom prst="roundRect">
            <a:avLst>
              <a:gd name="adj" fmla="val 45455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60450" y="1783080"/>
            <a:ext cx="143469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your name?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2359152" y="1737360"/>
            <a:ext cx="59984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wait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148840"/>
            <a:ext cx="815645" cy="292608"/>
          </a:xfrm>
          <a:prstGeom prst="roundRect">
            <a:avLst>
              <a:gd name="adj" fmla="val 18750"/>
            </a:avLst>
          </a:prstGeom>
          <a:solidFill>
            <a:srgbClr val="5CB1D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2194560"/>
            <a:ext cx="660197" cy="201168"/>
          </a:xfrm>
          <a:prstGeom prst="roundRect">
            <a:avLst>
              <a:gd name="adj" fmla="val 45455"/>
            </a:avLst>
          </a:prstGeom>
          <a:solidFill>
            <a:srgbClr val="FF8C1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2194560"/>
            <a:ext cx="66019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260604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the input into a variable with a meaningful name using Set To: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3108960"/>
            <a:ext cx="1952244" cy="292608"/>
          </a:xfrm>
          <a:prstGeom prst="roundRect">
            <a:avLst>
              <a:gd name="adj" fmla="val 18750"/>
            </a:avLst>
          </a:prstGeom>
          <a:solidFill>
            <a:srgbClr val="FF8C1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3108960"/>
            <a:ext cx="24780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60450" y="3154680"/>
            <a:ext cx="519379" cy="201168"/>
          </a:xfrm>
          <a:prstGeom prst="roundRect">
            <a:avLst>
              <a:gd name="adj" fmla="val 45455"/>
            </a:avLst>
          </a:prstGeom>
          <a:solidFill>
            <a:srgbClr val="E6720A"/>
          </a:solidFill>
          <a:ln w="9525">
            <a:solidFill>
              <a:srgbClr val="E6720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60450" y="3154680"/>
            <a:ext cx="51937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1443838" y="3108960"/>
            <a:ext cx="17739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685239" y="3154680"/>
            <a:ext cx="660197" cy="201168"/>
          </a:xfrm>
          <a:prstGeom prst="roundRect">
            <a:avLst>
              <a:gd name="adj" fmla="val 45455"/>
            </a:avLst>
          </a:prstGeom>
          <a:solidFill>
            <a:srgbClr val="FF8C1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685239" y="3154680"/>
            <a:ext cx="66019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361188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Why? The value in answer changes whenever the user types something new.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846320" y="1005840"/>
            <a:ext cx="1280160" cy="292608"/>
          </a:xfrm>
          <a:prstGeom prst="roundRect">
            <a:avLst>
              <a:gd name="adj" fmla="val 53125"/>
            </a:avLst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846320" y="100584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1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846320" y="1417320"/>
            <a:ext cx="1388974" cy="274320"/>
          </a:xfrm>
          <a:prstGeom prst="roundRect">
            <a:avLst>
              <a:gd name="adj" fmla="val 20000"/>
            </a:avLst>
          </a:prstGeom>
          <a:solidFill>
            <a:srgbClr val="E0A80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937760" y="1417320"/>
            <a:ext cx="123352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flag clicked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846320" y="1746504"/>
            <a:ext cx="2354580" cy="274320"/>
          </a:xfrm>
          <a:prstGeom prst="roundRect">
            <a:avLst>
              <a:gd name="adj" fmla="val 20000"/>
            </a:avLst>
          </a:prstGeom>
          <a:solidFill>
            <a:srgbClr val="5CB1D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937760" y="1746504"/>
            <a:ext cx="24780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249570" y="1792224"/>
            <a:ext cx="1223467" cy="1828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249570" y="1792224"/>
            <a:ext cx="122346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a number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6537046" y="1746504"/>
            <a:ext cx="59984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wait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846320" y="2075688"/>
            <a:ext cx="2445106" cy="274320"/>
          </a:xfrm>
          <a:prstGeom prst="roundRect">
            <a:avLst>
              <a:gd name="adj" fmla="val 20000"/>
            </a:avLst>
          </a:prstGeom>
          <a:solidFill>
            <a:srgbClr val="FF8C1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4937760" y="2075688"/>
            <a:ext cx="24780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249570" y="2121408"/>
            <a:ext cx="1012241" cy="182880"/>
          </a:xfrm>
          <a:prstGeom prst="roundRect">
            <a:avLst>
              <a:gd name="adj" fmla="val 50000"/>
            </a:avLst>
          </a:prstGeom>
          <a:solidFill>
            <a:srgbClr val="E6720A"/>
          </a:solidFill>
          <a:ln w="9525">
            <a:solidFill>
              <a:srgbClr val="E6720A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5249570" y="2121408"/>
            <a:ext cx="101224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FirstNumber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6325819" y="2075688"/>
            <a:ext cx="17739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567221" y="2121408"/>
            <a:ext cx="660197" cy="182880"/>
          </a:xfrm>
          <a:prstGeom prst="roundRect">
            <a:avLst>
              <a:gd name="adj" fmla="val 50000"/>
            </a:avLst>
          </a:prstGeom>
          <a:solidFill>
            <a:srgbClr val="FF8C1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567221" y="2121408"/>
            <a:ext cx="66019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846320" y="2404872"/>
            <a:ext cx="2354580" cy="274320"/>
          </a:xfrm>
          <a:prstGeom prst="roundRect">
            <a:avLst>
              <a:gd name="adj" fmla="val 20000"/>
            </a:avLst>
          </a:prstGeom>
          <a:solidFill>
            <a:srgbClr val="5CB1D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4937760" y="2404872"/>
            <a:ext cx="24780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5249570" y="2450592"/>
            <a:ext cx="1223467" cy="1828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5249570" y="2450592"/>
            <a:ext cx="122346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a number</a:t>
            </a:r>
            <a:endParaRPr lang="en-US" sz="1100" dirty="0"/>
          </a:p>
        </p:txBody>
      </p:sp>
      <p:sp>
        <p:nvSpPr>
          <p:cNvPr id="41" name="Text 39"/>
          <p:cNvSpPr txBox="1"/>
          <p:nvPr/>
        </p:nvSpPr>
        <p:spPr>
          <a:xfrm>
            <a:off x="6537046" y="2404872"/>
            <a:ext cx="59984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wait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4846320" y="2734056"/>
            <a:ext cx="2515514" cy="274320"/>
          </a:xfrm>
          <a:prstGeom prst="roundRect">
            <a:avLst>
              <a:gd name="adj" fmla="val 20000"/>
            </a:avLst>
          </a:prstGeom>
          <a:solidFill>
            <a:srgbClr val="FF8C1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4937760" y="2734056"/>
            <a:ext cx="24780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5249570" y="2779776"/>
            <a:ext cx="1082650" cy="182880"/>
          </a:xfrm>
          <a:prstGeom prst="roundRect">
            <a:avLst>
              <a:gd name="adj" fmla="val 50000"/>
            </a:avLst>
          </a:prstGeom>
          <a:solidFill>
            <a:srgbClr val="E6720A"/>
          </a:solidFill>
          <a:ln w="9525">
            <a:solidFill>
              <a:srgbClr val="E6720A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5249570" y="2779776"/>
            <a:ext cx="108265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SecondNumber</a:t>
            </a:r>
            <a:endParaRPr lang="en-US" sz="1100" dirty="0"/>
          </a:p>
        </p:txBody>
      </p:sp>
      <p:sp>
        <p:nvSpPr>
          <p:cNvPr id="46" name="Text 44"/>
          <p:cNvSpPr txBox="1"/>
          <p:nvPr/>
        </p:nvSpPr>
        <p:spPr>
          <a:xfrm>
            <a:off x="6396228" y="2734056"/>
            <a:ext cx="17739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6637630" y="2779776"/>
            <a:ext cx="660197" cy="182880"/>
          </a:xfrm>
          <a:prstGeom prst="roundRect">
            <a:avLst>
              <a:gd name="adj" fmla="val 50000"/>
            </a:avLst>
          </a:prstGeom>
          <a:solidFill>
            <a:srgbClr val="FF8C1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6637630" y="2779776"/>
            <a:ext cx="66019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4846320" y="3063240"/>
            <a:ext cx="3762756" cy="274320"/>
          </a:xfrm>
          <a:prstGeom prst="roundRect">
            <a:avLst>
              <a:gd name="adj" fmla="val 20000"/>
            </a:avLst>
          </a:prstGeom>
          <a:solidFill>
            <a:srgbClr val="FF8C1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4937760" y="3063240"/>
            <a:ext cx="24780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5249570" y="3108960"/>
            <a:ext cx="660197" cy="182880"/>
          </a:xfrm>
          <a:prstGeom prst="roundRect">
            <a:avLst>
              <a:gd name="adj" fmla="val 50000"/>
            </a:avLst>
          </a:prstGeom>
          <a:solidFill>
            <a:srgbClr val="E6720A"/>
          </a:solidFill>
          <a:ln w="9525">
            <a:solidFill>
              <a:srgbClr val="E6720A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5249570" y="3108960"/>
            <a:ext cx="66019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100" dirty="0"/>
          </a:p>
        </p:txBody>
      </p:sp>
      <p:sp>
        <p:nvSpPr>
          <p:cNvPr id="53" name="Text 51"/>
          <p:cNvSpPr txBox="1"/>
          <p:nvPr/>
        </p:nvSpPr>
        <p:spPr>
          <a:xfrm>
            <a:off x="5973775" y="3063240"/>
            <a:ext cx="17739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6215177" y="3108960"/>
            <a:ext cx="1012241" cy="182880"/>
          </a:xfrm>
          <a:prstGeom prst="roundRect">
            <a:avLst>
              <a:gd name="adj" fmla="val 50000"/>
            </a:avLst>
          </a:prstGeom>
          <a:solidFill>
            <a:srgbClr val="FF8C1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6215177" y="3108960"/>
            <a:ext cx="101224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FirstNumber</a:t>
            </a:r>
            <a:endParaRPr lang="en-US" sz="1100" dirty="0"/>
          </a:p>
        </p:txBody>
      </p:sp>
      <p:sp>
        <p:nvSpPr>
          <p:cNvPr id="56" name="Text 54"/>
          <p:cNvSpPr txBox="1"/>
          <p:nvPr/>
        </p:nvSpPr>
        <p:spPr>
          <a:xfrm>
            <a:off x="7291426" y="3063240"/>
            <a:ext cx="10698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7462418" y="3108960"/>
            <a:ext cx="1082650" cy="182880"/>
          </a:xfrm>
          <a:prstGeom prst="roundRect">
            <a:avLst>
              <a:gd name="adj" fmla="val 50000"/>
            </a:avLst>
          </a:prstGeom>
          <a:solidFill>
            <a:srgbClr val="FF8C1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7462418" y="3108960"/>
            <a:ext cx="108265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SecondNumber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4846320" y="3520440"/>
            <a:ext cx="3840480" cy="1005840"/>
          </a:xfrm>
          <a:prstGeom prst="roundRect">
            <a:avLst>
              <a:gd name="adj" fmla="val 10909"/>
            </a:avLst>
          </a:prstGeom>
          <a:solidFill>
            <a:srgbClr val="EDE7F6"/>
          </a:solidFill>
          <a:ln w="12700">
            <a:solidFill>
              <a:srgbClr val="EDE7F6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0" name="Text 58"/>
          <p:cNvSpPr txBox="1"/>
          <p:nvPr/>
        </p:nvSpPr>
        <p:spPr>
          <a:xfrm>
            <a:off x="4983480" y="352044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with Zara’s algorithm. Both do the same job. The algorithm is shorter and easier to read; the Scratch code can actually run.</a:t>
            </a:r>
            <a:endParaRPr lang="en-US" sz="1300" dirty="0"/>
          </a:p>
        </p:txBody>
      </p:sp>
      <p:sp>
        <p:nvSpPr>
          <p:cNvPr id="6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73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4C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Comparison operators and conditions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548640" cy="548640"/>
          </a:xfrm>
          <a:prstGeom prst="ellipse">
            <a:avLst/>
          </a:prstGeom>
          <a:solidFill>
            <a:srgbClr val="3FAE5A"/>
          </a:solidFill>
          <a:ln w="12700">
            <a:solidFill>
              <a:srgbClr val="3FAE5A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901" y="1172261"/>
            <a:ext cx="307238" cy="30723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188720" y="1051560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operators compare two values and return True or False.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457200" y="1965960"/>
            <a:ext cx="548640" cy="548640"/>
          </a:xfrm>
          <a:prstGeom prst="ellipse">
            <a:avLst/>
          </a:prstGeom>
          <a:solidFill>
            <a:srgbClr val="1B8A8F"/>
          </a:solidFill>
          <a:ln w="12700">
            <a:solidFill>
              <a:srgbClr val="1B8A8F"/>
            </a:solidFill>
            <a:prstDash val="solid"/>
          </a:ln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7901" y="2086661"/>
            <a:ext cx="307238" cy="30723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188720" y="1965960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‘Equal to’ checks whether a value is the same as another value.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457200" y="2880360"/>
            <a:ext cx="548640" cy="548640"/>
          </a:xfrm>
          <a:prstGeom prst="ellipse">
            <a:avLst/>
          </a:prstGeom>
          <a:solidFill>
            <a:srgbClr val="7E57C2"/>
          </a:solidFill>
          <a:ln w="12700">
            <a:solidFill>
              <a:srgbClr val="7E57C2"/>
            </a:solidFill>
            <a:prstDash val="solid"/>
          </a:ln>
        </p:spPr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7901" y="3001061"/>
            <a:ext cx="307238" cy="307238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188720" y="2880360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condition is a question with a True/False answer. ‘Height equal to 150’ means: is Height equal to 150?</a:t>
            </a:r>
            <a:endParaRPr lang="en-US" sz="1400" dirty="0"/>
          </a:p>
        </p:txBody>
      </p:sp>
      <p:sp>
        <p:nvSpPr>
          <p:cNvPr id="12" name="Shape 7"/>
          <p:cNvSpPr/>
          <p:nvPr/>
        </p:nvSpPr>
        <p:spPr>
          <a:xfrm>
            <a:off x="457200" y="3840480"/>
            <a:ext cx="4114800" cy="640080"/>
          </a:xfrm>
          <a:prstGeom prst="roundRect">
            <a:avLst>
              <a:gd name="adj" fmla="val 17143"/>
            </a:avLst>
          </a:prstGeom>
          <a:solidFill>
            <a:srgbClr val="FFF3D6"/>
          </a:solidFill>
          <a:ln w="12700">
            <a:solidFill>
              <a:srgbClr val="FFF3D6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8"/>
          <p:cNvSpPr txBox="1"/>
          <p:nvPr/>
        </p:nvSpPr>
        <p:spPr>
          <a:xfrm>
            <a:off x="594360" y="384048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 park: to ride you must be exactly 150 cm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4846320" y="1051560"/>
            <a:ext cx="384048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4983480" y="1188720"/>
            <a:ext cx="3566160" cy="731520"/>
          </a:xfrm>
          <a:prstGeom prst="roundRect">
            <a:avLst>
              <a:gd name="adj" fmla="val 12500"/>
            </a:avLst>
          </a:prstGeom>
          <a:solidFill>
            <a:srgbClr val="DCEFEF"/>
          </a:solidFill>
          <a:ln w="12700">
            <a:solidFill>
              <a:srgbClr val="DCEFEF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5120640" y="12801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B8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7" name="Text 12"/>
          <p:cNvSpPr txBox="1"/>
          <p:nvPr/>
        </p:nvSpPr>
        <p:spPr>
          <a:xfrm>
            <a:off x="5486400" y="12801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Height to 150</a:t>
            </a:r>
            <a:endParaRPr lang="en-US" sz="1300" dirty="0"/>
          </a:p>
        </p:txBody>
      </p:sp>
      <p:sp>
        <p:nvSpPr>
          <p:cNvPr id="18" name="Text 13"/>
          <p:cNvSpPr txBox="1"/>
          <p:nvPr/>
        </p:nvSpPr>
        <p:spPr>
          <a:xfrm>
            <a:off x="5120640" y="15544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B8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9" name="Text 14"/>
          <p:cNvSpPr txBox="1"/>
          <p:nvPr/>
        </p:nvSpPr>
        <p:spPr>
          <a:xfrm>
            <a:off x="5486400" y="15544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Height equal to 150</a:t>
            </a:r>
            <a:endParaRPr lang="en-US" sz="1300" dirty="0"/>
          </a:p>
        </p:txBody>
      </p:sp>
      <p:sp>
        <p:nvSpPr>
          <p:cNvPr id="20" name="Shape 15"/>
          <p:cNvSpPr/>
          <p:nvPr/>
        </p:nvSpPr>
        <p:spPr>
          <a:xfrm>
            <a:off x="5852160" y="1965960"/>
            <a:ext cx="1554480" cy="457200"/>
          </a:xfrm>
          <a:prstGeom prst="roundRect">
            <a:avLst>
              <a:gd name="adj" fmla="val 34000"/>
            </a:avLst>
          </a:prstGeom>
          <a:solidFill>
            <a:srgbClr val="3FAE5A"/>
          </a:solidFill>
          <a:ln w="12700">
            <a:solidFill>
              <a:srgbClr val="3FAE5A"/>
            </a:solidFill>
            <a:prstDash val="solid"/>
          </a:ln>
        </p:spPr>
      </p:sp>
      <p:sp>
        <p:nvSpPr>
          <p:cNvPr id="21" name="Text 16"/>
          <p:cNvSpPr txBox="1"/>
          <p:nvPr/>
        </p:nvSpPr>
        <p:spPr>
          <a:xfrm>
            <a:off x="5852160" y="19659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</a:t>
            </a:r>
            <a:endParaRPr lang="en-US" sz="1800" dirty="0"/>
          </a:p>
        </p:txBody>
      </p:sp>
      <p:sp>
        <p:nvSpPr>
          <p:cNvPr id="22" name="Shape 17"/>
          <p:cNvSpPr/>
          <p:nvPr/>
        </p:nvSpPr>
        <p:spPr>
          <a:xfrm>
            <a:off x="4846320" y="2788920"/>
            <a:ext cx="384048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4983480" y="2926080"/>
            <a:ext cx="3566160" cy="731520"/>
          </a:xfrm>
          <a:prstGeom prst="roundRect">
            <a:avLst>
              <a:gd name="adj" fmla="val 12500"/>
            </a:avLst>
          </a:prstGeom>
          <a:solidFill>
            <a:srgbClr val="DCEFEF"/>
          </a:solidFill>
          <a:ln w="12700">
            <a:solidFill>
              <a:srgbClr val="DCEFEF"/>
            </a:solidFill>
            <a:prstDash val="solid"/>
          </a:ln>
        </p:spPr>
      </p:sp>
      <p:sp>
        <p:nvSpPr>
          <p:cNvPr id="24" name="Text 19"/>
          <p:cNvSpPr txBox="1"/>
          <p:nvPr/>
        </p:nvSpPr>
        <p:spPr>
          <a:xfrm>
            <a:off x="5120640" y="3017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B8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25" name="Text 20"/>
          <p:cNvSpPr txBox="1"/>
          <p:nvPr/>
        </p:nvSpPr>
        <p:spPr>
          <a:xfrm>
            <a:off x="5486400" y="30175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Height to 160</a:t>
            </a:r>
            <a:endParaRPr lang="en-US" sz="1300" dirty="0"/>
          </a:p>
        </p:txBody>
      </p:sp>
      <p:sp>
        <p:nvSpPr>
          <p:cNvPr id="26" name="Text 21"/>
          <p:cNvSpPr txBox="1"/>
          <p:nvPr/>
        </p:nvSpPr>
        <p:spPr>
          <a:xfrm>
            <a:off x="5120640" y="32918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B8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27" name="Text 22"/>
          <p:cNvSpPr txBox="1"/>
          <p:nvPr/>
        </p:nvSpPr>
        <p:spPr>
          <a:xfrm>
            <a:off x="5486400" y="32918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Height equal to 150</a:t>
            </a:r>
            <a:endParaRPr lang="en-US" sz="1300" dirty="0"/>
          </a:p>
        </p:txBody>
      </p:sp>
      <p:sp>
        <p:nvSpPr>
          <p:cNvPr id="28" name="Shape 23"/>
          <p:cNvSpPr/>
          <p:nvPr/>
        </p:nvSpPr>
        <p:spPr>
          <a:xfrm>
            <a:off x="5852160" y="3703320"/>
            <a:ext cx="1554480" cy="457200"/>
          </a:xfrm>
          <a:prstGeom prst="roundRect">
            <a:avLst>
              <a:gd name="adj" fmla="val 34000"/>
            </a:avLst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29" name="Text 24"/>
          <p:cNvSpPr txBox="1"/>
          <p:nvPr/>
        </p:nvSpPr>
        <p:spPr>
          <a:xfrm>
            <a:off x="5852160" y="37033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</a:t>
            </a:r>
            <a:endParaRPr lang="en-US" sz="1800" dirty="0"/>
          </a:p>
        </p:txBody>
      </p: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73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4C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 2 to 5: answers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498080" y="365760"/>
            <a:ext cx="1188720" cy="329184"/>
          </a:xfrm>
          <a:prstGeom prst="roundRect">
            <a:avLst>
              <a:gd name="adj" fmla="val 47222"/>
            </a:avLst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498080" y="365760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402336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94360" y="1161288"/>
            <a:ext cx="548640" cy="274320"/>
          </a:xfrm>
          <a:prstGeom prst="roundRect">
            <a:avLst>
              <a:gd name="adj" fmla="val 56667"/>
            </a:avLst>
          </a:prstGeom>
          <a:solidFill>
            <a:srgbClr val="3FAE5A"/>
          </a:solidFill>
          <a:ln w="12700">
            <a:solidFill>
              <a:srgbClr val="3FAE5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4360" y="11612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2a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11430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set to full; Volume equal to full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594360" y="169164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3FA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True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663440" y="1051560"/>
            <a:ext cx="402336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00600" y="1161288"/>
            <a:ext cx="548640" cy="274320"/>
          </a:xfrm>
          <a:prstGeom prst="roundRect">
            <a:avLst>
              <a:gd name="adj" fmla="val 56667"/>
            </a:avLst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800600" y="11612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2b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0" y="11430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CorrectPassword 123ABC; UserPassword CBA321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4800600" y="169164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False: they are different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2377440"/>
            <a:ext cx="402336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94360" y="2487168"/>
            <a:ext cx="548640" cy="274320"/>
          </a:xfrm>
          <a:prstGeom prst="roundRect">
            <a:avLst>
              <a:gd name="adj" fmla="val 56667"/>
            </a:avLst>
          </a:prstGeom>
          <a:solidFill>
            <a:srgbClr val="FF8C1A"/>
          </a:solidFill>
          <a:ln w="12700">
            <a:solidFill>
              <a:srgbClr val="FF8C1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94360" y="24871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1280160" y="24688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must Volume be for False?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594360" y="301752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8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Anything except full (e.g. mute)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663440" y="2377440"/>
            <a:ext cx="402336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00600" y="2487168"/>
            <a:ext cx="548640" cy="274320"/>
          </a:xfrm>
          <a:prstGeom prst="roundRect">
            <a:avLst>
              <a:gd name="adj" fmla="val 56667"/>
            </a:avLst>
          </a:prstGeom>
          <a:solidFill>
            <a:srgbClr val="1B8A8F"/>
          </a:solidFill>
          <a:ln w="12700">
            <a:solidFill>
              <a:srgbClr val="1B8A8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800600" y="24871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0" y="24688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must UserPassword be for True?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4800600" y="301752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8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Exactly 123ABC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57200" y="3749040"/>
            <a:ext cx="8229600" cy="731520"/>
          </a:xfrm>
          <a:prstGeom prst="roundRect">
            <a:avLst>
              <a:gd name="adj" fmla="val 15000"/>
            </a:avLst>
          </a:prstGeom>
          <a:solidFill>
            <a:srgbClr val="EDE7F6"/>
          </a:solidFill>
          <a:ln w="12700">
            <a:solidFill>
              <a:srgbClr val="EDE7F6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 txBox="1"/>
          <p:nvPr/>
        </p:nvSpPr>
        <p:spPr>
          <a:xfrm>
            <a:off x="640080" y="374904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Everyday ‘equal to’: </a:t>
            </a:r>
            <a:r>
              <a:rPr lang="en-US" sz="13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checking a password or PIN, a quiz answer against the right answer, a ticket against a seat number, a bar-code against a price.</a:t>
            </a:r>
            <a:endParaRPr lang="en-US" sz="130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73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4C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Stay safe: passwords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402336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640080" y="11430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5087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1F2D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123ABC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640080" y="2103120"/>
            <a:ext cx="822960" cy="164592"/>
          </a:xfrm>
          <a:prstGeom prst="roundRect">
            <a:avLst>
              <a:gd name="adj" fmla="val 44444"/>
            </a:avLst>
          </a:prstGeom>
          <a:solidFill>
            <a:srgbClr val="E4572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554480" y="2103120"/>
            <a:ext cx="822960" cy="164592"/>
          </a:xfrm>
          <a:prstGeom prst="roundRect">
            <a:avLst>
              <a:gd name="adj" fmla="val 44444"/>
            </a:avLst>
          </a:prstGeom>
          <a:solidFill>
            <a:srgbClr val="D5DDE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468880" y="2103120"/>
            <a:ext cx="822960" cy="164592"/>
          </a:xfrm>
          <a:prstGeom prst="roundRect">
            <a:avLst>
              <a:gd name="adj" fmla="val 44444"/>
            </a:avLst>
          </a:prstGeom>
          <a:solidFill>
            <a:srgbClr val="D5DDE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63440" y="1051560"/>
            <a:ext cx="402336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4846320" y="11430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3FA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4846320" y="15087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1F2D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scissorswindowtree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4846320" y="2103120"/>
            <a:ext cx="822960" cy="164592"/>
          </a:xfrm>
          <a:prstGeom prst="roundRect">
            <a:avLst>
              <a:gd name="adj" fmla="val 44444"/>
            </a:avLst>
          </a:prstGeom>
          <a:solidFill>
            <a:srgbClr val="3FAE5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760720" y="2103120"/>
            <a:ext cx="822960" cy="164592"/>
          </a:xfrm>
          <a:prstGeom prst="roundRect">
            <a:avLst>
              <a:gd name="adj" fmla="val 44444"/>
            </a:avLst>
          </a:prstGeom>
          <a:solidFill>
            <a:srgbClr val="3FAE5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675120" y="2103120"/>
            <a:ext cx="822960" cy="164592"/>
          </a:xfrm>
          <a:prstGeom prst="roundRect">
            <a:avLst>
              <a:gd name="adj" fmla="val 44444"/>
            </a:avLst>
          </a:prstGeom>
          <a:solidFill>
            <a:srgbClr val="3FAE5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2697480"/>
            <a:ext cx="265176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66928" y="2834640"/>
            <a:ext cx="457200" cy="457200"/>
          </a:xfrm>
          <a:prstGeom prst="ellipse">
            <a:avLst/>
          </a:prstGeom>
          <a:solidFill>
            <a:srgbClr val="1B8A8F"/>
          </a:solidFill>
          <a:ln w="12700">
            <a:solidFill>
              <a:srgbClr val="1B8A8F"/>
            </a:solidFill>
            <a:prstDash val="solid"/>
          </a:ln>
        </p:spPr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" y="2935224"/>
            <a:ext cx="256032" cy="256032"/>
          </a:xfrm>
          <a:prstGeom prst="rect">
            <a:avLst/>
          </a:prstGeom>
        </p:spPr>
      </p:pic>
      <p:sp>
        <p:nvSpPr>
          <p:cNvPr id="18" name="Text 15"/>
          <p:cNvSpPr txBox="1"/>
          <p:nvPr/>
        </p:nvSpPr>
        <p:spPr>
          <a:xfrm>
            <a:off x="1143000" y="2697480"/>
            <a:ext cx="1874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(over 16 characters) and easy to remember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3246120" y="2697480"/>
            <a:ext cx="265176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3355848" y="2834640"/>
            <a:ext cx="457200" cy="457200"/>
          </a:xfrm>
          <a:prstGeom prst="ellipse">
            <a:avLst/>
          </a:prstGeom>
          <a:solidFill>
            <a:srgbClr val="7E57C2"/>
          </a:solidFill>
          <a:ln w="12700">
            <a:solidFill>
              <a:srgbClr val="7E57C2"/>
            </a:solidFill>
            <a:prstDash val="solid"/>
          </a:ln>
        </p:spPr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56432" y="2935224"/>
            <a:ext cx="256032" cy="256032"/>
          </a:xfrm>
          <a:prstGeom prst="rect">
            <a:avLst/>
          </a:prstGeom>
        </p:spPr>
      </p:pic>
      <p:sp>
        <p:nvSpPr>
          <p:cNvPr id="22" name="Text 18"/>
          <p:cNvSpPr txBox="1"/>
          <p:nvPr/>
        </p:nvSpPr>
        <p:spPr>
          <a:xfrm>
            <a:off x="3931920" y="2697480"/>
            <a:ext cx="1874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practice: three random words</a:t>
            </a:r>
            <a:endParaRPr lang="en-US" sz="1300" dirty="0"/>
          </a:p>
        </p:txBody>
      </p:sp>
      <p:sp>
        <p:nvSpPr>
          <p:cNvPr id="23" name="Shape 19"/>
          <p:cNvSpPr/>
          <p:nvPr/>
        </p:nvSpPr>
        <p:spPr>
          <a:xfrm>
            <a:off x="6035040" y="2697480"/>
            <a:ext cx="265176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6144768" y="2834640"/>
            <a:ext cx="457200" cy="457200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5352" y="2935224"/>
            <a:ext cx="256032" cy="256032"/>
          </a:xfrm>
          <a:prstGeom prst="rect">
            <a:avLst/>
          </a:prstGeom>
        </p:spPr>
      </p:pic>
      <p:sp>
        <p:nvSpPr>
          <p:cNvPr id="26" name="Text 21"/>
          <p:cNvSpPr txBox="1"/>
          <p:nvPr/>
        </p:nvSpPr>
        <p:spPr>
          <a:xfrm>
            <a:off x="6720840" y="2697480"/>
            <a:ext cx="1874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write it down or share it</a:t>
            </a:r>
            <a:endParaRPr lang="en-US" sz="1300" dirty="0"/>
          </a:p>
        </p:txBody>
      </p:sp>
      <p:sp>
        <p:nvSpPr>
          <p:cNvPr id="27" name="Shape 22"/>
          <p:cNvSpPr/>
          <p:nvPr/>
        </p:nvSpPr>
        <p:spPr>
          <a:xfrm>
            <a:off x="457200" y="3931920"/>
            <a:ext cx="8229600" cy="594360"/>
          </a:xfrm>
          <a:prstGeom prst="roundRect">
            <a:avLst>
              <a:gd name="adj" fmla="val 18462"/>
            </a:avLst>
          </a:prstGeom>
          <a:solidFill>
            <a:srgbClr val="FFF3D6"/>
          </a:solidFill>
          <a:ln w="12700">
            <a:solidFill>
              <a:srgbClr val="FFF3D6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Text 23"/>
          <p:cNvSpPr txBox="1"/>
          <p:nvPr/>
        </p:nvSpPr>
        <p:spPr>
          <a:xfrm>
            <a:off x="640080" y="393192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 idea: ‘a strong password needs special characters, upper and lower case’. Many systems have not updated their rules yet.</a:t>
            </a:r>
            <a:endParaRPr lang="en-US" sz="1300" dirty="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73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-137160" y="1600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4C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Programming task 1, Part A: predict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498080" y="365760"/>
            <a:ext cx="1188720" cy="329184"/>
          </a:xfrm>
          <a:prstGeom prst="roundRect">
            <a:avLst>
              <a:gd name="adj" fmla="val 47222"/>
            </a:avLst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498080" y="365760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</a:t>
            </a:r>
            <a:endParaRPr lang="en-US" sz="13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2331720"/>
        </p:xfrm>
        <a:graphic>
          <a:graphicData uri="http://schemas.openxmlformats.org/drawingml/2006/table">
            <a:tbl>
              <a:tblPr/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54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Program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8D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the code does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8D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Frank says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8D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8D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Football 15 + TennisBall 20 → SportsBalls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8D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3FA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have 35 sports balls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8D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8D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PingPongBall 5, Football 15, TennisBall 20; SportsBalls = 15 + 20 = 35, then 35 – 20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8D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3FA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have 15 sports balls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8D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8D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SportsBalls = 10 – 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8D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3FA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8D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8D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Basketball 5, PingPongBall 6; SportsBalls = 5 + 6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8D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3FA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8D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3566160"/>
            <a:ext cx="329184" cy="329184"/>
          </a:xfrm>
          <a:prstGeom prst="ellipse">
            <a:avLst/>
          </a:prstGeom>
          <a:solidFill>
            <a:srgbClr val="1B8A8F"/>
          </a:solidFill>
          <a:ln w="12700">
            <a:solidFill>
              <a:srgbClr val="1B8A8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457200" y="35661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3529584"/>
            <a:ext cx="77724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in pairs and look at the four programs in 1.2_Frank_counts_balls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57200" y="3977640"/>
            <a:ext cx="329184" cy="329184"/>
          </a:xfrm>
          <a:prstGeom prst="ellipse">
            <a:avLst/>
          </a:prstGeom>
          <a:solidFill>
            <a:srgbClr val="1B8A8F"/>
          </a:solidFill>
          <a:ln w="12700">
            <a:solidFill>
              <a:srgbClr val="1B8A8F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57200" y="39776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914400" y="3941064"/>
            <a:ext cx="77724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Hint: SportsBalls is a variable. Frank says what is stored inside it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457200" y="4389120"/>
            <a:ext cx="329184" cy="329184"/>
          </a:xfrm>
          <a:prstGeom prst="ellipse">
            <a:avLst/>
          </a:prstGeom>
          <a:solidFill>
            <a:srgbClr val="1B8A8F"/>
          </a:solidFill>
          <a:ln w="12700">
            <a:solidFill>
              <a:srgbClr val="1B8A8F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57200" y="43891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914400" y="4352544"/>
            <a:ext cx="77724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predictions on paper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73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-218542" y="18288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4C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Programming task 1, Part B: run and check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498080" y="365760"/>
            <a:ext cx="1188720" cy="329184"/>
          </a:xfrm>
          <a:prstGeom prst="roundRect">
            <a:avLst>
              <a:gd name="adj" fmla="val 47222"/>
            </a:avLst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498080" y="365760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1388974" cy="274320"/>
          </a:xfrm>
          <a:prstGeom prst="roundRect">
            <a:avLst>
              <a:gd name="adj" fmla="val 20000"/>
            </a:avLst>
          </a:prstGeom>
          <a:solidFill>
            <a:srgbClr val="E0A80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051560"/>
            <a:ext cx="123352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flag clicked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399032"/>
            <a:ext cx="2163470" cy="274320"/>
          </a:xfrm>
          <a:prstGeom prst="roundRect">
            <a:avLst>
              <a:gd name="adj" fmla="val 20000"/>
            </a:avLst>
          </a:prstGeom>
          <a:solidFill>
            <a:srgbClr val="FF8C1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1399032"/>
            <a:ext cx="24780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860450" y="1444752"/>
            <a:ext cx="1082650" cy="182880"/>
          </a:xfrm>
          <a:prstGeom prst="roundRect">
            <a:avLst>
              <a:gd name="adj" fmla="val 50000"/>
            </a:avLst>
          </a:prstGeom>
          <a:solidFill>
            <a:srgbClr val="E6720A"/>
          </a:solidFill>
          <a:ln w="9525">
            <a:solidFill>
              <a:srgbClr val="E6720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60450" y="1444752"/>
            <a:ext cx="108265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PingPongBall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2007108" y="1399032"/>
            <a:ext cx="17739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248510" y="1444752"/>
            <a:ext cx="308153" cy="1828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248510" y="1444752"/>
            <a:ext cx="30815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1746504"/>
            <a:ext cx="1952244" cy="274320"/>
          </a:xfrm>
          <a:prstGeom prst="roundRect">
            <a:avLst>
              <a:gd name="adj" fmla="val 20000"/>
            </a:avLst>
          </a:prstGeom>
          <a:solidFill>
            <a:srgbClr val="FF8C1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48640" y="1746504"/>
            <a:ext cx="24780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60450" y="1792224"/>
            <a:ext cx="801014" cy="182880"/>
          </a:xfrm>
          <a:prstGeom prst="roundRect">
            <a:avLst>
              <a:gd name="adj" fmla="val 50000"/>
            </a:avLst>
          </a:prstGeom>
          <a:solidFill>
            <a:srgbClr val="E6720A"/>
          </a:solidFill>
          <a:ln w="9525">
            <a:solidFill>
              <a:srgbClr val="E6720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60450" y="1792224"/>
            <a:ext cx="80101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Football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1725473" y="1746504"/>
            <a:ext cx="17739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966874" y="1792224"/>
            <a:ext cx="378562" cy="1828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966874" y="1792224"/>
            <a:ext cx="37856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2093976"/>
            <a:ext cx="2093062" cy="274320"/>
          </a:xfrm>
          <a:prstGeom prst="roundRect">
            <a:avLst>
              <a:gd name="adj" fmla="val 20000"/>
            </a:avLst>
          </a:prstGeom>
          <a:solidFill>
            <a:srgbClr val="FF8C1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48640" y="2093976"/>
            <a:ext cx="24780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60450" y="2139696"/>
            <a:ext cx="941832" cy="182880"/>
          </a:xfrm>
          <a:prstGeom prst="roundRect">
            <a:avLst>
              <a:gd name="adj" fmla="val 50000"/>
            </a:avLst>
          </a:prstGeom>
          <a:solidFill>
            <a:srgbClr val="E6720A"/>
          </a:solidFill>
          <a:ln w="9525">
            <a:solidFill>
              <a:srgbClr val="E6720A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60450" y="2139696"/>
            <a:ext cx="9418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TennisBall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1866290" y="2093976"/>
            <a:ext cx="17739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107692" y="2139696"/>
            <a:ext cx="378562" cy="1828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2107692" y="2139696"/>
            <a:ext cx="37856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7200" y="2441448"/>
            <a:ext cx="3762756" cy="274320"/>
          </a:xfrm>
          <a:prstGeom prst="roundRect">
            <a:avLst>
              <a:gd name="adj" fmla="val 20000"/>
            </a:avLst>
          </a:prstGeom>
          <a:solidFill>
            <a:srgbClr val="FF8C1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48640" y="2441448"/>
            <a:ext cx="24780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860450" y="2487168"/>
            <a:ext cx="1012241" cy="182880"/>
          </a:xfrm>
          <a:prstGeom prst="roundRect">
            <a:avLst>
              <a:gd name="adj" fmla="val 50000"/>
            </a:avLst>
          </a:prstGeom>
          <a:solidFill>
            <a:srgbClr val="E6720A"/>
          </a:solidFill>
          <a:ln w="9525">
            <a:solidFill>
              <a:srgbClr val="E6720A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60450" y="2487168"/>
            <a:ext cx="101224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SportsBalls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1936699" y="2441448"/>
            <a:ext cx="17739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2178101" y="2487168"/>
            <a:ext cx="801014" cy="182880"/>
          </a:xfrm>
          <a:prstGeom prst="roundRect">
            <a:avLst>
              <a:gd name="adj" fmla="val 50000"/>
            </a:avLst>
          </a:prstGeom>
          <a:solidFill>
            <a:srgbClr val="FF8C1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2178101" y="2487168"/>
            <a:ext cx="80101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Football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3043123" y="2441448"/>
            <a:ext cx="10698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3214116" y="2487168"/>
            <a:ext cx="941832" cy="182880"/>
          </a:xfrm>
          <a:prstGeom prst="roundRect">
            <a:avLst>
              <a:gd name="adj" fmla="val 50000"/>
            </a:avLst>
          </a:prstGeom>
          <a:solidFill>
            <a:srgbClr val="FF8C1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3214116" y="2487168"/>
            <a:ext cx="9418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TennisBall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57200" y="2788920"/>
            <a:ext cx="3973982" cy="274320"/>
          </a:xfrm>
          <a:prstGeom prst="roundRect">
            <a:avLst>
              <a:gd name="adj" fmla="val 20000"/>
            </a:avLst>
          </a:prstGeom>
          <a:solidFill>
            <a:srgbClr val="FF8C1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548640" y="2788920"/>
            <a:ext cx="24780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860450" y="2834640"/>
            <a:ext cx="1012241" cy="182880"/>
          </a:xfrm>
          <a:prstGeom prst="roundRect">
            <a:avLst>
              <a:gd name="adj" fmla="val 50000"/>
            </a:avLst>
          </a:prstGeom>
          <a:solidFill>
            <a:srgbClr val="E6720A"/>
          </a:solidFill>
          <a:ln w="9525">
            <a:solidFill>
              <a:srgbClr val="E6720A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860450" y="2834640"/>
            <a:ext cx="101224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SportsBalls</a:t>
            </a:r>
            <a:endParaRPr lang="en-US" sz="1100" dirty="0"/>
          </a:p>
        </p:txBody>
      </p:sp>
      <p:sp>
        <p:nvSpPr>
          <p:cNvPr id="42" name="Text 40"/>
          <p:cNvSpPr txBox="1"/>
          <p:nvPr/>
        </p:nvSpPr>
        <p:spPr>
          <a:xfrm>
            <a:off x="1936699" y="2788920"/>
            <a:ext cx="17739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2178101" y="2834640"/>
            <a:ext cx="1012241" cy="182880"/>
          </a:xfrm>
          <a:prstGeom prst="roundRect">
            <a:avLst>
              <a:gd name="adj" fmla="val 50000"/>
            </a:avLst>
          </a:prstGeom>
          <a:solidFill>
            <a:srgbClr val="FF8C1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2178101" y="2834640"/>
            <a:ext cx="101224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SportsBalls</a:t>
            </a:r>
            <a:endParaRPr lang="en-US" sz="1100" dirty="0"/>
          </a:p>
        </p:txBody>
      </p:sp>
      <p:sp>
        <p:nvSpPr>
          <p:cNvPr id="45" name="Text 43"/>
          <p:cNvSpPr txBox="1"/>
          <p:nvPr/>
        </p:nvSpPr>
        <p:spPr>
          <a:xfrm>
            <a:off x="3254350" y="2788920"/>
            <a:ext cx="10698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3425342" y="2834640"/>
            <a:ext cx="941832" cy="182880"/>
          </a:xfrm>
          <a:prstGeom prst="roundRect">
            <a:avLst>
              <a:gd name="adj" fmla="val 50000"/>
            </a:avLst>
          </a:prstGeom>
          <a:solidFill>
            <a:srgbClr val="FF8C1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3425342" y="2834640"/>
            <a:ext cx="9418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TennisBall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457200" y="3136392"/>
            <a:ext cx="4627778" cy="274320"/>
          </a:xfrm>
          <a:prstGeom prst="roundRect">
            <a:avLst>
              <a:gd name="adj" fmla="val 20000"/>
            </a:avLst>
          </a:prstGeom>
          <a:solidFill>
            <a:srgbClr val="7E57C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548640" y="3136392"/>
            <a:ext cx="24780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860450" y="3182112"/>
            <a:ext cx="660197" cy="1828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860450" y="3182112"/>
            <a:ext cx="66019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have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1584655" y="3182112"/>
            <a:ext cx="1012241" cy="182880"/>
          </a:xfrm>
          <a:prstGeom prst="roundRect">
            <a:avLst>
              <a:gd name="adj" fmla="val 50000"/>
            </a:avLst>
          </a:prstGeom>
          <a:solidFill>
            <a:srgbClr val="FF8C1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1584655" y="3182112"/>
            <a:ext cx="101224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SportsBalls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2660904" y="3182112"/>
            <a:ext cx="1082650" cy="1828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2660904" y="3182112"/>
            <a:ext cx="108265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sports balls</a:t>
            </a:r>
            <a:endParaRPr lang="en-US" sz="1100" dirty="0"/>
          </a:p>
        </p:txBody>
      </p:sp>
      <p:sp>
        <p:nvSpPr>
          <p:cNvPr id="56" name="Text 54"/>
          <p:cNvSpPr txBox="1"/>
          <p:nvPr/>
        </p:nvSpPr>
        <p:spPr>
          <a:xfrm>
            <a:off x="3807562" y="3136392"/>
            <a:ext cx="24780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4119372" y="3182112"/>
            <a:ext cx="308153" cy="1828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4119372" y="3182112"/>
            <a:ext cx="30815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59" name="Text 57"/>
          <p:cNvSpPr txBox="1"/>
          <p:nvPr/>
        </p:nvSpPr>
        <p:spPr>
          <a:xfrm>
            <a:off x="4491533" y="3136392"/>
            <a:ext cx="5294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seconds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457200" y="3611880"/>
            <a:ext cx="4297680" cy="868680"/>
          </a:xfrm>
          <a:prstGeom prst="roundRect">
            <a:avLst>
              <a:gd name="adj" fmla="val 12632"/>
            </a:avLst>
          </a:prstGeom>
          <a:solidFill>
            <a:srgbClr val="DCEFEF"/>
          </a:solidFill>
          <a:ln w="12700">
            <a:solidFill>
              <a:srgbClr val="DCEFE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1" name="Text 59"/>
          <p:cNvSpPr txBox="1"/>
          <p:nvPr/>
        </p:nvSpPr>
        <p:spPr>
          <a:xfrm>
            <a:off x="594360" y="3611880"/>
            <a:ext cx="4023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Frank says: </a:t>
            </a:r>
            <a:r>
              <a:rPr lang="en-US" sz="13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 have 15 sports balls”. Was your prediction correct? If not, why?</a:t>
            </a:r>
            <a:endParaRPr lang="en-US" sz="1300" dirty="0"/>
          </a:p>
        </p:txBody>
      </p:sp>
      <p:sp>
        <p:nvSpPr>
          <p:cNvPr id="62" name="Shape 60"/>
          <p:cNvSpPr/>
          <p:nvPr/>
        </p:nvSpPr>
        <p:spPr>
          <a:xfrm>
            <a:off x="5029200" y="1097280"/>
            <a:ext cx="329184" cy="329184"/>
          </a:xfrm>
          <a:prstGeom prst="ellipse">
            <a:avLst/>
          </a:prstGeom>
          <a:solidFill>
            <a:srgbClr val="1B8A8F"/>
          </a:solidFill>
          <a:ln w="12700">
            <a:solidFill>
              <a:srgbClr val="1B8A8F"/>
            </a:solidFill>
            <a:prstDash val="solid"/>
          </a:ln>
        </p:spPr>
      </p:sp>
      <p:sp>
        <p:nvSpPr>
          <p:cNvPr id="63" name="Text 61"/>
          <p:cNvSpPr txBox="1"/>
          <p:nvPr/>
        </p:nvSpPr>
        <p:spPr>
          <a:xfrm>
            <a:off x="5029200" y="10972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4" name="Text 62"/>
          <p:cNvSpPr txBox="1"/>
          <p:nvPr/>
        </p:nvSpPr>
        <p:spPr>
          <a:xfrm>
            <a:off x="5486400" y="1060704"/>
            <a:ext cx="320040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‘See inside’, then click the green flag</a:t>
            </a:r>
            <a:endParaRPr lang="en-US" sz="1300" dirty="0"/>
          </a:p>
        </p:txBody>
      </p:sp>
      <p:sp>
        <p:nvSpPr>
          <p:cNvPr id="65" name="Shape 63"/>
          <p:cNvSpPr/>
          <p:nvPr/>
        </p:nvSpPr>
        <p:spPr>
          <a:xfrm>
            <a:off x="5029200" y="1874520"/>
            <a:ext cx="329184" cy="329184"/>
          </a:xfrm>
          <a:prstGeom prst="ellipse">
            <a:avLst/>
          </a:prstGeom>
          <a:solidFill>
            <a:srgbClr val="1B8A8F"/>
          </a:solidFill>
          <a:ln w="12700">
            <a:solidFill>
              <a:srgbClr val="1B8A8F"/>
            </a:solidFill>
            <a:prstDash val="solid"/>
          </a:ln>
        </p:spPr>
      </p:sp>
      <p:sp>
        <p:nvSpPr>
          <p:cNvPr id="66" name="Text 64"/>
          <p:cNvSpPr txBox="1"/>
          <p:nvPr/>
        </p:nvSpPr>
        <p:spPr>
          <a:xfrm>
            <a:off x="5029200" y="18745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67" name="Text 65"/>
          <p:cNvSpPr txBox="1"/>
          <p:nvPr/>
        </p:nvSpPr>
        <p:spPr>
          <a:xfrm>
            <a:off x="5486400" y="1837944"/>
            <a:ext cx="320040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Discuss: what did Frank say? Was Part A correct?</a:t>
            </a:r>
            <a:endParaRPr lang="en-US" sz="1300" dirty="0"/>
          </a:p>
        </p:txBody>
      </p:sp>
      <p:sp>
        <p:nvSpPr>
          <p:cNvPr id="68" name="Shape 66"/>
          <p:cNvSpPr/>
          <p:nvPr/>
        </p:nvSpPr>
        <p:spPr>
          <a:xfrm>
            <a:off x="5029200" y="2651760"/>
            <a:ext cx="329184" cy="329184"/>
          </a:xfrm>
          <a:prstGeom prst="ellipse">
            <a:avLst/>
          </a:prstGeom>
          <a:solidFill>
            <a:srgbClr val="1B8A8F"/>
          </a:solidFill>
          <a:ln w="12700">
            <a:solidFill>
              <a:srgbClr val="1B8A8F"/>
            </a:solidFill>
            <a:prstDash val="solid"/>
          </a:ln>
        </p:spPr>
      </p:sp>
      <p:sp>
        <p:nvSpPr>
          <p:cNvPr id="69" name="Text 67"/>
          <p:cNvSpPr txBox="1"/>
          <p:nvPr/>
        </p:nvSpPr>
        <p:spPr>
          <a:xfrm>
            <a:off x="5029200" y="26517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70" name="Text 68"/>
          <p:cNvSpPr txBox="1"/>
          <p:nvPr/>
        </p:nvSpPr>
        <p:spPr>
          <a:xfrm>
            <a:off x="5486400" y="2615184"/>
            <a:ext cx="320040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each line using: values, variables, assign, arithmetic operator, display</a:t>
            </a:r>
            <a:endParaRPr lang="en-US" sz="1300" dirty="0"/>
          </a:p>
        </p:txBody>
      </p:sp>
      <p:sp>
        <p:nvSpPr>
          <p:cNvPr id="71" name="Shape 69"/>
          <p:cNvSpPr/>
          <p:nvPr/>
        </p:nvSpPr>
        <p:spPr>
          <a:xfrm>
            <a:off x="5029200" y="3611880"/>
            <a:ext cx="3657600" cy="868680"/>
          </a:xfrm>
          <a:prstGeom prst="roundRect">
            <a:avLst>
              <a:gd name="adj" fmla="val 12632"/>
            </a:avLst>
          </a:prstGeom>
          <a:solidFill>
            <a:srgbClr val="EDE7F6"/>
          </a:solidFill>
          <a:ln w="12700">
            <a:solidFill>
              <a:srgbClr val="EDE7F6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2" name="Text 70"/>
          <p:cNvSpPr txBox="1"/>
          <p:nvPr/>
        </p:nvSpPr>
        <p:spPr>
          <a:xfrm>
            <a:off x="5166360" y="3611880"/>
            <a:ext cx="3383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are we doing? Did your partner use the key words and predict correctly?</a:t>
            </a:r>
            <a:endParaRPr lang="en-US" sz="1300" dirty="0"/>
          </a:p>
        </p:txBody>
      </p:sp>
      <p:sp>
        <p:nvSpPr>
          <p:cNvPr id="7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73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0" y="192024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4C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Programming task 2: Arun’s calculator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498080" y="365760"/>
            <a:ext cx="1188720" cy="329184"/>
          </a:xfrm>
          <a:prstGeom prst="roundRect">
            <a:avLst>
              <a:gd name="adj" fmla="val 47222"/>
            </a:avLst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498080" y="365760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4023360" cy="2359152"/>
          </a:xfrm>
          <a:prstGeom prst="roundRect">
            <a:avLst>
              <a:gd name="adj" fmla="val 3876"/>
            </a:avLst>
          </a:prstGeom>
          <a:solidFill>
            <a:srgbClr val="DCEFEF"/>
          </a:solidFill>
          <a:ln w="12700">
            <a:solidFill>
              <a:srgbClr val="DCEFE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143000"/>
            <a:ext cx="274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B8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1143000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addition sign is clicked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1453896"/>
            <a:ext cx="274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B8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1453896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user to enter the first number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94360" y="1764792"/>
            <a:ext cx="274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B8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960120" y="1764792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Number1 to answer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94360" y="2075688"/>
            <a:ext cx="274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B8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960120" y="207568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user to enter the second number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594360" y="2386584"/>
            <a:ext cx="274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B8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2386584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Number2 to answer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594360" y="2697480"/>
            <a:ext cx="274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B8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960120" y="2697480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Result to Number1 + Number2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594360" y="3008376"/>
            <a:ext cx="274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B8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960120" y="3008376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Result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4754880" y="10058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the Scratch blocks in this order (file 1.3_calculator):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754880" y="1417320"/>
            <a:ext cx="1881835" cy="274320"/>
          </a:xfrm>
          <a:prstGeom prst="roundRect">
            <a:avLst>
              <a:gd name="adj" fmla="val 20000"/>
            </a:avLst>
          </a:prstGeom>
          <a:solidFill>
            <a:srgbClr val="E0A80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846320" y="1417320"/>
            <a:ext cx="172638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this sprite clicked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754880" y="1746504"/>
            <a:ext cx="2917850" cy="274320"/>
          </a:xfrm>
          <a:prstGeom prst="roundRect">
            <a:avLst>
              <a:gd name="adj" fmla="val 20000"/>
            </a:avLst>
          </a:prstGeom>
          <a:solidFill>
            <a:srgbClr val="5CB1D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846320" y="1746504"/>
            <a:ext cx="24780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158130" y="1792224"/>
            <a:ext cx="1786738" cy="1828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158130" y="1792224"/>
            <a:ext cx="178673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the first number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7008876" y="1746504"/>
            <a:ext cx="59984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wait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754880" y="2075688"/>
            <a:ext cx="2163470" cy="274320"/>
          </a:xfrm>
          <a:prstGeom prst="roundRect">
            <a:avLst>
              <a:gd name="adj" fmla="val 20000"/>
            </a:avLst>
          </a:prstGeom>
          <a:solidFill>
            <a:srgbClr val="FF8C1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846320" y="2075688"/>
            <a:ext cx="24780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158130" y="2121408"/>
            <a:ext cx="730606" cy="182880"/>
          </a:xfrm>
          <a:prstGeom prst="roundRect">
            <a:avLst>
              <a:gd name="adj" fmla="val 50000"/>
            </a:avLst>
          </a:prstGeom>
          <a:solidFill>
            <a:srgbClr val="E6720A"/>
          </a:solidFill>
          <a:ln w="9525">
            <a:solidFill>
              <a:srgbClr val="E6720A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5158130" y="2121408"/>
            <a:ext cx="73060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Number1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5952744" y="2075688"/>
            <a:ext cx="17739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194146" y="2121408"/>
            <a:ext cx="660197" cy="182880"/>
          </a:xfrm>
          <a:prstGeom prst="roundRect">
            <a:avLst>
              <a:gd name="adj" fmla="val 50000"/>
            </a:avLst>
          </a:prstGeom>
          <a:solidFill>
            <a:srgbClr val="FF8C1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194146" y="2121408"/>
            <a:ext cx="66019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754880" y="2404872"/>
            <a:ext cx="2988259" cy="274320"/>
          </a:xfrm>
          <a:prstGeom prst="roundRect">
            <a:avLst>
              <a:gd name="adj" fmla="val 20000"/>
            </a:avLst>
          </a:prstGeom>
          <a:solidFill>
            <a:srgbClr val="5CB1D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4846320" y="2404872"/>
            <a:ext cx="24780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5158130" y="2450592"/>
            <a:ext cx="1857146" cy="1828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5158130" y="2450592"/>
            <a:ext cx="185714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the second number</a:t>
            </a:r>
            <a:endParaRPr lang="en-US" sz="1100" dirty="0"/>
          </a:p>
        </p:txBody>
      </p:sp>
      <p:sp>
        <p:nvSpPr>
          <p:cNvPr id="39" name="Text 37"/>
          <p:cNvSpPr txBox="1"/>
          <p:nvPr/>
        </p:nvSpPr>
        <p:spPr>
          <a:xfrm>
            <a:off x="7079285" y="2404872"/>
            <a:ext cx="59984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wait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754880" y="2734056"/>
            <a:ext cx="2163470" cy="274320"/>
          </a:xfrm>
          <a:prstGeom prst="roundRect">
            <a:avLst>
              <a:gd name="adj" fmla="val 20000"/>
            </a:avLst>
          </a:prstGeom>
          <a:solidFill>
            <a:srgbClr val="FF8C1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4846320" y="2734056"/>
            <a:ext cx="24780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5158130" y="2779776"/>
            <a:ext cx="730606" cy="182880"/>
          </a:xfrm>
          <a:prstGeom prst="roundRect">
            <a:avLst>
              <a:gd name="adj" fmla="val 50000"/>
            </a:avLst>
          </a:prstGeom>
          <a:solidFill>
            <a:srgbClr val="E6720A"/>
          </a:solidFill>
          <a:ln w="9525">
            <a:solidFill>
              <a:srgbClr val="E6720A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5158130" y="2779776"/>
            <a:ext cx="73060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Number2</a:t>
            </a:r>
            <a:endParaRPr lang="en-US" sz="1100" dirty="0"/>
          </a:p>
        </p:txBody>
      </p:sp>
      <p:sp>
        <p:nvSpPr>
          <p:cNvPr id="44" name="Text 42"/>
          <p:cNvSpPr txBox="1"/>
          <p:nvPr/>
        </p:nvSpPr>
        <p:spPr>
          <a:xfrm>
            <a:off x="5952744" y="2734056"/>
            <a:ext cx="17739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6194146" y="2779776"/>
            <a:ext cx="660197" cy="182880"/>
          </a:xfrm>
          <a:prstGeom prst="roundRect">
            <a:avLst>
              <a:gd name="adj" fmla="val 50000"/>
            </a:avLst>
          </a:prstGeom>
          <a:solidFill>
            <a:srgbClr val="FF8C1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6194146" y="2779776"/>
            <a:ext cx="66019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4754880" y="3063240"/>
            <a:ext cx="3129077" cy="274320"/>
          </a:xfrm>
          <a:prstGeom prst="roundRect">
            <a:avLst>
              <a:gd name="adj" fmla="val 20000"/>
            </a:avLst>
          </a:prstGeom>
          <a:solidFill>
            <a:srgbClr val="FF8C1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4846320" y="3063240"/>
            <a:ext cx="24780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5158130" y="3108960"/>
            <a:ext cx="660197" cy="182880"/>
          </a:xfrm>
          <a:prstGeom prst="roundRect">
            <a:avLst>
              <a:gd name="adj" fmla="val 50000"/>
            </a:avLst>
          </a:prstGeom>
          <a:solidFill>
            <a:srgbClr val="E6720A"/>
          </a:solidFill>
          <a:ln w="9525">
            <a:solidFill>
              <a:srgbClr val="E6720A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5158130" y="3108960"/>
            <a:ext cx="66019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100" dirty="0"/>
          </a:p>
        </p:txBody>
      </p:sp>
      <p:sp>
        <p:nvSpPr>
          <p:cNvPr id="51" name="Text 49"/>
          <p:cNvSpPr txBox="1"/>
          <p:nvPr/>
        </p:nvSpPr>
        <p:spPr>
          <a:xfrm>
            <a:off x="5882335" y="3063240"/>
            <a:ext cx="17739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6123737" y="3108960"/>
            <a:ext cx="730606" cy="182880"/>
          </a:xfrm>
          <a:prstGeom prst="roundRect">
            <a:avLst>
              <a:gd name="adj" fmla="val 50000"/>
            </a:avLst>
          </a:prstGeom>
          <a:solidFill>
            <a:srgbClr val="FF8C1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6123737" y="3108960"/>
            <a:ext cx="73060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Number1</a:t>
            </a:r>
            <a:endParaRPr lang="en-US" sz="1100" dirty="0"/>
          </a:p>
        </p:txBody>
      </p:sp>
      <p:sp>
        <p:nvSpPr>
          <p:cNvPr id="54" name="Text 52"/>
          <p:cNvSpPr txBox="1"/>
          <p:nvPr/>
        </p:nvSpPr>
        <p:spPr>
          <a:xfrm>
            <a:off x="6918350" y="3063240"/>
            <a:ext cx="10698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7089343" y="3108960"/>
            <a:ext cx="730606" cy="182880"/>
          </a:xfrm>
          <a:prstGeom prst="roundRect">
            <a:avLst>
              <a:gd name="adj" fmla="val 50000"/>
            </a:avLst>
          </a:prstGeom>
          <a:solidFill>
            <a:srgbClr val="FF8C1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7089343" y="3108960"/>
            <a:ext cx="73060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Number2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4754880" y="3392424"/>
            <a:ext cx="2404872" cy="274320"/>
          </a:xfrm>
          <a:prstGeom prst="roundRect">
            <a:avLst>
              <a:gd name="adj" fmla="val 20000"/>
            </a:avLst>
          </a:prstGeom>
          <a:solidFill>
            <a:srgbClr val="7E57C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4846320" y="3392424"/>
            <a:ext cx="24780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5158130" y="3438144"/>
            <a:ext cx="660197" cy="182880"/>
          </a:xfrm>
          <a:prstGeom prst="roundRect">
            <a:avLst>
              <a:gd name="adj" fmla="val 50000"/>
            </a:avLst>
          </a:prstGeom>
          <a:solidFill>
            <a:srgbClr val="FF8C1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5158130" y="3438144"/>
            <a:ext cx="66019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100" dirty="0"/>
          </a:p>
        </p:txBody>
      </p:sp>
      <p:sp>
        <p:nvSpPr>
          <p:cNvPr id="61" name="Text 59"/>
          <p:cNvSpPr txBox="1"/>
          <p:nvPr/>
        </p:nvSpPr>
        <p:spPr>
          <a:xfrm>
            <a:off x="5882335" y="3392424"/>
            <a:ext cx="24780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6194146" y="3438144"/>
            <a:ext cx="308153" cy="1828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63" name="Text 61"/>
          <p:cNvSpPr txBox="1"/>
          <p:nvPr/>
        </p:nvSpPr>
        <p:spPr>
          <a:xfrm>
            <a:off x="6194146" y="3438144"/>
            <a:ext cx="30815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64" name="Text 62"/>
          <p:cNvSpPr txBox="1"/>
          <p:nvPr/>
        </p:nvSpPr>
        <p:spPr>
          <a:xfrm>
            <a:off x="6566306" y="3392424"/>
            <a:ext cx="5294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seconds</a:t>
            </a:r>
            <a:endParaRPr lang="en-US" sz="1100" dirty="0"/>
          </a:p>
        </p:txBody>
      </p:sp>
      <p:sp>
        <p:nvSpPr>
          <p:cNvPr id="65" name="Shape 63"/>
          <p:cNvSpPr/>
          <p:nvPr/>
        </p:nvSpPr>
        <p:spPr>
          <a:xfrm>
            <a:off x="457200" y="3657600"/>
            <a:ext cx="8229600" cy="822960"/>
          </a:xfrm>
          <a:prstGeom prst="roundRect">
            <a:avLst>
              <a:gd name="adj" fmla="val 13333"/>
            </a:avLst>
          </a:prstGeom>
          <a:solidFill>
            <a:srgbClr val="FFF3D6"/>
          </a:solidFill>
          <a:ln w="12700">
            <a:solidFill>
              <a:srgbClr val="FFF3D6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6" name="Text 64"/>
          <p:cNvSpPr txBox="1"/>
          <p:nvPr/>
        </p:nvSpPr>
        <p:spPr>
          <a:xfrm>
            <a:off x="640080" y="365760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Then: </a:t>
            </a:r>
            <a:r>
              <a:rPr lang="en-US" sz="13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code for the subtraction button yourself. Use the same steps, but when the – sprite is clicked, set Result to Number1 – Number2.</a:t>
            </a:r>
            <a:endParaRPr lang="en-US" sz="1300" dirty="0"/>
          </a:p>
        </p:txBody>
      </p:sp>
      <p:sp>
        <p:nvSpPr>
          <p:cNvPr id="6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73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4C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Summary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402336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94360" y="1325880"/>
            <a:ext cx="640080" cy="640080"/>
          </a:xfrm>
          <a:prstGeom prst="ellipse">
            <a:avLst/>
          </a:prstGeom>
          <a:solidFill>
            <a:srgbClr val="FF8C1A"/>
          </a:solidFill>
          <a:ln w="12700">
            <a:solidFill>
              <a:srgbClr val="FF8C1A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5178" y="1466698"/>
            <a:ext cx="358445" cy="35844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417320" y="1143000"/>
            <a:ext cx="2971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Arithmetic operators</a:t>
            </a: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and – tell the computer which calculation to do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4663440" y="1051560"/>
            <a:ext cx="402336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4800600" y="1325880"/>
            <a:ext cx="640080" cy="640080"/>
          </a:xfrm>
          <a:prstGeom prst="ellipse">
            <a:avLst/>
          </a:prstGeom>
          <a:solidFill>
            <a:srgbClr val="1B8A8F"/>
          </a:solidFill>
          <a:ln w="12700">
            <a:solidFill>
              <a:srgbClr val="1B8A8F"/>
            </a:solidFill>
            <a:prstDash val="solid"/>
          </a:ln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41418" y="1466698"/>
            <a:ext cx="358445" cy="358445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5623560" y="1143000"/>
            <a:ext cx="2971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</a:t>
            </a: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one value; the last value assigned stays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457200" y="2423160"/>
            <a:ext cx="402336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594360" y="2697480"/>
            <a:ext cx="640080" cy="640080"/>
          </a:xfrm>
          <a:prstGeom prst="ellipse">
            <a:avLst/>
          </a:prstGeom>
          <a:solidFill>
            <a:srgbClr val="7E57C2"/>
          </a:solidFill>
          <a:ln w="12700">
            <a:solidFill>
              <a:srgbClr val="7E57C2"/>
            </a:solidFill>
            <a:prstDash val="solid"/>
          </a:ln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5178" y="2838298"/>
            <a:ext cx="358445" cy="358445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417320" y="2514600"/>
            <a:ext cx="2971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input</a:t>
            </a: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block stores the input in answer</a:t>
            </a:r>
            <a:endParaRPr lang="en-US" sz="1400" dirty="0"/>
          </a:p>
        </p:txBody>
      </p:sp>
      <p:sp>
        <p:nvSpPr>
          <p:cNvPr id="15" name="Shape 10"/>
          <p:cNvSpPr/>
          <p:nvPr/>
        </p:nvSpPr>
        <p:spPr>
          <a:xfrm>
            <a:off x="4663440" y="2423160"/>
            <a:ext cx="402336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4800600" y="2697480"/>
            <a:ext cx="640080" cy="640080"/>
          </a:xfrm>
          <a:prstGeom prst="ellipse">
            <a:avLst/>
          </a:prstGeom>
          <a:solidFill>
            <a:srgbClr val="3FAE5A"/>
          </a:solidFill>
          <a:ln w="12700">
            <a:solidFill>
              <a:srgbClr val="3FAE5A"/>
            </a:solidFill>
            <a:prstDash val="solid"/>
          </a:ln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41418" y="2838298"/>
            <a:ext cx="358445" cy="358445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5623560" y="2514600"/>
            <a:ext cx="2971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operators</a:t>
            </a: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‘Equal to’ returns True or False</a:t>
            </a:r>
            <a:endParaRPr lang="en-US" sz="1400" dirty="0"/>
          </a:p>
        </p:txBody>
      </p:sp>
      <p:sp>
        <p:nvSpPr>
          <p:cNvPr id="19" name="Shape 13"/>
          <p:cNvSpPr/>
          <p:nvPr/>
        </p:nvSpPr>
        <p:spPr>
          <a:xfrm>
            <a:off x="457200" y="3840480"/>
            <a:ext cx="8229600" cy="685800"/>
          </a:xfrm>
          <a:prstGeom prst="roundRect">
            <a:avLst>
              <a:gd name="adj" fmla="val 16000"/>
            </a:avLst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Text 14"/>
          <p:cNvSpPr txBox="1"/>
          <p:nvPr/>
        </p:nvSpPr>
        <p:spPr>
          <a:xfrm>
            <a:off x="640080" y="3840480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C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you know?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‘Algorithm’ comes from al-Khwārizmī, a 9th-century Persian mathematician; in Latin his name was Algoritmi.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73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perators">
  <a:themeElements>
    <a:clrScheme name="Operators">
      <a:dk1>
        <a:srgbClr val="1F2D3D"/>
      </a:dk1>
      <a:lt1>
        <a:srgbClr val="FFFFFF"/>
      </a:lt1>
      <a:dk2>
        <a:srgbClr val="0F4C5C"/>
      </a:dk2>
      <a:lt2>
        <a:srgbClr val="F4FAF9"/>
      </a:lt2>
      <a:accent1>
        <a:srgbClr val="1B8A8F"/>
      </a:accent1>
      <a:accent2>
        <a:srgbClr val="FF8C1A"/>
      </a:accent2>
      <a:accent3>
        <a:srgbClr val="3FAE5A"/>
      </a:accent3>
      <a:accent4>
        <a:srgbClr val="7E57C2"/>
      </a:accent4>
      <a:accent5>
        <a:srgbClr val="4C97FF"/>
      </a:accent5>
      <a:accent6>
        <a:srgbClr val="FFC93C"/>
      </a:accent6>
      <a:hlink>
        <a:srgbClr val="1B8A8F"/>
      </a:hlink>
      <a:folHlink>
        <a:srgbClr val="7E57C2"/>
      </a:folHlink>
    </a:clrScheme>
    <a:fontScheme name="Operators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1" baseType="lpstr">
      <vt:lpstr>Operators</vt:lpstr>
      <vt:lpstr>PowerPoint Presentation</vt:lpstr>
      <vt:lpstr>What we are going to learn</vt:lpstr>
      <vt:lpstr>Key words</vt:lpstr>
      <vt:lpstr>Getting started: what do you already know?</vt:lpstr>
      <vt:lpstr>What is an operator?</vt:lpstr>
      <vt:lpstr>Arithmetic and arithmetic operators</vt:lpstr>
      <vt:lpstr>Arithmetic operators and variables</vt:lpstr>
      <vt:lpstr>Assigning values to variables</vt:lpstr>
      <vt:lpstr>Assigning values from a user input</vt:lpstr>
      <vt:lpstr>Unplugged activity 1: follow the algorithm</vt:lpstr>
      <vt:lpstr>Now try this: preparing a meal</vt:lpstr>
      <vt:lpstr>Using a calculator and Activity 2</vt:lpstr>
      <vt:lpstr>Using operators in Scratch and Question 1</vt:lpstr>
      <vt:lpstr>Comparison operators and conditions</vt:lpstr>
      <vt:lpstr>Questions 2 to 5: answers</vt:lpstr>
      <vt:lpstr>Stay safe: passwords</vt:lpstr>
      <vt:lpstr>Programming task 1, Part A: predict</vt:lpstr>
      <vt:lpstr>Programming task 1, Part B: run and check</vt:lpstr>
      <vt:lpstr>Programming task 2: Arun’s calculator</vt:lpstr>
      <vt:lpstr>Summary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Habiba Hassan</cp:lastModifiedBy>
  <cp:revision>3</cp:revision>
  <dcterms:created xsi:type="dcterms:W3CDTF">2026-10-10T10:17:20Z</dcterms:created>
  <dcterms:modified xsi:type="dcterms:W3CDTF">2026-10-13T10:57:37Z</dcterms:modified>
</cp:coreProperties>
</file>