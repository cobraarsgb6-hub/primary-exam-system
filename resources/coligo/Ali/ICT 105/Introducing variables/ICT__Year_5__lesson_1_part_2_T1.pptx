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81A16-5048-C849-AA9D-1AE6318DD238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1E60D0-C416-BC48-9CD1-3390D0C7A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661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Teacher explanation: Introduce variables as named places that store data. Tell students the value can change while a program is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Ask: If Score changes from 5 to 8, did the variable name change? No. The value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variables can store different kinds of data. Keep the focus on the idea: a named place holds a current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Teacher prompt: Which name makes the algorithm easier to understand: Box1 or Count? 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'Set Count to 5' tells the computer to put the value 5 into the variable called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that both versions produce four forward moves. The loop avoids writing the same instruction repeatedly.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the word 'exact'. If REPEAT is 5, the loop runs five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algorithm line by line. Count is set first; then REPEAT Count uses that stored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Clarify that the loop repeats the whole group of instructions, not only 'Move forward'.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the benefit of variables: change the value rather than rewriting the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grid to discuss direction and repetition. The key programming idea is that Count = 5 controls 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Students often confuse number of instructions with number of repetitions. Explicitly separate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Reinforce the textbook's box analogy: assignment is putting a value into the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students answer before revealing the answer. Ask them to point to the Count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as a verbal assessment. Ask different students to explain each term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Closing script: Today we learned how variables store values and how Count can control a repeating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914400"/>
            <a:ext cx="914400" cy="914400"/>
          </a:xfrm>
          <a:prstGeom prst="ellipse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1828800"/>
            <a:ext cx="594360" cy="594360"/>
          </a:xfrm>
          <a:prstGeom prst="ellipse">
            <a:avLst/>
          </a:prstGeom>
          <a:solidFill>
            <a:srgbClr val="FC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2011680"/>
            <a:ext cx="457200" cy="457200"/>
          </a:xfrm>
          <a:prstGeom prst="ellipse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863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3454"/>
                </a:solidFill>
              </a:defRPr>
            </a:pPr>
            <a:r>
              <a:t>Introducing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286000"/>
            <a:ext cx="7040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69691"/>
                </a:solidFill>
              </a:defRPr>
            </a:pPr>
            <a:r>
              <a:t>Computational Thinking &amp; Programming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3154680"/>
            <a:ext cx="82296" cy="233172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291840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54"/>
                </a:solidFill>
              </a:defRPr>
            </a:pPr>
            <a:r>
              <a:t>Learning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49040"/>
            <a:ext cx="480060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• Explain what a variable is</a:t>
            </a:r>
            <a:br/>
            <a:r>
              <a:t>• Identify a variable and its value</a:t>
            </a:r>
            <a:br/>
            <a:r>
              <a:t>• Assign a value to a variable</a:t>
            </a:r>
            <a:br/>
            <a:r>
              <a:t>• Use Count to control a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54680"/>
            <a:ext cx="4846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3154680"/>
            <a:ext cx="82296" cy="2331720"/>
          </a:xfrm>
          <a:prstGeom prst="rect">
            <a:avLst/>
          </a:prstGeom>
          <a:solidFill>
            <a:srgbClr val="F0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291840"/>
            <a:ext cx="4434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54"/>
                </a:solidFill>
              </a:defRPr>
            </a:pPr>
            <a:r>
              <a:t>Key Vocabulary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749040"/>
            <a:ext cx="44348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2"/>
                </a:solidFill>
              </a:defRPr>
            </a:pPr>
            <a:r>
              <a:t>Variable • Data • Value • Assign • Store • Loop • Count-controlled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0"/>
                </a:solidFill>
              </a:defRPr>
            </a:pPr>
            <a:r>
              <a:t>Year 5 • Computational Thinking &amp; Programming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What Is a Variable?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6459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E1EB"/>
                </a:solidFill>
              </a:defRPr>
            </a:pPr>
            <a:r>
              <a:t>New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5669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A32"/>
                </a:solidFill>
              </a:defRPr>
            </a:pPr>
            <a:r>
              <a:t>• A variable is a named place in a program that stores data.</a:t>
            </a:r>
          </a:p>
          <a:p>
            <a:pPr>
              <a:spcAft>
                <a:spcPts val="1000"/>
              </a:spcAft>
              <a:defRPr sz="2000">
                <a:solidFill>
                  <a:srgbClr val="232A32"/>
                </a:solidFill>
              </a:defRPr>
            </a:pPr>
            <a:r>
              <a:t>• The data stored in a variable can change while the program is running.</a:t>
            </a:r>
          </a:p>
          <a:p>
            <a:pPr>
              <a:spcAft>
                <a:spcPts val="1000"/>
              </a:spcAft>
              <a:defRPr sz="2000">
                <a:solidFill>
                  <a:srgbClr val="232A32"/>
                </a:solidFill>
              </a:defRPr>
            </a:pPr>
            <a:r>
              <a:t>• A variable has a name and a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17320"/>
            <a:ext cx="3108960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0" y="15544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F3454"/>
                </a:solidFill>
              </a:defRPr>
            </a:pPr>
            <a:r>
              <a:t>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0116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69691"/>
                </a:solidFill>
              </a:defRPr>
            </a:pPr>
            <a:r>
              <a:t>5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275320" y="3154680"/>
            <a:ext cx="1097280" cy="640080"/>
          </a:xfrm>
          <a:prstGeom prst="downArrow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0" y="3794760"/>
            <a:ext cx="3108960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09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0" y="3931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F3454"/>
                </a:solidFill>
              </a:defRPr>
            </a:pPr>
            <a:r>
              <a:t>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3891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09742"/>
                </a:solidFill>
              </a:defRPr>
            </a:pPr>
            <a: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34840"/>
            <a:ext cx="5486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4434840"/>
            <a:ext cx="82296" cy="114300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572000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454"/>
                </a:solidFill>
              </a:defRPr>
            </a:pPr>
            <a:r>
              <a:t>Think of it like a 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029200"/>
            <a:ext cx="50749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The box has a label (the variable name) and holds a value.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0"/>
                </a:solidFill>
              </a:defRPr>
            </a:pPr>
            <a:r>
              <a:t>Year 5 • Computational Thinking &amp; Programming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What Can a Variable Store?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6459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E1EB"/>
                </a:solidFill>
              </a:defRPr>
            </a:pPr>
            <a:r>
              <a:t>Data &amp; values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82296" cy="182880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454"/>
                </a:solidFill>
              </a:defRPr>
            </a:pPr>
            <a:r>
              <a:t>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232A32"/>
                </a:solidFill>
              </a:defRPr>
            </a:pPr>
            <a:r>
              <a:t>Age =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82296" cy="1828800"/>
          </a:xfrm>
          <a:prstGeom prst="rect">
            <a:avLst/>
          </a:prstGeom>
          <a:solidFill>
            <a:srgbClr val="7E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463039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454"/>
                </a:solidFill>
              </a:defRPr>
            </a:pPr>
            <a:r>
              <a:t>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202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232A32"/>
                </a:solidFill>
              </a:defRPr>
            </a:pPr>
            <a:r>
              <a:t>Name = "Mona"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82296" cy="1828800"/>
          </a:xfrm>
          <a:prstGeom prst="rect">
            <a:avLst/>
          </a:prstGeom>
          <a:solidFill>
            <a:srgbClr val="F0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463039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454"/>
                </a:solidFill>
              </a:defRPr>
            </a:pPr>
            <a:r>
              <a:t>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232A32"/>
                </a:solidFill>
              </a:defRPr>
            </a:pPr>
            <a:r>
              <a:t>Score = 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3886200"/>
            <a:ext cx="8412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828800" y="3886200"/>
            <a:ext cx="82296" cy="1417320"/>
          </a:xfrm>
          <a:prstGeom prst="rect">
            <a:avLst/>
          </a:prstGeom>
          <a:solidFill>
            <a:srgbClr val="4EA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57400" y="4023360"/>
            <a:ext cx="8001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454"/>
                </a:solidFill>
              </a:defRPr>
            </a:pPr>
            <a:r>
              <a:t>One value at a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4480560"/>
            <a:ext cx="8001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A32"/>
                </a:solidFill>
              </a:defRPr>
            </a:pPr>
            <a:r>
              <a:t>A variable stores one item of data at a time. Its value can be changed later.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0"/>
                </a:solidFill>
              </a:defRPr>
            </a:pPr>
            <a:r>
              <a:t>Year 5 • Computational Thinking &amp; Programming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Choosing a Meaningful Variable Name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49377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82296" cy="1600200"/>
          </a:xfrm>
          <a:prstGeom prst="rect">
            <a:avLst/>
          </a:prstGeom>
          <a:solidFill>
            <a:srgbClr val="4EA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371600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454"/>
                </a:solidFill>
              </a:defRPr>
            </a:pPr>
            <a:r>
              <a:t>Meaningful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526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A32"/>
                </a:solidFill>
              </a:defRPr>
            </a:pPr>
            <a:r>
              <a:t>Count → number of repetitions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49377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063240"/>
            <a:ext cx="82296" cy="160020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200400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454"/>
                </a:solidFill>
              </a:defRPr>
            </a:pPr>
            <a:r>
              <a:t>Meaningful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4526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A32"/>
                </a:solidFill>
              </a:defRPr>
            </a:pPr>
            <a:r>
              <a:t>Score → a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234440"/>
            <a:ext cx="49377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82296" cy="1600200"/>
          </a:xfrm>
          <a:prstGeom prst="rect">
            <a:avLst/>
          </a:prstGeom>
          <a:solidFill>
            <a:srgbClr val="D2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1371600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454"/>
                </a:solidFill>
              </a:defRPr>
            </a:pPr>
            <a:r>
              <a:t>Unclear 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828800"/>
            <a:ext cx="4526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A32"/>
                </a:solidFill>
              </a:defRPr>
            </a:pPr>
            <a:r>
              <a:t>Box1 → What does the 5 mean?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063240"/>
            <a:ext cx="49377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063240"/>
            <a:ext cx="82296" cy="1600200"/>
          </a:xfrm>
          <a:prstGeom prst="rect">
            <a:avLst/>
          </a:prstGeom>
          <a:solidFill>
            <a:srgbClr val="F0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3200400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454"/>
                </a:solidFill>
              </a:defRPr>
            </a:pPr>
            <a:r>
              <a:t>Remember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657600"/>
            <a:ext cx="4526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A32"/>
                </a:solidFill>
              </a:defRPr>
            </a:pPr>
            <a:r>
              <a:t>A good variable name helps us understand the algorithm.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5074920"/>
            <a:ext cx="6675120" cy="685800"/>
          </a:xfrm>
          <a:prstGeom prst="roundRect">
            <a:avLst/>
          </a:prstGeom>
          <a:solidFill>
            <a:srgbClr val="1C242E"/>
          </a:solidFill>
          <a:ln>
            <a:solidFill>
              <a:srgbClr val="41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44368" y="5212080"/>
            <a:ext cx="627278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Consolas"/>
              </a:defRPr>
            </a:pPr>
            <a:r>
              <a:t>Set Count to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0"/>
                </a:solidFill>
              </a:defRPr>
            </a:pPr>
            <a:r>
              <a:t>Year 5 • Computational Thinking &amp; Programming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Assigning a Value to a Variable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6459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E1EB"/>
                </a:solidFill>
              </a:defRPr>
            </a:pPr>
            <a:r>
              <a:t>Assignment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4846320" cy="914400"/>
          </a:xfrm>
          <a:prstGeom prst="roundRect">
            <a:avLst/>
          </a:prstGeom>
          <a:solidFill>
            <a:srgbClr val="1C242E"/>
          </a:solidFill>
          <a:ln>
            <a:solidFill>
              <a:srgbClr val="41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554480"/>
            <a:ext cx="444398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Set Count to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143000"/>
            <a:ext cx="3108960" cy="15544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2801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F3454"/>
                </a:solidFill>
              </a:defRPr>
            </a:pPr>
            <a:r>
              <a:t>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7373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69691"/>
                </a:solidFill>
              </a:defRPr>
            </a:pPr>
            <a:r>
              <a:t>5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349240" y="1554480"/>
            <a:ext cx="1005840" cy="548640"/>
          </a:xfrm>
          <a:prstGeom prst="rightArrow">
            <a:avLst/>
          </a:prstGeom>
          <a:solidFill>
            <a:srgbClr val="F0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" y="2971800"/>
            <a:ext cx="5120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2971800"/>
            <a:ext cx="82296" cy="1325880"/>
          </a:xfrm>
          <a:prstGeom prst="rect">
            <a:avLst/>
          </a:prstGeom>
          <a:solidFill>
            <a:srgbClr val="F0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3108960"/>
            <a:ext cx="4709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454"/>
                </a:solidFill>
              </a:defRPr>
            </a:pPr>
            <a:r>
              <a:t>Assignment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566160"/>
            <a:ext cx="47091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A32"/>
                </a:solidFill>
              </a:defRPr>
            </a:pPr>
            <a:r>
              <a:t>Assignment means putting a value into a variable.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971800"/>
            <a:ext cx="4846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2971800"/>
            <a:ext cx="82296" cy="182880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3108960"/>
            <a:ext cx="4434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54"/>
                </a:solidFill>
              </a:defRPr>
            </a:pPr>
            <a:r>
              <a:t>Break it 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566160"/>
            <a:ext cx="4434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2"/>
                </a:solidFill>
              </a:defRPr>
            </a:pPr>
            <a:r>
              <a:t>Count = variable name</a:t>
            </a:r>
            <a:br/>
            <a:r>
              <a:t>5 = value</a:t>
            </a:r>
            <a:br/>
            <a:r>
              <a:t>Set Count to 5 = store 5 in 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0"/>
                </a:solidFill>
              </a:defRPr>
            </a:pPr>
            <a:r>
              <a:t>Year 5 • Computational Thinking &amp; Programming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What Is a Loop?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6459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E1EB"/>
                </a:solidFill>
              </a:defRPr>
            </a:pPr>
            <a:r>
              <a:t>Repeating instructions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93776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82296" cy="2834640"/>
          </a:xfrm>
          <a:prstGeom prst="rect">
            <a:avLst/>
          </a:prstGeom>
          <a:solidFill>
            <a:srgbClr val="D2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371600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F3454"/>
                </a:solidFill>
              </a:defRPr>
            </a:pPr>
            <a:r>
              <a:t>Without a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4526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A32"/>
                </a:solidFill>
              </a:defRPr>
            </a:pPr>
            <a:r>
              <a:t>Move forward</a:t>
            </a:r>
            <a:br/>
            <a:r>
              <a:t>Move forward</a:t>
            </a:r>
            <a:br/>
            <a:r>
              <a:t>Move forward</a:t>
            </a:r>
            <a:br/>
            <a:r>
              <a:t>Move forward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34440"/>
            <a:ext cx="493776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234440"/>
            <a:ext cx="82296" cy="2834640"/>
          </a:xfrm>
          <a:prstGeom prst="rect">
            <a:avLst/>
          </a:prstGeom>
          <a:solidFill>
            <a:srgbClr val="4EA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371600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F3454"/>
                </a:solidFill>
              </a:defRPr>
            </a:pPr>
            <a:r>
              <a:t>With a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28800"/>
            <a:ext cx="4526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A32"/>
                </a:solidFill>
              </a:defRPr>
            </a:pPr>
            <a:r>
              <a:t>REPEAT 4</a:t>
            </a:r>
            <a:br/>
            <a:r>
              <a:t>    Move forward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4617720"/>
            <a:ext cx="8046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103120" y="4617720"/>
            <a:ext cx="82296" cy="105156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31720" y="4754880"/>
            <a:ext cx="7635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54"/>
                </a:solidFill>
              </a:defRPr>
            </a:pPr>
            <a:r>
              <a:t>Why use loops?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5212080"/>
            <a:ext cx="7635240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2"/>
                </a:solidFill>
              </a:defRPr>
            </a:pPr>
            <a:r>
              <a:t>Loops make algorithms shorter, clearer and more efficient when instructions repeat.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0"/>
                </a:solidFill>
              </a:defRPr>
            </a:pPr>
            <a:r>
              <a:t>Year 5 • Computational Thinking &amp; Programming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Count-Controlled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6459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E1EB"/>
                </a:solidFill>
              </a:defRPr>
            </a:pPr>
            <a:r>
              <a:t>Exact repetitions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4572000" cy="1417320"/>
          </a:xfrm>
          <a:prstGeom prst="roundRect">
            <a:avLst/>
          </a:prstGeom>
          <a:solidFill>
            <a:srgbClr val="1C242E"/>
          </a:solidFill>
          <a:ln>
            <a:solidFill>
              <a:srgbClr val="41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463039"/>
            <a:ext cx="4169663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FFFFF"/>
                </a:solidFill>
                <a:latin typeface="Consolas"/>
              </a:defRPr>
            </a:pPr>
            <a:r>
              <a:t>REPEAT 3</a:t>
            </a:r>
            <a:br/>
            <a:r>
              <a:t>    Move forward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1508760"/>
            <a:ext cx="685800" cy="685800"/>
          </a:xfrm>
          <a:prstGeom prst="ellipse">
            <a:avLst/>
          </a:prstGeom>
          <a:solidFill>
            <a:srgbClr val="E0F3F1"/>
          </a:solidFill>
          <a:ln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64208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🤖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50608" y="1719072"/>
            <a:ext cx="594360" cy="274320"/>
          </a:xfrm>
          <a:prstGeom prst="rightArrow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909560" y="1508760"/>
            <a:ext cx="685800" cy="685800"/>
          </a:xfrm>
          <a:prstGeom prst="ellipse">
            <a:avLst/>
          </a:prstGeom>
          <a:solidFill>
            <a:srgbClr val="E0F3F1"/>
          </a:solidFill>
          <a:ln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09560" y="1664208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🤖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659368" y="1719072"/>
            <a:ext cx="594360" cy="274320"/>
          </a:xfrm>
          <a:prstGeom prst="rightArrow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418320" y="1508760"/>
            <a:ext cx="685800" cy="685800"/>
          </a:xfrm>
          <a:prstGeom prst="ellipse">
            <a:avLst/>
          </a:prstGeom>
          <a:solidFill>
            <a:srgbClr val="E0F3F1"/>
          </a:solidFill>
          <a:ln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0" y="1664208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337560"/>
            <a:ext cx="100584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" y="3337560"/>
            <a:ext cx="82296" cy="128016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3474720"/>
            <a:ext cx="9646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3454"/>
                </a:solidFill>
              </a:defRPr>
            </a:pPr>
            <a:r>
              <a:t>Definition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931920"/>
            <a:ext cx="964692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232A32"/>
                </a:solidFill>
              </a:defRPr>
            </a:pPr>
            <a:r>
              <a:t>A count-controlled loop repeats instructions an exact number of times.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00600"/>
            <a:ext cx="10058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" y="4800600"/>
            <a:ext cx="82296" cy="960120"/>
          </a:xfrm>
          <a:prstGeom prst="rect">
            <a:avLst/>
          </a:prstGeom>
          <a:solidFill>
            <a:srgbClr val="F0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4937760"/>
            <a:ext cx="9646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54"/>
                </a:solidFill>
              </a:defRPr>
            </a:pPr>
            <a:r>
              <a:t>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394960"/>
            <a:ext cx="9646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2"/>
                </a:solidFill>
              </a:defRPr>
            </a:pPr>
            <a:r>
              <a:t>REPEAT 5 → How many times will the instruction happen?</a:t>
            </a:r>
            <a:br/>
            <a:r>
              <a:t>Answer: 5 times.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0"/>
                </a:solidFill>
              </a:defRPr>
            </a:pPr>
            <a:r>
              <a:t>Year 5 • Computational Thinking &amp; Programming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Using Count to Control a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6459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E1EB"/>
                </a:solidFill>
              </a:defRPr>
            </a:pPr>
            <a:r>
              <a:t>Variable +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669280" cy="2926080"/>
          </a:xfrm>
          <a:prstGeom prst="roundRect">
            <a:avLst/>
          </a:prstGeom>
          <a:solidFill>
            <a:srgbClr val="1C242E"/>
          </a:solidFill>
          <a:ln>
            <a:solidFill>
              <a:srgbClr val="41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280160"/>
            <a:ext cx="5266944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  <a:r>
              <a:t>Set Count to 2</a:t>
            </a:r>
            <a:br/>
            <a:r>
              <a:t>REPEAT Count</a:t>
            </a:r>
            <a:br/>
            <a:r>
              <a:t>    Move forward</a:t>
            </a:r>
            <a:br/>
            <a:r>
              <a:t>    Turn right</a:t>
            </a:r>
            <a:br/>
            <a:r>
              <a:t>    Move forward</a:t>
            </a:r>
            <a:br/>
            <a:r>
              <a:t>    Turn left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325880"/>
            <a:ext cx="3017520" cy="14173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146303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F3454"/>
                </a:solidFill>
              </a:defRPr>
            </a:pPr>
            <a:r>
              <a:t>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9202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69691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3246120"/>
            <a:ext cx="4480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66560" y="3246120"/>
            <a:ext cx="82296" cy="1417320"/>
          </a:xfrm>
          <a:prstGeom prst="rect">
            <a:avLst/>
          </a:prstGeom>
          <a:solidFill>
            <a:srgbClr val="4EA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5160" y="3383279"/>
            <a:ext cx="4069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54"/>
                </a:solidFill>
              </a:defRPr>
            </a:pPr>
            <a:r>
              <a:t>What happens?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3840480"/>
            <a:ext cx="4069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2"/>
                </a:solidFill>
              </a:defRPr>
            </a:pPr>
            <a:r>
              <a:t>Count stores 2, so the instructions inside the loop repeat 2 times.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4800600"/>
            <a:ext cx="4480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766560" y="4800600"/>
            <a:ext cx="82296" cy="1005840"/>
          </a:xfrm>
          <a:prstGeom prst="rect">
            <a:avLst/>
          </a:prstGeom>
          <a:solidFill>
            <a:srgbClr val="F0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95160" y="4937760"/>
            <a:ext cx="4069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54"/>
                </a:solidFill>
              </a:defRPr>
            </a:pPr>
            <a:r>
              <a:t>Key idea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5394960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2"/>
                </a:solidFill>
              </a:defRPr>
            </a:pPr>
            <a:r>
              <a:t>The variable controls the number of repetitions.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0"/>
                </a:solidFill>
              </a:defRPr>
            </a:pPr>
            <a:r>
              <a:t>Year 5 • Computational Thinking &amp; Programming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Let's Read the Algorithm Step by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188720"/>
            <a:ext cx="10515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188720"/>
            <a:ext cx="82296" cy="132588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325880"/>
            <a:ext cx="10104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454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101041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2"/>
                </a:solidFill>
              </a:defRPr>
            </a:pPr>
            <a:r>
              <a:t>Set Count to 2</a:t>
            </a:r>
            <a:br/>
            <a:r>
              <a:t>Store the value 2 in 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10515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743200"/>
            <a:ext cx="82296" cy="1325880"/>
          </a:xfrm>
          <a:prstGeom prst="rect">
            <a:avLst/>
          </a:prstGeom>
          <a:solidFill>
            <a:srgbClr val="F0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104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454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337560"/>
            <a:ext cx="101041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2"/>
                </a:solidFill>
              </a:defRPr>
            </a:pPr>
            <a:r>
              <a:t>REPEAT Count</a:t>
            </a:r>
            <a:br/>
            <a:r>
              <a:t>The loop will repeat 2 times.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97680"/>
            <a:ext cx="10515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4297680"/>
            <a:ext cx="82296" cy="132588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434840"/>
            <a:ext cx="10104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454"/>
                </a:solidFill>
              </a:defRPr>
            </a:pPr>
            <a:r>
              <a:t>3–6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892040"/>
            <a:ext cx="101041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2"/>
                </a:solidFill>
              </a:defRPr>
            </a:pPr>
            <a:r>
              <a:t>Move → Turn → Move → Turn</a:t>
            </a:r>
            <a:br/>
            <a:r>
              <a:t>These four instructions are repeated together.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0"/>
                </a:solidFill>
              </a:defRPr>
            </a:pPr>
            <a:r>
              <a:t>Year 5 • Computational Thinking &amp; Programming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What Happens If Count Changes?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143000"/>
            <a:ext cx="2926080" cy="13258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F3454"/>
                </a:solidFill>
              </a:defRPr>
            </a:pPr>
            <a:r>
              <a:t>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69691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143000"/>
            <a:ext cx="3474720" cy="1325880"/>
          </a:xfrm>
          <a:prstGeom prst="roundRect">
            <a:avLst/>
          </a:prstGeom>
          <a:solidFill>
            <a:srgbClr val="1C242E"/>
          </a:solidFill>
          <a:ln>
            <a:solidFill>
              <a:srgbClr val="41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61688" y="1280160"/>
            <a:ext cx="307238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onsolas"/>
              </a:defRPr>
            </a:pPr>
            <a:r>
              <a:t>REPEAT Count</a:t>
            </a:r>
            <a:br/>
            <a:r>
              <a:t>    Move forward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143000"/>
            <a:ext cx="310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01000" y="1143000"/>
            <a:ext cx="82296" cy="132588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280160"/>
            <a:ext cx="2697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54"/>
                </a:solidFill>
              </a:defRPr>
            </a:pPr>
            <a:r>
              <a:t>2 repetitions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37360"/>
            <a:ext cx="269747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2"/>
                </a:solidFill>
              </a:defRPr>
            </a:pPr>
            <a:r>
              <a:t>The loop runs 2 times.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37560"/>
            <a:ext cx="2926080" cy="13258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09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F3454"/>
                </a:solidFill>
              </a:defRPr>
            </a:pPr>
            <a:r>
              <a:t>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319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09742"/>
                </a:solidFill>
              </a:defRPr>
            </a:pPr>
            <a: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337560"/>
            <a:ext cx="3474720" cy="1325880"/>
          </a:xfrm>
          <a:prstGeom prst="roundRect">
            <a:avLst/>
          </a:prstGeom>
          <a:solidFill>
            <a:srgbClr val="1C242E"/>
          </a:solidFill>
          <a:ln>
            <a:solidFill>
              <a:srgbClr val="41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61688" y="3474720"/>
            <a:ext cx="307238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onsolas"/>
              </a:defRPr>
            </a:pPr>
            <a:r>
              <a:t>REPEAT Count</a:t>
            </a:r>
            <a:br/>
            <a:r>
              <a:t>    Move forward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337560"/>
            <a:ext cx="310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01000" y="3337560"/>
            <a:ext cx="82296" cy="1325880"/>
          </a:xfrm>
          <a:prstGeom prst="rect">
            <a:avLst/>
          </a:prstGeom>
          <a:solidFill>
            <a:srgbClr val="F0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3474720"/>
            <a:ext cx="2697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54"/>
                </a:solidFill>
              </a:defRPr>
            </a:pPr>
            <a:r>
              <a:t>5 repetitions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931920"/>
            <a:ext cx="269747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2"/>
                </a:solidFill>
              </a:defRPr>
            </a:pPr>
            <a:r>
              <a:t>The same loop now runs 5 times.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5166360"/>
            <a:ext cx="8503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828800" y="5166360"/>
            <a:ext cx="82296" cy="777240"/>
          </a:xfrm>
          <a:prstGeom prst="rect">
            <a:avLst/>
          </a:prstGeom>
          <a:solidFill>
            <a:srgbClr val="4EA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57400" y="5303520"/>
            <a:ext cx="8092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454"/>
                </a:solidFill>
              </a:defRPr>
            </a:pPr>
            <a:r>
              <a:t>Important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760720"/>
            <a:ext cx="809244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Changing the variable's value changes how many times the loop repeats.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0"/>
                </a:solidFill>
              </a:defRPr>
            </a:pPr>
            <a:r>
              <a:t>Year 5 • Computational Thinking &amp; Programming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Let's Help the Ladybug!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6459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E1EB"/>
                </a:solidFill>
              </a:defRPr>
            </a:pPr>
            <a:r>
              <a:t>Grid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995160" y="114300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0" y="114300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01000" y="114300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03920" y="114300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006840" y="114300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509760" y="114300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995160" y="164592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98080" y="164592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64592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03920" y="164592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006840" y="164592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509760" y="164592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995160" y="214884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98080" y="214884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01000" y="214884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03920" y="214884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06840" y="214884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509760" y="214884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995160" y="265176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98080" y="265176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01000" y="265176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503920" y="265176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06840" y="265176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509760" y="265176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95160" y="315468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498080" y="315468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01000" y="315468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03920" y="315468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006840" y="315468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509760" y="315468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995160" y="365760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498080" y="365760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01000" y="365760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503920" y="365760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006840" y="365760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509760" y="3657600"/>
            <a:ext cx="502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A0AA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98080" y="315468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🐞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11430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🌼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1143000"/>
            <a:ext cx="5394960" cy="2926080"/>
          </a:xfrm>
          <a:prstGeom prst="roundRect">
            <a:avLst/>
          </a:prstGeom>
          <a:solidFill>
            <a:srgbClr val="1C242E"/>
          </a:solidFill>
          <a:ln>
            <a:solidFill>
              <a:srgbClr val="41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86968" y="1280160"/>
            <a:ext cx="4992624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Set Count to 5</a:t>
            </a:r>
            <a:br/>
            <a:r>
              <a:t>REPEAT Count</a:t>
            </a:r>
            <a:br/>
            <a:r>
              <a:t>    Move forward</a:t>
            </a:r>
            <a:br/>
            <a:r>
              <a:t>    Turn right</a:t>
            </a:r>
            <a:br/>
            <a:r>
              <a:t>    Move forward</a:t>
            </a:r>
            <a:br/>
            <a:r>
              <a:t>    Turn left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4343400"/>
            <a:ext cx="5303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31520" y="4343400"/>
            <a:ext cx="82296" cy="109728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0120" y="448056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54"/>
                </a:solidFill>
              </a:defRPr>
            </a:pPr>
            <a:r>
              <a:t>Goal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" y="4937760"/>
            <a:ext cx="48920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2"/>
                </a:solidFill>
              </a:defRPr>
            </a:pPr>
            <a:r>
              <a:t>Use the algorithm to help the ladybug reach the flower.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4709160"/>
            <a:ext cx="4389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00800" y="4709160"/>
            <a:ext cx="82296" cy="914400"/>
          </a:xfrm>
          <a:prstGeom prst="rect">
            <a:avLst/>
          </a:prstGeom>
          <a:solidFill>
            <a:srgbClr val="F0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29400" y="4846320"/>
            <a:ext cx="3977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54"/>
                </a:solidFill>
              </a:defRPr>
            </a:pPr>
            <a:r>
              <a:t>Think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5303520"/>
            <a:ext cx="3977639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2"/>
                </a:solidFill>
              </a:defRPr>
            </a:pPr>
            <a:r>
              <a:t>How many times will the loop repeat?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0"/>
                </a:solidFill>
              </a:defRPr>
            </a:pPr>
            <a:r>
              <a:t>Year 5 • Computational Thinking &amp; Programming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Understanding the Value of Count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2926080" cy="14173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F3454"/>
                </a:solidFill>
              </a:defRPr>
            </a:pPr>
            <a:r>
              <a:t>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69691"/>
                </a:solidFill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23444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51960" y="1234440"/>
            <a:ext cx="82296" cy="1417320"/>
          </a:xfrm>
          <a:prstGeom prst="rect">
            <a:avLst/>
          </a:prstGeom>
          <a:solidFill>
            <a:srgbClr val="4EA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371600"/>
            <a:ext cx="2697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54"/>
                </a:solidFill>
              </a:defRPr>
            </a:pPr>
            <a:r>
              <a:t>Count tells us…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26974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A32"/>
                </a:solidFill>
              </a:defRPr>
            </a:pPr>
            <a:r>
              <a:t>how many times the loop will repeat.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051560"/>
            <a:ext cx="3429000" cy="1965960"/>
          </a:xfrm>
          <a:prstGeom prst="roundRect">
            <a:avLst/>
          </a:prstGeom>
          <a:solidFill>
            <a:srgbClr val="1C242E"/>
          </a:solidFill>
          <a:ln>
            <a:solidFill>
              <a:srgbClr val="41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19288" y="1188719"/>
            <a:ext cx="3026664" cy="1691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REPEAT Count</a:t>
            </a:r>
            <a:br/>
            <a:r>
              <a:t>    Move forward</a:t>
            </a:r>
            <a:br/>
            <a:r>
              <a:t>    Turn right</a:t>
            </a:r>
            <a:br/>
            <a:r>
              <a:t>    Move forward</a:t>
            </a:r>
            <a:br/>
            <a:r>
              <a:t>    Turn left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337560"/>
            <a:ext cx="10058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3337560"/>
            <a:ext cx="82296" cy="1234440"/>
          </a:xfrm>
          <a:prstGeom prst="rect">
            <a:avLst/>
          </a:prstGeom>
          <a:solidFill>
            <a:srgbClr val="F0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3474720"/>
            <a:ext cx="9646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F3454"/>
                </a:solidFill>
              </a:defRPr>
            </a:pPr>
            <a:r>
              <a:t>Important distinction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31920"/>
            <a:ext cx="9646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A32"/>
                </a:solidFill>
              </a:defRPr>
            </a:pPr>
            <a:r>
              <a:t>There are 4 instructions inside the loop, but the whole group is repeated 5 times.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4892040"/>
            <a:ext cx="8503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828800" y="4892040"/>
            <a:ext cx="82296" cy="91440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57400" y="5029200"/>
            <a:ext cx="8092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54"/>
                </a:solidFill>
              </a:defRPr>
            </a:pPr>
            <a:r>
              <a:t>Challenge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486400"/>
            <a:ext cx="80924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2"/>
                </a:solidFill>
              </a:defRPr>
            </a:pPr>
            <a:r>
              <a:t>If Count = 3, how many times does the group of instructions repeat?</a:t>
            </a:r>
            <a:br/>
            <a:r>
              <a:t>Answer: 3 times.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0"/>
                </a:solidFill>
              </a:defRPr>
            </a:pPr>
            <a:r>
              <a:t>Year 5 • Computational Thinking &amp; Programming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Putting a Value into a Variable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6459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E1EB"/>
                </a:solidFill>
              </a:defRPr>
            </a:pPr>
            <a:r>
              <a:t>Assignment as a box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4297680" cy="868680"/>
          </a:xfrm>
          <a:prstGeom prst="roundRect">
            <a:avLst/>
          </a:prstGeom>
          <a:solidFill>
            <a:srgbClr val="1C242E"/>
          </a:solidFill>
          <a:ln>
            <a:solidFill>
              <a:srgbClr val="41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417319"/>
            <a:ext cx="3895344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FFFFF"/>
                </a:solidFill>
                <a:latin typeface="Consolas"/>
              </a:defRPr>
            </a:pPr>
            <a:r>
              <a:t>Set Count to 5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394960" y="1444752"/>
            <a:ext cx="914400" cy="502920"/>
          </a:xfrm>
          <a:prstGeom prst="rightArrow">
            <a:avLst/>
          </a:prstGeom>
          <a:solidFill>
            <a:srgbClr val="F0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0" y="1051560"/>
            <a:ext cx="3291840" cy="1645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1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F3454"/>
                </a:solidFill>
              </a:defRPr>
            </a:pPr>
            <a:r>
              <a:t>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1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69691"/>
                </a:solidFill>
              </a:defRPr>
            </a:pPr>
            <a: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880360"/>
            <a:ext cx="48463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2880360"/>
            <a:ext cx="82296" cy="173736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4434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54"/>
                </a:solidFill>
              </a:defRPr>
            </a:pPr>
            <a:r>
              <a:t>Breakdown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474720"/>
            <a:ext cx="44348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2"/>
                </a:solidFill>
              </a:defRPr>
            </a:pPr>
            <a:r>
              <a:t>Count = variable name</a:t>
            </a:r>
            <a:br/>
            <a:r>
              <a:t>5 = value</a:t>
            </a:r>
            <a:br/>
            <a:r>
              <a:t>Set Count to 5 = assignment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46120"/>
            <a:ext cx="49377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246120"/>
            <a:ext cx="82296" cy="1371600"/>
          </a:xfrm>
          <a:prstGeom prst="rect">
            <a:avLst/>
          </a:prstGeom>
          <a:solidFill>
            <a:srgbClr val="F0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3383279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54"/>
                </a:solidFill>
              </a:defRPr>
            </a:pPr>
            <a:r>
              <a:t>Think of it as a 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840480"/>
            <a:ext cx="4526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2"/>
                </a:solidFill>
              </a:defRPr>
            </a:pPr>
            <a:r>
              <a:t>The variable is labelled Count, and the current value inside the box is 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0"/>
                </a:solidFill>
              </a:defRPr>
            </a:pPr>
            <a:r>
              <a:t>Year 5 • Computational Thinking &amp; Programming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Let's Practise!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6459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E1EB"/>
                </a:solidFill>
              </a:defRPr>
            </a:pPr>
            <a:r>
              <a:t>Predict the repetitions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6766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051560"/>
            <a:ext cx="82296" cy="141732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188719"/>
            <a:ext cx="6355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454"/>
                </a:solidFill>
              </a:defRPr>
            </a:pPr>
            <a:r>
              <a:t>Question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19"/>
            <a:ext cx="6355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Set Count to 4</a:t>
            </a:r>
            <a:br/>
            <a:r>
              <a:t>REPEAT Count</a:t>
            </a:r>
            <a:br/>
            <a:r>
              <a:t>    Move forward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16151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18120" y="1216151"/>
            <a:ext cx="82296" cy="1051560"/>
          </a:xfrm>
          <a:prstGeom prst="rect">
            <a:avLst/>
          </a:prstGeom>
          <a:solidFill>
            <a:srgbClr val="4EA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0" y="1353311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454"/>
                </a:solidFill>
              </a:defRPr>
            </a:pPr>
            <a:r>
              <a:t>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810512"/>
            <a:ext cx="2971800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A32"/>
                </a:solidFill>
              </a:defRPr>
            </a:pPr>
            <a:r>
              <a:t>Answer: 4 times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43200"/>
            <a:ext cx="6766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743200"/>
            <a:ext cx="82296" cy="1417320"/>
          </a:xfrm>
          <a:prstGeom prst="rect">
            <a:avLst/>
          </a:prstGeom>
          <a:solidFill>
            <a:srgbClr val="F0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880360"/>
            <a:ext cx="6355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454"/>
                </a:solidFill>
              </a:defRPr>
            </a:pPr>
            <a:r>
              <a:t>Question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37560"/>
            <a:ext cx="6355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Set Count to 6</a:t>
            </a:r>
            <a:br/>
            <a:r>
              <a:t>REPEAT Count</a:t>
            </a:r>
            <a:br/>
            <a:r>
              <a:t>    Turn right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2907792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18120" y="2907792"/>
            <a:ext cx="82296" cy="1051560"/>
          </a:xfrm>
          <a:prstGeom prst="rect">
            <a:avLst/>
          </a:prstGeom>
          <a:solidFill>
            <a:srgbClr val="4EA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0" y="304495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454"/>
                </a:solidFill>
              </a:defRPr>
            </a:pPr>
            <a:r>
              <a:t>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502152"/>
            <a:ext cx="2971800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A32"/>
                </a:solidFill>
              </a:defRPr>
            </a:pPr>
            <a:r>
              <a:t>Answer: 6 times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434840"/>
            <a:ext cx="6766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4434840"/>
            <a:ext cx="82296" cy="141732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6355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454"/>
                </a:solidFill>
              </a:defRPr>
            </a:pPr>
            <a:r>
              <a:t>Question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29200"/>
            <a:ext cx="6355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Set Count to 3</a:t>
            </a:r>
            <a:br/>
            <a:r>
              <a:t>REPEAT Count</a:t>
            </a:r>
            <a:br/>
            <a:r>
              <a:t>    Move forward</a:t>
            </a:r>
            <a:br/>
            <a:r>
              <a:t>    Turn left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4599431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818120" y="4599431"/>
            <a:ext cx="82296" cy="1051560"/>
          </a:xfrm>
          <a:prstGeom prst="rect">
            <a:avLst/>
          </a:prstGeom>
          <a:solidFill>
            <a:srgbClr val="4EA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0" y="473659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454"/>
                </a:solidFill>
              </a:defRPr>
            </a:pPr>
            <a:r>
              <a:t>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193792"/>
            <a:ext cx="2971800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A32"/>
                </a:solidFill>
              </a:defRPr>
            </a:pPr>
            <a:r>
              <a:t>Answer: 3 times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0"/>
                </a:solidFill>
              </a:defRPr>
            </a:pPr>
            <a:r>
              <a:t>Year 5 • Computational Thinking &amp; Programming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Check Your Understanding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82296" cy="82296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143000"/>
            <a:ext cx="10287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454"/>
                </a:solidFill>
              </a:defRPr>
            </a:pPr>
            <a:r>
              <a:t>Variable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10287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A named place that stores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82296" cy="822960"/>
          </a:xfrm>
          <a:prstGeom prst="rect">
            <a:avLst/>
          </a:prstGeom>
          <a:solidFill>
            <a:srgbClr val="F0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10287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454"/>
                </a:solidFill>
              </a:defRPr>
            </a:pPr>
            <a:r>
              <a:t>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06040"/>
            <a:ext cx="10287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The data currently stored in a variable.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017520"/>
            <a:ext cx="82296" cy="822960"/>
          </a:xfrm>
          <a:prstGeom prst="rect">
            <a:avLst/>
          </a:prstGeom>
          <a:solidFill>
            <a:srgbClr val="7E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154680"/>
            <a:ext cx="10287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454"/>
                </a:solidFill>
              </a:defRPr>
            </a:pPr>
            <a:r>
              <a:t>Assignment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11880"/>
            <a:ext cx="10287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Putting a value into a variable.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82296" cy="822960"/>
          </a:xfrm>
          <a:prstGeom prst="rect">
            <a:avLst/>
          </a:prstGeom>
          <a:solidFill>
            <a:srgbClr val="4EA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160520"/>
            <a:ext cx="10287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454"/>
                </a:solidFill>
              </a:defRPr>
            </a:pPr>
            <a:r>
              <a:t>Count-controlled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617720"/>
            <a:ext cx="10287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A loop that repeats instructions an exact number of times.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2920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5029200"/>
            <a:ext cx="82296" cy="822960"/>
          </a:xfrm>
          <a:prstGeom prst="rect">
            <a:avLst/>
          </a:prstGeom>
          <a:solidFill>
            <a:srgbClr val="D2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166360"/>
            <a:ext cx="10287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454"/>
                </a:solidFill>
              </a:defRPr>
            </a:pPr>
            <a:r>
              <a:t>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623560"/>
            <a:ext cx="102870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t>A variable that can store the number of repetitions.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0"/>
                </a:solidFill>
              </a:defRPr>
            </a:pPr>
            <a:r>
              <a:t>Year 5 • Computational Thinking &amp; Programming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6459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E1EB"/>
                </a:solidFill>
              </a:defRPr>
            </a:pPr>
            <a:r>
              <a:t>Lesson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7406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A variable stores data and has a name and a value.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The value of a variable can change.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Meaningful names help us understand algorithms.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Assignment puts a value into a variable.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A loop repeats instructions.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A count-controlled loop repeats instructions an exact number of times.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Count can store the number of repetitions.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143000"/>
            <a:ext cx="2468880" cy="640080"/>
          </a:xfrm>
          <a:prstGeom prst="roundRect">
            <a:avLst/>
          </a:prstGeom>
          <a:solidFill>
            <a:srgbClr val="E0F3F1"/>
          </a:solidFill>
          <a:ln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125272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3454"/>
                </a:solidFill>
              </a:defRPr>
            </a:pPr>
            <a:r>
              <a:t>Variable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103120"/>
            <a:ext cx="2468880" cy="640080"/>
          </a:xfrm>
          <a:prstGeom prst="roundRect">
            <a:avLst/>
          </a:prstGeom>
          <a:solidFill>
            <a:srgbClr val="FCEEDD"/>
          </a:solidFill>
          <a:ln>
            <a:solidFill>
              <a:srgbClr val="F09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66760" y="221284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3454"/>
                </a:solidFill>
              </a:defRPr>
            </a:pPr>
            <a:r>
              <a:t>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063240"/>
            <a:ext cx="2468880" cy="640080"/>
          </a:xfrm>
          <a:prstGeom prst="roundRect">
            <a:avLst/>
          </a:prstGeom>
          <a:solidFill>
            <a:srgbClr val="EBE1F5"/>
          </a:solidFill>
          <a:ln>
            <a:solidFill>
              <a:srgbClr val="7E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317296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3454"/>
                </a:solidFill>
              </a:defRPr>
            </a:pPr>
            <a:r>
              <a:t>Assignment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4023360"/>
            <a:ext cx="2468880" cy="640080"/>
          </a:xfrm>
          <a:prstGeom prst="roundRect">
            <a:avLst/>
          </a:prstGeom>
          <a:solidFill>
            <a:srgbClr val="E1F0E2"/>
          </a:solidFill>
          <a:ln>
            <a:solidFill>
              <a:srgbClr val="4EA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413308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3454"/>
                </a:solidFill>
              </a:defRPr>
            </a:pPr>
            <a:r>
              <a:t>Count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4983480"/>
            <a:ext cx="2468880" cy="640080"/>
          </a:xfrm>
          <a:prstGeom prst="roundRect">
            <a:avLst/>
          </a:prstGeom>
          <a:solidFill>
            <a:srgbClr val="F8E2E2"/>
          </a:solidFill>
          <a:ln>
            <a:solidFill>
              <a:srgbClr val="D2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509320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3454"/>
                </a:solidFill>
              </a:defRPr>
            </a:pPr>
            <a:r>
              <a:t>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0"/>
                </a:solidFill>
              </a:defRPr>
            </a:pPr>
            <a:r>
              <a:t>Year 5 • Computational Thinking &amp; Programming   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Habiba Hassan</cp:lastModifiedBy>
  <cp:revision>3</cp:revision>
  <dcterms:created xsi:type="dcterms:W3CDTF">2013-01-27T09:14:16Z</dcterms:created>
  <dcterms:modified xsi:type="dcterms:W3CDTF">2026-10-13T10:52:59Z</dcterms:modified>
  <cp:category/>
</cp:coreProperties>
</file>