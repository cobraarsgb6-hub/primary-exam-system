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25"/>
  </p:notesMasterIdLst>
  <p:handoutMasterIdLst>
    <p:handoutMasterId r:id="rId26"/>
  </p:handoutMasterIdLst>
  <p:sldIdLst>
    <p:sldId id="278" r:id="rId2"/>
    <p:sldId id="277" r:id="rId3"/>
    <p:sldId id="258" r:id="rId4"/>
    <p:sldId id="264"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67" r:id="rId24"/>
  </p:sldIdLst>
  <p:sldSz cx="9144000" cy="6858000" type="screen4x3"/>
  <p:notesSz cx="6858000" cy="9144000"/>
  <p:embeddedFontLst>
    <p:embeddedFont>
      <p:font typeface="Calibri" panose="020F0502020204030204" pitchFamily="34" charset="0"/>
      <p:regular r:id="rId27"/>
      <p:bold r:id="rId28"/>
      <p:italic r:id="rId29"/>
      <p:boldItalic r:id="rId30"/>
    </p:embeddedFont>
    <p:embeddedFont>
      <p:font typeface="Report" panose="02000506020000020003" pitchFamily="2" charset="0"/>
      <p:regular r:id="rId31"/>
      <p:bold r:id="rId32"/>
    </p:embeddedFont>
    <p:embeddedFont>
      <p:font typeface="Roboto" panose="02000000000000000000" pitchFamily="2" charset="0"/>
      <p:regular r:id="rId33"/>
      <p:bold r:id="rId34"/>
      <p:italic r:id="rId35"/>
      <p:boldItalic r:id="rId36"/>
    </p:embeddedFont>
    <p:embeddedFont>
      <p:font typeface="Twinkl" panose="02000000000000000000" pitchFamily="2" charset="0"/>
      <p:regular r:id="rId37"/>
      <p:bold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4" pos="340" userDrawn="1">
          <p15:clr>
            <a:srgbClr val="A4A3A4"/>
          </p15:clr>
        </p15:guide>
        <p15:guide id="5" orient="horz" pos="3974" userDrawn="1">
          <p15:clr>
            <a:srgbClr val="A4A3A4"/>
          </p15:clr>
        </p15:guide>
        <p15:guide id="6" pos="5420" userDrawn="1">
          <p15:clr>
            <a:srgbClr val="A4A3A4"/>
          </p15:clr>
        </p15:guide>
        <p15:guide id="7" orient="horz" pos="346" userDrawn="1">
          <p15:clr>
            <a:srgbClr val="A4A3A4"/>
          </p15:clr>
        </p15:guide>
        <p15:guide id="8" pos="476" userDrawn="1">
          <p15:clr>
            <a:srgbClr val="A4A3A4"/>
          </p15:clr>
        </p15:guide>
        <p15:guide id="9" orient="horz" pos="482" userDrawn="1">
          <p15:clr>
            <a:srgbClr val="A4A3A4"/>
          </p15:clr>
        </p15:guide>
        <p15:guide id="10" orient="horz" pos="3838" userDrawn="1">
          <p15:clr>
            <a:srgbClr val="A4A3A4"/>
          </p15:clr>
        </p15:guide>
        <p15:guide id="11" pos="528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B1E3"/>
    <a:srgbClr val="A213C9"/>
    <a:srgbClr val="18A0DB"/>
    <a:srgbClr val="21A6F9"/>
    <a:srgbClr val="DE1E5A"/>
    <a:srgbClr val="BC0105"/>
    <a:srgbClr val="80C1EB"/>
    <a:srgbClr val="ACDDFC"/>
    <a:srgbClr val="FFFFFF"/>
    <a:srgbClr val="4AA1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14" d="100"/>
          <a:sy n="114" d="100"/>
        </p:scale>
        <p:origin x="1506" y="102"/>
      </p:cViewPr>
      <p:guideLst>
        <p:guide orient="horz" pos="2160"/>
        <p:guide pos="2880"/>
        <p:guide pos="340"/>
        <p:guide orient="horz" pos="3974"/>
        <p:guide pos="5420"/>
        <p:guide orient="horz" pos="346"/>
        <p:guide pos="476"/>
        <p:guide orient="horz" pos="482"/>
        <p:guide orient="horz" pos="3838"/>
        <p:guide pos="5284"/>
      </p:guideLst>
    </p:cSldViewPr>
  </p:slideViewPr>
  <p:notesTextViewPr>
    <p:cViewPr>
      <p:scale>
        <a:sx n="3" d="2"/>
        <a:sy n="3" d="2"/>
      </p:scale>
      <p:origin x="0" y="0"/>
    </p:cViewPr>
  </p:notesTextViewPr>
  <p:notesViewPr>
    <p:cSldViewPr snapToGrid="0" showGuides="1">
      <p:cViewPr varScale="1">
        <p:scale>
          <a:sx n="77" d="100"/>
          <a:sy n="77" d="100"/>
        </p:scale>
        <p:origin x="2646"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7.fntdata"/><Relationship Id="rId38" Type="http://schemas.openxmlformats.org/officeDocument/2006/relationships/font" Target="fonts/font1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B34F151-63AC-41CE-96F5-7702E930870C}" type="datetimeFigureOut">
              <a:rPr lang="en-GB" smtClean="0"/>
              <a:t>15/06/2023</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76B846-B279-40AC-BFF5-DBC4013370C2}" type="slidenum">
              <a:rPr lang="en-GB" smtClean="0"/>
              <a:t>‹Nº›</a:t>
            </a:fld>
            <a:endParaRPr lang="en-GB"/>
          </a:p>
        </p:txBody>
      </p:sp>
    </p:spTree>
    <p:extLst>
      <p:ext uri="{BB962C8B-B14F-4D97-AF65-F5344CB8AC3E}">
        <p14:creationId xmlns:p14="http://schemas.microsoft.com/office/powerpoint/2010/main" val="26453970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02C5D1-7818-41B5-ABAD-5E4B38A5388F}" type="datetimeFigureOut">
              <a:rPr lang="en-GB" smtClean="0"/>
              <a:t>15/06/2023</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21341-850D-40E1-BB3D-87946DC9B06D}" type="slidenum">
              <a:rPr lang="en-GB" smtClean="0"/>
              <a:t>‹Nº›</a:t>
            </a:fld>
            <a:endParaRPr lang="en-GB"/>
          </a:p>
        </p:txBody>
      </p:sp>
    </p:spTree>
    <p:extLst>
      <p:ext uri="{BB962C8B-B14F-4D97-AF65-F5344CB8AC3E}">
        <p14:creationId xmlns:p14="http://schemas.microsoft.com/office/powerpoint/2010/main" val="847048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7040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Box">
    <p:spTree>
      <p:nvGrpSpPr>
        <p:cNvPr id="1" name=""/>
        <p:cNvGrpSpPr/>
        <p:nvPr/>
      </p:nvGrpSpPr>
      <p:grpSpPr>
        <a:xfrm>
          <a:off x="0" y="0"/>
          <a:ext cx="0" cy="0"/>
          <a:chOff x="0" y="0"/>
          <a:chExt cx="0" cy="0"/>
        </a:xfrm>
      </p:grpSpPr>
      <p:sp>
        <p:nvSpPr>
          <p:cNvPr id="4" name="Rounded Rectangle 3"/>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72497" y="5734211"/>
            <a:ext cx="576495" cy="580719"/>
          </a:xfrm>
          <a:prstGeom prst="rect">
            <a:avLst/>
          </a:prstGeom>
        </p:spPr>
      </p:pic>
    </p:spTree>
    <p:extLst>
      <p:ext uri="{BB962C8B-B14F-4D97-AF65-F5344CB8AC3E}">
        <p14:creationId xmlns:p14="http://schemas.microsoft.com/office/powerpoint/2010/main" val="3429871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8" name="Title 5"/>
          <p:cNvSpPr>
            <a:spLocks noGrp="1"/>
          </p:cNvSpPr>
          <p:nvPr>
            <p:ph type="title"/>
          </p:nvPr>
        </p:nvSpPr>
        <p:spPr>
          <a:xfrm>
            <a:off x="457198" y="478895"/>
            <a:ext cx="8220075" cy="994306"/>
          </a:xfrm>
        </p:spPr>
        <p:txBody>
          <a:bodyPr>
            <a:noAutofit/>
          </a:bodyPr>
          <a:lstStyle>
            <a:lvl1pPr>
              <a:defRPr>
                <a:latin typeface="Report" panose="02000506020000020003" pitchFamily="2" charset="0"/>
              </a:defRPr>
            </a:lvl1pPr>
          </a:lstStyle>
          <a:p>
            <a:r>
              <a:rPr lang="es-ES" dirty="0"/>
              <a:t>Haga clic para modificar el estilo de título del patrón</a:t>
            </a:r>
            <a:endParaRPr lang="en-GB" dirty="0"/>
          </a:p>
        </p:txBody>
      </p:sp>
    </p:spTree>
    <p:extLst>
      <p:ext uri="{BB962C8B-B14F-4D97-AF65-F5344CB8AC3E}">
        <p14:creationId xmlns:p14="http://schemas.microsoft.com/office/powerpoint/2010/main" val="261079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ims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7523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197377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9745" y="695325"/>
            <a:ext cx="8164510" cy="1150938"/>
          </a:xfrm>
          <a:prstGeom prst="roundRect">
            <a:avLst>
              <a:gd name="adj" fmla="val 9641"/>
            </a:avLst>
          </a:prstGeom>
          <a:noFill/>
          <a:ln w="25400">
            <a:noFill/>
          </a:ln>
        </p:spPr>
        <p:txBody>
          <a:bodyPr vert="horz" lIns="252000" tIns="252000" rIns="252000" bIns="252000" rtlCol="0" anchor="ctr" anchorCtr="1">
            <a:norm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489745" y="1957386"/>
            <a:ext cx="8164510" cy="4387851"/>
          </a:xfrm>
          <a:prstGeom prst="roundRect">
            <a:avLst>
              <a:gd name="adj" fmla="val 2585"/>
            </a:avLst>
          </a:prstGeom>
          <a:noFill/>
          <a:ln w="25400">
            <a:noFill/>
          </a:ln>
        </p:spPr>
        <p:txBody>
          <a:bodyPr vert="horz" lIns="252000" tIns="252000" rIns="252000" bIns="25200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Tree>
    <p:extLst>
      <p:ext uri="{BB962C8B-B14F-4D97-AF65-F5344CB8AC3E}">
        <p14:creationId xmlns:p14="http://schemas.microsoft.com/office/powerpoint/2010/main" val="4389201"/>
      </p:ext>
    </p:extLst>
  </p:cSld>
  <p:clrMap bg1="lt1" tx1="dk1" bg2="lt2" tx2="dk2" accent1="accent1" accent2="accent2" accent3="accent3" accent4="accent4" accent5="accent5" accent6="accent6" hlink="hlink" folHlink="folHlink"/>
  <p:sldLayoutIdLst>
    <p:sldLayoutId id="2147483661" r:id="rId1"/>
    <p:sldLayoutId id="2147483667" r:id="rId2"/>
    <p:sldLayoutId id="2147483662" r:id="rId3"/>
    <p:sldLayoutId id="2147483663" r:id="rId4"/>
    <p:sldLayoutId id="2147483666" r:id="rId5"/>
  </p:sldLayoutIdLst>
  <p:txStyles>
    <p:titleStyle>
      <a:lvl1pPr algn="l" defTabSz="914400" rtl="0" eaLnBrk="1" latinLnBrk="0" hangingPunct="1">
        <a:lnSpc>
          <a:spcPct val="90000"/>
        </a:lnSpc>
        <a:spcBef>
          <a:spcPct val="0"/>
        </a:spcBef>
        <a:buNone/>
        <a:defRPr sz="4000" b="1" kern="1200">
          <a:solidFill>
            <a:srgbClr val="1C1C1C"/>
          </a:solidFill>
          <a:latin typeface="Report" panose="02000506020000020003"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rgbClr val="1C1C1C"/>
          </a:solidFill>
          <a:latin typeface="Report" panose="02000506020000020003" pitchFamily="2" charset="0"/>
          <a:ea typeface="Report" panose="02000506020000020003"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rgbClr val="1C1C1C"/>
          </a:solidFill>
          <a:latin typeface="Report" panose="02000506020000020003" pitchFamily="2" charset="0"/>
          <a:ea typeface="Report" panose="02000506020000020003"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Report" panose="02000506020000020003" pitchFamily="2" charset="0"/>
          <a:ea typeface="Report" panose="02000506020000020003"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Report" panose="02000506020000020003" pitchFamily="2" charset="0"/>
          <a:ea typeface="Report" panose="02000506020000020003"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Report" panose="02000506020000020003" pitchFamily="2" charset="0"/>
          <a:ea typeface="Report" panose="02000506020000020003"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www.twinkl.com/resources/plants-living-things-life-science-science-first-grade-usa" TargetMode="External"/><Relationship Id="rId2" Type="http://schemas.openxmlformats.org/officeDocument/2006/relationships/hyperlink" Target="https://fonts.adobe.com/fonts/report" TargetMode="Externa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hyperlink" Target="http://www.twinkl.com/resources/plants-living-things-life-science-science-first-grade-usa"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http://www.twinkl.com/resources/plants-living-things-life-science-science-first-grade-usa"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www.twinkl.com/resources/plants-living-things-life-science-science-first-grade-usa" TargetMode="External"/><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www.twinkl.com/resources/plants-living-things-life-science-science-first-grade-usa" TargetMode="Externa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hyperlink" Target="http://www.twinkl.com/resources/plants-living-things-life-science-science-first-grade-usa" TargetMode="External"/><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www.twinkl.com/resources/plants-living-things-life-science-science-first-grade-usa" TargetMode="Externa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http://www.twinkl.com/resources/plants-living-things-life-science-science-first-grade-usa" TargetMode="External"/><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www.twinkl.com/resources/plants-living-things-life-science-science-first-grade-usa" TargetMode="Externa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hyperlink" Target="http://www.twinkl.com/resources/plants-living-things-life-science-science-first-grade-usa" TargetMode="External"/><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www.twinkl.com/resources/plants-living-things-life-science-science-first-grade-usa" TargetMode="External"/><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www.twinkl.com/resources/plants-living-things-life-science-science-first-grade-usa" TargetMode="Externa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hyperlink" Target="http://www.twinkl.com/resources/plants-living-things-life-science-science-first-grade-usa" TargetMode="External"/><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www.twinkl.com/resources/plants-living-things-life-science-science-first-grade-usa" TargetMode="External"/><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www.twinkl.com/resources/plants-living-things-life-science-science-first-grade-usa" TargetMode="Externa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hyperlink" Target="http://www.twinkl.com/resources/plants-living-things-life-science-science-first-grade-usa" TargetMode="External"/><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www.twinkl.com/resources/plants-living-things-life-science-science-first-grade-usa" TargetMode="Externa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hyperlink" Target="http://www.twinkl.com/resources/plants-living-things-life-science-science-first-grade-usa" TargetMode="Externa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hyperlink" Target="http://www.twinkl.com/resources/plants-living-things-life-science-science-first-grade-usa" TargetMode="External"/><Relationship Id="rId1" Type="http://schemas.openxmlformats.org/officeDocument/2006/relationships/slideLayout" Target="../slideLayouts/slideLayout3.xml"/><Relationship Id="rId4" Type="http://schemas.openxmlformats.org/officeDocument/2006/relationships/image" Target="../media/image21.jpe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www.twinkl.com/resources/plants-living-things-life-science-science-first-grade-usa" TargetMode="Externa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hyperlink" Target="http://www.twinkl.com/resources/plants-living-things-life-science-science-first-grade-usa" TargetMode="External"/><Relationship Id="rId1" Type="http://schemas.openxmlformats.org/officeDocument/2006/relationships/slideLayout" Target="../slideLayouts/slideLayout3.xml"/><Relationship Id="rId4" Type="http://schemas.openxmlformats.org/officeDocument/2006/relationships/image" Target="../media/image24.jpe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www.twinkl.com/resources/plants-living-things-life-science-science-first-grade-usa" TargetMode="Externa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2" Type="http://schemas.openxmlformats.org/officeDocument/2006/relationships/hyperlink" Target="http://www.twinkl.com/resources/plants-living-things-life-science-science-first-grade-usa"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2F2DD699-9FF3-40F1-9887-F1CC4B9D6120}"/>
              </a:ext>
            </a:extLst>
          </p:cNvPr>
          <p:cNvSpPr txBox="1">
            <a:spLocks/>
          </p:cNvSpPr>
          <p:nvPr/>
        </p:nvSpPr>
        <p:spPr>
          <a:xfrm>
            <a:off x="457200" y="608442"/>
            <a:ext cx="8220075" cy="652318"/>
          </a:xfrm>
          <a:prstGeom prst="roundRect">
            <a:avLst>
              <a:gd name="adj" fmla="val 9641"/>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GB" altLang="en-US" sz="2800" b="1" dirty="0">
                <a:solidFill>
                  <a:schemeClr val="accent2">
                    <a:lumMod val="50000"/>
                  </a:schemeClr>
                </a:solidFill>
                <a:latin typeface="Roboto" panose="02000000000000000000" pitchFamily="2" charset="0"/>
                <a:ea typeface="Roboto" panose="02000000000000000000" pitchFamily="2" charset="0"/>
                <a:cs typeface="Arial" panose="020B0604020202020204" pitchFamily="34" charset="0"/>
              </a:rPr>
              <a:t>Report Font</a:t>
            </a:r>
          </a:p>
        </p:txBody>
      </p:sp>
      <p:sp>
        <p:nvSpPr>
          <p:cNvPr id="7" name="Content Placeholder 6">
            <a:extLst>
              <a:ext uri="{FF2B5EF4-FFF2-40B4-BE49-F238E27FC236}">
                <a16:creationId xmlns:a16="http://schemas.microsoft.com/office/drawing/2014/main" id="{34DC5C8C-1B39-402A-8633-7B3990F36124}"/>
              </a:ext>
            </a:extLst>
          </p:cNvPr>
          <p:cNvSpPr txBox="1">
            <a:spLocks/>
          </p:cNvSpPr>
          <p:nvPr/>
        </p:nvSpPr>
        <p:spPr>
          <a:xfrm>
            <a:off x="666109" y="1300658"/>
            <a:ext cx="7811782" cy="2138954"/>
          </a:xfrm>
          <a:prstGeom prst="roundRect">
            <a:avLst>
              <a:gd name="adj" fmla="val 0"/>
            </a:avLst>
          </a:prstGeom>
          <a:noFill/>
          <a:ln w="25400">
            <a:solidFill>
              <a:srgbClr val="FFC000"/>
            </a:solidFill>
          </a:ln>
        </p:spPr>
        <p:txBody>
          <a:bodyPr vert="horz" lIns="252000" tIns="252000" rIns="252000" bIns="25200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rgbClr val="1C1C1C"/>
                </a:solidFill>
                <a:latin typeface="Sassoon Infant Rg" panose="02000503030000020003" pitchFamily="50" charset="0"/>
                <a:ea typeface="Sassoon Infant Rg" panose="02000503030000020003" pitchFamily="50"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rgbClr val="1C1C1C"/>
                </a:solidFill>
                <a:latin typeface="Sassoon Infant Rg" panose="02000503030000020003" pitchFamily="50" charset="0"/>
                <a:ea typeface="Sassoon Infant Rg" panose="02000503030000020003" pitchFamily="50"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Sassoon Infant Rg" panose="02000503030000020003" pitchFamily="50" charset="0"/>
                <a:ea typeface="Sassoon Infant Rg" panose="02000503030000020003" pitchFamily="50"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Sassoon Infant Rg" panose="02000503030000020003" pitchFamily="50" charset="0"/>
                <a:ea typeface="Sassoon Infant Rg" panose="02000503030000020003" pitchFamily="50"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Sassoon Infant Rg" panose="02000503030000020003" pitchFamily="50" charset="0"/>
                <a:ea typeface="Sassoon Infant Rg" panose="02000503030000020003" pitchFamily="50"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chemeClr val="tx1"/>
                </a:solidFill>
                <a:latin typeface="Roboto" panose="02000000000000000000" pitchFamily="2" charset="0"/>
              </a:rPr>
              <a:t>This presentation uses Adobe's Report font. Present in read-only format to ensure the font displays correctly. If you have an Adobe account and wish to edit this resource using Report font, you can activate the font on your computer here: </a:t>
            </a:r>
            <a:r>
              <a:rPr lang="en-GB" b="1" dirty="0">
                <a:solidFill>
                  <a:srgbClr val="18A0DB"/>
                </a:solidFill>
                <a:latin typeface="Roboto" panose="02000000000000000000" pitchFamily="2" charset="0"/>
                <a:hlinkClick r:id="rId2">
                  <a:extLst>
                    <a:ext uri="{A12FA001-AC4F-418D-AE19-62706E023703}">
                      <ahyp:hlinkClr xmlns:ahyp="http://schemas.microsoft.com/office/drawing/2018/hyperlinkcolor" val="tx"/>
                    </a:ext>
                  </a:extLst>
                </a:hlinkClick>
              </a:rPr>
              <a:t>https://fonts.adobe.com/fonts/report</a:t>
            </a:r>
            <a:r>
              <a:rPr lang="en-GB" dirty="0">
                <a:solidFill>
                  <a:schemeClr val="tx1"/>
                </a:solidFill>
                <a:latin typeface="Roboto" panose="02000000000000000000" pitchFamily="2" charset="0"/>
              </a:rPr>
              <a:t>. If you do not have an Adobe account, you can download the resource and edit using your preferred font. </a:t>
            </a:r>
          </a:p>
        </p:txBody>
      </p:sp>
      <p:sp>
        <p:nvSpPr>
          <p:cNvPr id="2" name="Rectángulo 1">
            <a:hlinkClick r:id="rId3"/>
            <a:extLst>
              <a:ext uri="{FF2B5EF4-FFF2-40B4-BE49-F238E27FC236}">
                <a16:creationId xmlns:a16="http://schemas.microsoft.com/office/drawing/2014/main" id="{BD98D945-C22F-D616-0222-BBD7A4329C01}"/>
              </a:ext>
            </a:extLst>
          </p:cNvPr>
          <p:cNvSpPr/>
          <p:nvPr/>
        </p:nvSpPr>
        <p:spPr>
          <a:xfrm>
            <a:off x="8288323" y="6249558"/>
            <a:ext cx="855677" cy="608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676380862"/>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4B48B1E0-7A70-4851-9698-7EAF31E11334}"/>
              </a:ext>
            </a:extLst>
          </p:cNvPr>
          <p:cNvSpPr txBox="1">
            <a:spLocks/>
          </p:cNvSpPr>
          <p:nvPr/>
        </p:nvSpPr>
        <p:spPr>
          <a:xfrm>
            <a:off x="457200" y="608442"/>
            <a:ext cx="8220075" cy="652318"/>
          </a:xfrm>
          <a:prstGeom prst="roundRect">
            <a:avLst>
              <a:gd name="adj" fmla="val 9641"/>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GB" altLang="en-US" sz="2800" b="1" dirty="0">
                <a:solidFill>
                  <a:schemeClr val="accent2">
                    <a:lumMod val="50000"/>
                  </a:schemeClr>
                </a:solidFill>
                <a:latin typeface="Roboto" panose="02000000000000000000" pitchFamily="2" charset="0"/>
                <a:ea typeface="Roboto" panose="02000000000000000000" pitchFamily="2" charset="0"/>
                <a:cs typeface="Arial" panose="020B0604020202020204" pitchFamily="34" charset="0"/>
              </a:rPr>
              <a:t>Animations Disclaimer</a:t>
            </a:r>
          </a:p>
        </p:txBody>
      </p:sp>
      <p:sp>
        <p:nvSpPr>
          <p:cNvPr id="13" name="Title 2">
            <a:extLst>
              <a:ext uri="{FF2B5EF4-FFF2-40B4-BE49-F238E27FC236}">
                <a16:creationId xmlns:a16="http://schemas.microsoft.com/office/drawing/2014/main" id="{EBD8EEE9-B1BB-4CAC-82E8-5B4D11B35E3C}"/>
              </a:ext>
            </a:extLst>
          </p:cNvPr>
          <p:cNvSpPr>
            <a:spLocks/>
          </p:cNvSpPr>
          <p:nvPr/>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grpSp>
        <p:nvGrpSpPr>
          <p:cNvPr id="14" name="Group 13">
            <a:extLst>
              <a:ext uri="{FF2B5EF4-FFF2-40B4-BE49-F238E27FC236}">
                <a16:creationId xmlns:a16="http://schemas.microsoft.com/office/drawing/2014/main" id="{A5DB2290-24FB-4D6B-9E2F-1DE4BFA3CC4D}"/>
              </a:ext>
            </a:extLst>
          </p:cNvPr>
          <p:cNvGrpSpPr/>
          <p:nvPr/>
        </p:nvGrpSpPr>
        <p:grpSpPr>
          <a:xfrm>
            <a:off x="787029" y="1573365"/>
            <a:ext cx="7656578" cy="2262122"/>
            <a:chOff x="787029" y="1314073"/>
            <a:chExt cx="7656578" cy="2262122"/>
          </a:xfrm>
        </p:grpSpPr>
        <p:sp>
          <p:nvSpPr>
            <p:cNvPr id="15" name="Rectangle 14">
              <a:extLst>
                <a:ext uri="{FF2B5EF4-FFF2-40B4-BE49-F238E27FC236}">
                  <a16:creationId xmlns:a16="http://schemas.microsoft.com/office/drawing/2014/main" id="{DAE58615-5BC3-4ACA-BC93-99AF0357DC65}"/>
                </a:ext>
              </a:extLst>
            </p:cNvPr>
            <p:cNvSpPr/>
            <p:nvPr/>
          </p:nvSpPr>
          <p:spPr>
            <a:xfrm>
              <a:off x="787029" y="1314073"/>
              <a:ext cx="1288163" cy="380319"/>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spcBef>
                  <a:spcPts val="600"/>
                </a:spcBef>
                <a:spcAft>
                  <a:spcPts val="600"/>
                </a:spcAft>
              </a:pPr>
              <a:r>
                <a:rPr lang="en-GB" sz="1600" b="1" dirty="0">
                  <a:latin typeface="Roboto" panose="02000000000000000000" pitchFamily="2" charset="0"/>
                  <a:ea typeface="Roboto" panose="02000000000000000000" pitchFamily="2" charset="0"/>
                </a:rPr>
                <a:t>PowerPoint</a:t>
              </a:r>
            </a:p>
          </p:txBody>
        </p:sp>
        <p:sp>
          <p:nvSpPr>
            <p:cNvPr id="16" name="Rectangle 15">
              <a:extLst>
                <a:ext uri="{FF2B5EF4-FFF2-40B4-BE49-F238E27FC236}">
                  <a16:creationId xmlns:a16="http://schemas.microsoft.com/office/drawing/2014/main" id="{9ECE4BF5-1564-4B3A-A7D1-C477364E4A66}"/>
                </a:ext>
              </a:extLst>
            </p:cNvPr>
            <p:cNvSpPr/>
            <p:nvPr/>
          </p:nvSpPr>
          <p:spPr>
            <a:xfrm>
              <a:off x="799094" y="1696092"/>
              <a:ext cx="7644513" cy="1880103"/>
            </a:xfrm>
            <a:prstGeom prst="rect">
              <a:avLst/>
            </a:prstGeom>
            <a:solidFill>
              <a:schemeClr val="bg1"/>
            </a:solidFill>
            <a:ln w="28575">
              <a:solidFill>
                <a:srgbClr val="FFC000"/>
              </a:solidFill>
            </a:ln>
          </p:spPr>
          <p:txBody>
            <a:bodyPr wrap="square" lIns="108000" tIns="108000" rIns="108000" bIns="108000">
              <a:spAutoFit/>
            </a:bodyPr>
            <a:lstStyle/>
            <a:p>
              <a:pPr>
                <a:spcBef>
                  <a:spcPts val="600"/>
                </a:spcBef>
                <a:spcAft>
                  <a:spcPts val="600"/>
                </a:spcAft>
              </a:pPr>
              <a:r>
                <a:rPr lang="en-GB" sz="1400" dirty="0">
                  <a:latin typeface="Roboto" panose="02000000000000000000" pitchFamily="2" charset="0"/>
                  <a:ea typeface="Roboto" panose="02000000000000000000" pitchFamily="2" charset="0"/>
                </a:rPr>
                <a:t>This resource has been designed with animations to make it as fun and engaging as possible. To view the content in the correct formatting, please view the PowerPoint in “slide show mode.” This takes you from desktop to presentation mode. If you view the slides out of “slide show mode,” you may find that some of the text and images overlap each other and/or are difficult to read. </a:t>
              </a:r>
            </a:p>
            <a:p>
              <a:pPr>
                <a:spcBef>
                  <a:spcPts val="600"/>
                </a:spcBef>
                <a:spcAft>
                  <a:spcPts val="600"/>
                </a:spcAft>
              </a:pPr>
              <a:r>
                <a:rPr lang="en-GB" sz="1400" dirty="0">
                  <a:latin typeface="Roboto" panose="02000000000000000000" pitchFamily="2" charset="0"/>
                  <a:ea typeface="Roboto" panose="02000000000000000000" pitchFamily="2" charset="0"/>
                </a:rPr>
                <a:t>To enter slide show mode, go to the </a:t>
              </a:r>
              <a:r>
                <a:rPr lang="en-GB" sz="1400" b="1" dirty="0">
                  <a:latin typeface="Roboto" panose="02000000000000000000" pitchFamily="2" charset="0"/>
                  <a:ea typeface="Roboto" panose="02000000000000000000" pitchFamily="2" charset="0"/>
                </a:rPr>
                <a:t>slide show menu tab </a:t>
              </a:r>
              <a:r>
                <a:rPr lang="en-GB" sz="1400" dirty="0">
                  <a:latin typeface="Roboto" panose="02000000000000000000" pitchFamily="2" charset="0"/>
                  <a:ea typeface="Roboto" panose="02000000000000000000" pitchFamily="2" charset="0"/>
                </a:rPr>
                <a:t>and select either </a:t>
              </a:r>
              <a:r>
                <a:rPr lang="en-GB" sz="1400" b="1" dirty="0">
                  <a:latin typeface="Roboto" panose="02000000000000000000" pitchFamily="2" charset="0"/>
                  <a:ea typeface="Roboto" panose="02000000000000000000" pitchFamily="2" charset="0"/>
                </a:rPr>
                <a:t>from beginning</a:t>
              </a:r>
              <a:r>
                <a:rPr lang="en-GB" sz="1400" dirty="0">
                  <a:latin typeface="Roboto" panose="02000000000000000000" pitchFamily="2" charset="0"/>
                  <a:ea typeface="Roboto" panose="02000000000000000000" pitchFamily="2" charset="0"/>
                </a:rPr>
                <a:t> </a:t>
              </a:r>
              <a:r>
                <a:rPr lang="en-GB" sz="1400" b="1" dirty="0">
                  <a:latin typeface="Roboto" panose="02000000000000000000" pitchFamily="2" charset="0"/>
                  <a:ea typeface="Roboto" panose="02000000000000000000" pitchFamily="2" charset="0"/>
                </a:rPr>
                <a:t>or from current slide</a:t>
              </a:r>
              <a:r>
                <a:rPr lang="en-GB" sz="1400" dirty="0">
                  <a:latin typeface="Roboto" panose="02000000000000000000" pitchFamily="2" charset="0"/>
                  <a:ea typeface="Roboto" panose="02000000000000000000" pitchFamily="2" charset="0"/>
                </a:rPr>
                <a:t>.</a:t>
              </a:r>
            </a:p>
          </p:txBody>
        </p:sp>
      </p:grpSp>
      <p:sp>
        <p:nvSpPr>
          <p:cNvPr id="17" name="Rectangle 16">
            <a:extLst>
              <a:ext uri="{FF2B5EF4-FFF2-40B4-BE49-F238E27FC236}">
                <a16:creationId xmlns:a16="http://schemas.microsoft.com/office/drawing/2014/main" id="{4B27C79F-1547-4C8B-8F75-6ED0E56CA029}"/>
              </a:ext>
            </a:extLst>
          </p:cNvPr>
          <p:cNvSpPr/>
          <p:nvPr/>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sp>
        <p:nvSpPr>
          <p:cNvPr id="18" name="TextBox 17">
            <a:extLst>
              <a:ext uri="{FF2B5EF4-FFF2-40B4-BE49-F238E27FC236}">
                <a16:creationId xmlns:a16="http://schemas.microsoft.com/office/drawing/2014/main" id="{CA40648E-FF5E-4FBF-B79F-817CF7A4E5A1}"/>
              </a:ext>
            </a:extLst>
          </p:cNvPr>
          <p:cNvSpPr txBox="1"/>
          <p:nvPr/>
        </p:nvSpPr>
        <p:spPr>
          <a:xfrm>
            <a:off x="788300" y="3999105"/>
            <a:ext cx="992222" cy="338554"/>
          </a:xfrm>
          <a:prstGeom prst="rect">
            <a:avLst/>
          </a:prstGeom>
          <a:solidFill>
            <a:schemeClr val="accent2"/>
          </a:solidFill>
          <a:ln>
            <a:noFill/>
          </a:ln>
        </p:spPr>
        <p:txBody>
          <a:bodyPr wrap="square" rtlCol="0">
            <a:spAutoFit/>
          </a:bodyPr>
          <a:lstStyle/>
          <a:p>
            <a:pPr algn="ctr"/>
            <a:r>
              <a:rPr lang="en-US" sz="1600" b="1" dirty="0">
                <a:solidFill>
                  <a:schemeClr val="bg1"/>
                </a:solidFill>
                <a:latin typeface="Roboto" panose="02000000000000000000" pitchFamily="2" charset="0"/>
                <a:ea typeface="Roboto" panose="02000000000000000000" pitchFamily="2" charset="0"/>
              </a:rPr>
              <a:t>Slides</a:t>
            </a:r>
          </a:p>
        </p:txBody>
      </p:sp>
      <p:sp>
        <p:nvSpPr>
          <p:cNvPr id="19" name="Rectangle 18">
            <a:extLst>
              <a:ext uri="{FF2B5EF4-FFF2-40B4-BE49-F238E27FC236}">
                <a16:creationId xmlns:a16="http://schemas.microsoft.com/office/drawing/2014/main" id="{47C6D8A6-1E25-4B95-A8AA-ABD5C48A84FA}"/>
              </a:ext>
            </a:extLst>
          </p:cNvPr>
          <p:cNvSpPr/>
          <p:nvPr/>
        </p:nvSpPr>
        <p:spPr>
          <a:xfrm>
            <a:off x="799095" y="4339359"/>
            <a:ext cx="7644513" cy="1880103"/>
          </a:xfrm>
          <a:prstGeom prst="rect">
            <a:avLst/>
          </a:prstGeom>
          <a:solidFill>
            <a:schemeClr val="bg1"/>
          </a:solidFill>
          <a:ln w="28575">
            <a:solidFill>
              <a:srgbClr val="FFC000"/>
            </a:solidFill>
          </a:ln>
        </p:spPr>
        <p:txBody>
          <a:bodyPr wrap="square" lIns="108000" tIns="108000" rIns="108000" bIns="108000">
            <a:spAutoFit/>
          </a:bodyPr>
          <a:lstStyle/>
          <a:p>
            <a:pPr>
              <a:spcBef>
                <a:spcPts val="600"/>
              </a:spcBef>
              <a:spcAft>
                <a:spcPts val="600"/>
              </a:spcAft>
            </a:pPr>
            <a:r>
              <a:rPr lang="en-US" sz="1400" dirty="0">
                <a:solidFill>
                  <a:srgbClr val="000000"/>
                </a:solidFill>
                <a:latin typeface="Roboto" panose="02000000000000000000" pitchFamily="2" charset="0"/>
              </a:rPr>
              <a:t>This resource has been designed with animations to make it fun and engaging for children. </a:t>
            </a:r>
            <a:br>
              <a:rPr lang="en-US" sz="1400" dirty="0">
                <a:solidFill>
                  <a:srgbClr val="000000"/>
                </a:solidFill>
                <a:latin typeface="Roboto" panose="02000000000000000000" pitchFamily="2" charset="0"/>
              </a:rPr>
            </a:br>
            <a:r>
              <a:rPr lang="en-US" sz="1400" dirty="0">
                <a:solidFill>
                  <a:srgbClr val="000000"/>
                </a:solidFill>
                <a:latin typeface="Roboto" panose="02000000000000000000" pitchFamily="2" charset="0"/>
              </a:rPr>
              <a:t>To ensure the content has the correct formatting, please view the presentation in “present mode.” This takes you from edit mode to presentation mode. If you view the slides out of “present mode,” you may find that some of the text and images overlap each other and/or are difficult to read. </a:t>
            </a:r>
            <a:endParaRPr lang="en-US" sz="1400" dirty="0"/>
          </a:p>
          <a:p>
            <a:pPr>
              <a:spcBef>
                <a:spcPts val="600"/>
              </a:spcBef>
              <a:spcAft>
                <a:spcPts val="600"/>
              </a:spcAft>
            </a:pPr>
            <a:r>
              <a:rPr lang="en-US" sz="1400" dirty="0">
                <a:solidFill>
                  <a:srgbClr val="000000"/>
                </a:solidFill>
                <a:latin typeface="Roboto" panose="02000000000000000000" pitchFamily="2" charset="0"/>
              </a:rPr>
              <a:t>To enter present mode, go to the “</a:t>
            </a:r>
            <a:r>
              <a:rPr lang="en-US" sz="1400" b="1" dirty="0">
                <a:solidFill>
                  <a:srgbClr val="000000"/>
                </a:solidFill>
                <a:latin typeface="Roboto" panose="02000000000000000000" pitchFamily="2" charset="0"/>
              </a:rPr>
              <a:t>Present</a:t>
            </a:r>
            <a:r>
              <a:rPr lang="en-US" sz="1400" dirty="0">
                <a:solidFill>
                  <a:srgbClr val="000000"/>
                </a:solidFill>
                <a:latin typeface="Roboto" panose="02000000000000000000" pitchFamily="2" charset="0"/>
              </a:rPr>
              <a:t>” tab and select “</a:t>
            </a:r>
            <a:r>
              <a:rPr lang="en-US" sz="1400" b="1" dirty="0">
                <a:solidFill>
                  <a:srgbClr val="000000"/>
                </a:solidFill>
                <a:latin typeface="Roboto" panose="02000000000000000000" pitchFamily="2" charset="0"/>
              </a:rPr>
              <a:t>Present from beginning</a:t>
            </a:r>
            <a:r>
              <a:rPr lang="en-US" sz="1400" dirty="0">
                <a:solidFill>
                  <a:srgbClr val="000000"/>
                </a:solidFill>
                <a:latin typeface="Roboto" panose="02000000000000000000" pitchFamily="2" charset="0"/>
              </a:rPr>
              <a:t>” or simply click “</a:t>
            </a:r>
            <a:r>
              <a:rPr lang="en-US" sz="1400" b="1" dirty="0">
                <a:solidFill>
                  <a:srgbClr val="000000"/>
                </a:solidFill>
                <a:latin typeface="Roboto" panose="02000000000000000000" pitchFamily="2" charset="0"/>
              </a:rPr>
              <a:t>Present</a:t>
            </a:r>
            <a:r>
              <a:rPr lang="en-US" sz="1400" dirty="0">
                <a:solidFill>
                  <a:srgbClr val="000000"/>
                </a:solidFill>
                <a:latin typeface="Roboto" panose="02000000000000000000" pitchFamily="2" charset="0"/>
              </a:rPr>
              <a:t>” to play from the current slide.</a:t>
            </a:r>
            <a:endParaRPr lang="en-US" sz="1400" dirty="0"/>
          </a:p>
        </p:txBody>
      </p:sp>
      <p:sp>
        <p:nvSpPr>
          <p:cNvPr id="2" name="Rectángulo 1">
            <a:hlinkClick r:id="rId2"/>
            <a:extLst>
              <a:ext uri="{FF2B5EF4-FFF2-40B4-BE49-F238E27FC236}">
                <a16:creationId xmlns:a16="http://schemas.microsoft.com/office/drawing/2014/main" id="{029620C4-1F15-776D-4F7B-605E0FB61DD1}"/>
              </a:ext>
            </a:extLst>
          </p:cNvPr>
          <p:cNvSpPr/>
          <p:nvPr/>
        </p:nvSpPr>
        <p:spPr>
          <a:xfrm>
            <a:off x="8288323" y="6249558"/>
            <a:ext cx="855677" cy="608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74005718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hlinkClick r:id="rId2"/>
            <a:extLst>
              <a:ext uri="{FF2B5EF4-FFF2-40B4-BE49-F238E27FC236}">
                <a16:creationId xmlns:a16="http://schemas.microsoft.com/office/drawing/2014/main" id="{8718ADD2-0570-8C08-83C7-EADB420147CB}"/>
              </a:ext>
            </a:extLst>
          </p:cNvPr>
          <p:cNvSpPr/>
          <p:nvPr/>
        </p:nvSpPr>
        <p:spPr>
          <a:xfrm>
            <a:off x="8237989" y="6056851"/>
            <a:ext cx="906011" cy="8011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3">
            <a:hlinkClick r:id="rId2"/>
            <a:extLst>
              <a:ext uri="{FF2B5EF4-FFF2-40B4-BE49-F238E27FC236}">
                <a16:creationId xmlns:a16="http://schemas.microsoft.com/office/drawing/2014/main" id="{EE90A1AB-2D35-06C4-4E0A-999958A379F1}"/>
              </a:ext>
            </a:extLst>
          </p:cNvPr>
          <p:cNvSpPr/>
          <p:nvPr/>
        </p:nvSpPr>
        <p:spPr>
          <a:xfrm>
            <a:off x="0" y="5722450"/>
            <a:ext cx="1325461" cy="11355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211886282"/>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E7302F8C-F36F-31BA-7E2A-266BD6341E39}"/>
              </a:ext>
            </a:extLst>
          </p:cNvPr>
          <p:cNvSpPr txBox="1"/>
          <p:nvPr/>
        </p:nvSpPr>
        <p:spPr>
          <a:xfrm>
            <a:off x="2277611" y="454234"/>
            <a:ext cx="4559417" cy="769441"/>
          </a:xfrm>
          <a:prstGeom prst="rect">
            <a:avLst/>
          </a:prstGeom>
          <a:noFill/>
        </p:spPr>
        <p:txBody>
          <a:bodyPr wrap="square">
            <a:spAutoFit/>
          </a:bodyPr>
          <a:lstStyle/>
          <a:p>
            <a:pPr algn="ctr"/>
            <a:r>
              <a:rPr lang="es-MX" sz="4400" b="1" i="0" u="none" strike="noStrike" dirty="0" err="1">
                <a:solidFill>
                  <a:schemeClr val="accent2">
                    <a:lumMod val="50000"/>
                  </a:schemeClr>
                </a:solidFill>
                <a:effectLst/>
                <a:latin typeface="Report" panose="02000506020000020003" pitchFamily="2" charset="0"/>
              </a:rPr>
              <a:t>What</a:t>
            </a:r>
            <a:r>
              <a:rPr lang="es-MX" sz="4400" b="1" i="0" u="none" strike="noStrike" dirty="0">
                <a:solidFill>
                  <a:schemeClr val="accent2">
                    <a:lumMod val="50000"/>
                  </a:schemeClr>
                </a:solidFill>
                <a:effectLst/>
                <a:latin typeface="Report" panose="02000506020000020003" pitchFamily="2" charset="0"/>
              </a:rPr>
              <a:t> </a:t>
            </a:r>
            <a:r>
              <a:rPr lang="es-MX" sz="4400" b="1" i="0" u="none" strike="noStrike" dirty="0" err="1">
                <a:solidFill>
                  <a:schemeClr val="accent2">
                    <a:lumMod val="50000"/>
                  </a:schemeClr>
                </a:solidFill>
                <a:effectLst/>
                <a:latin typeface="Report" panose="02000506020000020003" pitchFamily="2" charset="0"/>
              </a:rPr>
              <a:t>Is</a:t>
            </a:r>
            <a:r>
              <a:rPr lang="es-MX" sz="4400" b="1" i="0" u="none" strike="noStrike" dirty="0">
                <a:solidFill>
                  <a:schemeClr val="accent2">
                    <a:lumMod val="50000"/>
                  </a:schemeClr>
                </a:solidFill>
                <a:effectLst/>
                <a:latin typeface="Report" panose="02000506020000020003" pitchFamily="2" charset="0"/>
              </a:rPr>
              <a:t> </a:t>
            </a:r>
            <a:r>
              <a:rPr lang="es-MX" sz="4400" b="1" i="0" u="none" strike="noStrike" dirty="0" err="1">
                <a:solidFill>
                  <a:schemeClr val="accent2">
                    <a:lumMod val="50000"/>
                  </a:schemeClr>
                </a:solidFill>
                <a:effectLst/>
                <a:latin typeface="Report" panose="02000506020000020003" pitchFamily="2" charset="0"/>
              </a:rPr>
              <a:t>Pollination</a:t>
            </a:r>
            <a:r>
              <a:rPr lang="es-MX" sz="4400" b="1" i="0" u="none" strike="noStrike" dirty="0">
                <a:solidFill>
                  <a:schemeClr val="accent2">
                    <a:lumMod val="50000"/>
                  </a:schemeClr>
                </a:solidFill>
                <a:effectLst/>
                <a:latin typeface="Report" panose="02000506020000020003" pitchFamily="2" charset="0"/>
              </a:rPr>
              <a:t>?</a:t>
            </a:r>
            <a:endParaRPr lang="es-MX" sz="4400" b="1" dirty="0">
              <a:solidFill>
                <a:schemeClr val="accent2">
                  <a:lumMod val="50000"/>
                </a:schemeClr>
              </a:solidFill>
              <a:latin typeface="Report" panose="02000506020000020003" pitchFamily="2" charset="0"/>
            </a:endParaRPr>
          </a:p>
        </p:txBody>
      </p:sp>
      <p:sp>
        <p:nvSpPr>
          <p:cNvPr id="12" name="Rectángulo: esquinas redondeadas 11">
            <a:extLst>
              <a:ext uri="{FF2B5EF4-FFF2-40B4-BE49-F238E27FC236}">
                <a16:creationId xmlns:a16="http://schemas.microsoft.com/office/drawing/2014/main" id="{2D5AC396-087E-DE1B-E84C-4295A6AA4C09}"/>
              </a:ext>
            </a:extLst>
          </p:cNvPr>
          <p:cNvSpPr/>
          <p:nvPr/>
        </p:nvSpPr>
        <p:spPr>
          <a:xfrm>
            <a:off x="-197142" y="1307565"/>
            <a:ext cx="9710257" cy="2570985"/>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8" name="Imagen 7" descr="Una flor amarilla&#10;&#10;Descripción generada automáticamente">
            <a:extLst>
              <a:ext uri="{FF2B5EF4-FFF2-40B4-BE49-F238E27FC236}">
                <a16:creationId xmlns:a16="http://schemas.microsoft.com/office/drawing/2014/main" id="{6EC3D265-BD8E-0419-EE32-47F01D12B5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09993" y="4110656"/>
            <a:ext cx="4876349" cy="2800014"/>
          </a:xfrm>
          <a:prstGeom prst="flowChartAlternateProcess">
            <a:avLst/>
          </a:prstGeom>
        </p:spPr>
      </p:pic>
      <p:sp>
        <p:nvSpPr>
          <p:cNvPr id="9" name="Rectángulo 8">
            <a:hlinkClick r:id="rId3"/>
            <a:extLst>
              <a:ext uri="{FF2B5EF4-FFF2-40B4-BE49-F238E27FC236}">
                <a16:creationId xmlns:a16="http://schemas.microsoft.com/office/drawing/2014/main" id="{CFAD37FE-6651-0B04-74F4-34BFBDAC3495}"/>
              </a:ext>
            </a:extLst>
          </p:cNvPr>
          <p:cNvSpPr/>
          <p:nvPr/>
        </p:nvSpPr>
        <p:spPr>
          <a:xfrm>
            <a:off x="8288323" y="6249558"/>
            <a:ext cx="855677" cy="608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9073DFA9-3A5B-8FF5-B58D-42C07FE5A736}"/>
              </a:ext>
            </a:extLst>
          </p:cNvPr>
          <p:cNvSpPr txBox="1"/>
          <p:nvPr/>
        </p:nvSpPr>
        <p:spPr>
          <a:xfrm>
            <a:off x="721453" y="1623561"/>
            <a:ext cx="7935985" cy="1938992"/>
          </a:xfrm>
          <a:prstGeom prst="rect">
            <a:avLst/>
          </a:prstGeom>
          <a:noFill/>
        </p:spPr>
        <p:txBody>
          <a:bodyPr wrap="square">
            <a:spAutoFit/>
          </a:bodyPr>
          <a:lstStyle/>
          <a:p>
            <a:pPr rtl="0">
              <a:spcBef>
                <a:spcPts val="0"/>
              </a:spcBef>
              <a:spcAft>
                <a:spcPts val="1200"/>
              </a:spcAft>
            </a:pPr>
            <a:r>
              <a:rPr lang="en-US" sz="2000" b="0" i="0" u="none" strike="noStrike" dirty="0">
                <a:effectLst/>
                <a:latin typeface="Report" panose="02000506020000020003" pitchFamily="2" charset="0"/>
              </a:rPr>
              <a:t>Pollination is a very important part of plant reproduction</a:t>
            </a:r>
            <a:r>
              <a:rPr lang="en-US" sz="2000" b="1" i="0" u="none" strike="noStrike" dirty="0">
                <a:effectLst/>
                <a:latin typeface="Report" panose="02000506020000020003" pitchFamily="2" charset="0"/>
              </a:rPr>
              <a:t>. </a:t>
            </a:r>
            <a:r>
              <a:rPr lang="en-US" sz="2000" b="0" i="0" u="none" strike="noStrike" dirty="0">
                <a:effectLst/>
                <a:latin typeface="Report" panose="02000506020000020003" pitchFamily="2" charset="0"/>
              </a:rPr>
              <a:t>Reproduction means to produce again. </a:t>
            </a:r>
            <a:endParaRPr lang="en-US" sz="2000" b="0" dirty="0">
              <a:effectLst/>
              <a:latin typeface="Report" panose="02000506020000020003" pitchFamily="2" charset="0"/>
            </a:endParaRPr>
          </a:p>
          <a:p>
            <a:pPr rtl="0">
              <a:spcBef>
                <a:spcPts val="0"/>
              </a:spcBef>
              <a:spcAft>
                <a:spcPts val="1200"/>
              </a:spcAft>
            </a:pPr>
            <a:r>
              <a:rPr lang="en-US" sz="2000" b="0" i="0" u="none" strike="noStrike" dirty="0">
                <a:effectLst/>
                <a:latin typeface="Report" panose="02000506020000020003" pitchFamily="2" charset="0"/>
              </a:rPr>
              <a:t>Pollination makes sure that new plants grow each year. If there were no plants, we could not live!</a:t>
            </a:r>
            <a:endParaRPr lang="en-US" sz="2000" b="0" dirty="0">
              <a:effectLst/>
              <a:latin typeface="Report" panose="02000506020000020003" pitchFamily="2" charset="0"/>
            </a:endParaRPr>
          </a:p>
          <a:p>
            <a:pPr rtl="0">
              <a:spcBef>
                <a:spcPts val="0"/>
              </a:spcBef>
              <a:spcAft>
                <a:spcPts val="1200"/>
              </a:spcAft>
            </a:pPr>
            <a:r>
              <a:rPr lang="en-US" sz="2000" b="0" i="0" u="none" strike="noStrike" dirty="0">
                <a:effectLst/>
                <a:latin typeface="Report" panose="02000506020000020003" pitchFamily="2" charset="0"/>
              </a:rPr>
              <a:t>Plants have parts that help them to reproduce. </a:t>
            </a:r>
            <a:endParaRPr lang="en-US" sz="2000" b="0" dirty="0">
              <a:effectLst/>
              <a:latin typeface="Report" panose="02000506020000020003" pitchFamily="2" charset="0"/>
            </a:endParaRPr>
          </a:p>
        </p:txBody>
      </p:sp>
    </p:spTree>
    <p:extLst>
      <p:ext uri="{BB962C8B-B14F-4D97-AF65-F5344CB8AC3E}">
        <p14:creationId xmlns:p14="http://schemas.microsoft.com/office/powerpoint/2010/main" val="128623721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50"/>
                                        <p:tgtEl>
                                          <p:spTgt spid="8"/>
                                        </p:tgtEl>
                                      </p:cBhvr>
                                    </p:animEffect>
                                    <p:anim calcmode="lin" valueType="num">
                                      <p:cBhvr>
                                        <p:cTn id="8" dur="750" fill="hold"/>
                                        <p:tgtEl>
                                          <p:spTgt spid="8"/>
                                        </p:tgtEl>
                                        <p:attrNameLst>
                                          <p:attrName>ppt_x</p:attrName>
                                        </p:attrNameLst>
                                      </p:cBhvr>
                                      <p:tavLst>
                                        <p:tav tm="0">
                                          <p:val>
                                            <p:strVal val="#ppt_x"/>
                                          </p:val>
                                        </p:tav>
                                        <p:tav tm="100000">
                                          <p:val>
                                            <p:strVal val="#ppt_x"/>
                                          </p:val>
                                        </p:tav>
                                      </p:tavLst>
                                    </p:anim>
                                    <p:anim calcmode="lin" valueType="num">
                                      <p:cBhvr>
                                        <p:cTn id="9" dur="7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esquinas redondeadas 11">
            <a:extLst>
              <a:ext uri="{FF2B5EF4-FFF2-40B4-BE49-F238E27FC236}">
                <a16:creationId xmlns:a16="http://schemas.microsoft.com/office/drawing/2014/main" id="{2D5AC396-087E-DE1B-E84C-4295A6AA4C09}"/>
              </a:ext>
            </a:extLst>
          </p:cNvPr>
          <p:cNvSpPr/>
          <p:nvPr/>
        </p:nvSpPr>
        <p:spPr>
          <a:xfrm>
            <a:off x="-283129" y="-1285493"/>
            <a:ext cx="9710257" cy="2570985"/>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ángulo 8">
            <a:hlinkClick r:id="rId2"/>
            <a:extLst>
              <a:ext uri="{FF2B5EF4-FFF2-40B4-BE49-F238E27FC236}">
                <a16:creationId xmlns:a16="http://schemas.microsoft.com/office/drawing/2014/main" id="{CFAD37FE-6651-0B04-74F4-34BFBDAC3495}"/>
              </a:ext>
            </a:extLst>
          </p:cNvPr>
          <p:cNvSpPr/>
          <p:nvPr/>
        </p:nvSpPr>
        <p:spPr>
          <a:xfrm>
            <a:off x="8288323" y="6249558"/>
            <a:ext cx="855677" cy="608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9073DFA9-3A5B-8FF5-B58D-42C07FE5A736}"/>
              </a:ext>
            </a:extLst>
          </p:cNvPr>
          <p:cNvSpPr txBox="1"/>
          <p:nvPr/>
        </p:nvSpPr>
        <p:spPr>
          <a:xfrm>
            <a:off x="3976382" y="2728132"/>
            <a:ext cx="4311941" cy="1569660"/>
          </a:xfrm>
          <a:prstGeom prst="rect">
            <a:avLst/>
          </a:prstGeom>
          <a:noFill/>
        </p:spPr>
        <p:txBody>
          <a:bodyPr wrap="square">
            <a:spAutoFit/>
          </a:bodyPr>
          <a:lstStyle/>
          <a:p>
            <a:pPr algn="ctr" rtl="0">
              <a:spcBef>
                <a:spcPts val="0"/>
              </a:spcBef>
              <a:spcAft>
                <a:spcPts val="1200"/>
              </a:spcAft>
            </a:pPr>
            <a:r>
              <a:rPr lang="en-US" sz="4800" b="0" i="0" u="none" strike="noStrike" dirty="0">
                <a:effectLst/>
                <a:latin typeface="Report" panose="02000506020000020003" pitchFamily="2" charset="0"/>
              </a:rPr>
              <a:t>Why is pollination important?</a:t>
            </a:r>
            <a:endParaRPr lang="en-US" sz="4800" b="0" dirty="0">
              <a:effectLst/>
              <a:latin typeface="Report" panose="02000506020000020003" pitchFamily="2" charset="0"/>
            </a:endParaRPr>
          </a:p>
        </p:txBody>
      </p:sp>
      <p:sp>
        <p:nvSpPr>
          <p:cNvPr id="3" name="Elipse 2">
            <a:extLst>
              <a:ext uri="{FF2B5EF4-FFF2-40B4-BE49-F238E27FC236}">
                <a16:creationId xmlns:a16="http://schemas.microsoft.com/office/drawing/2014/main" id="{18CD5D4D-CA8A-2A50-46BE-2CF2C06FCBC4}"/>
              </a:ext>
            </a:extLst>
          </p:cNvPr>
          <p:cNvSpPr/>
          <p:nvPr/>
        </p:nvSpPr>
        <p:spPr>
          <a:xfrm>
            <a:off x="562063" y="297023"/>
            <a:ext cx="1751573" cy="1751573"/>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2" name="Google Shape;45;p1">
            <a:extLst>
              <a:ext uri="{FF2B5EF4-FFF2-40B4-BE49-F238E27FC236}">
                <a16:creationId xmlns:a16="http://schemas.microsoft.com/office/drawing/2014/main" id="{0B24AF49-8199-F1BE-3EE0-82DD4097B35F}"/>
              </a:ext>
            </a:extLst>
          </p:cNvPr>
          <p:cNvPicPr preferRelativeResize="0"/>
          <p:nvPr/>
        </p:nvPicPr>
        <p:blipFill rotWithShape="1">
          <a:blip r:embed="rId3">
            <a:alphaModFix/>
          </a:blip>
          <a:srcRect/>
          <a:stretch/>
        </p:blipFill>
        <p:spPr>
          <a:xfrm>
            <a:off x="880845" y="628349"/>
            <a:ext cx="1024938" cy="1100605"/>
          </a:xfrm>
          <a:prstGeom prst="rect">
            <a:avLst/>
          </a:prstGeom>
          <a:noFill/>
          <a:ln>
            <a:noFill/>
          </a:ln>
        </p:spPr>
      </p:pic>
      <p:sp>
        <p:nvSpPr>
          <p:cNvPr id="6" name="CuadroTexto 5">
            <a:extLst>
              <a:ext uri="{FF2B5EF4-FFF2-40B4-BE49-F238E27FC236}">
                <a16:creationId xmlns:a16="http://schemas.microsoft.com/office/drawing/2014/main" id="{E7302F8C-F36F-31BA-7E2A-266BD6341E39}"/>
              </a:ext>
            </a:extLst>
          </p:cNvPr>
          <p:cNvSpPr txBox="1"/>
          <p:nvPr/>
        </p:nvSpPr>
        <p:spPr>
          <a:xfrm>
            <a:off x="2183234" y="157147"/>
            <a:ext cx="4559417" cy="1015663"/>
          </a:xfrm>
          <a:prstGeom prst="rect">
            <a:avLst/>
          </a:prstGeom>
          <a:noFill/>
        </p:spPr>
        <p:txBody>
          <a:bodyPr wrap="square">
            <a:spAutoFit/>
          </a:bodyPr>
          <a:lstStyle/>
          <a:p>
            <a:pPr algn="ctr"/>
            <a:r>
              <a:rPr lang="es-MX" sz="6000" b="1">
                <a:latin typeface="Report" panose="02000506020000020003" pitchFamily="2" charset="0"/>
              </a:rPr>
              <a:t>Turn and Talk</a:t>
            </a:r>
            <a:endParaRPr lang="es-MX" sz="6000" b="1" dirty="0">
              <a:latin typeface="Report" panose="02000506020000020003" pitchFamily="2" charset="0"/>
            </a:endParaRPr>
          </a:p>
        </p:txBody>
      </p:sp>
      <p:pic>
        <p:nvPicPr>
          <p:cNvPr id="5" name="Imagen 4" descr="Una caricatura de una persona&#10;&#10;Descripción generada automáticamente con confianza media">
            <a:extLst>
              <a:ext uri="{FF2B5EF4-FFF2-40B4-BE49-F238E27FC236}">
                <a16:creationId xmlns:a16="http://schemas.microsoft.com/office/drawing/2014/main" id="{C7637A36-BD1C-EF39-5C3D-A8A74C58900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2612" y="2516697"/>
            <a:ext cx="4275335" cy="4341303"/>
          </a:xfrm>
          <a:prstGeom prst="rect">
            <a:avLst/>
          </a:prstGeom>
        </p:spPr>
      </p:pic>
    </p:spTree>
    <p:extLst>
      <p:ext uri="{BB962C8B-B14F-4D97-AF65-F5344CB8AC3E}">
        <p14:creationId xmlns:p14="http://schemas.microsoft.com/office/powerpoint/2010/main" val="418086347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Una planta con flores rojas y blancas&#10;&#10;Descripción generada automáticamente">
            <a:extLst>
              <a:ext uri="{FF2B5EF4-FFF2-40B4-BE49-F238E27FC236}">
                <a16:creationId xmlns:a16="http://schemas.microsoft.com/office/drawing/2014/main" id="{4EFD325A-7276-E50F-5F2F-6C715551413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9144000" cy="6425968"/>
          </a:xfrm>
          <a:prstGeom prst="rect">
            <a:avLst/>
          </a:prstGeom>
        </p:spPr>
      </p:pic>
      <p:sp>
        <p:nvSpPr>
          <p:cNvPr id="5" name="Rectángulo: esquinas redondeadas 4">
            <a:extLst>
              <a:ext uri="{FF2B5EF4-FFF2-40B4-BE49-F238E27FC236}">
                <a16:creationId xmlns:a16="http://schemas.microsoft.com/office/drawing/2014/main" id="{3621C778-823D-0DD3-25DE-E6F24995B53D}"/>
              </a:ext>
            </a:extLst>
          </p:cNvPr>
          <p:cNvSpPr/>
          <p:nvPr/>
        </p:nvSpPr>
        <p:spPr>
          <a:xfrm>
            <a:off x="-213920" y="2195476"/>
            <a:ext cx="4240635" cy="2632099"/>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esquinas redondeadas 3">
            <a:extLst>
              <a:ext uri="{FF2B5EF4-FFF2-40B4-BE49-F238E27FC236}">
                <a16:creationId xmlns:a16="http://schemas.microsoft.com/office/drawing/2014/main" id="{C744122B-8806-392F-0753-00AE117D1DA8}"/>
              </a:ext>
            </a:extLst>
          </p:cNvPr>
          <p:cNvSpPr/>
          <p:nvPr/>
        </p:nvSpPr>
        <p:spPr>
          <a:xfrm>
            <a:off x="-213919" y="1199626"/>
            <a:ext cx="4240635" cy="973704"/>
          </a:xfrm>
          <a:prstGeom prst="round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E7302F8C-F36F-31BA-7E2A-266BD6341E39}"/>
              </a:ext>
            </a:extLst>
          </p:cNvPr>
          <p:cNvSpPr txBox="1"/>
          <p:nvPr/>
        </p:nvSpPr>
        <p:spPr>
          <a:xfrm>
            <a:off x="-440422" y="1301757"/>
            <a:ext cx="4559417" cy="769441"/>
          </a:xfrm>
          <a:prstGeom prst="rect">
            <a:avLst/>
          </a:prstGeom>
          <a:noFill/>
        </p:spPr>
        <p:txBody>
          <a:bodyPr wrap="square">
            <a:spAutoFit/>
          </a:bodyPr>
          <a:lstStyle/>
          <a:p>
            <a:pPr algn="ctr"/>
            <a:r>
              <a:rPr lang="es-MX" sz="4400" b="1" dirty="0" err="1">
                <a:solidFill>
                  <a:schemeClr val="bg1"/>
                </a:solidFill>
                <a:latin typeface="Report" panose="02000506020000020003" pitchFamily="2" charset="0"/>
              </a:rPr>
              <a:t>Plant</a:t>
            </a:r>
            <a:r>
              <a:rPr lang="es-MX" sz="4400" b="1" dirty="0">
                <a:solidFill>
                  <a:schemeClr val="bg1"/>
                </a:solidFill>
                <a:latin typeface="Report" panose="02000506020000020003" pitchFamily="2" charset="0"/>
              </a:rPr>
              <a:t> </a:t>
            </a:r>
            <a:r>
              <a:rPr lang="es-MX" sz="4400" b="1" dirty="0" err="1">
                <a:solidFill>
                  <a:schemeClr val="bg1"/>
                </a:solidFill>
                <a:latin typeface="Report" panose="02000506020000020003" pitchFamily="2" charset="0"/>
              </a:rPr>
              <a:t>Parts</a:t>
            </a:r>
            <a:endParaRPr lang="es-MX" sz="4400" b="1" dirty="0">
              <a:solidFill>
                <a:schemeClr val="bg1"/>
              </a:solidFill>
              <a:latin typeface="Report" panose="02000506020000020003" pitchFamily="2" charset="0"/>
            </a:endParaRPr>
          </a:p>
        </p:txBody>
      </p:sp>
      <p:sp>
        <p:nvSpPr>
          <p:cNvPr id="9" name="Rectángulo 8">
            <a:hlinkClick r:id="rId3"/>
            <a:extLst>
              <a:ext uri="{FF2B5EF4-FFF2-40B4-BE49-F238E27FC236}">
                <a16:creationId xmlns:a16="http://schemas.microsoft.com/office/drawing/2014/main" id="{CFAD37FE-6651-0B04-74F4-34BFBDAC3495}"/>
              </a:ext>
            </a:extLst>
          </p:cNvPr>
          <p:cNvSpPr/>
          <p:nvPr/>
        </p:nvSpPr>
        <p:spPr>
          <a:xfrm>
            <a:off x="8288323" y="6249558"/>
            <a:ext cx="855677" cy="608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9073DFA9-3A5B-8FF5-B58D-42C07FE5A736}"/>
              </a:ext>
            </a:extLst>
          </p:cNvPr>
          <p:cNvSpPr txBox="1"/>
          <p:nvPr/>
        </p:nvSpPr>
        <p:spPr>
          <a:xfrm>
            <a:off x="453004" y="2351703"/>
            <a:ext cx="3204595" cy="2246769"/>
          </a:xfrm>
          <a:prstGeom prst="rect">
            <a:avLst/>
          </a:prstGeom>
          <a:noFill/>
        </p:spPr>
        <p:txBody>
          <a:bodyPr wrap="square">
            <a:spAutoFit/>
          </a:bodyPr>
          <a:lstStyle/>
          <a:p>
            <a:pPr rtl="0">
              <a:spcBef>
                <a:spcPts val="0"/>
              </a:spcBef>
              <a:spcAft>
                <a:spcPts val="1200"/>
              </a:spcAft>
            </a:pPr>
            <a:r>
              <a:rPr lang="en-US" sz="2800" b="0" dirty="0">
                <a:solidFill>
                  <a:schemeClr val="bg1"/>
                </a:solidFill>
                <a:effectLst/>
                <a:latin typeface="Report" panose="02000506020000020003" pitchFamily="2" charset="0"/>
              </a:rPr>
              <a:t>Plants are made from many different parts. During pollination, each part has a special job.</a:t>
            </a:r>
          </a:p>
        </p:txBody>
      </p:sp>
    </p:spTree>
    <p:extLst>
      <p:ext uri="{BB962C8B-B14F-4D97-AF65-F5344CB8AC3E}">
        <p14:creationId xmlns:p14="http://schemas.microsoft.com/office/powerpoint/2010/main" val="17575453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50" fill="hold"/>
                                        <p:tgtEl>
                                          <p:spTgt spid="3"/>
                                        </p:tgtEl>
                                        <p:attrNameLst>
                                          <p:attrName>ppt_x</p:attrName>
                                        </p:attrNameLst>
                                      </p:cBhvr>
                                      <p:tavLst>
                                        <p:tav tm="0">
                                          <p:val>
                                            <p:strVal val="1+#ppt_w/2"/>
                                          </p:val>
                                        </p:tav>
                                        <p:tav tm="100000">
                                          <p:val>
                                            <p:strVal val="#ppt_x"/>
                                          </p:val>
                                        </p:tav>
                                      </p:tavLst>
                                    </p:anim>
                                    <p:anim calcmode="lin" valueType="num">
                                      <p:cBhvr additive="base">
                                        <p:cTn id="8" dur="25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esquinas redondeadas 11">
            <a:extLst>
              <a:ext uri="{FF2B5EF4-FFF2-40B4-BE49-F238E27FC236}">
                <a16:creationId xmlns:a16="http://schemas.microsoft.com/office/drawing/2014/main" id="{2D5AC396-087E-DE1B-E84C-4295A6AA4C09}"/>
              </a:ext>
            </a:extLst>
          </p:cNvPr>
          <p:cNvSpPr/>
          <p:nvPr/>
        </p:nvSpPr>
        <p:spPr>
          <a:xfrm>
            <a:off x="-283129" y="-1285493"/>
            <a:ext cx="9710257" cy="2570985"/>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ángulo 8">
            <a:hlinkClick r:id="rId2"/>
            <a:extLst>
              <a:ext uri="{FF2B5EF4-FFF2-40B4-BE49-F238E27FC236}">
                <a16:creationId xmlns:a16="http://schemas.microsoft.com/office/drawing/2014/main" id="{CFAD37FE-6651-0B04-74F4-34BFBDAC3495}"/>
              </a:ext>
            </a:extLst>
          </p:cNvPr>
          <p:cNvSpPr/>
          <p:nvPr/>
        </p:nvSpPr>
        <p:spPr>
          <a:xfrm>
            <a:off x="8288323" y="6249558"/>
            <a:ext cx="855677" cy="608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9073DFA9-3A5B-8FF5-B58D-42C07FE5A736}"/>
              </a:ext>
            </a:extLst>
          </p:cNvPr>
          <p:cNvSpPr txBox="1"/>
          <p:nvPr/>
        </p:nvSpPr>
        <p:spPr>
          <a:xfrm>
            <a:off x="4132723" y="2244031"/>
            <a:ext cx="4311941" cy="1938992"/>
          </a:xfrm>
          <a:prstGeom prst="rect">
            <a:avLst/>
          </a:prstGeom>
          <a:noFill/>
        </p:spPr>
        <p:txBody>
          <a:bodyPr wrap="square">
            <a:spAutoFit/>
          </a:bodyPr>
          <a:lstStyle/>
          <a:p>
            <a:pPr algn="ctr" rtl="0">
              <a:spcBef>
                <a:spcPts val="0"/>
              </a:spcBef>
              <a:spcAft>
                <a:spcPts val="1200"/>
              </a:spcAft>
            </a:pPr>
            <a:r>
              <a:rPr lang="en-US" sz="4000" b="0" i="0" u="none" strike="noStrike" dirty="0">
                <a:effectLst/>
                <a:latin typeface="Report" panose="02000506020000020003" pitchFamily="2" charset="0"/>
              </a:rPr>
              <a:t>Tell your partner one part of a plant that you already know. </a:t>
            </a:r>
            <a:endParaRPr lang="en-US" sz="4000" b="0" dirty="0">
              <a:effectLst/>
              <a:latin typeface="Report" panose="02000506020000020003" pitchFamily="2" charset="0"/>
            </a:endParaRPr>
          </a:p>
        </p:txBody>
      </p:sp>
      <p:sp>
        <p:nvSpPr>
          <p:cNvPr id="3" name="Elipse 2">
            <a:extLst>
              <a:ext uri="{FF2B5EF4-FFF2-40B4-BE49-F238E27FC236}">
                <a16:creationId xmlns:a16="http://schemas.microsoft.com/office/drawing/2014/main" id="{18CD5D4D-CA8A-2A50-46BE-2CF2C06FCBC4}"/>
              </a:ext>
            </a:extLst>
          </p:cNvPr>
          <p:cNvSpPr/>
          <p:nvPr/>
        </p:nvSpPr>
        <p:spPr>
          <a:xfrm>
            <a:off x="562063" y="297023"/>
            <a:ext cx="1751573" cy="1751573"/>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2" name="Google Shape;45;p1">
            <a:extLst>
              <a:ext uri="{FF2B5EF4-FFF2-40B4-BE49-F238E27FC236}">
                <a16:creationId xmlns:a16="http://schemas.microsoft.com/office/drawing/2014/main" id="{0B24AF49-8199-F1BE-3EE0-82DD4097B35F}"/>
              </a:ext>
            </a:extLst>
          </p:cNvPr>
          <p:cNvPicPr preferRelativeResize="0"/>
          <p:nvPr/>
        </p:nvPicPr>
        <p:blipFill rotWithShape="1">
          <a:blip r:embed="rId3">
            <a:alphaModFix/>
          </a:blip>
          <a:srcRect/>
          <a:stretch/>
        </p:blipFill>
        <p:spPr>
          <a:xfrm>
            <a:off x="880845" y="628349"/>
            <a:ext cx="1024938" cy="1100605"/>
          </a:xfrm>
          <a:prstGeom prst="rect">
            <a:avLst/>
          </a:prstGeom>
          <a:noFill/>
          <a:ln>
            <a:noFill/>
          </a:ln>
        </p:spPr>
      </p:pic>
      <p:sp>
        <p:nvSpPr>
          <p:cNvPr id="6" name="CuadroTexto 5">
            <a:extLst>
              <a:ext uri="{FF2B5EF4-FFF2-40B4-BE49-F238E27FC236}">
                <a16:creationId xmlns:a16="http://schemas.microsoft.com/office/drawing/2014/main" id="{E7302F8C-F36F-31BA-7E2A-266BD6341E39}"/>
              </a:ext>
            </a:extLst>
          </p:cNvPr>
          <p:cNvSpPr txBox="1"/>
          <p:nvPr/>
        </p:nvSpPr>
        <p:spPr>
          <a:xfrm>
            <a:off x="2183234" y="157147"/>
            <a:ext cx="4559417" cy="1015663"/>
          </a:xfrm>
          <a:prstGeom prst="rect">
            <a:avLst/>
          </a:prstGeom>
          <a:noFill/>
        </p:spPr>
        <p:txBody>
          <a:bodyPr wrap="square">
            <a:spAutoFit/>
          </a:bodyPr>
          <a:lstStyle/>
          <a:p>
            <a:pPr algn="ctr"/>
            <a:r>
              <a:rPr lang="es-MX" sz="6000" b="1">
                <a:latin typeface="Report" panose="02000506020000020003" pitchFamily="2" charset="0"/>
              </a:rPr>
              <a:t>Turn and Talk</a:t>
            </a:r>
            <a:endParaRPr lang="es-MX" sz="6000" b="1" dirty="0">
              <a:latin typeface="Report" panose="02000506020000020003" pitchFamily="2" charset="0"/>
            </a:endParaRPr>
          </a:p>
        </p:txBody>
      </p:sp>
      <p:pic>
        <p:nvPicPr>
          <p:cNvPr id="5" name="Imagen 4" descr="Una caricatura de una persona&#10;&#10;Descripción generada automáticamente con confianza media">
            <a:extLst>
              <a:ext uri="{FF2B5EF4-FFF2-40B4-BE49-F238E27FC236}">
                <a16:creationId xmlns:a16="http://schemas.microsoft.com/office/drawing/2014/main" id="{C7637A36-BD1C-EF39-5C3D-A8A74C58900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2612" y="2516697"/>
            <a:ext cx="4275335" cy="4341303"/>
          </a:xfrm>
          <a:prstGeom prst="rect">
            <a:avLst/>
          </a:prstGeom>
        </p:spPr>
      </p:pic>
    </p:spTree>
    <p:extLst>
      <p:ext uri="{BB962C8B-B14F-4D97-AF65-F5344CB8AC3E}">
        <p14:creationId xmlns:p14="http://schemas.microsoft.com/office/powerpoint/2010/main" val="225143378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descr="Flor de color morado&#10;&#10;Descripción generada automáticamente">
            <a:extLst>
              <a:ext uri="{FF2B5EF4-FFF2-40B4-BE49-F238E27FC236}">
                <a16:creationId xmlns:a16="http://schemas.microsoft.com/office/drawing/2014/main" id="{AFF819B5-74E0-B314-3021-B1D14725BD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4951" y="-329967"/>
            <a:ext cx="10133902" cy="6755934"/>
          </a:xfrm>
          <a:prstGeom prst="rect">
            <a:avLst/>
          </a:prstGeom>
        </p:spPr>
      </p:pic>
      <p:sp>
        <p:nvSpPr>
          <p:cNvPr id="5" name="Rectángulo: esquinas redondeadas 4">
            <a:extLst>
              <a:ext uri="{FF2B5EF4-FFF2-40B4-BE49-F238E27FC236}">
                <a16:creationId xmlns:a16="http://schemas.microsoft.com/office/drawing/2014/main" id="{3621C778-823D-0DD3-25DE-E6F24995B53D}"/>
              </a:ext>
            </a:extLst>
          </p:cNvPr>
          <p:cNvSpPr/>
          <p:nvPr/>
        </p:nvSpPr>
        <p:spPr>
          <a:xfrm>
            <a:off x="5238924" y="2505869"/>
            <a:ext cx="4240635" cy="3047644"/>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esquinas redondeadas 3">
            <a:extLst>
              <a:ext uri="{FF2B5EF4-FFF2-40B4-BE49-F238E27FC236}">
                <a16:creationId xmlns:a16="http://schemas.microsoft.com/office/drawing/2014/main" id="{C744122B-8806-392F-0753-00AE117D1DA8}"/>
              </a:ext>
            </a:extLst>
          </p:cNvPr>
          <p:cNvSpPr/>
          <p:nvPr/>
        </p:nvSpPr>
        <p:spPr>
          <a:xfrm>
            <a:off x="5238925" y="1451295"/>
            <a:ext cx="4240635" cy="973704"/>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E7302F8C-F36F-31BA-7E2A-266BD6341E39}"/>
              </a:ext>
            </a:extLst>
          </p:cNvPr>
          <p:cNvSpPr txBox="1"/>
          <p:nvPr/>
        </p:nvSpPr>
        <p:spPr>
          <a:xfrm>
            <a:off x="5012422" y="1553426"/>
            <a:ext cx="4559417" cy="769441"/>
          </a:xfrm>
          <a:prstGeom prst="rect">
            <a:avLst/>
          </a:prstGeom>
          <a:noFill/>
        </p:spPr>
        <p:txBody>
          <a:bodyPr wrap="square">
            <a:spAutoFit/>
          </a:bodyPr>
          <a:lstStyle/>
          <a:p>
            <a:pPr algn="ctr"/>
            <a:r>
              <a:rPr lang="es-MX" sz="4400" b="1">
                <a:solidFill>
                  <a:schemeClr val="bg1"/>
                </a:solidFill>
                <a:latin typeface="Report" panose="02000506020000020003" pitchFamily="2" charset="0"/>
              </a:rPr>
              <a:t>Petals</a:t>
            </a:r>
            <a:endParaRPr lang="es-MX" sz="4400" b="1" dirty="0">
              <a:solidFill>
                <a:schemeClr val="bg1"/>
              </a:solidFill>
              <a:latin typeface="Report" panose="02000506020000020003" pitchFamily="2" charset="0"/>
            </a:endParaRPr>
          </a:p>
        </p:txBody>
      </p:sp>
      <p:sp>
        <p:nvSpPr>
          <p:cNvPr id="9" name="Rectángulo 8">
            <a:hlinkClick r:id="rId3"/>
            <a:extLst>
              <a:ext uri="{FF2B5EF4-FFF2-40B4-BE49-F238E27FC236}">
                <a16:creationId xmlns:a16="http://schemas.microsoft.com/office/drawing/2014/main" id="{CFAD37FE-6651-0B04-74F4-34BFBDAC3495}"/>
              </a:ext>
            </a:extLst>
          </p:cNvPr>
          <p:cNvSpPr/>
          <p:nvPr/>
        </p:nvSpPr>
        <p:spPr>
          <a:xfrm>
            <a:off x="8288323" y="6249558"/>
            <a:ext cx="855677" cy="608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9073DFA9-3A5B-8FF5-B58D-42C07FE5A736}"/>
              </a:ext>
            </a:extLst>
          </p:cNvPr>
          <p:cNvSpPr txBox="1"/>
          <p:nvPr/>
        </p:nvSpPr>
        <p:spPr>
          <a:xfrm>
            <a:off x="5572386" y="2703733"/>
            <a:ext cx="3573709" cy="2677656"/>
          </a:xfrm>
          <a:prstGeom prst="rect">
            <a:avLst/>
          </a:prstGeom>
          <a:noFill/>
        </p:spPr>
        <p:txBody>
          <a:bodyPr wrap="square">
            <a:spAutoFit/>
          </a:bodyPr>
          <a:lstStyle/>
          <a:p>
            <a:pPr rtl="0">
              <a:spcBef>
                <a:spcPts val="0"/>
              </a:spcBef>
              <a:spcAft>
                <a:spcPts val="1200"/>
              </a:spcAft>
            </a:pPr>
            <a:r>
              <a:rPr lang="en-US" sz="2800" b="0" dirty="0">
                <a:solidFill>
                  <a:schemeClr val="bg1"/>
                </a:solidFill>
                <a:effectLst/>
                <a:latin typeface="Report" panose="02000506020000020003" pitchFamily="2" charset="0"/>
              </a:rPr>
              <a:t>Flowers have bright-colored petals. These bright petals make insects and other pollinators notice the plant and come to eat nectar!</a:t>
            </a:r>
          </a:p>
        </p:txBody>
      </p:sp>
    </p:spTree>
    <p:extLst>
      <p:ext uri="{BB962C8B-B14F-4D97-AF65-F5344CB8AC3E}">
        <p14:creationId xmlns:p14="http://schemas.microsoft.com/office/powerpoint/2010/main" val="17699291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esquinas redondeadas 11">
            <a:extLst>
              <a:ext uri="{FF2B5EF4-FFF2-40B4-BE49-F238E27FC236}">
                <a16:creationId xmlns:a16="http://schemas.microsoft.com/office/drawing/2014/main" id="{2D5AC396-087E-DE1B-E84C-4295A6AA4C09}"/>
              </a:ext>
            </a:extLst>
          </p:cNvPr>
          <p:cNvSpPr/>
          <p:nvPr/>
        </p:nvSpPr>
        <p:spPr>
          <a:xfrm>
            <a:off x="-283129" y="-1285493"/>
            <a:ext cx="9710257" cy="2570985"/>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ángulo 8">
            <a:hlinkClick r:id="rId2"/>
            <a:extLst>
              <a:ext uri="{FF2B5EF4-FFF2-40B4-BE49-F238E27FC236}">
                <a16:creationId xmlns:a16="http://schemas.microsoft.com/office/drawing/2014/main" id="{CFAD37FE-6651-0B04-74F4-34BFBDAC3495}"/>
              </a:ext>
            </a:extLst>
          </p:cNvPr>
          <p:cNvSpPr/>
          <p:nvPr/>
        </p:nvSpPr>
        <p:spPr>
          <a:xfrm>
            <a:off x="8288323" y="6249558"/>
            <a:ext cx="855677" cy="608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9073DFA9-3A5B-8FF5-B58D-42C07FE5A736}"/>
              </a:ext>
            </a:extLst>
          </p:cNvPr>
          <p:cNvSpPr txBox="1"/>
          <p:nvPr/>
        </p:nvSpPr>
        <p:spPr>
          <a:xfrm>
            <a:off x="810683" y="2615450"/>
            <a:ext cx="4311941" cy="1938992"/>
          </a:xfrm>
          <a:prstGeom prst="rect">
            <a:avLst/>
          </a:prstGeom>
          <a:noFill/>
        </p:spPr>
        <p:txBody>
          <a:bodyPr wrap="square">
            <a:spAutoFit/>
          </a:bodyPr>
          <a:lstStyle/>
          <a:p>
            <a:pPr algn="ctr" rtl="0">
              <a:spcBef>
                <a:spcPts val="0"/>
              </a:spcBef>
              <a:spcAft>
                <a:spcPts val="1200"/>
              </a:spcAft>
            </a:pPr>
            <a:r>
              <a:rPr lang="en-US" sz="4000" b="0" i="0" u="none" strike="noStrike" dirty="0">
                <a:effectLst/>
                <a:latin typeface="Report" panose="02000506020000020003" pitchFamily="2" charset="0"/>
              </a:rPr>
              <a:t>How does an insect know where to find nectar to eat?</a:t>
            </a:r>
            <a:endParaRPr lang="en-US" sz="4000" b="0" dirty="0">
              <a:effectLst/>
              <a:latin typeface="Report" panose="02000506020000020003" pitchFamily="2" charset="0"/>
            </a:endParaRPr>
          </a:p>
        </p:txBody>
      </p:sp>
      <p:sp>
        <p:nvSpPr>
          <p:cNvPr id="3" name="Elipse 2">
            <a:extLst>
              <a:ext uri="{FF2B5EF4-FFF2-40B4-BE49-F238E27FC236}">
                <a16:creationId xmlns:a16="http://schemas.microsoft.com/office/drawing/2014/main" id="{18CD5D4D-CA8A-2A50-46BE-2CF2C06FCBC4}"/>
              </a:ext>
            </a:extLst>
          </p:cNvPr>
          <p:cNvSpPr/>
          <p:nvPr/>
        </p:nvSpPr>
        <p:spPr>
          <a:xfrm>
            <a:off x="562063" y="297023"/>
            <a:ext cx="1751573" cy="1751573"/>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2" name="Google Shape;45;p1">
            <a:extLst>
              <a:ext uri="{FF2B5EF4-FFF2-40B4-BE49-F238E27FC236}">
                <a16:creationId xmlns:a16="http://schemas.microsoft.com/office/drawing/2014/main" id="{0B24AF49-8199-F1BE-3EE0-82DD4097B35F}"/>
              </a:ext>
            </a:extLst>
          </p:cNvPr>
          <p:cNvPicPr preferRelativeResize="0"/>
          <p:nvPr/>
        </p:nvPicPr>
        <p:blipFill rotWithShape="1">
          <a:blip r:embed="rId3">
            <a:alphaModFix/>
          </a:blip>
          <a:srcRect/>
          <a:stretch/>
        </p:blipFill>
        <p:spPr>
          <a:xfrm>
            <a:off x="880845" y="628349"/>
            <a:ext cx="1024938" cy="1100605"/>
          </a:xfrm>
          <a:prstGeom prst="rect">
            <a:avLst/>
          </a:prstGeom>
          <a:noFill/>
          <a:ln>
            <a:noFill/>
          </a:ln>
        </p:spPr>
      </p:pic>
      <p:sp>
        <p:nvSpPr>
          <p:cNvPr id="6" name="CuadroTexto 5">
            <a:extLst>
              <a:ext uri="{FF2B5EF4-FFF2-40B4-BE49-F238E27FC236}">
                <a16:creationId xmlns:a16="http://schemas.microsoft.com/office/drawing/2014/main" id="{E7302F8C-F36F-31BA-7E2A-266BD6341E39}"/>
              </a:ext>
            </a:extLst>
          </p:cNvPr>
          <p:cNvSpPr txBox="1"/>
          <p:nvPr/>
        </p:nvSpPr>
        <p:spPr>
          <a:xfrm>
            <a:off x="2183234" y="157147"/>
            <a:ext cx="4559417" cy="1015663"/>
          </a:xfrm>
          <a:prstGeom prst="rect">
            <a:avLst/>
          </a:prstGeom>
          <a:noFill/>
        </p:spPr>
        <p:txBody>
          <a:bodyPr wrap="square">
            <a:spAutoFit/>
          </a:bodyPr>
          <a:lstStyle/>
          <a:p>
            <a:pPr algn="ctr"/>
            <a:r>
              <a:rPr lang="es-MX" sz="6000" b="1">
                <a:latin typeface="Report" panose="02000506020000020003" pitchFamily="2" charset="0"/>
              </a:rPr>
              <a:t>Turn and Talk</a:t>
            </a:r>
            <a:endParaRPr lang="es-MX" sz="6000" b="1" dirty="0">
              <a:latin typeface="Report" panose="02000506020000020003" pitchFamily="2" charset="0"/>
            </a:endParaRPr>
          </a:p>
        </p:txBody>
      </p:sp>
      <p:pic>
        <p:nvPicPr>
          <p:cNvPr id="7" name="Imagen 6" descr="Un dibujo de un árbol&#10;&#10;Descripción generada automáticamente con confianza media">
            <a:extLst>
              <a:ext uri="{FF2B5EF4-FFF2-40B4-BE49-F238E27FC236}">
                <a16:creationId xmlns:a16="http://schemas.microsoft.com/office/drawing/2014/main" id="{1BF0491B-9CE9-BD2B-240E-BDF175D06E7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8457345">
            <a:off x="4605554" y="2978544"/>
            <a:ext cx="4748169" cy="3238678"/>
          </a:xfrm>
          <a:prstGeom prst="rect">
            <a:avLst/>
          </a:prstGeom>
        </p:spPr>
      </p:pic>
    </p:spTree>
    <p:extLst>
      <p:ext uri="{BB962C8B-B14F-4D97-AF65-F5344CB8AC3E}">
        <p14:creationId xmlns:p14="http://schemas.microsoft.com/office/powerpoint/2010/main" val="332357375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50" fill="hold"/>
                                        <p:tgtEl>
                                          <p:spTgt spid="7"/>
                                        </p:tgtEl>
                                        <p:attrNameLst>
                                          <p:attrName>ppt_x</p:attrName>
                                        </p:attrNameLst>
                                      </p:cBhvr>
                                      <p:tavLst>
                                        <p:tav tm="0">
                                          <p:val>
                                            <p:strVal val="1+#ppt_w/2"/>
                                          </p:val>
                                        </p:tav>
                                        <p:tav tm="100000">
                                          <p:val>
                                            <p:strVal val="#ppt_x"/>
                                          </p:val>
                                        </p:tav>
                                      </p:tavLst>
                                    </p:anim>
                                    <p:anim calcmode="lin" valueType="num">
                                      <p:cBhvr additive="base">
                                        <p:cTn id="8" dur="25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Flor de color rojo&#10;&#10;Descripción generada automáticamente">
            <a:extLst>
              <a:ext uri="{FF2B5EF4-FFF2-40B4-BE49-F238E27FC236}">
                <a16:creationId xmlns:a16="http://schemas.microsoft.com/office/drawing/2014/main" id="{2DEC432C-B006-B9F7-4195-5C56491A3E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0059" y="3953"/>
            <a:ext cx="9664118" cy="6442745"/>
          </a:xfrm>
          <a:prstGeom prst="rect">
            <a:avLst/>
          </a:prstGeom>
        </p:spPr>
      </p:pic>
      <p:sp>
        <p:nvSpPr>
          <p:cNvPr id="5" name="Rectángulo: esquinas redondeadas 4">
            <a:extLst>
              <a:ext uri="{FF2B5EF4-FFF2-40B4-BE49-F238E27FC236}">
                <a16:creationId xmlns:a16="http://schemas.microsoft.com/office/drawing/2014/main" id="{3621C778-823D-0DD3-25DE-E6F24995B53D}"/>
              </a:ext>
            </a:extLst>
          </p:cNvPr>
          <p:cNvSpPr/>
          <p:nvPr/>
        </p:nvSpPr>
        <p:spPr>
          <a:xfrm>
            <a:off x="-398478" y="1071881"/>
            <a:ext cx="4139968" cy="2585719"/>
          </a:xfrm>
          <a:prstGeom prst="roundRect">
            <a:avLst/>
          </a:prstGeom>
          <a:solidFill>
            <a:srgbClr val="A213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esquinas redondeadas 3">
            <a:extLst>
              <a:ext uri="{FF2B5EF4-FFF2-40B4-BE49-F238E27FC236}">
                <a16:creationId xmlns:a16="http://schemas.microsoft.com/office/drawing/2014/main" id="{C744122B-8806-392F-0753-00AE117D1DA8}"/>
              </a:ext>
            </a:extLst>
          </p:cNvPr>
          <p:cNvSpPr/>
          <p:nvPr/>
        </p:nvSpPr>
        <p:spPr>
          <a:xfrm>
            <a:off x="-398478" y="0"/>
            <a:ext cx="4240635" cy="973704"/>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E7302F8C-F36F-31BA-7E2A-266BD6341E39}"/>
              </a:ext>
            </a:extLst>
          </p:cNvPr>
          <p:cNvSpPr txBox="1"/>
          <p:nvPr/>
        </p:nvSpPr>
        <p:spPr>
          <a:xfrm>
            <a:off x="-624981" y="102131"/>
            <a:ext cx="4559417" cy="769441"/>
          </a:xfrm>
          <a:prstGeom prst="rect">
            <a:avLst/>
          </a:prstGeom>
          <a:noFill/>
        </p:spPr>
        <p:txBody>
          <a:bodyPr wrap="square">
            <a:spAutoFit/>
          </a:bodyPr>
          <a:lstStyle/>
          <a:p>
            <a:pPr algn="ctr"/>
            <a:r>
              <a:rPr lang="es-MX" sz="4400" b="1">
                <a:solidFill>
                  <a:schemeClr val="bg1"/>
                </a:solidFill>
                <a:latin typeface="Report" panose="02000506020000020003" pitchFamily="2" charset="0"/>
              </a:rPr>
              <a:t>Ovary</a:t>
            </a:r>
            <a:endParaRPr lang="es-MX" sz="4400" b="1" dirty="0">
              <a:solidFill>
                <a:schemeClr val="bg1"/>
              </a:solidFill>
              <a:latin typeface="Report" panose="02000506020000020003" pitchFamily="2" charset="0"/>
            </a:endParaRPr>
          </a:p>
        </p:txBody>
      </p:sp>
      <p:sp>
        <p:nvSpPr>
          <p:cNvPr id="9" name="Rectángulo 8">
            <a:hlinkClick r:id="rId3"/>
            <a:extLst>
              <a:ext uri="{FF2B5EF4-FFF2-40B4-BE49-F238E27FC236}">
                <a16:creationId xmlns:a16="http://schemas.microsoft.com/office/drawing/2014/main" id="{CFAD37FE-6651-0B04-74F4-34BFBDAC3495}"/>
              </a:ext>
            </a:extLst>
          </p:cNvPr>
          <p:cNvSpPr/>
          <p:nvPr/>
        </p:nvSpPr>
        <p:spPr>
          <a:xfrm>
            <a:off x="8288323" y="6249558"/>
            <a:ext cx="855677" cy="608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9073DFA9-3A5B-8FF5-B58D-42C07FE5A736}"/>
              </a:ext>
            </a:extLst>
          </p:cNvPr>
          <p:cNvSpPr txBox="1"/>
          <p:nvPr/>
        </p:nvSpPr>
        <p:spPr>
          <a:xfrm>
            <a:off x="0" y="1318299"/>
            <a:ext cx="3573709" cy="2092881"/>
          </a:xfrm>
          <a:prstGeom prst="rect">
            <a:avLst/>
          </a:prstGeom>
          <a:noFill/>
        </p:spPr>
        <p:txBody>
          <a:bodyPr wrap="square">
            <a:spAutoFit/>
          </a:bodyPr>
          <a:lstStyle/>
          <a:p>
            <a:pPr rtl="0">
              <a:spcBef>
                <a:spcPts val="0"/>
              </a:spcBef>
              <a:spcAft>
                <a:spcPts val="1200"/>
              </a:spcAft>
            </a:pPr>
            <a:r>
              <a:rPr lang="en-US" sz="2400" b="0" dirty="0">
                <a:solidFill>
                  <a:schemeClr val="bg1"/>
                </a:solidFill>
                <a:effectLst/>
                <a:latin typeface="Report" panose="02000506020000020003" pitchFamily="2" charset="0"/>
              </a:rPr>
              <a:t>The ovary’s job is to hold the ovules. These are parts of the plant that will turn into seeds. </a:t>
            </a:r>
          </a:p>
          <a:p>
            <a:pPr rtl="0">
              <a:spcBef>
                <a:spcPts val="0"/>
              </a:spcBef>
              <a:spcAft>
                <a:spcPts val="1200"/>
              </a:spcAft>
            </a:pPr>
            <a:r>
              <a:rPr lang="en-US" sz="2400" b="0" dirty="0">
                <a:solidFill>
                  <a:schemeClr val="bg1"/>
                </a:solidFill>
                <a:effectLst/>
                <a:latin typeface="Report" panose="02000506020000020003" pitchFamily="2" charset="0"/>
              </a:rPr>
              <a:t>The ovary keeps them safe until the flower is pollinated. </a:t>
            </a:r>
          </a:p>
        </p:txBody>
      </p:sp>
    </p:spTree>
    <p:extLst>
      <p:ext uri="{BB962C8B-B14F-4D97-AF65-F5344CB8AC3E}">
        <p14:creationId xmlns:p14="http://schemas.microsoft.com/office/powerpoint/2010/main" val="29456716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50" fill="hold"/>
                                        <p:tgtEl>
                                          <p:spTgt spid="3"/>
                                        </p:tgtEl>
                                        <p:attrNameLst>
                                          <p:attrName>ppt_x</p:attrName>
                                        </p:attrNameLst>
                                      </p:cBhvr>
                                      <p:tavLst>
                                        <p:tav tm="0">
                                          <p:val>
                                            <p:strVal val="#ppt_x"/>
                                          </p:val>
                                        </p:tav>
                                        <p:tav tm="100000">
                                          <p:val>
                                            <p:strVal val="#ppt_x"/>
                                          </p:val>
                                        </p:tav>
                                      </p:tavLst>
                                    </p:anim>
                                    <p:anim calcmode="lin" valueType="num">
                                      <p:cBhvr additive="base">
                                        <p:cTn id="8" dur="25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descr="Una flor amarilla&#10;&#10;Descripción generada automáticamente">
            <a:extLst>
              <a:ext uri="{FF2B5EF4-FFF2-40B4-BE49-F238E27FC236}">
                <a16:creationId xmlns:a16="http://schemas.microsoft.com/office/drawing/2014/main" id="{03FD297B-E299-BF46-4D86-9B707383F1D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3854"/>
          <a:stretch/>
        </p:blipFill>
        <p:spPr>
          <a:xfrm>
            <a:off x="300" y="0"/>
            <a:ext cx="9143400" cy="6593747"/>
          </a:xfrm>
          <a:prstGeom prst="rect">
            <a:avLst/>
          </a:prstGeom>
        </p:spPr>
      </p:pic>
      <p:sp>
        <p:nvSpPr>
          <p:cNvPr id="5" name="Rectángulo: esquinas redondeadas 4">
            <a:extLst>
              <a:ext uri="{FF2B5EF4-FFF2-40B4-BE49-F238E27FC236}">
                <a16:creationId xmlns:a16="http://schemas.microsoft.com/office/drawing/2014/main" id="{3621C778-823D-0DD3-25DE-E6F24995B53D}"/>
              </a:ext>
            </a:extLst>
          </p:cNvPr>
          <p:cNvSpPr/>
          <p:nvPr/>
        </p:nvSpPr>
        <p:spPr>
          <a:xfrm>
            <a:off x="-297811" y="2632234"/>
            <a:ext cx="4139968" cy="1981712"/>
          </a:xfrm>
          <a:prstGeom prst="roundRect">
            <a:avLst/>
          </a:prstGeom>
          <a:solidFill>
            <a:srgbClr val="18A0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esquinas redondeadas 3">
            <a:extLst>
              <a:ext uri="{FF2B5EF4-FFF2-40B4-BE49-F238E27FC236}">
                <a16:creationId xmlns:a16="http://schemas.microsoft.com/office/drawing/2014/main" id="{C744122B-8806-392F-0753-00AE117D1DA8}"/>
              </a:ext>
            </a:extLst>
          </p:cNvPr>
          <p:cNvSpPr/>
          <p:nvPr/>
        </p:nvSpPr>
        <p:spPr>
          <a:xfrm>
            <a:off x="-348145" y="1535320"/>
            <a:ext cx="4240635" cy="973704"/>
          </a:xfrm>
          <a:prstGeom prst="roundRect">
            <a:avLst/>
          </a:prstGeom>
          <a:solidFill>
            <a:srgbClr val="21A6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E7302F8C-F36F-31BA-7E2A-266BD6341E39}"/>
              </a:ext>
            </a:extLst>
          </p:cNvPr>
          <p:cNvSpPr txBox="1"/>
          <p:nvPr/>
        </p:nvSpPr>
        <p:spPr>
          <a:xfrm>
            <a:off x="-574649" y="1616372"/>
            <a:ext cx="4559417" cy="769441"/>
          </a:xfrm>
          <a:prstGeom prst="rect">
            <a:avLst/>
          </a:prstGeom>
          <a:noFill/>
        </p:spPr>
        <p:txBody>
          <a:bodyPr wrap="square">
            <a:spAutoFit/>
          </a:bodyPr>
          <a:lstStyle/>
          <a:p>
            <a:pPr algn="ctr"/>
            <a:r>
              <a:rPr lang="es-MX" sz="4400" b="1">
                <a:solidFill>
                  <a:schemeClr val="bg1"/>
                </a:solidFill>
                <a:latin typeface="Report" panose="02000506020000020003" pitchFamily="2" charset="0"/>
              </a:rPr>
              <a:t>Stigma</a:t>
            </a:r>
            <a:endParaRPr lang="es-MX" sz="4400" b="1" dirty="0">
              <a:solidFill>
                <a:schemeClr val="bg1"/>
              </a:solidFill>
              <a:latin typeface="Report" panose="02000506020000020003" pitchFamily="2" charset="0"/>
            </a:endParaRPr>
          </a:p>
        </p:txBody>
      </p:sp>
      <p:sp>
        <p:nvSpPr>
          <p:cNvPr id="9" name="Rectángulo 8">
            <a:hlinkClick r:id="rId3"/>
            <a:extLst>
              <a:ext uri="{FF2B5EF4-FFF2-40B4-BE49-F238E27FC236}">
                <a16:creationId xmlns:a16="http://schemas.microsoft.com/office/drawing/2014/main" id="{CFAD37FE-6651-0B04-74F4-34BFBDAC3495}"/>
              </a:ext>
            </a:extLst>
          </p:cNvPr>
          <p:cNvSpPr/>
          <p:nvPr/>
        </p:nvSpPr>
        <p:spPr>
          <a:xfrm>
            <a:off x="8288323" y="6249558"/>
            <a:ext cx="855677" cy="608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9073DFA9-3A5B-8FF5-B58D-42C07FE5A736}"/>
              </a:ext>
            </a:extLst>
          </p:cNvPr>
          <p:cNvSpPr txBox="1"/>
          <p:nvPr/>
        </p:nvSpPr>
        <p:spPr>
          <a:xfrm>
            <a:off x="67112" y="2878651"/>
            <a:ext cx="3573709" cy="1569660"/>
          </a:xfrm>
          <a:prstGeom prst="rect">
            <a:avLst/>
          </a:prstGeom>
          <a:noFill/>
        </p:spPr>
        <p:txBody>
          <a:bodyPr wrap="square">
            <a:spAutoFit/>
          </a:bodyPr>
          <a:lstStyle/>
          <a:p>
            <a:pPr rtl="0">
              <a:spcBef>
                <a:spcPts val="0"/>
              </a:spcBef>
              <a:spcAft>
                <a:spcPts val="1200"/>
              </a:spcAft>
            </a:pPr>
            <a:r>
              <a:rPr lang="en-US" sz="2400" b="0">
                <a:solidFill>
                  <a:schemeClr val="bg1"/>
                </a:solidFill>
                <a:effectLst/>
                <a:latin typeface="Report" panose="02000506020000020003" pitchFamily="2" charset="0"/>
              </a:rPr>
              <a:t>The stigma is near the top of the flower. Its job is to get the pollen from insects that land on the flower. </a:t>
            </a:r>
            <a:endParaRPr lang="en-US" sz="2400" b="0" dirty="0">
              <a:solidFill>
                <a:schemeClr val="bg1"/>
              </a:solidFill>
              <a:effectLst/>
              <a:latin typeface="Report" panose="02000506020000020003" pitchFamily="2" charset="0"/>
            </a:endParaRPr>
          </a:p>
        </p:txBody>
      </p:sp>
    </p:spTree>
    <p:extLst>
      <p:ext uri="{BB962C8B-B14F-4D97-AF65-F5344CB8AC3E}">
        <p14:creationId xmlns:p14="http://schemas.microsoft.com/office/powerpoint/2010/main" val="262761852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esquinas redondeadas 11">
            <a:extLst>
              <a:ext uri="{FF2B5EF4-FFF2-40B4-BE49-F238E27FC236}">
                <a16:creationId xmlns:a16="http://schemas.microsoft.com/office/drawing/2014/main" id="{2D5AC396-087E-DE1B-E84C-4295A6AA4C09}"/>
              </a:ext>
            </a:extLst>
          </p:cNvPr>
          <p:cNvSpPr/>
          <p:nvPr/>
        </p:nvSpPr>
        <p:spPr>
          <a:xfrm>
            <a:off x="-283129" y="-1285493"/>
            <a:ext cx="9710257" cy="2570985"/>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ángulo 8">
            <a:hlinkClick r:id="rId2"/>
            <a:extLst>
              <a:ext uri="{FF2B5EF4-FFF2-40B4-BE49-F238E27FC236}">
                <a16:creationId xmlns:a16="http://schemas.microsoft.com/office/drawing/2014/main" id="{CFAD37FE-6651-0B04-74F4-34BFBDAC3495}"/>
              </a:ext>
            </a:extLst>
          </p:cNvPr>
          <p:cNvSpPr/>
          <p:nvPr/>
        </p:nvSpPr>
        <p:spPr>
          <a:xfrm>
            <a:off x="8288323" y="6249558"/>
            <a:ext cx="855677" cy="608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9073DFA9-3A5B-8FF5-B58D-42C07FE5A736}"/>
              </a:ext>
            </a:extLst>
          </p:cNvPr>
          <p:cNvSpPr txBox="1"/>
          <p:nvPr/>
        </p:nvSpPr>
        <p:spPr>
          <a:xfrm>
            <a:off x="1330800" y="2615450"/>
            <a:ext cx="4311941" cy="1938992"/>
          </a:xfrm>
          <a:prstGeom prst="rect">
            <a:avLst/>
          </a:prstGeom>
          <a:noFill/>
        </p:spPr>
        <p:txBody>
          <a:bodyPr wrap="square">
            <a:spAutoFit/>
          </a:bodyPr>
          <a:lstStyle/>
          <a:p>
            <a:pPr algn="ctr" rtl="0">
              <a:spcBef>
                <a:spcPts val="0"/>
              </a:spcBef>
              <a:spcAft>
                <a:spcPts val="1200"/>
              </a:spcAft>
            </a:pPr>
            <a:r>
              <a:rPr lang="en-US" sz="4000" b="0" dirty="0">
                <a:effectLst/>
                <a:latin typeface="Report" panose="02000506020000020003" pitchFamily="2" charset="0"/>
              </a:rPr>
              <a:t>Tell your partner what an ovary and stigma do.</a:t>
            </a:r>
          </a:p>
        </p:txBody>
      </p:sp>
      <p:sp>
        <p:nvSpPr>
          <p:cNvPr id="3" name="Elipse 2">
            <a:extLst>
              <a:ext uri="{FF2B5EF4-FFF2-40B4-BE49-F238E27FC236}">
                <a16:creationId xmlns:a16="http://schemas.microsoft.com/office/drawing/2014/main" id="{18CD5D4D-CA8A-2A50-46BE-2CF2C06FCBC4}"/>
              </a:ext>
            </a:extLst>
          </p:cNvPr>
          <p:cNvSpPr/>
          <p:nvPr/>
        </p:nvSpPr>
        <p:spPr>
          <a:xfrm>
            <a:off x="562063" y="297023"/>
            <a:ext cx="1751573" cy="1751573"/>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2" name="Google Shape;45;p1">
            <a:extLst>
              <a:ext uri="{FF2B5EF4-FFF2-40B4-BE49-F238E27FC236}">
                <a16:creationId xmlns:a16="http://schemas.microsoft.com/office/drawing/2014/main" id="{0B24AF49-8199-F1BE-3EE0-82DD4097B35F}"/>
              </a:ext>
            </a:extLst>
          </p:cNvPr>
          <p:cNvPicPr preferRelativeResize="0"/>
          <p:nvPr/>
        </p:nvPicPr>
        <p:blipFill rotWithShape="1">
          <a:blip r:embed="rId3">
            <a:alphaModFix/>
          </a:blip>
          <a:srcRect/>
          <a:stretch/>
        </p:blipFill>
        <p:spPr>
          <a:xfrm>
            <a:off x="880845" y="628349"/>
            <a:ext cx="1024938" cy="1100605"/>
          </a:xfrm>
          <a:prstGeom prst="rect">
            <a:avLst/>
          </a:prstGeom>
          <a:noFill/>
          <a:ln>
            <a:noFill/>
          </a:ln>
        </p:spPr>
      </p:pic>
      <p:sp>
        <p:nvSpPr>
          <p:cNvPr id="6" name="CuadroTexto 5">
            <a:extLst>
              <a:ext uri="{FF2B5EF4-FFF2-40B4-BE49-F238E27FC236}">
                <a16:creationId xmlns:a16="http://schemas.microsoft.com/office/drawing/2014/main" id="{E7302F8C-F36F-31BA-7E2A-266BD6341E39}"/>
              </a:ext>
            </a:extLst>
          </p:cNvPr>
          <p:cNvSpPr txBox="1"/>
          <p:nvPr/>
        </p:nvSpPr>
        <p:spPr>
          <a:xfrm>
            <a:off x="2183234" y="157147"/>
            <a:ext cx="4559417" cy="1015663"/>
          </a:xfrm>
          <a:prstGeom prst="rect">
            <a:avLst/>
          </a:prstGeom>
          <a:noFill/>
        </p:spPr>
        <p:txBody>
          <a:bodyPr wrap="square">
            <a:spAutoFit/>
          </a:bodyPr>
          <a:lstStyle/>
          <a:p>
            <a:pPr algn="ctr"/>
            <a:r>
              <a:rPr lang="es-MX" sz="6000" b="1">
                <a:latin typeface="Report" panose="02000506020000020003" pitchFamily="2" charset="0"/>
              </a:rPr>
              <a:t>Turn and Talk</a:t>
            </a:r>
            <a:endParaRPr lang="es-MX" sz="6000" b="1" dirty="0">
              <a:latin typeface="Report" panose="02000506020000020003" pitchFamily="2" charset="0"/>
            </a:endParaRPr>
          </a:p>
        </p:txBody>
      </p:sp>
      <p:pic>
        <p:nvPicPr>
          <p:cNvPr id="14" name="Imagen 13" descr="Una caricatura de una persona&#10;&#10;Descripción generada automáticamente con confianza media">
            <a:extLst>
              <a:ext uri="{FF2B5EF4-FFF2-40B4-BE49-F238E27FC236}">
                <a16:creationId xmlns:a16="http://schemas.microsoft.com/office/drawing/2014/main" id="{E8E9BA68-2290-0B2B-24E6-FF003302CE8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56200" y="-1"/>
            <a:ext cx="2028689" cy="6858000"/>
          </a:xfrm>
          <a:prstGeom prst="rect">
            <a:avLst/>
          </a:prstGeom>
        </p:spPr>
      </p:pic>
    </p:spTree>
    <p:extLst>
      <p:ext uri="{BB962C8B-B14F-4D97-AF65-F5344CB8AC3E}">
        <p14:creationId xmlns:p14="http://schemas.microsoft.com/office/powerpoint/2010/main" val="32670865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750"/>
                                        <p:tgtEl>
                                          <p:spTgt spid="14"/>
                                        </p:tgtEl>
                                      </p:cBhvr>
                                    </p:animEffect>
                                    <p:anim calcmode="lin" valueType="num">
                                      <p:cBhvr>
                                        <p:cTn id="8" dur="750" fill="hold"/>
                                        <p:tgtEl>
                                          <p:spTgt spid="14"/>
                                        </p:tgtEl>
                                        <p:attrNameLst>
                                          <p:attrName>ppt_x</p:attrName>
                                        </p:attrNameLst>
                                      </p:cBhvr>
                                      <p:tavLst>
                                        <p:tav tm="0">
                                          <p:val>
                                            <p:strVal val="#ppt_x"/>
                                          </p:val>
                                        </p:tav>
                                        <p:tav tm="100000">
                                          <p:val>
                                            <p:strVal val="#ppt_x"/>
                                          </p:val>
                                        </p:tav>
                                      </p:tavLst>
                                    </p:anim>
                                    <p:anim calcmode="lin" valueType="num">
                                      <p:cBhvr>
                                        <p:cTn id="9" dur="75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Flor de color rosa&#10;&#10;Descripción generada automáticamente">
            <a:extLst>
              <a:ext uri="{FF2B5EF4-FFF2-40B4-BE49-F238E27FC236}">
                <a16:creationId xmlns:a16="http://schemas.microsoft.com/office/drawing/2014/main" id="{EDD48448-CDED-EC51-1FFE-E1969D012C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9144000" cy="6451134"/>
          </a:xfrm>
          <a:prstGeom prst="rect">
            <a:avLst/>
          </a:prstGeom>
        </p:spPr>
      </p:pic>
      <p:sp>
        <p:nvSpPr>
          <p:cNvPr id="5" name="Rectángulo: esquinas redondeadas 4">
            <a:extLst>
              <a:ext uri="{FF2B5EF4-FFF2-40B4-BE49-F238E27FC236}">
                <a16:creationId xmlns:a16="http://schemas.microsoft.com/office/drawing/2014/main" id="{3621C778-823D-0DD3-25DE-E6F24995B53D}"/>
              </a:ext>
            </a:extLst>
          </p:cNvPr>
          <p:cNvSpPr/>
          <p:nvPr/>
        </p:nvSpPr>
        <p:spPr>
          <a:xfrm>
            <a:off x="5159234" y="1292744"/>
            <a:ext cx="4139968" cy="2292104"/>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esquinas redondeadas 3">
            <a:extLst>
              <a:ext uri="{FF2B5EF4-FFF2-40B4-BE49-F238E27FC236}">
                <a16:creationId xmlns:a16="http://schemas.microsoft.com/office/drawing/2014/main" id="{C744122B-8806-392F-0753-00AE117D1DA8}"/>
              </a:ext>
            </a:extLst>
          </p:cNvPr>
          <p:cNvSpPr/>
          <p:nvPr/>
        </p:nvSpPr>
        <p:spPr>
          <a:xfrm>
            <a:off x="5058567" y="125971"/>
            <a:ext cx="4240635" cy="973704"/>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E7302F8C-F36F-31BA-7E2A-266BD6341E39}"/>
              </a:ext>
            </a:extLst>
          </p:cNvPr>
          <p:cNvSpPr txBox="1"/>
          <p:nvPr/>
        </p:nvSpPr>
        <p:spPr>
          <a:xfrm>
            <a:off x="4832063" y="207023"/>
            <a:ext cx="4559417" cy="769441"/>
          </a:xfrm>
          <a:prstGeom prst="rect">
            <a:avLst/>
          </a:prstGeom>
          <a:noFill/>
        </p:spPr>
        <p:txBody>
          <a:bodyPr wrap="square">
            <a:spAutoFit/>
          </a:bodyPr>
          <a:lstStyle/>
          <a:p>
            <a:pPr algn="ctr"/>
            <a:r>
              <a:rPr lang="es-MX" sz="4400" b="1">
                <a:solidFill>
                  <a:schemeClr val="bg1"/>
                </a:solidFill>
                <a:latin typeface="Report" panose="02000506020000020003" pitchFamily="2" charset="0"/>
              </a:rPr>
              <a:t>Style</a:t>
            </a:r>
            <a:endParaRPr lang="es-MX" sz="4400" b="1" dirty="0">
              <a:solidFill>
                <a:schemeClr val="bg1"/>
              </a:solidFill>
              <a:latin typeface="Report" panose="02000506020000020003" pitchFamily="2" charset="0"/>
            </a:endParaRPr>
          </a:p>
        </p:txBody>
      </p:sp>
      <p:sp>
        <p:nvSpPr>
          <p:cNvPr id="9" name="Rectángulo 8">
            <a:hlinkClick r:id="rId3"/>
            <a:extLst>
              <a:ext uri="{FF2B5EF4-FFF2-40B4-BE49-F238E27FC236}">
                <a16:creationId xmlns:a16="http://schemas.microsoft.com/office/drawing/2014/main" id="{CFAD37FE-6651-0B04-74F4-34BFBDAC3495}"/>
              </a:ext>
            </a:extLst>
          </p:cNvPr>
          <p:cNvSpPr/>
          <p:nvPr/>
        </p:nvSpPr>
        <p:spPr>
          <a:xfrm>
            <a:off x="8288323" y="6249558"/>
            <a:ext cx="855677" cy="608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9073DFA9-3A5B-8FF5-B58D-42C07FE5A736}"/>
              </a:ext>
            </a:extLst>
          </p:cNvPr>
          <p:cNvSpPr txBox="1"/>
          <p:nvPr/>
        </p:nvSpPr>
        <p:spPr>
          <a:xfrm>
            <a:off x="5524157" y="1469300"/>
            <a:ext cx="3573709" cy="1938992"/>
          </a:xfrm>
          <a:prstGeom prst="rect">
            <a:avLst/>
          </a:prstGeom>
          <a:noFill/>
        </p:spPr>
        <p:txBody>
          <a:bodyPr wrap="square">
            <a:spAutoFit/>
          </a:bodyPr>
          <a:lstStyle/>
          <a:p>
            <a:pPr rtl="0">
              <a:spcBef>
                <a:spcPts val="0"/>
              </a:spcBef>
              <a:spcAft>
                <a:spcPts val="1200"/>
              </a:spcAft>
            </a:pPr>
            <a:r>
              <a:rPr lang="en-US" sz="2400" b="0">
                <a:solidFill>
                  <a:schemeClr val="bg1"/>
                </a:solidFill>
                <a:effectLst/>
                <a:latin typeface="Report" panose="02000506020000020003" pitchFamily="2" charset="0"/>
              </a:rPr>
              <a:t>The style looks like a long stem inside the flower. Its job is to hold up the stigma and make it easier to get to the pollen. </a:t>
            </a:r>
            <a:endParaRPr lang="en-US" sz="2400" b="0" dirty="0">
              <a:solidFill>
                <a:schemeClr val="bg1"/>
              </a:solidFill>
              <a:effectLst/>
              <a:latin typeface="Report" panose="02000506020000020003" pitchFamily="2" charset="0"/>
            </a:endParaRPr>
          </a:p>
        </p:txBody>
      </p:sp>
    </p:spTree>
    <p:extLst>
      <p:ext uri="{BB962C8B-B14F-4D97-AF65-F5344CB8AC3E}">
        <p14:creationId xmlns:p14="http://schemas.microsoft.com/office/powerpoint/2010/main" val="161337262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descr="Imagen que contiene interior, plátano, flor, plato&#10;&#10;Descripción generada automáticamente">
            <a:extLst>
              <a:ext uri="{FF2B5EF4-FFF2-40B4-BE49-F238E27FC236}">
                <a16:creationId xmlns:a16="http://schemas.microsoft.com/office/drawing/2014/main" id="{C8C4F2CC-E806-CEB5-211A-B572704DCD6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3306" y="-1"/>
            <a:ext cx="9764786" cy="6509857"/>
          </a:xfrm>
          <a:prstGeom prst="rect">
            <a:avLst/>
          </a:prstGeom>
        </p:spPr>
      </p:pic>
      <p:sp>
        <p:nvSpPr>
          <p:cNvPr id="5" name="Rectángulo: esquinas redondeadas 4">
            <a:extLst>
              <a:ext uri="{FF2B5EF4-FFF2-40B4-BE49-F238E27FC236}">
                <a16:creationId xmlns:a16="http://schemas.microsoft.com/office/drawing/2014/main" id="{3621C778-823D-0DD3-25DE-E6F24995B53D}"/>
              </a:ext>
            </a:extLst>
          </p:cNvPr>
          <p:cNvSpPr/>
          <p:nvPr/>
        </p:nvSpPr>
        <p:spPr>
          <a:xfrm>
            <a:off x="5176012" y="4217752"/>
            <a:ext cx="4139968" cy="1897822"/>
          </a:xfrm>
          <a:prstGeom prst="roundRect">
            <a:avLst/>
          </a:prstGeom>
          <a:solidFill>
            <a:srgbClr val="A213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esquinas redondeadas 3">
            <a:extLst>
              <a:ext uri="{FF2B5EF4-FFF2-40B4-BE49-F238E27FC236}">
                <a16:creationId xmlns:a16="http://schemas.microsoft.com/office/drawing/2014/main" id="{C744122B-8806-392F-0753-00AE117D1DA8}"/>
              </a:ext>
            </a:extLst>
          </p:cNvPr>
          <p:cNvSpPr/>
          <p:nvPr/>
        </p:nvSpPr>
        <p:spPr>
          <a:xfrm>
            <a:off x="5150845" y="3137358"/>
            <a:ext cx="4240635" cy="973704"/>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E7302F8C-F36F-31BA-7E2A-266BD6341E39}"/>
              </a:ext>
            </a:extLst>
          </p:cNvPr>
          <p:cNvSpPr txBox="1"/>
          <p:nvPr/>
        </p:nvSpPr>
        <p:spPr>
          <a:xfrm>
            <a:off x="4924341" y="3218410"/>
            <a:ext cx="4559417" cy="769441"/>
          </a:xfrm>
          <a:prstGeom prst="rect">
            <a:avLst/>
          </a:prstGeom>
          <a:noFill/>
        </p:spPr>
        <p:txBody>
          <a:bodyPr wrap="square">
            <a:spAutoFit/>
          </a:bodyPr>
          <a:lstStyle/>
          <a:p>
            <a:pPr algn="ctr"/>
            <a:r>
              <a:rPr lang="es-MX" sz="4400" b="1">
                <a:solidFill>
                  <a:schemeClr val="bg1"/>
                </a:solidFill>
                <a:latin typeface="Report" panose="02000506020000020003" pitchFamily="2" charset="0"/>
              </a:rPr>
              <a:t>Anther</a:t>
            </a:r>
            <a:endParaRPr lang="es-MX" sz="4400" b="1" dirty="0">
              <a:solidFill>
                <a:schemeClr val="bg1"/>
              </a:solidFill>
              <a:latin typeface="Report" panose="02000506020000020003" pitchFamily="2" charset="0"/>
            </a:endParaRPr>
          </a:p>
        </p:txBody>
      </p:sp>
      <p:sp>
        <p:nvSpPr>
          <p:cNvPr id="9" name="Rectángulo 8">
            <a:hlinkClick r:id="rId3"/>
            <a:extLst>
              <a:ext uri="{FF2B5EF4-FFF2-40B4-BE49-F238E27FC236}">
                <a16:creationId xmlns:a16="http://schemas.microsoft.com/office/drawing/2014/main" id="{CFAD37FE-6651-0B04-74F4-34BFBDAC3495}"/>
              </a:ext>
            </a:extLst>
          </p:cNvPr>
          <p:cNvSpPr/>
          <p:nvPr/>
        </p:nvSpPr>
        <p:spPr>
          <a:xfrm>
            <a:off x="8288323" y="6249558"/>
            <a:ext cx="855677" cy="608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9073DFA9-3A5B-8FF5-B58D-42C07FE5A736}"/>
              </a:ext>
            </a:extLst>
          </p:cNvPr>
          <p:cNvSpPr txBox="1"/>
          <p:nvPr/>
        </p:nvSpPr>
        <p:spPr>
          <a:xfrm>
            <a:off x="5570291" y="4465660"/>
            <a:ext cx="3573709" cy="1569660"/>
          </a:xfrm>
          <a:prstGeom prst="rect">
            <a:avLst/>
          </a:prstGeom>
          <a:noFill/>
        </p:spPr>
        <p:txBody>
          <a:bodyPr wrap="square">
            <a:spAutoFit/>
          </a:bodyPr>
          <a:lstStyle/>
          <a:p>
            <a:pPr rtl="0">
              <a:spcBef>
                <a:spcPts val="0"/>
              </a:spcBef>
              <a:spcAft>
                <a:spcPts val="1200"/>
              </a:spcAft>
            </a:pPr>
            <a:r>
              <a:rPr lang="en-US" sz="2400" b="0">
                <a:solidFill>
                  <a:schemeClr val="bg1"/>
                </a:solidFill>
                <a:effectLst/>
                <a:latin typeface="Report" panose="02000506020000020003" pitchFamily="2" charset="0"/>
              </a:rPr>
              <a:t>The anther makes the pollen. This pollen is taken to another plant by an insect to pollinate it. </a:t>
            </a:r>
            <a:endParaRPr lang="en-US" sz="2400" b="0" dirty="0">
              <a:solidFill>
                <a:schemeClr val="bg1"/>
              </a:solidFill>
              <a:effectLst/>
              <a:latin typeface="Report" panose="02000506020000020003" pitchFamily="2" charset="0"/>
            </a:endParaRPr>
          </a:p>
        </p:txBody>
      </p:sp>
    </p:spTree>
    <p:extLst>
      <p:ext uri="{BB962C8B-B14F-4D97-AF65-F5344CB8AC3E}">
        <p14:creationId xmlns:p14="http://schemas.microsoft.com/office/powerpoint/2010/main" val="202262012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50" fill="hold"/>
                                        <p:tgtEl>
                                          <p:spTgt spid="7"/>
                                        </p:tgtEl>
                                        <p:attrNameLst>
                                          <p:attrName>ppt_x</p:attrName>
                                        </p:attrNameLst>
                                      </p:cBhvr>
                                      <p:tavLst>
                                        <p:tav tm="0">
                                          <p:val>
                                            <p:strVal val="0-#ppt_w/2"/>
                                          </p:val>
                                        </p:tav>
                                        <p:tav tm="100000">
                                          <p:val>
                                            <p:strVal val="#ppt_x"/>
                                          </p:val>
                                        </p:tav>
                                      </p:tavLst>
                                    </p:anim>
                                    <p:anim calcmode="lin" valueType="num">
                                      <p:cBhvr additive="base">
                                        <p:cTn id="8" dur="25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esquinas redondeadas 11">
            <a:extLst>
              <a:ext uri="{FF2B5EF4-FFF2-40B4-BE49-F238E27FC236}">
                <a16:creationId xmlns:a16="http://schemas.microsoft.com/office/drawing/2014/main" id="{2D5AC396-087E-DE1B-E84C-4295A6AA4C09}"/>
              </a:ext>
            </a:extLst>
          </p:cNvPr>
          <p:cNvSpPr/>
          <p:nvPr/>
        </p:nvSpPr>
        <p:spPr>
          <a:xfrm>
            <a:off x="-283129" y="-1285493"/>
            <a:ext cx="9710257" cy="2570985"/>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ángulo 8">
            <a:hlinkClick r:id="rId2"/>
            <a:extLst>
              <a:ext uri="{FF2B5EF4-FFF2-40B4-BE49-F238E27FC236}">
                <a16:creationId xmlns:a16="http://schemas.microsoft.com/office/drawing/2014/main" id="{CFAD37FE-6651-0B04-74F4-34BFBDAC3495}"/>
              </a:ext>
            </a:extLst>
          </p:cNvPr>
          <p:cNvSpPr/>
          <p:nvPr/>
        </p:nvSpPr>
        <p:spPr>
          <a:xfrm>
            <a:off x="8288323" y="6249558"/>
            <a:ext cx="855677" cy="608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9073DFA9-3A5B-8FF5-B58D-42C07FE5A736}"/>
              </a:ext>
            </a:extLst>
          </p:cNvPr>
          <p:cNvSpPr txBox="1"/>
          <p:nvPr/>
        </p:nvSpPr>
        <p:spPr>
          <a:xfrm>
            <a:off x="3604217" y="1728954"/>
            <a:ext cx="4684106" cy="1938992"/>
          </a:xfrm>
          <a:prstGeom prst="rect">
            <a:avLst/>
          </a:prstGeom>
          <a:noFill/>
        </p:spPr>
        <p:txBody>
          <a:bodyPr wrap="square">
            <a:spAutoFit/>
          </a:bodyPr>
          <a:lstStyle/>
          <a:p>
            <a:pPr algn="ctr" rtl="0">
              <a:spcBef>
                <a:spcPts val="0"/>
              </a:spcBef>
              <a:spcAft>
                <a:spcPts val="1200"/>
              </a:spcAft>
            </a:pPr>
            <a:r>
              <a:rPr lang="en-US" sz="4000" b="0" dirty="0">
                <a:effectLst/>
                <a:latin typeface="Report" panose="02000506020000020003" pitchFamily="2" charset="0"/>
              </a:rPr>
              <a:t>Tell your partner where the pollen is taken to on the other plant. </a:t>
            </a:r>
          </a:p>
        </p:txBody>
      </p:sp>
      <p:sp>
        <p:nvSpPr>
          <p:cNvPr id="3" name="Elipse 2">
            <a:extLst>
              <a:ext uri="{FF2B5EF4-FFF2-40B4-BE49-F238E27FC236}">
                <a16:creationId xmlns:a16="http://schemas.microsoft.com/office/drawing/2014/main" id="{18CD5D4D-CA8A-2A50-46BE-2CF2C06FCBC4}"/>
              </a:ext>
            </a:extLst>
          </p:cNvPr>
          <p:cNvSpPr/>
          <p:nvPr/>
        </p:nvSpPr>
        <p:spPr>
          <a:xfrm>
            <a:off x="562063" y="297023"/>
            <a:ext cx="1751573" cy="1751573"/>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2" name="Google Shape;45;p1">
            <a:extLst>
              <a:ext uri="{FF2B5EF4-FFF2-40B4-BE49-F238E27FC236}">
                <a16:creationId xmlns:a16="http://schemas.microsoft.com/office/drawing/2014/main" id="{0B24AF49-8199-F1BE-3EE0-82DD4097B35F}"/>
              </a:ext>
            </a:extLst>
          </p:cNvPr>
          <p:cNvPicPr preferRelativeResize="0"/>
          <p:nvPr/>
        </p:nvPicPr>
        <p:blipFill rotWithShape="1">
          <a:blip r:embed="rId3">
            <a:alphaModFix/>
          </a:blip>
          <a:srcRect/>
          <a:stretch/>
        </p:blipFill>
        <p:spPr>
          <a:xfrm>
            <a:off x="880845" y="628349"/>
            <a:ext cx="1024938" cy="1100605"/>
          </a:xfrm>
          <a:prstGeom prst="rect">
            <a:avLst/>
          </a:prstGeom>
          <a:noFill/>
          <a:ln>
            <a:noFill/>
          </a:ln>
        </p:spPr>
      </p:pic>
      <p:sp>
        <p:nvSpPr>
          <p:cNvPr id="6" name="CuadroTexto 5">
            <a:extLst>
              <a:ext uri="{FF2B5EF4-FFF2-40B4-BE49-F238E27FC236}">
                <a16:creationId xmlns:a16="http://schemas.microsoft.com/office/drawing/2014/main" id="{E7302F8C-F36F-31BA-7E2A-266BD6341E39}"/>
              </a:ext>
            </a:extLst>
          </p:cNvPr>
          <p:cNvSpPr txBox="1"/>
          <p:nvPr/>
        </p:nvSpPr>
        <p:spPr>
          <a:xfrm>
            <a:off x="2183234" y="157147"/>
            <a:ext cx="4559417" cy="1015663"/>
          </a:xfrm>
          <a:prstGeom prst="rect">
            <a:avLst/>
          </a:prstGeom>
          <a:noFill/>
        </p:spPr>
        <p:txBody>
          <a:bodyPr wrap="square">
            <a:spAutoFit/>
          </a:bodyPr>
          <a:lstStyle/>
          <a:p>
            <a:pPr algn="ctr"/>
            <a:r>
              <a:rPr lang="es-MX" sz="6000" b="1">
                <a:latin typeface="Report" panose="02000506020000020003" pitchFamily="2" charset="0"/>
              </a:rPr>
              <a:t>Turn and Talk</a:t>
            </a:r>
            <a:endParaRPr lang="es-MX" sz="6000" b="1" dirty="0">
              <a:latin typeface="Report" panose="02000506020000020003" pitchFamily="2" charset="0"/>
            </a:endParaRPr>
          </a:p>
        </p:txBody>
      </p:sp>
      <p:pic>
        <p:nvPicPr>
          <p:cNvPr id="5" name="Imagen 4" descr="Flor de color rojo&#10;&#10;Descripción generada automáticamente con confianza media">
            <a:extLst>
              <a:ext uri="{FF2B5EF4-FFF2-40B4-BE49-F238E27FC236}">
                <a16:creationId xmlns:a16="http://schemas.microsoft.com/office/drawing/2014/main" id="{4B46603D-1C5A-487C-058A-F7404EEEF5F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46913" y="3196374"/>
            <a:ext cx="7055141" cy="5183612"/>
          </a:xfrm>
          <a:prstGeom prst="rect">
            <a:avLst/>
          </a:prstGeom>
        </p:spPr>
      </p:pic>
    </p:spTree>
    <p:extLst>
      <p:ext uri="{BB962C8B-B14F-4D97-AF65-F5344CB8AC3E}">
        <p14:creationId xmlns:p14="http://schemas.microsoft.com/office/powerpoint/2010/main" val="363578347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Flor de color blanco&#10;&#10;Descripción generada automáticamente">
            <a:extLst>
              <a:ext uri="{FF2B5EF4-FFF2-40B4-BE49-F238E27FC236}">
                <a16:creationId xmlns:a16="http://schemas.microsoft.com/office/drawing/2014/main" id="{7870F6B9-0892-48C6-5EF2-B9203F5E71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5167"/>
            <a:ext cx="9144000" cy="6484690"/>
          </a:xfrm>
          <a:prstGeom prst="rect">
            <a:avLst/>
          </a:prstGeom>
        </p:spPr>
      </p:pic>
      <p:sp>
        <p:nvSpPr>
          <p:cNvPr id="5" name="Rectángulo: esquinas redondeadas 4">
            <a:extLst>
              <a:ext uri="{FF2B5EF4-FFF2-40B4-BE49-F238E27FC236}">
                <a16:creationId xmlns:a16="http://schemas.microsoft.com/office/drawing/2014/main" id="{3621C778-823D-0DD3-25DE-E6F24995B53D}"/>
              </a:ext>
            </a:extLst>
          </p:cNvPr>
          <p:cNvSpPr/>
          <p:nvPr/>
        </p:nvSpPr>
        <p:spPr>
          <a:xfrm>
            <a:off x="5039688" y="1274602"/>
            <a:ext cx="4139968" cy="2181422"/>
          </a:xfrm>
          <a:prstGeom prst="roundRect">
            <a:avLst/>
          </a:prstGeom>
          <a:solidFill>
            <a:srgbClr val="4DB1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esquinas redondeadas 3">
            <a:extLst>
              <a:ext uri="{FF2B5EF4-FFF2-40B4-BE49-F238E27FC236}">
                <a16:creationId xmlns:a16="http://schemas.microsoft.com/office/drawing/2014/main" id="{C744122B-8806-392F-0753-00AE117D1DA8}"/>
              </a:ext>
            </a:extLst>
          </p:cNvPr>
          <p:cNvSpPr/>
          <p:nvPr/>
        </p:nvSpPr>
        <p:spPr>
          <a:xfrm>
            <a:off x="4989355" y="171742"/>
            <a:ext cx="4240635" cy="973704"/>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E7302F8C-F36F-31BA-7E2A-266BD6341E39}"/>
              </a:ext>
            </a:extLst>
          </p:cNvPr>
          <p:cNvSpPr txBox="1"/>
          <p:nvPr/>
        </p:nvSpPr>
        <p:spPr>
          <a:xfrm>
            <a:off x="4832063" y="273874"/>
            <a:ext cx="4559417" cy="769441"/>
          </a:xfrm>
          <a:prstGeom prst="rect">
            <a:avLst/>
          </a:prstGeom>
          <a:noFill/>
        </p:spPr>
        <p:txBody>
          <a:bodyPr wrap="square">
            <a:spAutoFit/>
          </a:bodyPr>
          <a:lstStyle/>
          <a:p>
            <a:pPr algn="ctr"/>
            <a:r>
              <a:rPr lang="es-MX" sz="4400" b="1">
                <a:solidFill>
                  <a:schemeClr val="bg1"/>
                </a:solidFill>
                <a:latin typeface="Report" panose="02000506020000020003" pitchFamily="2" charset="0"/>
              </a:rPr>
              <a:t>Filament</a:t>
            </a:r>
            <a:endParaRPr lang="es-MX" sz="4400" b="1" dirty="0">
              <a:solidFill>
                <a:schemeClr val="bg1"/>
              </a:solidFill>
              <a:latin typeface="Report" panose="02000506020000020003" pitchFamily="2" charset="0"/>
            </a:endParaRPr>
          </a:p>
        </p:txBody>
      </p:sp>
      <p:sp>
        <p:nvSpPr>
          <p:cNvPr id="9" name="Rectángulo 8">
            <a:hlinkClick r:id="rId3"/>
            <a:extLst>
              <a:ext uri="{FF2B5EF4-FFF2-40B4-BE49-F238E27FC236}">
                <a16:creationId xmlns:a16="http://schemas.microsoft.com/office/drawing/2014/main" id="{CFAD37FE-6651-0B04-74F4-34BFBDAC3495}"/>
              </a:ext>
            </a:extLst>
          </p:cNvPr>
          <p:cNvSpPr/>
          <p:nvPr/>
        </p:nvSpPr>
        <p:spPr>
          <a:xfrm>
            <a:off x="8288323" y="6249558"/>
            <a:ext cx="855677" cy="608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9073DFA9-3A5B-8FF5-B58D-42C07FE5A736}"/>
              </a:ext>
            </a:extLst>
          </p:cNvPr>
          <p:cNvSpPr txBox="1"/>
          <p:nvPr/>
        </p:nvSpPr>
        <p:spPr>
          <a:xfrm>
            <a:off x="5373151" y="1447994"/>
            <a:ext cx="3573709" cy="1938992"/>
          </a:xfrm>
          <a:prstGeom prst="rect">
            <a:avLst/>
          </a:prstGeom>
          <a:noFill/>
        </p:spPr>
        <p:txBody>
          <a:bodyPr wrap="square">
            <a:spAutoFit/>
          </a:bodyPr>
          <a:lstStyle/>
          <a:p>
            <a:pPr rtl="0">
              <a:spcBef>
                <a:spcPts val="0"/>
              </a:spcBef>
              <a:spcAft>
                <a:spcPts val="1200"/>
              </a:spcAft>
            </a:pPr>
            <a:r>
              <a:rPr lang="en-US" sz="2400" b="0">
                <a:solidFill>
                  <a:schemeClr val="bg1"/>
                </a:solidFill>
                <a:effectLst/>
                <a:latin typeface="Report" panose="02000506020000020003" pitchFamily="2" charset="0"/>
              </a:rPr>
              <a:t>The filament holds up the anther to help insects reach it. If the anther is too low, an insect won’t be able to get pollen. </a:t>
            </a:r>
            <a:endParaRPr lang="en-US" sz="2400" b="0" dirty="0">
              <a:solidFill>
                <a:schemeClr val="bg1"/>
              </a:solidFill>
              <a:effectLst/>
              <a:latin typeface="Report" panose="02000506020000020003" pitchFamily="2" charset="0"/>
            </a:endParaRPr>
          </a:p>
        </p:txBody>
      </p:sp>
    </p:spTree>
    <p:extLst>
      <p:ext uri="{BB962C8B-B14F-4D97-AF65-F5344CB8AC3E}">
        <p14:creationId xmlns:p14="http://schemas.microsoft.com/office/powerpoint/2010/main" val="31640548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esquinas redondeadas 11">
            <a:extLst>
              <a:ext uri="{FF2B5EF4-FFF2-40B4-BE49-F238E27FC236}">
                <a16:creationId xmlns:a16="http://schemas.microsoft.com/office/drawing/2014/main" id="{2D5AC396-087E-DE1B-E84C-4295A6AA4C09}"/>
              </a:ext>
            </a:extLst>
          </p:cNvPr>
          <p:cNvSpPr/>
          <p:nvPr/>
        </p:nvSpPr>
        <p:spPr>
          <a:xfrm>
            <a:off x="-283129" y="-1285493"/>
            <a:ext cx="9710257" cy="2570985"/>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ángulo 8">
            <a:hlinkClick r:id="rId2"/>
            <a:extLst>
              <a:ext uri="{FF2B5EF4-FFF2-40B4-BE49-F238E27FC236}">
                <a16:creationId xmlns:a16="http://schemas.microsoft.com/office/drawing/2014/main" id="{CFAD37FE-6651-0B04-74F4-34BFBDAC3495}"/>
              </a:ext>
            </a:extLst>
          </p:cNvPr>
          <p:cNvSpPr/>
          <p:nvPr/>
        </p:nvSpPr>
        <p:spPr>
          <a:xfrm>
            <a:off x="8288323" y="6249558"/>
            <a:ext cx="855677" cy="608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9073DFA9-3A5B-8FF5-B58D-42C07FE5A736}"/>
              </a:ext>
            </a:extLst>
          </p:cNvPr>
          <p:cNvSpPr txBox="1"/>
          <p:nvPr/>
        </p:nvSpPr>
        <p:spPr>
          <a:xfrm>
            <a:off x="2018697" y="2188472"/>
            <a:ext cx="5288113" cy="1938992"/>
          </a:xfrm>
          <a:prstGeom prst="rect">
            <a:avLst/>
          </a:prstGeom>
          <a:noFill/>
        </p:spPr>
        <p:txBody>
          <a:bodyPr wrap="square">
            <a:spAutoFit/>
          </a:bodyPr>
          <a:lstStyle/>
          <a:p>
            <a:pPr algn="ctr" rtl="0">
              <a:spcBef>
                <a:spcPts val="0"/>
              </a:spcBef>
              <a:spcAft>
                <a:spcPts val="1200"/>
              </a:spcAft>
            </a:pPr>
            <a:r>
              <a:rPr lang="en-US" sz="4000" b="0" dirty="0">
                <a:effectLst/>
                <a:latin typeface="Report" panose="02000506020000020003" pitchFamily="2" charset="0"/>
              </a:rPr>
              <a:t>What would happen if an insect couldn’t collect pollen from a flower?</a:t>
            </a:r>
          </a:p>
        </p:txBody>
      </p:sp>
      <p:sp>
        <p:nvSpPr>
          <p:cNvPr id="3" name="Elipse 2">
            <a:extLst>
              <a:ext uri="{FF2B5EF4-FFF2-40B4-BE49-F238E27FC236}">
                <a16:creationId xmlns:a16="http://schemas.microsoft.com/office/drawing/2014/main" id="{18CD5D4D-CA8A-2A50-46BE-2CF2C06FCBC4}"/>
              </a:ext>
            </a:extLst>
          </p:cNvPr>
          <p:cNvSpPr/>
          <p:nvPr/>
        </p:nvSpPr>
        <p:spPr>
          <a:xfrm>
            <a:off x="562063" y="297023"/>
            <a:ext cx="1751573" cy="1751573"/>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2" name="Google Shape;45;p1">
            <a:extLst>
              <a:ext uri="{FF2B5EF4-FFF2-40B4-BE49-F238E27FC236}">
                <a16:creationId xmlns:a16="http://schemas.microsoft.com/office/drawing/2014/main" id="{0B24AF49-8199-F1BE-3EE0-82DD4097B35F}"/>
              </a:ext>
            </a:extLst>
          </p:cNvPr>
          <p:cNvPicPr preferRelativeResize="0"/>
          <p:nvPr/>
        </p:nvPicPr>
        <p:blipFill rotWithShape="1">
          <a:blip r:embed="rId3">
            <a:alphaModFix/>
          </a:blip>
          <a:srcRect/>
          <a:stretch/>
        </p:blipFill>
        <p:spPr>
          <a:xfrm>
            <a:off x="880845" y="628349"/>
            <a:ext cx="1024938" cy="1100605"/>
          </a:xfrm>
          <a:prstGeom prst="rect">
            <a:avLst/>
          </a:prstGeom>
          <a:noFill/>
          <a:ln>
            <a:noFill/>
          </a:ln>
        </p:spPr>
      </p:pic>
      <p:sp>
        <p:nvSpPr>
          <p:cNvPr id="6" name="CuadroTexto 5">
            <a:extLst>
              <a:ext uri="{FF2B5EF4-FFF2-40B4-BE49-F238E27FC236}">
                <a16:creationId xmlns:a16="http://schemas.microsoft.com/office/drawing/2014/main" id="{E7302F8C-F36F-31BA-7E2A-266BD6341E39}"/>
              </a:ext>
            </a:extLst>
          </p:cNvPr>
          <p:cNvSpPr txBox="1"/>
          <p:nvPr/>
        </p:nvSpPr>
        <p:spPr>
          <a:xfrm>
            <a:off x="2183234" y="157147"/>
            <a:ext cx="4559417" cy="1015663"/>
          </a:xfrm>
          <a:prstGeom prst="rect">
            <a:avLst/>
          </a:prstGeom>
          <a:noFill/>
        </p:spPr>
        <p:txBody>
          <a:bodyPr wrap="square">
            <a:spAutoFit/>
          </a:bodyPr>
          <a:lstStyle/>
          <a:p>
            <a:pPr algn="ctr"/>
            <a:r>
              <a:rPr lang="es-MX" sz="6000" b="1">
                <a:latin typeface="Report" panose="02000506020000020003" pitchFamily="2" charset="0"/>
              </a:rPr>
              <a:t>Turn and Talk</a:t>
            </a:r>
            <a:endParaRPr lang="es-MX" sz="6000" b="1" dirty="0">
              <a:latin typeface="Report" panose="02000506020000020003" pitchFamily="2" charset="0"/>
            </a:endParaRPr>
          </a:p>
        </p:txBody>
      </p:sp>
      <p:pic>
        <p:nvPicPr>
          <p:cNvPr id="10" name="Imagen 9" descr="Flor de color rojo&#10;&#10;Descripción generada automáticamente con confianza media">
            <a:extLst>
              <a:ext uri="{FF2B5EF4-FFF2-40B4-BE49-F238E27FC236}">
                <a16:creationId xmlns:a16="http://schemas.microsoft.com/office/drawing/2014/main" id="{9F9F0BC7-3D76-91C4-2644-AF3743E4C13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99251" y="4546834"/>
            <a:ext cx="3895494" cy="2862130"/>
          </a:xfrm>
          <a:prstGeom prst="rect">
            <a:avLst/>
          </a:prstGeom>
        </p:spPr>
      </p:pic>
    </p:spTree>
    <p:extLst>
      <p:ext uri="{BB962C8B-B14F-4D97-AF65-F5344CB8AC3E}">
        <p14:creationId xmlns:p14="http://schemas.microsoft.com/office/powerpoint/2010/main" val="87325290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esquinas redondeadas 3">
            <a:extLst>
              <a:ext uri="{FF2B5EF4-FFF2-40B4-BE49-F238E27FC236}">
                <a16:creationId xmlns:a16="http://schemas.microsoft.com/office/drawing/2014/main" id="{C744122B-8806-392F-0753-00AE117D1DA8}"/>
              </a:ext>
            </a:extLst>
          </p:cNvPr>
          <p:cNvSpPr/>
          <p:nvPr/>
        </p:nvSpPr>
        <p:spPr>
          <a:xfrm>
            <a:off x="3229761" y="171742"/>
            <a:ext cx="6000229" cy="973704"/>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E7302F8C-F36F-31BA-7E2A-266BD6341E39}"/>
              </a:ext>
            </a:extLst>
          </p:cNvPr>
          <p:cNvSpPr txBox="1"/>
          <p:nvPr/>
        </p:nvSpPr>
        <p:spPr>
          <a:xfrm>
            <a:off x="3521277" y="273873"/>
            <a:ext cx="5708713" cy="769441"/>
          </a:xfrm>
          <a:prstGeom prst="rect">
            <a:avLst/>
          </a:prstGeom>
          <a:noFill/>
        </p:spPr>
        <p:txBody>
          <a:bodyPr wrap="square">
            <a:spAutoFit/>
          </a:bodyPr>
          <a:lstStyle/>
          <a:p>
            <a:pPr algn="ctr"/>
            <a:r>
              <a:rPr lang="es-MX" sz="4400" b="1">
                <a:solidFill>
                  <a:schemeClr val="bg1"/>
                </a:solidFill>
                <a:latin typeface="Report" panose="02000506020000020003" pitchFamily="2" charset="0"/>
              </a:rPr>
              <a:t>Insects in Pollination</a:t>
            </a:r>
            <a:endParaRPr lang="es-MX" sz="4400" b="1" dirty="0">
              <a:solidFill>
                <a:schemeClr val="bg1"/>
              </a:solidFill>
              <a:latin typeface="Report" panose="02000506020000020003" pitchFamily="2" charset="0"/>
            </a:endParaRPr>
          </a:p>
        </p:txBody>
      </p:sp>
      <p:sp>
        <p:nvSpPr>
          <p:cNvPr id="9" name="Rectángulo 8">
            <a:hlinkClick r:id="rId2"/>
            <a:extLst>
              <a:ext uri="{FF2B5EF4-FFF2-40B4-BE49-F238E27FC236}">
                <a16:creationId xmlns:a16="http://schemas.microsoft.com/office/drawing/2014/main" id="{CFAD37FE-6651-0B04-74F4-34BFBDAC3495}"/>
              </a:ext>
            </a:extLst>
          </p:cNvPr>
          <p:cNvSpPr/>
          <p:nvPr/>
        </p:nvSpPr>
        <p:spPr>
          <a:xfrm>
            <a:off x="8288323" y="6249558"/>
            <a:ext cx="855677" cy="608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9073DFA9-3A5B-8FF5-B58D-42C07FE5A736}"/>
              </a:ext>
            </a:extLst>
          </p:cNvPr>
          <p:cNvSpPr txBox="1"/>
          <p:nvPr/>
        </p:nvSpPr>
        <p:spPr>
          <a:xfrm>
            <a:off x="616593" y="1490008"/>
            <a:ext cx="7915011" cy="1723549"/>
          </a:xfrm>
          <a:prstGeom prst="rect">
            <a:avLst/>
          </a:prstGeom>
          <a:noFill/>
        </p:spPr>
        <p:txBody>
          <a:bodyPr wrap="square">
            <a:spAutoFit/>
          </a:bodyPr>
          <a:lstStyle/>
          <a:p>
            <a:pPr rtl="0">
              <a:spcBef>
                <a:spcPts val="0"/>
              </a:spcBef>
              <a:spcAft>
                <a:spcPts val="1200"/>
              </a:spcAft>
            </a:pPr>
            <a:r>
              <a:rPr lang="en-US" sz="2400" b="0">
                <a:effectLst/>
                <a:latin typeface="Report" panose="02000506020000020003" pitchFamily="2" charset="0"/>
              </a:rPr>
              <a:t>Insects are a very important part of pollination. They help pollen go from one plant to another. </a:t>
            </a:r>
          </a:p>
          <a:p>
            <a:pPr rtl="0">
              <a:spcBef>
                <a:spcPts val="0"/>
              </a:spcBef>
              <a:spcAft>
                <a:spcPts val="1200"/>
              </a:spcAft>
            </a:pPr>
            <a:r>
              <a:rPr lang="en-US" sz="2400" b="0">
                <a:effectLst/>
                <a:latin typeface="Report" panose="02000506020000020003" pitchFamily="2" charset="0"/>
              </a:rPr>
              <a:t>However, they do not do their job on purpose. They are just looking for food. </a:t>
            </a:r>
            <a:endParaRPr lang="en-US" sz="2400" b="0" dirty="0">
              <a:effectLst/>
              <a:latin typeface="Report" panose="02000506020000020003" pitchFamily="2" charset="0"/>
            </a:endParaRPr>
          </a:p>
        </p:txBody>
      </p:sp>
      <p:pic>
        <p:nvPicPr>
          <p:cNvPr id="7" name="Imagen 6" descr="Una flor amarilla&#10;&#10;Descripción generada automáticamente">
            <a:extLst>
              <a:ext uri="{FF2B5EF4-FFF2-40B4-BE49-F238E27FC236}">
                <a16:creationId xmlns:a16="http://schemas.microsoft.com/office/drawing/2014/main" id="{DEA76CFC-AB3F-7AA0-6939-24697FBCC52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1491" r="20711"/>
          <a:stretch/>
        </p:blipFill>
        <p:spPr>
          <a:xfrm>
            <a:off x="2978092" y="3345419"/>
            <a:ext cx="3397541" cy="3340839"/>
          </a:xfrm>
          <a:prstGeom prst="flowChartConnector">
            <a:avLst/>
          </a:prstGeom>
        </p:spPr>
      </p:pic>
    </p:spTree>
    <p:extLst>
      <p:ext uri="{BB962C8B-B14F-4D97-AF65-F5344CB8AC3E}">
        <p14:creationId xmlns:p14="http://schemas.microsoft.com/office/powerpoint/2010/main" val="25375495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50" fill="hold"/>
                                        <p:tgtEl>
                                          <p:spTgt spid="7"/>
                                        </p:tgtEl>
                                        <p:attrNameLst>
                                          <p:attrName>ppt_x</p:attrName>
                                        </p:attrNameLst>
                                      </p:cBhvr>
                                      <p:tavLst>
                                        <p:tav tm="0">
                                          <p:val>
                                            <p:strVal val="#ppt_x"/>
                                          </p:val>
                                        </p:tav>
                                        <p:tav tm="100000">
                                          <p:val>
                                            <p:strVal val="#ppt_x"/>
                                          </p:val>
                                        </p:tav>
                                      </p:tavLst>
                                    </p:anim>
                                    <p:anim calcmode="lin" valueType="num">
                                      <p:cBhvr additive="base">
                                        <p:cTn id="8" dur="25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esquinas redondeadas 3">
            <a:extLst>
              <a:ext uri="{FF2B5EF4-FFF2-40B4-BE49-F238E27FC236}">
                <a16:creationId xmlns:a16="http://schemas.microsoft.com/office/drawing/2014/main" id="{C744122B-8806-392F-0753-00AE117D1DA8}"/>
              </a:ext>
            </a:extLst>
          </p:cNvPr>
          <p:cNvSpPr/>
          <p:nvPr/>
        </p:nvSpPr>
        <p:spPr>
          <a:xfrm>
            <a:off x="-134223" y="205298"/>
            <a:ext cx="5234730" cy="633601"/>
          </a:xfrm>
          <a:prstGeom prst="roundRect">
            <a:avLst/>
          </a:prstGeom>
          <a:solidFill>
            <a:srgbClr val="4DB1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E7302F8C-F36F-31BA-7E2A-266BD6341E39}"/>
              </a:ext>
            </a:extLst>
          </p:cNvPr>
          <p:cNvSpPr txBox="1"/>
          <p:nvPr/>
        </p:nvSpPr>
        <p:spPr>
          <a:xfrm>
            <a:off x="-298860" y="137377"/>
            <a:ext cx="5708713" cy="769441"/>
          </a:xfrm>
          <a:prstGeom prst="rect">
            <a:avLst/>
          </a:prstGeom>
          <a:solidFill>
            <a:schemeClr val="accent4">
              <a:lumMod val="50000"/>
            </a:schemeClr>
          </a:solidFill>
        </p:spPr>
        <p:txBody>
          <a:bodyPr wrap="square">
            <a:spAutoFit/>
          </a:bodyPr>
          <a:lstStyle/>
          <a:p>
            <a:pPr algn="ctr"/>
            <a:r>
              <a:rPr lang="es-MX" sz="4400" b="1" dirty="0" err="1">
                <a:solidFill>
                  <a:schemeClr val="bg1"/>
                </a:solidFill>
                <a:latin typeface="Report" panose="02000506020000020003" pitchFamily="2" charset="0"/>
              </a:rPr>
              <a:t>Other</a:t>
            </a:r>
            <a:r>
              <a:rPr lang="es-MX" sz="4400" b="1" dirty="0">
                <a:solidFill>
                  <a:schemeClr val="bg1"/>
                </a:solidFill>
                <a:latin typeface="Report" panose="02000506020000020003" pitchFamily="2" charset="0"/>
              </a:rPr>
              <a:t> </a:t>
            </a:r>
            <a:r>
              <a:rPr lang="es-MX" sz="4400" b="1" dirty="0" err="1">
                <a:solidFill>
                  <a:schemeClr val="bg1"/>
                </a:solidFill>
                <a:latin typeface="Report" panose="02000506020000020003" pitchFamily="2" charset="0"/>
              </a:rPr>
              <a:t>Pollinators</a:t>
            </a:r>
            <a:endParaRPr lang="es-MX" sz="4400" b="1" dirty="0">
              <a:solidFill>
                <a:schemeClr val="bg1"/>
              </a:solidFill>
              <a:latin typeface="Report" panose="02000506020000020003" pitchFamily="2" charset="0"/>
            </a:endParaRPr>
          </a:p>
        </p:txBody>
      </p:sp>
      <p:sp>
        <p:nvSpPr>
          <p:cNvPr id="9" name="Rectángulo 8">
            <a:hlinkClick r:id="rId2"/>
            <a:extLst>
              <a:ext uri="{FF2B5EF4-FFF2-40B4-BE49-F238E27FC236}">
                <a16:creationId xmlns:a16="http://schemas.microsoft.com/office/drawing/2014/main" id="{CFAD37FE-6651-0B04-74F4-34BFBDAC3495}"/>
              </a:ext>
            </a:extLst>
          </p:cNvPr>
          <p:cNvSpPr/>
          <p:nvPr/>
        </p:nvSpPr>
        <p:spPr>
          <a:xfrm>
            <a:off x="8288323" y="6249558"/>
            <a:ext cx="855677" cy="608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9073DFA9-3A5B-8FF5-B58D-42C07FE5A736}"/>
              </a:ext>
            </a:extLst>
          </p:cNvPr>
          <p:cNvSpPr txBox="1"/>
          <p:nvPr/>
        </p:nvSpPr>
        <p:spPr>
          <a:xfrm>
            <a:off x="666928" y="1700583"/>
            <a:ext cx="3217176" cy="3785652"/>
          </a:xfrm>
          <a:prstGeom prst="rect">
            <a:avLst/>
          </a:prstGeom>
          <a:noFill/>
        </p:spPr>
        <p:txBody>
          <a:bodyPr wrap="square">
            <a:spAutoFit/>
          </a:bodyPr>
          <a:lstStyle/>
          <a:p>
            <a:pPr rtl="0">
              <a:spcBef>
                <a:spcPts val="0"/>
              </a:spcBef>
              <a:spcAft>
                <a:spcPts val="1200"/>
              </a:spcAft>
            </a:pPr>
            <a:r>
              <a:rPr lang="en-US" sz="2000" b="0" dirty="0">
                <a:effectLst/>
                <a:latin typeface="Report" panose="02000506020000020003" pitchFamily="2" charset="0"/>
              </a:rPr>
              <a:t>Insects are not the only pollinators. </a:t>
            </a:r>
          </a:p>
          <a:p>
            <a:pPr rtl="0">
              <a:spcBef>
                <a:spcPts val="0"/>
              </a:spcBef>
              <a:spcAft>
                <a:spcPts val="1200"/>
              </a:spcAft>
            </a:pPr>
            <a:r>
              <a:rPr lang="en-US" sz="2000" b="0" dirty="0">
                <a:effectLst/>
                <a:latin typeface="Report" panose="02000506020000020003" pitchFamily="2" charset="0"/>
              </a:rPr>
              <a:t>Hummingbirds love to eat the nectar from plants like bee balm and honeysuckle. Just like insects, they pick up pollen and take it to other plants. </a:t>
            </a:r>
          </a:p>
          <a:p>
            <a:pPr rtl="0">
              <a:spcBef>
                <a:spcPts val="0"/>
              </a:spcBef>
              <a:spcAft>
                <a:spcPts val="1200"/>
              </a:spcAft>
            </a:pPr>
            <a:r>
              <a:rPr lang="en-US" sz="2000" b="0" dirty="0">
                <a:effectLst/>
                <a:latin typeface="Report" panose="02000506020000020003" pitchFamily="2" charset="0"/>
              </a:rPr>
              <a:t>The wind is also a pollinator. When the wind blows, it moves pollen from grass and trees to other plants.</a:t>
            </a:r>
          </a:p>
        </p:txBody>
      </p:sp>
      <p:pic>
        <p:nvPicPr>
          <p:cNvPr id="3" name="Imagen 2" descr="Dibujo de un árbol&#10;&#10;Descripción generada automáticamente con confianza media">
            <a:extLst>
              <a:ext uri="{FF2B5EF4-FFF2-40B4-BE49-F238E27FC236}">
                <a16:creationId xmlns:a16="http://schemas.microsoft.com/office/drawing/2014/main" id="{9EE3AA7E-955E-4187-1F37-A5E83F21ED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33789" y="4268598"/>
            <a:ext cx="3884103" cy="2589402"/>
          </a:xfrm>
          <a:prstGeom prst="round2SameRect">
            <a:avLst/>
          </a:prstGeom>
        </p:spPr>
      </p:pic>
      <p:pic>
        <p:nvPicPr>
          <p:cNvPr id="8" name="Imagen 7" descr="Imagen borrosa de una planta con hojas verdes&#10;&#10;Descripción generada automáticamente con confianza media">
            <a:extLst>
              <a:ext uri="{FF2B5EF4-FFF2-40B4-BE49-F238E27FC236}">
                <a16:creationId xmlns:a16="http://schemas.microsoft.com/office/drawing/2014/main" id="{C7A0D7D1-C878-782D-59DE-7B289D1698E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11943" y="974739"/>
            <a:ext cx="5307600" cy="2987465"/>
          </a:xfrm>
          <a:prstGeom prst="flowChartAlternateProcess">
            <a:avLst/>
          </a:prstGeom>
        </p:spPr>
      </p:pic>
    </p:spTree>
    <p:extLst>
      <p:ext uri="{BB962C8B-B14F-4D97-AF65-F5344CB8AC3E}">
        <p14:creationId xmlns:p14="http://schemas.microsoft.com/office/powerpoint/2010/main" val="284575858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anim calcmode="lin" valueType="num">
                                      <p:cBhvr>
                                        <p:cTn id="8" dur="750" fill="hold"/>
                                        <p:tgtEl>
                                          <p:spTgt spid="3"/>
                                        </p:tgtEl>
                                        <p:attrNameLst>
                                          <p:attrName>ppt_x</p:attrName>
                                        </p:attrNameLst>
                                      </p:cBhvr>
                                      <p:tavLst>
                                        <p:tav tm="0">
                                          <p:val>
                                            <p:strVal val="#ppt_x"/>
                                          </p:val>
                                        </p:tav>
                                        <p:tav tm="100000">
                                          <p:val>
                                            <p:strVal val="#ppt_x"/>
                                          </p:val>
                                        </p:tav>
                                      </p:tavLst>
                                    </p:anim>
                                    <p:anim calcmode="lin" valueType="num">
                                      <p:cBhvr>
                                        <p:cTn id="9" dur="75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750"/>
                                        <p:tgtEl>
                                          <p:spTgt spid="8"/>
                                        </p:tgtEl>
                                      </p:cBhvr>
                                    </p:animEffect>
                                    <p:anim calcmode="lin" valueType="num">
                                      <p:cBhvr>
                                        <p:cTn id="14" dur="750" fill="hold"/>
                                        <p:tgtEl>
                                          <p:spTgt spid="8"/>
                                        </p:tgtEl>
                                        <p:attrNameLst>
                                          <p:attrName>ppt_x</p:attrName>
                                        </p:attrNameLst>
                                      </p:cBhvr>
                                      <p:tavLst>
                                        <p:tav tm="0">
                                          <p:val>
                                            <p:strVal val="#ppt_x"/>
                                          </p:val>
                                        </p:tav>
                                        <p:tav tm="100000">
                                          <p:val>
                                            <p:strVal val="#ppt_x"/>
                                          </p:val>
                                        </p:tav>
                                      </p:tavLst>
                                    </p:anim>
                                    <p:anim calcmode="lin" valueType="num">
                                      <p:cBhvr>
                                        <p:cTn id="15" dur="7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esquinas redondeadas 11">
            <a:extLst>
              <a:ext uri="{FF2B5EF4-FFF2-40B4-BE49-F238E27FC236}">
                <a16:creationId xmlns:a16="http://schemas.microsoft.com/office/drawing/2014/main" id="{2D5AC396-087E-DE1B-E84C-4295A6AA4C09}"/>
              </a:ext>
            </a:extLst>
          </p:cNvPr>
          <p:cNvSpPr/>
          <p:nvPr/>
        </p:nvSpPr>
        <p:spPr>
          <a:xfrm>
            <a:off x="-283129" y="-1285493"/>
            <a:ext cx="9710257" cy="2570985"/>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ángulo 8">
            <a:hlinkClick r:id="rId2"/>
            <a:extLst>
              <a:ext uri="{FF2B5EF4-FFF2-40B4-BE49-F238E27FC236}">
                <a16:creationId xmlns:a16="http://schemas.microsoft.com/office/drawing/2014/main" id="{CFAD37FE-6651-0B04-74F4-34BFBDAC3495}"/>
              </a:ext>
            </a:extLst>
          </p:cNvPr>
          <p:cNvSpPr/>
          <p:nvPr/>
        </p:nvSpPr>
        <p:spPr>
          <a:xfrm>
            <a:off x="8288323" y="6249558"/>
            <a:ext cx="855677" cy="608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9073DFA9-3A5B-8FF5-B58D-42C07FE5A736}"/>
              </a:ext>
            </a:extLst>
          </p:cNvPr>
          <p:cNvSpPr txBox="1"/>
          <p:nvPr/>
        </p:nvSpPr>
        <p:spPr>
          <a:xfrm>
            <a:off x="2018697" y="2188472"/>
            <a:ext cx="5288113" cy="707886"/>
          </a:xfrm>
          <a:prstGeom prst="rect">
            <a:avLst/>
          </a:prstGeom>
          <a:noFill/>
        </p:spPr>
        <p:txBody>
          <a:bodyPr wrap="square">
            <a:spAutoFit/>
          </a:bodyPr>
          <a:lstStyle/>
          <a:p>
            <a:pPr algn="ctr" rtl="0">
              <a:spcBef>
                <a:spcPts val="0"/>
              </a:spcBef>
              <a:spcAft>
                <a:spcPts val="1200"/>
              </a:spcAft>
            </a:pPr>
            <a:r>
              <a:rPr lang="en-US" sz="4000" b="0">
                <a:effectLst/>
                <a:latin typeface="Report" panose="02000506020000020003" pitchFamily="2" charset="0"/>
              </a:rPr>
              <a:t>Name two pollinators.</a:t>
            </a:r>
            <a:endParaRPr lang="en-US" sz="4000" b="0" dirty="0">
              <a:effectLst/>
              <a:latin typeface="Report" panose="02000506020000020003" pitchFamily="2" charset="0"/>
            </a:endParaRPr>
          </a:p>
        </p:txBody>
      </p:sp>
      <p:sp>
        <p:nvSpPr>
          <p:cNvPr id="3" name="Elipse 2">
            <a:extLst>
              <a:ext uri="{FF2B5EF4-FFF2-40B4-BE49-F238E27FC236}">
                <a16:creationId xmlns:a16="http://schemas.microsoft.com/office/drawing/2014/main" id="{18CD5D4D-CA8A-2A50-46BE-2CF2C06FCBC4}"/>
              </a:ext>
            </a:extLst>
          </p:cNvPr>
          <p:cNvSpPr/>
          <p:nvPr/>
        </p:nvSpPr>
        <p:spPr>
          <a:xfrm>
            <a:off x="562063" y="297023"/>
            <a:ext cx="1751573" cy="1751573"/>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2" name="Google Shape;45;p1">
            <a:extLst>
              <a:ext uri="{FF2B5EF4-FFF2-40B4-BE49-F238E27FC236}">
                <a16:creationId xmlns:a16="http://schemas.microsoft.com/office/drawing/2014/main" id="{0B24AF49-8199-F1BE-3EE0-82DD4097B35F}"/>
              </a:ext>
            </a:extLst>
          </p:cNvPr>
          <p:cNvPicPr preferRelativeResize="0"/>
          <p:nvPr/>
        </p:nvPicPr>
        <p:blipFill rotWithShape="1">
          <a:blip r:embed="rId3">
            <a:alphaModFix/>
          </a:blip>
          <a:srcRect/>
          <a:stretch/>
        </p:blipFill>
        <p:spPr>
          <a:xfrm>
            <a:off x="880845" y="628349"/>
            <a:ext cx="1024938" cy="1100605"/>
          </a:xfrm>
          <a:prstGeom prst="rect">
            <a:avLst/>
          </a:prstGeom>
          <a:noFill/>
          <a:ln>
            <a:noFill/>
          </a:ln>
        </p:spPr>
      </p:pic>
      <p:sp>
        <p:nvSpPr>
          <p:cNvPr id="6" name="CuadroTexto 5">
            <a:extLst>
              <a:ext uri="{FF2B5EF4-FFF2-40B4-BE49-F238E27FC236}">
                <a16:creationId xmlns:a16="http://schemas.microsoft.com/office/drawing/2014/main" id="{E7302F8C-F36F-31BA-7E2A-266BD6341E39}"/>
              </a:ext>
            </a:extLst>
          </p:cNvPr>
          <p:cNvSpPr txBox="1"/>
          <p:nvPr/>
        </p:nvSpPr>
        <p:spPr>
          <a:xfrm>
            <a:off x="2183234" y="157147"/>
            <a:ext cx="4559417" cy="1015663"/>
          </a:xfrm>
          <a:prstGeom prst="rect">
            <a:avLst/>
          </a:prstGeom>
          <a:noFill/>
        </p:spPr>
        <p:txBody>
          <a:bodyPr wrap="square">
            <a:spAutoFit/>
          </a:bodyPr>
          <a:lstStyle/>
          <a:p>
            <a:pPr algn="ctr"/>
            <a:r>
              <a:rPr lang="es-MX" sz="6000" b="1">
                <a:latin typeface="Report" panose="02000506020000020003" pitchFamily="2" charset="0"/>
              </a:rPr>
              <a:t>Turn and Talk</a:t>
            </a:r>
            <a:endParaRPr lang="es-MX" sz="6000" b="1" dirty="0">
              <a:latin typeface="Report" panose="02000506020000020003" pitchFamily="2" charset="0"/>
            </a:endParaRPr>
          </a:p>
        </p:txBody>
      </p:sp>
      <p:pic>
        <p:nvPicPr>
          <p:cNvPr id="5" name="Imagen 4" descr="Planta con flores rojas y blancas en un fondo negro&#10;&#10;Descripción generada automáticamente con confianza baja">
            <a:extLst>
              <a:ext uri="{FF2B5EF4-FFF2-40B4-BE49-F238E27FC236}">
                <a16:creationId xmlns:a16="http://schemas.microsoft.com/office/drawing/2014/main" id="{FA7A82B9-2879-BB29-C634-093B0A2941B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4827217">
            <a:off x="2476188" y="2119337"/>
            <a:ext cx="4282592" cy="6858000"/>
          </a:xfrm>
          <a:prstGeom prst="rect">
            <a:avLst/>
          </a:prstGeom>
        </p:spPr>
      </p:pic>
    </p:spTree>
    <p:extLst>
      <p:ext uri="{BB962C8B-B14F-4D97-AF65-F5344CB8AC3E}">
        <p14:creationId xmlns:p14="http://schemas.microsoft.com/office/powerpoint/2010/main" val="163599168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50" fill="hold"/>
                                        <p:tgtEl>
                                          <p:spTgt spid="5"/>
                                        </p:tgtEl>
                                        <p:attrNameLst>
                                          <p:attrName>ppt_x</p:attrName>
                                        </p:attrNameLst>
                                      </p:cBhvr>
                                      <p:tavLst>
                                        <p:tav tm="0">
                                          <p:val>
                                            <p:strVal val="#ppt_x"/>
                                          </p:val>
                                        </p:tav>
                                        <p:tav tm="100000">
                                          <p:val>
                                            <p:strVal val="#ppt_x"/>
                                          </p:val>
                                        </p:tav>
                                      </p:tavLst>
                                    </p:anim>
                                    <p:anim calcmode="lin" valueType="num">
                                      <p:cBhvr additive="base">
                                        <p:cTn id="8" dur="25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esquinas redondeadas 3">
            <a:extLst>
              <a:ext uri="{FF2B5EF4-FFF2-40B4-BE49-F238E27FC236}">
                <a16:creationId xmlns:a16="http://schemas.microsoft.com/office/drawing/2014/main" id="{C744122B-8806-392F-0753-00AE117D1DA8}"/>
              </a:ext>
            </a:extLst>
          </p:cNvPr>
          <p:cNvSpPr/>
          <p:nvPr/>
        </p:nvSpPr>
        <p:spPr>
          <a:xfrm>
            <a:off x="-134223" y="205298"/>
            <a:ext cx="5234730" cy="633601"/>
          </a:xfrm>
          <a:prstGeom prst="roundRect">
            <a:avLst/>
          </a:prstGeom>
          <a:solidFill>
            <a:srgbClr val="4DB1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E7302F8C-F36F-31BA-7E2A-266BD6341E39}"/>
              </a:ext>
            </a:extLst>
          </p:cNvPr>
          <p:cNvSpPr txBox="1"/>
          <p:nvPr/>
        </p:nvSpPr>
        <p:spPr>
          <a:xfrm>
            <a:off x="-298860" y="137377"/>
            <a:ext cx="5708713" cy="769441"/>
          </a:xfrm>
          <a:prstGeom prst="rect">
            <a:avLst/>
          </a:prstGeom>
          <a:solidFill>
            <a:schemeClr val="accent2">
              <a:lumMod val="75000"/>
            </a:schemeClr>
          </a:solidFill>
        </p:spPr>
        <p:txBody>
          <a:bodyPr wrap="square">
            <a:spAutoFit/>
          </a:bodyPr>
          <a:lstStyle/>
          <a:p>
            <a:pPr algn="ctr"/>
            <a:r>
              <a:rPr lang="es-MX" sz="4400" b="1">
                <a:solidFill>
                  <a:schemeClr val="bg1"/>
                </a:solidFill>
                <a:latin typeface="Report" panose="02000506020000020003" pitchFamily="2" charset="0"/>
              </a:rPr>
              <a:t>Pollination</a:t>
            </a:r>
            <a:endParaRPr lang="es-MX" sz="4400" b="1" dirty="0">
              <a:solidFill>
                <a:schemeClr val="bg1"/>
              </a:solidFill>
              <a:latin typeface="Report" panose="02000506020000020003" pitchFamily="2" charset="0"/>
            </a:endParaRPr>
          </a:p>
        </p:txBody>
      </p:sp>
      <p:sp>
        <p:nvSpPr>
          <p:cNvPr id="9" name="Rectángulo 8">
            <a:hlinkClick r:id="rId2"/>
            <a:extLst>
              <a:ext uri="{FF2B5EF4-FFF2-40B4-BE49-F238E27FC236}">
                <a16:creationId xmlns:a16="http://schemas.microsoft.com/office/drawing/2014/main" id="{CFAD37FE-6651-0B04-74F4-34BFBDAC3495}"/>
              </a:ext>
            </a:extLst>
          </p:cNvPr>
          <p:cNvSpPr/>
          <p:nvPr/>
        </p:nvSpPr>
        <p:spPr>
          <a:xfrm>
            <a:off x="8288323" y="6249558"/>
            <a:ext cx="855677" cy="608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9073DFA9-3A5B-8FF5-B58D-42C07FE5A736}"/>
              </a:ext>
            </a:extLst>
          </p:cNvPr>
          <p:cNvSpPr txBox="1"/>
          <p:nvPr/>
        </p:nvSpPr>
        <p:spPr>
          <a:xfrm>
            <a:off x="532704" y="1054630"/>
            <a:ext cx="3519179" cy="2246769"/>
          </a:xfrm>
          <a:prstGeom prst="rect">
            <a:avLst/>
          </a:prstGeom>
          <a:noFill/>
        </p:spPr>
        <p:txBody>
          <a:bodyPr wrap="square">
            <a:spAutoFit/>
          </a:bodyPr>
          <a:lstStyle/>
          <a:p>
            <a:pPr rtl="0">
              <a:spcBef>
                <a:spcPts val="0"/>
              </a:spcBef>
              <a:spcAft>
                <a:spcPts val="1200"/>
              </a:spcAft>
            </a:pPr>
            <a:r>
              <a:rPr lang="en-US" sz="2000" b="0" dirty="0">
                <a:effectLst/>
                <a:latin typeface="Report" panose="02000506020000020003" pitchFamily="2" charset="0"/>
              </a:rPr>
              <a:t>Pollination helps our ecosystem stay strong and healthy. Some of the foods you eat that need pollination are apples, grapes, tomatoes, blackberries, avocados, peaches, pears, eggplants, and lemons. </a:t>
            </a:r>
          </a:p>
        </p:txBody>
      </p:sp>
      <p:pic>
        <p:nvPicPr>
          <p:cNvPr id="5" name="Imagen 4" descr="Una manzana y un plátano&#10;&#10;Descripción generada automáticamente con confianza media">
            <a:extLst>
              <a:ext uri="{FF2B5EF4-FFF2-40B4-BE49-F238E27FC236}">
                <a16:creationId xmlns:a16="http://schemas.microsoft.com/office/drawing/2014/main" id="{7C2AEA91-BF25-39C9-E163-7BBFC7899A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6736" y="3509854"/>
            <a:ext cx="2900864" cy="2739704"/>
          </a:xfrm>
          <a:prstGeom prst="rect">
            <a:avLst/>
          </a:prstGeom>
        </p:spPr>
      </p:pic>
      <p:pic>
        <p:nvPicPr>
          <p:cNvPr id="10" name="Imagen 9" descr="Una rama con hojas verdes&#10;&#10;Descripción generada automáticamente">
            <a:extLst>
              <a:ext uri="{FF2B5EF4-FFF2-40B4-BE49-F238E27FC236}">
                <a16:creationId xmlns:a16="http://schemas.microsoft.com/office/drawing/2014/main" id="{A6411B82-DBD9-1BE5-21D2-B2A7B3D66D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10606" y="0"/>
            <a:ext cx="4572000" cy="6858000"/>
          </a:xfrm>
          <a:prstGeom prst="rect">
            <a:avLst/>
          </a:prstGeom>
        </p:spPr>
      </p:pic>
    </p:spTree>
    <p:extLst>
      <p:ext uri="{BB962C8B-B14F-4D97-AF65-F5344CB8AC3E}">
        <p14:creationId xmlns:p14="http://schemas.microsoft.com/office/powerpoint/2010/main" val="102997828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250" fill="hold"/>
                                        <p:tgtEl>
                                          <p:spTgt spid="10"/>
                                        </p:tgtEl>
                                        <p:attrNameLst>
                                          <p:attrName>ppt_x</p:attrName>
                                        </p:attrNameLst>
                                      </p:cBhvr>
                                      <p:tavLst>
                                        <p:tav tm="0">
                                          <p:val>
                                            <p:strVal val="#ppt_x"/>
                                          </p:val>
                                        </p:tav>
                                        <p:tav tm="100000">
                                          <p:val>
                                            <p:strVal val="#ppt_x"/>
                                          </p:val>
                                        </p:tav>
                                      </p:tavLst>
                                    </p:anim>
                                    <p:anim calcmode="lin" valueType="num">
                                      <p:cBhvr additive="base">
                                        <p:cTn id="8" dur="250" fill="hold"/>
                                        <p:tgtEl>
                                          <p:spTgt spid="10"/>
                                        </p:tgtEl>
                                        <p:attrNameLst>
                                          <p:attrName>ppt_y</p:attrName>
                                        </p:attrNameLst>
                                      </p:cBhvr>
                                      <p:tavLst>
                                        <p:tav tm="0">
                                          <p:val>
                                            <p:strVal val="1+#ppt_h/2"/>
                                          </p:val>
                                        </p:tav>
                                        <p:tav tm="100000">
                                          <p:val>
                                            <p:strVal val="#ppt_y"/>
                                          </p:val>
                                        </p:tav>
                                      </p:tavLst>
                                    </p:anim>
                                  </p:childTnLst>
                                </p:cTn>
                              </p:par>
                            </p:childTnLst>
                          </p:cTn>
                        </p:par>
                        <p:par>
                          <p:cTn id="9" fill="hold">
                            <p:stCondLst>
                              <p:cond delay="250"/>
                            </p:stCondLst>
                            <p:childTnLst>
                              <p:par>
                                <p:cTn id="10" presetID="2"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250" fill="hold"/>
                                        <p:tgtEl>
                                          <p:spTgt spid="5"/>
                                        </p:tgtEl>
                                        <p:attrNameLst>
                                          <p:attrName>ppt_x</p:attrName>
                                        </p:attrNameLst>
                                      </p:cBhvr>
                                      <p:tavLst>
                                        <p:tav tm="0">
                                          <p:val>
                                            <p:strVal val="#ppt_x"/>
                                          </p:val>
                                        </p:tav>
                                        <p:tav tm="100000">
                                          <p:val>
                                            <p:strVal val="#ppt_x"/>
                                          </p:val>
                                        </p:tav>
                                      </p:tavLst>
                                    </p:anim>
                                    <p:anim calcmode="lin" valueType="num">
                                      <p:cBhvr additive="base">
                                        <p:cTn id="13" dur="25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esquinas redondeadas 11">
            <a:extLst>
              <a:ext uri="{FF2B5EF4-FFF2-40B4-BE49-F238E27FC236}">
                <a16:creationId xmlns:a16="http://schemas.microsoft.com/office/drawing/2014/main" id="{2D5AC396-087E-DE1B-E84C-4295A6AA4C09}"/>
              </a:ext>
            </a:extLst>
          </p:cNvPr>
          <p:cNvSpPr/>
          <p:nvPr/>
        </p:nvSpPr>
        <p:spPr>
          <a:xfrm>
            <a:off x="-283129" y="-1285493"/>
            <a:ext cx="9710257" cy="3599800"/>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ángulo 8">
            <a:hlinkClick r:id="rId2"/>
            <a:extLst>
              <a:ext uri="{FF2B5EF4-FFF2-40B4-BE49-F238E27FC236}">
                <a16:creationId xmlns:a16="http://schemas.microsoft.com/office/drawing/2014/main" id="{CFAD37FE-6651-0B04-74F4-34BFBDAC3495}"/>
              </a:ext>
            </a:extLst>
          </p:cNvPr>
          <p:cNvSpPr/>
          <p:nvPr/>
        </p:nvSpPr>
        <p:spPr>
          <a:xfrm>
            <a:off x="8288323" y="6249558"/>
            <a:ext cx="855677" cy="608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E7302F8C-F36F-31BA-7E2A-266BD6341E39}"/>
              </a:ext>
            </a:extLst>
          </p:cNvPr>
          <p:cNvSpPr txBox="1"/>
          <p:nvPr/>
        </p:nvSpPr>
        <p:spPr>
          <a:xfrm>
            <a:off x="2132899" y="710820"/>
            <a:ext cx="4559417" cy="1323439"/>
          </a:xfrm>
          <a:prstGeom prst="rect">
            <a:avLst/>
          </a:prstGeom>
          <a:noFill/>
        </p:spPr>
        <p:txBody>
          <a:bodyPr wrap="square">
            <a:spAutoFit/>
          </a:bodyPr>
          <a:lstStyle/>
          <a:p>
            <a:pPr algn="ctr"/>
            <a:r>
              <a:rPr lang="es-MX" sz="8000" b="1" dirty="0" err="1">
                <a:solidFill>
                  <a:schemeClr val="bg1"/>
                </a:solidFill>
                <a:latin typeface="Report" panose="02000506020000020003" pitchFamily="2" charset="0"/>
              </a:rPr>
              <a:t>Exit</a:t>
            </a:r>
            <a:r>
              <a:rPr lang="es-MX" sz="8000" b="1" dirty="0">
                <a:solidFill>
                  <a:schemeClr val="bg1"/>
                </a:solidFill>
                <a:latin typeface="Report" panose="02000506020000020003" pitchFamily="2" charset="0"/>
              </a:rPr>
              <a:t> Ticket</a:t>
            </a:r>
          </a:p>
        </p:txBody>
      </p:sp>
      <p:sp>
        <p:nvSpPr>
          <p:cNvPr id="4" name="Onda 3">
            <a:extLst>
              <a:ext uri="{FF2B5EF4-FFF2-40B4-BE49-F238E27FC236}">
                <a16:creationId xmlns:a16="http://schemas.microsoft.com/office/drawing/2014/main" id="{B5F1184A-11F7-86B2-6F4E-A5535070195A}"/>
              </a:ext>
            </a:extLst>
          </p:cNvPr>
          <p:cNvSpPr/>
          <p:nvPr/>
        </p:nvSpPr>
        <p:spPr>
          <a:xfrm rot="21138689">
            <a:off x="1001963" y="2551187"/>
            <a:ext cx="8314981" cy="3281182"/>
          </a:xfrm>
          <a:prstGeom prst="wav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9073DFA9-3A5B-8FF5-B58D-42C07FE5A736}"/>
              </a:ext>
            </a:extLst>
          </p:cNvPr>
          <p:cNvSpPr txBox="1"/>
          <p:nvPr/>
        </p:nvSpPr>
        <p:spPr>
          <a:xfrm>
            <a:off x="2112948" y="3520634"/>
            <a:ext cx="5741120" cy="1323439"/>
          </a:xfrm>
          <a:prstGeom prst="rect">
            <a:avLst/>
          </a:prstGeom>
          <a:noFill/>
        </p:spPr>
        <p:txBody>
          <a:bodyPr wrap="square">
            <a:spAutoFit/>
          </a:bodyPr>
          <a:lstStyle/>
          <a:p>
            <a:pPr algn="ctr" rtl="0">
              <a:spcBef>
                <a:spcPts val="0"/>
              </a:spcBef>
              <a:spcAft>
                <a:spcPts val="1200"/>
              </a:spcAft>
            </a:pPr>
            <a:r>
              <a:rPr lang="en-US" sz="4000" b="0" dirty="0">
                <a:solidFill>
                  <a:schemeClr val="bg1"/>
                </a:solidFill>
                <a:effectLst/>
                <a:latin typeface="Report" panose="02000506020000020003" pitchFamily="2" charset="0"/>
              </a:rPr>
              <a:t>What other foods do you think depend on pollination?</a:t>
            </a:r>
          </a:p>
        </p:txBody>
      </p:sp>
      <p:pic>
        <p:nvPicPr>
          <p:cNvPr id="8" name="Imagen 7" descr="Una caricatura de una persona&#10;&#10;Descripción generada automáticamente con confianza media">
            <a:extLst>
              <a:ext uri="{FF2B5EF4-FFF2-40B4-BE49-F238E27FC236}">
                <a16:creationId xmlns:a16="http://schemas.microsoft.com/office/drawing/2014/main" id="{887976B1-4E97-807A-4A91-AFD628DB30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9996" y="167780"/>
            <a:ext cx="2028689" cy="6858000"/>
          </a:xfrm>
          <a:prstGeom prst="rect">
            <a:avLst/>
          </a:prstGeom>
        </p:spPr>
      </p:pic>
      <p:pic>
        <p:nvPicPr>
          <p:cNvPr id="13" name="Imagen 12" descr="Planta con flores rojas y blancas en un fondo negro&#10;&#10;Descripción generada automáticamente con confianza baja">
            <a:extLst>
              <a:ext uri="{FF2B5EF4-FFF2-40B4-BE49-F238E27FC236}">
                <a16:creationId xmlns:a16="http://schemas.microsoft.com/office/drawing/2014/main" id="{588817B3-BA2B-8660-C720-A6CD0D4508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21918" y="-1735465"/>
            <a:ext cx="3491923" cy="5591849"/>
          </a:xfrm>
          <a:prstGeom prst="rect">
            <a:avLst/>
          </a:prstGeom>
        </p:spPr>
      </p:pic>
    </p:spTree>
    <p:extLst>
      <p:ext uri="{BB962C8B-B14F-4D97-AF65-F5344CB8AC3E}">
        <p14:creationId xmlns:p14="http://schemas.microsoft.com/office/powerpoint/2010/main" val="41560785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250" fill="hold"/>
                                        <p:tgtEl>
                                          <p:spTgt spid="11"/>
                                        </p:tgtEl>
                                        <p:attrNameLst>
                                          <p:attrName>ppt_x</p:attrName>
                                        </p:attrNameLst>
                                      </p:cBhvr>
                                      <p:tavLst>
                                        <p:tav tm="0">
                                          <p:val>
                                            <p:strVal val="#ppt_x"/>
                                          </p:val>
                                        </p:tav>
                                        <p:tav tm="100000">
                                          <p:val>
                                            <p:strVal val="#ppt_x"/>
                                          </p:val>
                                        </p:tav>
                                      </p:tavLst>
                                    </p:anim>
                                    <p:anim calcmode="lin" valueType="num">
                                      <p:cBhvr additive="base">
                                        <p:cTn id="8" dur="250" fill="hold"/>
                                        <p:tgtEl>
                                          <p:spTgt spid="11"/>
                                        </p:tgtEl>
                                        <p:attrNameLst>
                                          <p:attrName>ppt_y</p:attrName>
                                        </p:attrNameLst>
                                      </p:cBhvr>
                                      <p:tavLst>
                                        <p:tav tm="0">
                                          <p:val>
                                            <p:strVal val="1+#ppt_h/2"/>
                                          </p:val>
                                        </p:tav>
                                        <p:tav tm="100000">
                                          <p:val>
                                            <p:strVal val="#ppt_y"/>
                                          </p:val>
                                        </p:tav>
                                      </p:tavLst>
                                    </p:anim>
                                  </p:childTnLst>
                                </p:cTn>
                              </p:par>
                            </p:childTnLst>
                          </p:cTn>
                        </p:par>
                        <p:par>
                          <p:cTn id="9" fill="hold">
                            <p:stCondLst>
                              <p:cond delay="250"/>
                            </p:stCondLst>
                            <p:childTnLst>
                              <p:par>
                                <p:cTn id="10" presetID="2" presetClass="entr" presetSubtype="4"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250" fill="hold"/>
                                        <p:tgtEl>
                                          <p:spTgt spid="4"/>
                                        </p:tgtEl>
                                        <p:attrNameLst>
                                          <p:attrName>ppt_x</p:attrName>
                                        </p:attrNameLst>
                                      </p:cBhvr>
                                      <p:tavLst>
                                        <p:tav tm="0">
                                          <p:val>
                                            <p:strVal val="#ppt_x"/>
                                          </p:val>
                                        </p:tav>
                                        <p:tav tm="100000">
                                          <p:val>
                                            <p:strVal val="#ppt_x"/>
                                          </p:val>
                                        </p:tav>
                                      </p:tavLst>
                                    </p:anim>
                                    <p:anim calcmode="lin" valueType="num">
                                      <p:cBhvr additive="base">
                                        <p:cTn id="13" dur="250" fill="hold"/>
                                        <p:tgtEl>
                                          <p:spTgt spid="4"/>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 presetClass="entr" presetSubtype="4"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250" fill="hold"/>
                                        <p:tgtEl>
                                          <p:spTgt spid="8"/>
                                        </p:tgtEl>
                                        <p:attrNameLst>
                                          <p:attrName>ppt_x</p:attrName>
                                        </p:attrNameLst>
                                      </p:cBhvr>
                                      <p:tavLst>
                                        <p:tav tm="0">
                                          <p:val>
                                            <p:strVal val="#ppt_x"/>
                                          </p:val>
                                        </p:tav>
                                        <p:tav tm="100000">
                                          <p:val>
                                            <p:strVal val="#ppt_x"/>
                                          </p:val>
                                        </p:tav>
                                      </p:tavLst>
                                    </p:anim>
                                    <p:anim calcmode="lin" valueType="num">
                                      <p:cBhvr additive="base">
                                        <p:cTn id="18" dur="250" fill="hold"/>
                                        <p:tgtEl>
                                          <p:spTgt spid="8"/>
                                        </p:tgtEl>
                                        <p:attrNameLst>
                                          <p:attrName>ppt_y</p:attrName>
                                        </p:attrNameLst>
                                      </p:cBhvr>
                                      <p:tavLst>
                                        <p:tav tm="0">
                                          <p:val>
                                            <p:strVal val="1+#ppt_h/2"/>
                                          </p:val>
                                        </p:tav>
                                        <p:tav tm="100000">
                                          <p:val>
                                            <p:strVal val="#ppt_y"/>
                                          </p:val>
                                        </p:tav>
                                      </p:tavLst>
                                    </p:anim>
                                  </p:childTnLst>
                                </p:cTn>
                              </p:par>
                            </p:childTnLst>
                          </p:cTn>
                        </p:par>
                        <p:par>
                          <p:cTn id="19" fill="hold">
                            <p:stCondLst>
                              <p:cond delay="750"/>
                            </p:stCondLst>
                            <p:childTnLst>
                              <p:par>
                                <p:cTn id="20" presetID="2" presetClass="entr" presetSubtype="4" fill="hold" nodeType="after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250" fill="hold"/>
                                        <p:tgtEl>
                                          <p:spTgt spid="13"/>
                                        </p:tgtEl>
                                        <p:attrNameLst>
                                          <p:attrName>ppt_x</p:attrName>
                                        </p:attrNameLst>
                                      </p:cBhvr>
                                      <p:tavLst>
                                        <p:tav tm="0">
                                          <p:val>
                                            <p:strVal val="#ppt_x"/>
                                          </p:val>
                                        </p:tav>
                                        <p:tav tm="100000">
                                          <p:val>
                                            <p:strVal val="#ppt_x"/>
                                          </p:val>
                                        </p:tav>
                                      </p:tavLst>
                                    </p:anim>
                                    <p:anim calcmode="lin" valueType="num">
                                      <p:cBhvr additive="base">
                                        <p:cTn id="23" dur="2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hlinkClick r:id="rId2"/>
            <a:extLst>
              <a:ext uri="{FF2B5EF4-FFF2-40B4-BE49-F238E27FC236}">
                <a16:creationId xmlns:a16="http://schemas.microsoft.com/office/drawing/2014/main" id="{F5E85A5A-08F2-C85B-A8D9-721A0A3855FC}"/>
              </a:ext>
            </a:extLst>
          </p:cNvPr>
          <p:cNvSpPr/>
          <p:nvPr/>
        </p:nvSpPr>
        <p:spPr>
          <a:xfrm>
            <a:off x="8246379" y="5998128"/>
            <a:ext cx="897622" cy="8598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Rectángulo 2">
            <a:hlinkClick r:id="rId2"/>
            <a:extLst>
              <a:ext uri="{FF2B5EF4-FFF2-40B4-BE49-F238E27FC236}">
                <a16:creationId xmlns:a16="http://schemas.microsoft.com/office/drawing/2014/main" id="{A4E16090-A74C-7135-B098-E214E9C5E824}"/>
              </a:ext>
            </a:extLst>
          </p:cNvPr>
          <p:cNvSpPr/>
          <p:nvPr/>
        </p:nvSpPr>
        <p:spPr>
          <a:xfrm>
            <a:off x="0" y="5819622"/>
            <a:ext cx="1182848" cy="10383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808075854"/>
      </p:ext>
    </p:extLst>
  </p:cSld>
  <p:clrMapOvr>
    <a:masterClrMapping/>
  </p:clrMapOvr>
  <p:transition spd="slow">
    <p:push dir="u"/>
  </p:transition>
</p:sld>
</file>

<file path=ppt/theme/theme1.xml><?xml version="1.0" encoding="utf-8"?>
<a:theme xmlns:a="http://schemas.openxmlformats.org/drawingml/2006/main" name="Tema de Office">
  <a:themeElements>
    <a:clrScheme name="Twinkl Template">
      <a:dk1>
        <a:srgbClr val="1C1C1C"/>
      </a:dk1>
      <a:lt1>
        <a:sysClr val="window" lastClr="FFFFFF"/>
      </a:lt1>
      <a:dk2>
        <a:srgbClr val="4A4A4A"/>
      </a:dk2>
      <a:lt2>
        <a:srgbClr val="F4F2F2"/>
      </a:lt2>
      <a:accent1>
        <a:srgbClr val="E34192"/>
      </a:accent1>
      <a:accent2>
        <a:srgbClr val="EB8634"/>
      </a:accent2>
      <a:accent3>
        <a:srgbClr val="E6C734"/>
      </a:accent3>
      <a:accent4>
        <a:srgbClr val="79AD42"/>
      </a:accent4>
      <a:accent5>
        <a:srgbClr val="23A7F9"/>
      </a:accent5>
      <a:accent6>
        <a:srgbClr val="954EBE"/>
      </a:accent6>
      <a:hlink>
        <a:srgbClr val="23A7F9"/>
      </a:hlink>
      <a:folHlink>
        <a:srgbClr val="757070"/>
      </a:folHlink>
    </a:clrScheme>
    <a:fontScheme name="Custom 1">
      <a:majorFont>
        <a:latin typeface="Twinkl Sb"/>
        <a:ea typeface=""/>
        <a:cs typeface=""/>
      </a:majorFont>
      <a:minorFont>
        <a:latin typeface="Twink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8A0DB"/>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2" id="{B710A50D-FDA5-4384-881E-659008B7D3B3}" vid="{4B982255-5397-49F2-A240-B822E97B1D5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K-2 Standard PowerPoint (1)</Template>
  <TotalTime>49</TotalTime>
  <Words>794</Words>
  <Application>Microsoft Office PowerPoint</Application>
  <PresentationFormat>Presentación en pantalla (4:3)</PresentationFormat>
  <Paragraphs>55</Paragraphs>
  <Slides>23</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23</vt:i4>
      </vt:variant>
    </vt:vector>
  </HeadingPairs>
  <TitlesOfParts>
    <vt:vector size="29" baseType="lpstr">
      <vt:lpstr>Roboto</vt:lpstr>
      <vt:lpstr>Report</vt:lpstr>
      <vt:lpstr>Arial</vt:lpstr>
      <vt:lpstr>Twinkl</vt:lpstr>
      <vt:lpstr>Calibri</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Guidance</dc:title>
  <dc:creator>Twinkl Twinkl</dc:creator>
  <cp:lastModifiedBy>Twinkl Twinkl</cp:lastModifiedBy>
  <cp:revision>18</cp:revision>
  <dcterms:created xsi:type="dcterms:W3CDTF">2023-04-25T16:41:39Z</dcterms:created>
  <dcterms:modified xsi:type="dcterms:W3CDTF">2023-06-15T17:46:49Z</dcterms:modified>
</cp:coreProperties>
</file>