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1"/>
    <p:sldMasterId id="2147483672" r:id="rId2"/>
  </p:sldMasterIdLst>
  <p:notesMasterIdLst>
    <p:notesMasterId r:id="rId15"/>
  </p:notesMasterIdLst>
  <p:handoutMasterIdLst>
    <p:handoutMasterId r:id="rId16"/>
  </p:handoutMasterIdLst>
  <p:sldIdLst>
    <p:sldId id="272" r:id="rId3"/>
    <p:sldId id="268" r:id="rId4"/>
    <p:sldId id="264" r:id="rId5"/>
    <p:sldId id="273" r:id="rId6"/>
    <p:sldId id="274" r:id="rId7"/>
    <p:sldId id="275" r:id="rId8"/>
    <p:sldId id="276" r:id="rId9"/>
    <p:sldId id="277" r:id="rId10"/>
    <p:sldId id="278" r:id="rId11"/>
    <p:sldId id="279" r:id="rId12"/>
    <p:sldId id="280" r:id="rId13"/>
    <p:sldId id="270" r:id="rId14"/>
  </p:sldIdLst>
  <p:sldSz cx="9144000" cy="6858000" type="screen4x3"/>
  <p:notesSz cx="6858000" cy="9144000"/>
  <p:embeddedFontLst>
    <p:embeddedFont>
      <p:font typeface="Roboto" panose="02000000000000000000" pitchFamily="2" charset="0"/>
      <p:regular r:id="rId17"/>
      <p:bold r:id="rId18"/>
      <p:italic r:id="rId19"/>
      <p:boldItalic r:id="rId20"/>
    </p:embeddedFont>
    <p:embeddedFont>
      <p:font typeface="Twinkl" panose="02000000000000000000" pitchFamily="2" charset="0"/>
      <p:regular r:id="rId21"/>
      <p:bold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4" pos="340" userDrawn="1">
          <p15:clr>
            <a:srgbClr val="A4A3A4"/>
          </p15:clr>
        </p15:guide>
        <p15:guide id="5" orient="horz" pos="3974" userDrawn="1">
          <p15:clr>
            <a:srgbClr val="A4A3A4"/>
          </p15:clr>
        </p15:guide>
        <p15:guide id="6" pos="5420" userDrawn="1">
          <p15:clr>
            <a:srgbClr val="A4A3A4"/>
          </p15:clr>
        </p15:guide>
        <p15:guide id="7" orient="horz" pos="346" userDrawn="1">
          <p15:clr>
            <a:srgbClr val="A4A3A4"/>
          </p15:clr>
        </p15:guide>
        <p15:guide id="8" pos="476" userDrawn="1">
          <p15:clr>
            <a:srgbClr val="A4A3A4"/>
          </p15:clr>
        </p15:guide>
        <p15:guide id="9" orient="horz" pos="482" userDrawn="1">
          <p15:clr>
            <a:srgbClr val="A4A3A4"/>
          </p15:clr>
        </p15:guide>
        <p15:guide id="10" orient="horz" pos="3838" userDrawn="1">
          <p15:clr>
            <a:srgbClr val="A4A3A4"/>
          </p15:clr>
        </p15:guide>
        <p15:guide id="11" pos="528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8215"/>
    <a:srgbClr val="FCAF17"/>
    <a:srgbClr val="F5822A"/>
    <a:srgbClr val="F1884C"/>
    <a:srgbClr val="F8991F"/>
    <a:srgbClr val="F8BD95"/>
    <a:srgbClr val="E94E13"/>
    <a:srgbClr val="FFFFFF"/>
    <a:srgbClr val="E34192"/>
    <a:srgbClr val="18A0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1" autoAdjust="0"/>
    <p:restoredTop sz="94660"/>
  </p:normalViewPr>
  <p:slideViewPr>
    <p:cSldViewPr snapToGrid="0" showGuides="1">
      <p:cViewPr varScale="1">
        <p:scale>
          <a:sx n="108" d="100"/>
          <a:sy n="108" d="100"/>
        </p:scale>
        <p:origin x="792" y="78"/>
      </p:cViewPr>
      <p:guideLst>
        <p:guide orient="horz" pos="2160"/>
        <p:guide pos="2880"/>
        <p:guide pos="340"/>
        <p:guide orient="horz" pos="3974"/>
        <p:guide pos="5420"/>
        <p:guide orient="horz" pos="346"/>
        <p:guide pos="476"/>
        <p:guide orient="horz" pos="482"/>
        <p:guide orient="horz" pos="3838"/>
        <p:guide pos="5284"/>
      </p:guideLst>
    </p:cSldViewPr>
  </p:slideViewPr>
  <p:notesTextViewPr>
    <p:cViewPr>
      <p:scale>
        <a:sx n="3" d="2"/>
        <a:sy n="3" d="2"/>
      </p:scale>
      <p:origin x="0" y="0"/>
    </p:cViewPr>
  </p:notesTextViewPr>
  <p:notesViewPr>
    <p:cSldViewPr snapToGrid="0" showGuides="1">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font" Target="fonts/font5.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notesMaster" Target="notesMasters/notesMaster1.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font" Target="fonts/font3.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6.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B34F151-63AC-41CE-96F5-7702E930870C}" type="datetimeFigureOut">
              <a:rPr lang="en-GB" smtClean="0"/>
              <a:t>08/05/2025</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676B846-B279-40AC-BFF5-DBC4013370C2}" type="slidenum">
              <a:rPr lang="en-GB" smtClean="0"/>
              <a:t>‹#›</a:t>
            </a:fld>
            <a:endParaRPr lang="en-GB"/>
          </a:p>
        </p:txBody>
      </p:sp>
    </p:spTree>
    <p:extLst>
      <p:ext uri="{BB962C8B-B14F-4D97-AF65-F5344CB8AC3E}">
        <p14:creationId xmlns:p14="http://schemas.microsoft.com/office/powerpoint/2010/main" val="26453970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02C5D1-7818-41B5-ABAD-5E4B38A5388F}" type="datetimeFigureOut">
              <a:rPr lang="en-GB" smtClean="0"/>
              <a:t>08/05/2025</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521341-850D-40E1-BB3D-87946DC9B06D}" type="slidenum">
              <a:rPr lang="en-GB" smtClean="0"/>
              <a:t>‹#›</a:t>
            </a:fld>
            <a:endParaRPr lang="en-GB"/>
          </a:p>
        </p:txBody>
      </p:sp>
    </p:spTree>
    <p:extLst>
      <p:ext uri="{BB962C8B-B14F-4D97-AF65-F5344CB8AC3E}">
        <p14:creationId xmlns:p14="http://schemas.microsoft.com/office/powerpoint/2010/main" val="8470487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hyperlink" Target="https://www.twinkl.co.uk/resources/reception-white-rose-science-supporting-resources-science-and-investigation-understanding-the-world-eyfs-early-years/summer-reception-white-rose-science-supporting-resources-science-and-investigation-understanding-the-world-eyfs-early-years/our-wonderful-world-summer-reception-white-rose-science-supporting-resources-science-and-investigation-understanding-the-world-eyfs-early-years" TargetMode="Externa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twinkl.co.uk/resources/reception-white-rose-science-supporting-resources-science-and-investigation-understanding-the-world-eyfs-early-years/summer-reception-white-rose-science-supporting-resources-science-and-investigation-understanding-the-world-eyfs-early-years/our-wonderful-world-summer-reception-white-rose-science-supporting-resources-science-and-investigation-understanding-the-world-eyfs-early-years" TargetMode="External"/><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2" Type="http://schemas.openxmlformats.org/officeDocument/2006/relationships/hyperlink" Target="mailto:twinklcares@twinkl.co.uk" TargetMode="External"/><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ight Triangle 2">
            <a:hlinkClick r:id="rId3"/>
            <a:extLst>
              <a:ext uri="{FF2B5EF4-FFF2-40B4-BE49-F238E27FC236}">
                <a16:creationId xmlns:a16="http://schemas.microsoft.com/office/drawing/2014/main" id="{1157543F-736B-61C2-5BA1-12857FFB95FF}"/>
              </a:ext>
            </a:extLst>
          </p:cNvPr>
          <p:cNvSpPr/>
          <p:nvPr userDrawn="1"/>
        </p:nvSpPr>
        <p:spPr>
          <a:xfrm rot="10800000">
            <a:off x="6791212" y="0"/>
            <a:ext cx="2352787" cy="1730188"/>
          </a:xfrm>
          <a:prstGeom prst="r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37040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8" name="Title 5"/>
          <p:cNvSpPr>
            <a:spLocks noGrp="1"/>
          </p:cNvSpPr>
          <p:nvPr>
            <p:ph type="title"/>
          </p:nvPr>
        </p:nvSpPr>
        <p:spPr>
          <a:xfrm>
            <a:off x="457198" y="438151"/>
            <a:ext cx="8220075" cy="994306"/>
          </a:xfrm>
          <a:prstGeom prst="roundRect">
            <a:avLst>
              <a:gd name="adj" fmla="val 9641"/>
            </a:avLst>
          </a:prstGeom>
        </p:spPr>
        <p:txBody>
          <a:bodyPr>
            <a:noAutofit/>
          </a:bodyPr>
          <a:lstStyle>
            <a:lvl1pPr>
              <a:defRPr sz="3600">
                <a:latin typeface="Twinkl" pitchFamily="2" charset="0"/>
              </a:defRPr>
            </a:lvl1pPr>
          </a:lstStyle>
          <a:p>
            <a:r>
              <a:rPr lang="en-GB"/>
              <a:t>Click to edit Master title style</a:t>
            </a:r>
            <a:endParaRPr lang="en-GB" dirty="0"/>
          </a:p>
        </p:txBody>
      </p:sp>
    </p:spTree>
    <p:extLst>
      <p:ext uri="{BB962C8B-B14F-4D97-AF65-F5344CB8AC3E}">
        <p14:creationId xmlns:p14="http://schemas.microsoft.com/office/powerpoint/2010/main" val="261079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0891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8" name="Title 5"/>
          <p:cNvSpPr>
            <a:spLocks noGrp="1"/>
          </p:cNvSpPr>
          <p:nvPr>
            <p:ph type="title"/>
          </p:nvPr>
        </p:nvSpPr>
        <p:spPr>
          <a:xfrm>
            <a:off x="457198" y="438151"/>
            <a:ext cx="8220075" cy="994306"/>
          </a:xfrm>
          <a:prstGeom prst="roundRect">
            <a:avLst>
              <a:gd name="adj" fmla="val 9641"/>
            </a:avLst>
          </a:prstGeom>
        </p:spPr>
        <p:txBody>
          <a:bodyPr>
            <a:noAutofit/>
          </a:bodyPr>
          <a:lstStyle>
            <a:lvl1pPr>
              <a:defRPr sz="3600">
                <a:latin typeface="Twinkl" pitchFamily="2" charset="0"/>
              </a:defRPr>
            </a:lvl1pPr>
          </a:lstStyle>
          <a:p>
            <a:r>
              <a:rPr lang="en-GB"/>
              <a:t>Click to edit Master title style</a:t>
            </a:r>
            <a:endParaRPr lang="en-GB" dirty="0"/>
          </a:p>
        </p:txBody>
      </p:sp>
    </p:spTree>
    <p:extLst>
      <p:ext uri="{BB962C8B-B14F-4D97-AF65-F5344CB8AC3E}">
        <p14:creationId xmlns:p14="http://schemas.microsoft.com/office/powerpoint/2010/main" val="2863826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8" name="Title 5"/>
          <p:cNvSpPr>
            <a:spLocks noGrp="1"/>
          </p:cNvSpPr>
          <p:nvPr>
            <p:ph type="title"/>
          </p:nvPr>
        </p:nvSpPr>
        <p:spPr>
          <a:xfrm>
            <a:off x="457198" y="438151"/>
            <a:ext cx="8220075" cy="994306"/>
          </a:xfrm>
          <a:prstGeom prst="roundRect">
            <a:avLst>
              <a:gd name="adj" fmla="val 9641"/>
            </a:avLst>
          </a:prstGeom>
        </p:spPr>
        <p:txBody>
          <a:bodyPr>
            <a:noAutofit/>
          </a:bodyPr>
          <a:lstStyle>
            <a:lvl1pPr>
              <a:defRPr sz="3600">
                <a:latin typeface="Twinkl" pitchFamily="2" charset="0"/>
              </a:defRPr>
            </a:lvl1pPr>
          </a:lstStyle>
          <a:p>
            <a:r>
              <a:rPr lang="en-GB"/>
              <a:t>Click to edit Master title style</a:t>
            </a:r>
            <a:endParaRPr lang="en-GB" dirty="0"/>
          </a:p>
        </p:txBody>
      </p:sp>
    </p:spTree>
    <p:extLst>
      <p:ext uri="{BB962C8B-B14F-4D97-AF65-F5344CB8AC3E}">
        <p14:creationId xmlns:p14="http://schemas.microsoft.com/office/powerpoint/2010/main" val="2123809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ims Slide">
    <p:spTree>
      <p:nvGrpSpPr>
        <p:cNvPr id="1" name=""/>
        <p:cNvGrpSpPr/>
        <p:nvPr/>
      </p:nvGrpSpPr>
      <p:grpSpPr>
        <a:xfrm>
          <a:off x="0" y="0"/>
          <a:ext cx="0" cy="0"/>
          <a:chOff x="0" y="0"/>
          <a:chExt cx="0" cy="0"/>
        </a:xfrm>
      </p:grpSpPr>
      <p:sp>
        <p:nvSpPr>
          <p:cNvPr id="2" name="Rounded Rectangle 24">
            <a:extLst>
              <a:ext uri="{FF2B5EF4-FFF2-40B4-BE49-F238E27FC236}">
                <a16:creationId xmlns:a16="http://schemas.microsoft.com/office/drawing/2014/main" id="{D00ECC8E-1AC3-4E6C-A19B-0A141ABB9071}"/>
              </a:ext>
            </a:extLst>
          </p:cNvPr>
          <p:cNvSpPr/>
          <p:nvPr userDrawn="1"/>
        </p:nvSpPr>
        <p:spPr bwMode="auto">
          <a:xfrm>
            <a:off x="503239" y="2930434"/>
            <a:ext cx="8137524" cy="3414803"/>
          </a:xfrm>
          <a:prstGeom prst="roundRect">
            <a:avLst>
              <a:gd name="adj" fmla="val 6409"/>
            </a:avLst>
          </a:prstGeom>
          <a:solidFill>
            <a:srgbClr val="FFF9E7"/>
          </a:solidFill>
          <a:ln w="25400" cap="rnd">
            <a:solidFill>
              <a:srgbClr val="FEFBD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3" name="Rounded Rectangle 23">
            <a:extLst>
              <a:ext uri="{FF2B5EF4-FFF2-40B4-BE49-F238E27FC236}">
                <a16:creationId xmlns:a16="http://schemas.microsoft.com/office/drawing/2014/main" id="{D34100E7-28EA-4EB7-A437-37BB3EE7034D}"/>
              </a:ext>
            </a:extLst>
          </p:cNvPr>
          <p:cNvSpPr/>
          <p:nvPr userDrawn="1"/>
        </p:nvSpPr>
        <p:spPr bwMode="auto">
          <a:xfrm>
            <a:off x="503239" y="512763"/>
            <a:ext cx="8137524" cy="2193019"/>
          </a:xfrm>
          <a:prstGeom prst="roundRect">
            <a:avLst>
              <a:gd name="adj" fmla="val 6409"/>
            </a:avLst>
          </a:prstGeom>
          <a:solidFill>
            <a:srgbClr val="FFF9E7"/>
          </a:solidFill>
          <a:ln w="25400" cap="rnd">
            <a:solidFill>
              <a:srgbClr val="FEFBDA"/>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2" name="Text Placeholder 9">
            <a:extLst>
              <a:ext uri="{FF2B5EF4-FFF2-40B4-BE49-F238E27FC236}">
                <a16:creationId xmlns:a16="http://schemas.microsoft.com/office/drawing/2014/main" id="{BAFFD08E-D8F1-4950-9C0C-AB7477306E53}"/>
              </a:ext>
            </a:extLst>
          </p:cNvPr>
          <p:cNvSpPr>
            <a:spLocks noGrp="1"/>
          </p:cNvSpPr>
          <p:nvPr>
            <p:ph type="body" sz="quarter" idx="10" hasCustomPrompt="1"/>
          </p:nvPr>
        </p:nvSpPr>
        <p:spPr>
          <a:xfrm>
            <a:off x="755651" y="1037017"/>
            <a:ext cx="7632699" cy="1469216"/>
          </a:xfrm>
          <a:prstGeom prst="roundRect">
            <a:avLst>
              <a:gd name="adj" fmla="val 2585"/>
            </a:avLst>
          </a:prstGeom>
        </p:spPr>
        <p:txBody>
          <a:bodyPr>
            <a:spAutoFit/>
          </a:bodyPr>
          <a:lstStyle>
            <a:lvl1pPr>
              <a:defRPr/>
            </a:lvl1pPr>
          </a:lstStyle>
          <a:p>
            <a:r>
              <a:rPr lang="en-GB" dirty="0">
                <a:latin typeface="Twinkl" pitchFamily="50" charset="0"/>
              </a:rPr>
              <a:t>Statement 1 Lorem ipsum </a:t>
            </a:r>
            <a:r>
              <a:rPr lang="en-GB" dirty="0" err="1">
                <a:latin typeface="Twinkl" pitchFamily="50" charset="0"/>
              </a:rPr>
              <a:t>dolor</a:t>
            </a:r>
            <a:r>
              <a:rPr lang="en-GB" dirty="0">
                <a:latin typeface="Twinkl" pitchFamily="50" charset="0"/>
              </a:rPr>
              <a:t> sit </a:t>
            </a:r>
            <a:r>
              <a:rPr lang="en-GB" dirty="0" err="1">
                <a:latin typeface="Twinkl" pitchFamily="50" charset="0"/>
              </a:rPr>
              <a:t>amet</a:t>
            </a:r>
            <a:r>
              <a:rPr lang="en-GB" dirty="0">
                <a:latin typeface="Twinkl" pitchFamily="50" charset="0"/>
              </a:rPr>
              <a:t>, </a:t>
            </a:r>
            <a:r>
              <a:rPr lang="en-GB" dirty="0" err="1">
                <a:latin typeface="Twinkl" pitchFamily="50" charset="0"/>
              </a:rPr>
              <a:t>consectetur</a:t>
            </a:r>
            <a:r>
              <a:rPr lang="en-GB" dirty="0">
                <a:latin typeface="Twinkl" pitchFamily="50" charset="0"/>
              </a:rPr>
              <a:t> </a:t>
            </a:r>
            <a:r>
              <a:rPr lang="en-GB" dirty="0" err="1">
                <a:latin typeface="Twinkl" pitchFamily="50" charset="0"/>
              </a:rPr>
              <a:t>adipiscing</a:t>
            </a:r>
            <a:r>
              <a:rPr lang="en-GB" dirty="0">
                <a:latin typeface="Twinkl" pitchFamily="50" charset="0"/>
              </a:rPr>
              <a:t> </a:t>
            </a:r>
            <a:r>
              <a:rPr lang="en-GB" dirty="0" err="1">
                <a:latin typeface="Twinkl" pitchFamily="50" charset="0"/>
              </a:rPr>
              <a:t>elit</a:t>
            </a:r>
            <a:r>
              <a:rPr lang="en-GB" dirty="0">
                <a:latin typeface="Twinkl" pitchFamily="50" charset="0"/>
              </a:rPr>
              <a:t>.</a:t>
            </a:r>
          </a:p>
          <a:p>
            <a:r>
              <a:rPr lang="en-GB" dirty="0">
                <a:latin typeface="Twinkl" pitchFamily="50" charset="0"/>
              </a:rPr>
              <a:t>Statement 2</a:t>
            </a:r>
          </a:p>
          <a:p>
            <a:pPr lvl="1"/>
            <a:r>
              <a:rPr lang="en-GB" sz="1800" dirty="0">
                <a:latin typeface="Twinkl" pitchFamily="50" charset="0"/>
              </a:rPr>
              <a:t>Sub statement</a:t>
            </a:r>
          </a:p>
        </p:txBody>
      </p:sp>
      <p:sp>
        <p:nvSpPr>
          <p:cNvPr id="13" name="Text Placeholder 9">
            <a:extLst>
              <a:ext uri="{FF2B5EF4-FFF2-40B4-BE49-F238E27FC236}">
                <a16:creationId xmlns:a16="http://schemas.microsoft.com/office/drawing/2014/main" id="{D99DBCE3-B6AA-4708-994C-5096C6F0D38E}"/>
              </a:ext>
            </a:extLst>
          </p:cNvPr>
          <p:cNvSpPr>
            <a:spLocks noGrp="1"/>
          </p:cNvSpPr>
          <p:nvPr>
            <p:ph type="body" sz="quarter" idx="11" hasCustomPrompt="1"/>
          </p:nvPr>
        </p:nvSpPr>
        <p:spPr>
          <a:xfrm>
            <a:off x="755651" y="3445623"/>
            <a:ext cx="7632699" cy="1469216"/>
          </a:xfrm>
          <a:prstGeom prst="roundRect">
            <a:avLst>
              <a:gd name="adj" fmla="val 2585"/>
            </a:avLst>
          </a:prstGeom>
        </p:spPr>
        <p:txBody>
          <a:bodyPr>
            <a:spAutoFit/>
          </a:bodyPr>
          <a:lstStyle>
            <a:lvl1pPr>
              <a:defRPr/>
            </a:lvl1pPr>
          </a:lstStyle>
          <a:p>
            <a:r>
              <a:rPr lang="en-GB" dirty="0">
                <a:latin typeface="Twinkl" pitchFamily="50" charset="0"/>
              </a:rPr>
              <a:t>Statement 1 Lorem ipsum </a:t>
            </a:r>
            <a:r>
              <a:rPr lang="en-GB" dirty="0" err="1">
                <a:latin typeface="Twinkl" pitchFamily="50" charset="0"/>
              </a:rPr>
              <a:t>dolor</a:t>
            </a:r>
            <a:r>
              <a:rPr lang="en-GB" dirty="0">
                <a:latin typeface="Twinkl" pitchFamily="50" charset="0"/>
              </a:rPr>
              <a:t> sit </a:t>
            </a:r>
            <a:r>
              <a:rPr lang="en-GB" dirty="0" err="1">
                <a:latin typeface="Twinkl" pitchFamily="50" charset="0"/>
              </a:rPr>
              <a:t>amet</a:t>
            </a:r>
            <a:r>
              <a:rPr lang="en-GB" dirty="0">
                <a:latin typeface="Twinkl" pitchFamily="50" charset="0"/>
              </a:rPr>
              <a:t>, </a:t>
            </a:r>
            <a:r>
              <a:rPr lang="en-GB" dirty="0" err="1">
                <a:latin typeface="Twinkl" pitchFamily="50" charset="0"/>
              </a:rPr>
              <a:t>consectetur</a:t>
            </a:r>
            <a:r>
              <a:rPr lang="en-GB" dirty="0">
                <a:latin typeface="Twinkl" pitchFamily="50" charset="0"/>
              </a:rPr>
              <a:t> </a:t>
            </a:r>
            <a:r>
              <a:rPr lang="en-GB" dirty="0" err="1">
                <a:latin typeface="Twinkl" pitchFamily="50" charset="0"/>
              </a:rPr>
              <a:t>adipiscing</a:t>
            </a:r>
            <a:r>
              <a:rPr lang="en-GB" dirty="0">
                <a:latin typeface="Twinkl" pitchFamily="50" charset="0"/>
              </a:rPr>
              <a:t> </a:t>
            </a:r>
            <a:r>
              <a:rPr lang="en-GB" dirty="0" err="1">
                <a:latin typeface="Twinkl" pitchFamily="50" charset="0"/>
              </a:rPr>
              <a:t>elit</a:t>
            </a:r>
            <a:r>
              <a:rPr lang="en-GB" dirty="0">
                <a:latin typeface="Twinkl" pitchFamily="50" charset="0"/>
              </a:rPr>
              <a:t>.</a:t>
            </a:r>
          </a:p>
          <a:p>
            <a:r>
              <a:rPr lang="en-GB" dirty="0">
                <a:latin typeface="Twinkl" pitchFamily="50" charset="0"/>
              </a:rPr>
              <a:t>Statement 2</a:t>
            </a:r>
          </a:p>
          <a:p>
            <a:pPr lvl="1"/>
            <a:r>
              <a:rPr lang="en-GB" sz="1800" dirty="0">
                <a:latin typeface="Twinkl" pitchFamily="50" charset="0"/>
              </a:rPr>
              <a:t>Sub statement</a:t>
            </a:r>
          </a:p>
        </p:txBody>
      </p:sp>
      <p:sp>
        <p:nvSpPr>
          <p:cNvPr id="15" name="Text Placeholder 8">
            <a:extLst>
              <a:ext uri="{FF2B5EF4-FFF2-40B4-BE49-F238E27FC236}">
                <a16:creationId xmlns:a16="http://schemas.microsoft.com/office/drawing/2014/main" id="{E9191366-6C10-435F-A2F8-6CBD1318FD96}"/>
              </a:ext>
            </a:extLst>
          </p:cNvPr>
          <p:cNvSpPr>
            <a:spLocks noGrp="1"/>
          </p:cNvSpPr>
          <p:nvPr>
            <p:ph type="body" sz="quarter" idx="12" hasCustomPrompt="1"/>
          </p:nvPr>
        </p:nvSpPr>
        <p:spPr>
          <a:xfrm>
            <a:off x="755650" y="512763"/>
            <a:ext cx="7632700" cy="503237"/>
          </a:xfrm>
          <a:prstGeom prst="roundRect">
            <a:avLst>
              <a:gd name="adj" fmla="val 2585"/>
            </a:avLst>
          </a:prstGeom>
        </p:spPr>
        <p:txBody>
          <a:bodyPr lIns="0" tIns="252000" rIns="0" bIns="0" anchor="ctr" anchorCtr="0">
            <a:noAutofit/>
          </a:bodyPr>
          <a:lstStyle>
            <a:lvl1pPr marL="0" indent="0" algn="ctr">
              <a:buNone/>
              <a:defRPr sz="3600" b="1"/>
            </a:lvl1pPr>
          </a:lstStyle>
          <a:p>
            <a:pPr lvl="0"/>
            <a:r>
              <a:rPr lang="en-US" dirty="0"/>
              <a:t>Aim</a:t>
            </a:r>
            <a:endParaRPr lang="en-GB" dirty="0"/>
          </a:p>
        </p:txBody>
      </p:sp>
      <p:sp>
        <p:nvSpPr>
          <p:cNvPr id="17" name="Text Placeholder 8">
            <a:extLst>
              <a:ext uri="{FF2B5EF4-FFF2-40B4-BE49-F238E27FC236}">
                <a16:creationId xmlns:a16="http://schemas.microsoft.com/office/drawing/2014/main" id="{6758EDAF-8492-4BF5-93A1-EA11C5D83003}"/>
              </a:ext>
            </a:extLst>
          </p:cNvPr>
          <p:cNvSpPr>
            <a:spLocks noGrp="1"/>
          </p:cNvSpPr>
          <p:nvPr>
            <p:ph type="body" sz="quarter" idx="13" hasCustomPrompt="1"/>
          </p:nvPr>
        </p:nvSpPr>
        <p:spPr>
          <a:xfrm>
            <a:off x="755649" y="2930434"/>
            <a:ext cx="7632700" cy="503237"/>
          </a:xfrm>
          <a:prstGeom prst="roundRect">
            <a:avLst>
              <a:gd name="adj" fmla="val 2585"/>
            </a:avLst>
          </a:prstGeom>
        </p:spPr>
        <p:txBody>
          <a:bodyPr lIns="0" tIns="252000" rIns="0" bIns="0" anchor="ctr" anchorCtr="0">
            <a:noAutofit/>
          </a:bodyPr>
          <a:lstStyle>
            <a:lvl1pPr marL="0" indent="0" algn="ctr">
              <a:buNone/>
              <a:defRPr sz="3600" b="1"/>
            </a:lvl1pPr>
          </a:lstStyle>
          <a:p>
            <a:pPr lvl="0"/>
            <a:r>
              <a:rPr lang="en-US" dirty="0"/>
              <a:t>Success Criteria</a:t>
            </a:r>
            <a:endParaRPr lang="en-GB" dirty="0"/>
          </a:p>
        </p:txBody>
      </p:sp>
    </p:spTree>
    <p:extLst>
      <p:ext uri="{BB962C8B-B14F-4D97-AF65-F5344CB8AC3E}">
        <p14:creationId xmlns:p14="http://schemas.microsoft.com/office/powerpoint/2010/main" val="2257523209"/>
      </p:ext>
    </p:extLst>
  </p:cSld>
  <p:clrMapOvr>
    <a:masterClrMapping/>
  </p:clrMapOvr>
  <p:extLst>
    <p:ext uri="{DCECCB84-F9BA-43D5-87BE-67443E8EF086}">
      <p15:sldGuideLst xmlns:p15="http://schemas.microsoft.com/office/powerpoint/2012/main">
        <p15:guide id="1" orient="horz" pos="640" userDrawn="1">
          <p15:clr>
            <a:srgbClr val="F26B43"/>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ight Triangle 3">
            <a:hlinkClick r:id="rId3"/>
          </p:cNvPr>
          <p:cNvSpPr/>
          <p:nvPr userDrawn="1"/>
        </p:nvSpPr>
        <p:spPr>
          <a:xfrm rot="10800000">
            <a:off x="6791212" y="0"/>
            <a:ext cx="2352787" cy="1730188"/>
          </a:xfrm>
          <a:prstGeom prst="r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819737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udio/Video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7" name="Rectangle 6">
            <a:extLst>
              <a:ext uri="{FF2B5EF4-FFF2-40B4-BE49-F238E27FC236}">
                <a16:creationId xmlns:a16="http://schemas.microsoft.com/office/drawing/2014/main" id="{FFC63B62-F6F8-4A70-935A-0CBCE04C051B}"/>
              </a:ext>
            </a:extLst>
          </p:cNvPr>
          <p:cNvSpPr/>
          <p:nvPr userDrawn="1"/>
        </p:nvSpPr>
        <p:spPr>
          <a:xfrm>
            <a:off x="755650" y="2209045"/>
            <a:ext cx="2382662" cy="3604671"/>
          </a:xfrm>
          <a:prstGeom prst="rect">
            <a:avLst/>
          </a:prstGeom>
          <a:solidFill>
            <a:srgbClr val="ACDD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0"/>
          </a:p>
        </p:txBody>
      </p:sp>
      <p:sp>
        <p:nvSpPr>
          <p:cNvPr id="9" name="Rectangle 8">
            <a:extLst>
              <a:ext uri="{FF2B5EF4-FFF2-40B4-BE49-F238E27FC236}">
                <a16:creationId xmlns:a16="http://schemas.microsoft.com/office/drawing/2014/main" id="{F19AD57E-3485-41E5-86B7-DD796C8FF6EE}"/>
              </a:ext>
            </a:extLst>
          </p:cNvPr>
          <p:cNvSpPr/>
          <p:nvPr userDrawn="1"/>
        </p:nvSpPr>
        <p:spPr>
          <a:xfrm>
            <a:off x="3380669" y="2209045"/>
            <a:ext cx="2382662" cy="3604671"/>
          </a:xfrm>
          <a:prstGeom prst="rect">
            <a:avLst/>
          </a:prstGeom>
          <a:solidFill>
            <a:srgbClr val="ACDD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0"/>
          </a:p>
        </p:txBody>
      </p:sp>
      <p:sp>
        <p:nvSpPr>
          <p:cNvPr id="10" name="Rectangle 9">
            <a:extLst>
              <a:ext uri="{FF2B5EF4-FFF2-40B4-BE49-F238E27FC236}">
                <a16:creationId xmlns:a16="http://schemas.microsoft.com/office/drawing/2014/main" id="{2A702136-D7DD-49CD-A4E0-42B0D1BAFEFE}"/>
              </a:ext>
            </a:extLst>
          </p:cNvPr>
          <p:cNvSpPr/>
          <p:nvPr userDrawn="1"/>
        </p:nvSpPr>
        <p:spPr>
          <a:xfrm>
            <a:off x="6005688" y="2209045"/>
            <a:ext cx="2382662" cy="3604671"/>
          </a:xfrm>
          <a:prstGeom prst="rect">
            <a:avLst/>
          </a:prstGeom>
          <a:solidFill>
            <a:srgbClr val="ACDD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0"/>
          </a:p>
        </p:txBody>
      </p:sp>
      <p:pic>
        <p:nvPicPr>
          <p:cNvPr id="12" name="Picture 1">
            <a:extLst>
              <a:ext uri="{FF2B5EF4-FFF2-40B4-BE49-F238E27FC236}">
                <a16:creationId xmlns:a16="http://schemas.microsoft.com/office/drawing/2014/main" id="{3124EECE-F7EF-4595-9620-68FD0E5E79FF}"/>
              </a:ext>
            </a:extLst>
          </p:cNvPr>
          <p:cNvPicPr>
            <a:picLocks noChangeAspect="1"/>
          </p:cNvPicPr>
          <p:nvPr userDrawn="1"/>
        </p:nvPicPr>
        <p:blipFill>
          <a:blip r:embed="rId2">
            <a:extLst>
              <a:ext uri="{28A0092B-C50C-407E-A947-70E740481C1C}">
                <a14:useLocalDpi xmlns:a14="http://schemas.microsoft.com/office/drawing/2010/main" val="0"/>
              </a:ext>
            </a:extLst>
          </a:blip>
          <a:srcRect l="14311" t="18852" r="58228" b="54654"/>
          <a:stretch>
            <a:fillRect/>
          </a:stretch>
        </p:blipFill>
        <p:spPr bwMode="auto">
          <a:xfrm>
            <a:off x="1088144" y="2435955"/>
            <a:ext cx="1717675" cy="1150938"/>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606CC5B3-3D32-4C6C-8E1F-3758561C1FA7}"/>
              </a:ext>
            </a:extLst>
          </p:cNvPr>
          <p:cNvPicPr>
            <a:picLocks noChangeAspect="1"/>
          </p:cNvPicPr>
          <p:nvPr userDrawn="1"/>
        </p:nvPicPr>
        <p:blipFill>
          <a:blip r:embed="rId3">
            <a:extLst>
              <a:ext uri="{28A0092B-C50C-407E-A947-70E740481C1C}">
                <a14:useLocalDpi xmlns:a14="http://schemas.microsoft.com/office/drawing/2010/main" val="0"/>
              </a:ext>
            </a:extLst>
          </a:blip>
          <a:srcRect l="15067" t="26003" r="44786" b="11296"/>
          <a:stretch>
            <a:fillRect/>
          </a:stretch>
        </p:blipFill>
        <p:spPr bwMode="auto">
          <a:xfrm>
            <a:off x="1088144" y="3771617"/>
            <a:ext cx="1717675" cy="1857375"/>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sp>
        <p:nvSpPr>
          <p:cNvPr id="15" name="Rectangle 14">
            <a:extLst>
              <a:ext uri="{FF2B5EF4-FFF2-40B4-BE49-F238E27FC236}">
                <a16:creationId xmlns:a16="http://schemas.microsoft.com/office/drawing/2014/main" id="{BF1001AF-39AD-4F6C-8CC7-DE3F05F47402}"/>
              </a:ext>
            </a:extLst>
          </p:cNvPr>
          <p:cNvSpPr/>
          <p:nvPr userDrawn="1"/>
        </p:nvSpPr>
        <p:spPr>
          <a:xfrm>
            <a:off x="450762" y="5938338"/>
            <a:ext cx="8226000" cy="295275"/>
          </a:xfrm>
          <a:prstGeom prst="rect">
            <a:avLst/>
          </a:prstGeom>
          <a:solidFill>
            <a:srgbClr val="E34192"/>
          </a:solidFill>
          <a:ln>
            <a:solidFill>
              <a:srgbClr val="E3419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GB" sz="1100" b="1" dirty="0">
                <a:solidFill>
                  <a:schemeClr val="bg1"/>
                </a:solidFill>
                <a:latin typeface="Roboto" panose="02000000000000000000" pitchFamily="2" charset="0"/>
                <a:ea typeface="Roboto" panose="02000000000000000000" pitchFamily="2" charset="0"/>
                <a:cs typeface="Arial" panose="020B0604020202020204" pitchFamily="34" charset="0"/>
              </a:rPr>
              <a:t>Please note the embedded audio may not be compatible with earlier versions of PowerPoint. </a:t>
            </a:r>
          </a:p>
        </p:txBody>
      </p:sp>
      <p:grpSp>
        <p:nvGrpSpPr>
          <p:cNvPr id="16" name="Group 15">
            <a:extLst>
              <a:ext uri="{FF2B5EF4-FFF2-40B4-BE49-F238E27FC236}">
                <a16:creationId xmlns:a16="http://schemas.microsoft.com/office/drawing/2014/main" id="{F4C02CD7-54FA-442D-8552-484866B452A3}"/>
              </a:ext>
            </a:extLst>
          </p:cNvPr>
          <p:cNvGrpSpPr/>
          <p:nvPr userDrawn="1"/>
        </p:nvGrpSpPr>
        <p:grpSpPr>
          <a:xfrm>
            <a:off x="653175" y="1186618"/>
            <a:ext cx="2485137" cy="4640495"/>
            <a:chOff x="653175" y="1293580"/>
            <a:chExt cx="2485137" cy="4640495"/>
          </a:xfrm>
        </p:grpSpPr>
        <p:sp>
          <p:nvSpPr>
            <p:cNvPr id="17" name="Rectangle 16">
              <a:extLst>
                <a:ext uri="{FF2B5EF4-FFF2-40B4-BE49-F238E27FC236}">
                  <a16:creationId xmlns:a16="http://schemas.microsoft.com/office/drawing/2014/main" id="{70129BA9-07CA-4E45-BE89-A3B3D8B06794}"/>
                </a:ext>
              </a:extLst>
            </p:cNvPr>
            <p:cNvSpPr/>
            <p:nvPr/>
          </p:nvSpPr>
          <p:spPr>
            <a:xfrm>
              <a:off x="755650" y="1352601"/>
              <a:ext cx="2382662" cy="4581474"/>
            </a:xfrm>
            <a:prstGeom prst="rect">
              <a:avLst/>
            </a:prstGeom>
            <a:noFill/>
            <a:ln>
              <a:solidFill>
                <a:srgbClr val="18A0DB"/>
              </a:solidFill>
            </a:ln>
          </p:spPr>
          <p:style>
            <a:lnRef idx="2">
              <a:schemeClr val="accent1">
                <a:shade val="50000"/>
              </a:schemeClr>
            </a:lnRef>
            <a:fillRef idx="1">
              <a:schemeClr val="accent1"/>
            </a:fillRef>
            <a:effectRef idx="0">
              <a:schemeClr val="accent1"/>
            </a:effectRef>
            <a:fontRef idx="minor">
              <a:schemeClr val="lt1"/>
            </a:fontRef>
          </p:style>
          <p:txBody>
            <a:bodyPr lIns="216000" tIns="180000" rIns="216000" bIns="180000" anchor="t" anchorCtr="0"/>
            <a:lstStyle/>
            <a:p>
              <a:pPr>
                <a:defRPr/>
              </a:pPr>
              <a:r>
                <a:rPr lang="en-GB" sz="1400" dirty="0">
                  <a:solidFill>
                    <a:schemeClr val="tx1"/>
                  </a:solidFill>
                  <a:latin typeface="Roboto" panose="02000000000000000000" pitchFamily="2" charset="0"/>
                  <a:ea typeface="Roboto" panose="02000000000000000000" pitchFamily="2" charset="0"/>
                  <a:cs typeface="Arial" panose="020B0604020202020204" pitchFamily="34" charset="0"/>
                </a:rPr>
                <a:t>Open the downloaded folder and copy all the files.</a:t>
              </a:r>
            </a:p>
          </p:txBody>
        </p:sp>
        <p:sp>
          <p:nvSpPr>
            <p:cNvPr id="18" name="Oval 17">
              <a:extLst>
                <a:ext uri="{FF2B5EF4-FFF2-40B4-BE49-F238E27FC236}">
                  <a16:creationId xmlns:a16="http://schemas.microsoft.com/office/drawing/2014/main" id="{06AD645D-EF4C-43B9-BC02-E73591ACFEA8}"/>
                </a:ext>
              </a:extLst>
            </p:cNvPr>
            <p:cNvSpPr/>
            <p:nvPr/>
          </p:nvSpPr>
          <p:spPr>
            <a:xfrm>
              <a:off x="653175" y="1293580"/>
              <a:ext cx="301052" cy="301052"/>
            </a:xfrm>
            <a:prstGeom prst="ellipse">
              <a:avLst/>
            </a:prstGeom>
            <a:solidFill>
              <a:srgbClr val="18A0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latin typeface="Roboto" panose="02000000000000000000" pitchFamily="2" charset="0"/>
                  <a:ea typeface="Roboto" panose="02000000000000000000" pitchFamily="2" charset="0"/>
                </a:rPr>
                <a:t>1</a:t>
              </a:r>
            </a:p>
          </p:txBody>
        </p:sp>
      </p:grpSp>
      <p:grpSp>
        <p:nvGrpSpPr>
          <p:cNvPr id="19" name="Group 18">
            <a:extLst>
              <a:ext uri="{FF2B5EF4-FFF2-40B4-BE49-F238E27FC236}">
                <a16:creationId xmlns:a16="http://schemas.microsoft.com/office/drawing/2014/main" id="{08DFAC45-3E54-4D6A-98C4-CF211C83922E}"/>
              </a:ext>
            </a:extLst>
          </p:cNvPr>
          <p:cNvGrpSpPr/>
          <p:nvPr userDrawn="1"/>
        </p:nvGrpSpPr>
        <p:grpSpPr>
          <a:xfrm>
            <a:off x="3278194" y="1186618"/>
            <a:ext cx="2485137" cy="4640495"/>
            <a:chOff x="653175" y="1293580"/>
            <a:chExt cx="2485137" cy="4640495"/>
          </a:xfrm>
        </p:grpSpPr>
        <p:sp>
          <p:nvSpPr>
            <p:cNvPr id="20" name="Rectangle 19">
              <a:extLst>
                <a:ext uri="{FF2B5EF4-FFF2-40B4-BE49-F238E27FC236}">
                  <a16:creationId xmlns:a16="http://schemas.microsoft.com/office/drawing/2014/main" id="{F0CD5D4D-4B63-46DB-9525-B34F30B13615}"/>
                </a:ext>
              </a:extLst>
            </p:cNvPr>
            <p:cNvSpPr/>
            <p:nvPr/>
          </p:nvSpPr>
          <p:spPr>
            <a:xfrm>
              <a:off x="755650" y="1352601"/>
              <a:ext cx="2382662" cy="4581474"/>
            </a:xfrm>
            <a:prstGeom prst="rect">
              <a:avLst/>
            </a:prstGeom>
            <a:noFill/>
            <a:ln>
              <a:solidFill>
                <a:srgbClr val="18A0DB"/>
              </a:solidFill>
            </a:ln>
          </p:spPr>
          <p:style>
            <a:lnRef idx="2">
              <a:schemeClr val="accent1">
                <a:shade val="50000"/>
              </a:schemeClr>
            </a:lnRef>
            <a:fillRef idx="1">
              <a:schemeClr val="accent1"/>
            </a:fillRef>
            <a:effectRef idx="0">
              <a:schemeClr val="accent1"/>
            </a:effectRef>
            <a:fontRef idx="minor">
              <a:schemeClr val="lt1"/>
            </a:fontRef>
          </p:style>
          <p:txBody>
            <a:bodyPr lIns="216000" tIns="180000" rIns="216000" bIns="180000" anchor="t" anchorCtr="0"/>
            <a:lstStyle/>
            <a:p>
              <a:pPr>
                <a:defRPr/>
              </a:pPr>
              <a:r>
                <a:rPr lang="en-GB" sz="1400" dirty="0">
                  <a:solidFill>
                    <a:schemeClr val="tx1"/>
                  </a:solidFill>
                  <a:latin typeface="Roboto" panose="02000000000000000000" pitchFamily="2" charset="0"/>
                  <a:ea typeface="Roboto" panose="02000000000000000000" pitchFamily="2" charset="0"/>
                  <a:cs typeface="Arial" panose="020B0604020202020204" pitchFamily="34" charset="0"/>
                </a:rPr>
                <a:t>Paste the copied files into a new folder.</a:t>
              </a:r>
            </a:p>
          </p:txBody>
        </p:sp>
        <p:sp>
          <p:nvSpPr>
            <p:cNvPr id="21" name="Oval 20">
              <a:extLst>
                <a:ext uri="{FF2B5EF4-FFF2-40B4-BE49-F238E27FC236}">
                  <a16:creationId xmlns:a16="http://schemas.microsoft.com/office/drawing/2014/main" id="{E921D1FD-6ED8-4721-9B13-952826BF7583}"/>
                </a:ext>
              </a:extLst>
            </p:cNvPr>
            <p:cNvSpPr/>
            <p:nvPr/>
          </p:nvSpPr>
          <p:spPr>
            <a:xfrm>
              <a:off x="653175" y="1293580"/>
              <a:ext cx="301052" cy="301052"/>
            </a:xfrm>
            <a:prstGeom prst="ellipse">
              <a:avLst/>
            </a:prstGeom>
            <a:solidFill>
              <a:srgbClr val="18A0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latin typeface="Roboto" panose="02000000000000000000" pitchFamily="2" charset="0"/>
                  <a:ea typeface="Roboto" panose="02000000000000000000" pitchFamily="2" charset="0"/>
                </a:rPr>
                <a:t>2</a:t>
              </a:r>
            </a:p>
          </p:txBody>
        </p:sp>
      </p:grpSp>
      <p:grpSp>
        <p:nvGrpSpPr>
          <p:cNvPr id="22" name="Group 21">
            <a:extLst>
              <a:ext uri="{FF2B5EF4-FFF2-40B4-BE49-F238E27FC236}">
                <a16:creationId xmlns:a16="http://schemas.microsoft.com/office/drawing/2014/main" id="{2E64373C-29B9-44AD-BBFF-1C2B6CB8B856}"/>
              </a:ext>
            </a:extLst>
          </p:cNvPr>
          <p:cNvGrpSpPr/>
          <p:nvPr userDrawn="1"/>
        </p:nvGrpSpPr>
        <p:grpSpPr>
          <a:xfrm>
            <a:off x="5903213" y="1186618"/>
            <a:ext cx="2485137" cy="4640495"/>
            <a:chOff x="653175" y="1293580"/>
            <a:chExt cx="2485137" cy="4640495"/>
          </a:xfrm>
        </p:grpSpPr>
        <p:sp>
          <p:nvSpPr>
            <p:cNvPr id="23" name="Rectangle 22">
              <a:extLst>
                <a:ext uri="{FF2B5EF4-FFF2-40B4-BE49-F238E27FC236}">
                  <a16:creationId xmlns:a16="http://schemas.microsoft.com/office/drawing/2014/main" id="{3F8F64B4-C8AD-4F3A-AC24-CC1D1D7B43F0}"/>
                </a:ext>
              </a:extLst>
            </p:cNvPr>
            <p:cNvSpPr/>
            <p:nvPr/>
          </p:nvSpPr>
          <p:spPr>
            <a:xfrm>
              <a:off x="755650" y="1352601"/>
              <a:ext cx="2382662" cy="4581474"/>
            </a:xfrm>
            <a:prstGeom prst="rect">
              <a:avLst/>
            </a:prstGeom>
            <a:noFill/>
            <a:ln>
              <a:solidFill>
                <a:srgbClr val="18A0DB"/>
              </a:solidFill>
            </a:ln>
          </p:spPr>
          <p:style>
            <a:lnRef idx="2">
              <a:schemeClr val="accent1">
                <a:shade val="50000"/>
              </a:schemeClr>
            </a:lnRef>
            <a:fillRef idx="1">
              <a:schemeClr val="accent1"/>
            </a:fillRef>
            <a:effectRef idx="0">
              <a:schemeClr val="accent1"/>
            </a:effectRef>
            <a:fontRef idx="minor">
              <a:schemeClr val="lt1"/>
            </a:fontRef>
          </p:style>
          <p:txBody>
            <a:bodyPr lIns="216000" tIns="180000" rIns="216000" bIns="180000" anchor="t" anchorCtr="0"/>
            <a:lstStyle/>
            <a:p>
              <a:pPr>
                <a:defRPr/>
              </a:pPr>
              <a:r>
                <a:rPr lang="en-GB" sz="1400" dirty="0">
                  <a:solidFill>
                    <a:schemeClr val="tx1"/>
                  </a:solidFill>
                  <a:latin typeface="Roboto" panose="02000000000000000000" pitchFamily="2" charset="0"/>
                  <a:ea typeface="Roboto" panose="02000000000000000000" pitchFamily="2" charset="0"/>
                  <a:cs typeface="Arial" panose="020B0604020202020204" pitchFamily="34" charset="0"/>
                </a:rPr>
                <a:t>To use the PowerPoint, enable editing and put into slide show mode.</a:t>
              </a:r>
            </a:p>
          </p:txBody>
        </p:sp>
        <p:sp>
          <p:nvSpPr>
            <p:cNvPr id="24" name="Oval 23">
              <a:extLst>
                <a:ext uri="{FF2B5EF4-FFF2-40B4-BE49-F238E27FC236}">
                  <a16:creationId xmlns:a16="http://schemas.microsoft.com/office/drawing/2014/main" id="{306893F1-C2B6-43EB-825A-DA5B276C8908}"/>
                </a:ext>
              </a:extLst>
            </p:cNvPr>
            <p:cNvSpPr/>
            <p:nvPr/>
          </p:nvSpPr>
          <p:spPr>
            <a:xfrm>
              <a:off x="653175" y="1293580"/>
              <a:ext cx="301052" cy="301052"/>
            </a:xfrm>
            <a:prstGeom prst="ellipse">
              <a:avLst/>
            </a:prstGeom>
            <a:solidFill>
              <a:srgbClr val="18A0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latin typeface="Roboto" panose="02000000000000000000" pitchFamily="2" charset="0"/>
                  <a:ea typeface="Roboto" panose="02000000000000000000" pitchFamily="2" charset="0"/>
                </a:rPr>
                <a:t>3</a:t>
              </a:r>
            </a:p>
          </p:txBody>
        </p:sp>
      </p:grpSp>
      <p:pic>
        <p:nvPicPr>
          <p:cNvPr id="25" name="Picture 24">
            <a:extLst>
              <a:ext uri="{FF2B5EF4-FFF2-40B4-BE49-F238E27FC236}">
                <a16:creationId xmlns:a16="http://schemas.microsoft.com/office/drawing/2014/main" id="{F8E75E30-3E3D-4F9B-9EF6-9A9630C27CBB}"/>
              </a:ext>
            </a:extLst>
          </p:cNvPr>
          <p:cNvPicPr>
            <a:picLocks noChangeAspect="1"/>
          </p:cNvPicPr>
          <p:nvPr userDrawn="1"/>
        </p:nvPicPr>
        <p:blipFill>
          <a:blip r:embed="rId4">
            <a:extLst>
              <a:ext uri="{28A0092B-C50C-407E-A947-70E740481C1C}">
                <a14:useLocalDpi xmlns:a14="http://schemas.microsoft.com/office/drawing/2010/main" val="0"/>
              </a:ext>
            </a:extLst>
          </a:blip>
          <a:srcRect l="14085" t="17912" r="52493" b="25307"/>
          <a:stretch>
            <a:fillRect/>
          </a:stretch>
        </p:blipFill>
        <p:spPr bwMode="auto">
          <a:xfrm>
            <a:off x="3720306" y="2435955"/>
            <a:ext cx="1703388" cy="2003425"/>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pic>
        <p:nvPicPr>
          <p:cNvPr id="26" name="Picture 25">
            <a:extLst>
              <a:ext uri="{FF2B5EF4-FFF2-40B4-BE49-F238E27FC236}">
                <a16:creationId xmlns:a16="http://schemas.microsoft.com/office/drawing/2014/main" id="{E55EBE21-985E-4E8F-B68C-A7F9AB89D609}"/>
              </a:ext>
            </a:extLst>
          </p:cNvPr>
          <p:cNvPicPr>
            <a:picLocks noChangeAspect="1"/>
          </p:cNvPicPr>
          <p:nvPr userDrawn="1"/>
        </p:nvPicPr>
        <p:blipFill>
          <a:blip r:embed="rId5">
            <a:extLst>
              <a:ext uri="{28A0092B-C50C-407E-A947-70E740481C1C}">
                <a14:useLocalDpi xmlns:a14="http://schemas.microsoft.com/office/drawing/2010/main" val="0"/>
              </a:ext>
            </a:extLst>
          </a:blip>
          <a:srcRect t="65628"/>
          <a:stretch>
            <a:fillRect/>
          </a:stretch>
        </p:blipFill>
        <p:spPr bwMode="auto">
          <a:xfrm>
            <a:off x="6114362" y="3710564"/>
            <a:ext cx="2165314" cy="1601754"/>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12AA4B95-3CCC-45E1-B7B1-343CCBC6F42A}"/>
              </a:ext>
            </a:extLst>
          </p:cNvPr>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6114344" y="2435955"/>
            <a:ext cx="2165350" cy="225425"/>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grpSp>
        <p:nvGrpSpPr>
          <p:cNvPr id="28" name="Group 27">
            <a:extLst>
              <a:ext uri="{FF2B5EF4-FFF2-40B4-BE49-F238E27FC236}">
                <a16:creationId xmlns:a16="http://schemas.microsoft.com/office/drawing/2014/main" id="{EB959152-16E0-47A5-9814-E4CDFB5F1B4A}"/>
              </a:ext>
            </a:extLst>
          </p:cNvPr>
          <p:cNvGrpSpPr/>
          <p:nvPr userDrawn="1"/>
        </p:nvGrpSpPr>
        <p:grpSpPr>
          <a:xfrm>
            <a:off x="6114362" y="2862122"/>
            <a:ext cx="2165350" cy="690207"/>
            <a:chOff x="6137101" y="2837944"/>
            <a:chExt cx="2165350" cy="690207"/>
          </a:xfrm>
        </p:grpSpPr>
        <p:grpSp>
          <p:nvGrpSpPr>
            <p:cNvPr id="29" name="Group 28">
              <a:extLst>
                <a:ext uri="{FF2B5EF4-FFF2-40B4-BE49-F238E27FC236}">
                  <a16:creationId xmlns:a16="http://schemas.microsoft.com/office/drawing/2014/main" id="{2AA9C2EC-978E-419F-A507-D371B5CA5B55}"/>
                </a:ext>
              </a:extLst>
            </p:cNvPr>
            <p:cNvGrpSpPr>
              <a:grpSpLocks/>
            </p:cNvGrpSpPr>
            <p:nvPr/>
          </p:nvGrpSpPr>
          <p:grpSpPr bwMode="auto">
            <a:xfrm>
              <a:off x="6137101" y="2837944"/>
              <a:ext cx="2165350" cy="647700"/>
              <a:chOff x="6164808" y="2589878"/>
              <a:chExt cx="2165459" cy="647296"/>
            </a:xfrm>
          </p:grpSpPr>
          <p:pic>
            <p:nvPicPr>
              <p:cNvPr id="31" name="Picture 30">
                <a:extLst>
                  <a:ext uri="{FF2B5EF4-FFF2-40B4-BE49-F238E27FC236}">
                    <a16:creationId xmlns:a16="http://schemas.microsoft.com/office/drawing/2014/main" id="{B5145F20-A130-4EC9-B902-0B2D234C1C06}"/>
                  </a:ext>
                </a:extLst>
              </p:cNvPr>
              <p:cNvPicPr>
                <a:picLocks noChangeAspect="1"/>
              </p:cNvPicPr>
              <p:nvPr/>
            </p:nvPicPr>
            <p:blipFill>
              <a:blip r:embed="rId7">
                <a:extLst>
                  <a:ext uri="{28A0092B-C50C-407E-A947-70E740481C1C}">
                    <a14:useLocalDpi xmlns:a14="http://schemas.microsoft.com/office/drawing/2010/main" val="0"/>
                  </a:ext>
                </a:extLst>
              </a:blip>
              <a:srcRect t="60687"/>
              <a:stretch>
                <a:fillRect/>
              </a:stretch>
            </p:blipFill>
            <p:spPr bwMode="auto">
              <a:xfrm>
                <a:off x="6164808" y="2589878"/>
                <a:ext cx="2165459" cy="647296"/>
              </a:xfrm>
              <a:prstGeom prst="rect">
                <a:avLst/>
              </a:prstGeom>
              <a:noFill/>
              <a:ln w="12700">
                <a:solidFill>
                  <a:srgbClr val="E34192"/>
                </a:solidFill>
                <a:miter lim="800000"/>
                <a:headEnd/>
                <a:tailEnd/>
              </a:ln>
              <a:extLst>
                <a:ext uri="{909E8E84-426E-40DD-AFC4-6F175D3DCCD1}">
                  <a14:hiddenFill xmlns:a14="http://schemas.microsoft.com/office/drawing/2010/main">
                    <a:solidFill>
                      <a:srgbClr val="FFFFFF"/>
                    </a:solidFill>
                  </a14:hiddenFill>
                </a:ext>
              </a:extLst>
            </p:spPr>
          </p:pic>
          <p:cxnSp>
            <p:nvCxnSpPr>
              <p:cNvPr id="32" name="Straight Arrow Connector 31">
                <a:extLst>
                  <a:ext uri="{FF2B5EF4-FFF2-40B4-BE49-F238E27FC236}">
                    <a16:creationId xmlns:a16="http://schemas.microsoft.com/office/drawing/2014/main" id="{7209CC96-78F3-4B82-BE38-23F76BEC0573}"/>
                  </a:ext>
                </a:extLst>
              </p:cNvPr>
              <p:cNvCxnSpPr/>
              <p:nvPr/>
            </p:nvCxnSpPr>
            <p:spPr>
              <a:xfrm flipH="1">
                <a:off x="7949742" y="2768837"/>
                <a:ext cx="79379" cy="287158"/>
              </a:xfrm>
              <a:prstGeom prst="straightConnector1">
                <a:avLst/>
              </a:prstGeom>
              <a:ln w="19050">
                <a:solidFill>
                  <a:srgbClr val="18A0DB"/>
                </a:solidFill>
                <a:tailEnd type="triangle"/>
              </a:ln>
            </p:spPr>
            <p:style>
              <a:lnRef idx="1">
                <a:schemeClr val="accent1"/>
              </a:lnRef>
              <a:fillRef idx="0">
                <a:schemeClr val="accent1"/>
              </a:fillRef>
              <a:effectRef idx="0">
                <a:schemeClr val="accent1"/>
              </a:effectRef>
              <a:fontRef idx="minor">
                <a:schemeClr val="tx1"/>
              </a:fontRef>
            </p:style>
          </p:cxnSp>
        </p:grpSp>
        <p:sp>
          <p:nvSpPr>
            <p:cNvPr id="30" name="Oval 29">
              <a:extLst>
                <a:ext uri="{FF2B5EF4-FFF2-40B4-BE49-F238E27FC236}">
                  <a16:creationId xmlns:a16="http://schemas.microsoft.com/office/drawing/2014/main" id="{289AD21C-A27E-4E30-8AB2-27CBD6E49F15}"/>
                </a:ext>
              </a:extLst>
            </p:cNvPr>
            <p:cNvSpPr/>
            <p:nvPr/>
          </p:nvSpPr>
          <p:spPr>
            <a:xfrm>
              <a:off x="7790917" y="3317748"/>
              <a:ext cx="210403" cy="210403"/>
            </a:xfrm>
            <a:prstGeom prst="ellipse">
              <a:avLst/>
            </a:prstGeom>
            <a:noFill/>
            <a:ln w="19050">
              <a:solidFill>
                <a:srgbClr val="18A0D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45" name="TextBox 44">
            <a:extLst>
              <a:ext uri="{FF2B5EF4-FFF2-40B4-BE49-F238E27FC236}">
                <a16:creationId xmlns:a16="http://schemas.microsoft.com/office/drawing/2014/main" id="{3642231C-A2F6-4367-90C6-0767E987F9A9}"/>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Guidance for Video/Audio in PowerPoints</a:t>
            </a:r>
            <a:endParaRPr lang="en-GB" sz="2800" b="1" dirty="0">
              <a:solidFill>
                <a:srgbClr val="E34192"/>
              </a:solidFill>
            </a:endParaRPr>
          </a:p>
        </p:txBody>
      </p:sp>
    </p:spTree>
    <p:extLst>
      <p:ext uri="{BB962C8B-B14F-4D97-AF65-F5344CB8AC3E}">
        <p14:creationId xmlns:p14="http://schemas.microsoft.com/office/powerpoint/2010/main" val="3959364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dvance Copy">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sp>
        <p:nvSpPr>
          <p:cNvPr id="43" name="Rectangle 42">
            <a:extLst>
              <a:ext uri="{FF2B5EF4-FFF2-40B4-BE49-F238E27FC236}">
                <a16:creationId xmlns:a16="http://schemas.microsoft.com/office/drawing/2014/main" id="{6A96975B-C3DC-451D-8423-D15D5BCDB436}"/>
              </a:ext>
            </a:extLst>
          </p:cNvPr>
          <p:cNvSpPr/>
          <p:nvPr/>
        </p:nvSpPr>
        <p:spPr>
          <a:xfrm>
            <a:off x="755649" y="1716190"/>
            <a:ext cx="7632700" cy="1236438"/>
          </a:xfrm>
          <a:prstGeom prst="rect">
            <a:avLst/>
          </a:prstGeom>
          <a:noFill/>
          <a:ln w="19050">
            <a:solidFill>
              <a:srgbClr val="18A0DB"/>
            </a:solidFill>
          </a:ln>
        </p:spPr>
        <p:txBody>
          <a:bodyPr wrap="square" lIns="216000" tIns="216000" rIns="216000" bIns="216000">
            <a:spAutoFit/>
          </a:bodyPr>
          <a:lstStyle/>
          <a:p>
            <a:pPr algn="ctr">
              <a:spcAft>
                <a:spcPts val="600"/>
              </a:spcAft>
            </a:pPr>
            <a:r>
              <a:rPr lang="en-GB" sz="1400" dirty="0">
                <a:latin typeface="Roboto" panose="02000000000000000000" pitchFamily="2" charset="0"/>
                <a:ea typeface="Roboto" panose="02000000000000000000" pitchFamily="2" charset="0"/>
              </a:rPr>
              <a:t>This is an </a:t>
            </a:r>
            <a:r>
              <a:rPr lang="en-GB" sz="1400" b="1" dirty="0">
                <a:latin typeface="Roboto" panose="02000000000000000000" pitchFamily="2" charset="0"/>
                <a:ea typeface="Roboto" panose="02000000000000000000" pitchFamily="2" charset="0"/>
              </a:rPr>
              <a:t>exclusive, advance copy!</a:t>
            </a:r>
          </a:p>
          <a:p>
            <a:pPr algn="ctr">
              <a:spcAft>
                <a:spcPts val="600"/>
              </a:spcAft>
            </a:pPr>
            <a:r>
              <a:rPr lang="en-GB" sz="1400" dirty="0">
                <a:latin typeface="Roboto" panose="02000000000000000000" pitchFamily="2" charset="0"/>
                <a:ea typeface="Roboto" panose="02000000000000000000" pitchFamily="2" charset="0"/>
              </a:rPr>
              <a:t>Let us know what you think by emailing </a:t>
            </a:r>
            <a:r>
              <a:rPr lang="en-GB" sz="1400" b="1" u="sng" dirty="0">
                <a:latin typeface="Roboto" panose="02000000000000000000" pitchFamily="2" charset="0"/>
                <a:ea typeface="Roboto" panose="02000000000000000000" pitchFamily="2" charset="0"/>
                <a:hlinkClick r:id="rId2"/>
              </a:rPr>
              <a:t>twinklcares@twinkl.co.uk</a:t>
            </a:r>
            <a:endParaRPr lang="en-GB" sz="1400" b="1" u="sng" dirty="0">
              <a:latin typeface="Roboto" panose="02000000000000000000" pitchFamily="2" charset="0"/>
              <a:ea typeface="Roboto" panose="02000000000000000000" pitchFamily="2" charset="0"/>
            </a:endParaRPr>
          </a:p>
          <a:p>
            <a:pPr algn="ctr">
              <a:spcAft>
                <a:spcPts val="600"/>
              </a:spcAft>
            </a:pPr>
            <a:r>
              <a:rPr lang="en-GB" sz="1400" dirty="0">
                <a:latin typeface="Roboto" panose="02000000000000000000" pitchFamily="2" charset="0"/>
                <a:ea typeface="Roboto" panose="02000000000000000000" pitchFamily="2" charset="0"/>
              </a:rPr>
              <a:t>with the reference ‘</a:t>
            </a:r>
            <a:r>
              <a:rPr lang="en-GB" sz="1400" b="1" dirty="0">
                <a:latin typeface="Roboto" panose="02000000000000000000" pitchFamily="2" charset="0"/>
                <a:ea typeface="Roboto" panose="02000000000000000000" pitchFamily="2" charset="0"/>
              </a:rPr>
              <a:t>CODE</a:t>
            </a:r>
            <a:r>
              <a:rPr lang="en-GB" sz="1400" dirty="0">
                <a:latin typeface="Roboto" panose="02000000000000000000" pitchFamily="2" charset="0"/>
                <a:ea typeface="Roboto" panose="02000000000000000000" pitchFamily="2" charset="0"/>
              </a:rPr>
              <a:t>’.</a:t>
            </a:r>
          </a:p>
        </p:txBody>
      </p:sp>
      <p:sp>
        <p:nvSpPr>
          <p:cNvPr id="44" name="Rectangle 43">
            <a:extLst>
              <a:ext uri="{FF2B5EF4-FFF2-40B4-BE49-F238E27FC236}">
                <a16:creationId xmlns:a16="http://schemas.microsoft.com/office/drawing/2014/main" id="{C01BCBF7-EAB4-4398-AAB8-B60AC3555113}"/>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sp>
        <p:nvSpPr>
          <p:cNvPr id="45" name="TextBox 44">
            <a:extLst>
              <a:ext uri="{FF2B5EF4-FFF2-40B4-BE49-F238E27FC236}">
                <a16:creationId xmlns:a16="http://schemas.microsoft.com/office/drawing/2014/main" id="{3F3091BF-D025-46EF-A448-B4F13C76E242}"/>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Advance Copy</a:t>
            </a:r>
            <a:endParaRPr lang="en-GB" sz="2800" b="1" dirty="0">
              <a:solidFill>
                <a:srgbClr val="E34192"/>
              </a:solidFill>
            </a:endParaRPr>
          </a:p>
        </p:txBody>
      </p:sp>
    </p:spTree>
    <p:extLst>
      <p:ext uri="{BB962C8B-B14F-4D97-AF65-F5344CB8AC3E}">
        <p14:creationId xmlns:p14="http://schemas.microsoft.com/office/powerpoint/2010/main" val="13864598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nimation and Editable Resource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grpSp>
        <p:nvGrpSpPr>
          <p:cNvPr id="41" name="Group 40">
            <a:extLst>
              <a:ext uri="{FF2B5EF4-FFF2-40B4-BE49-F238E27FC236}">
                <a16:creationId xmlns:a16="http://schemas.microsoft.com/office/drawing/2014/main" id="{2BB4EA30-0107-4362-9222-C6055ABF324A}"/>
              </a:ext>
            </a:extLst>
          </p:cNvPr>
          <p:cNvGrpSpPr/>
          <p:nvPr userDrawn="1"/>
        </p:nvGrpSpPr>
        <p:grpSpPr>
          <a:xfrm>
            <a:off x="743835" y="3604852"/>
            <a:ext cx="7644513" cy="1571953"/>
            <a:chOff x="743837" y="1344834"/>
            <a:chExt cx="7644513" cy="1571953"/>
          </a:xfrm>
        </p:grpSpPr>
        <p:sp>
          <p:nvSpPr>
            <p:cNvPr id="42" name="Rectangle 41">
              <a:extLst>
                <a:ext uri="{FF2B5EF4-FFF2-40B4-BE49-F238E27FC236}">
                  <a16:creationId xmlns:a16="http://schemas.microsoft.com/office/drawing/2014/main" id="{0DF60415-D303-4DFE-A6B8-E0AB42EF4DDC}"/>
                </a:ext>
              </a:extLst>
            </p:cNvPr>
            <p:cNvSpPr/>
            <p:nvPr/>
          </p:nvSpPr>
          <p:spPr>
            <a:xfrm>
              <a:off x="743837" y="1344834"/>
              <a:ext cx="1266195"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GB" sz="1600" b="1" dirty="0">
                  <a:latin typeface="Roboto" panose="02000000000000000000" pitchFamily="2" charset="0"/>
                  <a:ea typeface="Roboto" panose="02000000000000000000" pitchFamily="2" charset="0"/>
                </a:rPr>
                <a:t>Editable</a:t>
              </a:r>
            </a:p>
          </p:txBody>
        </p:sp>
        <p:sp>
          <p:nvSpPr>
            <p:cNvPr id="43" name="Rectangle 42">
              <a:extLst>
                <a:ext uri="{FF2B5EF4-FFF2-40B4-BE49-F238E27FC236}">
                  <a16:creationId xmlns:a16="http://schemas.microsoft.com/office/drawing/2014/main" id="{6A96975B-C3DC-451D-8423-D15D5BCDB436}"/>
                </a:ext>
              </a:extLst>
            </p:cNvPr>
            <p:cNvSpPr/>
            <p:nvPr/>
          </p:nvSpPr>
          <p:spPr>
            <a:xfrm>
              <a:off x="755650" y="1618794"/>
              <a:ext cx="7632700" cy="1297993"/>
            </a:xfrm>
            <a:prstGeom prst="rect">
              <a:avLst/>
            </a:prstGeom>
            <a:noFill/>
            <a:ln w="19050">
              <a:solidFill>
                <a:srgbClr val="18A0DB"/>
              </a:solidFill>
            </a:ln>
          </p:spPr>
          <p:txBody>
            <a:bodyPr wrap="square" lIns="216000" tIns="216000" rIns="216000" bIns="216000">
              <a:spAutoFit/>
            </a:bodyPr>
            <a:lstStyle/>
            <a:p>
              <a:pPr>
                <a:spcAft>
                  <a:spcPts val="600"/>
                </a:spcAft>
              </a:pPr>
              <a:r>
                <a:rPr lang="en-GB" sz="1400" b="0" i="0" dirty="0">
                  <a:solidFill>
                    <a:srgbClr val="202124"/>
                  </a:solidFill>
                  <a:effectLst/>
                  <a:latin typeface="Roboto" panose="02000000000000000000" pitchFamily="2" charset="0"/>
                </a:rPr>
                <a:t>This resource is editable and can be adapted to meet the needs of different learners. Twinkl cannot be held responsible for any changes made once a resource has been downloaded. Please be aware that this content may have been edited and therefore </a:t>
              </a:r>
              <a:br>
                <a:rPr lang="en-GB" sz="1400" b="0" i="0" dirty="0">
                  <a:solidFill>
                    <a:srgbClr val="202124"/>
                  </a:solidFill>
                  <a:effectLst/>
                  <a:latin typeface="Roboto" panose="02000000000000000000" pitchFamily="2" charset="0"/>
                </a:rPr>
              </a:br>
              <a:r>
                <a:rPr lang="en-GB" sz="1400" b="0" i="0" dirty="0">
                  <a:solidFill>
                    <a:srgbClr val="202124"/>
                  </a:solidFill>
                  <a:effectLst/>
                  <a:latin typeface="Roboto" panose="02000000000000000000" pitchFamily="2" charset="0"/>
                </a:rPr>
                <a:t>may no longer reflect our values.</a:t>
              </a:r>
              <a:endParaRPr lang="en-GB" sz="1400" dirty="0">
                <a:latin typeface="Roboto" panose="02000000000000000000" pitchFamily="2" charset="0"/>
                <a:ea typeface="Roboto" panose="02000000000000000000" pitchFamily="2" charset="0"/>
              </a:endParaRPr>
            </a:p>
          </p:txBody>
        </p:sp>
      </p:grpSp>
      <p:sp>
        <p:nvSpPr>
          <p:cNvPr id="44" name="Rectangle 43">
            <a:extLst>
              <a:ext uri="{FF2B5EF4-FFF2-40B4-BE49-F238E27FC236}">
                <a16:creationId xmlns:a16="http://schemas.microsoft.com/office/drawing/2014/main" id="{C01BCBF7-EAB4-4398-AAB8-B60AC3555113}"/>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sp>
        <p:nvSpPr>
          <p:cNvPr id="45" name="TextBox 44">
            <a:extLst>
              <a:ext uri="{FF2B5EF4-FFF2-40B4-BE49-F238E27FC236}">
                <a16:creationId xmlns:a16="http://schemas.microsoft.com/office/drawing/2014/main" id="{3F3091BF-D025-46EF-A448-B4F13C76E242}"/>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sp>
        <p:nvSpPr>
          <p:cNvPr id="2" name="Rectangle 1">
            <a:extLst>
              <a:ext uri="{FF2B5EF4-FFF2-40B4-BE49-F238E27FC236}">
                <a16:creationId xmlns:a16="http://schemas.microsoft.com/office/drawing/2014/main" id="{831FCADC-C0C1-A512-A0E6-00735A98EE23}"/>
              </a:ext>
            </a:extLst>
          </p:cNvPr>
          <p:cNvSpPr/>
          <p:nvPr userDrawn="1"/>
        </p:nvSpPr>
        <p:spPr>
          <a:xfrm>
            <a:off x="743835" y="1681195"/>
            <a:ext cx="3162243"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r>
              <a:rPr lang="en-GB" sz="1600" b="1" i="0" dirty="0">
                <a:solidFill>
                  <a:schemeClr val="bg1"/>
                </a:solidFill>
                <a:effectLst/>
                <a:latin typeface="Roboto" panose="02000000000000000000" pitchFamily="2" charset="0"/>
                <a:ea typeface="Roboto" panose="02000000000000000000" pitchFamily="2" charset="0"/>
              </a:rPr>
              <a:t>'Presentation Mode' PowerPoint</a:t>
            </a:r>
            <a:endParaRPr lang="en-GB" sz="1600" b="1" i="0" dirty="0">
              <a:solidFill>
                <a:schemeClr val="bg1"/>
              </a:solidFill>
              <a:latin typeface="Roboto" panose="02000000000000000000" pitchFamily="2" charset="0"/>
              <a:ea typeface="Roboto" panose="02000000000000000000" pitchFamily="2" charset="0"/>
            </a:endParaRPr>
          </a:p>
        </p:txBody>
      </p:sp>
      <p:sp>
        <p:nvSpPr>
          <p:cNvPr id="3" name="Rectangle 2">
            <a:extLst>
              <a:ext uri="{FF2B5EF4-FFF2-40B4-BE49-F238E27FC236}">
                <a16:creationId xmlns:a16="http://schemas.microsoft.com/office/drawing/2014/main" id="{F88C9B18-CEF9-33DD-B6BC-F4FAE51CB874}"/>
              </a:ext>
            </a:extLst>
          </p:cNvPr>
          <p:cNvSpPr/>
          <p:nvPr userDrawn="1"/>
        </p:nvSpPr>
        <p:spPr>
          <a:xfrm>
            <a:off x="755648" y="1955155"/>
            <a:ext cx="7632700" cy="1513437"/>
          </a:xfrm>
          <a:prstGeom prst="rect">
            <a:avLst/>
          </a:prstGeom>
          <a:noFill/>
          <a:ln w="19050">
            <a:solidFill>
              <a:srgbClr val="18A0DB"/>
            </a:solidFill>
          </a:ln>
        </p:spPr>
        <p:txBody>
          <a:bodyPr wrap="square" lIns="216000" tIns="216000" rIns="216000" bIns="216000">
            <a:spAutoFit/>
          </a:bodyPr>
          <a:lstStyle/>
          <a:p>
            <a:pPr>
              <a:spcAft>
                <a:spcPts val="600"/>
              </a:spcAft>
            </a:pPr>
            <a:r>
              <a:rPr lang="en-GB" sz="1400" b="0" i="0" dirty="0">
                <a:solidFill>
                  <a:srgbClr val="000000"/>
                </a:solidFill>
                <a:effectLst/>
                <a:latin typeface="Roboto" panose="02000000000000000000" pitchFamily="2" charset="0"/>
                <a:ea typeface="Roboto" panose="02000000000000000000" pitchFamily="2" charset="0"/>
              </a:rPr>
              <a:t>We hope you find the information on our website and resources useful. This resource has been designed to be compatible with Microsoft PowerPoint. To view the content in the correct formatting, please view the presentation using </a:t>
            </a:r>
            <a:r>
              <a:rPr lang="en-GB" sz="1400" b="1" i="0" dirty="0">
                <a:solidFill>
                  <a:srgbClr val="000000"/>
                </a:solidFill>
                <a:effectLst/>
                <a:latin typeface="Roboto" panose="02000000000000000000" pitchFamily="2" charset="0"/>
                <a:ea typeface="Roboto" panose="02000000000000000000" pitchFamily="2" charset="0"/>
              </a:rPr>
              <a:t>PowerPoint in Slide Show mode</a:t>
            </a:r>
            <a:r>
              <a:rPr lang="en-GB" sz="1400" b="0" i="0" dirty="0">
                <a:solidFill>
                  <a:srgbClr val="000000"/>
                </a:solidFill>
                <a:effectLst/>
                <a:latin typeface="Roboto" panose="02000000000000000000" pitchFamily="2" charset="0"/>
                <a:ea typeface="Roboto" panose="02000000000000000000" pitchFamily="2" charset="0"/>
              </a:rPr>
              <a:t>. If you view the slides using other presentation software or out of Slide Show mode, you may find that some of the text and images overlap each other and/or are difficult to read.</a:t>
            </a:r>
            <a:endParaRPr lang="en-GB" sz="1400"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624152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Editable Resource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grpSp>
        <p:nvGrpSpPr>
          <p:cNvPr id="41" name="Group 40">
            <a:extLst>
              <a:ext uri="{FF2B5EF4-FFF2-40B4-BE49-F238E27FC236}">
                <a16:creationId xmlns:a16="http://schemas.microsoft.com/office/drawing/2014/main" id="{2BB4EA30-0107-4362-9222-C6055ABF324A}"/>
              </a:ext>
            </a:extLst>
          </p:cNvPr>
          <p:cNvGrpSpPr/>
          <p:nvPr userDrawn="1"/>
        </p:nvGrpSpPr>
        <p:grpSpPr>
          <a:xfrm>
            <a:off x="743835" y="1681195"/>
            <a:ext cx="7644513" cy="1571953"/>
            <a:chOff x="743837" y="1344834"/>
            <a:chExt cx="7644513" cy="1571953"/>
          </a:xfrm>
        </p:grpSpPr>
        <p:sp>
          <p:nvSpPr>
            <p:cNvPr id="42" name="Rectangle 41">
              <a:extLst>
                <a:ext uri="{FF2B5EF4-FFF2-40B4-BE49-F238E27FC236}">
                  <a16:creationId xmlns:a16="http://schemas.microsoft.com/office/drawing/2014/main" id="{0DF60415-D303-4DFE-A6B8-E0AB42EF4DDC}"/>
                </a:ext>
              </a:extLst>
            </p:cNvPr>
            <p:cNvSpPr/>
            <p:nvPr/>
          </p:nvSpPr>
          <p:spPr>
            <a:xfrm>
              <a:off x="743837" y="1344834"/>
              <a:ext cx="1266195"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pPr algn="ctr"/>
              <a:r>
                <a:rPr lang="en-GB" sz="1600" b="1" dirty="0">
                  <a:latin typeface="Roboto" panose="02000000000000000000" pitchFamily="2" charset="0"/>
                  <a:ea typeface="Roboto" panose="02000000000000000000" pitchFamily="2" charset="0"/>
                </a:rPr>
                <a:t>Editable</a:t>
              </a:r>
            </a:p>
          </p:txBody>
        </p:sp>
        <p:sp>
          <p:nvSpPr>
            <p:cNvPr id="43" name="Rectangle 42">
              <a:extLst>
                <a:ext uri="{FF2B5EF4-FFF2-40B4-BE49-F238E27FC236}">
                  <a16:creationId xmlns:a16="http://schemas.microsoft.com/office/drawing/2014/main" id="{6A96975B-C3DC-451D-8423-D15D5BCDB436}"/>
                </a:ext>
              </a:extLst>
            </p:cNvPr>
            <p:cNvSpPr/>
            <p:nvPr/>
          </p:nvSpPr>
          <p:spPr>
            <a:xfrm>
              <a:off x="755650" y="1618794"/>
              <a:ext cx="7632700" cy="1297993"/>
            </a:xfrm>
            <a:prstGeom prst="rect">
              <a:avLst/>
            </a:prstGeom>
            <a:noFill/>
            <a:ln w="19050">
              <a:solidFill>
                <a:srgbClr val="18A0DB"/>
              </a:solidFill>
            </a:ln>
          </p:spPr>
          <p:txBody>
            <a:bodyPr wrap="square" lIns="216000" tIns="216000" rIns="216000" bIns="216000">
              <a:spAutoFit/>
            </a:bodyPr>
            <a:lstStyle/>
            <a:p>
              <a:pPr>
                <a:spcAft>
                  <a:spcPts val="600"/>
                </a:spcAft>
              </a:pPr>
              <a:r>
                <a:rPr lang="en-GB" sz="1400" b="0" i="0" dirty="0">
                  <a:solidFill>
                    <a:srgbClr val="202124"/>
                  </a:solidFill>
                  <a:effectLst/>
                  <a:latin typeface="Roboto" panose="02000000000000000000" pitchFamily="2" charset="0"/>
                </a:rPr>
                <a:t>This resource is editable and can be adapted to meet the needs of different learners. Twinkl cannot be held responsible for any changes made once a resource has been downloaded. Please be aware that this content may have been edited and therefore </a:t>
              </a:r>
              <a:br>
                <a:rPr lang="en-GB" sz="1400" b="0" i="0" dirty="0">
                  <a:solidFill>
                    <a:srgbClr val="202124"/>
                  </a:solidFill>
                  <a:effectLst/>
                  <a:latin typeface="Roboto" panose="02000000000000000000" pitchFamily="2" charset="0"/>
                </a:rPr>
              </a:br>
              <a:r>
                <a:rPr lang="en-GB" sz="1400" b="0" i="0" dirty="0">
                  <a:solidFill>
                    <a:srgbClr val="202124"/>
                  </a:solidFill>
                  <a:effectLst/>
                  <a:latin typeface="Roboto" panose="02000000000000000000" pitchFamily="2" charset="0"/>
                </a:rPr>
                <a:t>may no longer reflect our values.</a:t>
              </a:r>
              <a:endParaRPr lang="en-GB" sz="1400" dirty="0">
                <a:latin typeface="Roboto" panose="02000000000000000000" pitchFamily="2" charset="0"/>
                <a:ea typeface="Roboto" panose="02000000000000000000" pitchFamily="2" charset="0"/>
              </a:endParaRPr>
            </a:p>
          </p:txBody>
        </p:sp>
      </p:grpSp>
      <p:sp>
        <p:nvSpPr>
          <p:cNvPr id="44" name="Rectangle 43">
            <a:extLst>
              <a:ext uri="{FF2B5EF4-FFF2-40B4-BE49-F238E27FC236}">
                <a16:creationId xmlns:a16="http://schemas.microsoft.com/office/drawing/2014/main" id="{C01BCBF7-EAB4-4398-AAB8-B60AC3555113}"/>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sp>
        <p:nvSpPr>
          <p:cNvPr id="45" name="TextBox 44">
            <a:extLst>
              <a:ext uri="{FF2B5EF4-FFF2-40B4-BE49-F238E27FC236}">
                <a16:creationId xmlns:a16="http://schemas.microsoft.com/office/drawing/2014/main" id="{3F3091BF-D025-46EF-A448-B4F13C76E242}"/>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spTree>
    <p:extLst>
      <p:ext uri="{BB962C8B-B14F-4D97-AF65-F5344CB8AC3E}">
        <p14:creationId xmlns:p14="http://schemas.microsoft.com/office/powerpoint/2010/main" val="14625285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External Websites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sp>
        <p:nvSpPr>
          <p:cNvPr id="10" name="Rectangle 9">
            <a:extLst>
              <a:ext uri="{FF2B5EF4-FFF2-40B4-BE49-F238E27FC236}">
                <a16:creationId xmlns:a16="http://schemas.microsoft.com/office/drawing/2014/main" id="{7223ECE9-6F1A-4E72-ACE0-06F71C468FDA}"/>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grpSp>
        <p:nvGrpSpPr>
          <p:cNvPr id="11" name="Group 10">
            <a:extLst>
              <a:ext uri="{FF2B5EF4-FFF2-40B4-BE49-F238E27FC236}">
                <a16:creationId xmlns:a16="http://schemas.microsoft.com/office/drawing/2014/main" id="{5F05BBF0-ECD1-4FE4-937E-1F73A27AF916}"/>
              </a:ext>
            </a:extLst>
          </p:cNvPr>
          <p:cNvGrpSpPr/>
          <p:nvPr userDrawn="1"/>
        </p:nvGrpSpPr>
        <p:grpSpPr>
          <a:xfrm>
            <a:off x="743837" y="1681195"/>
            <a:ext cx="7644513" cy="2002840"/>
            <a:chOff x="743837" y="1344834"/>
            <a:chExt cx="7644513" cy="2002840"/>
          </a:xfrm>
        </p:grpSpPr>
        <p:sp>
          <p:nvSpPr>
            <p:cNvPr id="12" name="Rectangle 11">
              <a:extLst>
                <a:ext uri="{FF2B5EF4-FFF2-40B4-BE49-F238E27FC236}">
                  <a16:creationId xmlns:a16="http://schemas.microsoft.com/office/drawing/2014/main" id="{D52A1D21-ED2B-43AD-B353-E06410A36383}"/>
                </a:ext>
              </a:extLst>
            </p:cNvPr>
            <p:cNvSpPr/>
            <p:nvPr/>
          </p:nvSpPr>
          <p:spPr>
            <a:xfrm>
              <a:off x="743837" y="1344834"/>
              <a:ext cx="2703717"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r>
                <a:rPr lang="en-GB" sz="1600" b="1" dirty="0">
                  <a:latin typeface="Roboto" panose="02000000000000000000" pitchFamily="2" charset="0"/>
                  <a:ea typeface="Roboto" panose="02000000000000000000" pitchFamily="2" charset="0"/>
                </a:rPr>
                <a:t>Links to External Websites</a:t>
              </a:r>
            </a:p>
          </p:txBody>
        </p:sp>
        <p:sp>
          <p:nvSpPr>
            <p:cNvPr id="13" name="Rectangle 12">
              <a:extLst>
                <a:ext uri="{FF2B5EF4-FFF2-40B4-BE49-F238E27FC236}">
                  <a16:creationId xmlns:a16="http://schemas.microsoft.com/office/drawing/2014/main" id="{1FFC9EFA-95C1-4D1B-B736-D82D578BE355}"/>
                </a:ext>
              </a:extLst>
            </p:cNvPr>
            <p:cNvSpPr/>
            <p:nvPr/>
          </p:nvSpPr>
          <p:spPr>
            <a:xfrm>
              <a:off x="755650" y="1618794"/>
              <a:ext cx="7632700" cy="1728880"/>
            </a:xfrm>
            <a:prstGeom prst="rect">
              <a:avLst/>
            </a:prstGeom>
            <a:solidFill>
              <a:schemeClr val="bg1"/>
            </a:solidFill>
            <a:ln w="19050">
              <a:solidFill>
                <a:srgbClr val="18A0DB"/>
              </a:solidFill>
            </a:ln>
          </p:spPr>
          <p:txBody>
            <a:bodyPr wrap="square" lIns="216000" tIns="216000" rIns="216000" bIns="216000">
              <a:spAutoFit/>
            </a:bodyPr>
            <a:lstStyle/>
            <a:p>
              <a:r>
                <a:rPr lang="en-GB" sz="1400" dirty="0">
                  <a:latin typeface="Roboto" panose="02000000000000000000" pitchFamily="2" charset="0"/>
                  <a:ea typeface="Roboto" panose="02000000000000000000" pitchFamily="2" charset="0"/>
                </a:rPr>
                <a:t>This resource contains links to external websites. Please be aware that the inclusion of any link in this resource should not be taken as an endorsement of any kind by </a:t>
              </a:r>
              <a:r>
                <a:rPr lang="en-GB" sz="1400" dirty="0" err="1">
                  <a:latin typeface="Roboto" panose="02000000000000000000" pitchFamily="2" charset="0"/>
                  <a:ea typeface="Roboto" panose="02000000000000000000" pitchFamily="2" charset="0"/>
                </a:rPr>
                <a:t>Twinkl</a:t>
              </a:r>
              <a:r>
                <a:rPr lang="en-GB" sz="1400" dirty="0">
                  <a:latin typeface="Roboto" panose="02000000000000000000" pitchFamily="2" charset="0"/>
                  <a:ea typeface="Roboto" panose="02000000000000000000" pitchFamily="2" charset="0"/>
                </a:rPr>
                <a:t> of the linked website or any association with its operators. You should also be aware that we have no control over the availability of the linked pages. If the link is not working, please let us know by contacting </a:t>
              </a:r>
              <a:r>
                <a:rPr lang="en-GB" sz="1400" dirty="0" err="1">
                  <a:latin typeface="Roboto" panose="02000000000000000000" pitchFamily="2" charset="0"/>
                  <a:ea typeface="Roboto" panose="02000000000000000000" pitchFamily="2" charset="0"/>
                </a:rPr>
                <a:t>TwinklCares</a:t>
              </a:r>
              <a:r>
                <a:rPr lang="en-GB" sz="1400" dirty="0">
                  <a:latin typeface="Roboto" panose="02000000000000000000" pitchFamily="2" charset="0"/>
                  <a:ea typeface="Roboto" panose="02000000000000000000" pitchFamily="2" charset="0"/>
                </a:rPr>
                <a:t> and we will try to fix it although we can assume no responsibility if this is the case. We are not responsible for the content of external sites.</a:t>
              </a:r>
            </a:p>
          </p:txBody>
        </p:sp>
      </p:grpSp>
      <p:sp>
        <p:nvSpPr>
          <p:cNvPr id="16" name="TextBox 15">
            <a:extLst>
              <a:ext uri="{FF2B5EF4-FFF2-40B4-BE49-F238E27FC236}">
                <a16:creationId xmlns:a16="http://schemas.microsoft.com/office/drawing/2014/main" id="{3E809478-62E0-4C7A-83A2-03913DD4D89E}"/>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spTree>
    <p:extLst>
      <p:ext uri="{BB962C8B-B14F-4D97-AF65-F5344CB8AC3E}">
        <p14:creationId xmlns:p14="http://schemas.microsoft.com/office/powerpoint/2010/main" val="2116580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xternal Video Websites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sp>
        <p:nvSpPr>
          <p:cNvPr id="16" name="Rectangle 15">
            <a:extLst>
              <a:ext uri="{FF2B5EF4-FFF2-40B4-BE49-F238E27FC236}">
                <a16:creationId xmlns:a16="http://schemas.microsoft.com/office/drawing/2014/main" id="{E98D6414-A260-404A-9274-A35AB2A1EA5A}"/>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grpSp>
        <p:nvGrpSpPr>
          <p:cNvPr id="17" name="Group 16">
            <a:extLst>
              <a:ext uri="{FF2B5EF4-FFF2-40B4-BE49-F238E27FC236}">
                <a16:creationId xmlns:a16="http://schemas.microsoft.com/office/drawing/2014/main" id="{5688A155-CC1C-4CA5-824A-88B66BF4B7D8}"/>
              </a:ext>
            </a:extLst>
          </p:cNvPr>
          <p:cNvGrpSpPr/>
          <p:nvPr userDrawn="1"/>
        </p:nvGrpSpPr>
        <p:grpSpPr>
          <a:xfrm>
            <a:off x="733079" y="1681195"/>
            <a:ext cx="7643458" cy="2649171"/>
            <a:chOff x="744892" y="3707365"/>
            <a:chExt cx="7643458" cy="2649171"/>
          </a:xfrm>
        </p:grpSpPr>
        <p:sp>
          <p:nvSpPr>
            <p:cNvPr id="18" name="Rectangle 17">
              <a:extLst>
                <a:ext uri="{FF2B5EF4-FFF2-40B4-BE49-F238E27FC236}">
                  <a16:creationId xmlns:a16="http://schemas.microsoft.com/office/drawing/2014/main" id="{B519C287-0C36-43FA-A38F-45E9B4A11B4D}"/>
                </a:ext>
              </a:extLst>
            </p:cNvPr>
            <p:cNvSpPr/>
            <p:nvPr/>
          </p:nvSpPr>
          <p:spPr>
            <a:xfrm>
              <a:off x="744892" y="3707365"/>
              <a:ext cx="3214972"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r>
                <a:rPr lang="en-GB" sz="1600" b="1" dirty="0">
                  <a:latin typeface="Roboto" panose="02000000000000000000" pitchFamily="2" charset="0"/>
                  <a:ea typeface="Roboto" panose="02000000000000000000" pitchFamily="2" charset="0"/>
                </a:rPr>
                <a:t>Links to External Video Websites</a:t>
              </a:r>
            </a:p>
          </p:txBody>
        </p:sp>
        <p:sp>
          <p:nvSpPr>
            <p:cNvPr id="19" name="Rectangle 18">
              <a:extLst>
                <a:ext uri="{FF2B5EF4-FFF2-40B4-BE49-F238E27FC236}">
                  <a16:creationId xmlns:a16="http://schemas.microsoft.com/office/drawing/2014/main" id="{F9BBE2CC-1604-46EB-BCDA-9F6AB7410668}"/>
                </a:ext>
              </a:extLst>
            </p:cNvPr>
            <p:cNvSpPr/>
            <p:nvPr/>
          </p:nvSpPr>
          <p:spPr>
            <a:xfrm>
              <a:off x="755650" y="3981325"/>
              <a:ext cx="7632700" cy="2375211"/>
            </a:xfrm>
            <a:prstGeom prst="rect">
              <a:avLst/>
            </a:prstGeom>
            <a:solidFill>
              <a:schemeClr val="bg1"/>
            </a:solidFill>
            <a:ln w="19050">
              <a:solidFill>
                <a:srgbClr val="18A0DB"/>
              </a:solidFill>
            </a:ln>
          </p:spPr>
          <p:txBody>
            <a:bodyPr wrap="square" lIns="216000" tIns="216000" rIns="216000" bIns="216000">
              <a:spAutoFit/>
            </a:bodyPr>
            <a:lstStyle/>
            <a:p>
              <a:r>
                <a:rPr lang="en-GB" sz="1400" dirty="0">
                  <a:latin typeface="Roboto" panose="02000000000000000000" pitchFamily="2" charset="0"/>
                  <a:ea typeface="Roboto" panose="02000000000000000000" pitchFamily="2" charset="0"/>
                </a:rPr>
                <a:t>This resource contains links to external video websites. These websites often have </a:t>
              </a:r>
              <a:r>
                <a:rPr lang="en-GB" sz="1400" dirty="0" err="1">
                  <a:latin typeface="Roboto" panose="02000000000000000000" pitchFamily="2" charset="0"/>
                  <a:ea typeface="Roboto" panose="02000000000000000000" pitchFamily="2" charset="0"/>
                </a:rPr>
                <a:t>autoplay</a:t>
              </a:r>
              <a:r>
                <a:rPr lang="en-GB" sz="1400" dirty="0">
                  <a:latin typeface="Roboto" panose="02000000000000000000" pitchFamily="2" charset="0"/>
                  <a:ea typeface="Roboto" panose="02000000000000000000" pitchFamily="2" charset="0"/>
                </a:rPr>
                <a:t> features meaning that other videos will play after the video you are watching finishes. You should disable this feature before using the video in any classroom or similar setting. </a:t>
              </a:r>
              <a:r>
                <a:rPr lang="en-GB" sz="1400" dirty="0" err="1">
                  <a:latin typeface="Roboto" panose="02000000000000000000" pitchFamily="2" charset="0"/>
                  <a:ea typeface="Roboto" panose="02000000000000000000" pitchFamily="2" charset="0"/>
                </a:rPr>
                <a:t>Twinkl</a:t>
              </a:r>
              <a:r>
                <a:rPr lang="en-GB" sz="1400" dirty="0">
                  <a:latin typeface="Roboto" panose="02000000000000000000" pitchFamily="2" charset="0"/>
                  <a:ea typeface="Roboto" panose="02000000000000000000" pitchFamily="2" charset="0"/>
                </a:rPr>
                <a:t> assumes no responsibility for the contents of linked websites. The inclusion of any link in this resource should not be taken as an endorsement of any kind by </a:t>
              </a:r>
              <a:r>
                <a:rPr lang="en-GB" sz="1400" dirty="0" err="1">
                  <a:latin typeface="Roboto" panose="02000000000000000000" pitchFamily="2" charset="0"/>
                  <a:ea typeface="Roboto" panose="02000000000000000000" pitchFamily="2" charset="0"/>
                </a:rPr>
                <a:t>Twinkl</a:t>
              </a:r>
              <a:r>
                <a:rPr lang="en-GB" sz="1400" dirty="0">
                  <a:latin typeface="Roboto" panose="02000000000000000000" pitchFamily="2" charset="0"/>
                  <a:ea typeface="Roboto" panose="02000000000000000000" pitchFamily="2" charset="0"/>
                </a:rPr>
                <a:t> of the linked website or any association with its operators. We have no control over the availability of the linked pages. If the link is not working, please let us know by contacting </a:t>
              </a:r>
              <a:r>
                <a:rPr lang="en-GB" sz="1400" dirty="0" err="1">
                  <a:latin typeface="Roboto" panose="02000000000000000000" pitchFamily="2" charset="0"/>
                  <a:ea typeface="Roboto" panose="02000000000000000000" pitchFamily="2" charset="0"/>
                </a:rPr>
                <a:t>TwinklCares</a:t>
              </a:r>
              <a:r>
                <a:rPr lang="en-GB" sz="1400" dirty="0">
                  <a:latin typeface="Roboto" panose="02000000000000000000" pitchFamily="2" charset="0"/>
                  <a:ea typeface="Roboto" panose="02000000000000000000" pitchFamily="2" charset="0"/>
                </a:rPr>
                <a:t> and we will try to fix it, although we can assume no responsibility if this is </a:t>
              </a:r>
              <a:br>
                <a:rPr lang="en-GB" sz="1400" dirty="0">
                  <a:latin typeface="Roboto" panose="02000000000000000000" pitchFamily="2" charset="0"/>
                  <a:ea typeface="Roboto" panose="02000000000000000000" pitchFamily="2" charset="0"/>
                </a:rPr>
              </a:br>
              <a:r>
                <a:rPr lang="en-GB" sz="1400" dirty="0">
                  <a:latin typeface="Roboto" panose="02000000000000000000" pitchFamily="2" charset="0"/>
                  <a:ea typeface="Roboto" panose="02000000000000000000" pitchFamily="2" charset="0"/>
                </a:rPr>
                <a:t>the case.</a:t>
              </a:r>
            </a:p>
          </p:txBody>
        </p:sp>
      </p:grpSp>
      <p:sp>
        <p:nvSpPr>
          <p:cNvPr id="20" name="TextBox 19">
            <a:extLst>
              <a:ext uri="{FF2B5EF4-FFF2-40B4-BE49-F238E27FC236}">
                <a16:creationId xmlns:a16="http://schemas.microsoft.com/office/drawing/2014/main" id="{DFBBCB53-5B3E-420F-B980-49AC69553407}"/>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spTree>
    <p:extLst>
      <p:ext uri="{BB962C8B-B14F-4D97-AF65-F5344CB8AC3E}">
        <p14:creationId xmlns:p14="http://schemas.microsoft.com/office/powerpoint/2010/main" val="6715065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sclaimers Editable">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sp>
        <p:nvSpPr>
          <p:cNvPr id="10" name="Rectangle 9">
            <a:extLst>
              <a:ext uri="{FF2B5EF4-FFF2-40B4-BE49-F238E27FC236}">
                <a16:creationId xmlns:a16="http://schemas.microsoft.com/office/drawing/2014/main" id="{89AF2E5A-21A6-4DED-A279-863F1FD479A6}"/>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grpSp>
        <p:nvGrpSpPr>
          <p:cNvPr id="20" name="Group 19">
            <a:extLst>
              <a:ext uri="{FF2B5EF4-FFF2-40B4-BE49-F238E27FC236}">
                <a16:creationId xmlns:a16="http://schemas.microsoft.com/office/drawing/2014/main" id="{0F0C260B-7A5F-4EEA-B147-DE8B78F68034}"/>
              </a:ext>
            </a:extLst>
          </p:cNvPr>
          <p:cNvGrpSpPr/>
          <p:nvPr userDrawn="1"/>
        </p:nvGrpSpPr>
        <p:grpSpPr>
          <a:xfrm>
            <a:off x="733079" y="3957995"/>
            <a:ext cx="7643458" cy="2002840"/>
            <a:chOff x="744892" y="3707365"/>
            <a:chExt cx="7643458" cy="2002840"/>
          </a:xfrm>
        </p:grpSpPr>
        <p:sp>
          <p:nvSpPr>
            <p:cNvPr id="21" name="Rectangle 20">
              <a:extLst>
                <a:ext uri="{FF2B5EF4-FFF2-40B4-BE49-F238E27FC236}">
                  <a16:creationId xmlns:a16="http://schemas.microsoft.com/office/drawing/2014/main" id="{55E2DD96-F714-4CFE-8121-9BD618AA74C8}"/>
                </a:ext>
              </a:extLst>
            </p:cNvPr>
            <p:cNvSpPr/>
            <p:nvPr/>
          </p:nvSpPr>
          <p:spPr>
            <a:xfrm>
              <a:off x="744892" y="3707365"/>
              <a:ext cx="1741673"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noAutofit/>
            </a:bodyPr>
            <a:lstStyle/>
            <a:p>
              <a:r>
                <a:rPr lang="en-GB" sz="1600" b="1" dirty="0">
                  <a:latin typeface="Roboto" panose="02000000000000000000" pitchFamily="2" charset="0"/>
                  <a:ea typeface="Roboto" panose="02000000000000000000" pitchFamily="2" charset="0"/>
                </a:rPr>
                <a:t>Insert Text Here</a:t>
              </a:r>
            </a:p>
          </p:txBody>
        </p:sp>
        <p:sp>
          <p:nvSpPr>
            <p:cNvPr id="22" name="Rectangle 21">
              <a:extLst>
                <a:ext uri="{FF2B5EF4-FFF2-40B4-BE49-F238E27FC236}">
                  <a16:creationId xmlns:a16="http://schemas.microsoft.com/office/drawing/2014/main" id="{110E9556-8ED8-404D-9793-60568C040CEB}"/>
                </a:ext>
              </a:extLst>
            </p:cNvPr>
            <p:cNvSpPr/>
            <p:nvPr/>
          </p:nvSpPr>
          <p:spPr>
            <a:xfrm>
              <a:off x="755650" y="3981325"/>
              <a:ext cx="7632700" cy="1728880"/>
            </a:xfrm>
            <a:prstGeom prst="rect">
              <a:avLst/>
            </a:prstGeom>
            <a:solidFill>
              <a:schemeClr val="bg1"/>
            </a:solidFill>
            <a:ln w="19050">
              <a:solidFill>
                <a:srgbClr val="18A0DB"/>
              </a:solidFill>
            </a:ln>
          </p:spPr>
          <p:txBody>
            <a:bodyPr wrap="square" lIns="216000" tIns="216000" rIns="216000" bIns="216000">
              <a:spAutoFit/>
            </a:bodyPr>
            <a:lstStyle/>
            <a:p>
              <a:r>
                <a:rPr lang="en-GB" sz="1400" dirty="0">
                  <a:latin typeface="Roboto" panose="02000000000000000000" pitchFamily="2" charset="0"/>
                  <a:ea typeface="Roboto" panose="02000000000000000000" pitchFamily="2" charset="0"/>
                </a:rPr>
                <a:t>Lorem ipsum </a:t>
              </a:r>
              <a:r>
                <a:rPr lang="en-GB" sz="1400" dirty="0" err="1">
                  <a:latin typeface="Roboto" panose="02000000000000000000" pitchFamily="2" charset="0"/>
                  <a:ea typeface="Roboto" panose="02000000000000000000" pitchFamily="2" charset="0"/>
                </a:rPr>
                <a:t>dolor</a:t>
              </a:r>
              <a:r>
                <a:rPr lang="en-GB" sz="1400" dirty="0">
                  <a:latin typeface="Roboto" panose="02000000000000000000" pitchFamily="2" charset="0"/>
                  <a:ea typeface="Roboto" panose="02000000000000000000" pitchFamily="2" charset="0"/>
                </a:rPr>
                <a:t> sit </a:t>
              </a:r>
              <a:r>
                <a:rPr lang="en-GB" sz="1400" dirty="0" err="1">
                  <a:latin typeface="Roboto" panose="02000000000000000000" pitchFamily="2" charset="0"/>
                  <a:ea typeface="Roboto" panose="02000000000000000000" pitchFamily="2" charset="0"/>
                </a:rPr>
                <a:t>amet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consectetur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adipiscing</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sed</a:t>
              </a:r>
              <a:r>
                <a:rPr lang="en-GB" sz="1400" dirty="0">
                  <a:latin typeface="Roboto" panose="02000000000000000000" pitchFamily="2" charset="0"/>
                  <a:ea typeface="Roboto" panose="02000000000000000000" pitchFamily="2" charset="0"/>
                </a:rPr>
                <a:t> do </a:t>
              </a:r>
              <a:r>
                <a:rPr lang="en-GB" sz="1400" dirty="0" err="1">
                  <a:latin typeface="Roboto" panose="02000000000000000000" pitchFamily="2" charset="0"/>
                  <a:ea typeface="Roboto" panose="02000000000000000000" pitchFamily="2" charset="0"/>
                </a:rPr>
                <a:t>eiusmod</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tempor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incididunt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ut</a:t>
              </a:r>
              <a:r>
                <a:rPr lang="en-GB" sz="1400" dirty="0">
                  <a:latin typeface="Roboto" panose="02000000000000000000" pitchFamily="2" charset="0"/>
                  <a:ea typeface="Roboto" panose="02000000000000000000" pitchFamily="2" charset="0"/>
                </a:rPr>
                <a:t> labore et dolore magna </a:t>
              </a:r>
              <a:r>
                <a:rPr lang="en-GB" sz="1400" dirty="0" err="1">
                  <a:latin typeface="Roboto" panose="02000000000000000000" pitchFamily="2" charset="0"/>
                  <a:ea typeface="Roboto" panose="02000000000000000000" pitchFamily="2" charset="0"/>
                </a:rPr>
                <a:t>aliqua</a:t>
              </a:r>
              <a:r>
                <a:rPr lang="en-GB" sz="1400" dirty="0">
                  <a:latin typeface="Roboto" panose="02000000000000000000" pitchFamily="2" charset="0"/>
                  <a:ea typeface="Roboto" panose="02000000000000000000" pitchFamily="2" charset="0"/>
                </a:rPr>
                <a:t>. Ut </a:t>
              </a:r>
              <a:r>
                <a:rPr lang="en-GB" sz="1400" dirty="0" err="1">
                  <a:latin typeface="Roboto" panose="02000000000000000000" pitchFamily="2" charset="0"/>
                  <a:ea typeface="Roboto" panose="02000000000000000000" pitchFamily="2" charset="0"/>
                </a:rPr>
                <a:t>enim</a:t>
              </a:r>
              <a:r>
                <a:rPr lang="en-GB" sz="1400" dirty="0">
                  <a:latin typeface="Roboto" panose="02000000000000000000" pitchFamily="2" charset="0"/>
                  <a:ea typeface="Roboto" panose="02000000000000000000" pitchFamily="2" charset="0"/>
                </a:rPr>
                <a:t> ad minim </a:t>
              </a:r>
              <a:r>
                <a:rPr lang="en-GB" sz="1400" dirty="0" err="1">
                  <a:latin typeface="Roboto" panose="02000000000000000000" pitchFamily="2" charset="0"/>
                  <a:ea typeface="Roboto" panose="02000000000000000000" pitchFamily="2" charset="0"/>
                </a:rPr>
                <a:t>veniam</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quis</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nostrud</a:t>
              </a:r>
              <a:r>
                <a:rPr lang="en-GB" sz="1400" dirty="0">
                  <a:latin typeface="Roboto" panose="02000000000000000000" pitchFamily="2" charset="0"/>
                  <a:ea typeface="Roboto" panose="02000000000000000000" pitchFamily="2" charset="0"/>
                </a:rPr>
                <a:t> exercitation </a:t>
              </a:r>
              <a:r>
                <a:rPr lang="en-GB" sz="1400" dirty="0" err="1">
                  <a:latin typeface="Roboto" panose="02000000000000000000" pitchFamily="2" charset="0"/>
                  <a:ea typeface="Roboto" panose="02000000000000000000" pitchFamily="2" charset="0"/>
                </a:rPr>
                <a:t>ullamco</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laboris</a:t>
              </a:r>
              <a:r>
                <a:rPr lang="en-GB" sz="1400" dirty="0">
                  <a:latin typeface="Roboto" panose="02000000000000000000" pitchFamily="2" charset="0"/>
                  <a:ea typeface="Roboto" panose="02000000000000000000" pitchFamily="2" charset="0"/>
                </a:rPr>
                <a:t> nisi </a:t>
              </a:r>
              <a:r>
                <a:rPr lang="en-GB" sz="1400" dirty="0" err="1">
                  <a:latin typeface="Roboto" panose="02000000000000000000" pitchFamily="2" charset="0"/>
                  <a:ea typeface="Roboto" panose="02000000000000000000" pitchFamily="2" charset="0"/>
                </a:rPr>
                <a:t>ut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aliquip</a:t>
              </a:r>
              <a:r>
                <a:rPr lang="en-GB" sz="1400" dirty="0">
                  <a:latin typeface="Roboto" panose="02000000000000000000" pitchFamily="2" charset="0"/>
                  <a:ea typeface="Roboto" panose="02000000000000000000" pitchFamily="2" charset="0"/>
                </a:rPr>
                <a:t> ex </a:t>
              </a:r>
              <a:r>
                <a:rPr lang="en-GB" sz="1400" dirty="0" err="1">
                  <a:latin typeface="Roboto" panose="02000000000000000000" pitchFamily="2" charset="0"/>
                  <a:ea typeface="Roboto" panose="02000000000000000000" pitchFamily="2" charset="0"/>
                </a:rPr>
                <a:t>ea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commodo</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consequat</a:t>
              </a:r>
              <a:r>
                <a:rPr lang="en-GB" sz="1400" dirty="0">
                  <a:latin typeface="Roboto" panose="02000000000000000000" pitchFamily="2" charset="0"/>
                  <a:ea typeface="Roboto" panose="02000000000000000000" pitchFamily="2" charset="0"/>
                </a:rPr>
                <a:t>. Duis </a:t>
              </a:r>
              <a:r>
                <a:rPr lang="en-GB" sz="1400" dirty="0" err="1">
                  <a:latin typeface="Roboto" panose="02000000000000000000" pitchFamily="2" charset="0"/>
                  <a:ea typeface="Roboto" panose="02000000000000000000" pitchFamily="2" charset="0"/>
                </a:rPr>
                <a:t>aute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irure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dolor</a:t>
              </a:r>
              <a:r>
                <a:rPr lang="en-GB" sz="1400" dirty="0">
                  <a:latin typeface="Roboto" panose="02000000000000000000" pitchFamily="2" charset="0"/>
                  <a:ea typeface="Roboto" panose="02000000000000000000" pitchFamily="2" charset="0"/>
                </a:rPr>
                <a:t> in </a:t>
              </a:r>
              <a:r>
                <a:rPr lang="en-GB" sz="1400" dirty="0" err="1">
                  <a:latin typeface="Roboto" panose="02000000000000000000" pitchFamily="2" charset="0"/>
                  <a:ea typeface="Roboto" panose="02000000000000000000" pitchFamily="2" charset="0"/>
                </a:rPr>
                <a:t>reprehenderit</a:t>
              </a:r>
              <a:r>
                <a:rPr lang="en-GB" sz="1400" dirty="0">
                  <a:latin typeface="Roboto" panose="02000000000000000000" pitchFamily="2" charset="0"/>
                  <a:ea typeface="Roboto" panose="02000000000000000000" pitchFamily="2" charset="0"/>
                </a:rPr>
                <a:t> in </a:t>
              </a:r>
              <a:r>
                <a:rPr lang="en-GB" sz="1400" dirty="0" err="1">
                  <a:latin typeface="Roboto" panose="02000000000000000000" pitchFamily="2" charset="0"/>
                  <a:ea typeface="Roboto" panose="02000000000000000000" pitchFamily="2" charset="0"/>
                </a:rPr>
                <a:t>voluptate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velit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esse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cillum</a:t>
              </a:r>
              <a:r>
                <a:rPr lang="en-GB" sz="1400" dirty="0">
                  <a:latin typeface="Roboto" panose="02000000000000000000" pitchFamily="2" charset="0"/>
                  <a:ea typeface="Roboto" panose="02000000000000000000" pitchFamily="2" charset="0"/>
                </a:rPr>
                <a:t> dolore </a:t>
              </a:r>
              <a:r>
                <a:rPr lang="en-GB" sz="1400" dirty="0" err="1">
                  <a:latin typeface="Roboto" panose="02000000000000000000" pitchFamily="2" charset="0"/>
                  <a:ea typeface="Roboto" panose="02000000000000000000" pitchFamily="2" charset="0"/>
                </a:rPr>
                <a:t>eu</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fugiat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nulla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pariatur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Excepteur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sint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occaecat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cupidatat</a:t>
              </a:r>
              <a:r>
                <a:rPr lang="en-GB" sz="1400" dirty="0">
                  <a:latin typeface="Roboto" panose="02000000000000000000" pitchFamily="2" charset="0"/>
                  <a:ea typeface="Roboto" panose="02000000000000000000" pitchFamily="2" charset="0"/>
                </a:rPr>
                <a:t> non </a:t>
              </a:r>
              <a:r>
                <a:rPr lang="en-GB" sz="1400" dirty="0" err="1">
                  <a:latin typeface="Roboto" panose="02000000000000000000" pitchFamily="2" charset="0"/>
                  <a:ea typeface="Roboto" panose="02000000000000000000" pitchFamily="2" charset="0"/>
                </a:rPr>
                <a:t>proident</a:t>
              </a:r>
              <a:r>
                <a:rPr lang="en-GB" sz="1400" dirty="0">
                  <a:latin typeface="Roboto" panose="02000000000000000000" pitchFamily="2" charset="0"/>
                  <a:ea typeface="Roboto" panose="02000000000000000000" pitchFamily="2" charset="0"/>
                </a:rPr>
                <a:t>, sunt in culpa qui </a:t>
              </a:r>
              <a:r>
                <a:rPr lang="en-GB" sz="1400" dirty="0" err="1">
                  <a:latin typeface="Roboto" panose="02000000000000000000" pitchFamily="2" charset="0"/>
                  <a:ea typeface="Roboto" panose="02000000000000000000" pitchFamily="2" charset="0"/>
                </a:rPr>
                <a:t>officia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deserunt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mollit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anim</a:t>
              </a:r>
              <a:r>
                <a:rPr lang="en-GB" sz="1400" dirty="0">
                  <a:latin typeface="Roboto" panose="02000000000000000000" pitchFamily="2" charset="0"/>
                  <a:ea typeface="Roboto" panose="02000000000000000000" pitchFamily="2" charset="0"/>
                </a:rPr>
                <a:t> id </a:t>
              </a:r>
              <a:r>
                <a:rPr lang="en-GB" sz="1400" dirty="0" err="1">
                  <a:latin typeface="Roboto" panose="02000000000000000000" pitchFamily="2" charset="0"/>
                  <a:ea typeface="Roboto" panose="02000000000000000000" pitchFamily="2" charset="0"/>
                </a:rPr>
                <a:t>est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laborum</a:t>
              </a:r>
              <a:r>
                <a:rPr lang="en-GB" sz="1400" dirty="0">
                  <a:latin typeface="Roboto" panose="02000000000000000000" pitchFamily="2" charset="0"/>
                  <a:ea typeface="Roboto" panose="02000000000000000000" pitchFamily="2" charset="0"/>
                </a:rPr>
                <a:t>.</a:t>
              </a:r>
            </a:p>
          </p:txBody>
        </p:sp>
      </p:grpSp>
      <p:sp>
        <p:nvSpPr>
          <p:cNvPr id="23" name="TextBox 22">
            <a:extLst>
              <a:ext uri="{FF2B5EF4-FFF2-40B4-BE49-F238E27FC236}">
                <a16:creationId xmlns:a16="http://schemas.microsoft.com/office/drawing/2014/main" id="{A19C2661-D570-405D-A1E4-6CF9CAC8BE24}"/>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grpSp>
        <p:nvGrpSpPr>
          <p:cNvPr id="40" name="Group 39">
            <a:extLst>
              <a:ext uri="{FF2B5EF4-FFF2-40B4-BE49-F238E27FC236}">
                <a16:creationId xmlns:a16="http://schemas.microsoft.com/office/drawing/2014/main" id="{C6AC6D2F-10A3-489C-9A80-706183C3A327}"/>
              </a:ext>
            </a:extLst>
          </p:cNvPr>
          <p:cNvGrpSpPr/>
          <p:nvPr userDrawn="1"/>
        </p:nvGrpSpPr>
        <p:grpSpPr>
          <a:xfrm>
            <a:off x="735818" y="1678482"/>
            <a:ext cx="7643458" cy="2002840"/>
            <a:chOff x="744892" y="3707365"/>
            <a:chExt cx="7643458" cy="2002840"/>
          </a:xfrm>
        </p:grpSpPr>
        <p:sp>
          <p:nvSpPr>
            <p:cNvPr id="41" name="Rectangle 40">
              <a:extLst>
                <a:ext uri="{FF2B5EF4-FFF2-40B4-BE49-F238E27FC236}">
                  <a16:creationId xmlns:a16="http://schemas.microsoft.com/office/drawing/2014/main" id="{B0D18F5C-122B-478C-AA2E-1A9D89C3D4CD}"/>
                </a:ext>
              </a:extLst>
            </p:cNvPr>
            <p:cNvSpPr/>
            <p:nvPr/>
          </p:nvSpPr>
          <p:spPr>
            <a:xfrm>
              <a:off x="744892" y="3707365"/>
              <a:ext cx="1741673"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noAutofit/>
            </a:bodyPr>
            <a:lstStyle/>
            <a:p>
              <a:r>
                <a:rPr lang="en-GB" sz="1600" b="1" dirty="0">
                  <a:latin typeface="Roboto" panose="02000000000000000000" pitchFamily="2" charset="0"/>
                  <a:ea typeface="Roboto" panose="02000000000000000000" pitchFamily="2" charset="0"/>
                </a:rPr>
                <a:t>Insert Text Here</a:t>
              </a:r>
            </a:p>
          </p:txBody>
        </p:sp>
        <p:sp>
          <p:nvSpPr>
            <p:cNvPr id="42" name="Rectangle 41">
              <a:extLst>
                <a:ext uri="{FF2B5EF4-FFF2-40B4-BE49-F238E27FC236}">
                  <a16:creationId xmlns:a16="http://schemas.microsoft.com/office/drawing/2014/main" id="{43633EA5-BFCB-47C1-B42E-6602A01D8301}"/>
                </a:ext>
              </a:extLst>
            </p:cNvPr>
            <p:cNvSpPr/>
            <p:nvPr/>
          </p:nvSpPr>
          <p:spPr>
            <a:xfrm>
              <a:off x="755650" y="3981325"/>
              <a:ext cx="7632700" cy="1728880"/>
            </a:xfrm>
            <a:prstGeom prst="rect">
              <a:avLst/>
            </a:prstGeom>
            <a:solidFill>
              <a:schemeClr val="bg1"/>
            </a:solidFill>
            <a:ln w="19050">
              <a:solidFill>
                <a:srgbClr val="18A0DB"/>
              </a:solidFill>
            </a:ln>
          </p:spPr>
          <p:txBody>
            <a:bodyPr wrap="square" lIns="216000" tIns="216000" rIns="216000" bIns="216000">
              <a:spAutoFit/>
            </a:bodyPr>
            <a:lstStyle/>
            <a:p>
              <a:r>
                <a:rPr lang="en-GB" sz="1400" dirty="0">
                  <a:latin typeface="Roboto" panose="02000000000000000000" pitchFamily="2" charset="0"/>
                  <a:ea typeface="Roboto" panose="02000000000000000000" pitchFamily="2" charset="0"/>
                </a:rPr>
                <a:t>Lorem ipsum </a:t>
              </a:r>
              <a:r>
                <a:rPr lang="en-GB" sz="1400" dirty="0" err="1">
                  <a:latin typeface="Roboto" panose="02000000000000000000" pitchFamily="2" charset="0"/>
                  <a:ea typeface="Roboto" panose="02000000000000000000" pitchFamily="2" charset="0"/>
                </a:rPr>
                <a:t>dolor</a:t>
              </a:r>
              <a:r>
                <a:rPr lang="en-GB" sz="1400" dirty="0">
                  <a:latin typeface="Roboto" panose="02000000000000000000" pitchFamily="2" charset="0"/>
                  <a:ea typeface="Roboto" panose="02000000000000000000" pitchFamily="2" charset="0"/>
                </a:rPr>
                <a:t> sit </a:t>
              </a:r>
              <a:r>
                <a:rPr lang="en-GB" sz="1400" dirty="0" err="1">
                  <a:latin typeface="Roboto" panose="02000000000000000000" pitchFamily="2" charset="0"/>
                  <a:ea typeface="Roboto" panose="02000000000000000000" pitchFamily="2" charset="0"/>
                </a:rPr>
                <a:t>amet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consectetur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adipiscing</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sed</a:t>
              </a:r>
              <a:r>
                <a:rPr lang="en-GB" sz="1400" dirty="0">
                  <a:latin typeface="Roboto" panose="02000000000000000000" pitchFamily="2" charset="0"/>
                  <a:ea typeface="Roboto" panose="02000000000000000000" pitchFamily="2" charset="0"/>
                </a:rPr>
                <a:t> do </a:t>
              </a:r>
              <a:r>
                <a:rPr lang="en-GB" sz="1400" dirty="0" err="1">
                  <a:latin typeface="Roboto" panose="02000000000000000000" pitchFamily="2" charset="0"/>
                  <a:ea typeface="Roboto" panose="02000000000000000000" pitchFamily="2" charset="0"/>
                </a:rPr>
                <a:t>eiusmod</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tempor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incididunt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ut</a:t>
              </a:r>
              <a:r>
                <a:rPr lang="en-GB" sz="1400" dirty="0">
                  <a:latin typeface="Roboto" panose="02000000000000000000" pitchFamily="2" charset="0"/>
                  <a:ea typeface="Roboto" panose="02000000000000000000" pitchFamily="2" charset="0"/>
                </a:rPr>
                <a:t> labore et dolore magna </a:t>
              </a:r>
              <a:r>
                <a:rPr lang="en-GB" sz="1400" dirty="0" err="1">
                  <a:latin typeface="Roboto" panose="02000000000000000000" pitchFamily="2" charset="0"/>
                  <a:ea typeface="Roboto" panose="02000000000000000000" pitchFamily="2" charset="0"/>
                </a:rPr>
                <a:t>aliqua</a:t>
              </a:r>
              <a:r>
                <a:rPr lang="en-GB" sz="1400" dirty="0">
                  <a:latin typeface="Roboto" panose="02000000000000000000" pitchFamily="2" charset="0"/>
                  <a:ea typeface="Roboto" panose="02000000000000000000" pitchFamily="2" charset="0"/>
                </a:rPr>
                <a:t>. Ut </a:t>
              </a:r>
              <a:r>
                <a:rPr lang="en-GB" sz="1400" dirty="0" err="1">
                  <a:latin typeface="Roboto" panose="02000000000000000000" pitchFamily="2" charset="0"/>
                  <a:ea typeface="Roboto" panose="02000000000000000000" pitchFamily="2" charset="0"/>
                </a:rPr>
                <a:t>enim</a:t>
              </a:r>
              <a:r>
                <a:rPr lang="en-GB" sz="1400" dirty="0">
                  <a:latin typeface="Roboto" panose="02000000000000000000" pitchFamily="2" charset="0"/>
                  <a:ea typeface="Roboto" panose="02000000000000000000" pitchFamily="2" charset="0"/>
                </a:rPr>
                <a:t> ad minim </a:t>
              </a:r>
              <a:r>
                <a:rPr lang="en-GB" sz="1400" dirty="0" err="1">
                  <a:latin typeface="Roboto" panose="02000000000000000000" pitchFamily="2" charset="0"/>
                  <a:ea typeface="Roboto" panose="02000000000000000000" pitchFamily="2" charset="0"/>
                </a:rPr>
                <a:t>veniam</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quis</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nostrud</a:t>
              </a:r>
              <a:r>
                <a:rPr lang="en-GB" sz="1400" dirty="0">
                  <a:latin typeface="Roboto" panose="02000000000000000000" pitchFamily="2" charset="0"/>
                  <a:ea typeface="Roboto" panose="02000000000000000000" pitchFamily="2" charset="0"/>
                </a:rPr>
                <a:t> exercitation </a:t>
              </a:r>
              <a:r>
                <a:rPr lang="en-GB" sz="1400" dirty="0" err="1">
                  <a:latin typeface="Roboto" panose="02000000000000000000" pitchFamily="2" charset="0"/>
                  <a:ea typeface="Roboto" panose="02000000000000000000" pitchFamily="2" charset="0"/>
                </a:rPr>
                <a:t>ullamco</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laboris</a:t>
              </a:r>
              <a:r>
                <a:rPr lang="en-GB" sz="1400" dirty="0">
                  <a:latin typeface="Roboto" panose="02000000000000000000" pitchFamily="2" charset="0"/>
                  <a:ea typeface="Roboto" panose="02000000000000000000" pitchFamily="2" charset="0"/>
                </a:rPr>
                <a:t> nisi </a:t>
              </a:r>
              <a:r>
                <a:rPr lang="en-GB" sz="1400" dirty="0" err="1">
                  <a:latin typeface="Roboto" panose="02000000000000000000" pitchFamily="2" charset="0"/>
                  <a:ea typeface="Roboto" panose="02000000000000000000" pitchFamily="2" charset="0"/>
                </a:rPr>
                <a:t>ut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aliquip</a:t>
              </a:r>
              <a:r>
                <a:rPr lang="en-GB" sz="1400" dirty="0">
                  <a:latin typeface="Roboto" panose="02000000000000000000" pitchFamily="2" charset="0"/>
                  <a:ea typeface="Roboto" panose="02000000000000000000" pitchFamily="2" charset="0"/>
                </a:rPr>
                <a:t> ex </a:t>
              </a:r>
              <a:r>
                <a:rPr lang="en-GB" sz="1400" dirty="0" err="1">
                  <a:latin typeface="Roboto" panose="02000000000000000000" pitchFamily="2" charset="0"/>
                  <a:ea typeface="Roboto" panose="02000000000000000000" pitchFamily="2" charset="0"/>
                </a:rPr>
                <a:t>ea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commodo</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consequat</a:t>
              </a:r>
              <a:r>
                <a:rPr lang="en-GB" sz="1400" dirty="0">
                  <a:latin typeface="Roboto" panose="02000000000000000000" pitchFamily="2" charset="0"/>
                  <a:ea typeface="Roboto" panose="02000000000000000000" pitchFamily="2" charset="0"/>
                </a:rPr>
                <a:t>. Duis </a:t>
              </a:r>
              <a:r>
                <a:rPr lang="en-GB" sz="1400" dirty="0" err="1">
                  <a:latin typeface="Roboto" panose="02000000000000000000" pitchFamily="2" charset="0"/>
                  <a:ea typeface="Roboto" panose="02000000000000000000" pitchFamily="2" charset="0"/>
                </a:rPr>
                <a:t>aute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irure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dolor</a:t>
              </a:r>
              <a:r>
                <a:rPr lang="en-GB" sz="1400" dirty="0">
                  <a:latin typeface="Roboto" panose="02000000000000000000" pitchFamily="2" charset="0"/>
                  <a:ea typeface="Roboto" panose="02000000000000000000" pitchFamily="2" charset="0"/>
                </a:rPr>
                <a:t> in </a:t>
              </a:r>
              <a:r>
                <a:rPr lang="en-GB" sz="1400" dirty="0" err="1">
                  <a:latin typeface="Roboto" panose="02000000000000000000" pitchFamily="2" charset="0"/>
                  <a:ea typeface="Roboto" panose="02000000000000000000" pitchFamily="2" charset="0"/>
                </a:rPr>
                <a:t>reprehenderit</a:t>
              </a:r>
              <a:r>
                <a:rPr lang="en-GB" sz="1400" dirty="0">
                  <a:latin typeface="Roboto" panose="02000000000000000000" pitchFamily="2" charset="0"/>
                  <a:ea typeface="Roboto" panose="02000000000000000000" pitchFamily="2" charset="0"/>
                </a:rPr>
                <a:t> in </a:t>
              </a:r>
              <a:r>
                <a:rPr lang="en-GB" sz="1400" dirty="0" err="1">
                  <a:latin typeface="Roboto" panose="02000000000000000000" pitchFamily="2" charset="0"/>
                  <a:ea typeface="Roboto" panose="02000000000000000000" pitchFamily="2" charset="0"/>
                </a:rPr>
                <a:t>voluptate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velit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esse</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cillum</a:t>
              </a:r>
              <a:r>
                <a:rPr lang="en-GB" sz="1400" dirty="0">
                  <a:latin typeface="Roboto" panose="02000000000000000000" pitchFamily="2" charset="0"/>
                  <a:ea typeface="Roboto" panose="02000000000000000000" pitchFamily="2" charset="0"/>
                </a:rPr>
                <a:t> dolore </a:t>
              </a:r>
              <a:r>
                <a:rPr lang="en-GB" sz="1400" dirty="0" err="1">
                  <a:latin typeface="Roboto" panose="02000000000000000000" pitchFamily="2" charset="0"/>
                  <a:ea typeface="Roboto" panose="02000000000000000000" pitchFamily="2" charset="0"/>
                </a:rPr>
                <a:t>eu</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fugiat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nulla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pariatur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Excepteur</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sint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occaecat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cupidatat</a:t>
              </a:r>
              <a:r>
                <a:rPr lang="en-GB" sz="1400" dirty="0">
                  <a:latin typeface="Roboto" panose="02000000000000000000" pitchFamily="2" charset="0"/>
                  <a:ea typeface="Roboto" panose="02000000000000000000" pitchFamily="2" charset="0"/>
                </a:rPr>
                <a:t> non </a:t>
              </a:r>
              <a:r>
                <a:rPr lang="en-GB" sz="1400" dirty="0" err="1">
                  <a:latin typeface="Roboto" panose="02000000000000000000" pitchFamily="2" charset="0"/>
                  <a:ea typeface="Roboto" panose="02000000000000000000" pitchFamily="2" charset="0"/>
                </a:rPr>
                <a:t>proident</a:t>
              </a:r>
              <a:r>
                <a:rPr lang="en-GB" sz="1400" dirty="0">
                  <a:latin typeface="Roboto" panose="02000000000000000000" pitchFamily="2" charset="0"/>
                  <a:ea typeface="Roboto" panose="02000000000000000000" pitchFamily="2" charset="0"/>
                </a:rPr>
                <a:t>, sunt in culpa qui </a:t>
              </a:r>
              <a:r>
                <a:rPr lang="en-GB" sz="1400" dirty="0" err="1">
                  <a:latin typeface="Roboto" panose="02000000000000000000" pitchFamily="2" charset="0"/>
                  <a:ea typeface="Roboto" panose="02000000000000000000" pitchFamily="2" charset="0"/>
                </a:rPr>
                <a:t>officia</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deserunt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mollit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anim</a:t>
              </a:r>
              <a:r>
                <a:rPr lang="en-GB" sz="1400" dirty="0">
                  <a:latin typeface="Roboto" panose="02000000000000000000" pitchFamily="2" charset="0"/>
                  <a:ea typeface="Roboto" panose="02000000000000000000" pitchFamily="2" charset="0"/>
                </a:rPr>
                <a:t> id </a:t>
              </a:r>
              <a:r>
                <a:rPr lang="en-GB" sz="1400" dirty="0" err="1">
                  <a:latin typeface="Roboto" panose="02000000000000000000" pitchFamily="2" charset="0"/>
                  <a:ea typeface="Roboto" panose="02000000000000000000" pitchFamily="2" charset="0"/>
                </a:rPr>
                <a:t>est</a:t>
              </a:r>
              <a:r>
                <a:rPr lang="en-GB" sz="1400" dirty="0">
                  <a:latin typeface="Roboto" panose="02000000000000000000" pitchFamily="2" charset="0"/>
                  <a:ea typeface="Roboto" panose="02000000000000000000" pitchFamily="2" charset="0"/>
                </a:rPr>
                <a:t> </a:t>
              </a:r>
              <a:r>
                <a:rPr lang="en-GB" sz="1400" dirty="0" err="1">
                  <a:latin typeface="Roboto" panose="02000000000000000000" pitchFamily="2" charset="0"/>
                  <a:ea typeface="Roboto" panose="02000000000000000000" pitchFamily="2" charset="0"/>
                </a:rPr>
                <a:t>laborum</a:t>
              </a:r>
              <a:r>
                <a:rPr lang="en-GB" sz="1400" dirty="0">
                  <a:latin typeface="Roboto" panose="02000000000000000000" pitchFamily="2" charset="0"/>
                  <a:ea typeface="Roboto" panose="02000000000000000000" pitchFamily="2" charset="0"/>
                </a:rPr>
                <a:t>.</a:t>
              </a:r>
            </a:p>
          </p:txBody>
        </p:sp>
      </p:grpSp>
    </p:spTree>
    <p:extLst>
      <p:ext uri="{BB962C8B-B14F-4D97-AF65-F5344CB8AC3E}">
        <p14:creationId xmlns:p14="http://schemas.microsoft.com/office/powerpoint/2010/main" val="38378773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nimation Disclaimer">
    <p:spTree>
      <p:nvGrpSpPr>
        <p:cNvPr id="1" name=""/>
        <p:cNvGrpSpPr/>
        <p:nvPr/>
      </p:nvGrpSpPr>
      <p:grpSpPr>
        <a:xfrm>
          <a:off x="0" y="0"/>
          <a:ext cx="0" cy="0"/>
          <a:chOff x="0" y="0"/>
          <a:chExt cx="0" cy="0"/>
        </a:xfrm>
      </p:grpSpPr>
      <p:sp>
        <p:nvSpPr>
          <p:cNvPr id="5" name="Rounded Rectangle 4"/>
          <p:cNvSpPr/>
          <p:nvPr userDrawn="1"/>
        </p:nvSpPr>
        <p:spPr bwMode="auto">
          <a:xfrm>
            <a:off x="457198" y="438151"/>
            <a:ext cx="8220075" cy="5957887"/>
          </a:xfrm>
          <a:prstGeom prst="roundRect">
            <a:avLst>
              <a:gd name="adj" fmla="val 2649"/>
            </a:avLst>
          </a:prstGeom>
          <a:solidFill>
            <a:schemeClr val="bg1"/>
          </a:solidFill>
          <a:ln w="25400" cap="rnd">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4" name="Title 2">
            <a:extLst>
              <a:ext uri="{FF2B5EF4-FFF2-40B4-BE49-F238E27FC236}">
                <a16:creationId xmlns:a16="http://schemas.microsoft.com/office/drawing/2014/main" id="{A7697262-5601-4023-B08E-475497092739}"/>
              </a:ext>
            </a:extLst>
          </p:cNvPr>
          <p:cNvSpPr>
            <a:spLocks/>
          </p:cNvSpPr>
          <p:nvPr userDrawn="1"/>
        </p:nvSpPr>
        <p:spPr bwMode="auto">
          <a:xfrm>
            <a:off x="457200" y="6283683"/>
            <a:ext cx="8220075" cy="715963"/>
          </a:xfrm>
          <a:prstGeom prst="roundRect">
            <a:avLst>
              <a:gd name="adj" fmla="val 963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round/>
                <a:headEnd/>
                <a:tailEnd/>
              </a14:hiddenLine>
            </a:ext>
          </a:extLst>
        </p:spPr>
        <p:txBody>
          <a:bodyPr lIns="252000" tIns="252000" rIns="252000" bIns="252000" anchor="ctr" anchorCtr="1"/>
          <a:lstStyle>
            <a:lvl1pPr>
              <a:defRPr>
                <a:solidFill>
                  <a:schemeClr val="tx1"/>
                </a:solidFill>
                <a:latin typeface="Twinkl" pitchFamily="2" charset="0"/>
              </a:defRPr>
            </a:lvl1pPr>
            <a:lvl2pPr marL="742950" indent="-285750">
              <a:defRPr>
                <a:solidFill>
                  <a:schemeClr val="tx1"/>
                </a:solidFill>
                <a:latin typeface="Twinkl" pitchFamily="2" charset="0"/>
              </a:defRPr>
            </a:lvl2pPr>
            <a:lvl3pPr marL="1143000" indent="-228600">
              <a:defRPr>
                <a:solidFill>
                  <a:schemeClr val="tx1"/>
                </a:solidFill>
                <a:latin typeface="Twinkl" pitchFamily="2" charset="0"/>
              </a:defRPr>
            </a:lvl3pPr>
            <a:lvl4pPr marL="1600200" indent="-228600">
              <a:defRPr>
                <a:solidFill>
                  <a:schemeClr val="tx1"/>
                </a:solidFill>
                <a:latin typeface="Twinkl" pitchFamily="2" charset="0"/>
              </a:defRPr>
            </a:lvl4pPr>
            <a:lvl5pPr marL="2057400" indent="-228600">
              <a:defRPr>
                <a:solidFill>
                  <a:schemeClr val="tx1"/>
                </a:solidFill>
                <a:latin typeface="Twinkl" pitchFamily="2" charset="0"/>
              </a:defRPr>
            </a:lvl5pPr>
            <a:lvl6pPr marL="2514600" indent="-228600" eaLnBrk="0" fontAlgn="base" hangingPunct="0">
              <a:spcBef>
                <a:spcPct val="0"/>
              </a:spcBef>
              <a:spcAft>
                <a:spcPct val="0"/>
              </a:spcAft>
              <a:defRPr>
                <a:solidFill>
                  <a:schemeClr val="tx1"/>
                </a:solidFill>
                <a:latin typeface="Twinkl" pitchFamily="2" charset="0"/>
              </a:defRPr>
            </a:lvl6pPr>
            <a:lvl7pPr marL="2971800" indent="-228600" eaLnBrk="0" fontAlgn="base" hangingPunct="0">
              <a:spcBef>
                <a:spcPct val="0"/>
              </a:spcBef>
              <a:spcAft>
                <a:spcPct val="0"/>
              </a:spcAft>
              <a:defRPr>
                <a:solidFill>
                  <a:schemeClr val="tx1"/>
                </a:solidFill>
                <a:latin typeface="Twinkl" pitchFamily="2" charset="0"/>
              </a:defRPr>
            </a:lvl7pPr>
            <a:lvl8pPr marL="3429000" indent="-228600" eaLnBrk="0" fontAlgn="base" hangingPunct="0">
              <a:spcBef>
                <a:spcPct val="0"/>
              </a:spcBef>
              <a:spcAft>
                <a:spcPct val="0"/>
              </a:spcAft>
              <a:defRPr>
                <a:solidFill>
                  <a:schemeClr val="tx1"/>
                </a:solidFill>
                <a:latin typeface="Twinkl" pitchFamily="2" charset="0"/>
              </a:defRPr>
            </a:lvl8pPr>
            <a:lvl9pPr marL="3886200" indent="-228600" eaLnBrk="0" fontAlgn="base" hangingPunct="0">
              <a:spcBef>
                <a:spcPct val="0"/>
              </a:spcBef>
              <a:spcAft>
                <a:spcPct val="0"/>
              </a:spcAft>
              <a:defRPr>
                <a:solidFill>
                  <a:schemeClr val="tx1"/>
                </a:solidFill>
                <a:latin typeface="Twinkl" pitchFamily="2" charset="0"/>
              </a:defRPr>
            </a:lvl9pPr>
          </a:lstStyle>
          <a:p>
            <a:pPr algn="ctr" eaLnBrk="1" hangingPunct="1">
              <a:lnSpc>
                <a:spcPct val="90000"/>
              </a:lnSpc>
            </a:pPr>
            <a:r>
              <a:rPr lang="en-GB" altLang="en-US" sz="1000" dirty="0">
                <a:solidFill>
                  <a:schemeClr val="bg1"/>
                </a:solidFill>
                <a:latin typeface="Roboto" panose="02000000000000000000" pitchFamily="2" charset="0"/>
                <a:ea typeface="Roboto" panose="02000000000000000000" pitchFamily="2" charset="0"/>
                <a:cs typeface="Arial" panose="020B0604020202020204" pitchFamily="34" charset="0"/>
              </a:rPr>
              <a:t>You may wish to delete this slide before beginning the presentation.</a:t>
            </a:r>
          </a:p>
        </p:txBody>
      </p:sp>
      <p:grpSp>
        <p:nvGrpSpPr>
          <p:cNvPr id="41" name="Group 40">
            <a:extLst>
              <a:ext uri="{FF2B5EF4-FFF2-40B4-BE49-F238E27FC236}">
                <a16:creationId xmlns:a16="http://schemas.microsoft.com/office/drawing/2014/main" id="{2BB4EA30-0107-4362-9222-C6055ABF324A}"/>
              </a:ext>
            </a:extLst>
          </p:cNvPr>
          <p:cNvGrpSpPr/>
          <p:nvPr userDrawn="1"/>
        </p:nvGrpSpPr>
        <p:grpSpPr>
          <a:xfrm>
            <a:off x="743835" y="1681195"/>
            <a:ext cx="7644513" cy="1787397"/>
            <a:chOff x="743837" y="1344834"/>
            <a:chExt cx="7644513" cy="1787397"/>
          </a:xfrm>
        </p:grpSpPr>
        <p:sp>
          <p:nvSpPr>
            <p:cNvPr id="42" name="Rectangle 41">
              <a:extLst>
                <a:ext uri="{FF2B5EF4-FFF2-40B4-BE49-F238E27FC236}">
                  <a16:creationId xmlns:a16="http://schemas.microsoft.com/office/drawing/2014/main" id="{0DF60415-D303-4DFE-A6B8-E0AB42EF4DDC}"/>
                </a:ext>
              </a:extLst>
            </p:cNvPr>
            <p:cNvSpPr/>
            <p:nvPr/>
          </p:nvSpPr>
          <p:spPr>
            <a:xfrm>
              <a:off x="743837" y="1344834"/>
              <a:ext cx="1266195" cy="273960"/>
            </a:xfrm>
            <a:prstGeom prst="rect">
              <a:avLst/>
            </a:prstGeom>
            <a:solidFill>
              <a:srgbClr val="E341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108000" bIns="108000" rtlCol="0" anchor="ctr"/>
            <a:lstStyle/>
            <a:p>
              <a:r>
                <a:rPr lang="en-GB" sz="1600" b="1" dirty="0">
                  <a:latin typeface="Roboto" panose="02000000000000000000" pitchFamily="2" charset="0"/>
                  <a:ea typeface="Roboto" panose="02000000000000000000" pitchFamily="2" charset="0"/>
                </a:rPr>
                <a:t>Animations</a:t>
              </a:r>
            </a:p>
          </p:txBody>
        </p:sp>
        <p:sp>
          <p:nvSpPr>
            <p:cNvPr id="43" name="Rectangle 42">
              <a:extLst>
                <a:ext uri="{FF2B5EF4-FFF2-40B4-BE49-F238E27FC236}">
                  <a16:creationId xmlns:a16="http://schemas.microsoft.com/office/drawing/2014/main" id="{6A96975B-C3DC-451D-8423-D15D5BCDB436}"/>
                </a:ext>
              </a:extLst>
            </p:cNvPr>
            <p:cNvSpPr/>
            <p:nvPr/>
          </p:nvSpPr>
          <p:spPr>
            <a:xfrm>
              <a:off x="755650" y="1618794"/>
              <a:ext cx="7632700" cy="1513437"/>
            </a:xfrm>
            <a:prstGeom prst="rect">
              <a:avLst/>
            </a:prstGeom>
            <a:noFill/>
            <a:ln w="19050">
              <a:solidFill>
                <a:srgbClr val="18A0DB"/>
              </a:solidFill>
            </a:ln>
          </p:spPr>
          <p:txBody>
            <a:bodyPr wrap="square" lIns="216000" tIns="216000" rIns="216000" bIns="216000">
              <a:spAutoFit/>
            </a:bodyPr>
            <a:lstStyle/>
            <a:p>
              <a:pPr>
                <a:spcAft>
                  <a:spcPts val="600"/>
                </a:spcAft>
              </a:pPr>
              <a:r>
                <a:rPr lang="en-GB" sz="1400" b="0" i="0" dirty="0">
                  <a:solidFill>
                    <a:srgbClr val="000000"/>
                  </a:solidFill>
                  <a:effectLst/>
                  <a:latin typeface="Roboto" panose="02000000000000000000" pitchFamily="2" charset="0"/>
                  <a:ea typeface="Roboto" panose="02000000000000000000" pitchFamily="2" charset="0"/>
                </a:rPr>
                <a:t>We hope you find the information on our website and resources useful. This resource has been designed to be compatible with Microsoft PowerPoint. To view the content in the correct formatting, please view the presentation using </a:t>
              </a:r>
              <a:r>
                <a:rPr lang="en-GB" sz="1400" b="1" i="0" dirty="0">
                  <a:solidFill>
                    <a:srgbClr val="000000"/>
                  </a:solidFill>
                  <a:effectLst/>
                  <a:latin typeface="Roboto" panose="02000000000000000000" pitchFamily="2" charset="0"/>
                  <a:ea typeface="Roboto" panose="02000000000000000000" pitchFamily="2" charset="0"/>
                </a:rPr>
                <a:t>PowerPoint in Slide Show mode</a:t>
              </a:r>
              <a:r>
                <a:rPr lang="en-GB" sz="1400" b="0" i="0" dirty="0">
                  <a:solidFill>
                    <a:srgbClr val="000000"/>
                  </a:solidFill>
                  <a:effectLst/>
                  <a:latin typeface="Roboto" panose="02000000000000000000" pitchFamily="2" charset="0"/>
                  <a:ea typeface="Roboto" panose="02000000000000000000" pitchFamily="2" charset="0"/>
                </a:rPr>
                <a:t>. If you view the slides using other presentation software or out of Slide Show mode, you may find that some of the text and images overlap each other and/or are difficult to read.</a:t>
              </a:r>
              <a:endParaRPr lang="en-GB" sz="1400" dirty="0">
                <a:latin typeface="Roboto" panose="02000000000000000000" pitchFamily="2" charset="0"/>
                <a:ea typeface="Roboto" panose="02000000000000000000" pitchFamily="2" charset="0"/>
              </a:endParaRPr>
            </a:p>
          </p:txBody>
        </p:sp>
      </p:grpSp>
      <p:sp>
        <p:nvSpPr>
          <p:cNvPr id="44" name="Rectangle 43">
            <a:extLst>
              <a:ext uri="{FF2B5EF4-FFF2-40B4-BE49-F238E27FC236}">
                <a16:creationId xmlns:a16="http://schemas.microsoft.com/office/drawing/2014/main" id="{C01BCBF7-EAB4-4398-AAB8-B60AC3555113}"/>
              </a:ext>
            </a:extLst>
          </p:cNvPr>
          <p:cNvSpPr/>
          <p:nvPr userDrawn="1"/>
        </p:nvSpPr>
        <p:spPr>
          <a:xfrm>
            <a:off x="743836" y="1163960"/>
            <a:ext cx="7644513" cy="307777"/>
          </a:xfrm>
          <a:prstGeom prst="rect">
            <a:avLst/>
          </a:prstGeom>
        </p:spPr>
        <p:txBody>
          <a:bodyPr wrap="square">
            <a:spAutoFit/>
          </a:bodyPr>
          <a:lstStyle/>
          <a:p>
            <a:pPr algn="ctr"/>
            <a:r>
              <a:rPr lang="en-GB" sz="1400" dirty="0">
                <a:latin typeface="Roboto" panose="02000000000000000000" pitchFamily="2" charset="0"/>
                <a:ea typeface="Roboto" panose="02000000000000000000" pitchFamily="2" charset="0"/>
              </a:rPr>
              <a:t>We hope you find the information on our website and resources useful. </a:t>
            </a:r>
            <a:endParaRPr lang="en-GB" sz="1400" dirty="0"/>
          </a:p>
        </p:txBody>
      </p:sp>
      <p:sp>
        <p:nvSpPr>
          <p:cNvPr id="45" name="TextBox 44">
            <a:extLst>
              <a:ext uri="{FF2B5EF4-FFF2-40B4-BE49-F238E27FC236}">
                <a16:creationId xmlns:a16="http://schemas.microsoft.com/office/drawing/2014/main" id="{3F3091BF-D025-46EF-A448-B4F13C76E242}"/>
              </a:ext>
            </a:extLst>
          </p:cNvPr>
          <p:cNvSpPr txBox="1"/>
          <p:nvPr userDrawn="1"/>
        </p:nvSpPr>
        <p:spPr>
          <a:xfrm>
            <a:off x="755650" y="668014"/>
            <a:ext cx="7632700" cy="523220"/>
          </a:xfrm>
          <a:prstGeom prst="rect">
            <a:avLst/>
          </a:prstGeom>
          <a:noFill/>
        </p:spPr>
        <p:txBody>
          <a:bodyPr wrap="square">
            <a:spAutoFit/>
          </a:bodyPr>
          <a:lstStyle/>
          <a:p>
            <a:pPr lvl="0" algn="ctr"/>
            <a:r>
              <a:rPr lang="en-US" sz="2800" b="1" dirty="0">
                <a:solidFill>
                  <a:srgbClr val="E34192"/>
                </a:solidFill>
                <a:latin typeface="Roboto" panose="02000000000000000000" pitchFamily="2" charset="0"/>
                <a:ea typeface="Roboto" panose="02000000000000000000" pitchFamily="2" charset="0"/>
              </a:rPr>
              <a:t>Disclaimer/s</a:t>
            </a:r>
            <a:endParaRPr lang="en-GB" sz="2800" b="1" dirty="0">
              <a:solidFill>
                <a:srgbClr val="E34192"/>
              </a:solidFill>
            </a:endParaRPr>
          </a:p>
        </p:txBody>
      </p:sp>
    </p:spTree>
    <p:extLst>
      <p:ext uri="{BB962C8B-B14F-4D97-AF65-F5344CB8AC3E}">
        <p14:creationId xmlns:p14="http://schemas.microsoft.com/office/powerpoint/2010/main" val="3577060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8A0D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89745" y="695325"/>
            <a:ext cx="8164510" cy="1150938"/>
          </a:xfrm>
          <a:prstGeom prst="roundRect">
            <a:avLst>
              <a:gd name="adj" fmla="val 9641"/>
            </a:avLst>
          </a:prstGeom>
          <a:noFill/>
          <a:ln w="25400">
            <a:noFill/>
          </a:ln>
        </p:spPr>
        <p:txBody>
          <a:bodyPr vert="horz" lIns="252000" tIns="252000" rIns="252000" bIns="252000" rtlCol="0" anchor="ctr" anchorCtr="1">
            <a:normAutofit/>
          </a:bodyPr>
          <a:lstStyle/>
          <a:p>
            <a:r>
              <a:rPr lang="en-GB"/>
              <a:t>Click to edit Master title style</a:t>
            </a:r>
            <a:endParaRPr lang="en-US" dirty="0"/>
          </a:p>
        </p:txBody>
      </p:sp>
      <p:sp>
        <p:nvSpPr>
          <p:cNvPr id="3" name="Text Placeholder 2"/>
          <p:cNvSpPr>
            <a:spLocks noGrp="1"/>
          </p:cNvSpPr>
          <p:nvPr>
            <p:ph type="body" idx="1"/>
          </p:nvPr>
        </p:nvSpPr>
        <p:spPr>
          <a:xfrm>
            <a:off x="489745" y="1957386"/>
            <a:ext cx="8164510" cy="4387851"/>
          </a:xfrm>
          <a:prstGeom prst="roundRect">
            <a:avLst>
              <a:gd name="adj" fmla="val 2585"/>
            </a:avLst>
          </a:prstGeom>
          <a:noFill/>
          <a:ln w="25400">
            <a:noFill/>
          </a:ln>
        </p:spPr>
        <p:txBody>
          <a:bodyPr vert="horz" lIns="252000" tIns="252000" rIns="252000" bIns="25200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438920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8" r:id="rId3"/>
    <p:sldLayoutId id="2147483676" r:id="rId4"/>
    <p:sldLayoutId id="2147483677" r:id="rId5"/>
    <p:sldLayoutId id="2147483663" r:id="rId6"/>
    <p:sldLayoutId id="2147483666" r:id="rId7"/>
  </p:sldLayoutIdLst>
  <p:txStyles>
    <p:titleStyle>
      <a:lvl1pPr algn="l" defTabSz="914400" rtl="0" eaLnBrk="1" latinLnBrk="0" hangingPunct="1">
        <a:lnSpc>
          <a:spcPct val="90000"/>
        </a:lnSpc>
        <a:spcBef>
          <a:spcPct val="0"/>
        </a:spcBef>
        <a:buNone/>
        <a:defRPr sz="3600" b="1" kern="1200">
          <a:solidFill>
            <a:srgbClr val="1C1C1C"/>
          </a:solidFill>
          <a:latin typeface="Twinkl" pitchFamily="50"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rgbClr val="1C1C1C"/>
          </a:solidFill>
          <a:latin typeface="Twinkl" pitchFamily="50" charset="0"/>
          <a:ea typeface="Twinkl"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rgbClr val="1C1C1C"/>
          </a:solidFill>
          <a:latin typeface="Twinkl" pitchFamily="50" charset="0"/>
          <a:ea typeface="Twinkl"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rgbClr val="1C1C1C"/>
          </a:solidFill>
          <a:latin typeface="Twinkl" pitchFamily="50" charset="0"/>
          <a:ea typeface="Twinkl"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21A6F9"/>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228093"/>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5" r:id="rId3"/>
    <p:sldLayoutId id="2147483674" r:id="rId4"/>
    <p:sldLayoutId id="2147483669" r:id="rId5"/>
    <p:sldLayoutId id="2147483670" r:id="rId6"/>
    <p:sldLayoutId id="2147483671" r:id="rId7"/>
    <p:sldLayoutId id="2147483673"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sv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8.jpe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4.sv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9.jpeg"/><Relationship Id="rId4" Type="http://schemas.openxmlformats.org/officeDocument/2006/relationships/image" Target="../media/image14.sv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21.jpeg"/><Relationship Id="rId4" Type="http://schemas.openxmlformats.org/officeDocument/2006/relationships/image" Target="../media/image14.sv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22.jpeg"/><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25.jpeg"/><Relationship Id="rId2" Type="http://schemas.openxmlformats.org/officeDocument/2006/relationships/image" Target="../media/image12.png"/><Relationship Id="rId1" Type="http://schemas.openxmlformats.org/officeDocument/2006/relationships/slideLayout" Target="../slideLayouts/slideLayout4.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14.sv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28.png"/><Relationship Id="rId2" Type="http://schemas.openxmlformats.org/officeDocument/2006/relationships/image" Target="../media/image12.png"/><Relationship Id="rId1" Type="http://schemas.openxmlformats.org/officeDocument/2006/relationships/slideLayout" Target="../slideLayouts/slideLayout5.xml"/><Relationship Id="rId6" Type="http://schemas.openxmlformats.org/officeDocument/2006/relationships/image" Target="../media/image27.png"/><Relationship Id="rId5" Type="http://schemas.openxmlformats.org/officeDocument/2006/relationships/image" Target="../media/image26.jpeg"/><Relationship Id="rId4" Type="http://schemas.openxmlformats.org/officeDocument/2006/relationships/image" Target="../media/image14.svg"/></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png"/><Relationship Id="rId7"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14.sv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3.jpeg"/><Relationship Id="rId7" Type="http://schemas.openxmlformats.org/officeDocument/2006/relationships/image" Target="../media/image27.png"/><Relationship Id="rId2" Type="http://schemas.openxmlformats.org/officeDocument/2006/relationships/image" Target="../media/image29.jpeg"/><Relationship Id="rId1" Type="http://schemas.openxmlformats.org/officeDocument/2006/relationships/slideLayout" Target="../slideLayouts/slideLayout3.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31.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9095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014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ounded Rectangle 4">
            <a:extLst>
              <a:ext uri="{FF2B5EF4-FFF2-40B4-BE49-F238E27FC236}">
                <a16:creationId xmlns:a16="http://schemas.microsoft.com/office/drawing/2014/main" id="{C0C04156-2805-FD37-D680-9FA7857BF9F7}"/>
              </a:ext>
            </a:extLst>
          </p:cNvPr>
          <p:cNvSpPr/>
          <p:nvPr/>
        </p:nvSpPr>
        <p:spPr bwMode="auto">
          <a:xfrm>
            <a:off x="457198" y="438151"/>
            <a:ext cx="8220075" cy="5957887"/>
          </a:xfrm>
          <a:prstGeom prst="roundRect">
            <a:avLst>
              <a:gd name="adj" fmla="val 2649"/>
            </a:avLst>
          </a:prstGeom>
          <a:solidFill>
            <a:schemeClr val="bg1">
              <a:alpha val="70000"/>
            </a:schemeClr>
          </a:solidFill>
          <a:ln w="25400" cap="rnd">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pic>
        <p:nvPicPr>
          <p:cNvPr id="4" name="Picture 3">
            <a:extLst>
              <a:ext uri="{FF2B5EF4-FFF2-40B4-BE49-F238E27FC236}">
                <a16:creationId xmlns:a16="http://schemas.microsoft.com/office/drawing/2014/main" id="{259B7E33-4482-F604-D782-43CBCC5F40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651992"/>
          </a:xfrm>
          <a:prstGeom prst="rect">
            <a:avLst/>
          </a:prstGeom>
        </p:spPr>
      </p:pic>
      <p:sp>
        <p:nvSpPr>
          <p:cNvPr id="3" name="Text Box"/>
          <p:cNvSpPr/>
          <p:nvPr/>
        </p:nvSpPr>
        <p:spPr>
          <a:xfrm rot="5400000">
            <a:off x="1404369" y="2024632"/>
            <a:ext cx="547779" cy="3356516"/>
          </a:xfrm>
          <a:prstGeom prst="round2SameRect">
            <a:avLst/>
          </a:prstGeom>
          <a:solidFill>
            <a:srgbClr val="F5822A"/>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108000" tIns="108000" rIns="108000" bIns="540000" rtlCol="0" anchor="ctr">
            <a:spAutoFit/>
          </a:bodyPr>
          <a:lstStyle/>
          <a:p>
            <a:r>
              <a:rPr lang="en-GB" dirty="0"/>
              <a:t>Welcome to my garden!</a:t>
            </a:r>
          </a:p>
        </p:txBody>
      </p:sp>
      <p:sp>
        <p:nvSpPr>
          <p:cNvPr id="21" name="Title"/>
          <p:cNvSpPr>
            <a:spLocks noGrp="1"/>
          </p:cNvSpPr>
          <p:nvPr>
            <p:ph type="title" idx="4294967295"/>
          </p:nvPr>
        </p:nvSpPr>
        <p:spPr>
          <a:xfrm>
            <a:off x="0" y="341313"/>
            <a:ext cx="4265613" cy="993775"/>
          </a:xfrm>
        </p:spPr>
        <p:txBody>
          <a:bodyPr>
            <a:normAutofit fontScale="90000"/>
          </a:bodyPr>
          <a:lstStyle/>
          <a:p>
            <a:r>
              <a:rPr lang="en-US" dirty="0">
                <a:solidFill>
                  <a:schemeClr val="bg1"/>
                </a:solidFill>
                <a:latin typeface="+mn-lt"/>
              </a:rPr>
              <a:t>Let’s Learn About Pollination!</a:t>
            </a:r>
            <a:endParaRPr lang="en-GB" sz="3600" dirty="0">
              <a:solidFill>
                <a:schemeClr val="bg1"/>
              </a:solidFill>
              <a:latin typeface="+mn-lt"/>
            </a:endParaRPr>
          </a:p>
        </p:txBody>
      </p:sp>
      <p:pic>
        <p:nvPicPr>
          <p:cNvPr id="9" name="Graphic 8">
            <a:hlinkClick r:id="" action="ppaction://hlinkshowjump?jump=nextslide"/>
            <a:extLst>
              <a:ext uri="{FF2B5EF4-FFF2-40B4-BE49-F238E27FC236}">
                <a16:creationId xmlns:a16="http://schemas.microsoft.com/office/drawing/2014/main" id="{99F648CD-EF0E-A27A-2310-0E5FDE2077B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8388350" y="224630"/>
            <a:ext cx="472694" cy="472694"/>
          </a:xfrm>
          <a:prstGeom prst="rect">
            <a:avLst/>
          </a:prstGeom>
        </p:spPr>
      </p:pic>
      <p:pic>
        <p:nvPicPr>
          <p:cNvPr id="11" name="Picture 10">
            <a:extLst>
              <a:ext uri="{FF2B5EF4-FFF2-40B4-BE49-F238E27FC236}">
                <a16:creationId xmlns:a16="http://schemas.microsoft.com/office/drawing/2014/main" id="{40B9FDF8-3A4F-EA06-CD38-7F098DFE552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910822" y="734877"/>
            <a:ext cx="2531030" cy="1940081"/>
          </a:xfrm>
          <a:prstGeom prst="rect">
            <a:avLst/>
          </a:prstGeom>
        </p:spPr>
      </p:pic>
      <p:sp>
        <p:nvSpPr>
          <p:cNvPr id="12" name="Text Box">
            <a:extLst>
              <a:ext uri="{FF2B5EF4-FFF2-40B4-BE49-F238E27FC236}">
                <a16:creationId xmlns:a16="http://schemas.microsoft.com/office/drawing/2014/main" id="{22E8945A-E1FF-DF1C-6527-B1E7B28FAE1A}"/>
              </a:ext>
            </a:extLst>
          </p:cNvPr>
          <p:cNvSpPr/>
          <p:nvPr/>
        </p:nvSpPr>
        <p:spPr>
          <a:xfrm rot="5400000">
            <a:off x="3584432" y="606010"/>
            <a:ext cx="547779" cy="7716643"/>
          </a:xfrm>
          <a:prstGeom prst="round2SameRect">
            <a:avLst/>
          </a:prstGeom>
          <a:solidFill>
            <a:srgbClr val="FCAF17"/>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108000" tIns="108000" rIns="108000" bIns="540000" rtlCol="0" anchor="ctr">
            <a:spAutoFit/>
          </a:bodyPr>
          <a:lstStyle/>
          <a:p>
            <a:pPr marL="0" marR="0" lvl="0" indent="0" algn="l" rtl="0">
              <a:lnSpc>
                <a:spcPct val="100000"/>
              </a:lnSpc>
              <a:spcBef>
                <a:spcPts val="0"/>
              </a:spcBef>
              <a:spcAft>
                <a:spcPts val="0"/>
              </a:spcAft>
              <a:buClr>
                <a:srgbClr val="000000"/>
              </a:buClr>
              <a:buSzPts val="2000"/>
              <a:buFont typeface="Arial"/>
              <a:buNone/>
            </a:pPr>
            <a:r>
              <a:rPr lang="en-GB" b="0" i="0" u="none" strike="noStrike" cap="none" dirty="0">
                <a:solidFill>
                  <a:schemeClr val="bg1"/>
                </a:solidFill>
                <a:ea typeface="Roboto"/>
                <a:cs typeface="Roboto"/>
                <a:sym typeface="Roboto"/>
              </a:rPr>
              <a:t>There are lots of colourful </a:t>
            </a:r>
            <a:r>
              <a:rPr lang="en-GB" b="1" i="0" u="none" strike="noStrike" cap="none" dirty="0">
                <a:solidFill>
                  <a:schemeClr val="bg1"/>
                </a:solidFill>
                <a:ea typeface="Roboto"/>
                <a:cs typeface="Roboto"/>
                <a:sym typeface="Roboto"/>
              </a:rPr>
              <a:t>flowers</a:t>
            </a:r>
            <a:r>
              <a:rPr lang="en-GB" b="0" i="0" u="none" strike="noStrike" cap="none" dirty="0">
                <a:solidFill>
                  <a:schemeClr val="bg1"/>
                </a:solidFill>
                <a:ea typeface="Roboto"/>
                <a:cs typeface="Roboto"/>
                <a:sym typeface="Roboto"/>
              </a:rPr>
              <a:t> in my garden that I like to visit. </a:t>
            </a:r>
            <a:endParaRPr lang="en-GB" sz="1200" b="0" i="0" u="none" strike="noStrike" cap="none" dirty="0">
              <a:solidFill>
                <a:schemeClr val="bg1"/>
              </a:solidFill>
              <a:ea typeface="Roboto"/>
              <a:cs typeface="Roboto"/>
              <a:sym typeface="Roboto"/>
            </a:endParaRPr>
          </a:p>
        </p:txBody>
      </p:sp>
      <p:sp>
        <p:nvSpPr>
          <p:cNvPr id="13" name="Text Box">
            <a:extLst>
              <a:ext uri="{FF2B5EF4-FFF2-40B4-BE49-F238E27FC236}">
                <a16:creationId xmlns:a16="http://schemas.microsoft.com/office/drawing/2014/main" id="{82B7E7A6-7ADA-6097-6ADE-4A28ED4A566C}"/>
              </a:ext>
            </a:extLst>
          </p:cNvPr>
          <p:cNvSpPr/>
          <p:nvPr/>
        </p:nvSpPr>
        <p:spPr>
          <a:xfrm rot="5400000">
            <a:off x="2396827" y="2555057"/>
            <a:ext cx="547779" cy="5341433"/>
          </a:xfrm>
          <a:prstGeom prst="round2SameRect">
            <a:avLst/>
          </a:prstGeom>
          <a:solidFill>
            <a:srgbClr val="F08215"/>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108000" tIns="108000" rIns="108000" bIns="540000" rtlCol="0" anchor="ctr">
            <a:spAutoFit/>
          </a:bodyPr>
          <a:lstStyle/>
          <a:p>
            <a:pPr marL="0" marR="0" lvl="0" indent="0" algn="l" rtl="0">
              <a:lnSpc>
                <a:spcPct val="100000"/>
              </a:lnSpc>
              <a:spcBef>
                <a:spcPts val="0"/>
              </a:spcBef>
              <a:spcAft>
                <a:spcPts val="0"/>
              </a:spcAft>
              <a:buClr>
                <a:srgbClr val="000000"/>
              </a:buClr>
              <a:buSzPts val="2000"/>
              <a:buFont typeface="Arial"/>
              <a:buNone/>
            </a:pPr>
            <a:r>
              <a:rPr lang="en-GB" b="0" i="0" u="none" strike="noStrike" cap="none" dirty="0">
                <a:solidFill>
                  <a:schemeClr val="bg1"/>
                </a:solidFill>
                <a:ea typeface="Roboto"/>
                <a:cs typeface="Roboto"/>
                <a:sym typeface="Roboto"/>
              </a:rPr>
              <a:t>Do you know why bees like to visit </a:t>
            </a:r>
            <a:r>
              <a:rPr lang="en-GB" b="1" i="0" u="none" strike="noStrike" cap="none" dirty="0">
                <a:solidFill>
                  <a:schemeClr val="bg1"/>
                </a:solidFill>
                <a:ea typeface="Roboto"/>
                <a:cs typeface="Roboto"/>
                <a:sym typeface="Roboto"/>
              </a:rPr>
              <a:t>flowers</a:t>
            </a:r>
            <a:r>
              <a:rPr lang="en-GB" b="0" i="0" u="none" strike="noStrike" cap="none" dirty="0">
                <a:solidFill>
                  <a:schemeClr val="bg1"/>
                </a:solidFill>
                <a:ea typeface="Roboto"/>
                <a:cs typeface="Roboto"/>
                <a:sym typeface="Roboto"/>
              </a:rPr>
              <a:t>?</a:t>
            </a:r>
            <a:endParaRPr lang="en-GB" sz="1200" b="0" i="0" u="none" strike="noStrike" cap="none" dirty="0">
              <a:solidFill>
                <a:schemeClr val="bg1"/>
              </a:solidFill>
              <a:ea typeface="Roboto"/>
              <a:cs typeface="Roboto"/>
              <a:sym typeface="Roboto"/>
            </a:endParaRPr>
          </a:p>
        </p:txBody>
      </p:sp>
      <p:sp>
        <p:nvSpPr>
          <p:cNvPr id="14" name="Speech Bubble: Oval 13">
            <a:extLst>
              <a:ext uri="{FF2B5EF4-FFF2-40B4-BE49-F238E27FC236}">
                <a16:creationId xmlns:a16="http://schemas.microsoft.com/office/drawing/2014/main" id="{DC5B2090-E340-E966-D8B7-2701BA56AE0E}"/>
              </a:ext>
            </a:extLst>
          </p:cNvPr>
          <p:cNvSpPr/>
          <p:nvPr/>
        </p:nvSpPr>
        <p:spPr>
          <a:xfrm>
            <a:off x="3264677" y="2062828"/>
            <a:ext cx="2723686" cy="1471972"/>
          </a:xfrm>
          <a:prstGeom prst="wedgeEllipseCallout">
            <a:avLst>
              <a:gd name="adj1" fmla="val 55938"/>
              <a:gd name="adj2" fmla="val -30271"/>
            </a:avLst>
          </a:prstGeom>
          <a:solidFill>
            <a:schemeClr val="bg1"/>
          </a:solidFill>
          <a:ln w="28575">
            <a:solidFill>
              <a:srgbClr val="F082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I can see some lovely </a:t>
            </a:r>
            <a:r>
              <a:rPr lang="en-GB" b="1" dirty="0">
                <a:solidFill>
                  <a:schemeClr val="tx1"/>
                </a:solidFill>
              </a:rPr>
              <a:t>flowers</a:t>
            </a:r>
            <a:r>
              <a:rPr lang="en-GB" dirty="0">
                <a:solidFill>
                  <a:schemeClr val="tx1"/>
                </a:solidFill>
              </a:rPr>
              <a:t>!</a:t>
            </a:r>
          </a:p>
        </p:txBody>
      </p:sp>
    </p:spTree>
    <p:extLst>
      <p:ext uri="{BB962C8B-B14F-4D97-AF65-F5344CB8AC3E}">
        <p14:creationId xmlns:p14="http://schemas.microsoft.com/office/powerpoint/2010/main" val="1286237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left)">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left)">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wipe(left)">
                                      <p:cBhvr>
                                        <p:cTn id="24" dur="500"/>
                                        <p:tgtEl>
                                          <p:spTgt spid="13"/>
                                        </p:tgtEl>
                                      </p:cBhvr>
                                    </p:animEffect>
                                  </p:childTnLst>
                                </p:cTn>
                              </p:par>
                            </p:childTnLst>
                          </p:cTn>
                        </p:par>
                        <p:par>
                          <p:cTn id="25" fill="hold">
                            <p:stCondLst>
                              <p:cond delay="500"/>
                            </p:stCondLst>
                            <p:childTnLst>
                              <p:par>
                                <p:cTn id="26" presetID="10" presetClass="entr" presetSubtype="0"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par>
                          <p:cTn id="29" fill="hold">
                            <p:stCondLst>
                              <p:cond delay="1000"/>
                            </p:stCondLst>
                            <p:childTnLst>
                              <p:par>
                                <p:cTn id="30" presetID="1" presetClass="entr" presetSubtype="0" fill="hold" nodeType="afterEffect">
                                  <p:stCondLst>
                                    <p:cond delay="0"/>
                                  </p:stCondLst>
                                  <p:childTnLst>
                                    <p:set>
                                      <p:cBhvr>
                                        <p:cTn id="31"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2" grpId="0" animBg="1"/>
      <p:bldP spid="13" grpId="0" animBg="1"/>
      <p:bldP spid="1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3F9F9-0C77-FFCA-CA98-31C34B86678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89F20CA-5D62-E3F3-1186-55F167B90A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651992"/>
          </a:xfrm>
          <a:prstGeom prst="rect">
            <a:avLst/>
          </a:prstGeom>
        </p:spPr>
      </p:pic>
      <p:sp>
        <p:nvSpPr>
          <p:cNvPr id="8" name="Title">
            <a:extLst>
              <a:ext uri="{FF2B5EF4-FFF2-40B4-BE49-F238E27FC236}">
                <a16:creationId xmlns:a16="http://schemas.microsoft.com/office/drawing/2014/main" id="{83143DDB-C695-3792-668E-4B43B5BE27EC}"/>
              </a:ext>
            </a:extLst>
          </p:cNvPr>
          <p:cNvSpPr txBox="1">
            <a:spLocks/>
          </p:cNvSpPr>
          <p:nvPr/>
        </p:nvSpPr>
        <p:spPr>
          <a:xfrm>
            <a:off x="155357" y="340734"/>
            <a:ext cx="2756519" cy="994306"/>
          </a:xfrm>
          <a:prstGeom prst="roundRect">
            <a:avLst>
              <a:gd name="adj" fmla="val 9641"/>
            </a:avLst>
          </a:prstGeom>
          <a:noFill/>
          <a:ln w="25400">
            <a:noFill/>
          </a:ln>
        </p:spPr>
        <p:txBody>
          <a:bodyPr vert="horz" lIns="252000" tIns="252000" rIns="252000" bIns="252000" rtlCol="0" anchor="ctr" anchorCtr="1">
            <a:noAutofit/>
          </a:bodyPr>
          <a:lstStyle>
            <a:lvl1pPr algn="l" defTabSz="914400" rtl="0" eaLnBrk="1" latinLnBrk="0" hangingPunct="1">
              <a:lnSpc>
                <a:spcPct val="90000"/>
              </a:lnSpc>
              <a:spcBef>
                <a:spcPct val="0"/>
              </a:spcBef>
              <a:buNone/>
              <a:defRPr sz="3600" b="1" kern="1200">
                <a:solidFill>
                  <a:srgbClr val="1C1C1C"/>
                </a:solidFill>
                <a:latin typeface="Twinkl" pitchFamily="2" charset="0"/>
                <a:ea typeface="+mj-ea"/>
                <a:cs typeface="+mj-cs"/>
              </a:defRPr>
            </a:lvl1pPr>
          </a:lstStyle>
          <a:p>
            <a:r>
              <a:rPr lang="en-US" dirty="0">
                <a:solidFill>
                  <a:schemeClr val="bg1"/>
                </a:solidFill>
                <a:latin typeface="+mn-lt"/>
              </a:rPr>
              <a:t>Flowers</a:t>
            </a:r>
            <a:endParaRPr lang="en-GB" dirty="0">
              <a:solidFill>
                <a:schemeClr val="bg1"/>
              </a:solidFill>
              <a:latin typeface="+mn-lt"/>
            </a:endParaRPr>
          </a:p>
        </p:txBody>
      </p:sp>
      <p:pic>
        <p:nvPicPr>
          <p:cNvPr id="11" name="Graphic 10">
            <a:hlinkClick r:id="" action="ppaction://hlinkshowjump?jump=nextslide"/>
            <a:extLst>
              <a:ext uri="{FF2B5EF4-FFF2-40B4-BE49-F238E27FC236}">
                <a16:creationId xmlns:a16="http://schemas.microsoft.com/office/drawing/2014/main" id="{1205266A-8DA3-F07D-5429-9379CBDFD9C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8388350" y="224630"/>
            <a:ext cx="472694" cy="472694"/>
          </a:xfrm>
          <a:prstGeom prst="rect">
            <a:avLst/>
          </a:prstGeom>
        </p:spPr>
      </p:pic>
      <p:sp>
        <p:nvSpPr>
          <p:cNvPr id="13" name="Text Box">
            <a:extLst>
              <a:ext uri="{FF2B5EF4-FFF2-40B4-BE49-F238E27FC236}">
                <a16:creationId xmlns:a16="http://schemas.microsoft.com/office/drawing/2014/main" id="{6E466F70-81B2-4151-A3DC-11F4C6FC9A9F}"/>
              </a:ext>
            </a:extLst>
          </p:cNvPr>
          <p:cNvSpPr/>
          <p:nvPr/>
        </p:nvSpPr>
        <p:spPr>
          <a:xfrm rot="16200000">
            <a:off x="3043124" y="949968"/>
            <a:ext cx="513728" cy="3974471"/>
          </a:xfrm>
          <a:prstGeom prst="round2SameRect">
            <a:avLst/>
          </a:prstGeom>
          <a:solidFill>
            <a:srgbClr val="F1884C"/>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wrap="square" lIns="108000" tIns="108000" rIns="108000" bIns="216000" rtlCol="0" anchor="ctr">
            <a:spAutoFit/>
          </a:bodyPr>
          <a:lstStyle/>
          <a:p>
            <a:r>
              <a:rPr lang="en-GB" sz="1600" b="1" i="0" u="none" strike="noStrike" cap="none" dirty="0">
                <a:solidFill>
                  <a:schemeClr val="bg1"/>
                </a:solidFill>
                <a:ea typeface="Roboto"/>
                <a:cs typeface="Roboto"/>
                <a:sym typeface="Roboto"/>
              </a:rPr>
              <a:t>Flowers</a:t>
            </a:r>
            <a:r>
              <a:rPr lang="en-GB" sz="1600" b="0" i="0" u="none" strike="noStrike" cap="none" dirty="0">
                <a:solidFill>
                  <a:schemeClr val="bg1"/>
                </a:solidFill>
                <a:ea typeface="Roboto"/>
                <a:cs typeface="Roboto"/>
                <a:sym typeface="Roboto"/>
              </a:rPr>
              <a:t> have lots of different parts.</a:t>
            </a:r>
            <a:endParaRPr lang="en-GB" sz="1600" dirty="0">
              <a:solidFill>
                <a:schemeClr val="bg1"/>
              </a:solidFill>
            </a:endParaRPr>
          </a:p>
        </p:txBody>
      </p:sp>
      <p:sp>
        <p:nvSpPr>
          <p:cNvPr id="14" name="Text Box">
            <a:extLst>
              <a:ext uri="{FF2B5EF4-FFF2-40B4-BE49-F238E27FC236}">
                <a16:creationId xmlns:a16="http://schemas.microsoft.com/office/drawing/2014/main" id="{B569A240-C713-C980-3D67-7402F6190F60}"/>
              </a:ext>
            </a:extLst>
          </p:cNvPr>
          <p:cNvSpPr/>
          <p:nvPr/>
        </p:nvSpPr>
        <p:spPr>
          <a:xfrm rot="16200000">
            <a:off x="2581442" y="1495975"/>
            <a:ext cx="786143" cy="4385413"/>
          </a:xfrm>
          <a:prstGeom prst="round2SameRect">
            <a:avLst/>
          </a:prstGeom>
          <a:solidFill>
            <a:srgbClr val="F1884C"/>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wrap="square" lIns="108000" tIns="108000" rIns="108000" bIns="216000" rtlCol="0" anchor="ctr">
            <a:spAutoFit/>
          </a:bodyPr>
          <a:lstStyle/>
          <a:p>
            <a:r>
              <a:rPr lang="en-GB" sz="1600" b="1" i="0" u="none" strike="noStrike" cap="none" dirty="0">
                <a:solidFill>
                  <a:schemeClr val="bg1"/>
                </a:solidFill>
                <a:ea typeface="Roboto"/>
                <a:cs typeface="Roboto"/>
                <a:sym typeface="Roboto"/>
              </a:rPr>
              <a:t>Pollen</a:t>
            </a:r>
            <a:r>
              <a:rPr lang="en-GB" sz="1600" b="0" i="0" u="none" strike="noStrike" cap="none" dirty="0">
                <a:solidFill>
                  <a:schemeClr val="bg1"/>
                </a:solidFill>
                <a:ea typeface="Roboto"/>
                <a:cs typeface="Roboto"/>
                <a:sym typeface="Roboto"/>
              </a:rPr>
              <a:t> can be found in </a:t>
            </a:r>
            <a:r>
              <a:rPr lang="en-GB" sz="1600" b="0"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
                  </a:ext>
                </a:extLst>
              </a:rPr>
              <a:t>some </a:t>
            </a:r>
            <a:r>
              <a:rPr lang="en-GB" sz="1600" b="1"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
                  </a:ext>
                </a:extLst>
              </a:rPr>
              <a:t>flowers </a:t>
            </a:r>
            <a:r>
              <a:rPr lang="en-GB" sz="1600" b="0" i="0" u="none" strike="noStrike" cap="none" dirty="0">
                <a:solidFill>
                  <a:schemeClr val="bg1"/>
                </a:solidFill>
                <a:ea typeface="Roboto"/>
                <a:cs typeface="Roboto"/>
                <a:sym typeface="Roboto"/>
              </a:rPr>
              <a:t>on </a:t>
            </a:r>
            <a:r>
              <a:rPr lang="en-GB" sz="1600" b="0"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3"/>
                  </a:ext>
                </a:extLst>
              </a:rPr>
              <a:t>plants and trees (which are large plants).</a:t>
            </a:r>
            <a:endParaRPr lang="en-GB" sz="1600" dirty="0">
              <a:solidFill>
                <a:schemeClr val="bg1"/>
              </a:solidFill>
            </a:endParaRPr>
          </a:p>
        </p:txBody>
      </p:sp>
      <p:sp>
        <p:nvSpPr>
          <p:cNvPr id="15" name="Text Box">
            <a:extLst>
              <a:ext uri="{FF2B5EF4-FFF2-40B4-BE49-F238E27FC236}">
                <a16:creationId xmlns:a16="http://schemas.microsoft.com/office/drawing/2014/main" id="{0D172EE9-2D25-CFD8-B71D-94503CE9AFEC}"/>
              </a:ext>
            </a:extLst>
          </p:cNvPr>
          <p:cNvSpPr/>
          <p:nvPr/>
        </p:nvSpPr>
        <p:spPr>
          <a:xfrm rot="16200000">
            <a:off x="3815474" y="2535890"/>
            <a:ext cx="786143" cy="4095586"/>
          </a:xfrm>
          <a:prstGeom prst="round2SameRect">
            <a:avLst/>
          </a:prstGeom>
          <a:solidFill>
            <a:srgbClr val="F1884C"/>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wrap="square" lIns="108000" tIns="108000" rIns="108000" bIns="216000" rtlCol="0" anchor="ctr">
            <a:spAutoFit/>
          </a:bodyPr>
          <a:lstStyle/>
          <a:p>
            <a:r>
              <a:rPr lang="en-GB" sz="1600" b="0" i="0" u="none" strike="noStrike" cap="none" dirty="0">
                <a:solidFill>
                  <a:schemeClr val="bg1"/>
                </a:solidFill>
                <a:ea typeface="Roboto"/>
                <a:cs typeface="Roboto"/>
                <a:sym typeface="Roboto"/>
              </a:rPr>
              <a:t>It is usually yellow or white</a:t>
            </a:r>
            <a:br>
              <a:rPr lang="en-GB" sz="1600" b="0" i="0" u="none" strike="noStrike" cap="none" dirty="0">
                <a:solidFill>
                  <a:schemeClr val="bg1"/>
                </a:solidFill>
                <a:ea typeface="Roboto"/>
                <a:cs typeface="Roboto"/>
                <a:sym typeface="Roboto"/>
              </a:rPr>
            </a:br>
            <a:r>
              <a:rPr lang="en-GB" sz="1600" b="0" i="0" u="none" strike="noStrike" cap="none" dirty="0">
                <a:solidFill>
                  <a:schemeClr val="bg1"/>
                </a:solidFill>
                <a:ea typeface="Roboto"/>
                <a:cs typeface="Roboto"/>
                <a:sym typeface="Roboto"/>
              </a:rPr>
              <a:t>and looks a bit like </a:t>
            </a:r>
            <a:r>
              <a:rPr lang="en-GB" sz="1600" b="1" i="0" u="none" strike="noStrike" cap="none" dirty="0">
                <a:solidFill>
                  <a:schemeClr val="bg1"/>
                </a:solidFill>
                <a:ea typeface="Roboto"/>
                <a:cs typeface="Roboto"/>
                <a:sym typeface="Roboto"/>
              </a:rPr>
              <a:t>dust.</a:t>
            </a:r>
            <a:endParaRPr lang="en-GB" sz="1600" dirty="0">
              <a:solidFill>
                <a:schemeClr val="bg1"/>
              </a:solidFill>
            </a:endParaRPr>
          </a:p>
        </p:txBody>
      </p:sp>
      <p:pic>
        <p:nvPicPr>
          <p:cNvPr id="26" name="Picture 25">
            <a:extLst>
              <a:ext uri="{FF2B5EF4-FFF2-40B4-BE49-F238E27FC236}">
                <a16:creationId xmlns:a16="http://schemas.microsoft.com/office/drawing/2014/main" id="{DC5E8669-A927-4DB2-364F-D99802F794D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653450">
            <a:off x="4478870" y="1144571"/>
            <a:ext cx="1196129" cy="916855"/>
          </a:xfrm>
          <a:prstGeom prst="rect">
            <a:avLst/>
          </a:prstGeom>
        </p:spPr>
      </p:pic>
      <p:sp>
        <p:nvSpPr>
          <p:cNvPr id="27" name="Speech Bubble: Oval 26">
            <a:extLst>
              <a:ext uri="{FF2B5EF4-FFF2-40B4-BE49-F238E27FC236}">
                <a16:creationId xmlns:a16="http://schemas.microsoft.com/office/drawing/2014/main" id="{93081F9D-1E52-2D41-D8CD-29F2C999B9D4}"/>
              </a:ext>
            </a:extLst>
          </p:cNvPr>
          <p:cNvSpPr/>
          <p:nvPr/>
        </p:nvSpPr>
        <p:spPr>
          <a:xfrm>
            <a:off x="1312752" y="1281076"/>
            <a:ext cx="2895793" cy="1181313"/>
          </a:xfrm>
          <a:prstGeom prst="wedgeEllipseCallout">
            <a:avLst>
              <a:gd name="adj1" fmla="val 60860"/>
              <a:gd name="adj2" fmla="val -8774"/>
            </a:avLst>
          </a:prstGeom>
          <a:solidFill>
            <a:schemeClr val="bg1"/>
          </a:solidFill>
          <a:ln w="28575">
            <a:solidFill>
              <a:srgbClr val="F08215"/>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rtl="0">
              <a:lnSpc>
                <a:spcPct val="100000"/>
              </a:lnSpc>
              <a:spcBef>
                <a:spcPts val="0"/>
              </a:spcBef>
              <a:spcAft>
                <a:spcPts val="0"/>
              </a:spcAft>
              <a:buClr>
                <a:srgbClr val="000000"/>
              </a:buClr>
              <a:buSzPts val="1400"/>
              <a:buFont typeface="Arial"/>
              <a:buNone/>
            </a:pPr>
            <a:r>
              <a:rPr lang="en-GB" sz="1500" b="0" i="0" u="none" strike="noStrike" cap="none" dirty="0">
                <a:solidFill>
                  <a:schemeClr val="dk1"/>
                </a:solidFill>
                <a:ea typeface="Roboto"/>
                <a:cs typeface="Roboto"/>
                <a:sym typeface="Roboto"/>
              </a:rPr>
              <a:t>What parts can</a:t>
            </a:r>
            <a:br>
              <a:rPr lang="en-GB" sz="1500" b="0" i="0" u="none" strike="noStrike" cap="none" dirty="0">
                <a:solidFill>
                  <a:schemeClr val="dk1"/>
                </a:solidFill>
                <a:ea typeface="Roboto"/>
                <a:cs typeface="Roboto"/>
                <a:sym typeface="Roboto"/>
              </a:rPr>
            </a:br>
            <a:r>
              <a:rPr lang="en-GB" sz="1500" b="0" i="0" u="none" strike="noStrike" cap="none" dirty="0">
                <a:solidFill>
                  <a:schemeClr val="dk1"/>
                </a:solidFill>
                <a:ea typeface="Roboto"/>
                <a:cs typeface="Roboto"/>
                <a:sym typeface="Roboto"/>
              </a:rPr>
              <a:t>you see on this </a:t>
            </a:r>
            <a:r>
              <a:rPr lang="en-GB" sz="1500" b="1" i="0" u="none" strike="noStrike" cap="none" dirty="0">
                <a:solidFill>
                  <a:schemeClr val="dk1"/>
                </a:solidFill>
                <a:ea typeface="Roboto"/>
                <a:cs typeface="Roboto"/>
                <a:sym typeface="Roboto"/>
              </a:rPr>
              <a:t>flower</a:t>
            </a:r>
            <a:r>
              <a:rPr lang="en-GB" sz="1500" b="0" i="0" u="none" strike="noStrike" cap="none" dirty="0">
                <a:solidFill>
                  <a:schemeClr val="dk1"/>
                </a:solidFill>
                <a:ea typeface="Roboto"/>
                <a:cs typeface="Roboto"/>
                <a:sym typeface="Roboto"/>
              </a:rPr>
              <a:t>?</a:t>
            </a:r>
            <a:br>
              <a:rPr lang="en-GB" sz="1500" b="0" i="0" u="none" strike="noStrike" cap="none" dirty="0">
                <a:solidFill>
                  <a:schemeClr val="dk1"/>
                </a:solidFill>
                <a:ea typeface="Roboto"/>
                <a:cs typeface="Roboto"/>
                <a:sym typeface="Roboto"/>
              </a:rPr>
            </a:br>
            <a:r>
              <a:rPr lang="en-GB" sz="1500" b="0" i="0" u="none" strike="noStrike" cap="none" dirty="0">
                <a:solidFill>
                  <a:schemeClr val="dk1"/>
                </a:solidFill>
                <a:ea typeface="Roboto"/>
                <a:cs typeface="Roboto"/>
                <a:sym typeface="Roboto"/>
              </a:rPr>
              <a:t>Where is the </a:t>
            </a:r>
            <a:r>
              <a:rPr lang="en-GB" sz="1500" b="1" i="0" u="none" strike="noStrike" cap="none" dirty="0">
                <a:solidFill>
                  <a:schemeClr val="dk1"/>
                </a:solidFill>
                <a:ea typeface="Roboto"/>
                <a:cs typeface="Roboto"/>
                <a:sym typeface="Roboto"/>
              </a:rPr>
              <a:t>pollen</a:t>
            </a:r>
            <a:r>
              <a:rPr lang="en-GB" sz="1500" dirty="0">
                <a:solidFill>
                  <a:schemeClr val="dk1"/>
                </a:solidFill>
                <a:ea typeface="Roboto"/>
                <a:cs typeface="Roboto"/>
                <a:sym typeface="Roboto"/>
              </a:rPr>
              <a:t> </a:t>
            </a:r>
            <a:r>
              <a:rPr lang="en-GB" sz="1500" b="0" i="0" u="none" strike="noStrike" cap="none" dirty="0">
                <a:solidFill>
                  <a:schemeClr val="dk1"/>
                </a:solidFill>
                <a:ea typeface="Roboto"/>
                <a:cs typeface="Roboto"/>
                <a:sym typeface="Roboto"/>
              </a:rPr>
              <a:t>on this flower?</a:t>
            </a:r>
            <a:endParaRPr lang="en-GB" sz="1500" b="0" i="0" u="none" strike="noStrike" cap="none" dirty="0">
              <a:solidFill>
                <a:srgbClr val="000000"/>
              </a:solidFill>
              <a:ea typeface="Arial"/>
              <a:cs typeface="Arial"/>
              <a:sym typeface="Arial"/>
            </a:endParaRPr>
          </a:p>
        </p:txBody>
      </p:sp>
      <p:pic>
        <p:nvPicPr>
          <p:cNvPr id="30" name="Picture 29">
            <a:extLst>
              <a:ext uri="{FF2B5EF4-FFF2-40B4-BE49-F238E27FC236}">
                <a16:creationId xmlns:a16="http://schemas.microsoft.com/office/drawing/2014/main" id="{AFE42B7C-CC77-F0B1-5413-B86DCD51D2D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21020566">
            <a:off x="782050" y="5076574"/>
            <a:ext cx="1272798" cy="1146409"/>
          </a:xfrm>
          <a:prstGeom prst="rect">
            <a:avLst/>
          </a:prstGeom>
        </p:spPr>
      </p:pic>
      <p:sp>
        <p:nvSpPr>
          <p:cNvPr id="31" name="Speech Bubble: Oval 30">
            <a:extLst>
              <a:ext uri="{FF2B5EF4-FFF2-40B4-BE49-F238E27FC236}">
                <a16:creationId xmlns:a16="http://schemas.microsoft.com/office/drawing/2014/main" id="{02C75079-96FA-C4C2-C3F4-08EE4FA7F250}"/>
              </a:ext>
            </a:extLst>
          </p:cNvPr>
          <p:cNvSpPr/>
          <p:nvPr/>
        </p:nvSpPr>
        <p:spPr>
          <a:xfrm>
            <a:off x="2403546" y="5185135"/>
            <a:ext cx="2385362" cy="993681"/>
          </a:xfrm>
          <a:prstGeom prst="wedgeEllipseCallout">
            <a:avLst>
              <a:gd name="adj1" fmla="val -60945"/>
              <a:gd name="adj2" fmla="val -14358"/>
            </a:avLst>
          </a:prstGeom>
          <a:solidFill>
            <a:schemeClr val="bg1"/>
          </a:solidFill>
          <a:ln w="28575">
            <a:solidFill>
              <a:srgbClr val="F08215"/>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rtl="0">
              <a:lnSpc>
                <a:spcPct val="100000"/>
              </a:lnSpc>
              <a:spcBef>
                <a:spcPts val="0"/>
              </a:spcBef>
              <a:spcAft>
                <a:spcPts val="0"/>
              </a:spcAft>
              <a:buClr>
                <a:srgbClr val="000000"/>
              </a:buClr>
              <a:buSzPts val="1400"/>
              <a:buFont typeface="Arial"/>
              <a:buNone/>
            </a:pPr>
            <a:r>
              <a:rPr lang="en-GB" sz="1600" dirty="0">
                <a:solidFill>
                  <a:schemeClr val="tx1"/>
                </a:solidFill>
                <a:ea typeface="Roboto"/>
                <a:cs typeface="Roboto"/>
                <a:sym typeface="Roboto"/>
              </a:rPr>
              <a:t>Can you see some yellow </a:t>
            </a:r>
            <a:r>
              <a:rPr lang="en-GB" sz="1600" b="1" dirty="0">
                <a:solidFill>
                  <a:schemeClr val="tx1"/>
                </a:solidFill>
                <a:ea typeface="Roboto"/>
                <a:cs typeface="Roboto"/>
                <a:sym typeface="Roboto"/>
              </a:rPr>
              <a:t>pollen</a:t>
            </a:r>
            <a:r>
              <a:rPr lang="en-GB" sz="1600" dirty="0">
                <a:solidFill>
                  <a:schemeClr val="tx1"/>
                </a:solidFill>
                <a:ea typeface="Roboto"/>
                <a:cs typeface="Roboto"/>
                <a:sym typeface="Roboto"/>
              </a:rPr>
              <a:t>?</a:t>
            </a:r>
            <a:endParaRPr lang="en-GB" sz="2000" b="0" i="0" u="none" strike="noStrike" cap="none" dirty="0">
              <a:solidFill>
                <a:schemeClr val="tx1"/>
              </a:solidFill>
              <a:ea typeface="Roboto"/>
              <a:cs typeface="Roboto"/>
              <a:sym typeface="Roboto"/>
            </a:endParaRPr>
          </a:p>
        </p:txBody>
      </p:sp>
      <p:pic>
        <p:nvPicPr>
          <p:cNvPr id="34" name="Picture 33">
            <a:extLst>
              <a:ext uri="{FF2B5EF4-FFF2-40B4-BE49-F238E27FC236}">
                <a16:creationId xmlns:a16="http://schemas.microsoft.com/office/drawing/2014/main" id="{0F0AA0C9-719F-610B-C708-7D814F6F7FF8}"/>
              </a:ext>
            </a:extLst>
          </p:cNvPr>
          <p:cNvPicPr>
            <a:picLocks noChangeAspect="1"/>
          </p:cNvPicPr>
          <p:nvPr/>
        </p:nvPicPr>
        <p:blipFill>
          <a:blip r:embed="rId7" cstate="print">
            <a:extLst>
              <a:ext uri="{28A0092B-C50C-407E-A947-70E740481C1C}">
                <a14:useLocalDpi xmlns:a14="http://schemas.microsoft.com/office/drawing/2010/main" val="0"/>
              </a:ext>
            </a:extLst>
          </a:blip>
          <a:srcRect l="1134" t="27639" r="-237" b="6422"/>
          <a:stretch/>
        </p:blipFill>
        <p:spPr>
          <a:xfrm>
            <a:off x="4983390" y="1609348"/>
            <a:ext cx="3964494" cy="3956712"/>
          </a:xfrm>
          <a:prstGeom prst="ellipse">
            <a:avLst/>
          </a:prstGeom>
          <a:ln w="38100">
            <a:solidFill>
              <a:srgbClr val="FFFFFF"/>
            </a:solidFill>
          </a:ln>
        </p:spPr>
      </p:pic>
      <p:cxnSp>
        <p:nvCxnSpPr>
          <p:cNvPr id="17" name="Straight Arrow Connector 16">
            <a:extLst>
              <a:ext uri="{FF2B5EF4-FFF2-40B4-BE49-F238E27FC236}">
                <a16:creationId xmlns:a16="http://schemas.microsoft.com/office/drawing/2014/main" id="{2B940469-AE7C-A266-D1A0-29EA6577826D}"/>
              </a:ext>
            </a:extLst>
          </p:cNvPr>
          <p:cNvCxnSpPr>
            <a:cxnSpLocks/>
            <a:stCxn id="19" idx="2"/>
          </p:cNvCxnSpPr>
          <p:nvPr/>
        </p:nvCxnSpPr>
        <p:spPr>
          <a:xfrm>
            <a:off x="6547284" y="1198435"/>
            <a:ext cx="304366" cy="1365581"/>
          </a:xfrm>
          <a:prstGeom prst="straightConnector1">
            <a:avLst/>
          </a:prstGeom>
          <a:ln w="28575">
            <a:solidFill>
              <a:srgbClr val="F08215"/>
            </a:solidFill>
            <a:tailEnd type="triangle"/>
          </a:ln>
        </p:spPr>
        <p:style>
          <a:lnRef idx="1">
            <a:schemeClr val="accent1"/>
          </a:lnRef>
          <a:fillRef idx="0">
            <a:schemeClr val="accent1"/>
          </a:fillRef>
          <a:effectRef idx="0">
            <a:schemeClr val="accent1"/>
          </a:effectRef>
          <a:fontRef idx="minor">
            <a:schemeClr val="tx1"/>
          </a:fontRef>
        </p:style>
      </p:cxnSp>
      <p:sp>
        <p:nvSpPr>
          <p:cNvPr id="19" name="Text">
            <a:extLst>
              <a:ext uri="{FF2B5EF4-FFF2-40B4-BE49-F238E27FC236}">
                <a16:creationId xmlns:a16="http://schemas.microsoft.com/office/drawing/2014/main" id="{FF32240C-A2BE-8D35-5A88-B461FF8DD276}"/>
              </a:ext>
            </a:extLst>
          </p:cNvPr>
          <p:cNvSpPr/>
          <p:nvPr/>
        </p:nvSpPr>
        <p:spPr>
          <a:xfrm>
            <a:off x="6033342" y="921436"/>
            <a:ext cx="1027883" cy="276999"/>
          </a:xfrm>
          <a:prstGeom prst="rect">
            <a:avLst/>
          </a:prstGeom>
        </p:spPr>
        <p:txBody>
          <a:bodyPr wrap="square" lIns="0" tIns="0" rIns="0" bIns="0">
            <a:spAutoFit/>
          </a:bodyPr>
          <a:lstStyle/>
          <a:p>
            <a:pPr algn="ctr"/>
            <a:r>
              <a:rPr lang="en-GB" b="1" dirty="0">
                <a:solidFill>
                  <a:srgbClr val="F08215"/>
                </a:solidFill>
              </a:rPr>
              <a:t>pollen</a:t>
            </a:r>
          </a:p>
        </p:txBody>
      </p:sp>
      <p:cxnSp>
        <p:nvCxnSpPr>
          <p:cNvPr id="22" name="Straight Arrow Connector 21">
            <a:extLst>
              <a:ext uri="{FF2B5EF4-FFF2-40B4-BE49-F238E27FC236}">
                <a16:creationId xmlns:a16="http://schemas.microsoft.com/office/drawing/2014/main" id="{49C847DC-6575-D3BB-2A76-56972C9697C5}"/>
              </a:ext>
            </a:extLst>
          </p:cNvPr>
          <p:cNvCxnSpPr>
            <a:cxnSpLocks/>
          </p:cNvCxnSpPr>
          <p:nvPr/>
        </p:nvCxnSpPr>
        <p:spPr>
          <a:xfrm flipV="1">
            <a:off x="5717513" y="4881738"/>
            <a:ext cx="1265735" cy="895200"/>
          </a:xfrm>
          <a:prstGeom prst="straightConnector1">
            <a:avLst/>
          </a:prstGeom>
          <a:ln w="28575">
            <a:solidFill>
              <a:srgbClr val="F08215"/>
            </a:solidFill>
            <a:tailEnd type="triangle"/>
          </a:ln>
        </p:spPr>
        <p:style>
          <a:lnRef idx="1">
            <a:schemeClr val="accent1"/>
          </a:lnRef>
          <a:fillRef idx="0">
            <a:schemeClr val="accent1"/>
          </a:fillRef>
          <a:effectRef idx="0">
            <a:schemeClr val="accent1"/>
          </a:effectRef>
          <a:fontRef idx="minor">
            <a:schemeClr val="tx1"/>
          </a:fontRef>
        </p:style>
      </p:cxnSp>
      <p:sp>
        <p:nvSpPr>
          <p:cNvPr id="25" name="Text">
            <a:extLst>
              <a:ext uri="{FF2B5EF4-FFF2-40B4-BE49-F238E27FC236}">
                <a16:creationId xmlns:a16="http://schemas.microsoft.com/office/drawing/2014/main" id="{1554DFBD-CDCA-2B1F-C7C4-30D8F3512BBB}"/>
              </a:ext>
            </a:extLst>
          </p:cNvPr>
          <p:cNvSpPr/>
          <p:nvPr/>
        </p:nvSpPr>
        <p:spPr>
          <a:xfrm>
            <a:off x="5113634" y="5783650"/>
            <a:ext cx="1027883" cy="276999"/>
          </a:xfrm>
          <a:prstGeom prst="rect">
            <a:avLst/>
          </a:prstGeom>
        </p:spPr>
        <p:txBody>
          <a:bodyPr wrap="square" lIns="0" tIns="0" rIns="0" bIns="0">
            <a:spAutoFit/>
          </a:bodyPr>
          <a:lstStyle/>
          <a:p>
            <a:pPr algn="ctr"/>
            <a:r>
              <a:rPr lang="en-GB" b="1" dirty="0">
                <a:solidFill>
                  <a:srgbClr val="F08215"/>
                </a:solidFill>
              </a:rPr>
              <a:t>stem</a:t>
            </a:r>
          </a:p>
        </p:txBody>
      </p:sp>
    </p:spTree>
    <p:extLst>
      <p:ext uri="{BB962C8B-B14F-4D97-AF65-F5344CB8AC3E}">
        <p14:creationId xmlns:p14="http://schemas.microsoft.com/office/powerpoint/2010/main" val="2036789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circle(out)">
                                      <p:cBhvr>
                                        <p:cTn id="7" dur="10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righ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right)">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right)">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47"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1000"/>
                                        <p:tgtEl>
                                          <p:spTgt spid="26"/>
                                        </p:tgtEl>
                                      </p:cBhvr>
                                    </p:animEffect>
                                    <p:anim calcmode="lin" valueType="num">
                                      <p:cBhvr>
                                        <p:cTn id="28" dur="1000" fill="hold"/>
                                        <p:tgtEl>
                                          <p:spTgt spid="26"/>
                                        </p:tgtEl>
                                        <p:attrNameLst>
                                          <p:attrName>ppt_x</p:attrName>
                                        </p:attrNameLst>
                                      </p:cBhvr>
                                      <p:tavLst>
                                        <p:tav tm="0">
                                          <p:val>
                                            <p:strVal val="#ppt_x"/>
                                          </p:val>
                                        </p:tav>
                                        <p:tav tm="100000">
                                          <p:val>
                                            <p:strVal val="#ppt_x"/>
                                          </p:val>
                                        </p:tav>
                                      </p:tavLst>
                                    </p:anim>
                                    <p:anim calcmode="lin" valueType="num">
                                      <p:cBhvr>
                                        <p:cTn id="29" dur="1000" fill="hold"/>
                                        <p:tgtEl>
                                          <p:spTgt spid="26"/>
                                        </p:tgtEl>
                                        <p:attrNameLst>
                                          <p:attrName>ppt_y</p:attrName>
                                        </p:attrNameLst>
                                      </p:cBhvr>
                                      <p:tavLst>
                                        <p:tav tm="0">
                                          <p:val>
                                            <p:strVal val="#ppt_y-.1"/>
                                          </p:val>
                                        </p:tav>
                                        <p:tav tm="100000">
                                          <p:val>
                                            <p:strVal val="#ppt_y"/>
                                          </p:val>
                                        </p:tav>
                                      </p:tavLst>
                                    </p:anim>
                                  </p:childTnLst>
                                </p:cTn>
                              </p:par>
                            </p:childTnLst>
                          </p:cTn>
                        </p:par>
                        <p:par>
                          <p:cTn id="30" fill="hold">
                            <p:stCondLst>
                              <p:cond delay="1000"/>
                            </p:stCondLst>
                            <p:childTnLst>
                              <p:par>
                                <p:cTn id="31" presetID="10" presetClass="entr" presetSubtype="0" fill="hold" grpId="0" nodeType="after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500"/>
                                        <p:tgtEl>
                                          <p:spTgt spid="27"/>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fade">
                                      <p:cBhvr>
                                        <p:cTn id="38" dur="1000"/>
                                        <p:tgtEl>
                                          <p:spTgt spid="30"/>
                                        </p:tgtEl>
                                      </p:cBhvr>
                                    </p:animEffect>
                                    <p:anim calcmode="lin" valueType="num">
                                      <p:cBhvr>
                                        <p:cTn id="39" dur="1000" fill="hold"/>
                                        <p:tgtEl>
                                          <p:spTgt spid="30"/>
                                        </p:tgtEl>
                                        <p:attrNameLst>
                                          <p:attrName>ppt_x</p:attrName>
                                        </p:attrNameLst>
                                      </p:cBhvr>
                                      <p:tavLst>
                                        <p:tav tm="0">
                                          <p:val>
                                            <p:strVal val="#ppt_x"/>
                                          </p:val>
                                        </p:tav>
                                        <p:tav tm="100000">
                                          <p:val>
                                            <p:strVal val="#ppt_x"/>
                                          </p:val>
                                        </p:tav>
                                      </p:tavLst>
                                    </p:anim>
                                    <p:anim calcmode="lin" valueType="num">
                                      <p:cBhvr>
                                        <p:cTn id="40" dur="1000" fill="hold"/>
                                        <p:tgtEl>
                                          <p:spTgt spid="30"/>
                                        </p:tgtEl>
                                        <p:attrNameLst>
                                          <p:attrName>ppt_y</p:attrName>
                                        </p:attrNameLst>
                                      </p:cBhvr>
                                      <p:tavLst>
                                        <p:tav tm="0">
                                          <p:val>
                                            <p:strVal val="#ppt_y+.1"/>
                                          </p:val>
                                        </p:tav>
                                        <p:tav tm="100000">
                                          <p:val>
                                            <p:strVal val="#ppt_y"/>
                                          </p:val>
                                        </p:tav>
                                      </p:tavLst>
                                    </p:anim>
                                  </p:childTnLst>
                                </p:cTn>
                              </p:par>
                            </p:childTnLst>
                          </p:cTn>
                        </p:par>
                        <p:par>
                          <p:cTn id="41" fill="hold">
                            <p:stCondLst>
                              <p:cond delay="1000"/>
                            </p:stCondLst>
                            <p:childTnLst>
                              <p:par>
                                <p:cTn id="42" presetID="10" presetClass="entr" presetSubtype="0" fill="hold" grpId="0" nodeType="after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fade">
                                      <p:cBhvr>
                                        <p:cTn id="44" dur="500"/>
                                        <p:tgtEl>
                                          <p:spTgt spid="31"/>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childTnLst>
                          </p:cTn>
                        </p:par>
                        <p:par>
                          <p:cTn id="50" fill="hold">
                            <p:stCondLst>
                              <p:cond delay="500"/>
                            </p:stCondLst>
                            <p:childTnLst>
                              <p:par>
                                <p:cTn id="51" presetID="22" presetClass="entr" presetSubtype="1" fill="hold" nodeType="after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wipe(up)">
                                      <p:cBhvr>
                                        <p:cTn id="53" dur="500"/>
                                        <p:tgtEl>
                                          <p:spTgt spid="17"/>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500"/>
                                        <p:tgtEl>
                                          <p:spTgt spid="25"/>
                                        </p:tgtEl>
                                      </p:cBhvr>
                                    </p:animEffect>
                                  </p:childTnLst>
                                </p:cTn>
                              </p:par>
                            </p:childTnLst>
                          </p:cTn>
                        </p:par>
                        <p:par>
                          <p:cTn id="59" fill="hold">
                            <p:stCondLst>
                              <p:cond delay="500"/>
                            </p:stCondLst>
                            <p:childTnLst>
                              <p:par>
                                <p:cTn id="60" presetID="22" presetClass="entr" presetSubtype="4" fill="hold" nodeType="after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wipe(down)">
                                      <p:cBhvr>
                                        <p:cTn id="62" dur="500"/>
                                        <p:tgtEl>
                                          <p:spTgt spid="22"/>
                                        </p:tgtEl>
                                      </p:cBhvr>
                                    </p:animEffect>
                                  </p:childTnLst>
                                </p:cTn>
                              </p:par>
                            </p:childTnLst>
                          </p:cTn>
                        </p:par>
                        <p:par>
                          <p:cTn id="63" fill="hold">
                            <p:stCondLst>
                              <p:cond delay="1000"/>
                            </p:stCondLst>
                            <p:childTnLst>
                              <p:par>
                                <p:cTn id="64" presetID="1" presetClass="entr" presetSubtype="0" fill="hold" nodeType="afterEffect">
                                  <p:stCondLst>
                                    <p:cond delay="0"/>
                                  </p:stCondLst>
                                  <p:childTnLst>
                                    <p:set>
                                      <p:cBhvr>
                                        <p:cTn id="65"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27" grpId="0" animBg="1"/>
      <p:bldP spid="31" grpId="0" animBg="1"/>
      <p:bldP spid="19" grpId="0"/>
      <p:bldP spid="2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61B97-6826-B9F3-EF24-53039249DD6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DB9FC55-11F4-DF9C-732F-43722FC3DD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651992"/>
          </a:xfrm>
          <a:prstGeom prst="rect">
            <a:avLst/>
          </a:prstGeom>
        </p:spPr>
      </p:pic>
      <p:sp>
        <p:nvSpPr>
          <p:cNvPr id="8" name="Title">
            <a:extLst>
              <a:ext uri="{FF2B5EF4-FFF2-40B4-BE49-F238E27FC236}">
                <a16:creationId xmlns:a16="http://schemas.microsoft.com/office/drawing/2014/main" id="{7E160587-129C-C96B-9014-77E0FB6DEF59}"/>
              </a:ext>
            </a:extLst>
          </p:cNvPr>
          <p:cNvSpPr txBox="1">
            <a:spLocks/>
          </p:cNvSpPr>
          <p:nvPr/>
        </p:nvSpPr>
        <p:spPr>
          <a:xfrm>
            <a:off x="155357" y="340734"/>
            <a:ext cx="2987338" cy="994306"/>
          </a:xfrm>
          <a:prstGeom prst="roundRect">
            <a:avLst>
              <a:gd name="adj" fmla="val 9641"/>
            </a:avLst>
          </a:prstGeom>
          <a:noFill/>
          <a:ln w="25400">
            <a:noFill/>
          </a:ln>
        </p:spPr>
        <p:txBody>
          <a:bodyPr vert="horz" lIns="252000" tIns="252000" rIns="252000" bIns="252000" rtlCol="0" anchor="ctr" anchorCtr="1">
            <a:noAutofit/>
          </a:bodyPr>
          <a:lstStyle>
            <a:lvl1pPr algn="l" defTabSz="914400" rtl="0" eaLnBrk="1" latinLnBrk="0" hangingPunct="1">
              <a:lnSpc>
                <a:spcPct val="90000"/>
              </a:lnSpc>
              <a:spcBef>
                <a:spcPct val="0"/>
              </a:spcBef>
              <a:buNone/>
              <a:defRPr sz="3600" b="1" kern="1200">
                <a:solidFill>
                  <a:srgbClr val="1C1C1C"/>
                </a:solidFill>
                <a:latin typeface="Twinkl" pitchFamily="2" charset="0"/>
                <a:ea typeface="+mj-ea"/>
                <a:cs typeface="+mj-cs"/>
              </a:defRPr>
            </a:lvl1pPr>
          </a:lstStyle>
          <a:p>
            <a:r>
              <a:rPr lang="en-US" dirty="0">
                <a:solidFill>
                  <a:schemeClr val="bg1"/>
                </a:solidFill>
                <a:latin typeface="+mn-lt"/>
              </a:rPr>
              <a:t>Pollination</a:t>
            </a:r>
            <a:endParaRPr lang="en-GB" dirty="0">
              <a:solidFill>
                <a:schemeClr val="bg1"/>
              </a:solidFill>
              <a:latin typeface="+mn-lt"/>
            </a:endParaRPr>
          </a:p>
        </p:txBody>
      </p:sp>
      <p:pic>
        <p:nvPicPr>
          <p:cNvPr id="2" name="Graphic 1">
            <a:hlinkClick r:id="" action="ppaction://hlinkshowjump?jump=nextslide"/>
            <a:extLst>
              <a:ext uri="{FF2B5EF4-FFF2-40B4-BE49-F238E27FC236}">
                <a16:creationId xmlns:a16="http://schemas.microsoft.com/office/drawing/2014/main" id="{0D0B8678-9A08-0B1E-C389-40832641EF5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8388350" y="224630"/>
            <a:ext cx="472694" cy="472694"/>
          </a:xfrm>
          <a:prstGeom prst="rect">
            <a:avLst/>
          </a:prstGeom>
        </p:spPr>
      </p:pic>
      <p:sp>
        <p:nvSpPr>
          <p:cNvPr id="10" name="Text Box">
            <a:extLst>
              <a:ext uri="{FF2B5EF4-FFF2-40B4-BE49-F238E27FC236}">
                <a16:creationId xmlns:a16="http://schemas.microsoft.com/office/drawing/2014/main" id="{93D3C4AE-64C7-F2AD-4011-A40BDC3F53A8}"/>
              </a:ext>
            </a:extLst>
          </p:cNvPr>
          <p:cNvSpPr/>
          <p:nvPr/>
        </p:nvSpPr>
        <p:spPr>
          <a:xfrm rot="16200000">
            <a:off x="3950233" y="1588551"/>
            <a:ext cx="513728" cy="3277349"/>
          </a:xfrm>
          <a:prstGeom prst="round2SameRect">
            <a:avLst/>
          </a:prstGeom>
          <a:solidFill>
            <a:srgbClr val="FCAF17"/>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wrap="square" lIns="108000" tIns="108000" rIns="108000" bIns="216000" rtlCol="0" anchor="ctr">
            <a:spAutoFit/>
          </a:bodyPr>
          <a:lstStyle/>
          <a:p>
            <a:pPr marL="0" marR="0" lvl="0" indent="0" algn="l" rtl="0">
              <a:lnSpc>
                <a:spcPct val="100000"/>
              </a:lnSpc>
              <a:spcBef>
                <a:spcPts val="0"/>
              </a:spcBef>
              <a:spcAft>
                <a:spcPts val="0"/>
              </a:spcAft>
              <a:buClr>
                <a:srgbClr val="000000"/>
              </a:buClr>
              <a:buSzPts val="2000"/>
              <a:buFont typeface="Arial"/>
              <a:buNone/>
            </a:pPr>
            <a:r>
              <a:rPr lang="en-GB" sz="1600" b="0" i="0" u="none" strike="noStrike" cap="none" dirty="0">
                <a:solidFill>
                  <a:schemeClr val="bg1"/>
                </a:solidFill>
                <a:ea typeface="Roboto"/>
                <a:cs typeface="Roboto"/>
                <a:sym typeface="Roboto"/>
              </a:rPr>
              <a:t>This is called </a:t>
            </a:r>
            <a:r>
              <a:rPr lang="en-GB" sz="1600" b="1" i="0" u="none" strike="noStrike" cap="none" dirty="0">
                <a:solidFill>
                  <a:schemeClr val="bg1"/>
                </a:solidFill>
                <a:ea typeface="Roboto"/>
                <a:cs typeface="Roboto"/>
                <a:sym typeface="Roboto"/>
              </a:rPr>
              <a:t>pollination.</a:t>
            </a:r>
            <a:endParaRPr lang="en-GB" sz="1100" b="0" i="0" u="none" strike="noStrike" cap="none" dirty="0">
              <a:solidFill>
                <a:schemeClr val="bg1"/>
              </a:solidFill>
              <a:ea typeface="Arial"/>
              <a:cs typeface="Arial"/>
              <a:sym typeface="Arial"/>
            </a:endParaRPr>
          </a:p>
        </p:txBody>
      </p:sp>
      <p:sp>
        <p:nvSpPr>
          <p:cNvPr id="11" name="Text Box">
            <a:extLst>
              <a:ext uri="{FF2B5EF4-FFF2-40B4-BE49-F238E27FC236}">
                <a16:creationId xmlns:a16="http://schemas.microsoft.com/office/drawing/2014/main" id="{DE56A229-A570-B1C3-562A-07C075A0027B}"/>
              </a:ext>
            </a:extLst>
          </p:cNvPr>
          <p:cNvSpPr/>
          <p:nvPr/>
        </p:nvSpPr>
        <p:spPr>
          <a:xfrm rot="16200000">
            <a:off x="3252999" y="1127639"/>
            <a:ext cx="513728" cy="5557278"/>
          </a:xfrm>
          <a:prstGeom prst="round2SameRect">
            <a:avLst/>
          </a:prstGeom>
          <a:solidFill>
            <a:srgbClr val="F8991F"/>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wrap="square" lIns="108000" tIns="108000" rIns="108000" bIns="216000" rtlCol="0" anchor="ctr">
            <a:spAutoFit/>
          </a:bodyPr>
          <a:lstStyle/>
          <a:p>
            <a:pPr marL="0" marR="0" lvl="0" indent="0" algn="l" rtl="0">
              <a:lnSpc>
                <a:spcPct val="100000"/>
              </a:lnSpc>
              <a:spcBef>
                <a:spcPts val="0"/>
              </a:spcBef>
              <a:spcAft>
                <a:spcPts val="0"/>
              </a:spcAft>
              <a:buClr>
                <a:srgbClr val="000000"/>
              </a:buClr>
              <a:buSzPts val="2000"/>
              <a:buFont typeface="Arial"/>
              <a:buNone/>
            </a:pPr>
            <a:r>
              <a:rPr lang="en-GB" sz="1600" b="0" i="0" u="none" strike="noStrike" cap="none" dirty="0">
                <a:solidFill>
                  <a:schemeClr val="bg1"/>
                </a:solidFill>
                <a:ea typeface="Roboto"/>
                <a:cs typeface="Roboto"/>
                <a:sym typeface="Roboto"/>
              </a:rPr>
              <a:t>The </a:t>
            </a:r>
            <a:r>
              <a:rPr lang="en-GB" sz="1600" b="1" i="0" u="none" strike="noStrike" cap="none" dirty="0">
                <a:solidFill>
                  <a:schemeClr val="bg1"/>
                </a:solidFill>
                <a:ea typeface="Roboto"/>
                <a:cs typeface="Roboto"/>
                <a:sym typeface="Roboto"/>
              </a:rPr>
              <a:t>wind</a:t>
            </a:r>
            <a:r>
              <a:rPr lang="en-GB" sz="1600" b="0" i="0" u="none" strike="noStrike" cap="none" dirty="0">
                <a:solidFill>
                  <a:schemeClr val="bg1"/>
                </a:solidFill>
                <a:ea typeface="Roboto"/>
                <a:cs typeface="Roboto"/>
                <a:sym typeface="Roboto"/>
              </a:rPr>
              <a:t> and </a:t>
            </a:r>
            <a:r>
              <a:rPr lang="en-GB" sz="1600" b="1" i="0" u="none" strike="noStrike" cap="none" dirty="0">
                <a:solidFill>
                  <a:schemeClr val="bg1"/>
                </a:solidFill>
                <a:ea typeface="Roboto"/>
                <a:cs typeface="Roboto"/>
                <a:sym typeface="Roboto"/>
              </a:rPr>
              <a:t>animals</a:t>
            </a:r>
            <a:r>
              <a:rPr lang="en-GB" sz="1600" b="0" i="0" u="none" strike="noStrike" cap="none" dirty="0">
                <a:solidFill>
                  <a:schemeClr val="bg1"/>
                </a:solidFill>
                <a:ea typeface="Roboto"/>
                <a:cs typeface="Roboto"/>
                <a:sym typeface="Roboto"/>
              </a:rPr>
              <a:t> can help with </a:t>
            </a:r>
            <a:r>
              <a:rPr lang="en-GB" sz="1600" b="1" i="0" u="none" strike="noStrike" cap="none" dirty="0">
                <a:solidFill>
                  <a:schemeClr val="bg1"/>
                </a:solidFill>
                <a:ea typeface="Roboto"/>
                <a:cs typeface="Roboto"/>
                <a:sym typeface="Roboto"/>
              </a:rPr>
              <a:t>pollination</a:t>
            </a:r>
            <a:r>
              <a:rPr lang="en-GB" sz="1600" b="0" i="0" u="none" strike="noStrike" cap="none" dirty="0">
                <a:solidFill>
                  <a:schemeClr val="bg1"/>
                </a:solidFill>
                <a:ea typeface="Roboto"/>
                <a:cs typeface="Roboto"/>
                <a:sym typeface="Roboto"/>
              </a:rPr>
              <a:t>. </a:t>
            </a:r>
            <a:endParaRPr lang="en-GB" sz="1100" b="0" i="0" u="none" strike="noStrike" cap="none" dirty="0">
              <a:solidFill>
                <a:schemeClr val="bg1"/>
              </a:solidFill>
              <a:ea typeface="Arial"/>
              <a:cs typeface="Arial"/>
              <a:sym typeface="Arial"/>
            </a:endParaRPr>
          </a:p>
        </p:txBody>
      </p:sp>
      <p:pic>
        <p:nvPicPr>
          <p:cNvPr id="22" name="Picture 21">
            <a:extLst>
              <a:ext uri="{FF2B5EF4-FFF2-40B4-BE49-F238E27FC236}">
                <a16:creationId xmlns:a16="http://schemas.microsoft.com/office/drawing/2014/main" id="{CB31508D-F182-69C4-8ED6-95D61E56231A}"/>
              </a:ext>
            </a:extLst>
          </p:cNvPr>
          <p:cNvPicPr>
            <a:picLocks noChangeAspect="1"/>
          </p:cNvPicPr>
          <p:nvPr/>
        </p:nvPicPr>
        <p:blipFill>
          <a:blip r:embed="rId5" cstate="print">
            <a:extLst>
              <a:ext uri="{28A0092B-C50C-407E-A947-70E740481C1C}">
                <a14:useLocalDpi xmlns:a14="http://schemas.microsoft.com/office/drawing/2010/main" val="0"/>
              </a:ext>
            </a:extLst>
          </a:blip>
          <a:srcRect l="16703" r="16703"/>
          <a:stretch/>
        </p:blipFill>
        <p:spPr>
          <a:xfrm>
            <a:off x="5304670" y="970857"/>
            <a:ext cx="3683973" cy="3683534"/>
          </a:xfrm>
          <a:prstGeom prst="ellipse">
            <a:avLst/>
          </a:prstGeom>
          <a:ln w="38100">
            <a:solidFill>
              <a:srgbClr val="FFFFFF"/>
            </a:solidFill>
          </a:ln>
        </p:spPr>
      </p:pic>
      <p:pic>
        <p:nvPicPr>
          <p:cNvPr id="13" name="Picture 12">
            <a:extLst>
              <a:ext uri="{FF2B5EF4-FFF2-40B4-BE49-F238E27FC236}">
                <a16:creationId xmlns:a16="http://schemas.microsoft.com/office/drawing/2014/main" id="{0E23EFE2-0E64-642A-CDB0-BF521903D89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653450">
            <a:off x="7340094" y="4988209"/>
            <a:ext cx="1196129" cy="916855"/>
          </a:xfrm>
          <a:prstGeom prst="rect">
            <a:avLst/>
          </a:prstGeom>
        </p:spPr>
      </p:pic>
      <p:sp>
        <p:nvSpPr>
          <p:cNvPr id="14" name="Speech Bubble: Oval 13">
            <a:extLst>
              <a:ext uri="{FF2B5EF4-FFF2-40B4-BE49-F238E27FC236}">
                <a16:creationId xmlns:a16="http://schemas.microsoft.com/office/drawing/2014/main" id="{F9D7BDF0-367C-F3A1-FF8C-55C68CCC4C94}"/>
              </a:ext>
            </a:extLst>
          </p:cNvPr>
          <p:cNvSpPr/>
          <p:nvPr/>
        </p:nvSpPr>
        <p:spPr>
          <a:xfrm>
            <a:off x="4278348" y="4620640"/>
            <a:ext cx="2883738" cy="1651992"/>
          </a:xfrm>
          <a:prstGeom prst="wedgeEllipseCallout">
            <a:avLst>
              <a:gd name="adj1" fmla="val 57101"/>
              <a:gd name="adj2" fmla="val 9311"/>
            </a:avLst>
          </a:prstGeom>
          <a:solidFill>
            <a:schemeClr val="bg1"/>
          </a:solidFill>
          <a:ln w="28575">
            <a:solidFill>
              <a:srgbClr val="F0821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rtl="0">
              <a:lnSpc>
                <a:spcPct val="100000"/>
              </a:lnSpc>
              <a:spcBef>
                <a:spcPts val="0"/>
              </a:spcBef>
              <a:spcAft>
                <a:spcPts val="0"/>
              </a:spcAft>
              <a:buClr>
                <a:srgbClr val="000000"/>
              </a:buClr>
              <a:buSzPts val="1400"/>
              <a:buFont typeface="Arial"/>
              <a:buNone/>
            </a:pPr>
            <a:r>
              <a:rPr lang="en-GB" sz="1600" b="0" i="0" u="none" strike="noStrike" cap="none" dirty="0">
                <a:solidFill>
                  <a:srgbClr val="000000"/>
                </a:solidFill>
                <a:ea typeface="Roboto"/>
                <a:cs typeface="Roboto"/>
                <a:sym typeface="Roboto"/>
              </a:rPr>
              <a:t>After </a:t>
            </a:r>
            <a:r>
              <a:rPr lang="en-GB" sz="1600" b="1" i="0" u="none" strike="noStrike" cap="none" dirty="0">
                <a:solidFill>
                  <a:srgbClr val="000000"/>
                </a:solidFill>
                <a:ea typeface="Roboto"/>
                <a:cs typeface="Roboto"/>
                <a:sym typeface="Roboto"/>
              </a:rPr>
              <a:t>pollination</a:t>
            </a:r>
            <a:r>
              <a:rPr lang="en-GB" sz="1600" b="0" i="0" u="none" strike="noStrike" cap="none" dirty="0">
                <a:solidFill>
                  <a:srgbClr val="000000"/>
                </a:solidFill>
                <a:ea typeface="Roboto"/>
                <a:cs typeface="Roboto"/>
                <a:sym typeface="Roboto"/>
              </a:rPr>
              <a:t>, colourful flowers will turn into </a:t>
            </a:r>
            <a:r>
              <a:rPr lang="en-GB" sz="1600" b="1" i="0" u="none" strike="noStrike" cap="none" dirty="0">
                <a:solidFill>
                  <a:srgbClr val="000000"/>
                </a:solidFill>
                <a:ea typeface="Roboto"/>
                <a:cs typeface="Roboto"/>
                <a:sym typeface="Roboto"/>
              </a:rPr>
              <a:t>acorns</a:t>
            </a:r>
            <a:r>
              <a:rPr lang="en-GB" sz="1600" b="0" i="0" u="none" strike="noStrike" cap="none" dirty="0">
                <a:solidFill>
                  <a:srgbClr val="000000"/>
                </a:solidFill>
                <a:ea typeface="Roboto"/>
                <a:cs typeface="Roboto"/>
                <a:sym typeface="Roboto"/>
              </a:rPr>
              <a:t>. New oak trees can grow from these acorns. </a:t>
            </a:r>
          </a:p>
        </p:txBody>
      </p:sp>
      <p:pic>
        <p:nvPicPr>
          <p:cNvPr id="15" name="Picture 14">
            <a:extLst>
              <a:ext uri="{FF2B5EF4-FFF2-40B4-BE49-F238E27FC236}">
                <a16:creationId xmlns:a16="http://schemas.microsoft.com/office/drawing/2014/main" id="{FABFA058-346E-7E09-C076-28358F5217F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21020566">
            <a:off x="584393" y="5150049"/>
            <a:ext cx="1272798" cy="1146409"/>
          </a:xfrm>
          <a:prstGeom prst="rect">
            <a:avLst/>
          </a:prstGeom>
        </p:spPr>
      </p:pic>
      <p:sp>
        <p:nvSpPr>
          <p:cNvPr id="16" name="Speech Bubble: Oval 15">
            <a:extLst>
              <a:ext uri="{FF2B5EF4-FFF2-40B4-BE49-F238E27FC236}">
                <a16:creationId xmlns:a16="http://schemas.microsoft.com/office/drawing/2014/main" id="{53DD9C7B-E806-2939-5301-F53920E94B7F}"/>
              </a:ext>
            </a:extLst>
          </p:cNvPr>
          <p:cNvSpPr/>
          <p:nvPr/>
        </p:nvSpPr>
        <p:spPr>
          <a:xfrm>
            <a:off x="1979010" y="4252048"/>
            <a:ext cx="2530256" cy="1498616"/>
          </a:xfrm>
          <a:prstGeom prst="wedgeEllipseCallout">
            <a:avLst>
              <a:gd name="adj1" fmla="val -55216"/>
              <a:gd name="adj2" fmla="val 23386"/>
            </a:avLst>
          </a:prstGeom>
          <a:solidFill>
            <a:schemeClr val="bg1"/>
          </a:solidFill>
          <a:ln w="28575">
            <a:solidFill>
              <a:srgbClr val="F08215">
                <a:alpha val="50196"/>
              </a:srgb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rtl="0">
              <a:lnSpc>
                <a:spcPct val="100000"/>
              </a:lnSpc>
              <a:spcBef>
                <a:spcPts val="0"/>
              </a:spcBef>
              <a:spcAft>
                <a:spcPts val="0"/>
              </a:spcAft>
              <a:buClr>
                <a:srgbClr val="000000"/>
              </a:buClr>
              <a:buSzPts val="1400"/>
              <a:buFont typeface="Arial"/>
              <a:buNone/>
            </a:pPr>
            <a:r>
              <a:rPr lang="en-GB" sz="1600" b="0" i="0" u="none" strike="noStrike" cap="none" dirty="0">
                <a:solidFill>
                  <a:schemeClr val="dk1"/>
                </a:solidFill>
                <a:ea typeface="Roboto"/>
                <a:cs typeface="Roboto"/>
                <a:sym typeface="Roboto"/>
              </a:rPr>
              <a:t>The wind can</a:t>
            </a:r>
            <a:br>
              <a:rPr lang="en-GB" sz="1600" b="0" i="0" u="none" strike="noStrike" cap="none" dirty="0">
                <a:solidFill>
                  <a:schemeClr val="dk1"/>
                </a:solidFill>
                <a:ea typeface="Roboto"/>
                <a:cs typeface="Roboto"/>
                <a:sym typeface="Roboto"/>
              </a:rPr>
            </a:br>
            <a:r>
              <a:rPr lang="en-GB" sz="1600" b="0" i="0" u="none" strike="noStrike" cap="none" dirty="0">
                <a:solidFill>
                  <a:schemeClr val="dk1"/>
                </a:solidFill>
                <a:ea typeface="Roboto"/>
                <a:cs typeface="Roboto"/>
                <a:sym typeface="Roboto"/>
              </a:rPr>
              <a:t>help to spread the </a:t>
            </a:r>
            <a:r>
              <a:rPr lang="en-GB" sz="1600" b="1" i="0" u="none" strike="noStrike" cap="none" dirty="0">
                <a:solidFill>
                  <a:schemeClr val="dk1"/>
                </a:solidFill>
                <a:ea typeface="Roboto"/>
                <a:cs typeface="Roboto"/>
                <a:sym typeface="Roboto"/>
              </a:rPr>
              <a:t>pollen</a:t>
            </a:r>
            <a:r>
              <a:rPr lang="en-GB" sz="1600" b="0" i="0" u="none" strike="noStrike" cap="none" dirty="0">
                <a:solidFill>
                  <a:schemeClr val="dk1"/>
                </a:solidFill>
                <a:ea typeface="Roboto"/>
                <a:cs typeface="Roboto"/>
                <a:sym typeface="Roboto"/>
              </a:rPr>
              <a:t> on some trees, such as oak trees.</a:t>
            </a:r>
            <a:endParaRPr lang="en-GB" sz="1600" b="0" i="0" u="none" strike="noStrike" cap="none" dirty="0">
              <a:solidFill>
                <a:srgbClr val="000000"/>
              </a:solidFill>
              <a:ea typeface="Arial"/>
              <a:cs typeface="Arial"/>
              <a:sym typeface="Arial"/>
            </a:endParaRPr>
          </a:p>
        </p:txBody>
      </p:sp>
      <p:sp>
        <p:nvSpPr>
          <p:cNvPr id="17" name="Text Box">
            <a:extLst>
              <a:ext uri="{FF2B5EF4-FFF2-40B4-BE49-F238E27FC236}">
                <a16:creationId xmlns:a16="http://schemas.microsoft.com/office/drawing/2014/main" id="{6EFACE91-0170-460E-18F5-8A0BF6B01911}"/>
              </a:ext>
            </a:extLst>
          </p:cNvPr>
          <p:cNvSpPr/>
          <p:nvPr/>
        </p:nvSpPr>
        <p:spPr>
          <a:xfrm rot="5400000">
            <a:off x="1924211" y="-171569"/>
            <a:ext cx="1058558" cy="4906979"/>
          </a:xfrm>
          <a:prstGeom prst="round2SameRect">
            <a:avLst/>
          </a:prstGeom>
          <a:solidFill>
            <a:srgbClr val="F5822A"/>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108000" tIns="108000" rIns="108000" bIns="504000" rtlCol="0" anchor="ctr">
            <a:spAutoFit/>
          </a:bodyPr>
          <a:lstStyle/>
          <a:p>
            <a:pPr marL="0" marR="0" lvl="0" indent="0" algn="l" rtl="0">
              <a:lnSpc>
                <a:spcPct val="100000"/>
              </a:lnSpc>
              <a:spcBef>
                <a:spcPts val="0"/>
              </a:spcBef>
              <a:spcAft>
                <a:spcPts val="0"/>
              </a:spcAft>
              <a:buClr>
                <a:srgbClr val="000000"/>
              </a:buClr>
              <a:buSzPts val="2000"/>
              <a:buFont typeface="Arial"/>
              <a:buNone/>
            </a:pPr>
            <a:r>
              <a:rPr lang="en-GB" sz="1600" b="0" i="0" u="none" strike="noStrike" cap="none" dirty="0">
                <a:solidFill>
                  <a:schemeClr val="bg1"/>
                </a:solidFill>
                <a:ea typeface="Roboto"/>
                <a:cs typeface="Roboto"/>
                <a:sym typeface="Roboto"/>
              </a:rPr>
              <a:t>To help </a:t>
            </a:r>
            <a:r>
              <a:rPr lang="en-GB" sz="1600" b="1" i="0" u="none" strike="noStrike" cap="none" dirty="0">
                <a:solidFill>
                  <a:schemeClr val="bg1"/>
                </a:solidFill>
                <a:ea typeface="Roboto"/>
                <a:cs typeface="Roboto"/>
                <a:sym typeface="Roboto"/>
              </a:rPr>
              <a:t>plants</a:t>
            </a:r>
            <a:r>
              <a:rPr lang="en-GB" sz="1600" b="0" i="0" u="none" strike="noStrike" cap="none" dirty="0">
                <a:solidFill>
                  <a:schemeClr val="bg1"/>
                </a:solidFill>
                <a:ea typeface="Roboto"/>
                <a:cs typeface="Roboto"/>
                <a:sym typeface="Roboto"/>
              </a:rPr>
              <a:t> grow </a:t>
            </a:r>
            <a:r>
              <a:rPr lang="en-GB" sz="1600" b="1" i="0" u="none" strike="noStrike" cap="none" dirty="0">
                <a:solidFill>
                  <a:schemeClr val="bg1"/>
                </a:solidFill>
                <a:ea typeface="Roboto"/>
                <a:cs typeface="Roboto"/>
                <a:sym typeface="Roboto"/>
              </a:rPr>
              <a:t>seeds</a:t>
            </a:r>
            <a:r>
              <a:rPr lang="en-GB" sz="1600" b="0" i="0" u="none" strike="noStrike" cap="none" dirty="0">
                <a:solidFill>
                  <a:schemeClr val="bg1"/>
                </a:solidFill>
                <a:ea typeface="Roboto"/>
                <a:cs typeface="Roboto"/>
                <a:sym typeface="Roboto"/>
              </a:rPr>
              <a:t> and </a:t>
            </a:r>
            <a:r>
              <a:rPr lang="en-GB" sz="1600" b="1" i="0" u="none" strike="noStrike" cap="none" dirty="0">
                <a:solidFill>
                  <a:schemeClr val="bg1"/>
                </a:solidFill>
                <a:ea typeface="Roboto"/>
                <a:cs typeface="Roboto"/>
                <a:sym typeface="Roboto"/>
              </a:rPr>
              <a:t>fruits</a:t>
            </a:r>
            <a:r>
              <a:rPr lang="en-GB" sz="1600" b="0" i="0" u="none" strike="noStrike" cap="none" dirty="0">
                <a:solidFill>
                  <a:schemeClr val="bg1"/>
                </a:solidFill>
                <a:ea typeface="Roboto"/>
                <a:cs typeface="Roboto"/>
                <a:sym typeface="Roboto"/>
              </a:rPr>
              <a:t>, the</a:t>
            </a:r>
            <a:r>
              <a:rPr lang="en-GB" sz="1600" dirty="0">
                <a:solidFill>
                  <a:schemeClr val="bg1"/>
                </a:solidFill>
                <a:ea typeface="Roboto"/>
                <a:cs typeface="Roboto"/>
                <a:sym typeface="Roboto"/>
              </a:rPr>
              <a:t>y need pollen. So, it’s important that </a:t>
            </a:r>
            <a:r>
              <a:rPr lang="en-GB" sz="1600" b="0" i="0" u="none" strike="noStrike" cap="none" dirty="0">
                <a:solidFill>
                  <a:schemeClr val="bg1"/>
                </a:solidFill>
                <a:ea typeface="Roboto"/>
                <a:cs typeface="Roboto"/>
                <a:sym typeface="Roboto"/>
              </a:rPr>
              <a:t>pollen</a:t>
            </a:r>
            <a:r>
              <a:rPr lang="en-GB" sz="1600" dirty="0">
                <a:solidFill>
                  <a:schemeClr val="bg1"/>
                </a:solidFill>
                <a:ea typeface="Roboto"/>
                <a:cs typeface="Roboto"/>
                <a:sym typeface="Roboto"/>
              </a:rPr>
              <a:t> is </a:t>
            </a:r>
            <a:r>
              <a:rPr lang="en-GB" sz="1600" b="0" i="0" u="none" strike="noStrike" cap="none" dirty="0">
                <a:solidFill>
                  <a:schemeClr val="bg1"/>
                </a:solidFill>
                <a:ea typeface="Roboto"/>
                <a:cs typeface="Roboto"/>
                <a:sym typeface="Roboto"/>
              </a:rPr>
              <a:t>spread between flowers. </a:t>
            </a:r>
            <a:endParaRPr lang="en-GB" sz="1100" b="0" i="0" u="none" strike="noStrike" cap="none" dirty="0">
              <a:solidFill>
                <a:schemeClr val="bg1"/>
              </a:solidFill>
              <a:ea typeface="Arial"/>
              <a:cs typeface="Arial"/>
              <a:sym typeface="Arial"/>
            </a:endParaRPr>
          </a:p>
        </p:txBody>
      </p:sp>
      <p:sp>
        <p:nvSpPr>
          <p:cNvPr id="18" name="TextBox 17">
            <a:extLst>
              <a:ext uri="{FF2B5EF4-FFF2-40B4-BE49-F238E27FC236}">
                <a16:creationId xmlns:a16="http://schemas.microsoft.com/office/drawing/2014/main" id="{5F2169A6-9F2A-BBCE-310F-50C88C88AEC8}"/>
              </a:ext>
            </a:extLst>
          </p:cNvPr>
          <p:cNvSpPr txBox="1"/>
          <p:nvPr/>
        </p:nvSpPr>
        <p:spPr>
          <a:xfrm>
            <a:off x="5304670" y="866813"/>
            <a:ext cx="3683973" cy="4207096"/>
          </a:xfrm>
          <a:prstGeom prst="rect">
            <a:avLst/>
          </a:prstGeom>
          <a:noFill/>
        </p:spPr>
        <p:txBody>
          <a:bodyPr wrap="square" rtlCol="0">
            <a:prstTxWarp prst="textArchUp">
              <a:avLst/>
            </a:prstTxWarp>
            <a:spAutoFit/>
          </a:bodyPr>
          <a:lstStyle/>
          <a:p>
            <a:pPr algn="ctr"/>
            <a:r>
              <a:rPr lang="en-GB" b="1" dirty="0">
                <a:solidFill>
                  <a:srgbClr val="F8991F"/>
                </a:solidFill>
              </a:rPr>
              <a:t>oak tree pollen</a:t>
            </a:r>
          </a:p>
        </p:txBody>
      </p:sp>
      <p:pic>
        <p:nvPicPr>
          <p:cNvPr id="24" name="Picture 23">
            <a:extLst>
              <a:ext uri="{FF2B5EF4-FFF2-40B4-BE49-F238E27FC236}">
                <a16:creationId xmlns:a16="http://schemas.microsoft.com/office/drawing/2014/main" id="{5078CE2E-9C5D-0995-90C6-F42553D8F0CC}"/>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958723" y="5621673"/>
            <a:ext cx="738832" cy="650959"/>
          </a:xfrm>
          <a:prstGeom prst="rect">
            <a:avLst/>
          </a:prstGeom>
        </p:spPr>
      </p:pic>
    </p:spTree>
    <p:extLst>
      <p:ext uri="{BB962C8B-B14F-4D97-AF65-F5344CB8AC3E}">
        <p14:creationId xmlns:p14="http://schemas.microsoft.com/office/powerpoint/2010/main" val="3921249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circle(out)">
                                      <p:cBhvr>
                                        <p:cTn id="7" dur="1000"/>
                                        <p:tgtEl>
                                          <p:spTgt spid="18"/>
                                        </p:tgtEl>
                                      </p:cBhvr>
                                    </p:animEffect>
                                  </p:childTnLst>
                                </p:cTn>
                              </p:par>
                              <p:par>
                                <p:cTn id="8" presetID="6" presetClass="entr" presetSubtype="32"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circle(out)">
                                      <p:cBhvr>
                                        <p:cTn id="10" dur="10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left)">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right)">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2"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right)">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1000"/>
                                        <p:tgtEl>
                                          <p:spTgt spid="15"/>
                                        </p:tgtEl>
                                      </p:cBhvr>
                                    </p:animEffect>
                                    <p:anim calcmode="lin" valueType="num">
                                      <p:cBhvr>
                                        <p:cTn id="31" dur="1000" fill="hold"/>
                                        <p:tgtEl>
                                          <p:spTgt spid="15"/>
                                        </p:tgtEl>
                                        <p:attrNameLst>
                                          <p:attrName>ppt_x</p:attrName>
                                        </p:attrNameLst>
                                      </p:cBhvr>
                                      <p:tavLst>
                                        <p:tav tm="0">
                                          <p:val>
                                            <p:strVal val="#ppt_x"/>
                                          </p:val>
                                        </p:tav>
                                        <p:tav tm="100000">
                                          <p:val>
                                            <p:strVal val="#ppt_x"/>
                                          </p:val>
                                        </p:tav>
                                      </p:tavLst>
                                    </p:anim>
                                    <p:anim calcmode="lin" valueType="num">
                                      <p:cBhvr>
                                        <p:cTn id="32" dur="1000" fill="hold"/>
                                        <p:tgtEl>
                                          <p:spTgt spid="15"/>
                                        </p:tgtEl>
                                        <p:attrNameLst>
                                          <p:attrName>ppt_y</p:attrName>
                                        </p:attrNameLst>
                                      </p:cBhvr>
                                      <p:tavLst>
                                        <p:tav tm="0">
                                          <p:val>
                                            <p:strVal val="#ppt_y+.1"/>
                                          </p:val>
                                        </p:tav>
                                        <p:tav tm="100000">
                                          <p:val>
                                            <p:strVal val="#ppt_y"/>
                                          </p:val>
                                        </p:tav>
                                      </p:tavLst>
                                    </p:anim>
                                  </p:childTnLst>
                                </p:cTn>
                              </p:par>
                            </p:childTnLst>
                          </p:cTn>
                        </p:par>
                        <p:par>
                          <p:cTn id="33" fill="hold">
                            <p:stCondLst>
                              <p:cond delay="1000"/>
                            </p:stCondLst>
                            <p:childTnLst>
                              <p:par>
                                <p:cTn id="34" presetID="10" presetClass="entr" presetSubtype="0" fill="hold" grpId="0" nodeType="after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47" presetClass="entr" presetSubtype="0"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1000"/>
                                        <p:tgtEl>
                                          <p:spTgt spid="13"/>
                                        </p:tgtEl>
                                      </p:cBhvr>
                                    </p:animEffect>
                                    <p:anim calcmode="lin" valueType="num">
                                      <p:cBhvr>
                                        <p:cTn id="42" dur="1000" fill="hold"/>
                                        <p:tgtEl>
                                          <p:spTgt spid="13"/>
                                        </p:tgtEl>
                                        <p:attrNameLst>
                                          <p:attrName>ppt_x</p:attrName>
                                        </p:attrNameLst>
                                      </p:cBhvr>
                                      <p:tavLst>
                                        <p:tav tm="0">
                                          <p:val>
                                            <p:strVal val="#ppt_x"/>
                                          </p:val>
                                        </p:tav>
                                        <p:tav tm="100000">
                                          <p:val>
                                            <p:strVal val="#ppt_x"/>
                                          </p:val>
                                        </p:tav>
                                      </p:tavLst>
                                    </p:anim>
                                    <p:anim calcmode="lin" valueType="num">
                                      <p:cBhvr>
                                        <p:cTn id="43" dur="1000" fill="hold"/>
                                        <p:tgtEl>
                                          <p:spTgt spid="13"/>
                                        </p:tgtEl>
                                        <p:attrNameLst>
                                          <p:attrName>ppt_y</p:attrName>
                                        </p:attrNameLst>
                                      </p:cBhvr>
                                      <p:tavLst>
                                        <p:tav tm="0">
                                          <p:val>
                                            <p:strVal val="#ppt_y-.1"/>
                                          </p:val>
                                        </p:tav>
                                        <p:tav tm="100000">
                                          <p:val>
                                            <p:strVal val="#ppt_y"/>
                                          </p:val>
                                        </p:tav>
                                      </p:tavLst>
                                    </p:anim>
                                  </p:childTnLst>
                                </p:cTn>
                              </p:par>
                            </p:childTnLst>
                          </p:cTn>
                        </p:par>
                        <p:par>
                          <p:cTn id="44" fill="hold">
                            <p:stCondLst>
                              <p:cond delay="1000"/>
                            </p:stCondLst>
                            <p:childTnLst>
                              <p:par>
                                <p:cTn id="45" presetID="10" presetClass="entr" presetSubtype="0" fill="hold" grpId="0" nodeType="after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childTnLst>
                                </p:cTn>
                              </p:par>
                              <p:par>
                                <p:cTn id="48" presetID="10" presetClass="entr" presetSubtype="0" fill="hold" nodeType="withEffect">
                                  <p:stCondLst>
                                    <p:cond delay="25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500"/>
                                        <p:tgtEl>
                                          <p:spTgt spid="24"/>
                                        </p:tgtEl>
                                      </p:cBhvr>
                                    </p:animEffect>
                                  </p:childTnLst>
                                </p:cTn>
                              </p:par>
                            </p:childTnLst>
                          </p:cTn>
                        </p:par>
                        <p:par>
                          <p:cTn id="51" fill="hold">
                            <p:stCondLst>
                              <p:cond delay="1750"/>
                            </p:stCondLst>
                            <p:childTnLst>
                              <p:par>
                                <p:cTn id="52" presetID="1" presetClass="entr" presetSubtype="0" fill="hold" nodeType="afterEffect">
                                  <p:stCondLst>
                                    <p:cond delay="0"/>
                                  </p:stCondLst>
                                  <p:childTnLst>
                                    <p:set>
                                      <p:cBhvr>
                                        <p:cTn id="53"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4" grpId="0" animBg="1"/>
      <p:bldP spid="16" grpId="0" animBg="1"/>
      <p:bldP spid="17" grpId="0" animBg="1"/>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DB28B-51BA-B4F7-BB49-3D33807BCFA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D7782B8-E2E8-DFF0-5258-A51BAB3692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651992"/>
          </a:xfrm>
          <a:prstGeom prst="rect">
            <a:avLst/>
          </a:prstGeom>
        </p:spPr>
      </p:pic>
      <p:sp>
        <p:nvSpPr>
          <p:cNvPr id="8" name="Title">
            <a:extLst>
              <a:ext uri="{FF2B5EF4-FFF2-40B4-BE49-F238E27FC236}">
                <a16:creationId xmlns:a16="http://schemas.microsoft.com/office/drawing/2014/main" id="{5B22C491-6B97-33EA-48C8-582252A271B0}"/>
              </a:ext>
            </a:extLst>
          </p:cNvPr>
          <p:cNvSpPr txBox="1">
            <a:spLocks/>
          </p:cNvSpPr>
          <p:nvPr/>
        </p:nvSpPr>
        <p:spPr>
          <a:xfrm>
            <a:off x="155357" y="340734"/>
            <a:ext cx="3537754" cy="994306"/>
          </a:xfrm>
          <a:prstGeom prst="roundRect">
            <a:avLst>
              <a:gd name="adj" fmla="val 9641"/>
            </a:avLst>
          </a:prstGeom>
          <a:noFill/>
          <a:ln w="25400">
            <a:noFill/>
          </a:ln>
        </p:spPr>
        <p:txBody>
          <a:bodyPr vert="horz" lIns="252000" tIns="252000" rIns="252000" bIns="252000" rtlCol="0" anchor="ctr" anchorCtr="1">
            <a:noAutofit/>
          </a:bodyPr>
          <a:lstStyle>
            <a:lvl1pPr algn="l" defTabSz="914400" rtl="0" eaLnBrk="1" latinLnBrk="0" hangingPunct="1">
              <a:lnSpc>
                <a:spcPct val="90000"/>
              </a:lnSpc>
              <a:spcBef>
                <a:spcPct val="0"/>
              </a:spcBef>
              <a:buNone/>
              <a:defRPr sz="3600" b="1" kern="1200">
                <a:solidFill>
                  <a:srgbClr val="1C1C1C"/>
                </a:solidFill>
                <a:latin typeface="Twinkl" pitchFamily="2" charset="0"/>
                <a:ea typeface="+mj-ea"/>
                <a:cs typeface="+mj-cs"/>
              </a:defRPr>
            </a:lvl1pPr>
          </a:lstStyle>
          <a:p>
            <a:r>
              <a:rPr lang="en-US" dirty="0">
                <a:solidFill>
                  <a:schemeClr val="bg1"/>
                </a:solidFill>
                <a:latin typeface="+mn-lt"/>
              </a:rPr>
              <a:t>Pollinators – Bees</a:t>
            </a:r>
            <a:endParaRPr lang="en-GB" dirty="0">
              <a:solidFill>
                <a:schemeClr val="bg1"/>
              </a:solidFill>
              <a:latin typeface="+mn-lt"/>
            </a:endParaRPr>
          </a:p>
        </p:txBody>
      </p:sp>
      <p:pic>
        <p:nvPicPr>
          <p:cNvPr id="2" name="Graphic 1">
            <a:hlinkClick r:id="" action="ppaction://hlinkshowjump?jump=nextslide"/>
            <a:extLst>
              <a:ext uri="{FF2B5EF4-FFF2-40B4-BE49-F238E27FC236}">
                <a16:creationId xmlns:a16="http://schemas.microsoft.com/office/drawing/2014/main" id="{F16EF351-1D7A-56FA-7491-3D75EF9C17B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8388350" y="224630"/>
            <a:ext cx="472694" cy="472694"/>
          </a:xfrm>
          <a:prstGeom prst="rect">
            <a:avLst/>
          </a:prstGeom>
        </p:spPr>
      </p:pic>
      <p:sp>
        <p:nvSpPr>
          <p:cNvPr id="22" name="Text Box">
            <a:extLst>
              <a:ext uri="{FF2B5EF4-FFF2-40B4-BE49-F238E27FC236}">
                <a16:creationId xmlns:a16="http://schemas.microsoft.com/office/drawing/2014/main" id="{76712C6F-8CBE-F114-2786-791855825002}"/>
              </a:ext>
            </a:extLst>
          </p:cNvPr>
          <p:cNvSpPr/>
          <p:nvPr/>
        </p:nvSpPr>
        <p:spPr>
          <a:xfrm rot="16200000">
            <a:off x="3300039" y="1160856"/>
            <a:ext cx="786143" cy="3660663"/>
          </a:xfrm>
          <a:prstGeom prst="round2SameRect">
            <a:avLst/>
          </a:prstGeom>
          <a:solidFill>
            <a:srgbClr val="FCAF17"/>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wrap="square" lIns="108000" tIns="108000" rIns="108000" bIns="216000" rtlCol="0" anchor="ctr">
            <a:spAutoFit/>
          </a:bodyPr>
          <a:lstStyle/>
          <a:p>
            <a:pPr marL="0" marR="0" lvl="0" indent="0" algn="l" rtl="0">
              <a:lnSpc>
                <a:spcPct val="100000"/>
              </a:lnSpc>
              <a:spcBef>
                <a:spcPts val="0"/>
              </a:spcBef>
              <a:spcAft>
                <a:spcPts val="0"/>
              </a:spcAft>
              <a:buClr>
                <a:srgbClr val="000000"/>
              </a:buClr>
              <a:buSzPts val="2000"/>
              <a:buFont typeface="Arial"/>
              <a:buNone/>
            </a:pPr>
            <a:r>
              <a:rPr lang="en-GB" sz="1600" b="1" i="0" u="none" strike="noStrike" cap="none" dirty="0">
                <a:solidFill>
                  <a:schemeClr val="bg1"/>
                </a:solidFill>
                <a:ea typeface="Roboto"/>
                <a:cs typeface="Roboto"/>
                <a:sym typeface="Roboto"/>
              </a:rPr>
              <a:t>Bees</a:t>
            </a:r>
            <a:r>
              <a:rPr lang="en-GB" sz="1600" b="0" i="0" u="none" strike="noStrike" cap="none" dirty="0">
                <a:solidFill>
                  <a:schemeClr val="bg1"/>
                </a:solidFill>
                <a:ea typeface="Roboto"/>
                <a:cs typeface="Roboto"/>
                <a:sym typeface="Roboto"/>
              </a:rPr>
              <a:t> fly from </a:t>
            </a:r>
            <a:r>
              <a:rPr lang="en-GB" sz="1600" b="1" i="0" u="none" strike="noStrike" cap="none" dirty="0">
                <a:solidFill>
                  <a:schemeClr val="bg1"/>
                </a:solidFill>
                <a:ea typeface="Roboto"/>
                <a:cs typeface="Roboto"/>
                <a:sym typeface="Roboto"/>
              </a:rPr>
              <a:t>flower</a:t>
            </a:r>
            <a:r>
              <a:rPr lang="en-GB" sz="1600" b="0" i="0" u="none" strike="noStrike" cap="none" dirty="0">
                <a:solidFill>
                  <a:schemeClr val="bg1"/>
                </a:solidFill>
                <a:ea typeface="Roboto"/>
                <a:cs typeface="Roboto"/>
                <a:sym typeface="Roboto"/>
              </a:rPr>
              <a:t> to </a:t>
            </a:r>
            <a:r>
              <a:rPr lang="en-GB" sz="1600" b="1" i="0" u="none" strike="noStrike" cap="none" dirty="0">
                <a:solidFill>
                  <a:schemeClr val="bg1"/>
                </a:solidFill>
                <a:ea typeface="Roboto"/>
                <a:cs typeface="Roboto"/>
                <a:sym typeface="Roboto"/>
              </a:rPr>
              <a:t>flower</a:t>
            </a:r>
            <a:br>
              <a:rPr lang="en-GB" sz="1600" b="1" i="0" u="none" strike="noStrike" cap="none" dirty="0">
                <a:solidFill>
                  <a:schemeClr val="bg1"/>
                </a:solidFill>
                <a:ea typeface="Roboto"/>
                <a:cs typeface="Roboto"/>
                <a:sym typeface="Roboto"/>
              </a:rPr>
            </a:br>
            <a:r>
              <a:rPr lang="en-GB" sz="1600" b="0" i="0" u="none" strike="noStrike" cap="none" dirty="0">
                <a:solidFill>
                  <a:schemeClr val="bg1"/>
                </a:solidFill>
                <a:ea typeface="Roboto"/>
                <a:cs typeface="Roboto"/>
                <a:sym typeface="Roboto"/>
              </a:rPr>
              <a:t>and collect </a:t>
            </a:r>
            <a:r>
              <a:rPr lang="en-GB" sz="1600" b="1" i="0" u="none" strike="noStrike" cap="none" dirty="0">
                <a:solidFill>
                  <a:schemeClr val="bg1"/>
                </a:solidFill>
                <a:ea typeface="Roboto"/>
                <a:cs typeface="Roboto"/>
                <a:sym typeface="Roboto"/>
              </a:rPr>
              <a:t>pollen. </a:t>
            </a:r>
            <a:r>
              <a:rPr lang="en-GB" sz="1600" b="0" i="0" u="none" strike="noStrike" cap="none" dirty="0">
                <a:solidFill>
                  <a:schemeClr val="bg1"/>
                </a:solidFill>
                <a:ea typeface="Roboto"/>
                <a:cs typeface="Roboto"/>
                <a:sym typeface="Roboto"/>
              </a:rPr>
              <a:t> </a:t>
            </a:r>
            <a:endParaRPr lang="en-GB" sz="1600" b="0" i="0" u="none" strike="noStrike" cap="none" dirty="0">
              <a:solidFill>
                <a:schemeClr val="bg1"/>
              </a:solidFill>
              <a:ea typeface="Arial"/>
              <a:cs typeface="Arial"/>
              <a:sym typeface="Arial"/>
            </a:endParaRPr>
          </a:p>
        </p:txBody>
      </p:sp>
      <p:pic>
        <p:nvPicPr>
          <p:cNvPr id="9" name="Picture 8">
            <a:extLst>
              <a:ext uri="{FF2B5EF4-FFF2-40B4-BE49-F238E27FC236}">
                <a16:creationId xmlns:a16="http://schemas.microsoft.com/office/drawing/2014/main" id="{304B6286-B60A-8CE0-0DE7-32B265DA3F3A}"/>
              </a:ext>
            </a:extLst>
          </p:cNvPr>
          <p:cNvPicPr>
            <a:picLocks noChangeAspect="1"/>
          </p:cNvPicPr>
          <p:nvPr/>
        </p:nvPicPr>
        <p:blipFill>
          <a:blip r:embed="rId5" cstate="print">
            <a:extLst>
              <a:ext uri="{28A0092B-C50C-407E-A947-70E740481C1C}">
                <a14:useLocalDpi xmlns:a14="http://schemas.microsoft.com/office/drawing/2010/main" val="0"/>
              </a:ext>
            </a:extLst>
          </a:blip>
          <a:srcRect l="16691" r="16691"/>
          <a:stretch/>
        </p:blipFill>
        <p:spPr>
          <a:xfrm>
            <a:off x="5084992" y="1472946"/>
            <a:ext cx="3964494" cy="3956712"/>
          </a:xfrm>
          <a:prstGeom prst="ellipse">
            <a:avLst/>
          </a:prstGeom>
          <a:ln w="38100">
            <a:solidFill>
              <a:srgbClr val="FFFFFF"/>
            </a:solidFill>
          </a:ln>
        </p:spPr>
      </p:pic>
      <p:cxnSp>
        <p:nvCxnSpPr>
          <p:cNvPr id="10" name="Straight Arrow Connector 9">
            <a:extLst>
              <a:ext uri="{FF2B5EF4-FFF2-40B4-BE49-F238E27FC236}">
                <a16:creationId xmlns:a16="http://schemas.microsoft.com/office/drawing/2014/main" id="{955D8B65-38A6-B6EC-6004-B6975C13B0A1}"/>
              </a:ext>
            </a:extLst>
          </p:cNvPr>
          <p:cNvCxnSpPr>
            <a:cxnSpLocks/>
          </p:cNvCxnSpPr>
          <p:nvPr/>
        </p:nvCxnSpPr>
        <p:spPr>
          <a:xfrm>
            <a:off x="5398431" y="1753301"/>
            <a:ext cx="1182030" cy="1251498"/>
          </a:xfrm>
          <a:prstGeom prst="straightConnector1">
            <a:avLst/>
          </a:prstGeom>
          <a:ln w="28575">
            <a:solidFill>
              <a:srgbClr val="E94E13"/>
            </a:solidFill>
            <a:tailEnd type="triangle"/>
          </a:ln>
        </p:spPr>
        <p:style>
          <a:lnRef idx="1">
            <a:schemeClr val="accent1"/>
          </a:lnRef>
          <a:fillRef idx="0">
            <a:schemeClr val="accent1"/>
          </a:fillRef>
          <a:effectRef idx="0">
            <a:schemeClr val="accent1"/>
          </a:effectRef>
          <a:fontRef idx="minor">
            <a:schemeClr val="tx1"/>
          </a:fontRef>
        </p:style>
      </p:cxnSp>
      <p:sp>
        <p:nvSpPr>
          <p:cNvPr id="11" name="Text">
            <a:extLst>
              <a:ext uri="{FF2B5EF4-FFF2-40B4-BE49-F238E27FC236}">
                <a16:creationId xmlns:a16="http://schemas.microsoft.com/office/drawing/2014/main" id="{5A6CA476-25D9-2799-CDBA-40A93B61EEE1}"/>
              </a:ext>
            </a:extLst>
          </p:cNvPr>
          <p:cNvSpPr/>
          <p:nvPr/>
        </p:nvSpPr>
        <p:spPr>
          <a:xfrm>
            <a:off x="4722625" y="1192591"/>
            <a:ext cx="1027883" cy="553998"/>
          </a:xfrm>
          <a:prstGeom prst="rect">
            <a:avLst/>
          </a:prstGeom>
        </p:spPr>
        <p:txBody>
          <a:bodyPr wrap="square" lIns="0" tIns="0" rIns="0" bIns="0">
            <a:spAutoFit/>
          </a:bodyPr>
          <a:lstStyle/>
          <a:p>
            <a:pPr algn="ctr"/>
            <a:r>
              <a:rPr lang="en-GB" b="1" dirty="0">
                <a:solidFill>
                  <a:srgbClr val="F08215"/>
                </a:solidFill>
              </a:rPr>
              <a:t>pollen basket</a:t>
            </a:r>
          </a:p>
        </p:txBody>
      </p:sp>
      <p:cxnSp>
        <p:nvCxnSpPr>
          <p:cNvPr id="12" name="Straight Arrow Connector 11">
            <a:extLst>
              <a:ext uri="{FF2B5EF4-FFF2-40B4-BE49-F238E27FC236}">
                <a16:creationId xmlns:a16="http://schemas.microsoft.com/office/drawing/2014/main" id="{56A939D5-8260-C1B0-D06C-BF2CBE0180C6}"/>
              </a:ext>
            </a:extLst>
          </p:cNvPr>
          <p:cNvCxnSpPr>
            <a:cxnSpLocks/>
          </p:cNvCxnSpPr>
          <p:nvPr/>
        </p:nvCxnSpPr>
        <p:spPr>
          <a:xfrm flipV="1">
            <a:off x="6410264" y="3476593"/>
            <a:ext cx="705455" cy="2125947"/>
          </a:xfrm>
          <a:prstGeom prst="straightConnector1">
            <a:avLst/>
          </a:prstGeom>
          <a:ln w="28575">
            <a:solidFill>
              <a:srgbClr val="E94E13"/>
            </a:solidFill>
            <a:tailEnd type="triangle"/>
          </a:ln>
        </p:spPr>
        <p:style>
          <a:lnRef idx="1">
            <a:schemeClr val="accent1"/>
          </a:lnRef>
          <a:fillRef idx="0">
            <a:schemeClr val="accent1"/>
          </a:fillRef>
          <a:effectRef idx="0">
            <a:schemeClr val="accent1"/>
          </a:effectRef>
          <a:fontRef idx="minor">
            <a:schemeClr val="tx1"/>
          </a:fontRef>
        </p:style>
      </p:cxnSp>
      <p:sp>
        <p:nvSpPr>
          <p:cNvPr id="13" name="Text">
            <a:extLst>
              <a:ext uri="{FF2B5EF4-FFF2-40B4-BE49-F238E27FC236}">
                <a16:creationId xmlns:a16="http://schemas.microsoft.com/office/drawing/2014/main" id="{8A9834F6-FA3E-2025-FF04-74E896FC929D}"/>
              </a:ext>
            </a:extLst>
          </p:cNvPr>
          <p:cNvSpPr/>
          <p:nvPr/>
        </p:nvSpPr>
        <p:spPr>
          <a:xfrm>
            <a:off x="5896323" y="5647248"/>
            <a:ext cx="1027883" cy="276999"/>
          </a:xfrm>
          <a:prstGeom prst="rect">
            <a:avLst/>
          </a:prstGeom>
        </p:spPr>
        <p:txBody>
          <a:bodyPr wrap="square" lIns="0" tIns="0" rIns="0" bIns="0">
            <a:spAutoFit/>
          </a:bodyPr>
          <a:lstStyle/>
          <a:p>
            <a:pPr algn="ctr"/>
            <a:r>
              <a:rPr lang="en-GB" b="1" dirty="0">
                <a:solidFill>
                  <a:srgbClr val="F08215"/>
                </a:solidFill>
              </a:rPr>
              <a:t>pollen</a:t>
            </a:r>
          </a:p>
        </p:txBody>
      </p:sp>
      <p:sp>
        <p:nvSpPr>
          <p:cNvPr id="23" name="Text Box">
            <a:extLst>
              <a:ext uri="{FF2B5EF4-FFF2-40B4-BE49-F238E27FC236}">
                <a16:creationId xmlns:a16="http://schemas.microsoft.com/office/drawing/2014/main" id="{048A6136-1E19-8F27-4D56-9BE811301894}"/>
              </a:ext>
            </a:extLst>
          </p:cNvPr>
          <p:cNvSpPr/>
          <p:nvPr/>
        </p:nvSpPr>
        <p:spPr>
          <a:xfrm rot="5400000">
            <a:off x="1687234" y="45356"/>
            <a:ext cx="786143" cy="4160611"/>
          </a:xfrm>
          <a:prstGeom prst="round2SameRect">
            <a:avLst/>
          </a:prstGeom>
          <a:solidFill>
            <a:srgbClr val="F5822A"/>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108000" tIns="108000" rIns="108000" bIns="504000" rtlCol="0" anchor="ctr">
            <a:spAutoFit/>
          </a:bodyPr>
          <a:lstStyle/>
          <a:p>
            <a:pPr marL="0" marR="0" lvl="0" indent="0" algn="l" rtl="0">
              <a:lnSpc>
                <a:spcPct val="100000"/>
              </a:lnSpc>
              <a:spcBef>
                <a:spcPts val="0"/>
              </a:spcBef>
              <a:spcAft>
                <a:spcPts val="0"/>
              </a:spcAft>
              <a:buClr>
                <a:srgbClr val="000000"/>
              </a:buClr>
              <a:buSzPts val="2000"/>
              <a:buFont typeface="Arial"/>
              <a:buNone/>
            </a:pPr>
            <a:r>
              <a:rPr lang="en-GB" sz="1600" b="1" i="0" u="none" strike="noStrike" cap="none" dirty="0">
                <a:solidFill>
                  <a:schemeClr val="bg1"/>
                </a:solidFill>
                <a:ea typeface="Roboto"/>
                <a:cs typeface="Roboto"/>
                <a:sym typeface="Roboto"/>
              </a:rPr>
              <a:t>Bees </a:t>
            </a:r>
            <a:r>
              <a:rPr lang="en-GB" sz="1600" b="0" i="0" u="none" strike="noStrike" cap="none" dirty="0">
                <a:solidFill>
                  <a:schemeClr val="bg1"/>
                </a:solidFill>
                <a:ea typeface="Roboto"/>
                <a:cs typeface="Roboto"/>
                <a:sym typeface="Roboto"/>
              </a:rPr>
              <a:t>are a type of </a:t>
            </a:r>
            <a:r>
              <a:rPr lang="en-GB" sz="1600" b="1" i="0" u="none" strike="noStrike" cap="none" dirty="0">
                <a:solidFill>
                  <a:schemeClr val="bg1"/>
                </a:solidFill>
                <a:ea typeface="Roboto"/>
                <a:cs typeface="Roboto"/>
                <a:sym typeface="Roboto"/>
              </a:rPr>
              <a:t>minibeast </a:t>
            </a:r>
            <a:r>
              <a:rPr lang="en-GB" sz="1600" b="0" i="0" u="none" strike="noStrike" cap="none" dirty="0">
                <a:solidFill>
                  <a:schemeClr val="bg1"/>
                </a:solidFill>
                <a:ea typeface="Roboto"/>
                <a:cs typeface="Roboto"/>
                <a:sym typeface="Roboto"/>
              </a:rPr>
              <a:t>that can help with </a:t>
            </a:r>
            <a:r>
              <a:rPr lang="en-GB" sz="1600" b="1" i="0" u="none" strike="noStrike" cap="none" dirty="0">
                <a:solidFill>
                  <a:schemeClr val="bg1"/>
                </a:solidFill>
                <a:ea typeface="Roboto"/>
                <a:cs typeface="Roboto"/>
                <a:sym typeface="Roboto"/>
              </a:rPr>
              <a:t>pollination</a:t>
            </a:r>
            <a:r>
              <a:rPr lang="en-GB" sz="1600" b="0" i="0" u="none" strike="noStrike" cap="none" dirty="0">
                <a:solidFill>
                  <a:schemeClr val="bg1"/>
                </a:solidFill>
                <a:ea typeface="Roboto"/>
                <a:cs typeface="Roboto"/>
                <a:sym typeface="Roboto"/>
              </a:rPr>
              <a:t>.</a:t>
            </a:r>
            <a:endParaRPr lang="en-GB" sz="1100" b="0" i="0" u="none" strike="noStrike" cap="none" dirty="0">
              <a:solidFill>
                <a:schemeClr val="bg1"/>
              </a:solidFill>
              <a:ea typeface="Arial"/>
              <a:cs typeface="Arial"/>
              <a:sym typeface="Arial"/>
            </a:endParaRPr>
          </a:p>
        </p:txBody>
      </p:sp>
      <p:sp>
        <p:nvSpPr>
          <p:cNvPr id="25" name="Text Box">
            <a:extLst>
              <a:ext uri="{FF2B5EF4-FFF2-40B4-BE49-F238E27FC236}">
                <a16:creationId xmlns:a16="http://schemas.microsoft.com/office/drawing/2014/main" id="{15D1B4B9-8BC3-7EF2-1FAE-C6788B00B298}"/>
              </a:ext>
            </a:extLst>
          </p:cNvPr>
          <p:cNvSpPr/>
          <p:nvPr/>
        </p:nvSpPr>
        <p:spPr>
          <a:xfrm rot="5400000">
            <a:off x="2002048" y="1462810"/>
            <a:ext cx="1058558" cy="5062654"/>
          </a:xfrm>
          <a:prstGeom prst="round2SameRect">
            <a:avLst/>
          </a:prstGeom>
          <a:solidFill>
            <a:srgbClr val="F8991F"/>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108000" tIns="108000" rIns="108000" bIns="504000" rtlCol="0" anchor="ctr">
            <a:spAutoFit/>
          </a:bodyPr>
          <a:lstStyle/>
          <a:p>
            <a:pPr marL="0" marR="0" lvl="0" indent="0" algn="l" rtl="0">
              <a:lnSpc>
                <a:spcPct val="100000"/>
              </a:lnSpc>
              <a:spcBef>
                <a:spcPts val="0"/>
              </a:spcBef>
              <a:spcAft>
                <a:spcPts val="0"/>
              </a:spcAft>
              <a:buNone/>
            </a:pPr>
            <a:r>
              <a:rPr lang="en-GB" sz="1600" b="0" i="0" u="none" strike="noStrike" cap="none" dirty="0">
                <a:solidFill>
                  <a:schemeClr val="bg1"/>
                </a:solidFill>
                <a:ea typeface="Roboto"/>
                <a:cs typeface="Roboto"/>
                <a:sym typeface="Roboto"/>
              </a:rPr>
              <a:t>Some bees (</a:t>
            </a:r>
            <a:r>
              <a:rPr lang="en-GB" sz="1600" b="0"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0"/>
                  </a:ext>
                </a:extLst>
              </a:rPr>
              <a:t>such as </a:t>
            </a:r>
            <a:r>
              <a:rPr lang="en-GB" sz="1600" b="1"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1"/>
                  </a:ext>
                </a:extLst>
              </a:rPr>
              <a:t>bumblebees </a:t>
            </a:r>
            <a:r>
              <a:rPr lang="en-GB" sz="1600" b="0"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2"/>
                  </a:ext>
                </a:extLst>
              </a:rPr>
              <a:t>and </a:t>
            </a:r>
            <a:r>
              <a:rPr lang="en-GB" sz="1600" b="1"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3"/>
                  </a:ext>
                </a:extLst>
              </a:rPr>
              <a:t>honeybees</a:t>
            </a:r>
            <a:r>
              <a:rPr lang="en-GB" sz="1600" b="0"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4"/>
                  </a:ext>
                </a:extLst>
              </a:rPr>
              <a:t>)</a:t>
            </a:r>
            <a:r>
              <a:rPr lang="en-GB" sz="1600" b="0" i="0" u="none" strike="noStrike" cap="none" dirty="0">
                <a:solidFill>
                  <a:schemeClr val="bg1"/>
                </a:solidFill>
                <a:ea typeface="Roboto"/>
                <a:cs typeface="Roboto"/>
                <a:sym typeface="Roboto"/>
              </a:rPr>
              <a:t> collect </a:t>
            </a:r>
            <a:r>
              <a:rPr lang="en-GB" sz="1600" b="1" i="0" u="none" strike="noStrike" cap="none" dirty="0">
                <a:solidFill>
                  <a:schemeClr val="bg1"/>
                </a:solidFill>
                <a:ea typeface="Roboto"/>
                <a:cs typeface="Roboto"/>
                <a:sym typeface="Roboto"/>
              </a:rPr>
              <a:t>pollen</a:t>
            </a:r>
            <a:r>
              <a:rPr lang="en-GB" sz="1600" b="0" i="0" u="none" strike="noStrike" cap="none" dirty="0">
                <a:solidFill>
                  <a:schemeClr val="bg1"/>
                </a:solidFill>
                <a:ea typeface="Roboto"/>
                <a:cs typeface="Roboto"/>
                <a:sym typeface="Roboto"/>
              </a:rPr>
              <a:t> on their furry bodies and push it</a:t>
            </a:r>
            <a:br>
              <a:rPr lang="en-GB" sz="1600" b="0" i="0" u="none" strike="noStrike" cap="none" dirty="0">
                <a:solidFill>
                  <a:schemeClr val="bg1"/>
                </a:solidFill>
                <a:ea typeface="Roboto"/>
                <a:cs typeface="Roboto"/>
                <a:sym typeface="Roboto"/>
              </a:rPr>
            </a:br>
            <a:r>
              <a:rPr lang="en-GB" sz="1600" b="0" i="0" u="none" strike="noStrike" cap="none" dirty="0">
                <a:solidFill>
                  <a:schemeClr val="bg1"/>
                </a:solidFill>
                <a:ea typeface="Roboto"/>
                <a:cs typeface="Roboto"/>
                <a:sym typeface="Roboto"/>
              </a:rPr>
              <a:t>into special </a:t>
            </a:r>
            <a:r>
              <a:rPr lang="en-GB" sz="1600" b="1" i="0" u="none" strike="noStrike" cap="none" dirty="0">
                <a:solidFill>
                  <a:schemeClr val="bg1"/>
                </a:solidFill>
                <a:ea typeface="Roboto"/>
                <a:cs typeface="Roboto"/>
                <a:sym typeface="Roboto"/>
              </a:rPr>
              <a:t>pockets </a:t>
            </a:r>
            <a:r>
              <a:rPr lang="en-GB" sz="1600" b="0" i="0" u="none" strike="noStrike" cap="none" dirty="0">
                <a:solidFill>
                  <a:schemeClr val="bg1"/>
                </a:solidFill>
                <a:ea typeface="Roboto"/>
                <a:cs typeface="Roboto"/>
                <a:sym typeface="Roboto"/>
              </a:rPr>
              <a:t>on their back legs. </a:t>
            </a:r>
            <a:endParaRPr lang="en-GB" sz="1600" b="0" i="0" u="none" strike="noStrike" cap="none" dirty="0">
              <a:solidFill>
                <a:schemeClr val="bg1"/>
              </a:solidFill>
              <a:ea typeface="Arial"/>
              <a:cs typeface="Arial"/>
              <a:sym typeface="Arial"/>
            </a:endParaRPr>
          </a:p>
        </p:txBody>
      </p:sp>
      <p:pic>
        <p:nvPicPr>
          <p:cNvPr id="26" name="Picture 25">
            <a:extLst>
              <a:ext uri="{FF2B5EF4-FFF2-40B4-BE49-F238E27FC236}">
                <a16:creationId xmlns:a16="http://schemas.microsoft.com/office/drawing/2014/main" id="{CAFEED19-2210-649F-7174-7AA5915B559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653450">
            <a:off x="3973936" y="4988208"/>
            <a:ext cx="1196129" cy="916855"/>
          </a:xfrm>
          <a:prstGeom prst="rect">
            <a:avLst/>
          </a:prstGeom>
        </p:spPr>
      </p:pic>
      <p:sp>
        <p:nvSpPr>
          <p:cNvPr id="27" name="Speech Bubble: Oval 26">
            <a:extLst>
              <a:ext uri="{FF2B5EF4-FFF2-40B4-BE49-F238E27FC236}">
                <a16:creationId xmlns:a16="http://schemas.microsoft.com/office/drawing/2014/main" id="{D80B043A-F217-EAB2-1339-DE96160D768F}"/>
              </a:ext>
            </a:extLst>
          </p:cNvPr>
          <p:cNvSpPr/>
          <p:nvPr/>
        </p:nvSpPr>
        <p:spPr>
          <a:xfrm>
            <a:off x="1050164" y="4774956"/>
            <a:ext cx="2573574" cy="1389165"/>
          </a:xfrm>
          <a:prstGeom prst="wedgeEllipseCallout">
            <a:avLst>
              <a:gd name="adj1" fmla="val 61867"/>
              <a:gd name="adj2" fmla="val 3692"/>
            </a:avLst>
          </a:prstGeom>
          <a:solidFill>
            <a:schemeClr val="bg1"/>
          </a:solidFill>
          <a:ln w="28575">
            <a:solidFill>
              <a:srgbClr val="F0821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rtl="0">
              <a:lnSpc>
                <a:spcPct val="100000"/>
              </a:lnSpc>
              <a:spcBef>
                <a:spcPts val="0"/>
              </a:spcBef>
              <a:spcAft>
                <a:spcPts val="0"/>
              </a:spcAft>
              <a:buClr>
                <a:srgbClr val="000000"/>
              </a:buClr>
              <a:buSzPts val="1400"/>
              <a:buFont typeface="Arial"/>
              <a:buNone/>
            </a:pPr>
            <a:r>
              <a:rPr lang="en-GB" sz="1600" b="0" i="0" u="none" strike="noStrike" cap="none" dirty="0">
                <a:solidFill>
                  <a:schemeClr val="tx1"/>
                </a:solidFill>
                <a:ea typeface="Roboto"/>
                <a:cs typeface="Roboto"/>
                <a:sym typeface="Roboto"/>
              </a:rPr>
              <a:t>Can you see the pollen basket on the bee in the photo? </a:t>
            </a:r>
            <a:endParaRPr lang="en-GB" sz="1600" b="0" i="0" u="none" strike="noStrike" cap="none" dirty="0">
              <a:solidFill>
                <a:schemeClr val="tx1"/>
              </a:solidFill>
              <a:ea typeface="Arial"/>
              <a:cs typeface="Arial"/>
              <a:sym typeface="Arial"/>
            </a:endParaRPr>
          </a:p>
        </p:txBody>
      </p:sp>
    </p:spTree>
    <p:extLst>
      <p:ext uri="{BB962C8B-B14F-4D97-AF65-F5344CB8AC3E}">
        <p14:creationId xmlns:p14="http://schemas.microsoft.com/office/powerpoint/2010/main" val="2861964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out)">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right)">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left)">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1000"/>
                                        <p:tgtEl>
                                          <p:spTgt spid="26"/>
                                        </p:tgtEl>
                                      </p:cBhvr>
                                    </p:animEffect>
                                    <p:anim calcmode="lin" valueType="num">
                                      <p:cBhvr>
                                        <p:cTn id="28" dur="1000" fill="hold"/>
                                        <p:tgtEl>
                                          <p:spTgt spid="26"/>
                                        </p:tgtEl>
                                        <p:attrNameLst>
                                          <p:attrName>ppt_x</p:attrName>
                                        </p:attrNameLst>
                                      </p:cBhvr>
                                      <p:tavLst>
                                        <p:tav tm="0">
                                          <p:val>
                                            <p:strVal val="#ppt_x"/>
                                          </p:val>
                                        </p:tav>
                                        <p:tav tm="100000">
                                          <p:val>
                                            <p:strVal val="#ppt_x"/>
                                          </p:val>
                                        </p:tav>
                                      </p:tavLst>
                                    </p:anim>
                                    <p:anim calcmode="lin" valueType="num">
                                      <p:cBhvr>
                                        <p:cTn id="29" dur="1000" fill="hold"/>
                                        <p:tgtEl>
                                          <p:spTgt spid="26"/>
                                        </p:tgtEl>
                                        <p:attrNameLst>
                                          <p:attrName>ppt_y</p:attrName>
                                        </p:attrNameLst>
                                      </p:cBhvr>
                                      <p:tavLst>
                                        <p:tav tm="0">
                                          <p:val>
                                            <p:strVal val="#ppt_y+.1"/>
                                          </p:val>
                                        </p:tav>
                                        <p:tav tm="100000">
                                          <p:val>
                                            <p:strVal val="#ppt_y"/>
                                          </p:val>
                                        </p:tav>
                                      </p:tavLst>
                                    </p:anim>
                                  </p:childTnLst>
                                </p:cTn>
                              </p:par>
                            </p:childTnLst>
                          </p:cTn>
                        </p:par>
                        <p:par>
                          <p:cTn id="30" fill="hold">
                            <p:stCondLst>
                              <p:cond delay="1000"/>
                            </p:stCondLst>
                            <p:childTnLst>
                              <p:par>
                                <p:cTn id="31" presetID="10" presetClass="entr" presetSubtype="0" fill="hold" grpId="0" nodeType="after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fade">
                                      <p:cBhvr>
                                        <p:cTn id="33" dur="500"/>
                                        <p:tgtEl>
                                          <p:spTgt spid="2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childTnLst>
                          </p:cTn>
                        </p:par>
                        <p:par>
                          <p:cTn id="39" fill="hold">
                            <p:stCondLst>
                              <p:cond delay="500"/>
                            </p:stCondLst>
                            <p:childTnLst>
                              <p:par>
                                <p:cTn id="40" presetID="22" presetClass="entr" presetSubtype="1" fill="hold" nodeType="after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up)">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par>
                          <p:cTn id="48" fill="hold">
                            <p:stCondLst>
                              <p:cond delay="500"/>
                            </p:stCondLst>
                            <p:childTnLst>
                              <p:par>
                                <p:cTn id="49" presetID="22" presetClass="entr" presetSubtype="4" fill="hold" nodeType="after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wipe(down)">
                                      <p:cBhvr>
                                        <p:cTn id="51" dur="500"/>
                                        <p:tgtEl>
                                          <p:spTgt spid="12"/>
                                        </p:tgtEl>
                                      </p:cBhvr>
                                    </p:animEffect>
                                  </p:childTnLst>
                                </p:cTn>
                              </p:par>
                            </p:childTnLst>
                          </p:cTn>
                        </p:par>
                        <p:par>
                          <p:cTn id="52" fill="hold">
                            <p:stCondLst>
                              <p:cond delay="1000"/>
                            </p:stCondLst>
                            <p:childTnLst>
                              <p:par>
                                <p:cTn id="53" presetID="1" presetClass="entr" presetSubtype="0" fill="hold" nodeType="afterEffect">
                                  <p:stCondLst>
                                    <p:cond delay="0"/>
                                  </p:stCondLst>
                                  <p:childTnLst>
                                    <p:set>
                                      <p:cBhvr>
                                        <p:cTn id="5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11" grpId="0"/>
      <p:bldP spid="13" grpId="0"/>
      <p:bldP spid="23" grpId="0" animBg="1"/>
      <p:bldP spid="25" grpId="0" animBg="1"/>
      <p:bldP spid="2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80CFA-87F6-C197-43E1-D5CE1F90FA73}"/>
            </a:ext>
          </a:extLst>
        </p:cNvPr>
        <p:cNvGrpSpPr/>
        <p:nvPr/>
      </p:nvGrpSpPr>
      <p:grpSpPr>
        <a:xfrm>
          <a:off x="0" y="0"/>
          <a:ext cx="0" cy="0"/>
          <a:chOff x="0" y="0"/>
          <a:chExt cx="0" cy="0"/>
        </a:xfrm>
      </p:grpSpPr>
      <p:sp>
        <p:nvSpPr>
          <p:cNvPr id="26" name="Text Box">
            <a:extLst>
              <a:ext uri="{FF2B5EF4-FFF2-40B4-BE49-F238E27FC236}">
                <a16:creationId xmlns:a16="http://schemas.microsoft.com/office/drawing/2014/main" id="{8D7324E5-B56C-7D60-8631-12DEEEB01A07}"/>
              </a:ext>
            </a:extLst>
          </p:cNvPr>
          <p:cNvSpPr/>
          <p:nvPr/>
        </p:nvSpPr>
        <p:spPr>
          <a:xfrm rot="5400000">
            <a:off x="1278612" y="3330333"/>
            <a:ext cx="1603388" cy="4160611"/>
          </a:xfrm>
          <a:prstGeom prst="round2SameRect">
            <a:avLst/>
          </a:prstGeom>
          <a:solidFill>
            <a:srgbClr val="F5822A"/>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108000" tIns="108000" rIns="108000" bIns="504000" rtlCol="0" anchor="ctr">
            <a:spAutoFit/>
          </a:bodyPr>
          <a:lstStyle/>
          <a:p>
            <a:pPr marL="0" marR="0" lvl="0" indent="0" algn="l" rtl="0">
              <a:lnSpc>
                <a:spcPct val="100000"/>
              </a:lnSpc>
              <a:spcBef>
                <a:spcPts val="0"/>
              </a:spcBef>
              <a:spcAft>
                <a:spcPts val="0"/>
              </a:spcAft>
              <a:buClr>
                <a:srgbClr val="000000"/>
              </a:buClr>
              <a:buSzPts val="1400"/>
              <a:buFont typeface="Arial"/>
              <a:buNone/>
            </a:pPr>
            <a:r>
              <a:rPr lang="en-GB" sz="1600" b="1"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8"/>
                  </a:ext>
                </a:extLst>
              </a:rPr>
              <a:t>Fun </a:t>
            </a:r>
            <a:r>
              <a:rPr lang="en-GB" sz="1600" b="1"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9"/>
                  </a:ext>
                </a:extLst>
              </a:rPr>
              <a:t>fact</a:t>
            </a:r>
            <a:r>
              <a:rPr lang="en-GB" sz="1600" b="1"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0"/>
                  </a:ext>
                </a:extLst>
              </a:rPr>
              <a:t>!</a:t>
            </a:r>
            <a:endParaRPr lang="en-GB" sz="1600" dirty="0">
              <a:solidFill>
                <a:schemeClr val="bg1"/>
              </a:solidFill>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1"/>
                </a:ext>
              </a:extLst>
            </a:endParaRPr>
          </a:p>
          <a:p>
            <a:pPr marL="0" marR="0" lvl="0" indent="0" algn="l" rtl="0">
              <a:lnSpc>
                <a:spcPct val="100000"/>
              </a:lnSpc>
              <a:spcBef>
                <a:spcPts val="0"/>
              </a:spcBef>
              <a:spcAft>
                <a:spcPts val="0"/>
              </a:spcAft>
              <a:buClr>
                <a:srgbClr val="000000"/>
              </a:buClr>
              <a:buSzPts val="1400"/>
              <a:buFont typeface="Arial"/>
              <a:buNone/>
            </a:pPr>
            <a:r>
              <a:rPr lang="en-GB" sz="1600" b="0"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2"/>
                  </a:ext>
                </a:extLst>
              </a:rPr>
              <a:t>Butterflies use a long,</a:t>
            </a:r>
            <a:br>
              <a:rPr lang="en-GB" sz="1600" b="0"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2"/>
                  </a:ext>
                </a:extLst>
              </a:rPr>
            </a:br>
            <a:r>
              <a:rPr lang="en-GB" sz="1600" b="0"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2"/>
                  </a:ext>
                </a:extLst>
              </a:rPr>
              <a:t>curled tube called a </a:t>
            </a:r>
            <a:r>
              <a:rPr lang="en-GB" sz="1600" b="1"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3"/>
                  </a:ext>
                </a:extLst>
              </a:rPr>
              <a:t>proboscis</a:t>
            </a:r>
            <a:br>
              <a:rPr lang="en-GB" sz="1600" b="1"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3"/>
                  </a:ext>
                </a:extLst>
              </a:rPr>
            </a:br>
            <a:r>
              <a:rPr lang="en-GB" sz="1600" b="0"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4"/>
                  </a:ext>
                </a:extLst>
              </a:rPr>
              <a:t>to drink the </a:t>
            </a:r>
            <a:r>
              <a:rPr lang="en-GB" sz="1600" b="1"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5"/>
                  </a:ext>
                </a:extLst>
              </a:rPr>
              <a:t>nectar </a:t>
            </a:r>
            <a:r>
              <a:rPr lang="en-GB" sz="1600" b="0"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6"/>
                  </a:ext>
                </a:extLst>
              </a:rPr>
              <a:t>– it’s a bit</a:t>
            </a:r>
            <a:br>
              <a:rPr lang="en-GB" sz="1600" b="0"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6"/>
                  </a:ext>
                </a:extLst>
              </a:rPr>
            </a:br>
            <a:r>
              <a:rPr lang="en-GB" sz="1600" b="0"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6"/>
                  </a:ext>
                </a:extLst>
              </a:rPr>
              <a:t>like a straw! </a:t>
            </a:r>
            <a:endParaRPr lang="en-GB" sz="1600" b="0" i="0" u="none" strike="noStrike" cap="none" dirty="0">
              <a:solidFill>
                <a:schemeClr val="bg1"/>
              </a:solidFill>
              <a:ea typeface="Arial"/>
              <a:cs typeface="Arial"/>
              <a:sym typeface="Arial"/>
            </a:endParaRPr>
          </a:p>
        </p:txBody>
      </p:sp>
      <p:sp>
        <p:nvSpPr>
          <p:cNvPr id="22" name="Text Box">
            <a:extLst>
              <a:ext uri="{FF2B5EF4-FFF2-40B4-BE49-F238E27FC236}">
                <a16:creationId xmlns:a16="http://schemas.microsoft.com/office/drawing/2014/main" id="{872FA972-A3C4-68C1-1A9F-C79C0CF74396}"/>
              </a:ext>
            </a:extLst>
          </p:cNvPr>
          <p:cNvSpPr/>
          <p:nvPr/>
        </p:nvSpPr>
        <p:spPr>
          <a:xfrm rot="16200000">
            <a:off x="3519392" y="-301054"/>
            <a:ext cx="786143" cy="4783871"/>
          </a:xfrm>
          <a:prstGeom prst="round2SameRect">
            <a:avLst/>
          </a:prstGeom>
          <a:solidFill>
            <a:srgbClr val="FCAF17"/>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wrap="square" lIns="108000" tIns="108000" rIns="108000" bIns="216000" rtlCol="0" anchor="ctr">
            <a:spAutoFit/>
          </a:bodyPr>
          <a:lstStyle/>
          <a:p>
            <a:pPr marL="0" marR="0" lvl="0" indent="0" algn="l" rtl="0">
              <a:lnSpc>
                <a:spcPct val="100000"/>
              </a:lnSpc>
              <a:spcBef>
                <a:spcPts val="0"/>
              </a:spcBef>
              <a:spcAft>
                <a:spcPts val="0"/>
              </a:spcAft>
              <a:buClr>
                <a:srgbClr val="000000"/>
              </a:buClr>
              <a:buSzPts val="2000"/>
              <a:buFont typeface="Arial"/>
              <a:buNone/>
            </a:pPr>
            <a:r>
              <a:rPr lang="en-GB" sz="1600" b="1" i="0" u="none" strike="noStrike" cap="none" dirty="0">
                <a:solidFill>
                  <a:schemeClr val="bg1"/>
                </a:solidFill>
                <a:ea typeface="Roboto"/>
                <a:cs typeface="Roboto"/>
                <a:sym typeface="Roboto"/>
              </a:rPr>
              <a:t>Butterflies </a:t>
            </a:r>
            <a:r>
              <a:rPr lang="en-GB" sz="1600" b="0" i="0" u="none" strike="noStrike" cap="none" dirty="0">
                <a:solidFill>
                  <a:schemeClr val="bg1"/>
                </a:solidFill>
                <a:ea typeface="Roboto"/>
                <a:cs typeface="Roboto"/>
                <a:sym typeface="Roboto"/>
              </a:rPr>
              <a:t>are </a:t>
            </a:r>
            <a:r>
              <a:rPr lang="en-GB" sz="1600" b="0"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6"/>
                  </a:ext>
                </a:extLst>
              </a:rPr>
              <a:t>another </a:t>
            </a:r>
            <a:r>
              <a:rPr lang="en-GB" sz="1600" b="0" i="0" u="none" strike="noStrike" cap="none" dirty="0">
                <a:solidFill>
                  <a:schemeClr val="bg1"/>
                </a:solidFill>
                <a:ea typeface="Roboto"/>
                <a:cs typeface="Roboto"/>
                <a:sym typeface="Roboto"/>
              </a:rPr>
              <a:t>type of </a:t>
            </a:r>
            <a:r>
              <a:rPr lang="en-GB" sz="1600" b="1" i="0" u="none" strike="noStrike" cap="none" dirty="0">
                <a:solidFill>
                  <a:schemeClr val="bg1"/>
                </a:solidFill>
                <a:ea typeface="Roboto"/>
                <a:cs typeface="Roboto"/>
                <a:sym typeface="Roboto"/>
              </a:rPr>
              <a:t>minibeast</a:t>
            </a:r>
            <a:br>
              <a:rPr lang="en-GB" sz="1600" b="1" i="0" u="none" strike="noStrike" cap="none" dirty="0">
                <a:solidFill>
                  <a:schemeClr val="bg1"/>
                </a:solidFill>
                <a:ea typeface="Roboto"/>
                <a:cs typeface="Roboto"/>
                <a:sym typeface="Roboto"/>
              </a:rPr>
            </a:br>
            <a:r>
              <a:rPr lang="en-GB" sz="1600" b="0" i="0" u="none" strike="noStrike" cap="none" dirty="0">
                <a:solidFill>
                  <a:schemeClr val="bg1"/>
                </a:solidFill>
                <a:ea typeface="Roboto"/>
                <a:cs typeface="Roboto"/>
                <a:sym typeface="Roboto"/>
              </a:rPr>
              <a:t>that can help with </a:t>
            </a:r>
            <a:r>
              <a:rPr lang="en-GB" sz="1600" b="1" i="0" u="none" strike="noStrike" cap="none" dirty="0">
                <a:solidFill>
                  <a:schemeClr val="bg1"/>
                </a:solidFill>
                <a:ea typeface="Roboto"/>
                <a:cs typeface="Roboto"/>
                <a:sym typeface="Roboto"/>
              </a:rPr>
              <a:t>pollination</a:t>
            </a:r>
            <a:r>
              <a:rPr lang="en-GB" sz="1600" b="0" i="0" u="none" strike="noStrike" cap="none" dirty="0">
                <a:solidFill>
                  <a:schemeClr val="bg1"/>
                </a:solidFill>
                <a:ea typeface="Roboto"/>
                <a:cs typeface="Roboto"/>
                <a:sym typeface="Roboto"/>
              </a:rPr>
              <a:t>.</a:t>
            </a:r>
            <a:endParaRPr lang="en-GB" sz="1100" b="0" i="0" u="none" strike="noStrike" cap="none" dirty="0">
              <a:solidFill>
                <a:schemeClr val="bg1"/>
              </a:solidFill>
              <a:ea typeface="Arial"/>
              <a:cs typeface="Arial"/>
              <a:sym typeface="Arial"/>
            </a:endParaRPr>
          </a:p>
        </p:txBody>
      </p:sp>
      <p:sp>
        <p:nvSpPr>
          <p:cNvPr id="11" name="Text Box">
            <a:extLst>
              <a:ext uri="{FF2B5EF4-FFF2-40B4-BE49-F238E27FC236}">
                <a16:creationId xmlns:a16="http://schemas.microsoft.com/office/drawing/2014/main" id="{F7062863-7A0E-0007-33C0-20C4527727DA}"/>
              </a:ext>
            </a:extLst>
          </p:cNvPr>
          <p:cNvSpPr/>
          <p:nvPr/>
        </p:nvSpPr>
        <p:spPr>
          <a:xfrm rot="16200000">
            <a:off x="2902114" y="1640433"/>
            <a:ext cx="786143" cy="4360127"/>
          </a:xfrm>
          <a:prstGeom prst="round2SameRect">
            <a:avLst/>
          </a:prstGeom>
          <a:solidFill>
            <a:srgbClr val="FCAF17"/>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wrap="square" lIns="108000" tIns="108000" rIns="108000" bIns="216000" rtlCol="0" anchor="ctr">
            <a:spAutoFit/>
          </a:bodyPr>
          <a:lstStyle/>
          <a:p>
            <a:pPr marL="0" marR="0" lvl="0" indent="0" algn="l" rtl="0">
              <a:lnSpc>
                <a:spcPct val="100000"/>
              </a:lnSpc>
              <a:spcBef>
                <a:spcPts val="0"/>
              </a:spcBef>
              <a:spcAft>
                <a:spcPts val="0"/>
              </a:spcAft>
              <a:buNone/>
            </a:pPr>
            <a:r>
              <a:rPr lang="en-GB" sz="1600" dirty="0">
                <a:solidFill>
                  <a:schemeClr val="bg1"/>
                </a:solidFill>
                <a:ea typeface="Roboto"/>
                <a:cs typeface="Roboto"/>
                <a:sym typeface="Roboto"/>
              </a:rPr>
              <a:t>The </a:t>
            </a:r>
            <a:r>
              <a:rPr lang="en-GB" sz="1600" b="1" i="0" u="none" strike="noStrike" cap="none" dirty="0">
                <a:solidFill>
                  <a:schemeClr val="bg1"/>
                </a:solidFill>
                <a:ea typeface="Roboto"/>
                <a:cs typeface="Roboto"/>
                <a:sym typeface="Roboto"/>
              </a:rPr>
              <a:t>pollen</a:t>
            </a:r>
            <a:r>
              <a:rPr lang="en-GB" sz="1600" b="0" i="0" u="none" strike="noStrike" cap="none" dirty="0">
                <a:solidFill>
                  <a:schemeClr val="bg1"/>
                </a:solidFill>
                <a:ea typeface="Roboto"/>
                <a:cs typeface="Roboto"/>
                <a:sym typeface="Roboto"/>
              </a:rPr>
              <a:t> gets spread to other </a:t>
            </a:r>
            <a:r>
              <a:rPr lang="en-GB" sz="1600" b="1" i="0" u="none" strike="noStrike" cap="none" dirty="0">
                <a:solidFill>
                  <a:schemeClr val="bg1"/>
                </a:solidFill>
                <a:ea typeface="Roboto"/>
                <a:cs typeface="Roboto"/>
                <a:sym typeface="Roboto"/>
              </a:rPr>
              <a:t>flowers</a:t>
            </a:r>
            <a:br>
              <a:rPr lang="en-GB" sz="1600" dirty="0">
                <a:solidFill>
                  <a:schemeClr val="bg1"/>
                </a:solidFill>
                <a:ea typeface="Roboto"/>
                <a:cs typeface="Roboto"/>
                <a:sym typeface="Roboto"/>
              </a:rPr>
            </a:br>
            <a:r>
              <a:rPr lang="en-GB" sz="1600" b="0" i="0" u="none" strike="noStrike" cap="none" dirty="0">
                <a:solidFill>
                  <a:schemeClr val="bg1"/>
                </a:solidFill>
                <a:ea typeface="Roboto"/>
                <a:cs typeface="Roboto"/>
                <a:sym typeface="Roboto"/>
              </a:rPr>
              <a:t>as the butterflies fly to different </a:t>
            </a:r>
            <a:r>
              <a:rPr lang="en-GB" sz="1600" b="0"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7"/>
                  </a:ext>
                </a:extLst>
              </a:rPr>
              <a:t>places.</a:t>
            </a:r>
            <a:endParaRPr lang="en-GB" sz="1600" b="0" i="0" u="none" strike="noStrike" cap="none" dirty="0">
              <a:solidFill>
                <a:schemeClr val="bg1"/>
              </a:solidFill>
              <a:ea typeface="Arial"/>
              <a:cs typeface="Arial"/>
              <a:sym typeface="Arial"/>
            </a:endParaRPr>
          </a:p>
        </p:txBody>
      </p:sp>
      <p:sp>
        <p:nvSpPr>
          <p:cNvPr id="9" name="Text Box">
            <a:extLst>
              <a:ext uri="{FF2B5EF4-FFF2-40B4-BE49-F238E27FC236}">
                <a16:creationId xmlns:a16="http://schemas.microsoft.com/office/drawing/2014/main" id="{2846C63E-52AA-DC1D-3CB2-7142775A4F69}"/>
              </a:ext>
            </a:extLst>
          </p:cNvPr>
          <p:cNvSpPr/>
          <p:nvPr/>
        </p:nvSpPr>
        <p:spPr>
          <a:xfrm rot="16200000">
            <a:off x="2690242" y="554785"/>
            <a:ext cx="786143" cy="4783871"/>
          </a:xfrm>
          <a:prstGeom prst="round2SameRect">
            <a:avLst/>
          </a:prstGeom>
          <a:solidFill>
            <a:srgbClr val="FCAF17"/>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wrap="square" lIns="108000" tIns="108000" rIns="108000" bIns="216000" rtlCol="0" anchor="ctr">
            <a:spAutoFit/>
          </a:bodyPr>
          <a:lstStyle/>
          <a:p>
            <a:pPr marL="0" marR="0" lvl="0" indent="0" algn="l" rtl="0">
              <a:lnSpc>
                <a:spcPct val="100000"/>
              </a:lnSpc>
              <a:spcBef>
                <a:spcPts val="0"/>
              </a:spcBef>
              <a:spcAft>
                <a:spcPts val="0"/>
              </a:spcAft>
              <a:buClr>
                <a:srgbClr val="000000"/>
              </a:buClr>
              <a:buSzPts val="2000"/>
              <a:buFont typeface="Arial"/>
              <a:buNone/>
            </a:pPr>
            <a:r>
              <a:rPr lang="en-GB" sz="1600" b="0" i="0" u="none" strike="noStrike" cap="none" dirty="0">
                <a:solidFill>
                  <a:schemeClr val="bg1"/>
                </a:solidFill>
                <a:ea typeface="Roboto"/>
                <a:cs typeface="Roboto"/>
                <a:sym typeface="Roboto"/>
              </a:rPr>
              <a:t>As</a:t>
            </a:r>
            <a:r>
              <a:rPr lang="en-GB" sz="1600" b="1" i="0" u="none" strike="noStrike" cap="none" dirty="0">
                <a:solidFill>
                  <a:schemeClr val="bg1"/>
                </a:solidFill>
                <a:ea typeface="Roboto"/>
                <a:cs typeface="Roboto"/>
                <a:sym typeface="Roboto"/>
              </a:rPr>
              <a:t> butterflies </a:t>
            </a:r>
            <a:r>
              <a:rPr lang="en-GB" sz="1600" b="0" i="0" u="none" strike="noStrike" cap="none" dirty="0">
                <a:solidFill>
                  <a:schemeClr val="bg1"/>
                </a:solidFill>
                <a:ea typeface="Roboto"/>
                <a:cs typeface="Roboto"/>
                <a:sym typeface="Roboto"/>
              </a:rPr>
              <a:t>feed on </a:t>
            </a:r>
            <a:r>
              <a:rPr lang="en-GB" sz="1600" b="1"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15"/>
                  </a:ext>
                </a:extLst>
              </a:rPr>
              <a:t>nectar</a:t>
            </a:r>
            <a:r>
              <a:rPr lang="en-GB" sz="1600" b="0" i="0" u="none" strike="noStrike" cap="none" dirty="0">
                <a:solidFill>
                  <a:schemeClr val="bg1"/>
                </a:solidFill>
                <a:ea typeface="Roboto"/>
                <a:cs typeface="Roboto"/>
                <a:sym typeface="Roboto"/>
              </a:rPr>
              <a:t> inside some flowers, </a:t>
            </a:r>
            <a:r>
              <a:rPr lang="en-GB" sz="1600" b="1" i="0" u="none" strike="noStrike" cap="none" dirty="0">
                <a:solidFill>
                  <a:schemeClr val="bg1"/>
                </a:solidFill>
                <a:ea typeface="Roboto"/>
                <a:cs typeface="Roboto"/>
                <a:sym typeface="Roboto"/>
              </a:rPr>
              <a:t>pollen</a:t>
            </a:r>
            <a:r>
              <a:rPr lang="en-GB" sz="1600" b="0" i="0" u="none" strike="noStrike" cap="none" dirty="0">
                <a:solidFill>
                  <a:schemeClr val="bg1"/>
                </a:solidFill>
                <a:ea typeface="Roboto"/>
                <a:cs typeface="Roboto"/>
                <a:sym typeface="Roboto"/>
              </a:rPr>
              <a:t> sticks to their legs and bodies.</a:t>
            </a:r>
            <a:endParaRPr lang="en-GB" sz="1600" b="0" i="0" u="none" strike="noStrike" cap="none" dirty="0">
              <a:solidFill>
                <a:schemeClr val="bg1"/>
              </a:solidFill>
              <a:ea typeface="Arial"/>
              <a:cs typeface="Arial"/>
              <a:sym typeface="Arial"/>
            </a:endParaRPr>
          </a:p>
        </p:txBody>
      </p:sp>
      <p:pic>
        <p:nvPicPr>
          <p:cNvPr id="4" name="Picture 3">
            <a:extLst>
              <a:ext uri="{FF2B5EF4-FFF2-40B4-BE49-F238E27FC236}">
                <a16:creationId xmlns:a16="http://schemas.microsoft.com/office/drawing/2014/main" id="{0DD27CB0-E4BB-5305-9570-6315B82634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651992"/>
          </a:xfrm>
          <a:prstGeom prst="rect">
            <a:avLst/>
          </a:prstGeom>
        </p:spPr>
      </p:pic>
      <p:sp>
        <p:nvSpPr>
          <p:cNvPr id="8" name="Title">
            <a:extLst>
              <a:ext uri="{FF2B5EF4-FFF2-40B4-BE49-F238E27FC236}">
                <a16:creationId xmlns:a16="http://schemas.microsoft.com/office/drawing/2014/main" id="{41ED1E5F-C8E2-0FD8-FB11-8BFE54254749}"/>
              </a:ext>
            </a:extLst>
          </p:cNvPr>
          <p:cNvSpPr txBox="1">
            <a:spLocks/>
          </p:cNvSpPr>
          <p:nvPr/>
        </p:nvSpPr>
        <p:spPr>
          <a:xfrm>
            <a:off x="155357" y="340734"/>
            <a:ext cx="3537754" cy="994306"/>
          </a:xfrm>
          <a:prstGeom prst="roundRect">
            <a:avLst>
              <a:gd name="adj" fmla="val 9641"/>
            </a:avLst>
          </a:prstGeom>
          <a:noFill/>
          <a:ln w="25400">
            <a:noFill/>
          </a:ln>
        </p:spPr>
        <p:txBody>
          <a:bodyPr vert="horz" lIns="252000" tIns="252000" rIns="252000" bIns="252000" rtlCol="0" anchor="ctr" anchorCtr="1">
            <a:noAutofit/>
          </a:bodyPr>
          <a:lstStyle>
            <a:lvl1pPr algn="l" defTabSz="914400" rtl="0" eaLnBrk="1" latinLnBrk="0" hangingPunct="1">
              <a:lnSpc>
                <a:spcPct val="90000"/>
              </a:lnSpc>
              <a:spcBef>
                <a:spcPct val="0"/>
              </a:spcBef>
              <a:buNone/>
              <a:defRPr sz="3600" b="1" kern="1200">
                <a:solidFill>
                  <a:srgbClr val="1C1C1C"/>
                </a:solidFill>
                <a:latin typeface="Twinkl" pitchFamily="2" charset="0"/>
                <a:ea typeface="+mj-ea"/>
                <a:cs typeface="+mj-cs"/>
              </a:defRPr>
            </a:lvl1pPr>
          </a:lstStyle>
          <a:p>
            <a:r>
              <a:rPr lang="en-US" dirty="0">
                <a:solidFill>
                  <a:schemeClr val="bg1"/>
                </a:solidFill>
                <a:latin typeface="+mn-lt"/>
              </a:rPr>
              <a:t>Pollinators – Butterflies</a:t>
            </a:r>
            <a:endParaRPr lang="en-GB" dirty="0">
              <a:solidFill>
                <a:schemeClr val="bg1"/>
              </a:solidFill>
              <a:latin typeface="+mn-lt"/>
            </a:endParaRPr>
          </a:p>
        </p:txBody>
      </p:sp>
      <p:pic>
        <p:nvPicPr>
          <p:cNvPr id="2" name="Graphic 1">
            <a:hlinkClick r:id="" action="ppaction://hlinkshowjump?jump=nextslide"/>
            <a:extLst>
              <a:ext uri="{FF2B5EF4-FFF2-40B4-BE49-F238E27FC236}">
                <a16:creationId xmlns:a16="http://schemas.microsoft.com/office/drawing/2014/main" id="{78E9AB7B-4F3A-6467-F2FA-0EF4E9ECBF9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8388350" y="224630"/>
            <a:ext cx="472694" cy="472694"/>
          </a:xfrm>
          <a:prstGeom prst="rect">
            <a:avLst/>
          </a:prstGeom>
        </p:spPr>
      </p:pic>
      <p:pic>
        <p:nvPicPr>
          <p:cNvPr id="7" name="Picture 6">
            <a:extLst>
              <a:ext uri="{FF2B5EF4-FFF2-40B4-BE49-F238E27FC236}">
                <a16:creationId xmlns:a16="http://schemas.microsoft.com/office/drawing/2014/main" id="{0E9DE394-4809-ECC1-A36C-F9775D8FC74E}"/>
              </a:ext>
            </a:extLst>
          </p:cNvPr>
          <p:cNvPicPr>
            <a:picLocks noChangeAspect="1"/>
          </p:cNvPicPr>
          <p:nvPr/>
        </p:nvPicPr>
        <p:blipFill>
          <a:blip r:embed="rId5" cstate="print">
            <a:extLst>
              <a:ext uri="{28A0092B-C50C-407E-A947-70E740481C1C}">
                <a14:useLocalDpi xmlns:a14="http://schemas.microsoft.com/office/drawing/2010/main" val="0"/>
              </a:ext>
            </a:extLst>
          </a:blip>
          <a:srcRect l="26702" r="11349" b="7335"/>
          <a:stretch/>
        </p:blipFill>
        <p:spPr>
          <a:xfrm>
            <a:off x="5084992" y="1361436"/>
            <a:ext cx="3964494" cy="3956712"/>
          </a:xfrm>
          <a:prstGeom prst="ellipse">
            <a:avLst/>
          </a:prstGeom>
          <a:ln w="38100">
            <a:solidFill>
              <a:srgbClr val="FFFFFF"/>
            </a:solidFill>
          </a:ln>
        </p:spPr>
      </p:pic>
      <p:cxnSp>
        <p:nvCxnSpPr>
          <p:cNvPr id="12" name="Straight Arrow Connector 11">
            <a:extLst>
              <a:ext uri="{FF2B5EF4-FFF2-40B4-BE49-F238E27FC236}">
                <a16:creationId xmlns:a16="http://schemas.microsoft.com/office/drawing/2014/main" id="{F35E81ED-552E-6136-861D-1C3985CB3DA0}"/>
              </a:ext>
            </a:extLst>
          </p:cNvPr>
          <p:cNvCxnSpPr>
            <a:cxnSpLocks/>
            <a:stCxn id="13" idx="2"/>
          </p:cNvCxnSpPr>
          <p:nvPr/>
        </p:nvCxnSpPr>
        <p:spPr>
          <a:xfrm>
            <a:off x="5940370" y="1110786"/>
            <a:ext cx="728059" cy="1442862"/>
          </a:xfrm>
          <a:prstGeom prst="straightConnector1">
            <a:avLst/>
          </a:prstGeom>
          <a:ln w="28575">
            <a:solidFill>
              <a:srgbClr val="E94E13"/>
            </a:solidFill>
            <a:tailEnd type="triangle"/>
          </a:ln>
        </p:spPr>
        <p:style>
          <a:lnRef idx="1">
            <a:schemeClr val="accent1"/>
          </a:lnRef>
          <a:fillRef idx="0">
            <a:schemeClr val="accent1"/>
          </a:fillRef>
          <a:effectRef idx="0">
            <a:schemeClr val="accent1"/>
          </a:effectRef>
          <a:fontRef idx="minor">
            <a:schemeClr val="tx1"/>
          </a:fontRef>
        </p:style>
      </p:cxnSp>
      <p:sp>
        <p:nvSpPr>
          <p:cNvPr id="13" name="Text">
            <a:extLst>
              <a:ext uri="{FF2B5EF4-FFF2-40B4-BE49-F238E27FC236}">
                <a16:creationId xmlns:a16="http://schemas.microsoft.com/office/drawing/2014/main" id="{51E67807-E1A6-2F55-96C4-081C925BE32A}"/>
              </a:ext>
            </a:extLst>
          </p:cNvPr>
          <p:cNvSpPr/>
          <p:nvPr/>
        </p:nvSpPr>
        <p:spPr>
          <a:xfrm>
            <a:off x="5426428" y="833787"/>
            <a:ext cx="1027883" cy="276999"/>
          </a:xfrm>
          <a:prstGeom prst="rect">
            <a:avLst/>
          </a:prstGeom>
        </p:spPr>
        <p:txBody>
          <a:bodyPr wrap="square" lIns="0" tIns="0" rIns="0" bIns="0">
            <a:spAutoFit/>
          </a:bodyPr>
          <a:lstStyle/>
          <a:p>
            <a:pPr algn="ctr"/>
            <a:r>
              <a:rPr lang="en-GB" b="1" dirty="0">
                <a:solidFill>
                  <a:srgbClr val="F08215"/>
                </a:solidFill>
              </a:rPr>
              <a:t>proboscis</a:t>
            </a:r>
          </a:p>
        </p:txBody>
      </p:sp>
      <p:cxnSp>
        <p:nvCxnSpPr>
          <p:cNvPr id="14" name="Straight Arrow Connector 13">
            <a:extLst>
              <a:ext uri="{FF2B5EF4-FFF2-40B4-BE49-F238E27FC236}">
                <a16:creationId xmlns:a16="http://schemas.microsoft.com/office/drawing/2014/main" id="{6A651531-B8BB-E92B-B4EB-FB9FBE57BD4A}"/>
              </a:ext>
            </a:extLst>
          </p:cNvPr>
          <p:cNvCxnSpPr>
            <a:cxnSpLocks/>
          </p:cNvCxnSpPr>
          <p:nvPr/>
        </p:nvCxnSpPr>
        <p:spPr>
          <a:xfrm flipV="1">
            <a:off x="6410264" y="2977378"/>
            <a:ext cx="157804" cy="2513652"/>
          </a:xfrm>
          <a:prstGeom prst="straightConnector1">
            <a:avLst/>
          </a:prstGeom>
          <a:ln w="28575">
            <a:solidFill>
              <a:srgbClr val="E94E13"/>
            </a:solidFill>
            <a:tailEnd type="triangle"/>
          </a:ln>
        </p:spPr>
        <p:style>
          <a:lnRef idx="1">
            <a:schemeClr val="accent1"/>
          </a:lnRef>
          <a:fillRef idx="0">
            <a:schemeClr val="accent1"/>
          </a:fillRef>
          <a:effectRef idx="0">
            <a:schemeClr val="accent1"/>
          </a:effectRef>
          <a:fontRef idx="minor">
            <a:schemeClr val="tx1"/>
          </a:fontRef>
        </p:style>
      </p:cxnSp>
      <p:sp>
        <p:nvSpPr>
          <p:cNvPr id="15" name="Text">
            <a:extLst>
              <a:ext uri="{FF2B5EF4-FFF2-40B4-BE49-F238E27FC236}">
                <a16:creationId xmlns:a16="http://schemas.microsoft.com/office/drawing/2014/main" id="{2B55E40A-5717-AC2A-F2FA-3089992F226B}"/>
              </a:ext>
            </a:extLst>
          </p:cNvPr>
          <p:cNvSpPr/>
          <p:nvPr/>
        </p:nvSpPr>
        <p:spPr>
          <a:xfrm>
            <a:off x="5896323" y="5535738"/>
            <a:ext cx="1027883" cy="276999"/>
          </a:xfrm>
          <a:prstGeom prst="rect">
            <a:avLst/>
          </a:prstGeom>
        </p:spPr>
        <p:txBody>
          <a:bodyPr wrap="square" lIns="0" tIns="0" rIns="0" bIns="0">
            <a:spAutoFit/>
          </a:bodyPr>
          <a:lstStyle/>
          <a:p>
            <a:pPr algn="ctr"/>
            <a:r>
              <a:rPr lang="en-GB" b="1" dirty="0">
                <a:solidFill>
                  <a:srgbClr val="F08215"/>
                </a:solidFill>
              </a:rPr>
              <a:t>pollen</a:t>
            </a:r>
          </a:p>
        </p:txBody>
      </p:sp>
      <p:pic>
        <p:nvPicPr>
          <p:cNvPr id="20" name="Picture 19">
            <a:extLst>
              <a:ext uri="{FF2B5EF4-FFF2-40B4-BE49-F238E27FC236}">
                <a16:creationId xmlns:a16="http://schemas.microsoft.com/office/drawing/2014/main" id="{3D194069-F42E-DA22-3518-55D2AD8C761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653450">
            <a:off x="2656874" y="4338944"/>
            <a:ext cx="1196129" cy="916855"/>
          </a:xfrm>
          <a:prstGeom prst="rect">
            <a:avLst/>
          </a:prstGeom>
        </p:spPr>
      </p:pic>
      <p:sp>
        <p:nvSpPr>
          <p:cNvPr id="21" name="Speech Bubble: Oval 20">
            <a:extLst>
              <a:ext uri="{FF2B5EF4-FFF2-40B4-BE49-F238E27FC236}">
                <a16:creationId xmlns:a16="http://schemas.microsoft.com/office/drawing/2014/main" id="{9164B018-A1DD-038F-5143-2FCF9B101ACE}"/>
              </a:ext>
            </a:extLst>
          </p:cNvPr>
          <p:cNvSpPr/>
          <p:nvPr/>
        </p:nvSpPr>
        <p:spPr>
          <a:xfrm>
            <a:off x="3728588" y="4693260"/>
            <a:ext cx="2020195" cy="1389165"/>
          </a:xfrm>
          <a:prstGeom prst="wedgeEllipseCallout">
            <a:avLst>
              <a:gd name="adj1" fmla="val -57831"/>
              <a:gd name="adj2" fmla="val -27614"/>
            </a:avLst>
          </a:prstGeom>
          <a:solidFill>
            <a:schemeClr val="bg1"/>
          </a:solidFill>
          <a:ln w="28575">
            <a:solidFill>
              <a:srgbClr val="F0821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rtl="0">
              <a:lnSpc>
                <a:spcPct val="100000"/>
              </a:lnSpc>
              <a:spcBef>
                <a:spcPts val="0"/>
              </a:spcBef>
              <a:spcAft>
                <a:spcPts val="0"/>
              </a:spcAft>
              <a:buClr>
                <a:srgbClr val="000000"/>
              </a:buClr>
              <a:buSzPts val="1400"/>
              <a:buFont typeface="Arial"/>
              <a:buNone/>
            </a:pPr>
            <a:r>
              <a:rPr lang="en-GB" sz="1600" b="1" dirty="0">
                <a:solidFill>
                  <a:schemeClr val="dk1"/>
                </a:solidFill>
                <a:ea typeface="Roboto"/>
                <a:cs typeface="Roboto"/>
                <a:sym typeface="Roboto"/>
              </a:rPr>
              <a:t>Nectar </a:t>
            </a:r>
            <a:r>
              <a:rPr lang="en-GB" sz="1600" dirty="0">
                <a:solidFill>
                  <a:schemeClr val="dk1"/>
                </a:solidFill>
                <a:ea typeface="Roboto"/>
                <a:cs typeface="Roboto"/>
                <a:sym typeface="Roboto"/>
              </a:rPr>
              <a:t>is a sweet liquid found inside a flower.</a:t>
            </a:r>
          </a:p>
        </p:txBody>
      </p:sp>
    </p:spTree>
    <p:extLst>
      <p:ext uri="{BB962C8B-B14F-4D97-AF65-F5344CB8AC3E}">
        <p14:creationId xmlns:p14="http://schemas.microsoft.com/office/powerpoint/2010/main" val="3228668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out)">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right)">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righ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right)">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47" presetClass="entr" presetSubtype="0" fill="hold" nodeType="click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1000"/>
                                        <p:tgtEl>
                                          <p:spTgt spid="20"/>
                                        </p:tgtEl>
                                      </p:cBhvr>
                                    </p:animEffect>
                                    <p:anim calcmode="lin" valueType="num">
                                      <p:cBhvr>
                                        <p:cTn id="33" dur="1000" fill="hold"/>
                                        <p:tgtEl>
                                          <p:spTgt spid="20"/>
                                        </p:tgtEl>
                                        <p:attrNameLst>
                                          <p:attrName>ppt_x</p:attrName>
                                        </p:attrNameLst>
                                      </p:cBhvr>
                                      <p:tavLst>
                                        <p:tav tm="0">
                                          <p:val>
                                            <p:strVal val="#ppt_x"/>
                                          </p:val>
                                        </p:tav>
                                        <p:tav tm="100000">
                                          <p:val>
                                            <p:strVal val="#ppt_x"/>
                                          </p:val>
                                        </p:tav>
                                      </p:tavLst>
                                    </p:anim>
                                    <p:anim calcmode="lin" valueType="num">
                                      <p:cBhvr>
                                        <p:cTn id="34" dur="1000" fill="hold"/>
                                        <p:tgtEl>
                                          <p:spTgt spid="20"/>
                                        </p:tgtEl>
                                        <p:attrNameLst>
                                          <p:attrName>ppt_y</p:attrName>
                                        </p:attrNameLst>
                                      </p:cBhvr>
                                      <p:tavLst>
                                        <p:tav tm="0">
                                          <p:val>
                                            <p:strVal val="#ppt_y-.1"/>
                                          </p:val>
                                        </p:tav>
                                        <p:tav tm="100000">
                                          <p:val>
                                            <p:strVal val="#ppt_y"/>
                                          </p:val>
                                        </p:tav>
                                      </p:tavLst>
                                    </p:anim>
                                  </p:childTnLst>
                                </p:cTn>
                              </p:par>
                            </p:childTnLst>
                          </p:cTn>
                        </p:par>
                        <p:par>
                          <p:cTn id="35" fill="hold">
                            <p:stCondLst>
                              <p:cond delay="1000"/>
                            </p:stCondLst>
                            <p:childTnLst>
                              <p:par>
                                <p:cTn id="36" presetID="10" presetClass="entr" presetSubtype="0" fill="hold" grpId="0" nodeType="after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childTnLst>
                          </p:cTn>
                        </p:par>
                        <p:par>
                          <p:cTn id="44" fill="hold">
                            <p:stCondLst>
                              <p:cond delay="500"/>
                            </p:stCondLst>
                            <p:childTnLst>
                              <p:par>
                                <p:cTn id="45" presetID="22" presetClass="entr" presetSubtype="4" fill="hold" nodeType="after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wipe(down)">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par>
                          <p:cTn id="53" fill="hold">
                            <p:stCondLst>
                              <p:cond delay="500"/>
                            </p:stCondLst>
                            <p:childTnLst>
                              <p:par>
                                <p:cTn id="54" presetID="22" presetClass="entr" presetSubtype="1" fill="hold" nodeType="after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wipe(up)">
                                      <p:cBhvr>
                                        <p:cTn id="56" dur="500"/>
                                        <p:tgtEl>
                                          <p:spTgt spid="12"/>
                                        </p:tgtEl>
                                      </p:cBhvr>
                                    </p:animEffect>
                                  </p:childTnLst>
                                </p:cTn>
                              </p:par>
                            </p:childTnLst>
                          </p:cTn>
                        </p:par>
                        <p:par>
                          <p:cTn id="57" fill="hold">
                            <p:stCondLst>
                              <p:cond delay="1000"/>
                            </p:stCondLst>
                            <p:childTnLst>
                              <p:par>
                                <p:cTn id="58" presetID="1" presetClass="entr" presetSubtype="0" fill="hold" nodeType="afterEffect">
                                  <p:stCondLst>
                                    <p:cond delay="0"/>
                                  </p:stCondLst>
                                  <p:childTnLst>
                                    <p:set>
                                      <p:cBhvr>
                                        <p:cTn id="59"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2" grpId="0" animBg="1"/>
      <p:bldP spid="11" grpId="0" animBg="1"/>
      <p:bldP spid="9" grpId="0" animBg="1"/>
      <p:bldP spid="13" grpId="0"/>
      <p:bldP spid="15" grpId="0"/>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5CEE39-94B4-633A-528A-40FE4306C397}"/>
            </a:ext>
          </a:extLst>
        </p:cNvPr>
        <p:cNvGrpSpPr/>
        <p:nvPr/>
      </p:nvGrpSpPr>
      <p:grpSpPr>
        <a:xfrm>
          <a:off x="0" y="0"/>
          <a:ext cx="0" cy="0"/>
          <a:chOff x="0" y="0"/>
          <a:chExt cx="0" cy="0"/>
        </a:xfrm>
      </p:grpSpPr>
      <p:sp>
        <p:nvSpPr>
          <p:cNvPr id="17" name="Oval 16">
            <a:extLst>
              <a:ext uri="{FF2B5EF4-FFF2-40B4-BE49-F238E27FC236}">
                <a16:creationId xmlns:a16="http://schemas.microsoft.com/office/drawing/2014/main" id="{E43EDE4B-710D-033E-69A7-0BE30485E47D}"/>
              </a:ext>
            </a:extLst>
          </p:cNvPr>
          <p:cNvSpPr/>
          <p:nvPr/>
        </p:nvSpPr>
        <p:spPr>
          <a:xfrm>
            <a:off x="4325383" y="1650445"/>
            <a:ext cx="2888523" cy="2888523"/>
          </a:xfrm>
          <a:prstGeom prst="ellipse">
            <a:avLst/>
          </a:prstGeom>
          <a:solidFill>
            <a:srgbClr val="F8BD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F6105E34-F4F3-3F8E-9B89-FF45EB263988}"/>
              </a:ext>
            </a:extLst>
          </p:cNvPr>
          <p:cNvSpPr/>
          <p:nvPr/>
        </p:nvSpPr>
        <p:spPr>
          <a:xfrm>
            <a:off x="6343023" y="2311962"/>
            <a:ext cx="2888523" cy="2888523"/>
          </a:xfrm>
          <a:prstGeom prst="ellipse">
            <a:avLst/>
          </a:prstGeom>
          <a:solidFill>
            <a:srgbClr val="F8BD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Box">
            <a:extLst>
              <a:ext uri="{FF2B5EF4-FFF2-40B4-BE49-F238E27FC236}">
                <a16:creationId xmlns:a16="http://schemas.microsoft.com/office/drawing/2014/main" id="{C4676B85-9746-E96D-48DA-3A969446CF7C}"/>
              </a:ext>
            </a:extLst>
          </p:cNvPr>
          <p:cNvSpPr/>
          <p:nvPr/>
        </p:nvSpPr>
        <p:spPr>
          <a:xfrm rot="16200000">
            <a:off x="6554135" y="-809005"/>
            <a:ext cx="786143" cy="4393586"/>
          </a:xfrm>
          <a:prstGeom prst="round2SameRect">
            <a:avLst/>
          </a:prstGeom>
          <a:solidFill>
            <a:srgbClr val="FCAF17"/>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wrap="square" lIns="108000" tIns="108000" rIns="108000" bIns="216000" rtlCol="0" anchor="ctr">
            <a:spAutoFit/>
          </a:bodyPr>
          <a:lstStyle/>
          <a:p>
            <a:pPr marL="0" marR="0" lvl="0" indent="0" algn="l" rtl="0">
              <a:lnSpc>
                <a:spcPct val="100000"/>
              </a:lnSpc>
              <a:spcBef>
                <a:spcPts val="0"/>
              </a:spcBef>
              <a:spcAft>
                <a:spcPts val="0"/>
              </a:spcAft>
              <a:buClr>
                <a:srgbClr val="000000"/>
              </a:buClr>
              <a:buSzPts val="2000"/>
              <a:buFont typeface="Arial"/>
              <a:buNone/>
            </a:pPr>
            <a:r>
              <a:rPr lang="en-GB" sz="1600" b="0" i="0" u="none" strike="noStrike" cap="none" dirty="0">
                <a:solidFill>
                  <a:schemeClr val="bg1"/>
                </a:solidFill>
                <a:ea typeface="Roboto"/>
                <a:cs typeface="Roboto"/>
                <a:sym typeface="Roboto"/>
              </a:rPr>
              <a:t>Sometimes, other </a:t>
            </a:r>
            <a:r>
              <a:rPr lang="en-GB" sz="1600" b="1" i="0" u="none" strike="noStrike" cap="none" dirty="0">
                <a:solidFill>
                  <a:schemeClr val="bg1"/>
                </a:solidFill>
                <a:ea typeface="Roboto"/>
                <a:cs typeface="Roboto"/>
                <a:sym typeface="Roboto"/>
              </a:rPr>
              <a:t>animals</a:t>
            </a:r>
            <a:r>
              <a:rPr lang="en-GB" sz="1600" b="0" i="0" u="none" strike="noStrike" cap="none" dirty="0">
                <a:solidFill>
                  <a:schemeClr val="bg1"/>
                </a:solidFill>
                <a:ea typeface="Roboto"/>
                <a:cs typeface="Roboto"/>
                <a:sym typeface="Roboto"/>
              </a:rPr>
              <a:t> can also help with </a:t>
            </a:r>
            <a:r>
              <a:rPr lang="en-GB" sz="1600" b="1" i="0" u="none" strike="noStrike" cap="none" dirty="0">
                <a:solidFill>
                  <a:schemeClr val="bg1"/>
                </a:solidFill>
                <a:ea typeface="Roboto"/>
                <a:cs typeface="Roboto"/>
                <a:sym typeface="Roboto"/>
              </a:rPr>
              <a:t>pollination.</a:t>
            </a:r>
            <a:endParaRPr lang="en-GB" sz="1600" b="0" i="0" u="none" strike="noStrike" cap="none" dirty="0">
              <a:solidFill>
                <a:schemeClr val="bg1"/>
              </a:solidFill>
              <a:ea typeface="Arial"/>
              <a:cs typeface="Arial"/>
              <a:sym typeface="Arial"/>
            </a:endParaRPr>
          </a:p>
        </p:txBody>
      </p:sp>
      <p:sp>
        <p:nvSpPr>
          <p:cNvPr id="16" name="Oval 15">
            <a:extLst>
              <a:ext uri="{FF2B5EF4-FFF2-40B4-BE49-F238E27FC236}">
                <a16:creationId xmlns:a16="http://schemas.microsoft.com/office/drawing/2014/main" id="{73887E6D-92B7-9409-50F4-70A8B781C29B}"/>
              </a:ext>
            </a:extLst>
          </p:cNvPr>
          <p:cNvSpPr/>
          <p:nvPr/>
        </p:nvSpPr>
        <p:spPr>
          <a:xfrm>
            <a:off x="637992" y="2001698"/>
            <a:ext cx="3514594" cy="3514594"/>
          </a:xfrm>
          <a:prstGeom prst="ellipse">
            <a:avLst/>
          </a:prstGeom>
          <a:solidFill>
            <a:srgbClr val="F8BD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a:extLst>
              <a:ext uri="{FF2B5EF4-FFF2-40B4-BE49-F238E27FC236}">
                <a16:creationId xmlns:a16="http://schemas.microsoft.com/office/drawing/2014/main" id="{D79610A1-A5E4-F70A-FA10-ECEA6D0A1B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651992"/>
          </a:xfrm>
          <a:prstGeom prst="rect">
            <a:avLst/>
          </a:prstGeom>
        </p:spPr>
      </p:pic>
      <p:sp>
        <p:nvSpPr>
          <p:cNvPr id="8" name="Title">
            <a:extLst>
              <a:ext uri="{FF2B5EF4-FFF2-40B4-BE49-F238E27FC236}">
                <a16:creationId xmlns:a16="http://schemas.microsoft.com/office/drawing/2014/main" id="{9D57F8F5-BAA4-C112-3010-5F5BD281BA15}"/>
              </a:ext>
            </a:extLst>
          </p:cNvPr>
          <p:cNvSpPr txBox="1">
            <a:spLocks/>
          </p:cNvSpPr>
          <p:nvPr/>
        </p:nvSpPr>
        <p:spPr>
          <a:xfrm>
            <a:off x="155358" y="340734"/>
            <a:ext cx="3102748" cy="994306"/>
          </a:xfrm>
          <a:prstGeom prst="roundRect">
            <a:avLst>
              <a:gd name="adj" fmla="val 9641"/>
            </a:avLst>
          </a:prstGeom>
          <a:noFill/>
          <a:ln w="25400">
            <a:noFill/>
          </a:ln>
        </p:spPr>
        <p:txBody>
          <a:bodyPr vert="horz" lIns="252000" tIns="252000" rIns="252000" bIns="252000" rtlCol="0" anchor="ctr" anchorCtr="1">
            <a:noAutofit/>
          </a:bodyPr>
          <a:lstStyle>
            <a:lvl1pPr algn="l" defTabSz="914400" rtl="0" eaLnBrk="1" latinLnBrk="0" hangingPunct="1">
              <a:lnSpc>
                <a:spcPct val="90000"/>
              </a:lnSpc>
              <a:spcBef>
                <a:spcPct val="0"/>
              </a:spcBef>
              <a:buNone/>
              <a:defRPr sz="3600" b="1" kern="1200">
                <a:solidFill>
                  <a:srgbClr val="1C1C1C"/>
                </a:solidFill>
                <a:latin typeface="Twinkl" pitchFamily="2" charset="0"/>
                <a:ea typeface="+mj-ea"/>
                <a:cs typeface="+mj-cs"/>
              </a:defRPr>
            </a:lvl1pPr>
          </a:lstStyle>
          <a:p>
            <a:r>
              <a:rPr lang="en-US" dirty="0">
                <a:solidFill>
                  <a:schemeClr val="bg1"/>
                </a:solidFill>
                <a:latin typeface="+mn-lt"/>
              </a:rPr>
              <a:t>Other Pollinators</a:t>
            </a:r>
            <a:endParaRPr lang="en-GB" dirty="0">
              <a:solidFill>
                <a:schemeClr val="bg1"/>
              </a:solidFill>
              <a:latin typeface="+mn-lt"/>
            </a:endParaRPr>
          </a:p>
        </p:txBody>
      </p:sp>
      <p:pic>
        <p:nvPicPr>
          <p:cNvPr id="2" name="Graphic 1">
            <a:hlinkClick r:id="" action="ppaction://hlinkshowjump?jump=nextslide"/>
            <a:extLst>
              <a:ext uri="{FF2B5EF4-FFF2-40B4-BE49-F238E27FC236}">
                <a16:creationId xmlns:a16="http://schemas.microsoft.com/office/drawing/2014/main" id="{AAE89091-E64F-82A2-A079-8B2EFEF08A3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8388350" y="224630"/>
            <a:ext cx="472694" cy="472694"/>
          </a:xfrm>
          <a:prstGeom prst="rect">
            <a:avLst/>
          </a:prstGeom>
        </p:spPr>
      </p:pic>
      <p:pic>
        <p:nvPicPr>
          <p:cNvPr id="9" name="Picture 8">
            <a:extLst>
              <a:ext uri="{FF2B5EF4-FFF2-40B4-BE49-F238E27FC236}">
                <a16:creationId xmlns:a16="http://schemas.microsoft.com/office/drawing/2014/main" id="{E8F2C202-0829-8182-7210-EAED2A2EFF27}"/>
              </a:ext>
            </a:extLst>
          </p:cNvPr>
          <p:cNvPicPr>
            <a:picLocks noChangeAspect="1"/>
          </p:cNvPicPr>
          <p:nvPr/>
        </p:nvPicPr>
        <p:blipFill>
          <a:blip r:embed="rId5" cstate="print">
            <a:extLst>
              <a:ext uri="{28A0092B-C50C-407E-A947-70E740481C1C}">
                <a14:useLocalDpi xmlns:a14="http://schemas.microsoft.com/office/drawing/2010/main" val="0"/>
              </a:ext>
            </a:extLst>
          </a:blip>
          <a:srcRect l="21498" r="11732"/>
          <a:stretch/>
        </p:blipFill>
        <p:spPr>
          <a:xfrm>
            <a:off x="980467" y="2308951"/>
            <a:ext cx="2829644" cy="2824089"/>
          </a:xfrm>
          <a:prstGeom prst="ellipse">
            <a:avLst/>
          </a:prstGeom>
          <a:ln w="38100">
            <a:solidFill>
              <a:srgbClr val="FFFFFF"/>
            </a:solidFill>
          </a:ln>
        </p:spPr>
      </p:pic>
      <p:sp>
        <p:nvSpPr>
          <p:cNvPr id="12" name="Text Box">
            <a:extLst>
              <a:ext uri="{FF2B5EF4-FFF2-40B4-BE49-F238E27FC236}">
                <a16:creationId xmlns:a16="http://schemas.microsoft.com/office/drawing/2014/main" id="{8F2CDF45-BCA4-5A2C-6F04-D66CC8CC8FD3}"/>
              </a:ext>
            </a:extLst>
          </p:cNvPr>
          <p:cNvSpPr/>
          <p:nvPr/>
        </p:nvSpPr>
        <p:spPr>
          <a:xfrm rot="5400000">
            <a:off x="1990109" y="-230946"/>
            <a:ext cx="513728" cy="4493941"/>
          </a:xfrm>
          <a:prstGeom prst="round2SameRect">
            <a:avLst/>
          </a:prstGeom>
          <a:solidFill>
            <a:srgbClr val="F5822A"/>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108000" tIns="108000" rIns="108000" bIns="504000" rtlCol="0" anchor="ctr">
            <a:spAutoFit/>
          </a:bodyPr>
          <a:lstStyle/>
          <a:p>
            <a:pPr marL="0" marR="0" lvl="0" indent="0" algn="l" rtl="0">
              <a:lnSpc>
                <a:spcPct val="100000"/>
              </a:lnSpc>
              <a:spcBef>
                <a:spcPts val="0"/>
              </a:spcBef>
              <a:spcAft>
                <a:spcPts val="0"/>
              </a:spcAft>
              <a:buClr>
                <a:srgbClr val="000000"/>
              </a:buClr>
              <a:buSzPts val="2000"/>
              <a:buFont typeface="Arial"/>
              <a:buNone/>
            </a:pPr>
            <a:r>
              <a:rPr lang="en-GB" sz="1600" b="0" i="0" u="none" strike="noStrike" cap="none" dirty="0">
                <a:solidFill>
                  <a:schemeClr val="bg1"/>
                </a:solidFill>
                <a:ea typeface="Roboto"/>
                <a:cs typeface="Roboto"/>
                <a:sym typeface="Roboto"/>
              </a:rPr>
              <a:t>Some</a:t>
            </a:r>
            <a:r>
              <a:rPr lang="en-GB" sz="1600" b="1" i="0" u="none" strike="noStrike" cap="none" dirty="0">
                <a:solidFill>
                  <a:schemeClr val="bg1"/>
                </a:solidFill>
                <a:ea typeface="Roboto"/>
                <a:cs typeface="Roboto"/>
                <a:sym typeface="Roboto"/>
              </a:rPr>
              <a:t> birds </a:t>
            </a:r>
            <a:r>
              <a:rPr lang="en-GB" sz="1600" b="0" i="0" u="none" strike="noStrike" cap="none" dirty="0">
                <a:solidFill>
                  <a:schemeClr val="bg1"/>
                </a:solidFill>
                <a:ea typeface="Roboto"/>
                <a:cs typeface="Roboto"/>
                <a:sym typeface="Roboto"/>
              </a:rPr>
              <a:t>can help with </a:t>
            </a:r>
            <a:r>
              <a:rPr lang="en-GB" sz="1600" b="1" i="0" u="none" strike="noStrike" cap="none" dirty="0">
                <a:solidFill>
                  <a:schemeClr val="bg1"/>
                </a:solidFill>
                <a:ea typeface="Roboto"/>
                <a:cs typeface="Roboto"/>
                <a:sym typeface="Roboto"/>
              </a:rPr>
              <a:t>pollination</a:t>
            </a:r>
            <a:r>
              <a:rPr lang="en-GB" sz="1600" b="0" i="0" u="none" strike="noStrike" cap="none" dirty="0">
                <a:solidFill>
                  <a:schemeClr val="bg1"/>
                </a:solidFill>
                <a:ea typeface="Roboto"/>
                <a:cs typeface="Roboto"/>
                <a:sym typeface="Roboto"/>
              </a:rPr>
              <a:t>,</a:t>
            </a:r>
            <a:r>
              <a:rPr lang="en-GB" sz="1600" b="1" i="0" u="none" strike="noStrike" cap="none" dirty="0">
                <a:solidFill>
                  <a:schemeClr val="bg1"/>
                </a:solidFill>
                <a:ea typeface="Roboto"/>
                <a:cs typeface="Roboto"/>
                <a:sym typeface="Roboto"/>
              </a:rPr>
              <a:t> </a:t>
            </a:r>
            <a:r>
              <a:rPr lang="en-GB" sz="1600" b="0" i="0" u="none" strike="noStrike" cap="none" dirty="0">
                <a:solidFill>
                  <a:schemeClr val="bg1"/>
                </a:solidFill>
                <a:ea typeface="Roboto"/>
                <a:cs typeface="Roboto"/>
                <a:sym typeface="Roboto"/>
              </a:rPr>
              <a:t>too</a:t>
            </a:r>
            <a:r>
              <a:rPr lang="en-GB" sz="1600" b="1" i="0" u="none" strike="noStrike" cap="none" dirty="0">
                <a:solidFill>
                  <a:schemeClr val="bg1"/>
                </a:solidFill>
                <a:ea typeface="Roboto"/>
                <a:cs typeface="Roboto"/>
                <a:sym typeface="Roboto"/>
              </a:rPr>
              <a:t>.</a:t>
            </a:r>
            <a:endParaRPr lang="en-GB" sz="1200" dirty="0">
              <a:solidFill>
                <a:schemeClr val="bg1"/>
              </a:solidFill>
            </a:endParaRPr>
          </a:p>
        </p:txBody>
      </p:sp>
      <p:sp>
        <p:nvSpPr>
          <p:cNvPr id="13" name="Text Box">
            <a:extLst>
              <a:ext uri="{FF2B5EF4-FFF2-40B4-BE49-F238E27FC236}">
                <a16:creationId xmlns:a16="http://schemas.microsoft.com/office/drawing/2014/main" id="{2F2B2410-F854-16E7-26A2-CA602231A76A}"/>
              </a:ext>
            </a:extLst>
          </p:cNvPr>
          <p:cNvSpPr/>
          <p:nvPr/>
        </p:nvSpPr>
        <p:spPr>
          <a:xfrm rot="5400000">
            <a:off x="1718958" y="3350632"/>
            <a:ext cx="1058558" cy="4491412"/>
          </a:xfrm>
          <a:prstGeom prst="round2SameRect">
            <a:avLst/>
          </a:prstGeom>
          <a:solidFill>
            <a:srgbClr val="F8991F"/>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wrap="square" lIns="108000" tIns="108000" rIns="108000" bIns="504000" rtlCol="0" anchor="ctr">
            <a:spAutoFit/>
          </a:bodyPr>
          <a:lstStyle/>
          <a:p>
            <a:pPr marL="0" marR="0" lvl="0" indent="0" algn="l" rtl="0">
              <a:lnSpc>
                <a:spcPct val="100000"/>
              </a:lnSpc>
              <a:spcBef>
                <a:spcPts val="0"/>
              </a:spcBef>
              <a:spcAft>
                <a:spcPts val="0"/>
              </a:spcAft>
              <a:buClr>
                <a:srgbClr val="000000"/>
              </a:buClr>
              <a:buSzPts val="2000"/>
              <a:buFont typeface="Arial"/>
              <a:buNone/>
            </a:pPr>
            <a:r>
              <a:rPr lang="en-GB" sz="1600" b="0" i="0" u="none" strike="noStrike" cap="none" dirty="0">
                <a:solidFill>
                  <a:schemeClr val="bg1"/>
                </a:solidFill>
                <a:ea typeface="Roboto"/>
                <a:cs typeface="Roboto"/>
                <a:sym typeface="Roboto"/>
              </a:rPr>
              <a:t>For example, </a:t>
            </a:r>
            <a:r>
              <a:rPr lang="en-GB" sz="1600" b="1" i="0" u="none" strike="noStrike" cap="none" dirty="0">
                <a:solidFill>
                  <a:schemeClr val="bg1"/>
                </a:solidFill>
                <a:ea typeface="Roboto"/>
                <a:cs typeface="Roboto"/>
                <a:sym typeface="Roboto"/>
              </a:rPr>
              <a:t>hummingbirds</a:t>
            </a:r>
            <a:r>
              <a:rPr lang="en-GB" sz="1600" b="0" i="0" u="none" strike="noStrike" cap="none" dirty="0">
                <a:solidFill>
                  <a:schemeClr val="bg1"/>
                </a:solidFill>
                <a:ea typeface="Roboto"/>
                <a:cs typeface="Roboto"/>
                <a:sym typeface="Roboto"/>
              </a:rPr>
              <a:t> help to spread </a:t>
            </a:r>
            <a:r>
              <a:rPr lang="en-GB" sz="1600" b="1" i="0" u="none" strike="noStrike" cap="none" dirty="0">
                <a:solidFill>
                  <a:schemeClr val="bg1"/>
                </a:solidFill>
                <a:ea typeface="Roboto"/>
                <a:cs typeface="Roboto"/>
                <a:sym typeface="Roboto"/>
              </a:rPr>
              <a:t>pollen</a:t>
            </a:r>
            <a:r>
              <a:rPr lang="en-GB" sz="1600" b="0" i="0" u="none" strike="noStrike" cap="none" dirty="0">
                <a:solidFill>
                  <a:schemeClr val="bg1"/>
                </a:solidFill>
                <a:ea typeface="Roboto"/>
                <a:cs typeface="Roboto"/>
                <a:sym typeface="Roboto"/>
              </a:rPr>
              <a:t> as they dip their beaks and heads into flowers to drink </a:t>
            </a:r>
            <a:r>
              <a:rPr lang="en-GB" sz="1600" b="1" i="0" u="none" strike="noStrike" cap="none" dirty="0">
                <a:solidFill>
                  <a:schemeClr val="bg1"/>
                </a:solidFill>
                <a:ea typeface="Roboto"/>
                <a:cs typeface="Roboto"/>
                <a:sym typeface="Roboto"/>
              </a:rPr>
              <a:t>nectar.</a:t>
            </a:r>
            <a:endParaRPr lang="en-GB" sz="1200" dirty="0">
              <a:solidFill>
                <a:schemeClr val="bg1"/>
              </a:solidFill>
            </a:endParaRPr>
          </a:p>
        </p:txBody>
      </p:sp>
      <p:pic>
        <p:nvPicPr>
          <p:cNvPr id="10" name="Picture 9">
            <a:extLst>
              <a:ext uri="{FF2B5EF4-FFF2-40B4-BE49-F238E27FC236}">
                <a16:creationId xmlns:a16="http://schemas.microsoft.com/office/drawing/2014/main" id="{8277C5C3-2B4C-A6E9-46E3-84B46E46D723}"/>
              </a:ext>
            </a:extLst>
          </p:cNvPr>
          <p:cNvPicPr>
            <a:picLocks noChangeAspect="1"/>
          </p:cNvPicPr>
          <p:nvPr/>
        </p:nvPicPr>
        <p:blipFill>
          <a:blip r:embed="rId6" cstate="print">
            <a:extLst>
              <a:ext uri="{28A0092B-C50C-407E-A947-70E740481C1C}">
                <a14:useLocalDpi xmlns:a14="http://schemas.microsoft.com/office/drawing/2010/main" val="0"/>
              </a:ext>
            </a:extLst>
          </a:blip>
          <a:srcRect l="16597" r="16597"/>
          <a:stretch/>
        </p:blipFill>
        <p:spPr>
          <a:xfrm>
            <a:off x="6585929" y="2557853"/>
            <a:ext cx="2402713" cy="2397997"/>
          </a:xfrm>
          <a:prstGeom prst="ellipse">
            <a:avLst/>
          </a:prstGeom>
          <a:ln w="38100">
            <a:solidFill>
              <a:srgbClr val="FFFFFF"/>
            </a:solidFill>
          </a:ln>
        </p:spPr>
      </p:pic>
      <p:pic>
        <p:nvPicPr>
          <p:cNvPr id="11" name="Picture 10">
            <a:extLst>
              <a:ext uri="{FF2B5EF4-FFF2-40B4-BE49-F238E27FC236}">
                <a16:creationId xmlns:a16="http://schemas.microsoft.com/office/drawing/2014/main" id="{971A6FAE-D45E-50F1-CA5C-D3EAEA1EBA1F}"/>
              </a:ext>
            </a:extLst>
          </p:cNvPr>
          <p:cNvPicPr>
            <a:picLocks noChangeAspect="1"/>
          </p:cNvPicPr>
          <p:nvPr/>
        </p:nvPicPr>
        <p:blipFill>
          <a:blip r:embed="rId7" cstate="print">
            <a:extLst>
              <a:ext uri="{28A0092B-C50C-407E-A947-70E740481C1C}">
                <a14:useLocalDpi xmlns:a14="http://schemas.microsoft.com/office/drawing/2010/main" val="0"/>
              </a:ext>
            </a:extLst>
          </a:blip>
          <a:srcRect l="40226"/>
          <a:stretch/>
        </p:blipFill>
        <p:spPr>
          <a:xfrm>
            <a:off x="4568289" y="1867389"/>
            <a:ext cx="2402713" cy="2397997"/>
          </a:xfrm>
          <a:prstGeom prst="ellipse">
            <a:avLst/>
          </a:prstGeom>
          <a:ln w="38100">
            <a:solidFill>
              <a:srgbClr val="FFFFFF"/>
            </a:solidFill>
          </a:ln>
        </p:spPr>
      </p:pic>
      <p:sp>
        <p:nvSpPr>
          <p:cNvPr id="15" name="Text Box">
            <a:extLst>
              <a:ext uri="{FF2B5EF4-FFF2-40B4-BE49-F238E27FC236}">
                <a16:creationId xmlns:a16="http://schemas.microsoft.com/office/drawing/2014/main" id="{993597D1-2183-D039-2FD7-4512BD71D77A}"/>
              </a:ext>
            </a:extLst>
          </p:cNvPr>
          <p:cNvSpPr/>
          <p:nvPr/>
        </p:nvSpPr>
        <p:spPr>
          <a:xfrm rot="16200000">
            <a:off x="6417934" y="3399546"/>
            <a:ext cx="1058558" cy="4393585"/>
          </a:xfrm>
          <a:prstGeom prst="round2SameRect">
            <a:avLst/>
          </a:prstGeom>
          <a:solidFill>
            <a:srgbClr val="F5822A"/>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wrap="square" lIns="108000" tIns="108000" rIns="108000" bIns="216000" rtlCol="0" anchor="ctr">
            <a:spAutoFit/>
          </a:bodyPr>
          <a:lstStyle/>
          <a:p>
            <a:pPr marL="0" marR="0" lvl="0" indent="0" algn="l" rtl="0">
              <a:lnSpc>
                <a:spcPct val="100000"/>
              </a:lnSpc>
              <a:spcBef>
                <a:spcPts val="0"/>
              </a:spcBef>
              <a:spcAft>
                <a:spcPts val="0"/>
              </a:spcAft>
              <a:buClr>
                <a:srgbClr val="000000"/>
              </a:buClr>
              <a:buSzPts val="2000"/>
              <a:buFont typeface="Arial"/>
              <a:buNone/>
            </a:pPr>
            <a:r>
              <a:rPr lang="en-GB" sz="1600" b="0" i="0" u="none" strike="noStrike" cap="none" dirty="0">
                <a:solidFill>
                  <a:schemeClr val="bg1"/>
                </a:solidFill>
                <a:ea typeface="Roboto"/>
                <a:cs typeface="Roboto"/>
                <a:sym typeface="Roboto"/>
              </a:rPr>
              <a:t>For example, when lemurs eat the </a:t>
            </a:r>
            <a:r>
              <a:rPr lang="en-GB" sz="1600" b="1" i="0" u="none" strike="noStrike" cap="none" dirty="0">
                <a:solidFill>
                  <a:schemeClr val="bg1"/>
                </a:solidFill>
                <a:ea typeface="Roboto"/>
                <a:cs typeface="Roboto"/>
                <a:sym typeface="Roboto"/>
              </a:rPr>
              <a:t>nectar</a:t>
            </a:r>
            <a:r>
              <a:rPr lang="en-GB" sz="1600" b="0" i="0" u="none" strike="noStrike" cap="none" dirty="0">
                <a:solidFill>
                  <a:schemeClr val="bg1"/>
                </a:solidFill>
                <a:ea typeface="Roboto"/>
                <a:cs typeface="Roboto"/>
                <a:sym typeface="Roboto"/>
              </a:rPr>
              <a:t> i</a:t>
            </a:r>
            <a:r>
              <a:rPr lang="en-GB" sz="1600" b="0"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8"/>
                  </a:ext>
                </a:extLst>
              </a:rPr>
              <a:t>nside some palm flowers, </a:t>
            </a:r>
            <a:r>
              <a:rPr lang="en-GB" sz="1600" b="0" i="0" u="none" strike="noStrike" cap="none" dirty="0">
                <a:solidFill>
                  <a:schemeClr val="bg1"/>
                </a:solidFill>
                <a:ea typeface="Roboto"/>
                <a:cs typeface="Roboto"/>
                <a:sym typeface="Roboto"/>
              </a:rPr>
              <a:t>they get pollen</a:t>
            </a:r>
            <a:br>
              <a:rPr lang="en-GB" sz="1600" b="0" i="0" u="none" strike="noStrike" cap="none" dirty="0">
                <a:solidFill>
                  <a:schemeClr val="bg1"/>
                </a:solidFill>
                <a:ea typeface="Roboto"/>
                <a:cs typeface="Roboto"/>
                <a:sym typeface="Roboto"/>
              </a:rPr>
            </a:br>
            <a:r>
              <a:rPr lang="en-GB" sz="1600" b="0" i="0" u="none" strike="noStrike" cap="none" dirty="0">
                <a:solidFill>
                  <a:schemeClr val="bg1"/>
                </a:solidFill>
                <a:ea typeface="Roboto"/>
                <a:cs typeface="Roboto"/>
                <a:sym typeface="Roboto"/>
              </a:rPr>
              <a:t>on their</a:t>
            </a:r>
            <a:r>
              <a:rPr lang="en-GB" sz="1600" dirty="0">
                <a:solidFill>
                  <a:schemeClr val="bg1"/>
                </a:solidFill>
                <a:ea typeface="Roboto"/>
                <a:cs typeface="Roboto"/>
                <a:sym typeface="Roboto"/>
              </a:rPr>
              <a:t> long </a:t>
            </a:r>
            <a:r>
              <a:rPr lang="en-GB" sz="1600" b="1" i="0" u="none" strike="noStrike" cap="none" dirty="0">
                <a:solidFill>
                  <a:schemeClr val="bg1"/>
                </a:solidFill>
                <a:ea typeface="Roboto"/>
                <a:cs typeface="Roboto"/>
                <a:sym typeface="Roboto"/>
              </a:rPr>
              <a:t>snouts</a:t>
            </a:r>
            <a:r>
              <a:rPr lang="en-GB" sz="1600" b="0" i="0" u="none" strike="noStrike" cap="none" dirty="0">
                <a:solidFill>
                  <a:schemeClr val="bg1"/>
                </a:solidFill>
                <a:ea typeface="Roboto"/>
                <a:cs typeface="Roboto"/>
                <a:sym typeface="Roboto"/>
              </a:rPr>
              <a:t> and </a:t>
            </a:r>
            <a:r>
              <a:rPr lang="en-GB" sz="1600" b="1" i="0" u="none" strike="noStrike" cap="none" dirty="0">
                <a:solidFill>
                  <a:schemeClr val="bg1"/>
                </a:solidFill>
                <a:ea typeface="Roboto"/>
                <a:cs typeface="Roboto"/>
                <a:sym typeface="Roboto"/>
              </a:rPr>
              <a:t>fur.</a:t>
            </a:r>
            <a:endParaRPr lang="en-GB" sz="1600" b="0" i="0" u="none" strike="noStrike" cap="none" dirty="0">
              <a:solidFill>
                <a:schemeClr val="bg1"/>
              </a:solidFill>
              <a:ea typeface="Arial"/>
              <a:cs typeface="Arial"/>
              <a:sym typeface="Arial"/>
            </a:endParaRPr>
          </a:p>
        </p:txBody>
      </p:sp>
    </p:spTree>
    <p:extLst>
      <p:ext uri="{BB962C8B-B14F-4D97-AF65-F5344CB8AC3E}">
        <p14:creationId xmlns:p14="http://schemas.microsoft.com/office/powerpoint/2010/main" val="1247505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par>
                                <p:cTn id="8" presetID="6" presetClass="entr" presetSubtype="32"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circle(out)">
                                      <p:cBhvr>
                                        <p:cTn id="10" dur="1000"/>
                                        <p:tgtEl>
                                          <p:spTgt spid="9"/>
                                        </p:tgtEl>
                                      </p:cBhvr>
                                    </p:animEffect>
                                  </p:childTnLst>
                                </p:cTn>
                              </p:par>
                              <p:par>
                                <p:cTn id="11" presetID="6" presetClass="entr" presetSubtype="32"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circle(out)">
                                      <p:cBhvr>
                                        <p:cTn id="13" dur="10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2"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right)">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32"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circle(out)">
                                      <p:cBhvr>
                                        <p:cTn id="28" dur="1000"/>
                                        <p:tgtEl>
                                          <p:spTgt spid="11"/>
                                        </p:tgtEl>
                                      </p:cBhvr>
                                    </p:animEffect>
                                  </p:childTnLst>
                                </p:cTn>
                              </p:par>
                              <p:par>
                                <p:cTn id="29" presetID="6" presetClass="entr" presetSubtype="32"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circle(out)">
                                      <p:cBhvr>
                                        <p:cTn id="31" dur="1000"/>
                                        <p:tgtEl>
                                          <p:spTgt spid="17"/>
                                        </p:tgtEl>
                                      </p:cBhvr>
                                    </p:animEffect>
                                  </p:childTnLst>
                                </p:cTn>
                              </p:par>
                            </p:childTnLst>
                          </p:cTn>
                        </p:par>
                        <p:par>
                          <p:cTn id="32" fill="hold">
                            <p:stCondLst>
                              <p:cond delay="1000"/>
                            </p:stCondLst>
                            <p:childTnLst>
                              <p:par>
                                <p:cTn id="33" presetID="6" presetClass="entr" presetSubtype="32" fill="hold"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circle(out)">
                                      <p:cBhvr>
                                        <p:cTn id="35" dur="1000"/>
                                        <p:tgtEl>
                                          <p:spTgt spid="10"/>
                                        </p:tgtEl>
                                      </p:cBhvr>
                                    </p:animEffect>
                                  </p:childTnLst>
                                </p:cTn>
                              </p:par>
                              <p:par>
                                <p:cTn id="36" presetID="6" presetClass="entr" presetSubtype="32"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circle(out)">
                                      <p:cBhvr>
                                        <p:cTn id="38" dur="1000"/>
                                        <p:tgtEl>
                                          <p:spTgt spid="18"/>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2"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wipe(right)">
                                      <p:cBhvr>
                                        <p:cTn id="43" dur="500"/>
                                        <p:tgtEl>
                                          <p:spTgt spid="15"/>
                                        </p:tgtEl>
                                      </p:cBhvr>
                                    </p:animEffect>
                                  </p:childTnLst>
                                </p:cTn>
                              </p:par>
                            </p:childTnLst>
                          </p:cTn>
                        </p:par>
                        <p:par>
                          <p:cTn id="44" fill="hold">
                            <p:stCondLst>
                              <p:cond delay="500"/>
                            </p:stCondLst>
                            <p:childTnLst>
                              <p:par>
                                <p:cTn id="45" presetID="1" presetClass="entr" presetSubtype="0" fill="hold" nodeType="afterEffect">
                                  <p:stCondLst>
                                    <p:cond delay="0"/>
                                  </p:stCondLst>
                                  <p:childTnLst>
                                    <p:set>
                                      <p:cBhvr>
                                        <p:cTn id="4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4" grpId="0" animBg="1"/>
      <p:bldP spid="16" grpId="0" animBg="1"/>
      <p:bldP spid="12" grpId="0" animBg="1"/>
      <p:bldP spid="13" grpId="0" animBg="1"/>
      <p:bldP spid="1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048A8-3640-D5FA-C011-2789C50B20B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72DD8B5-421B-1DFF-5427-B76B9539E0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1651992"/>
          </a:xfrm>
          <a:prstGeom prst="rect">
            <a:avLst/>
          </a:prstGeom>
        </p:spPr>
      </p:pic>
      <p:sp>
        <p:nvSpPr>
          <p:cNvPr id="8" name="Title">
            <a:extLst>
              <a:ext uri="{FF2B5EF4-FFF2-40B4-BE49-F238E27FC236}">
                <a16:creationId xmlns:a16="http://schemas.microsoft.com/office/drawing/2014/main" id="{18003196-450A-DDD4-3DE9-36A0EF963224}"/>
              </a:ext>
            </a:extLst>
          </p:cNvPr>
          <p:cNvSpPr txBox="1">
            <a:spLocks/>
          </p:cNvSpPr>
          <p:nvPr/>
        </p:nvSpPr>
        <p:spPr>
          <a:xfrm>
            <a:off x="155357" y="340734"/>
            <a:ext cx="4540929" cy="994306"/>
          </a:xfrm>
          <a:prstGeom prst="roundRect">
            <a:avLst>
              <a:gd name="adj" fmla="val 9641"/>
            </a:avLst>
          </a:prstGeom>
          <a:noFill/>
          <a:ln w="25400">
            <a:noFill/>
          </a:ln>
        </p:spPr>
        <p:txBody>
          <a:bodyPr vert="horz" lIns="252000" tIns="252000" rIns="252000" bIns="252000" rtlCol="0" anchor="ctr" anchorCtr="1">
            <a:noAutofit/>
          </a:bodyPr>
          <a:lstStyle>
            <a:lvl1pPr algn="l" defTabSz="914400" rtl="0" eaLnBrk="1" latinLnBrk="0" hangingPunct="1">
              <a:lnSpc>
                <a:spcPct val="90000"/>
              </a:lnSpc>
              <a:spcBef>
                <a:spcPct val="0"/>
              </a:spcBef>
              <a:buNone/>
              <a:defRPr sz="3600" b="1" kern="1200">
                <a:solidFill>
                  <a:srgbClr val="1C1C1C"/>
                </a:solidFill>
                <a:latin typeface="Twinkl" pitchFamily="2" charset="0"/>
                <a:ea typeface="+mj-ea"/>
                <a:cs typeface="+mj-cs"/>
              </a:defRPr>
            </a:lvl1pPr>
          </a:lstStyle>
          <a:p>
            <a:r>
              <a:rPr lang="en-US" dirty="0">
                <a:solidFill>
                  <a:schemeClr val="bg1"/>
                </a:solidFill>
                <a:latin typeface="+mn-lt"/>
              </a:rPr>
              <a:t>Why Is Pollination Important?</a:t>
            </a:r>
            <a:endParaRPr lang="en-GB" dirty="0">
              <a:solidFill>
                <a:schemeClr val="bg1"/>
              </a:solidFill>
              <a:latin typeface="+mn-lt"/>
            </a:endParaRPr>
          </a:p>
        </p:txBody>
      </p:sp>
      <p:pic>
        <p:nvPicPr>
          <p:cNvPr id="2" name="Graphic 1">
            <a:hlinkClick r:id="" action="ppaction://hlinkshowjump?jump=nextslide"/>
            <a:extLst>
              <a:ext uri="{FF2B5EF4-FFF2-40B4-BE49-F238E27FC236}">
                <a16:creationId xmlns:a16="http://schemas.microsoft.com/office/drawing/2014/main" id="{6ABC1881-CD9D-F877-2D14-2AE9185C616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8388350" y="224630"/>
            <a:ext cx="472694" cy="472694"/>
          </a:xfrm>
          <a:prstGeom prst="rect">
            <a:avLst/>
          </a:prstGeom>
        </p:spPr>
      </p:pic>
      <p:sp>
        <p:nvSpPr>
          <p:cNvPr id="10" name="Text Box">
            <a:extLst>
              <a:ext uri="{FF2B5EF4-FFF2-40B4-BE49-F238E27FC236}">
                <a16:creationId xmlns:a16="http://schemas.microsoft.com/office/drawing/2014/main" id="{4789F305-B970-8ADE-2361-C9C09ECDBB36}"/>
              </a:ext>
            </a:extLst>
          </p:cNvPr>
          <p:cNvSpPr/>
          <p:nvPr/>
        </p:nvSpPr>
        <p:spPr>
          <a:xfrm rot="16200000">
            <a:off x="3265661" y="153618"/>
            <a:ext cx="786143" cy="3974471"/>
          </a:xfrm>
          <a:prstGeom prst="round2SameRect">
            <a:avLst/>
          </a:prstGeom>
          <a:solidFill>
            <a:srgbClr val="F5822A"/>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wrap="square" lIns="108000" tIns="108000" rIns="108000" bIns="216000" rtlCol="0" anchor="ctr">
            <a:spAutoFit/>
          </a:bodyPr>
          <a:lstStyle/>
          <a:p>
            <a:pPr marL="0" marR="0" lvl="0" indent="0" algn="l" rtl="0">
              <a:lnSpc>
                <a:spcPct val="100000"/>
              </a:lnSpc>
              <a:spcBef>
                <a:spcPts val="0"/>
              </a:spcBef>
              <a:spcAft>
                <a:spcPts val="0"/>
              </a:spcAft>
              <a:buClr>
                <a:srgbClr val="000000"/>
              </a:buClr>
              <a:buSzPts val="2000"/>
              <a:buFont typeface="Arial"/>
              <a:buNone/>
            </a:pPr>
            <a:r>
              <a:rPr lang="en-GB" sz="1600" b="1" i="0" u="none" strike="noStrike" cap="none" dirty="0">
                <a:solidFill>
                  <a:schemeClr val="bg1"/>
                </a:solidFill>
                <a:ea typeface="Roboto"/>
                <a:cs typeface="Roboto"/>
                <a:sym typeface="Roboto"/>
              </a:rPr>
              <a:t>Pollination</a:t>
            </a:r>
            <a:r>
              <a:rPr lang="en-GB" sz="1600" b="0" i="0" u="none" strike="noStrike" cap="none" dirty="0">
                <a:solidFill>
                  <a:schemeClr val="bg1"/>
                </a:solidFill>
                <a:ea typeface="Roboto"/>
                <a:cs typeface="Roboto"/>
                <a:sym typeface="Roboto"/>
              </a:rPr>
              <a:t> is important as it helps </a:t>
            </a:r>
            <a:r>
              <a:rPr lang="en-GB" sz="1600" b="1" i="0" u="none" strike="noStrike" cap="none" dirty="0">
                <a:solidFill>
                  <a:schemeClr val="bg1"/>
                </a:solidFill>
                <a:ea typeface="Roboto"/>
                <a:cs typeface="Roboto"/>
                <a:sym typeface="Roboto"/>
              </a:rPr>
              <a:t>plants</a:t>
            </a:r>
            <a:r>
              <a:rPr lang="en-GB" sz="1600" b="0" i="0" u="none" strike="noStrike" cap="none" dirty="0">
                <a:solidFill>
                  <a:schemeClr val="bg1"/>
                </a:solidFill>
                <a:ea typeface="Roboto"/>
                <a:cs typeface="Roboto"/>
                <a:sym typeface="Roboto"/>
              </a:rPr>
              <a:t> grow </a:t>
            </a:r>
            <a:r>
              <a:rPr lang="en-GB" sz="1600" b="1" i="0" u="none" strike="noStrike" cap="none" dirty="0">
                <a:solidFill>
                  <a:schemeClr val="bg1"/>
                </a:solidFill>
                <a:ea typeface="Roboto"/>
                <a:cs typeface="Roboto"/>
                <a:sym typeface="Roboto"/>
              </a:rPr>
              <a:t>seeds</a:t>
            </a:r>
            <a:r>
              <a:rPr lang="en-GB" sz="1600" b="0" i="0" u="none" strike="noStrike" cap="none" dirty="0">
                <a:solidFill>
                  <a:schemeClr val="bg1"/>
                </a:solidFill>
                <a:ea typeface="Roboto"/>
                <a:cs typeface="Roboto"/>
                <a:sym typeface="Roboto"/>
              </a:rPr>
              <a:t> and </a:t>
            </a:r>
            <a:r>
              <a:rPr lang="en-GB" sz="1600" b="1" i="0" u="none" strike="noStrike" cap="none" dirty="0">
                <a:solidFill>
                  <a:schemeClr val="bg1"/>
                </a:solidFill>
                <a:ea typeface="Roboto"/>
                <a:cs typeface="Roboto"/>
                <a:sym typeface="Roboto"/>
              </a:rPr>
              <a:t>fruits</a:t>
            </a:r>
            <a:r>
              <a:rPr lang="en-GB" sz="1600" b="0" i="0" u="none" strike="noStrike" cap="none" dirty="0">
                <a:solidFill>
                  <a:schemeClr val="bg1"/>
                </a:solidFill>
                <a:ea typeface="Roboto"/>
                <a:cs typeface="Roboto"/>
                <a:sym typeface="Roboto"/>
              </a:rPr>
              <a:t>.</a:t>
            </a:r>
            <a:endParaRPr lang="en-GB" sz="1100" b="0" i="0" u="none" strike="noStrike" cap="none" dirty="0">
              <a:solidFill>
                <a:schemeClr val="bg1"/>
              </a:solidFill>
              <a:ea typeface="Arial"/>
              <a:cs typeface="Arial"/>
              <a:sym typeface="Arial"/>
            </a:endParaRPr>
          </a:p>
        </p:txBody>
      </p:sp>
      <p:sp>
        <p:nvSpPr>
          <p:cNvPr id="11" name="Text Box">
            <a:extLst>
              <a:ext uri="{FF2B5EF4-FFF2-40B4-BE49-F238E27FC236}">
                <a16:creationId xmlns:a16="http://schemas.microsoft.com/office/drawing/2014/main" id="{E618F034-967D-F72F-3CD3-9A38E998DFEA}"/>
              </a:ext>
            </a:extLst>
          </p:cNvPr>
          <p:cNvSpPr/>
          <p:nvPr/>
        </p:nvSpPr>
        <p:spPr>
          <a:xfrm rot="16200000">
            <a:off x="3168484" y="1072350"/>
            <a:ext cx="786143" cy="3974471"/>
          </a:xfrm>
          <a:prstGeom prst="round2SameRect">
            <a:avLst/>
          </a:prstGeom>
          <a:solidFill>
            <a:srgbClr val="F5822A"/>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wrap="square" lIns="108000" tIns="108000" rIns="108000" bIns="216000" rtlCol="0" anchor="ctr">
            <a:spAutoFit/>
          </a:bodyPr>
          <a:lstStyle/>
          <a:p>
            <a:pPr marL="0" marR="0" lvl="0" indent="0" algn="l" rtl="0">
              <a:lnSpc>
                <a:spcPct val="100000"/>
              </a:lnSpc>
              <a:spcBef>
                <a:spcPts val="0"/>
              </a:spcBef>
              <a:spcAft>
                <a:spcPts val="0"/>
              </a:spcAft>
              <a:buClr>
                <a:srgbClr val="000000"/>
              </a:buClr>
              <a:buSzPts val="2000"/>
              <a:buFont typeface="Arial"/>
              <a:buNone/>
            </a:pPr>
            <a:r>
              <a:rPr lang="en-GB" sz="1600" b="0" i="0" u="none" strike="noStrike" cap="none" dirty="0">
                <a:solidFill>
                  <a:schemeClr val="bg1"/>
                </a:solidFill>
                <a:ea typeface="Roboto"/>
                <a:cs typeface="Roboto"/>
                <a:sym typeface="Roboto"/>
              </a:rPr>
              <a:t>This includes </a:t>
            </a:r>
            <a:r>
              <a:rPr lang="en-GB" sz="1600" b="0"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9"/>
                  </a:ext>
                </a:extLst>
              </a:rPr>
              <a:t>food for us to eat,</a:t>
            </a:r>
            <a:br>
              <a:rPr lang="en-GB" sz="1600" b="0"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9"/>
                  </a:ext>
                </a:extLst>
              </a:rPr>
            </a:br>
            <a:r>
              <a:rPr lang="en-GB" sz="1600" b="0"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29"/>
                  </a:ext>
                </a:extLst>
              </a:rPr>
              <a:t>such as </a:t>
            </a:r>
            <a:r>
              <a:rPr lang="en-GB" sz="1600"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30"/>
                  </a:ext>
                </a:extLst>
              </a:rPr>
              <a:t>fruits</a:t>
            </a:r>
            <a:r>
              <a:rPr lang="en-GB" sz="1600" b="0"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31"/>
                  </a:ext>
                </a:extLst>
              </a:rPr>
              <a:t> and vegetables. </a:t>
            </a:r>
            <a:endParaRPr lang="en-GB" sz="1600" b="0" i="0" u="none" strike="noStrike" cap="none" dirty="0">
              <a:solidFill>
                <a:schemeClr val="bg1"/>
              </a:solidFill>
              <a:ea typeface="Arial"/>
              <a:cs typeface="Arial"/>
              <a:sym typeface="Arial"/>
            </a:endParaRPr>
          </a:p>
        </p:txBody>
      </p:sp>
      <p:sp>
        <p:nvSpPr>
          <p:cNvPr id="12" name="Text Box">
            <a:extLst>
              <a:ext uri="{FF2B5EF4-FFF2-40B4-BE49-F238E27FC236}">
                <a16:creationId xmlns:a16="http://schemas.microsoft.com/office/drawing/2014/main" id="{59086B23-F0BE-C239-42D8-4F317B8AF0C5}"/>
              </a:ext>
            </a:extLst>
          </p:cNvPr>
          <p:cNvSpPr/>
          <p:nvPr/>
        </p:nvSpPr>
        <p:spPr>
          <a:xfrm rot="16200000">
            <a:off x="3300817" y="1776895"/>
            <a:ext cx="1058558" cy="4685057"/>
          </a:xfrm>
          <a:prstGeom prst="round2SameRect">
            <a:avLst/>
          </a:prstGeom>
          <a:solidFill>
            <a:srgbClr val="F5822A"/>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wrap="square" lIns="108000" tIns="108000" rIns="108000" bIns="216000" rtlCol="0" anchor="ctr">
            <a:spAutoFit/>
          </a:bodyPr>
          <a:lstStyle/>
          <a:p>
            <a:pPr marL="0" marR="0" lvl="0" indent="0" algn="l" rtl="0">
              <a:lnSpc>
                <a:spcPct val="100000"/>
              </a:lnSpc>
              <a:spcBef>
                <a:spcPts val="0"/>
              </a:spcBef>
              <a:spcAft>
                <a:spcPts val="0"/>
              </a:spcAft>
              <a:buNone/>
            </a:pPr>
            <a:r>
              <a:rPr lang="en-GB" sz="1600" b="1" i="0" u="none" strike="noStrike" cap="none" dirty="0">
                <a:solidFill>
                  <a:schemeClr val="bg1"/>
                </a:solidFill>
                <a:ea typeface="Roboto"/>
                <a:cs typeface="Roboto"/>
                <a:sym typeface="Roboto"/>
              </a:rPr>
              <a:t>Pollination</a:t>
            </a:r>
            <a:r>
              <a:rPr lang="en-GB" sz="1600" b="0" i="0" u="none" strike="noStrike" cap="none" dirty="0">
                <a:solidFill>
                  <a:schemeClr val="bg1"/>
                </a:solidFill>
                <a:ea typeface="Roboto"/>
                <a:cs typeface="Roboto"/>
                <a:sym typeface="Roboto"/>
              </a:rPr>
              <a:t> also means that</a:t>
            </a:r>
            <a:br>
              <a:rPr lang="en-GB" sz="1600" b="0" i="0" u="none" strike="noStrike" cap="none" dirty="0">
                <a:solidFill>
                  <a:schemeClr val="bg1"/>
                </a:solidFill>
                <a:ea typeface="Roboto"/>
                <a:cs typeface="Roboto"/>
                <a:sym typeface="Roboto"/>
              </a:rPr>
            </a:br>
            <a:r>
              <a:rPr lang="en-GB" sz="1600" dirty="0">
                <a:solidFill>
                  <a:schemeClr val="bg1"/>
                </a:solidFill>
                <a:ea typeface="Roboto"/>
                <a:cs typeface="Roboto"/>
                <a:sym typeface="Roboto"/>
              </a:rPr>
              <a:t>new </a:t>
            </a:r>
            <a:r>
              <a:rPr lang="en-GB" sz="1600" b="1" i="0" u="none" strike="noStrike" cap="none" dirty="0">
                <a:solidFill>
                  <a:schemeClr val="bg1"/>
                </a:solidFill>
                <a:ea typeface="Roboto"/>
                <a:cs typeface="Roboto"/>
                <a:sym typeface="Roboto"/>
              </a:rPr>
              <a:t>plants</a:t>
            </a:r>
            <a:r>
              <a:rPr lang="en-GB" sz="1600" b="0" i="0" u="none" strike="noStrike" cap="none" dirty="0">
                <a:solidFill>
                  <a:schemeClr val="bg1"/>
                </a:solidFill>
                <a:ea typeface="Roboto"/>
                <a:cs typeface="Roboto"/>
                <a:sym typeface="Roboto"/>
              </a:rPr>
              <a:t> can </a:t>
            </a:r>
            <a:r>
              <a:rPr lang="en-GB" sz="1600" b="1" i="0" u="none" strike="noStrike" cap="none" dirty="0">
                <a:solidFill>
                  <a:schemeClr val="bg1"/>
                </a:solidFill>
                <a:ea typeface="Roboto"/>
                <a:cs typeface="Roboto"/>
                <a:sym typeface="Roboto"/>
              </a:rPr>
              <a:t>grow </a:t>
            </a:r>
            <a:r>
              <a:rPr lang="en-GB" sz="1600" b="0" i="0" u="none" strike="noStrike" cap="none" dirty="0">
                <a:solidFill>
                  <a:schemeClr val="bg1"/>
                </a:solidFill>
                <a:ea typeface="Roboto"/>
                <a:cs typeface="Roboto"/>
                <a:sym typeface="Roboto"/>
              </a:rPr>
              <a:t>in</a:t>
            </a:r>
            <a:br>
              <a:rPr lang="en-GB" sz="1600" b="0" i="0" u="none" strike="noStrike" cap="none" dirty="0">
                <a:solidFill>
                  <a:schemeClr val="bg1"/>
                </a:solidFill>
                <a:ea typeface="Roboto"/>
                <a:cs typeface="Roboto"/>
                <a:sym typeface="Roboto"/>
              </a:rPr>
            </a:br>
            <a:r>
              <a:rPr lang="en-GB" sz="1600" b="0" i="0" u="none" strike="noStrike" cap="none" dirty="0">
                <a:solidFill>
                  <a:schemeClr val="bg1"/>
                </a:solidFill>
                <a:ea typeface="Roboto"/>
                <a:cs typeface="Roboto"/>
                <a:sym typeface="Roboto"/>
              </a:rPr>
              <a:t>different places </a:t>
            </a:r>
            <a:r>
              <a:rPr lang="en-GB" sz="1600" b="0"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32"/>
                  </a:ext>
                </a:extLst>
              </a:rPr>
              <a:t>around the </a:t>
            </a:r>
            <a:r>
              <a:rPr lang="en-GB" sz="1600" i="0" u="none" strike="noStrike" cap="none" dirty="0">
                <a:solidFill>
                  <a:schemeClr val="bg1"/>
                </a:solidFill>
                <a:ea typeface="Roboto"/>
                <a:cs typeface="Roboto"/>
                <a:sym typeface="Robo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33"/>
                  </a:ext>
                </a:extLst>
              </a:rPr>
              <a:t>world. </a:t>
            </a:r>
            <a:endParaRPr lang="en-GB" sz="1600" i="0" u="none" strike="noStrike" cap="none" dirty="0">
              <a:solidFill>
                <a:schemeClr val="bg1"/>
              </a:solidFill>
            </a:endParaRPr>
          </a:p>
        </p:txBody>
      </p:sp>
      <p:pic>
        <p:nvPicPr>
          <p:cNvPr id="9" name="Picture 8">
            <a:extLst>
              <a:ext uri="{FF2B5EF4-FFF2-40B4-BE49-F238E27FC236}">
                <a16:creationId xmlns:a16="http://schemas.microsoft.com/office/drawing/2014/main" id="{D3B6FD14-83EC-C865-FF96-37066D70D73B}"/>
              </a:ext>
            </a:extLst>
          </p:cNvPr>
          <p:cNvPicPr>
            <a:picLocks noChangeAspect="1"/>
          </p:cNvPicPr>
          <p:nvPr/>
        </p:nvPicPr>
        <p:blipFill>
          <a:blip r:embed="rId5" cstate="print">
            <a:extLst>
              <a:ext uri="{28A0092B-C50C-407E-A947-70E740481C1C}">
                <a14:useLocalDpi xmlns:a14="http://schemas.microsoft.com/office/drawing/2010/main" val="0"/>
              </a:ext>
            </a:extLst>
          </a:blip>
          <a:srcRect l="16601" r="16601"/>
          <a:stretch/>
        </p:blipFill>
        <p:spPr>
          <a:xfrm>
            <a:off x="4745172" y="1128692"/>
            <a:ext cx="4806140" cy="4796706"/>
          </a:xfrm>
          <a:prstGeom prst="ellipse">
            <a:avLst/>
          </a:prstGeom>
          <a:ln w="38100">
            <a:solidFill>
              <a:schemeClr val="bg1"/>
            </a:solidFill>
          </a:ln>
        </p:spPr>
      </p:pic>
      <p:pic>
        <p:nvPicPr>
          <p:cNvPr id="13" name="Picture 12">
            <a:extLst>
              <a:ext uri="{FF2B5EF4-FFF2-40B4-BE49-F238E27FC236}">
                <a16:creationId xmlns:a16="http://schemas.microsoft.com/office/drawing/2014/main" id="{0A427D40-EF10-0ECF-3CFB-E8C39837D66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21020566">
            <a:off x="704425" y="4844749"/>
            <a:ext cx="1566282" cy="1410750"/>
          </a:xfrm>
          <a:prstGeom prst="rect">
            <a:avLst/>
          </a:prstGeom>
        </p:spPr>
      </p:pic>
      <p:sp>
        <p:nvSpPr>
          <p:cNvPr id="14" name="Speech Bubble: Oval 13">
            <a:extLst>
              <a:ext uri="{FF2B5EF4-FFF2-40B4-BE49-F238E27FC236}">
                <a16:creationId xmlns:a16="http://schemas.microsoft.com/office/drawing/2014/main" id="{B9CC5100-B86B-E70B-355D-E0AC34688564}"/>
              </a:ext>
            </a:extLst>
          </p:cNvPr>
          <p:cNvSpPr/>
          <p:nvPr/>
        </p:nvSpPr>
        <p:spPr>
          <a:xfrm>
            <a:off x="2572292" y="4830704"/>
            <a:ext cx="2512700" cy="1343681"/>
          </a:xfrm>
          <a:prstGeom prst="wedgeEllipseCallout">
            <a:avLst>
              <a:gd name="adj1" fmla="val -60064"/>
              <a:gd name="adj2" fmla="val -1913"/>
            </a:avLst>
          </a:prstGeom>
          <a:solidFill>
            <a:schemeClr val="bg1"/>
          </a:solidFill>
          <a:ln w="28575">
            <a:solidFill>
              <a:srgbClr val="F08215">
                <a:alpha val="50196"/>
              </a:srgb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rtl="0">
              <a:lnSpc>
                <a:spcPct val="100000"/>
              </a:lnSpc>
              <a:spcBef>
                <a:spcPts val="0"/>
              </a:spcBef>
              <a:spcAft>
                <a:spcPts val="0"/>
              </a:spcAft>
              <a:buClr>
                <a:srgbClr val="000000"/>
              </a:buClr>
              <a:buSzPts val="1400"/>
              <a:buFont typeface="Arial"/>
              <a:buNone/>
            </a:pPr>
            <a:r>
              <a:rPr lang="en-GB" sz="1600" b="0" i="0" u="none" strike="noStrike" cap="none" dirty="0">
                <a:solidFill>
                  <a:schemeClr val="dk1"/>
                </a:solidFill>
                <a:ea typeface="Roboto"/>
                <a:cs typeface="Roboto"/>
                <a:sym typeface="Roboto"/>
              </a:rPr>
              <a:t>I wonder which </a:t>
            </a:r>
            <a:r>
              <a:rPr lang="en-GB" sz="1600" b="1" i="0" u="none" strike="noStrike" cap="none" dirty="0">
                <a:solidFill>
                  <a:schemeClr val="dk1"/>
                </a:solidFill>
                <a:ea typeface="Roboto"/>
                <a:cs typeface="Roboto"/>
                <a:sym typeface="Roboto"/>
              </a:rPr>
              <a:t>pollinators</a:t>
            </a:r>
            <a:r>
              <a:rPr lang="en-GB" sz="1600" b="0" i="0" u="none" strike="noStrike" cap="none" dirty="0">
                <a:solidFill>
                  <a:schemeClr val="dk1"/>
                </a:solidFill>
                <a:ea typeface="Roboto"/>
                <a:cs typeface="Roboto"/>
                <a:sym typeface="Roboto"/>
              </a:rPr>
              <a:t> would visit this garden. </a:t>
            </a:r>
            <a:endParaRPr lang="en-GB" sz="1600" b="0" i="0" u="none" strike="noStrike" cap="none" dirty="0">
              <a:solidFill>
                <a:srgbClr val="000000"/>
              </a:solidFill>
              <a:ea typeface="Arial"/>
              <a:cs typeface="Arial"/>
              <a:sym typeface="Arial"/>
            </a:endParaRPr>
          </a:p>
        </p:txBody>
      </p:sp>
      <p:pic>
        <p:nvPicPr>
          <p:cNvPr id="16" name="Picture 15">
            <a:extLst>
              <a:ext uri="{FF2B5EF4-FFF2-40B4-BE49-F238E27FC236}">
                <a16:creationId xmlns:a16="http://schemas.microsoft.com/office/drawing/2014/main" id="{718BA711-AD0E-7C64-F780-0940679D481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26086" y="1860524"/>
            <a:ext cx="1497452" cy="1247796"/>
          </a:xfrm>
          <a:prstGeom prst="rect">
            <a:avLst/>
          </a:prstGeom>
          <a:effectLst>
            <a:glow rad="63500">
              <a:schemeClr val="bg1"/>
            </a:glow>
          </a:effectLst>
        </p:spPr>
      </p:pic>
    </p:spTree>
    <p:extLst>
      <p:ext uri="{BB962C8B-B14F-4D97-AF65-F5344CB8AC3E}">
        <p14:creationId xmlns:p14="http://schemas.microsoft.com/office/powerpoint/2010/main" val="3221001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ircle(out)">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right)">
                                      <p:cBhvr>
                                        <p:cTn id="12" dur="500"/>
                                        <p:tgtEl>
                                          <p:spTgt spid="10"/>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right)">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wipe(right)">
                                      <p:cBhvr>
                                        <p:cTn id="26" dur="5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1000"/>
                                        <p:tgtEl>
                                          <p:spTgt spid="13"/>
                                        </p:tgtEl>
                                      </p:cBhvr>
                                    </p:animEffect>
                                    <p:anim calcmode="lin" valueType="num">
                                      <p:cBhvr>
                                        <p:cTn id="32" dur="1000" fill="hold"/>
                                        <p:tgtEl>
                                          <p:spTgt spid="13"/>
                                        </p:tgtEl>
                                        <p:attrNameLst>
                                          <p:attrName>ppt_x</p:attrName>
                                        </p:attrNameLst>
                                      </p:cBhvr>
                                      <p:tavLst>
                                        <p:tav tm="0">
                                          <p:val>
                                            <p:strVal val="#ppt_x"/>
                                          </p:val>
                                        </p:tav>
                                        <p:tav tm="100000">
                                          <p:val>
                                            <p:strVal val="#ppt_x"/>
                                          </p:val>
                                        </p:tav>
                                      </p:tavLst>
                                    </p:anim>
                                    <p:anim calcmode="lin" valueType="num">
                                      <p:cBhvr>
                                        <p:cTn id="33" dur="1000" fill="hold"/>
                                        <p:tgtEl>
                                          <p:spTgt spid="13"/>
                                        </p:tgtEl>
                                        <p:attrNameLst>
                                          <p:attrName>ppt_y</p:attrName>
                                        </p:attrNameLst>
                                      </p:cBhvr>
                                      <p:tavLst>
                                        <p:tav tm="0">
                                          <p:val>
                                            <p:strVal val="#ppt_y+.1"/>
                                          </p:val>
                                        </p:tav>
                                        <p:tav tm="100000">
                                          <p:val>
                                            <p:strVal val="#ppt_y"/>
                                          </p:val>
                                        </p:tav>
                                      </p:tavLst>
                                    </p:anim>
                                  </p:childTnLst>
                                </p:cTn>
                              </p:par>
                            </p:childTnLst>
                          </p:cTn>
                        </p:par>
                        <p:par>
                          <p:cTn id="34" fill="hold">
                            <p:stCondLst>
                              <p:cond delay="1000"/>
                            </p:stCondLst>
                            <p:childTnLst>
                              <p:par>
                                <p:cTn id="35" presetID="10" presetClass="entr" presetSubtype="0" fill="hold" grpId="0"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par>
                          <p:cTn id="38" fill="hold">
                            <p:stCondLst>
                              <p:cond delay="1500"/>
                            </p:stCondLst>
                            <p:childTnLst>
                              <p:par>
                                <p:cTn id="39" presetID="1" presetClass="entr" presetSubtype="0" fill="hold" nodeType="afterEffect">
                                  <p:stCondLst>
                                    <p:cond delay="0"/>
                                  </p:stCondLst>
                                  <p:childTnLst>
                                    <p:set>
                                      <p:cBhvr>
                                        <p:cTn id="4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7B997-F819-8B75-580D-7F7F38F8F436}"/>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21B2421B-C0C3-F536-1388-52B43351DAA6}"/>
              </a:ext>
            </a:extLst>
          </p:cNvPr>
          <p:cNvPicPr>
            <a:picLocks noChangeAspect="1"/>
          </p:cNvPicPr>
          <p:nvPr/>
        </p:nvPicPr>
        <p:blipFill>
          <a:blip r:embed="rId2" cstate="print">
            <a:extLst>
              <a:ext uri="{28A0092B-C50C-407E-A947-70E740481C1C}">
                <a14:useLocalDpi xmlns:a14="http://schemas.microsoft.com/office/drawing/2010/main" val="0"/>
              </a:ext>
            </a:extLst>
          </a:blip>
          <a:srcRect l="25246" t="-4084" r="16804" b="11560"/>
          <a:stretch/>
        </p:blipFill>
        <p:spPr>
          <a:xfrm>
            <a:off x="3397132" y="3314575"/>
            <a:ext cx="2889601" cy="2883930"/>
          </a:xfrm>
          <a:prstGeom prst="ellipse">
            <a:avLst/>
          </a:prstGeom>
          <a:ln w="38100">
            <a:solidFill>
              <a:srgbClr val="FFFFFF"/>
            </a:solidFill>
          </a:ln>
        </p:spPr>
      </p:pic>
      <p:pic>
        <p:nvPicPr>
          <p:cNvPr id="4" name="Picture 3">
            <a:extLst>
              <a:ext uri="{FF2B5EF4-FFF2-40B4-BE49-F238E27FC236}">
                <a16:creationId xmlns:a16="http://schemas.microsoft.com/office/drawing/2014/main" id="{C9BA051F-6E9F-60B5-7491-E96EACA4EF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1651992"/>
          </a:xfrm>
          <a:prstGeom prst="rect">
            <a:avLst/>
          </a:prstGeom>
        </p:spPr>
      </p:pic>
      <p:sp>
        <p:nvSpPr>
          <p:cNvPr id="8" name="Title">
            <a:extLst>
              <a:ext uri="{FF2B5EF4-FFF2-40B4-BE49-F238E27FC236}">
                <a16:creationId xmlns:a16="http://schemas.microsoft.com/office/drawing/2014/main" id="{546B1B6C-DBE7-CA21-9858-7A28D2E416F6}"/>
              </a:ext>
            </a:extLst>
          </p:cNvPr>
          <p:cNvSpPr txBox="1">
            <a:spLocks/>
          </p:cNvSpPr>
          <p:nvPr/>
        </p:nvSpPr>
        <p:spPr>
          <a:xfrm>
            <a:off x="155358" y="340734"/>
            <a:ext cx="3102748" cy="994306"/>
          </a:xfrm>
          <a:prstGeom prst="roundRect">
            <a:avLst>
              <a:gd name="adj" fmla="val 9641"/>
            </a:avLst>
          </a:prstGeom>
          <a:noFill/>
          <a:ln w="25400">
            <a:noFill/>
          </a:ln>
        </p:spPr>
        <p:txBody>
          <a:bodyPr vert="horz" lIns="252000" tIns="252000" rIns="252000" bIns="252000" rtlCol="0" anchor="ctr" anchorCtr="1">
            <a:noAutofit/>
          </a:bodyPr>
          <a:lstStyle>
            <a:lvl1pPr algn="l" defTabSz="914400" rtl="0" eaLnBrk="1" latinLnBrk="0" hangingPunct="1">
              <a:lnSpc>
                <a:spcPct val="90000"/>
              </a:lnSpc>
              <a:spcBef>
                <a:spcPct val="0"/>
              </a:spcBef>
              <a:buNone/>
              <a:defRPr sz="3600" b="1" kern="1200">
                <a:solidFill>
                  <a:srgbClr val="1C1C1C"/>
                </a:solidFill>
                <a:latin typeface="Twinkl" pitchFamily="2" charset="0"/>
                <a:ea typeface="+mj-ea"/>
                <a:cs typeface="+mj-cs"/>
              </a:defRPr>
            </a:lvl1pPr>
          </a:lstStyle>
          <a:p>
            <a:r>
              <a:rPr lang="en-US" dirty="0">
                <a:solidFill>
                  <a:schemeClr val="bg1"/>
                </a:solidFill>
                <a:latin typeface="+mn-lt"/>
              </a:rPr>
              <a:t>Helping Pollinators</a:t>
            </a:r>
            <a:endParaRPr lang="en-GB" dirty="0">
              <a:solidFill>
                <a:schemeClr val="bg1"/>
              </a:solidFill>
              <a:latin typeface="+mn-lt"/>
            </a:endParaRPr>
          </a:p>
        </p:txBody>
      </p:sp>
      <p:pic>
        <p:nvPicPr>
          <p:cNvPr id="2" name="Graphic 1">
            <a:hlinkClick r:id="" action="ppaction://hlinkshowjump?jump=nextslide"/>
            <a:extLst>
              <a:ext uri="{FF2B5EF4-FFF2-40B4-BE49-F238E27FC236}">
                <a16:creationId xmlns:a16="http://schemas.microsoft.com/office/drawing/2014/main" id="{F4FF548C-DB57-7DCD-EB59-6E047F92AC8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8388350" y="224630"/>
            <a:ext cx="472694" cy="472694"/>
          </a:xfrm>
          <a:prstGeom prst="rect">
            <a:avLst/>
          </a:prstGeom>
        </p:spPr>
      </p:pic>
      <p:sp>
        <p:nvSpPr>
          <p:cNvPr id="7" name="Text Box">
            <a:extLst>
              <a:ext uri="{FF2B5EF4-FFF2-40B4-BE49-F238E27FC236}">
                <a16:creationId xmlns:a16="http://schemas.microsoft.com/office/drawing/2014/main" id="{E85B441F-BDB9-474C-8EEE-2F0B9F42308B}"/>
              </a:ext>
            </a:extLst>
          </p:cNvPr>
          <p:cNvSpPr/>
          <p:nvPr/>
        </p:nvSpPr>
        <p:spPr>
          <a:xfrm rot="16200000">
            <a:off x="6554135" y="-750723"/>
            <a:ext cx="786143" cy="4393586"/>
          </a:xfrm>
          <a:prstGeom prst="round2SameRect">
            <a:avLst/>
          </a:prstGeom>
          <a:solidFill>
            <a:srgbClr val="FCAF17"/>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wrap="square" lIns="108000" tIns="108000" rIns="108000" bIns="216000" rtlCol="0" anchor="ctr">
            <a:spAutoFit/>
          </a:bodyPr>
          <a:lstStyle/>
          <a:p>
            <a:pPr marL="0" marR="0" lvl="0" indent="0" algn="l" rtl="0">
              <a:lnSpc>
                <a:spcPct val="100000"/>
              </a:lnSpc>
              <a:spcBef>
                <a:spcPts val="0"/>
              </a:spcBef>
              <a:spcAft>
                <a:spcPts val="0"/>
              </a:spcAft>
              <a:buClr>
                <a:srgbClr val="000000"/>
              </a:buClr>
              <a:buSzPts val="2000"/>
              <a:buFont typeface="Arial"/>
              <a:buNone/>
            </a:pPr>
            <a:r>
              <a:rPr lang="en-GB" sz="1600" b="0" i="0" u="none" strike="noStrike" cap="none" dirty="0">
                <a:solidFill>
                  <a:schemeClr val="bg1"/>
                </a:solidFill>
                <a:ea typeface="Roboto"/>
                <a:cs typeface="Roboto"/>
                <a:sym typeface="Roboto"/>
              </a:rPr>
              <a:t>We can help </a:t>
            </a:r>
            <a:r>
              <a:rPr lang="en-GB" sz="1600" b="1" i="0" u="none" strike="noStrike" cap="none" dirty="0">
                <a:solidFill>
                  <a:schemeClr val="bg1"/>
                </a:solidFill>
                <a:ea typeface="Roboto"/>
                <a:cs typeface="Roboto"/>
                <a:sym typeface="Roboto"/>
              </a:rPr>
              <a:t>pollinators</a:t>
            </a:r>
            <a:r>
              <a:rPr lang="en-GB" sz="1600" b="0" i="0" u="none" strike="noStrike" cap="none" dirty="0">
                <a:solidFill>
                  <a:schemeClr val="bg1"/>
                </a:solidFill>
                <a:ea typeface="Roboto"/>
                <a:cs typeface="Roboto"/>
                <a:sym typeface="Roboto"/>
              </a:rPr>
              <a:t>,</a:t>
            </a:r>
            <a:r>
              <a:rPr lang="en-GB" sz="1600" b="1" i="0" u="none" strike="noStrike" cap="none" dirty="0">
                <a:solidFill>
                  <a:schemeClr val="bg1"/>
                </a:solidFill>
                <a:ea typeface="Roboto"/>
                <a:cs typeface="Roboto"/>
                <a:sym typeface="Roboto"/>
              </a:rPr>
              <a:t> </a:t>
            </a:r>
            <a:r>
              <a:rPr lang="en-GB" sz="1600" b="0" i="0" u="none" strike="noStrike" cap="none" dirty="0">
                <a:solidFill>
                  <a:schemeClr val="bg1"/>
                </a:solidFill>
                <a:ea typeface="Roboto"/>
                <a:cs typeface="Roboto"/>
                <a:sym typeface="Roboto"/>
              </a:rPr>
              <a:t>such as bees,</a:t>
            </a:r>
            <a:br>
              <a:rPr lang="en-GB" sz="1600" b="0" i="0" u="none" strike="noStrike" cap="none" dirty="0">
                <a:solidFill>
                  <a:schemeClr val="bg1"/>
                </a:solidFill>
                <a:ea typeface="Roboto"/>
                <a:cs typeface="Roboto"/>
                <a:sym typeface="Roboto"/>
              </a:rPr>
            </a:br>
            <a:r>
              <a:rPr lang="en-GB" sz="1600" b="0" i="0" u="none" strike="noStrike" cap="none" dirty="0">
                <a:solidFill>
                  <a:schemeClr val="bg1"/>
                </a:solidFill>
                <a:ea typeface="Roboto"/>
                <a:cs typeface="Roboto"/>
                <a:sym typeface="Roboto"/>
              </a:rPr>
              <a:t>by planting </a:t>
            </a:r>
            <a:r>
              <a:rPr lang="en-GB" sz="1600" b="1" i="0" u="none" strike="noStrike" cap="none" dirty="0">
                <a:solidFill>
                  <a:schemeClr val="bg1"/>
                </a:solidFill>
                <a:ea typeface="Roboto"/>
                <a:cs typeface="Roboto"/>
                <a:sym typeface="Roboto"/>
              </a:rPr>
              <a:t>seeds</a:t>
            </a:r>
            <a:r>
              <a:rPr lang="en-GB" sz="1600" b="0" i="0" u="none" strike="noStrike" cap="none" dirty="0">
                <a:solidFill>
                  <a:schemeClr val="bg1"/>
                </a:solidFill>
                <a:ea typeface="Roboto"/>
                <a:cs typeface="Roboto"/>
                <a:sym typeface="Roboto"/>
              </a:rPr>
              <a:t> and </a:t>
            </a:r>
            <a:r>
              <a:rPr lang="en-GB" sz="1600" b="1" i="0" u="none" strike="noStrike" cap="none" dirty="0">
                <a:solidFill>
                  <a:schemeClr val="bg1"/>
                </a:solidFill>
                <a:ea typeface="Roboto"/>
                <a:cs typeface="Roboto"/>
                <a:sym typeface="Roboto"/>
              </a:rPr>
              <a:t>flowers.</a:t>
            </a:r>
            <a:endParaRPr lang="en-GB" sz="1100" b="0" i="0" u="none" strike="noStrike" cap="none" dirty="0">
              <a:solidFill>
                <a:schemeClr val="bg1"/>
              </a:solidFill>
              <a:ea typeface="Arial"/>
              <a:cs typeface="Arial"/>
              <a:sym typeface="Arial"/>
            </a:endParaRPr>
          </a:p>
        </p:txBody>
      </p:sp>
      <p:sp>
        <p:nvSpPr>
          <p:cNvPr id="10" name="Text Box">
            <a:extLst>
              <a:ext uri="{FF2B5EF4-FFF2-40B4-BE49-F238E27FC236}">
                <a16:creationId xmlns:a16="http://schemas.microsoft.com/office/drawing/2014/main" id="{195DB841-08E1-468D-7BA9-374CF5C8E8B4}"/>
              </a:ext>
            </a:extLst>
          </p:cNvPr>
          <p:cNvSpPr/>
          <p:nvPr/>
        </p:nvSpPr>
        <p:spPr>
          <a:xfrm rot="16200000">
            <a:off x="6124816" y="410469"/>
            <a:ext cx="786143" cy="5252224"/>
          </a:xfrm>
          <a:prstGeom prst="round2SameRect">
            <a:avLst/>
          </a:prstGeom>
          <a:solidFill>
            <a:srgbClr val="F1884C"/>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wrap="square" lIns="108000" tIns="108000" rIns="108000" bIns="216000" rtlCol="0" anchor="ctr">
            <a:spAutoFit/>
          </a:bodyPr>
          <a:lstStyle/>
          <a:p>
            <a:pPr marL="0" marR="0" lvl="0" indent="0" algn="l" rtl="0">
              <a:lnSpc>
                <a:spcPct val="100000"/>
              </a:lnSpc>
              <a:spcBef>
                <a:spcPts val="0"/>
              </a:spcBef>
              <a:spcAft>
                <a:spcPts val="0"/>
              </a:spcAft>
              <a:buNone/>
            </a:pPr>
            <a:r>
              <a:rPr lang="en-GB" sz="1600" b="0" i="0" u="none" strike="noStrike" cap="none" dirty="0">
                <a:solidFill>
                  <a:schemeClr val="bg1"/>
                </a:solidFill>
                <a:ea typeface="Roboto"/>
                <a:cs typeface="Roboto"/>
                <a:sym typeface="Roboto"/>
              </a:rPr>
              <a:t>Or, plant some flowers in pots at school and watch</a:t>
            </a:r>
            <a:br>
              <a:rPr lang="en-GB" sz="1600" b="0" i="0" u="none" strike="noStrike" cap="none" dirty="0">
                <a:solidFill>
                  <a:schemeClr val="bg1"/>
                </a:solidFill>
                <a:ea typeface="Roboto"/>
                <a:cs typeface="Roboto"/>
                <a:sym typeface="Roboto"/>
              </a:rPr>
            </a:br>
            <a:r>
              <a:rPr lang="en-GB" sz="1600" b="0" i="0" u="none" strike="noStrike" cap="none" dirty="0">
                <a:solidFill>
                  <a:schemeClr val="bg1"/>
                </a:solidFill>
                <a:ea typeface="Roboto"/>
                <a:cs typeface="Roboto"/>
                <a:sym typeface="Roboto"/>
              </a:rPr>
              <a:t>to see if any bees or butterflies come to visit! </a:t>
            </a:r>
            <a:endParaRPr lang="en-GB" sz="1600" b="0" i="0" u="none" strike="noStrike" cap="none" dirty="0">
              <a:solidFill>
                <a:schemeClr val="bg1"/>
              </a:solidFill>
              <a:ea typeface="Arial"/>
              <a:cs typeface="Arial"/>
              <a:sym typeface="Arial"/>
            </a:endParaRPr>
          </a:p>
        </p:txBody>
      </p:sp>
      <p:pic>
        <p:nvPicPr>
          <p:cNvPr id="11" name="Picture 10">
            <a:extLst>
              <a:ext uri="{FF2B5EF4-FFF2-40B4-BE49-F238E27FC236}">
                <a16:creationId xmlns:a16="http://schemas.microsoft.com/office/drawing/2014/main" id="{BCA75048-4AD8-E26E-AC55-EFBE94753F0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590309">
            <a:off x="5594412" y="4887818"/>
            <a:ext cx="1566282" cy="1410750"/>
          </a:xfrm>
          <a:prstGeom prst="rect">
            <a:avLst/>
          </a:prstGeom>
        </p:spPr>
      </p:pic>
      <p:sp>
        <p:nvSpPr>
          <p:cNvPr id="12" name="Speech Bubble: Oval 11">
            <a:extLst>
              <a:ext uri="{FF2B5EF4-FFF2-40B4-BE49-F238E27FC236}">
                <a16:creationId xmlns:a16="http://schemas.microsoft.com/office/drawing/2014/main" id="{89FEF2EE-6963-5D11-C7FD-0CC2FB4F20FA}"/>
              </a:ext>
            </a:extLst>
          </p:cNvPr>
          <p:cNvSpPr/>
          <p:nvPr/>
        </p:nvSpPr>
        <p:spPr>
          <a:xfrm>
            <a:off x="6377553" y="3513986"/>
            <a:ext cx="2402713" cy="1343681"/>
          </a:xfrm>
          <a:prstGeom prst="wedgeEllipseCallout">
            <a:avLst>
              <a:gd name="adj1" fmla="val -36542"/>
              <a:gd name="adj2" fmla="val 60331"/>
            </a:avLst>
          </a:prstGeom>
          <a:solidFill>
            <a:schemeClr val="bg1"/>
          </a:solidFill>
          <a:ln w="28575">
            <a:solidFill>
              <a:srgbClr val="F08215">
                <a:alpha val="50196"/>
              </a:srgb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rtl="0">
              <a:lnSpc>
                <a:spcPct val="100000"/>
              </a:lnSpc>
              <a:spcBef>
                <a:spcPts val="0"/>
              </a:spcBef>
              <a:spcAft>
                <a:spcPts val="0"/>
              </a:spcAft>
              <a:buClr>
                <a:srgbClr val="000000"/>
              </a:buClr>
              <a:buSzPts val="1400"/>
              <a:buFont typeface="Arial"/>
              <a:buNone/>
            </a:pPr>
            <a:r>
              <a:rPr lang="en-GB" sz="1600" dirty="0">
                <a:solidFill>
                  <a:schemeClr val="dk1"/>
                </a:solidFill>
                <a:ea typeface="Roboto"/>
                <a:cs typeface="Roboto"/>
                <a:sym typeface="Roboto"/>
              </a:rPr>
              <a:t>M</a:t>
            </a:r>
            <a:r>
              <a:rPr lang="en-GB" sz="1600" b="0" i="0" u="none" strike="noStrike" cap="none" dirty="0">
                <a:solidFill>
                  <a:schemeClr val="dk1"/>
                </a:solidFill>
                <a:ea typeface="Roboto"/>
                <a:cs typeface="Roboto"/>
                <a:sym typeface="Roboto"/>
              </a:rPr>
              <a:t>y butterfly friends and I love </a:t>
            </a:r>
            <a:r>
              <a:rPr lang="en-GB" sz="1600" b="1" i="0" u="none" strike="noStrike" cap="none" dirty="0">
                <a:solidFill>
                  <a:schemeClr val="dk1"/>
                </a:solidFill>
                <a:ea typeface="Roboto"/>
                <a:cs typeface="Roboto"/>
                <a:sym typeface="Roboto"/>
              </a:rPr>
              <a:t>marigold</a:t>
            </a:r>
            <a:r>
              <a:rPr lang="en-GB" sz="1600" b="0" i="0" u="none" strike="noStrike" cap="none" dirty="0">
                <a:solidFill>
                  <a:schemeClr val="dk1"/>
                </a:solidFill>
                <a:ea typeface="Roboto"/>
                <a:cs typeface="Roboto"/>
                <a:sym typeface="Roboto"/>
              </a:rPr>
              <a:t> and </a:t>
            </a:r>
            <a:r>
              <a:rPr lang="en-GB" sz="1600" b="1" i="0" u="none" strike="noStrike" cap="none" dirty="0">
                <a:solidFill>
                  <a:schemeClr val="dk1"/>
                </a:solidFill>
                <a:ea typeface="Roboto"/>
                <a:cs typeface="Roboto"/>
                <a:sym typeface="Roboto"/>
              </a:rPr>
              <a:t>cosmos</a:t>
            </a:r>
            <a:r>
              <a:rPr lang="en-GB" sz="1600" b="0" i="0" u="none" strike="noStrike" cap="none" dirty="0">
                <a:solidFill>
                  <a:schemeClr val="dk1"/>
                </a:solidFill>
                <a:ea typeface="Roboto"/>
                <a:cs typeface="Roboto"/>
                <a:sym typeface="Roboto"/>
              </a:rPr>
              <a:t> flowers. </a:t>
            </a:r>
            <a:endParaRPr lang="en-GB" sz="1600" b="0" i="0" u="none" strike="noStrike" cap="none" dirty="0">
              <a:solidFill>
                <a:srgbClr val="000000"/>
              </a:solidFill>
              <a:ea typeface="Arial"/>
              <a:cs typeface="Arial"/>
              <a:sym typeface="Arial"/>
            </a:endParaRPr>
          </a:p>
        </p:txBody>
      </p:sp>
      <p:sp>
        <p:nvSpPr>
          <p:cNvPr id="13" name="Text Box">
            <a:extLst>
              <a:ext uri="{FF2B5EF4-FFF2-40B4-BE49-F238E27FC236}">
                <a16:creationId xmlns:a16="http://schemas.microsoft.com/office/drawing/2014/main" id="{A280530E-6D06-46D8-7668-67CA040F4F76}"/>
              </a:ext>
            </a:extLst>
          </p:cNvPr>
          <p:cNvSpPr/>
          <p:nvPr/>
        </p:nvSpPr>
        <p:spPr>
          <a:xfrm rot="16200000">
            <a:off x="6168105" y="-482995"/>
            <a:ext cx="513728" cy="5445528"/>
          </a:xfrm>
          <a:prstGeom prst="round2SameRect">
            <a:avLst/>
          </a:prstGeom>
          <a:solidFill>
            <a:srgbClr val="F8991F"/>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wrap="square" lIns="108000" tIns="108000" rIns="108000" bIns="216000" rtlCol="0" anchor="ctr">
            <a:spAutoFit/>
          </a:bodyPr>
          <a:lstStyle/>
          <a:p>
            <a:pPr marL="0" marR="0" lvl="0" indent="0" algn="l" rtl="0">
              <a:lnSpc>
                <a:spcPct val="100000"/>
              </a:lnSpc>
              <a:spcBef>
                <a:spcPts val="0"/>
              </a:spcBef>
              <a:spcAft>
                <a:spcPts val="0"/>
              </a:spcAft>
              <a:buClr>
                <a:srgbClr val="000000"/>
              </a:buClr>
              <a:buSzPts val="2000"/>
              <a:buFont typeface="Arial"/>
              <a:buNone/>
            </a:pPr>
            <a:r>
              <a:rPr lang="en-GB" sz="1600" b="0" i="0" u="none" strike="noStrike" cap="none" dirty="0">
                <a:solidFill>
                  <a:schemeClr val="bg1"/>
                </a:solidFill>
                <a:latin typeface="+mj-lt"/>
                <a:ea typeface="Roboto"/>
                <a:cs typeface="Roboto"/>
                <a:sym typeface="Roboto"/>
              </a:rPr>
              <a:t>You could plant some </a:t>
            </a:r>
            <a:r>
              <a:rPr lang="en-GB" sz="1600" b="1" i="0" u="none" strike="noStrike" cap="none" dirty="0">
                <a:solidFill>
                  <a:schemeClr val="bg1"/>
                </a:solidFill>
                <a:latin typeface="+mj-lt"/>
                <a:ea typeface="Roboto"/>
                <a:cs typeface="Roboto"/>
                <a:sym typeface="Roboto"/>
              </a:rPr>
              <a:t>wildflower</a:t>
            </a:r>
            <a:r>
              <a:rPr lang="en-GB" sz="1600" b="0" i="0" u="none" strike="noStrike" cap="none" dirty="0">
                <a:solidFill>
                  <a:schemeClr val="bg1"/>
                </a:solidFill>
                <a:latin typeface="+mj-lt"/>
                <a:ea typeface="Roboto"/>
                <a:cs typeface="Roboto"/>
                <a:sym typeface="Roboto"/>
              </a:rPr>
              <a:t> seeds in your garden.</a:t>
            </a:r>
            <a:endParaRPr lang="en-GB" sz="1600" b="0" i="0" u="none" strike="noStrike" cap="none" dirty="0">
              <a:solidFill>
                <a:schemeClr val="bg1"/>
              </a:solidFill>
              <a:latin typeface="+mj-lt"/>
              <a:ea typeface="Arial"/>
              <a:cs typeface="Arial"/>
              <a:sym typeface="Arial"/>
            </a:endParaRPr>
          </a:p>
        </p:txBody>
      </p:sp>
      <p:pic>
        <p:nvPicPr>
          <p:cNvPr id="14" name="Picture 13">
            <a:extLst>
              <a:ext uri="{FF2B5EF4-FFF2-40B4-BE49-F238E27FC236}">
                <a16:creationId xmlns:a16="http://schemas.microsoft.com/office/drawing/2014/main" id="{AB8F45E7-9BE0-8C78-5CF4-1EA355C86BB5}"/>
              </a:ext>
            </a:extLst>
          </p:cNvPr>
          <p:cNvPicPr>
            <a:picLocks noChangeAspect="1"/>
          </p:cNvPicPr>
          <p:nvPr/>
        </p:nvPicPr>
        <p:blipFill>
          <a:blip r:embed="rId7" cstate="print">
            <a:extLst>
              <a:ext uri="{28A0092B-C50C-407E-A947-70E740481C1C}">
                <a14:useLocalDpi xmlns:a14="http://schemas.microsoft.com/office/drawing/2010/main" val="0"/>
              </a:ext>
            </a:extLst>
          </a:blip>
          <a:srcRect l="17977" r="17977"/>
          <a:stretch/>
        </p:blipFill>
        <p:spPr>
          <a:xfrm>
            <a:off x="368505" y="1603912"/>
            <a:ext cx="2889601" cy="2883930"/>
          </a:xfrm>
          <a:prstGeom prst="ellipse">
            <a:avLst/>
          </a:prstGeom>
          <a:ln w="38100">
            <a:solidFill>
              <a:srgbClr val="FFFFFF"/>
            </a:solidFill>
          </a:ln>
        </p:spPr>
      </p:pic>
      <p:sp>
        <p:nvSpPr>
          <p:cNvPr id="16" name="Speech Bubble: Oval 15">
            <a:extLst>
              <a:ext uri="{FF2B5EF4-FFF2-40B4-BE49-F238E27FC236}">
                <a16:creationId xmlns:a16="http://schemas.microsoft.com/office/drawing/2014/main" id="{4B1DB18E-1C81-5BED-4FDF-BF90DD0F8A68}"/>
              </a:ext>
            </a:extLst>
          </p:cNvPr>
          <p:cNvSpPr/>
          <p:nvPr/>
        </p:nvSpPr>
        <p:spPr>
          <a:xfrm>
            <a:off x="692759" y="4608546"/>
            <a:ext cx="1938929" cy="1343681"/>
          </a:xfrm>
          <a:prstGeom prst="wedgeEllipseCallout">
            <a:avLst>
              <a:gd name="adj1" fmla="val 44213"/>
              <a:gd name="adj2" fmla="val -51706"/>
            </a:avLst>
          </a:prstGeom>
          <a:solidFill>
            <a:schemeClr val="bg1"/>
          </a:solidFill>
          <a:ln w="28575">
            <a:solidFill>
              <a:srgbClr val="F08215">
                <a:alpha val="50196"/>
              </a:srgb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rtl="0">
              <a:lnSpc>
                <a:spcPct val="100000"/>
              </a:lnSpc>
              <a:spcBef>
                <a:spcPts val="0"/>
              </a:spcBef>
              <a:spcAft>
                <a:spcPts val="0"/>
              </a:spcAft>
              <a:buClr>
                <a:srgbClr val="000000"/>
              </a:buClr>
              <a:buSzPts val="1400"/>
              <a:buFont typeface="Arial"/>
              <a:buNone/>
            </a:pPr>
            <a:r>
              <a:rPr lang="en-GB" sz="1600" dirty="0">
                <a:solidFill>
                  <a:schemeClr val="dk1"/>
                </a:solidFill>
                <a:ea typeface="Roboto"/>
                <a:cs typeface="Roboto"/>
                <a:sym typeface="Roboto"/>
              </a:rPr>
              <a:t>M</a:t>
            </a:r>
            <a:r>
              <a:rPr lang="en-GB" sz="1600" b="0" i="0" u="none" strike="noStrike" cap="none" dirty="0">
                <a:solidFill>
                  <a:schemeClr val="dk1"/>
                </a:solidFill>
                <a:ea typeface="Roboto"/>
                <a:cs typeface="Roboto"/>
                <a:sym typeface="Roboto"/>
              </a:rPr>
              <a:t>y bee friends and I love </a:t>
            </a:r>
            <a:r>
              <a:rPr lang="en-GB" sz="1600" b="1" i="0" u="none" strike="noStrike" cap="none" dirty="0">
                <a:solidFill>
                  <a:schemeClr val="dk1"/>
                </a:solidFill>
                <a:ea typeface="Roboto"/>
                <a:cs typeface="Roboto"/>
                <a:sym typeface="Roboto"/>
              </a:rPr>
              <a:t>lavender</a:t>
            </a:r>
            <a:r>
              <a:rPr lang="en-GB" sz="1600" b="0" i="0" u="none" strike="noStrike" cap="none" dirty="0">
                <a:solidFill>
                  <a:schemeClr val="dk1"/>
                </a:solidFill>
                <a:ea typeface="Roboto"/>
                <a:cs typeface="Roboto"/>
                <a:sym typeface="Roboto"/>
              </a:rPr>
              <a:t> and </a:t>
            </a:r>
            <a:r>
              <a:rPr lang="en-GB" sz="1600" b="1" i="0" u="none" strike="noStrike" cap="none" dirty="0">
                <a:solidFill>
                  <a:schemeClr val="dk1"/>
                </a:solidFill>
                <a:ea typeface="Roboto"/>
                <a:cs typeface="Roboto"/>
                <a:sym typeface="Roboto"/>
              </a:rPr>
              <a:t>mint</a:t>
            </a:r>
            <a:r>
              <a:rPr lang="en-GB" sz="1600" b="0" i="0" u="none" strike="noStrike" cap="none" dirty="0">
                <a:solidFill>
                  <a:schemeClr val="dk1"/>
                </a:solidFill>
                <a:ea typeface="Roboto"/>
                <a:cs typeface="Roboto"/>
                <a:sym typeface="Roboto"/>
              </a:rPr>
              <a:t>. </a:t>
            </a:r>
            <a:endParaRPr lang="en-GB" sz="1600" b="0" i="0" u="none" strike="noStrike" cap="none" dirty="0">
              <a:solidFill>
                <a:srgbClr val="000000"/>
              </a:solidFill>
              <a:ea typeface="Arial"/>
              <a:cs typeface="Arial"/>
              <a:sym typeface="Arial"/>
            </a:endParaRPr>
          </a:p>
        </p:txBody>
      </p:sp>
      <p:pic>
        <p:nvPicPr>
          <p:cNvPr id="17" name="Picture 16">
            <a:extLst>
              <a:ext uri="{FF2B5EF4-FFF2-40B4-BE49-F238E27FC236}">
                <a16:creationId xmlns:a16="http://schemas.microsoft.com/office/drawing/2014/main" id="{0C583033-0E57-D5F4-A7C1-EF34DF8E88D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rot="653450">
            <a:off x="2217818" y="3675025"/>
            <a:ext cx="1196129" cy="916855"/>
          </a:xfrm>
          <a:prstGeom prst="rect">
            <a:avLst/>
          </a:prstGeom>
        </p:spPr>
      </p:pic>
    </p:spTree>
    <p:extLst>
      <p:ext uri="{BB962C8B-B14F-4D97-AF65-F5344CB8AC3E}">
        <p14:creationId xmlns:p14="http://schemas.microsoft.com/office/powerpoint/2010/main" val="3785565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right)">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righ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47" presetClass="entr" presetSubtype="0"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1000"/>
                                        <p:tgtEl>
                                          <p:spTgt spid="17"/>
                                        </p:tgtEl>
                                      </p:cBhvr>
                                    </p:animEffect>
                                    <p:anim calcmode="lin" valueType="num">
                                      <p:cBhvr>
                                        <p:cTn id="23" dur="1000" fill="hold"/>
                                        <p:tgtEl>
                                          <p:spTgt spid="17"/>
                                        </p:tgtEl>
                                        <p:attrNameLst>
                                          <p:attrName>ppt_x</p:attrName>
                                        </p:attrNameLst>
                                      </p:cBhvr>
                                      <p:tavLst>
                                        <p:tav tm="0">
                                          <p:val>
                                            <p:strVal val="#ppt_x"/>
                                          </p:val>
                                        </p:tav>
                                        <p:tav tm="100000">
                                          <p:val>
                                            <p:strVal val="#ppt_x"/>
                                          </p:val>
                                        </p:tav>
                                      </p:tavLst>
                                    </p:anim>
                                    <p:anim calcmode="lin" valueType="num">
                                      <p:cBhvr>
                                        <p:cTn id="24" dur="1000" fill="hold"/>
                                        <p:tgtEl>
                                          <p:spTgt spid="17"/>
                                        </p:tgtEl>
                                        <p:attrNameLst>
                                          <p:attrName>ppt_y</p:attrName>
                                        </p:attrNameLst>
                                      </p:cBhvr>
                                      <p:tavLst>
                                        <p:tav tm="0">
                                          <p:val>
                                            <p:strVal val="#ppt_y-.1"/>
                                          </p:val>
                                        </p:tav>
                                        <p:tav tm="100000">
                                          <p:val>
                                            <p:strVal val="#ppt_y"/>
                                          </p:val>
                                        </p:tav>
                                      </p:tavLst>
                                    </p:anim>
                                  </p:childTnLst>
                                </p:cTn>
                              </p:par>
                            </p:childTnLst>
                          </p:cTn>
                        </p:par>
                        <p:par>
                          <p:cTn id="25" fill="hold">
                            <p:stCondLst>
                              <p:cond delay="1000"/>
                            </p:stCondLst>
                            <p:childTnLst>
                              <p:par>
                                <p:cTn id="26" presetID="10" presetClass="entr" presetSubtype="0" fill="hold" grpId="0" nodeType="after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par>
                                <p:cTn id="29" presetID="6" presetClass="entr" presetSubtype="32"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circle(out)">
                                      <p:cBhvr>
                                        <p:cTn id="31" dur="10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1000"/>
                                        <p:tgtEl>
                                          <p:spTgt spid="11"/>
                                        </p:tgtEl>
                                      </p:cBhvr>
                                    </p:animEffect>
                                    <p:anim calcmode="lin" valueType="num">
                                      <p:cBhvr>
                                        <p:cTn id="37" dur="1000" fill="hold"/>
                                        <p:tgtEl>
                                          <p:spTgt spid="11"/>
                                        </p:tgtEl>
                                        <p:attrNameLst>
                                          <p:attrName>ppt_x</p:attrName>
                                        </p:attrNameLst>
                                      </p:cBhvr>
                                      <p:tavLst>
                                        <p:tav tm="0">
                                          <p:val>
                                            <p:strVal val="#ppt_x"/>
                                          </p:val>
                                        </p:tav>
                                        <p:tav tm="100000">
                                          <p:val>
                                            <p:strVal val="#ppt_x"/>
                                          </p:val>
                                        </p:tav>
                                      </p:tavLst>
                                    </p:anim>
                                    <p:anim calcmode="lin" valueType="num">
                                      <p:cBhvr>
                                        <p:cTn id="38" dur="1000" fill="hold"/>
                                        <p:tgtEl>
                                          <p:spTgt spid="11"/>
                                        </p:tgtEl>
                                        <p:attrNameLst>
                                          <p:attrName>ppt_y</p:attrName>
                                        </p:attrNameLst>
                                      </p:cBhvr>
                                      <p:tavLst>
                                        <p:tav tm="0">
                                          <p:val>
                                            <p:strVal val="#ppt_y+.1"/>
                                          </p:val>
                                        </p:tav>
                                        <p:tav tm="100000">
                                          <p:val>
                                            <p:strVal val="#ppt_y"/>
                                          </p:val>
                                        </p:tav>
                                      </p:tavLst>
                                    </p:anim>
                                  </p:childTnLst>
                                </p:cTn>
                              </p:par>
                            </p:childTnLst>
                          </p:cTn>
                        </p:par>
                        <p:par>
                          <p:cTn id="39" fill="hold">
                            <p:stCondLst>
                              <p:cond delay="100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par>
                                <p:cTn id="43" presetID="6" presetClass="entr" presetSubtype="32" fill="hold"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circle(out)">
                                      <p:cBhvr>
                                        <p:cTn id="45" dur="1000"/>
                                        <p:tgtEl>
                                          <p:spTgt spid="15"/>
                                        </p:tgtEl>
                                      </p:cBhvr>
                                    </p:animEffect>
                                  </p:childTnLst>
                                </p:cTn>
                              </p:par>
                            </p:childTnLst>
                          </p:cTn>
                        </p:par>
                        <p:par>
                          <p:cTn id="46" fill="hold">
                            <p:stCondLst>
                              <p:cond delay="2000"/>
                            </p:stCondLst>
                            <p:childTnLst>
                              <p:par>
                                <p:cTn id="47" presetID="1" presetClass="entr" presetSubtype="0" fill="hold" nodeType="after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2" grpId="0" animBg="1"/>
      <p:bldP spid="13" grpId="0" animBg="1"/>
      <p:bldP spid="1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45932-F6C4-5690-0E7C-B8AA2DCCEFBB}"/>
            </a:ext>
          </a:extLst>
        </p:cNvPr>
        <p:cNvGrpSpPr/>
        <p:nvPr/>
      </p:nvGrpSpPr>
      <p:grpSpPr>
        <a:xfrm>
          <a:off x="0" y="0"/>
          <a:ext cx="0" cy="0"/>
          <a:chOff x="0" y="0"/>
          <a:chExt cx="0" cy="0"/>
        </a:xfrm>
      </p:grpSpPr>
      <p:sp>
        <p:nvSpPr>
          <p:cNvPr id="12" name="Rounded Rectangle 4"/>
          <p:cNvSpPr/>
          <p:nvPr/>
        </p:nvSpPr>
        <p:spPr bwMode="auto">
          <a:xfrm>
            <a:off x="457198" y="438151"/>
            <a:ext cx="8220075" cy="5957887"/>
          </a:xfrm>
          <a:prstGeom prst="roundRect">
            <a:avLst>
              <a:gd name="adj" fmla="val 2649"/>
            </a:avLst>
          </a:prstGeom>
          <a:solidFill>
            <a:schemeClr val="bg1">
              <a:alpha val="90000"/>
            </a:schemeClr>
          </a:solidFill>
          <a:ln w="25400" cap="rnd">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GB" sz="1350" dirty="0">
                <a:latin typeface="Twinkl" pitchFamily="50" charset="0"/>
              </a:rPr>
              <a:t> </a:t>
            </a:r>
          </a:p>
        </p:txBody>
      </p:sp>
      <p:sp>
        <p:nvSpPr>
          <p:cNvPr id="13" name="Text Box">
            <a:extLst>
              <a:ext uri="{FF2B5EF4-FFF2-40B4-BE49-F238E27FC236}">
                <a16:creationId xmlns:a16="http://schemas.microsoft.com/office/drawing/2014/main" id="{8334A635-8C35-B154-924A-075742ABAF46}"/>
              </a:ext>
            </a:extLst>
          </p:cNvPr>
          <p:cNvSpPr/>
          <p:nvPr/>
        </p:nvSpPr>
        <p:spPr>
          <a:xfrm rot="16200000">
            <a:off x="4425334" y="595026"/>
            <a:ext cx="854246" cy="2981667"/>
          </a:xfrm>
          <a:prstGeom prst="round2SameRect">
            <a:avLst/>
          </a:prstGeom>
          <a:solidFill>
            <a:srgbClr val="FCAF17"/>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wrap="square" lIns="108000" tIns="108000" rIns="108000" bIns="216000" rtlCol="0" anchor="ctr">
            <a:spAutoFit/>
          </a:bodyPr>
          <a:lstStyle/>
          <a:p>
            <a:pPr algn="ctr"/>
            <a:r>
              <a:rPr lang="en-GB" dirty="0">
                <a:solidFill>
                  <a:schemeClr val="bg1"/>
                </a:solidFill>
              </a:rPr>
              <a:t>What did you learn about </a:t>
            </a:r>
            <a:r>
              <a:rPr lang="en-GB" b="1" dirty="0">
                <a:solidFill>
                  <a:schemeClr val="bg1"/>
                </a:solidFill>
              </a:rPr>
              <a:t>pollination?</a:t>
            </a:r>
          </a:p>
        </p:txBody>
      </p:sp>
      <p:pic>
        <p:nvPicPr>
          <p:cNvPr id="3" name="Picture 2">
            <a:extLst>
              <a:ext uri="{FF2B5EF4-FFF2-40B4-BE49-F238E27FC236}">
                <a16:creationId xmlns:a16="http://schemas.microsoft.com/office/drawing/2014/main" id="{5478EB1D-98BE-7A8A-C720-B5992D876386}"/>
              </a:ext>
            </a:extLst>
          </p:cNvPr>
          <p:cNvPicPr>
            <a:picLocks noChangeAspect="1"/>
          </p:cNvPicPr>
          <p:nvPr/>
        </p:nvPicPr>
        <p:blipFill>
          <a:blip r:embed="rId2" cstate="print">
            <a:extLst>
              <a:ext uri="{28A0092B-C50C-407E-A947-70E740481C1C}">
                <a14:useLocalDpi xmlns:a14="http://schemas.microsoft.com/office/drawing/2010/main" val="0"/>
              </a:ext>
            </a:extLst>
          </a:blip>
          <a:srcRect l="25246" t="-4084" r="16804" b="11560"/>
          <a:stretch/>
        </p:blipFill>
        <p:spPr>
          <a:xfrm>
            <a:off x="5971443" y="3339453"/>
            <a:ext cx="2889601" cy="2883930"/>
          </a:xfrm>
          <a:prstGeom prst="ellipse">
            <a:avLst/>
          </a:prstGeom>
          <a:ln w="38100">
            <a:solidFill>
              <a:srgbClr val="FFFFFF"/>
            </a:solidFill>
          </a:ln>
        </p:spPr>
      </p:pic>
      <p:pic>
        <p:nvPicPr>
          <p:cNvPr id="14" name="Picture 13">
            <a:extLst>
              <a:ext uri="{FF2B5EF4-FFF2-40B4-BE49-F238E27FC236}">
                <a16:creationId xmlns:a16="http://schemas.microsoft.com/office/drawing/2014/main" id="{8BD97381-2632-9F7E-32E1-D909B754E8F7}"/>
              </a:ext>
            </a:extLst>
          </p:cNvPr>
          <p:cNvPicPr>
            <a:picLocks noChangeAspect="1"/>
          </p:cNvPicPr>
          <p:nvPr/>
        </p:nvPicPr>
        <p:blipFill>
          <a:blip r:embed="rId3" cstate="print">
            <a:extLst>
              <a:ext uri="{28A0092B-C50C-407E-A947-70E740481C1C}">
                <a14:useLocalDpi xmlns:a14="http://schemas.microsoft.com/office/drawing/2010/main" val="0"/>
              </a:ext>
            </a:extLst>
          </a:blip>
          <a:srcRect l="21498" r="11732"/>
          <a:stretch/>
        </p:blipFill>
        <p:spPr>
          <a:xfrm>
            <a:off x="6024691" y="854026"/>
            <a:ext cx="2829644" cy="2824089"/>
          </a:xfrm>
          <a:prstGeom prst="ellipse">
            <a:avLst/>
          </a:prstGeom>
          <a:ln w="38100">
            <a:solidFill>
              <a:srgbClr val="FFFFFF"/>
            </a:solidFill>
          </a:ln>
        </p:spPr>
      </p:pic>
      <p:pic>
        <p:nvPicPr>
          <p:cNvPr id="4" name="Picture 3">
            <a:extLst>
              <a:ext uri="{FF2B5EF4-FFF2-40B4-BE49-F238E27FC236}">
                <a16:creationId xmlns:a16="http://schemas.microsoft.com/office/drawing/2014/main" id="{33FA646C-1D06-5CC8-7049-2F4DD0A9A8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9144000" cy="1651992"/>
          </a:xfrm>
          <a:prstGeom prst="rect">
            <a:avLst/>
          </a:prstGeom>
        </p:spPr>
      </p:pic>
      <p:sp>
        <p:nvSpPr>
          <p:cNvPr id="8" name="Title">
            <a:extLst>
              <a:ext uri="{FF2B5EF4-FFF2-40B4-BE49-F238E27FC236}">
                <a16:creationId xmlns:a16="http://schemas.microsoft.com/office/drawing/2014/main" id="{FBD9653F-DEC4-3135-564B-7820D84B3B77}"/>
              </a:ext>
            </a:extLst>
          </p:cNvPr>
          <p:cNvSpPr txBox="1">
            <a:spLocks/>
          </p:cNvSpPr>
          <p:nvPr/>
        </p:nvSpPr>
        <p:spPr>
          <a:xfrm>
            <a:off x="155358" y="340734"/>
            <a:ext cx="3102748" cy="994306"/>
          </a:xfrm>
          <a:prstGeom prst="roundRect">
            <a:avLst>
              <a:gd name="adj" fmla="val 9641"/>
            </a:avLst>
          </a:prstGeom>
          <a:noFill/>
          <a:ln w="25400">
            <a:noFill/>
          </a:ln>
        </p:spPr>
        <p:txBody>
          <a:bodyPr vert="horz" lIns="252000" tIns="252000" rIns="252000" bIns="252000" rtlCol="0" anchor="ctr" anchorCtr="1">
            <a:noAutofit/>
          </a:bodyPr>
          <a:lstStyle>
            <a:lvl1pPr algn="l" defTabSz="914400" rtl="0" eaLnBrk="1" latinLnBrk="0" hangingPunct="1">
              <a:lnSpc>
                <a:spcPct val="90000"/>
              </a:lnSpc>
              <a:spcBef>
                <a:spcPct val="0"/>
              </a:spcBef>
              <a:buNone/>
              <a:defRPr sz="3600" b="1" kern="1200">
                <a:solidFill>
                  <a:srgbClr val="1C1C1C"/>
                </a:solidFill>
                <a:latin typeface="Twinkl" pitchFamily="2" charset="0"/>
                <a:ea typeface="+mj-ea"/>
                <a:cs typeface="+mj-cs"/>
              </a:defRPr>
            </a:lvl1pPr>
          </a:lstStyle>
          <a:p>
            <a:r>
              <a:rPr lang="en-US" dirty="0">
                <a:solidFill>
                  <a:schemeClr val="bg1"/>
                </a:solidFill>
                <a:latin typeface="+mn-lt"/>
              </a:rPr>
              <a:t>What Did You Learn?</a:t>
            </a:r>
            <a:endParaRPr lang="en-GB" dirty="0">
              <a:solidFill>
                <a:schemeClr val="bg1"/>
              </a:solidFill>
              <a:latin typeface="+mn-lt"/>
            </a:endParaRPr>
          </a:p>
        </p:txBody>
      </p:sp>
      <p:pic>
        <p:nvPicPr>
          <p:cNvPr id="2" name="Graphic 1">
            <a:hlinkClick r:id="" action="ppaction://hlinkshowjump?jump=nextslide"/>
            <a:extLst>
              <a:ext uri="{FF2B5EF4-FFF2-40B4-BE49-F238E27FC236}">
                <a16:creationId xmlns:a16="http://schemas.microsoft.com/office/drawing/2014/main" id="{62218CC7-6832-5AA5-D08E-5BA5DEF0963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8388350" y="224630"/>
            <a:ext cx="472694" cy="472694"/>
          </a:xfrm>
          <a:prstGeom prst="rect">
            <a:avLst/>
          </a:prstGeom>
        </p:spPr>
      </p:pic>
      <p:pic>
        <p:nvPicPr>
          <p:cNvPr id="7" name="Picture 6">
            <a:extLst>
              <a:ext uri="{FF2B5EF4-FFF2-40B4-BE49-F238E27FC236}">
                <a16:creationId xmlns:a16="http://schemas.microsoft.com/office/drawing/2014/main" id="{3E83C623-1E2F-6CA6-0672-BBEC0BE256BB}"/>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590309">
            <a:off x="4700254" y="4565048"/>
            <a:ext cx="1393238" cy="1254889"/>
          </a:xfrm>
          <a:prstGeom prst="rect">
            <a:avLst/>
          </a:prstGeom>
        </p:spPr>
      </p:pic>
      <p:sp>
        <p:nvSpPr>
          <p:cNvPr id="9" name="Speech Bubble: Oval 8">
            <a:extLst>
              <a:ext uri="{FF2B5EF4-FFF2-40B4-BE49-F238E27FC236}">
                <a16:creationId xmlns:a16="http://schemas.microsoft.com/office/drawing/2014/main" id="{E0EB8823-8F7D-F10F-D783-F9CE71478CA8}"/>
              </a:ext>
            </a:extLst>
          </p:cNvPr>
          <p:cNvSpPr/>
          <p:nvPr/>
        </p:nvSpPr>
        <p:spPr>
          <a:xfrm>
            <a:off x="3896754" y="2990525"/>
            <a:ext cx="1992662" cy="1343681"/>
          </a:xfrm>
          <a:prstGeom prst="wedgeEllipseCallout">
            <a:avLst>
              <a:gd name="adj1" fmla="val 22455"/>
              <a:gd name="adj2" fmla="val 59689"/>
            </a:avLst>
          </a:prstGeom>
          <a:solidFill>
            <a:schemeClr val="bg1"/>
          </a:solidFill>
          <a:ln w="28575">
            <a:solidFill>
              <a:srgbClr val="F08215">
                <a:alpha val="50196"/>
              </a:srgb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rtl="0">
              <a:lnSpc>
                <a:spcPct val="100000"/>
              </a:lnSpc>
              <a:spcBef>
                <a:spcPts val="0"/>
              </a:spcBef>
              <a:spcAft>
                <a:spcPts val="0"/>
              </a:spcAft>
              <a:buClr>
                <a:srgbClr val="000000"/>
              </a:buClr>
              <a:buSzPts val="1400"/>
              <a:buFont typeface="Arial"/>
              <a:buNone/>
            </a:pPr>
            <a:r>
              <a:rPr lang="en-GB" sz="1600" b="0" i="0" u="none" strike="noStrike" cap="none" dirty="0">
                <a:solidFill>
                  <a:schemeClr val="dk1"/>
                </a:solidFill>
                <a:ea typeface="Roboto"/>
                <a:cs typeface="Roboto"/>
                <a:sym typeface="Roboto"/>
              </a:rPr>
              <a:t>What could you do to help </a:t>
            </a:r>
            <a:r>
              <a:rPr lang="en-GB" sz="1600" b="1" i="0" u="none" strike="noStrike" cap="none" dirty="0">
                <a:solidFill>
                  <a:schemeClr val="dk1"/>
                </a:solidFill>
                <a:ea typeface="Roboto"/>
                <a:cs typeface="Roboto"/>
                <a:sym typeface="Roboto"/>
              </a:rPr>
              <a:t>pollinators</a:t>
            </a:r>
            <a:r>
              <a:rPr lang="en-GB" sz="1600" b="0" i="0" u="none" strike="noStrike" cap="none" dirty="0">
                <a:solidFill>
                  <a:schemeClr val="dk1"/>
                </a:solidFill>
                <a:ea typeface="Roboto"/>
                <a:cs typeface="Roboto"/>
                <a:sym typeface="Roboto"/>
              </a:rPr>
              <a:t>?</a:t>
            </a:r>
            <a:endParaRPr lang="en-GB" sz="1600" b="0" i="0" u="none" strike="noStrike" cap="none" dirty="0">
              <a:solidFill>
                <a:srgbClr val="000000"/>
              </a:solidFill>
              <a:ea typeface="Arial"/>
              <a:cs typeface="Arial"/>
              <a:sym typeface="Arial"/>
            </a:endParaRPr>
          </a:p>
        </p:txBody>
      </p:sp>
      <p:sp>
        <p:nvSpPr>
          <p:cNvPr id="10" name="Speech Bubble: Oval 9">
            <a:extLst>
              <a:ext uri="{FF2B5EF4-FFF2-40B4-BE49-F238E27FC236}">
                <a16:creationId xmlns:a16="http://schemas.microsoft.com/office/drawing/2014/main" id="{944C6188-D9B4-610A-0633-1F513CA40A75}"/>
              </a:ext>
            </a:extLst>
          </p:cNvPr>
          <p:cNvSpPr/>
          <p:nvPr/>
        </p:nvSpPr>
        <p:spPr>
          <a:xfrm>
            <a:off x="2611898" y="3980321"/>
            <a:ext cx="1992662" cy="1343681"/>
          </a:xfrm>
          <a:prstGeom prst="wedgeEllipseCallout">
            <a:avLst>
              <a:gd name="adj1" fmla="val -53855"/>
              <a:gd name="adj2" fmla="val 36248"/>
            </a:avLst>
          </a:prstGeom>
          <a:solidFill>
            <a:schemeClr val="bg1"/>
          </a:solidFill>
          <a:ln w="28575">
            <a:solidFill>
              <a:srgbClr val="F08215">
                <a:alpha val="50196"/>
              </a:srgb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rtl="0">
              <a:lnSpc>
                <a:spcPct val="100000"/>
              </a:lnSpc>
              <a:spcBef>
                <a:spcPts val="0"/>
              </a:spcBef>
              <a:spcAft>
                <a:spcPts val="0"/>
              </a:spcAft>
              <a:buClr>
                <a:srgbClr val="000000"/>
              </a:buClr>
              <a:buSzPts val="1400"/>
              <a:buFont typeface="Arial"/>
              <a:buNone/>
            </a:pPr>
            <a:r>
              <a:rPr lang="en-GB" sz="1600" b="0" i="0" u="none" strike="noStrike" cap="none" dirty="0">
                <a:solidFill>
                  <a:schemeClr val="dk1"/>
                </a:solidFill>
                <a:ea typeface="Roboto"/>
                <a:cs typeface="Roboto"/>
                <a:sym typeface="Roboto"/>
              </a:rPr>
              <a:t>Can you tell a friend about </a:t>
            </a:r>
            <a:r>
              <a:rPr lang="en-GB" sz="1600" b="1" i="0" u="none" strike="noStrike" cap="none" dirty="0">
                <a:solidFill>
                  <a:schemeClr val="dk1"/>
                </a:solidFill>
                <a:ea typeface="Roboto"/>
                <a:cs typeface="Roboto"/>
                <a:sym typeface="Roboto"/>
              </a:rPr>
              <a:t>pollination</a:t>
            </a:r>
            <a:r>
              <a:rPr lang="en-GB" sz="1600" b="0" i="0" u="none" strike="noStrike" cap="none" dirty="0">
                <a:solidFill>
                  <a:schemeClr val="dk1"/>
                </a:solidFill>
                <a:ea typeface="Roboto"/>
                <a:cs typeface="Roboto"/>
                <a:sym typeface="Roboto"/>
              </a:rPr>
              <a:t>?</a:t>
            </a:r>
            <a:endParaRPr lang="en-GB" sz="1600" b="0" i="0" u="none" strike="noStrike" cap="none" dirty="0">
              <a:solidFill>
                <a:srgbClr val="000000"/>
              </a:solidFill>
              <a:ea typeface="Arial"/>
              <a:cs typeface="Arial"/>
              <a:sym typeface="Arial"/>
            </a:endParaRPr>
          </a:p>
        </p:txBody>
      </p:sp>
      <p:pic>
        <p:nvPicPr>
          <p:cNvPr id="11" name="Picture 10">
            <a:extLst>
              <a:ext uri="{FF2B5EF4-FFF2-40B4-BE49-F238E27FC236}">
                <a16:creationId xmlns:a16="http://schemas.microsoft.com/office/drawing/2014/main" id="{FA3EF731-2899-101F-D824-22A58203563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rot="653450">
            <a:off x="1518408" y="5144746"/>
            <a:ext cx="1196129" cy="916855"/>
          </a:xfrm>
          <a:prstGeom prst="rect">
            <a:avLst/>
          </a:prstGeom>
        </p:spPr>
      </p:pic>
      <p:pic>
        <p:nvPicPr>
          <p:cNvPr id="15" name="Picture 14">
            <a:extLst>
              <a:ext uri="{FF2B5EF4-FFF2-40B4-BE49-F238E27FC236}">
                <a16:creationId xmlns:a16="http://schemas.microsoft.com/office/drawing/2014/main" id="{A114DFA6-E036-9391-E12D-E44B68CABF45}"/>
              </a:ext>
            </a:extLst>
          </p:cNvPr>
          <p:cNvPicPr>
            <a:picLocks noChangeAspect="1"/>
          </p:cNvPicPr>
          <p:nvPr/>
        </p:nvPicPr>
        <p:blipFill>
          <a:blip r:embed="rId9" cstate="print">
            <a:extLst>
              <a:ext uri="{28A0092B-C50C-407E-A947-70E740481C1C}">
                <a14:useLocalDpi xmlns:a14="http://schemas.microsoft.com/office/drawing/2010/main" val="0"/>
              </a:ext>
            </a:extLst>
          </a:blip>
          <a:srcRect l="16691" r="16691"/>
          <a:stretch/>
        </p:blipFill>
        <p:spPr>
          <a:xfrm>
            <a:off x="270056" y="1548561"/>
            <a:ext cx="2889601" cy="2883929"/>
          </a:xfrm>
          <a:prstGeom prst="ellipse">
            <a:avLst/>
          </a:prstGeom>
          <a:ln w="38100">
            <a:solidFill>
              <a:srgbClr val="FFFFFF"/>
            </a:solidFill>
          </a:ln>
        </p:spPr>
      </p:pic>
    </p:spTree>
    <p:extLst>
      <p:ext uri="{BB962C8B-B14F-4D97-AF65-F5344CB8AC3E}">
        <p14:creationId xmlns:p14="http://schemas.microsoft.com/office/powerpoint/2010/main" val="4156118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circle(out)">
                                      <p:cBhvr>
                                        <p:cTn id="7" dur="1000"/>
                                        <p:tgtEl>
                                          <p:spTgt spid="14"/>
                                        </p:tgtEl>
                                      </p:cBhvr>
                                    </p:animEffect>
                                  </p:childTnLst>
                                </p:cTn>
                              </p:par>
                            </p:childTnLst>
                          </p:cTn>
                        </p:par>
                        <p:par>
                          <p:cTn id="8" fill="hold">
                            <p:stCondLst>
                              <p:cond delay="1000"/>
                            </p:stCondLst>
                            <p:childTnLst>
                              <p:par>
                                <p:cTn id="9" presetID="22" presetClass="entr" presetSubtype="2"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right)">
                                      <p:cBhvr>
                                        <p:cTn id="11" dur="500"/>
                                        <p:tgtEl>
                                          <p:spTgt spid="13"/>
                                        </p:tgtEl>
                                      </p:cBhvr>
                                    </p:animEffect>
                                  </p:childTnLst>
                                </p:cTn>
                              </p:par>
                            </p:childTnLst>
                          </p:cTn>
                        </p:par>
                        <p:par>
                          <p:cTn id="12" fill="hold">
                            <p:stCondLst>
                              <p:cond delay="1500"/>
                            </p:stCondLst>
                            <p:childTnLst>
                              <p:par>
                                <p:cTn id="13" presetID="6" presetClass="entr" presetSubtype="32"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circle(out)">
                                      <p:cBhvr>
                                        <p:cTn id="15" dur="1000"/>
                                        <p:tgtEl>
                                          <p:spTgt spid="15"/>
                                        </p:tgtEl>
                                      </p:cBhvr>
                                    </p:animEffect>
                                  </p:childTnLst>
                                </p:cTn>
                              </p:par>
                            </p:childTnLst>
                          </p:cTn>
                        </p:par>
                        <p:par>
                          <p:cTn id="16" fill="hold">
                            <p:stCondLst>
                              <p:cond delay="2500"/>
                            </p:stCondLst>
                            <p:childTnLst>
                              <p:par>
                                <p:cTn id="17" presetID="6" presetClass="entr" presetSubtype="32"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circle(out)">
                                      <p:cBhvr>
                                        <p:cTn id="19" dur="10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childTnLst>
                          </p:cTn>
                        </p:par>
                        <p:par>
                          <p:cTn id="27" fill="hold">
                            <p:stCondLst>
                              <p:cond delay="1000"/>
                            </p:stCondLst>
                            <p:childTnLst>
                              <p:par>
                                <p:cTn id="28" presetID="10" presetClass="entr" presetSubtype="0" fill="hold" grpId="0" nodeType="after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childTnLst>
                          </p:cTn>
                        </p:par>
                        <p:par>
                          <p:cTn id="38" fill="hold">
                            <p:stCondLst>
                              <p:cond delay="1000"/>
                            </p:stCondLst>
                            <p:childTnLst>
                              <p:par>
                                <p:cTn id="39" presetID="10" presetClass="entr" presetSubtype="0" fill="hold" grpId="0" nodeType="after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childTnLst>
                                </p:cTn>
                              </p:par>
                            </p:childTnLst>
                          </p:cTn>
                        </p:par>
                        <p:par>
                          <p:cTn id="42" fill="hold">
                            <p:stCondLst>
                              <p:cond delay="2000"/>
                            </p:stCondLst>
                            <p:childTnLst>
                              <p:par>
                                <p:cTn id="43" presetID="1" presetClass="entr" presetSubtype="0" fill="hold" nodeType="afterEffect">
                                  <p:stCondLst>
                                    <p:cond delay="0"/>
                                  </p:stCondLst>
                                  <p:childTnLst>
                                    <p:set>
                                      <p:cBhvr>
                                        <p:cTn id="4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9"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8893146"/>
      </p:ext>
    </p:extLst>
  </p:cSld>
  <p:clrMapOvr>
    <a:masterClrMapping/>
  </p:clrMapOvr>
</p:sld>
</file>

<file path=ppt/theme/theme1.xml><?xml version="1.0" encoding="utf-8"?>
<a:theme xmlns:a="http://schemas.openxmlformats.org/drawingml/2006/main" name="Slide Layouts">
  <a:themeElements>
    <a:clrScheme name="Twinkl Template">
      <a:dk1>
        <a:srgbClr val="1C1C1C"/>
      </a:dk1>
      <a:lt1>
        <a:sysClr val="window" lastClr="FFFFFF"/>
      </a:lt1>
      <a:dk2>
        <a:srgbClr val="4A4A4A"/>
      </a:dk2>
      <a:lt2>
        <a:srgbClr val="F4F2F2"/>
      </a:lt2>
      <a:accent1>
        <a:srgbClr val="E34192"/>
      </a:accent1>
      <a:accent2>
        <a:srgbClr val="EB8634"/>
      </a:accent2>
      <a:accent3>
        <a:srgbClr val="E6C734"/>
      </a:accent3>
      <a:accent4>
        <a:srgbClr val="79AD42"/>
      </a:accent4>
      <a:accent5>
        <a:srgbClr val="23A7F9"/>
      </a:accent5>
      <a:accent6>
        <a:srgbClr val="954EBE"/>
      </a:accent6>
      <a:hlink>
        <a:srgbClr val="23A7F9"/>
      </a:hlink>
      <a:folHlink>
        <a:srgbClr val="757070"/>
      </a:folHlink>
    </a:clrScheme>
    <a:fontScheme name="Custom 1">
      <a:majorFont>
        <a:latin typeface="Twinkl Bold"/>
        <a:ea typeface=""/>
        <a:cs typeface=""/>
      </a:majorFont>
      <a:minorFont>
        <a:latin typeface="Twink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8A0DB"/>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38D77A04-A87B-7D43-8732-27E2D33516AE}" vid="{5E469990-78F7-7547-A30D-B1A8874D45EC}"/>
    </a:ext>
  </a:extLst>
</a:theme>
</file>

<file path=ppt/theme/theme2.xml><?xml version="1.0" encoding="utf-8"?>
<a:theme xmlns:a="http://schemas.openxmlformats.org/drawingml/2006/main" name="Disclaimers/Guidan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38D77A04-A87B-7D43-8732-27E2D33516AE}" vid="{EA9C427F-3A83-A94B-A157-C0DAB0EC855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 Template</Template>
  <TotalTime>263</TotalTime>
  <Words>571</Words>
  <Application>Microsoft Office PowerPoint</Application>
  <PresentationFormat>On-screen Show (4:3)</PresentationFormat>
  <Paragraphs>58</Paragraphs>
  <Slides>12</Slides>
  <Notes>0</Notes>
  <HiddenSlides>1</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Arial</vt:lpstr>
      <vt:lpstr>Calibri</vt:lpstr>
      <vt:lpstr>Twinkl</vt:lpstr>
      <vt:lpstr>Roboto</vt:lpstr>
      <vt:lpstr>Slide Layouts</vt:lpstr>
      <vt:lpstr>Disclaimers/Guidance</vt:lpstr>
      <vt:lpstr>PowerPoint Presentation</vt:lpstr>
      <vt:lpstr>PowerPoint Presentation</vt:lpstr>
      <vt:lpstr>Let’s Learn About Pollination!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Liv Robson-Hughes</dc:creator>
  <cp:lastModifiedBy>Liv Robson-Hughes</cp:lastModifiedBy>
  <cp:revision>50</cp:revision>
  <dcterms:created xsi:type="dcterms:W3CDTF">2025-05-07T09:10:51Z</dcterms:created>
  <dcterms:modified xsi:type="dcterms:W3CDTF">2025-05-08T14:14:59Z</dcterms:modified>
</cp:coreProperties>
</file>