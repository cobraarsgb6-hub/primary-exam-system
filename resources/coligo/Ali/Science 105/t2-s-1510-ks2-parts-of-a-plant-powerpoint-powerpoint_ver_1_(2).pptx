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1"/>
  </p:sldMasterIdLst>
  <p:notesMasterIdLst>
    <p:notesMasterId r:id="rId17"/>
  </p:notesMasterIdLst>
  <p:handoutMasterIdLst>
    <p:handoutMasterId r:id="rId18"/>
  </p:handoutMasterIdLst>
  <p:sldIdLst>
    <p:sldId id="277" r:id="rId2"/>
    <p:sldId id="258" r:id="rId3"/>
    <p:sldId id="264" r:id="rId4"/>
    <p:sldId id="287" r:id="rId5"/>
    <p:sldId id="288" r:id="rId6"/>
    <p:sldId id="278" r:id="rId7"/>
    <p:sldId id="279" r:id="rId8"/>
    <p:sldId id="280" r:id="rId9"/>
    <p:sldId id="281" r:id="rId10"/>
    <p:sldId id="282" r:id="rId11"/>
    <p:sldId id="283" r:id="rId12"/>
    <p:sldId id="284" r:id="rId13"/>
    <p:sldId id="285" r:id="rId14"/>
    <p:sldId id="286" r:id="rId15"/>
    <p:sldId id="267" r:id="rId16"/>
  </p:sldIdLst>
  <p:sldSz cx="9144000" cy="6858000" type="screen4x3"/>
  <p:notesSz cx="6858000" cy="9144000"/>
  <p:embeddedFontLst>
    <p:embeddedFont>
      <p:font typeface="Calibri" panose="020F0502020204030204" pitchFamily="34" charset="0"/>
      <p:regular r:id="rId19"/>
      <p:bold r:id="rId20"/>
      <p:italic r:id="rId21"/>
      <p:boldItalic r:id="rId22"/>
    </p:embeddedFont>
    <p:embeddedFont>
      <p:font typeface="Roboto" panose="02000000000000000000" pitchFamily="2" charset="0"/>
      <p:regular r:id="rId23"/>
      <p:bold r:id="rId24"/>
      <p:italic r:id="rId25"/>
      <p:boldItalic r:id="rId26"/>
    </p:embeddedFont>
    <p:embeddedFont>
      <p:font typeface="Twinkl" panose="020B0604020202020204" charset="0"/>
      <p:regular r:id="rId27"/>
      <p:bold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4" pos="340" userDrawn="1">
          <p15:clr>
            <a:srgbClr val="A4A3A4"/>
          </p15:clr>
        </p15:guide>
        <p15:guide id="5" orient="horz" pos="3974" userDrawn="1">
          <p15:clr>
            <a:srgbClr val="A4A3A4"/>
          </p15:clr>
        </p15:guide>
        <p15:guide id="6" pos="5420" userDrawn="1">
          <p15:clr>
            <a:srgbClr val="A4A3A4"/>
          </p15:clr>
        </p15:guide>
        <p15:guide id="7" orient="horz" pos="346" userDrawn="1">
          <p15:clr>
            <a:srgbClr val="A4A3A4"/>
          </p15:clr>
        </p15:guide>
        <p15:guide id="8" pos="476" userDrawn="1">
          <p15:clr>
            <a:srgbClr val="A4A3A4"/>
          </p15:clr>
        </p15:guide>
        <p15:guide id="9" orient="horz" pos="482" userDrawn="1">
          <p15:clr>
            <a:srgbClr val="A4A3A4"/>
          </p15:clr>
        </p15:guide>
        <p15:guide id="10" orient="horz" pos="3838" userDrawn="1">
          <p15:clr>
            <a:srgbClr val="A4A3A4"/>
          </p15:clr>
        </p15:guide>
        <p15:guide id="11" pos="528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4E13"/>
    <a:srgbClr val="18A0DB"/>
    <a:srgbClr val="DE1E5A"/>
    <a:srgbClr val="BC0105"/>
    <a:srgbClr val="4DB1E3"/>
    <a:srgbClr val="80C1EB"/>
    <a:srgbClr val="ACDDFC"/>
    <a:srgbClr val="FFFFFF"/>
    <a:srgbClr val="4AA1D9"/>
    <a:srgbClr val="21A6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90" autoAdjust="0"/>
    <p:restoredTop sz="94660"/>
  </p:normalViewPr>
  <p:slideViewPr>
    <p:cSldViewPr snapToGrid="0" showGuides="1">
      <p:cViewPr varScale="1">
        <p:scale>
          <a:sx n="64" d="100"/>
          <a:sy n="64" d="100"/>
        </p:scale>
        <p:origin x="72" y="538"/>
      </p:cViewPr>
      <p:guideLst>
        <p:guide orient="horz" pos="2160"/>
        <p:guide pos="2880"/>
        <p:guide pos="340"/>
        <p:guide orient="horz" pos="3974"/>
        <p:guide pos="5420"/>
        <p:guide orient="horz" pos="346"/>
        <p:guide pos="476"/>
        <p:guide orient="horz" pos="482"/>
        <p:guide orient="horz" pos="3838"/>
        <p:guide pos="5284"/>
      </p:guideLst>
    </p:cSldViewPr>
  </p:slideViewPr>
  <p:notesTextViewPr>
    <p:cViewPr>
      <p:scale>
        <a:sx n="3" d="2"/>
        <a:sy n="3" d="2"/>
      </p:scale>
      <p:origin x="0" y="0"/>
    </p:cViewPr>
  </p:notesTextViewPr>
  <p:notesViewPr>
    <p:cSldViewPr snapToGrid="0" showGuides="1">
      <p:cViewPr varScale="1">
        <p:scale>
          <a:sx n="58" d="100"/>
          <a:sy n="58" d="100"/>
        </p:scale>
        <p:origin x="1962"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B34F151-63AC-41CE-96F5-7702E930870C}" type="datetimeFigureOut">
              <a:rPr lang="en-GB" smtClean="0"/>
              <a:t>23/06/2021</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676B846-B279-40AC-BFF5-DBC4013370C2}" type="slidenum">
              <a:rPr lang="en-GB" smtClean="0"/>
              <a:t>‹#›</a:t>
            </a:fld>
            <a:endParaRPr lang="en-GB"/>
          </a:p>
        </p:txBody>
      </p:sp>
    </p:spTree>
    <p:extLst>
      <p:ext uri="{BB962C8B-B14F-4D97-AF65-F5344CB8AC3E}">
        <p14:creationId xmlns:p14="http://schemas.microsoft.com/office/powerpoint/2010/main" val="26453970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02C5D1-7818-41B5-ABAD-5E4B38A5388F}" type="datetimeFigureOut">
              <a:rPr lang="en-GB" smtClean="0"/>
              <a:t>23/06/2021</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21341-850D-40E1-BB3D-87946DC9B06D}" type="slidenum">
              <a:rPr lang="en-GB" smtClean="0"/>
              <a:t>‹#›</a:t>
            </a:fld>
            <a:endParaRPr lang="en-GB"/>
          </a:p>
        </p:txBody>
      </p:sp>
    </p:spTree>
    <p:extLst>
      <p:ext uri="{BB962C8B-B14F-4D97-AF65-F5344CB8AC3E}">
        <p14:creationId xmlns:p14="http://schemas.microsoft.com/office/powerpoint/2010/main" val="847048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hyperlink" Target="https://www.twinkl.co.uk/" TargetMode="External"/><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hyperlink" Target="https://www.twinkl.co.uk/resources/ks2-science/ks2-science-life-processes-and-living-things/ks2-science-green-plants"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twinkl.co.uk/" TargetMode="External"/><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hyperlink" Target="https://www.twinkl.co.uk/resources/ks2-science/ks2-science-life-processes-and-living-things/ks2-science-green-plants"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hlinkClick r:id="rId3"/>
          </p:cNvPr>
          <p:cNvSpPr/>
          <p:nvPr userDrawn="1"/>
        </p:nvSpPr>
        <p:spPr>
          <a:xfrm>
            <a:off x="4137660" y="3152488"/>
            <a:ext cx="868680" cy="553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hlinkClick r:id="rId4"/>
            <a:extLst>
              <a:ext uri="{FF2B5EF4-FFF2-40B4-BE49-F238E27FC236}">
                <a16:creationId xmlns:a16="http://schemas.microsoft.com/office/drawing/2014/main" id="{3236232E-383E-418D-8DD3-57CDCD51E1A2}"/>
              </a:ext>
            </a:extLst>
          </p:cNvPr>
          <p:cNvSpPr/>
          <p:nvPr userDrawn="1"/>
        </p:nvSpPr>
        <p:spPr>
          <a:xfrm>
            <a:off x="8291146" y="6013938"/>
            <a:ext cx="791308" cy="7297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hlinkClick r:id="rId4"/>
            <a:extLst>
              <a:ext uri="{FF2B5EF4-FFF2-40B4-BE49-F238E27FC236}">
                <a16:creationId xmlns:a16="http://schemas.microsoft.com/office/drawing/2014/main" id="{69FDAC63-6DBE-4596-9A37-BBC181702849}"/>
              </a:ext>
            </a:extLst>
          </p:cNvPr>
          <p:cNvSpPr/>
          <p:nvPr userDrawn="1"/>
        </p:nvSpPr>
        <p:spPr>
          <a:xfrm>
            <a:off x="79131" y="6013938"/>
            <a:ext cx="1213338" cy="7297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37040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Box">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ounded Rectangle 3"/>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72497" y="5734211"/>
            <a:ext cx="576495" cy="580719"/>
          </a:xfrm>
          <a:prstGeom prst="rect">
            <a:avLst/>
          </a:prstGeom>
        </p:spPr>
      </p:pic>
    </p:spTree>
    <p:extLst>
      <p:ext uri="{BB962C8B-B14F-4D97-AF65-F5344CB8AC3E}">
        <p14:creationId xmlns:p14="http://schemas.microsoft.com/office/powerpoint/2010/main" val="3429871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8" name="Title 5"/>
          <p:cNvSpPr>
            <a:spLocks noGrp="1"/>
          </p:cNvSpPr>
          <p:nvPr>
            <p:ph type="title"/>
          </p:nvPr>
        </p:nvSpPr>
        <p:spPr>
          <a:xfrm>
            <a:off x="457198" y="478895"/>
            <a:ext cx="8220075" cy="994306"/>
          </a:xfrm>
        </p:spPr>
        <p:txBody>
          <a:bodyPr>
            <a:noAutofit/>
          </a:bodyPr>
          <a:lstStyle>
            <a:lvl1pPr>
              <a:defRPr>
                <a:latin typeface="Twinkl" pitchFamily="2" charset="0"/>
              </a:defRPr>
            </a:lvl1pPr>
          </a:lstStyle>
          <a:p>
            <a:r>
              <a:rPr lang="en-US"/>
              <a:t>Click to edit Master title style</a:t>
            </a:r>
            <a:endParaRPr lang="en-GB" dirty="0"/>
          </a:p>
        </p:txBody>
      </p:sp>
    </p:spTree>
    <p:extLst>
      <p:ext uri="{BB962C8B-B14F-4D97-AF65-F5344CB8AC3E}">
        <p14:creationId xmlns:p14="http://schemas.microsoft.com/office/powerpoint/2010/main" val="261079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ims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75232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a:hlinkClick r:id="rId3"/>
          </p:cNvPr>
          <p:cNvSpPr/>
          <p:nvPr userDrawn="1"/>
        </p:nvSpPr>
        <p:spPr>
          <a:xfrm>
            <a:off x="4137660" y="3152488"/>
            <a:ext cx="868680" cy="553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Rectangle 1">
            <a:hlinkClick r:id="rId4"/>
            <a:extLst>
              <a:ext uri="{FF2B5EF4-FFF2-40B4-BE49-F238E27FC236}">
                <a16:creationId xmlns:a16="http://schemas.microsoft.com/office/drawing/2014/main" id="{2DB4664B-3C4C-4BCF-8B91-3F92A435AF03}"/>
              </a:ext>
            </a:extLst>
          </p:cNvPr>
          <p:cNvSpPr/>
          <p:nvPr userDrawn="1"/>
        </p:nvSpPr>
        <p:spPr>
          <a:xfrm>
            <a:off x="8291146" y="6013938"/>
            <a:ext cx="791308" cy="7297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hlinkClick r:id="rId4"/>
            <a:extLst>
              <a:ext uri="{FF2B5EF4-FFF2-40B4-BE49-F238E27FC236}">
                <a16:creationId xmlns:a16="http://schemas.microsoft.com/office/drawing/2014/main" id="{E184F866-185F-4517-88F3-D3E9292EC929}"/>
              </a:ext>
            </a:extLst>
          </p:cNvPr>
          <p:cNvSpPr/>
          <p:nvPr userDrawn="1"/>
        </p:nvSpPr>
        <p:spPr>
          <a:xfrm>
            <a:off x="79131" y="6013938"/>
            <a:ext cx="1213338" cy="7297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8197377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8A0D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9745" y="695325"/>
            <a:ext cx="8164510" cy="1150938"/>
          </a:xfrm>
          <a:prstGeom prst="roundRect">
            <a:avLst>
              <a:gd name="adj" fmla="val 9641"/>
            </a:avLst>
          </a:prstGeom>
          <a:noFill/>
          <a:ln w="25400">
            <a:noFill/>
          </a:ln>
        </p:spPr>
        <p:txBody>
          <a:bodyPr vert="horz" lIns="252000" tIns="252000" rIns="252000" bIns="252000" rtlCol="0" anchor="ctr" anchorCtr="1">
            <a:normAutofit/>
          </a:bodyPr>
          <a:lstStyle/>
          <a:p>
            <a:r>
              <a:rPr lang="en-US"/>
              <a:t>Click to edit Master title style</a:t>
            </a:r>
            <a:endParaRPr lang="en-US" dirty="0"/>
          </a:p>
        </p:txBody>
      </p:sp>
      <p:sp>
        <p:nvSpPr>
          <p:cNvPr id="3" name="Text Placeholder 2"/>
          <p:cNvSpPr>
            <a:spLocks noGrp="1"/>
          </p:cNvSpPr>
          <p:nvPr>
            <p:ph type="body" idx="1"/>
          </p:nvPr>
        </p:nvSpPr>
        <p:spPr>
          <a:xfrm>
            <a:off x="489745" y="1957386"/>
            <a:ext cx="8164510" cy="4387851"/>
          </a:xfrm>
          <a:prstGeom prst="roundRect">
            <a:avLst>
              <a:gd name="adj" fmla="val 2585"/>
            </a:avLst>
          </a:prstGeom>
          <a:noFill/>
          <a:ln w="25400">
            <a:noFill/>
          </a:ln>
        </p:spPr>
        <p:txBody>
          <a:bodyPr vert="horz" lIns="252000" tIns="252000" rIns="252000" bIns="2520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389201"/>
      </p:ext>
    </p:extLst>
  </p:cSld>
  <p:clrMap bg1="lt1" tx1="dk1" bg2="lt2" tx2="dk2" accent1="accent1" accent2="accent2" accent3="accent3" accent4="accent4" accent5="accent5" accent6="accent6" hlink="hlink" folHlink="folHlink"/>
  <p:sldLayoutIdLst>
    <p:sldLayoutId id="2147483661" r:id="rId1"/>
    <p:sldLayoutId id="2147483667" r:id="rId2"/>
    <p:sldLayoutId id="2147483662" r:id="rId3"/>
    <p:sldLayoutId id="2147483663" r:id="rId4"/>
    <p:sldLayoutId id="2147483666" r:id="rId5"/>
  </p:sldLayoutIdLst>
  <p:txStyles>
    <p:titleStyle>
      <a:lvl1pPr algn="l" defTabSz="914400" rtl="0" eaLnBrk="1" latinLnBrk="0" hangingPunct="1">
        <a:lnSpc>
          <a:spcPct val="90000"/>
        </a:lnSpc>
        <a:spcBef>
          <a:spcPct val="0"/>
        </a:spcBef>
        <a:buNone/>
        <a:defRPr sz="4000" b="1" kern="1200">
          <a:solidFill>
            <a:srgbClr val="1C1C1C"/>
          </a:solidFill>
          <a:latin typeface="Twinkl" pitchFamily="50"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rgbClr val="1C1C1C"/>
          </a:solidFill>
          <a:latin typeface="Twinkl" pitchFamily="50" charset="0"/>
          <a:ea typeface="Twinkl"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rgbClr val="1C1C1C"/>
          </a:solidFill>
          <a:latin typeface="Twinkl" pitchFamily="50" charset="0"/>
          <a:ea typeface="Twinkl"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tiff"/></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608442"/>
            <a:ext cx="8220075" cy="652318"/>
          </a:xfrm>
        </p:spPr>
        <p:txBody>
          <a:bodyPr/>
          <a:lstStyle/>
          <a:p>
            <a:pPr algn="ctr"/>
            <a:r>
              <a:rPr lang="en-GB" altLang="en-US" sz="2800" dirty="0">
                <a:solidFill>
                  <a:srgbClr val="E94E13"/>
                </a:solidFill>
                <a:latin typeface="Roboto" panose="02000000000000000000" pitchFamily="2" charset="0"/>
                <a:ea typeface="Roboto" panose="02000000000000000000" pitchFamily="2" charset="0"/>
                <a:cs typeface="Arial" panose="020B0604020202020204" pitchFamily="34" charset="0"/>
              </a:rPr>
              <a:t>Disclaimer/s</a:t>
            </a:r>
          </a:p>
        </p:txBody>
      </p:sp>
      <p:sp>
        <p:nvSpPr>
          <p:cNvPr id="14" name="Title 2"/>
          <p:cNvSpPr>
            <a:spLocks/>
          </p:cNvSpPr>
          <p:nvPr/>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grpSp>
        <p:nvGrpSpPr>
          <p:cNvPr id="10" name="Group 9"/>
          <p:cNvGrpSpPr/>
          <p:nvPr/>
        </p:nvGrpSpPr>
        <p:grpSpPr>
          <a:xfrm>
            <a:off x="743837" y="1471737"/>
            <a:ext cx="7644513" cy="2295228"/>
            <a:chOff x="743837" y="1344834"/>
            <a:chExt cx="7644513" cy="2295228"/>
          </a:xfrm>
        </p:grpSpPr>
        <p:sp>
          <p:nvSpPr>
            <p:cNvPr id="6" name="Rectangle 5"/>
            <p:cNvSpPr/>
            <p:nvPr/>
          </p:nvSpPr>
          <p:spPr>
            <a:xfrm>
              <a:off x="743837" y="1344834"/>
              <a:ext cx="1266195" cy="273960"/>
            </a:xfrm>
            <a:prstGeom prst="rect">
              <a:avLst/>
            </a:prstGeom>
            <a:solidFill>
              <a:srgbClr val="E94E1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r>
                <a:rPr lang="en-GB" sz="1600" b="1" dirty="0">
                  <a:latin typeface="Roboto" panose="02000000000000000000" pitchFamily="2" charset="0"/>
                  <a:ea typeface="Roboto" panose="02000000000000000000" pitchFamily="2" charset="0"/>
                </a:rPr>
                <a:t>Animations</a:t>
              </a:r>
            </a:p>
          </p:txBody>
        </p:sp>
        <p:sp>
          <p:nvSpPr>
            <p:cNvPr id="8" name="Rectangle 7"/>
            <p:cNvSpPr/>
            <p:nvPr/>
          </p:nvSpPr>
          <p:spPr>
            <a:xfrm>
              <a:off x="755650" y="1618794"/>
              <a:ext cx="7632700" cy="2021268"/>
            </a:xfrm>
            <a:prstGeom prst="rect">
              <a:avLst/>
            </a:prstGeom>
            <a:noFill/>
            <a:ln w="19050">
              <a:solidFill>
                <a:srgbClr val="18A0DB"/>
              </a:solidFill>
            </a:ln>
          </p:spPr>
          <p:txBody>
            <a:bodyPr wrap="square" lIns="216000" tIns="216000" rIns="216000" bIns="216000">
              <a:spAutoFit/>
            </a:bodyPr>
            <a:lstStyle/>
            <a:p>
              <a:pPr>
                <a:spcAft>
                  <a:spcPts val="600"/>
                </a:spcAft>
              </a:pPr>
              <a:r>
                <a:rPr lang="en-GB" sz="1400" dirty="0">
                  <a:latin typeface="Roboto" panose="02000000000000000000" pitchFamily="2" charset="0"/>
                  <a:ea typeface="Roboto" panose="02000000000000000000" pitchFamily="2" charset="0"/>
                </a:rPr>
                <a:t>This resource has been designed with animations to make it as fun and engaging as possible. To view the content in the correct formatting, please view the PowerPoint in ‘slide show mode’. This takes you from desktop to presentation mode. If you view the slides out of ‘slide show mode’, you may find that some of the text and images overlap each other and/or are difficult to read. </a:t>
              </a:r>
            </a:p>
            <a:p>
              <a:pPr>
                <a:spcAft>
                  <a:spcPts val="600"/>
                </a:spcAft>
              </a:pPr>
              <a:r>
                <a:rPr lang="en-GB" sz="1400" dirty="0">
                  <a:latin typeface="Roboto" panose="02000000000000000000" pitchFamily="2" charset="0"/>
                  <a:ea typeface="Roboto" panose="02000000000000000000" pitchFamily="2" charset="0"/>
                </a:rPr>
                <a:t>To enter slide show mode, go to the </a:t>
              </a:r>
              <a:r>
                <a:rPr lang="en-GB" sz="1400" b="1" dirty="0">
                  <a:latin typeface="Roboto" panose="02000000000000000000" pitchFamily="2" charset="0"/>
                  <a:ea typeface="Roboto" panose="02000000000000000000" pitchFamily="2" charset="0"/>
                </a:rPr>
                <a:t>slide show menu tab </a:t>
              </a:r>
              <a:r>
                <a:rPr lang="en-GB" sz="1400" dirty="0">
                  <a:latin typeface="Roboto" panose="02000000000000000000" pitchFamily="2" charset="0"/>
                  <a:ea typeface="Roboto" panose="02000000000000000000" pitchFamily="2" charset="0"/>
                </a:rPr>
                <a:t>and select either </a:t>
              </a:r>
              <a:r>
                <a:rPr lang="en-GB" sz="1400" b="1" dirty="0">
                  <a:latin typeface="Roboto" panose="02000000000000000000" pitchFamily="2" charset="0"/>
                  <a:ea typeface="Roboto" panose="02000000000000000000" pitchFamily="2" charset="0"/>
                </a:rPr>
                <a:t>from beginning</a:t>
              </a:r>
              <a:r>
                <a:rPr lang="en-GB" sz="1400" dirty="0">
                  <a:latin typeface="Roboto" panose="02000000000000000000" pitchFamily="2" charset="0"/>
                  <a:ea typeface="Roboto" panose="02000000000000000000" pitchFamily="2" charset="0"/>
                </a:rPr>
                <a:t> </a:t>
              </a:r>
              <a:r>
                <a:rPr lang="en-GB" sz="1400" b="1" dirty="0">
                  <a:latin typeface="Roboto" panose="02000000000000000000" pitchFamily="2" charset="0"/>
                  <a:ea typeface="Roboto" panose="02000000000000000000" pitchFamily="2" charset="0"/>
                </a:rPr>
                <a:t>or from current slide</a:t>
              </a:r>
              <a:r>
                <a:rPr lang="en-GB" sz="1400" dirty="0">
                  <a:latin typeface="Roboto" panose="02000000000000000000" pitchFamily="2" charset="0"/>
                  <a:ea typeface="Roboto" panose="02000000000000000000" pitchFamily="2" charset="0"/>
                </a:rPr>
                <a:t>.</a:t>
              </a:r>
            </a:p>
          </p:txBody>
        </p:sp>
      </p:grpSp>
      <p:sp>
        <p:nvSpPr>
          <p:cNvPr id="2" name="Rectangle 1"/>
          <p:cNvSpPr/>
          <p:nvPr/>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spTree>
    <p:extLst>
      <p:ext uri="{BB962C8B-B14F-4D97-AF65-F5344CB8AC3E}">
        <p14:creationId xmlns:p14="http://schemas.microsoft.com/office/powerpoint/2010/main" val="2862974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1886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GB" sz="3600" dirty="0">
                <a:latin typeface="+mn-lt"/>
              </a:rPr>
              <a:t>Flowers</a:t>
            </a:r>
          </a:p>
        </p:txBody>
      </p:sp>
      <p:sp>
        <p:nvSpPr>
          <p:cNvPr id="5" name="Rectangle 4"/>
          <p:cNvSpPr/>
          <p:nvPr/>
        </p:nvSpPr>
        <p:spPr>
          <a:xfrm>
            <a:off x="755650" y="1513946"/>
            <a:ext cx="7632700" cy="1384995"/>
          </a:xfrm>
          <a:prstGeom prst="rect">
            <a:avLst/>
          </a:prstGeom>
        </p:spPr>
        <p:txBody>
          <a:bodyPr wrap="square" lIns="0" tIns="0" rIns="0" bIns="0">
            <a:spAutoFit/>
          </a:bodyPr>
          <a:lstStyle/>
          <a:p>
            <a:r>
              <a:rPr lang="en-GB" dirty="0"/>
              <a:t>There are approximately 369,400 species of flowering plants that exist in the world today.</a:t>
            </a:r>
          </a:p>
          <a:p>
            <a:endParaRPr lang="en-GB" dirty="0"/>
          </a:p>
          <a:p>
            <a:r>
              <a:rPr lang="en-GB" dirty="0"/>
              <a:t>Each species is unique but every flower will have the same key parts which help it to grow, thrive and reproduce.</a:t>
            </a:r>
          </a:p>
        </p:txBody>
      </p:sp>
      <p:pic>
        <p:nvPicPr>
          <p:cNvPr id="4" name="Picture 3">
            <a:extLst>
              <a:ext uri="{FF2B5EF4-FFF2-40B4-BE49-F238E27FC236}">
                <a16:creationId xmlns:a16="http://schemas.microsoft.com/office/drawing/2014/main" id="{8864E519-D657-47BD-A898-60B7EB3DEE9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0501" y="3266562"/>
            <a:ext cx="1886727" cy="1625034"/>
          </a:xfrm>
          <a:prstGeom prst="rect">
            <a:avLst/>
          </a:prstGeom>
        </p:spPr>
      </p:pic>
      <p:pic>
        <p:nvPicPr>
          <p:cNvPr id="7" name="Picture 6">
            <a:extLst>
              <a:ext uri="{FF2B5EF4-FFF2-40B4-BE49-F238E27FC236}">
                <a16:creationId xmlns:a16="http://schemas.microsoft.com/office/drawing/2014/main" id="{8D27F9D5-973D-4CA5-A8AB-13914721D5F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2084131" y="4381508"/>
            <a:ext cx="1666460" cy="1925092"/>
          </a:xfrm>
          <a:prstGeom prst="rect">
            <a:avLst/>
          </a:prstGeom>
        </p:spPr>
      </p:pic>
      <p:pic>
        <p:nvPicPr>
          <p:cNvPr id="8" name="Picture 7">
            <a:extLst>
              <a:ext uri="{FF2B5EF4-FFF2-40B4-BE49-F238E27FC236}">
                <a16:creationId xmlns:a16="http://schemas.microsoft.com/office/drawing/2014/main" id="{99F9C1DF-A74C-419C-A874-B965903D64B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3750591" y="3266562"/>
            <a:ext cx="1998061" cy="1474114"/>
          </a:xfrm>
          <a:prstGeom prst="rect">
            <a:avLst/>
          </a:prstGeom>
        </p:spPr>
      </p:pic>
      <p:pic>
        <p:nvPicPr>
          <p:cNvPr id="9" name="Picture 8">
            <a:extLst>
              <a:ext uri="{FF2B5EF4-FFF2-40B4-BE49-F238E27FC236}">
                <a16:creationId xmlns:a16="http://schemas.microsoft.com/office/drawing/2014/main" id="{4A297EDE-4B85-472F-935F-03D0CBED7E4E}"/>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6336772" y="3575692"/>
            <a:ext cx="1666460" cy="2631807"/>
          </a:xfrm>
          <a:prstGeom prst="rect">
            <a:avLst/>
          </a:prstGeom>
        </p:spPr>
      </p:pic>
    </p:spTree>
    <p:extLst>
      <p:ext uri="{BB962C8B-B14F-4D97-AF65-F5344CB8AC3E}">
        <p14:creationId xmlns:p14="http://schemas.microsoft.com/office/powerpoint/2010/main" val="1286237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nodeType="afterEffect">
                                  <p:stCondLst>
                                    <p:cond delay="5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500"/>
                            </p:stCondLst>
                            <p:childTnLst>
                              <p:par>
                                <p:cTn id="13" presetID="10" presetClass="entr" presetSubtype="0" fill="hold" nodeType="afterEffect">
                                  <p:stCondLst>
                                    <p:cond delay="5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par>
                          <p:cTn id="16" fill="hold">
                            <p:stCondLst>
                              <p:cond delay="2500"/>
                            </p:stCondLst>
                            <p:childTnLst>
                              <p:par>
                                <p:cTn id="17" presetID="10" presetClass="entr" presetSubtype="0" fill="hold" nodeType="afterEffect">
                                  <p:stCondLst>
                                    <p:cond delay="5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3500"/>
                            </p:stCondLst>
                            <p:childTnLst>
                              <p:par>
                                <p:cTn id="21" presetID="10" presetClass="entr" presetSubtype="0" fill="hold" nodeType="afterEffect">
                                  <p:stCondLst>
                                    <p:cond delay="50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9F9C1DF-A74C-419C-A874-B965903D64B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432482" y="1473201"/>
            <a:ext cx="4522219" cy="7167165"/>
          </a:xfrm>
          <a:prstGeom prst="rect">
            <a:avLst/>
          </a:prstGeom>
        </p:spPr>
      </p:pic>
      <p:sp>
        <p:nvSpPr>
          <p:cNvPr id="21" name="Title 20"/>
          <p:cNvSpPr>
            <a:spLocks noGrp="1"/>
          </p:cNvSpPr>
          <p:nvPr>
            <p:ph type="title"/>
          </p:nvPr>
        </p:nvSpPr>
        <p:spPr/>
        <p:txBody>
          <a:bodyPr/>
          <a:lstStyle/>
          <a:p>
            <a:r>
              <a:rPr lang="en-GB" sz="3600" dirty="0">
                <a:latin typeface="+mn-lt"/>
              </a:rPr>
              <a:t>Parts of a Flower</a:t>
            </a:r>
          </a:p>
        </p:txBody>
      </p:sp>
      <p:sp>
        <p:nvSpPr>
          <p:cNvPr id="5" name="Rectangle 4"/>
          <p:cNvSpPr/>
          <p:nvPr/>
        </p:nvSpPr>
        <p:spPr>
          <a:xfrm>
            <a:off x="6265556" y="1359511"/>
            <a:ext cx="2322205" cy="2215991"/>
          </a:xfrm>
          <a:prstGeom prst="rect">
            <a:avLst/>
          </a:prstGeom>
        </p:spPr>
        <p:txBody>
          <a:bodyPr wrap="square" lIns="0" tIns="0" rIns="0" bIns="0">
            <a:spAutoFit/>
          </a:bodyPr>
          <a:lstStyle/>
          <a:p>
            <a:r>
              <a:rPr lang="en-GB" sz="1600" b="1" dirty="0"/>
              <a:t>Petals</a:t>
            </a:r>
          </a:p>
          <a:p>
            <a:r>
              <a:rPr lang="en-GB" sz="1600" dirty="0"/>
              <a:t>Petals make flowers look beautiful. They are brightly coloured to attract insects and bees to the flower in order to pollinate. Without the pollinators, new flowers could not be made.</a:t>
            </a:r>
          </a:p>
        </p:txBody>
      </p:sp>
      <p:sp>
        <p:nvSpPr>
          <p:cNvPr id="2" name="Oval 1">
            <a:extLst>
              <a:ext uri="{FF2B5EF4-FFF2-40B4-BE49-F238E27FC236}">
                <a16:creationId xmlns:a16="http://schemas.microsoft.com/office/drawing/2014/main" id="{574F3E8C-8A60-4652-8F0C-609A12C40A0A}"/>
              </a:ext>
            </a:extLst>
          </p:cNvPr>
          <p:cNvSpPr/>
          <p:nvPr/>
        </p:nvSpPr>
        <p:spPr>
          <a:xfrm>
            <a:off x="4912469" y="1741252"/>
            <a:ext cx="291829" cy="291829"/>
          </a:xfrm>
          <a:prstGeom prst="ellipse">
            <a:avLst/>
          </a:prstGeom>
          <a:solidFill>
            <a:srgbClr val="E94E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1</a:t>
            </a:r>
          </a:p>
        </p:txBody>
      </p:sp>
      <p:sp>
        <p:nvSpPr>
          <p:cNvPr id="11" name="Rectangle 10">
            <a:extLst>
              <a:ext uri="{FF2B5EF4-FFF2-40B4-BE49-F238E27FC236}">
                <a16:creationId xmlns:a16="http://schemas.microsoft.com/office/drawing/2014/main" id="{D5059EE1-1B88-4AD2-8FE3-A5590DFDC52F}"/>
              </a:ext>
            </a:extLst>
          </p:cNvPr>
          <p:cNvSpPr/>
          <p:nvPr/>
        </p:nvSpPr>
        <p:spPr>
          <a:xfrm>
            <a:off x="5836596" y="3912286"/>
            <a:ext cx="2456093" cy="2215991"/>
          </a:xfrm>
          <a:prstGeom prst="rect">
            <a:avLst/>
          </a:prstGeom>
        </p:spPr>
        <p:txBody>
          <a:bodyPr wrap="square" lIns="0" tIns="0" rIns="0" bIns="0">
            <a:spAutoFit/>
          </a:bodyPr>
          <a:lstStyle/>
          <a:p>
            <a:r>
              <a:rPr lang="en-GB" sz="1600" b="1" dirty="0"/>
              <a:t>Stigma</a:t>
            </a:r>
          </a:p>
          <a:p>
            <a:r>
              <a:rPr lang="en-GB" sz="1600" dirty="0"/>
              <a:t>The stigma is the female part of the flower. It is the sticky part at the top of the pistil that stands up in the centre of the flower. It collects pollen from visiting insects, ready for fertilisation to happen.</a:t>
            </a:r>
          </a:p>
        </p:txBody>
      </p:sp>
      <p:sp>
        <p:nvSpPr>
          <p:cNvPr id="12" name="Oval 11">
            <a:extLst>
              <a:ext uri="{FF2B5EF4-FFF2-40B4-BE49-F238E27FC236}">
                <a16:creationId xmlns:a16="http://schemas.microsoft.com/office/drawing/2014/main" id="{B5895062-F998-4254-AA77-95F4560DE108}"/>
              </a:ext>
            </a:extLst>
          </p:cNvPr>
          <p:cNvSpPr/>
          <p:nvPr/>
        </p:nvSpPr>
        <p:spPr>
          <a:xfrm>
            <a:off x="4486581" y="2546829"/>
            <a:ext cx="291829" cy="291829"/>
          </a:xfrm>
          <a:prstGeom prst="ellipse">
            <a:avLst/>
          </a:prstGeom>
          <a:solidFill>
            <a:srgbClr val="E94E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4</a:t>
            </a:r>
          </a:p>
        </p:txBody>
      </p:sp>
      <p:sp>
        <p:nvSpPr>
          <p:cNvPr id="13" name="Rectangle 12">
            <a:extLst>
              <a:ext uri="{FF2B5EF4-FFF2-40B4-BE49-F238E27FC236}">
                <a16:creationId xmlns:a16="http://schemas.microsoft.com/office/drawing/2014/main" id="{DC9D7400-0C4D-40B0-8847-43876AEA9CE0}"/>
              </a:ext>
            </a:extLst>
          </p:cNvPr>
          <p:cNvSpPr/>
          <p:nvPr/>
        </p:nvSpPr>
        <p:spPr>
          <a:xfrm>
            <a:off x="653922" y="1363464"/>
            <a:ext cx="2494671" cy="2708434"/>
          </a:xfrm>
          <a:prstGeom prst="rect">
            <a:avLst/>
          </a:prstGeom>
        </p:spPr>
        <p:txBody>
          <a:bodyPr wrap="square" lIns="0" tIns="0" rIns="0" bIns="0">
            <a:spAutoFit/>
          </a:bodyPr>
          <a:lstStyle/>
          <a:p>
            <a:r>
              <a:rPr lang="en-GB" sz="1600" b="1" dirty="0"/>
              <a:t>Pollen</a:t>
            </a:r>
          </a:p>
          <a:p>
            <a:r>
              <a:rPr lang="en-GB" sz="1600" dirty="0"/>
              <a:t>Pollen looks a bit like dust and is a bit sticky. It can be blown by the wind or moved around by insects within the same flower or to another flower. The flower makes pollen in the anther, which is the top part of the stamen – the male part of the flower.</a:t>
            </a:r>
          </a:p>
        </p:txBody>
      </p:sp>
      <p:sp>
        <p:nvSpPr>
          <p:cNvPr id="14" name="Oval 13">
            <a:extLst>
              <a:ext uri="{FF2B5EF4-FFF2-40B4-BE49-F238E27FC236}">
                <a16:creationId xmlns:a16="http://schemas.microsoft.com/office/drawing/2014/main" id="{2C9F2F04-2C5D-4FA2-841C-6D61C0F02F6B}"/>
              </a:ext>
            </a:extLst>
          </p:cNvPr>
          <p:cNvSpPr/>
          <p:nvPr/>
        </p:nvSpPr>
        <p:spPr>
          <a:xfrm>
            <a:off x="3810038" y="2788201"/>
            <a:ext cx="291829" cy="291829"/>
          </a:xfrm>
          <a:prstGeom prst="ellipse">
            <a:avLst/>
          </a:prstGeom>
          <a:solidFill>
            <a:srgbClr val="E94E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a:t>
            </a:r>
          </a:p>
        </p:txBody>
      </p:sp>
      <p:sp>
        <p:nvSpPr>
          <p:cNvPr id="15" name="Oval 14">
            <a:extLst>
              <a:ext uri="{FF2B5EF4-FFF2-40B4-BE49-F238E27FC236}">
                <a16:creationId xmlns:a16="http://schemas.microsoft.com/office/drawing/2014/main" id="{B90D0BF2-4130-4711-884A-93AED96672B0}"/>
              </a:ext>
            </a:extLst>
          </p:cNvPr>
          <p:cNvSpPr/>
          <p:nvPr/>
        </p:nvSpPr>
        <p:spPr>
          <a:xfrm>
            <a:off x="4194752" y="1982967"/>
            <a:ext cx="291829" cy="291829"/>
          </a:xfrm>
          <a:prstGeom prst="ellipse">
            <a:avLst/>
          </a:prstGeom>
          <a:solidFill>
            <a:srgbClr val="E94E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2</a:t>
            </a:r>
          </a:p>
        </p:txBody>
      </p:sp>
      <p:sp>
        <p:nvSpPr>
          <p:cNvPr id="16" name="Rectangle 15">
            <a:extLst>
              <a:ext uri="{FF2B5EF4-FFF2-40B4-BE49-F238E27FC236}">
                <a16:creationId xmlns:a16="http://schemas.microsoft.com/office/drawing/2014/main" id="{29CABAF1-EA3E-4A1D-B67B-B5C6EC412587}"/>
              </a:ext>
            </a:extLst>
          </p:cNvPr>
          <p:cNvSpPr/>
          <p:nvPr/>
        </p:nvSpPr>
        <p:spPr>
          <a:xfrm>
            <a:off x="1249876" y="4181635"/>
            <a:ext cx="2851991" cy="2215991"/>
          </a:xfrm>
          <a:prstGeom prst="rect">
            <a:avLst/>
          </a:prstGeom>
        </p:spPr>
        <p:txBody>
          <a:bodyPr wrap="square" lIns="0" tIns="0" rIns="0" bIns="0">
            <a:spAutoFit/>
          </a:bodyPr>
          <a:lstStyle/>
          <a:p>
            <a:r>
              <a:rPr lang="en-GB" sz="1600" b="1" dirty="0"/>
              <a:t>Stamen</a:t>
            </a:r>
          </a:p>
          <a:p>
            <a:r>
              <a:rPr lang="en-GB" sz="1600" dirty="0"/>
              <a:t>This is the male part of the flower. The stamen is a long part made up of the anther (at the top) and the filament (the ‘stalk’ the anther sits on). The stamen produces the pollen that then goes to fertilise plants for reproduction.</a:t>
            </a:r>
          </a:p>
        </p:txBody>
      </p:sp>
    </p:spTree>
    <p:extLst>
      <p:ext uri="{BB962C8B-B14F-4D97-AF65-F5344CB8AC3E}">
        <p14:creationId xmlns:p14="http://schemas.microsoft.com/office/powerpoint/2010/main" val="1292932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nextCondLst>
                <p:cond evt="onClick" delay="0">
                  <p:tgtEl>
                    <p:spTgt spid="2"/>
                  </p:tgtEl>
                </p:cond>
              </p:nextCondLst>
            </p:seq>
            <p:seq concurrent="1" nextAc="seek">
              <p:cTn id="14" restart="whenNotActive" fill="hold" evtFilter="cancelBubble" nodeType="interactiveSeq">
                <p:stCondLst>
                  <p:cond evt="onClick" delay="0">
                    <p:tgtEl>
                      <p:spTgt spid="12"/>
                    </p:tgtEl>
                  </p:cond>
                </p:stCondLst>
                <p:endSync evt="end" delay="0">
                  <p:rtn val="all"/>
                </p:endSync>
                <p:childTnLst>
                  <p:par>
                    <p:cTn id="15" fill="hold">
                      <p:stCondLst>
                        <p:cond delay="0"/>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childTnLst>
                    </p:cTn>
                  </p:par>
                </p:childTnLst>
              </p:cTn>
              <p:nextCondLst>
                <p:cond evt="onClick" delay="0">
                  <p:tgtEl>
                    <p:spTgt spid="12"/>
                  </p:tgtEl>
                </p:cond>
              </p:nextCondLst>
            </p:seq>
            <p:seq concurrent="1" nextAc="seek">
              <p:cTn id="20" restart="whenNotActive" fill="hold" evtFilter="cancelBubble" nodeType="interactiveSeq">
                <p:stCondLst>
                  <p:cond evt="onClick" delay="0">
                    <p:tgtEl>
                      <p:spTgt spid="15"/>
                    </p:tgtEl>
                  </p:cond>
                </p:stCondLst>
                <p:endSync evt="end" delay="0">
                  <p:rtn val="all"/>
                </p:endSync>
                <p:childTnLst>
                  <p:par>
                    <p:cTn id="21" fill="hold">
                      <p:stCondLst>
                        <p:cond delay="0"/>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childTnLst>
                          </p:cTn>
                        </p:par>
                      </p:childTnLst>
                    </p:cTn>
                  </p:par>
                </p:childTnLst>
              </p:cTn>
              <p:nextCondLst>
                <p:cond evt="onClick" delay="0">
                  <p:tgtEl>
                    <p:spTgt spid="15"/>
                  </p:tgtEl>
                </p:cond>
              </p:nextCondLst>
            </p:seq>
          </p:childTnLst>
        </p:cTn>
      </p:par>
    </p:tnLst>
    <p:bldLst>
      <p:bldP spid="5" grpId="0"/>
      <p:bldP spid="11" grpId="0"/>
      <p:bldP spid="13" grpId="0"/>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9F9C1DF-A74C-419C-A874-B965903D64B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432482" y="1473201"/>
            <a:ext cx="4522219" cy="7167165"/>
          </a:xfrm>
          <a:prstGeom prst="rect">
            <a:avLst/>
          </a:prstGeom>
        </p:spPr>
      </p:pic>
      <p:sp>
        <p:nvSpPr>
          <p:cNvPr id="21" name="Title 20"/>
          <p:cNvSpPr>
            <a:spLocks noGrp="1"/>
          </p:cNvSpPr>
          <p:nvPr>
            <p:ph type="title"/>
          </p:nvPr>
        </p:nvSpPr>
        <p:spPr/>
        <p:txBody>
          <a:bodyPr/>
          <a:lstStyle/>
          <a:p>
            <a:r>
              <a:rPr lang="en-GB" sz="3600" dirty="0">
                <a:latin typeface="+mn-lt"/>
              </a:rPr>
              <a:t>Parts of a Flower</a:t>
            </a:r>
          </a:p>
        </p:txBody>
      </p:sp>
      <p:sp>
        <p:nvSpPr>
          <p:cNvPr id="5" name="Rectangle 4"/>
          <p:cNvSpPr/>
          <p:nvPr/>
        </p:nvSpPr>
        <p:spPr>
          <a:xfrm>
            <a:off x="6265556" y="1359511"/>
            <a:ext cx="2322205" cy="1723549"/>
          </a:xfrm>
          <a:prstGeom prst="rect">
            <a:avLst/>
          </a:prstGeom>
        </p:spPr>
        <p:txBody>
          <a:bodyPr wrap="square" lIns="0" tIns="0" rIns="0" bIns="0">
            <a:spAutoFit/>
          </a:bodyPr>
          <a:lstStyle/>
          <a:p>
            <a:r>
              <a:rPr lang="en-GB" sz="1600" b="1" dirty="0"/>
              <a:t>Ovary</a:t>
            </a:r>
          </a:p>
          <a:p>
            <a:r>
              <a:rPr lang="en-GB" sz="1600" dirty="0"/>
              <a:t>The ovary is the bottom of the female part of the flower, where the ovules are. The ovules get fertilised and new seeds grow in the ovary.</a:t>
            </a:r>
          </a:p>
        </p:txBody>
      </p:sp>
      <p:sp>
        <p:nvSpPr>
          <p:cNvPr id="2" name="Oval 1">
            <a:extLst>
              <a:ext uri="{FF2B5EF4-FFF2-40B4-BE49-F238E27FC236}">
                <a16:creationId xmlns:a16="http://schemas.microsoft.com/office/drawing/2014/main" id="{574F3E8C-8A60-4652-8F0C-609A12C40A0A}"/>
              </a:ext>
            </a:extLst>
          </p:cNvPr>
          <p:cNvSpPr/>
          <p:nvPr/>
        </p:nvSpPr>
        <p:spPr>
          <a:xfrm>
            <a:off x="5186663" y="3402062"/>
            <a:ext cx="291829" cy="291829"/>
          </a:xfrm>
          <a:prstGeom prst="ellipse">
            <a:avLst/>
          </a:prstGeom>
          <a:solidFill>
            <a:srgbClr val="E94E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8</a:t>
            </a:r>
          </a:p>
        </p:txBody>
      </p:sp>
      <p:sp>
        <p:nvSpPr>
          <p:cNvPr id="11" name="Rectangle 10">
            <a:extLst>
              <a:ext uri="{FF2B5EF4-FFF2-40B4-BE49-F238E27FC236}">
                <a16:creationId xmlns:a16="http://schemas.microsoft.com/office/drawing/2014/main" id="{D5059EE1-1B88-4AD2-8FE3-A5590DFDC52F}"/>
              </a:ext>
            </a:extLst>
          </p:cNvPr>
          <p:cNvSpPr/>
          <p:nvPr/>
        </p:nvSpPr>
        <p:spPr>
          <a:xfrm>
            <a:off x="5887604" y="3402062"/>
            <a:ext cx="2773127" cy="2954655"/>
          </a:xfrm>
          <a:prstGeom prst="rect">
            <a:avLst/>
          </a:prstGeom>
        </p:spPr>
        <p:txBody>
          <a:bodyPr wrap="square" lIns="0" tIns="0" rIns="0" bIns="0">
            <a:spAutoFit/>
          </a:bodyPr>
          <a:lstStyle/>
          <a:p>
            <a:r>
              <a:rPr lang="en-GB" sz="1600" b="1" dirty="0"/>
              <a:t>Sepals</a:t>
            </a:r>
          </a:p>
          <a:p>
            <a:r>
              <a:rPr lang="en-GB" sz="1600" dirty="0"/>
              <a:t>Sepals look like a cross between petals and leaves. They protect the flower and its petals before they open out. When you see a flower bud, you will see the sepals covering it up. On some plants that grow fruit, you can still see the sepals after they are picked, for example on strawberries and tomatoes.</a:t>
            </a:r>
          </a:p>
        </p:txBody>
      </p:sp>
      <p:sp>
        <p:nvSpPr>
          <p:cNvPr id="12" name="Oval 11">
            <a:extLst>
              <a:ext uri="{FF2B5EF4-FFF2-40B4-BE49-F238E27FC236}">
                <a16:creationId xmlns:a16="http://schemas.microsoft.com/office/drawing/2014/main" id="{B5895062-F998-4254-AA77-95F4560DE108}"/>
              </a:ext>
            </a:extLst>
          </p:cNvPr>
          <p:cNvSpPr/>
          <p:nvPr/>
        </p:nvSpPr>
        <p:spPr>
          <a:xfrm>
            <a:off x="4635324" y="2496372"/>
            <a:ext cx="291829" cy="291829"/>
          </a:xfrm>
          <a:prstGeom prst="ellipse">
            <a:avLst/>
          </a:prstGeom>
          <a:solidFill>
            <a:srgbClr val="E94E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5</a:t>
            </a:r>
          </a:p>
        </p:txBody>
      </p:sp>
      <p:sp>
        <p:nvSpPr>
          <p:cNvPr id="13" name="Rectangle 12">
            <a:extLst>
              <a:ext uri="{FF2B5EF4-FFF2-40B4-BE49-F238E27FC236}">
                <a16:creationId xmlns:a16="http://schemas.microsoft.com/office/drawing/2014/main" id="{DC9D7400-0C4D-40B0-8847-43876AEA9CE0}"/>
              </a:ext>
            </a:extLst>
          </p:cNvPr>
          <p:cNvSpPr/>
          <p:nvPr/>
        </p:nvSpPr>
        <p:spPr>
          <a:xfrm>
            <a:off x="619554" y="939849"/>
            <a:ext cx="2494671" cy="2462213"/>
          </a:xfrm>
          <a:prstGeom prst="rect">
            <a:avLst/>
          </a:prstGeom>
        </p:spPr>
        <p:txBody>
          <a:bodyPr wrap="square" lIns="0" tIns="0" rIns="0" bIns="0">
            <a:spAutoFit/>
          </a:bodyPr>
          <a:lstStyle/>
          <a:p>
            <a:r>
              <a:rPr lang="en-GB" sz="1600" b="1" dirty="0"/>
              <a:t>Pistil</a:t>
            </a:r>
          </a:p>
          <a:p>
            <a:r>
              <a:rPr lang="en-GB" sz="1600" dirty="0"/>
              <a:t>The female part of the flower. It is made from the stigma at the top, the style (the long part which links the top and the bottom), and the ovary at the bottom. It is in the pistil that fertilisation of the flower happens.</a:t>
            </a:r>
          </a:p>
        </p:txBody>
      </p:sp>
      <p:sp>
        <p:nvSpPr>
          <p:cNvPr id="14" name="Oval 13">
            <a:extLst>
              <a:ext uri="{FF2B5EF4-FFF2-40B4-BE49-F238E27FC236}">
                <a16:creationId xmlns:a16="http://schemas.microsoft.com/office/drawing/2014/main" id="{2C9F2F04-2C5D-4FA2-841C-6D61C0F02F6B}"/>
              </a:ext>
            </a:extLst>
          </p:cNvPr>
          <p:cNvSpPr/>
          <p:nvPr/>
        </p:nvSpPr>
        <p:spPr>
          <a:xfrm>
            <a:off x="4101867" y="2977273"/>
            <a:ext cx="291829" cy="291829"/>
          </a:xfrm>
          <a:prstGeom prst="ellipse">
            <a:avLst/>
          </a:prstGeom>
          <a:solidFill>
            <a:srgbClr val="E94E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6</a:t>
            </a:r>
          </a:p>
        </p:txBody>
      </p:sp>
      <p:sp>
        <p:nvSpPr>
          <p:cNvPr id="15" name="Oval 14">
            <a:extLst>
              <a:ext uri="{FF2B5EF4-FFF2-40B4-BE49-F238E27FC236}">
                <a16:creationId xmlns:a16="http://schemas.microsoft.com/office/drawing/2014/main" id="{B90D0BF2-4130-4711-884A-93AED96672B0}"/>
              </a:ext>
            </a:extLst>
          </p:cNvPr>
          <p:cNvSpPr/>
          <p:nvPr/>
        </p:nvSpPr>
        <p:spPr>
          <a:xfrm>
            <a:off x="4185284" y="2597451"/>
            <a:ext cx="291829" cy="291829"/>
          </a:xfrm>
          <a:prstGeom prst="ellipse">
            <a:avLst/>
          </a:prstGeom>
          <a:solidFill>
            <a:srgbClr val="E94E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7</a:t>
            </a:r>
          </a:p>
        </p:txBody>
      </p:sp>
      <p:sp>
        <p:nvSpPr>
          <p:cNvPr id="16" name="Rectangle 15">
            <a:extLst>
              <a:ext uri="{FF2B5EF4-FFF2-40B4-BE49-F238E27FC236}">
                <a16:creationId xmlns:a16="http://schemas.microsoft.com/office/drawing/2014/main" id="{29CABAF1-EA3E-4A1D-B67B-B5C6EC412587}"/>
              </a:ext>
            </a:extLst>
          </p:cNvPr>
          <p:cNvSpPr/>
          <p:nvPr/>
        </p:nvSpPr>
        <p:spPr>
          <a:xfrm>
            <a:off x="799422" y="3515752"/>
            <a:ext cx="3325122" cy="1231106"/>
          </a:xfrm>
          <a:prstGeom prst="rect">
            <a:avLst/>
          </a:prstGeom>
        </p:spPr>
        <p:txBody>
          <a:bodyPr wrap="square" lIns="0" tIns="0" rIns="0" bIns="0">
            <a:spAutoFit/>
          </a:bodyPr>
          <a:lstStyle/>
          <a:p>
            <a:r>
              <a:rPr lang="en-GB" sz="1600" b="1" dirty="0"/>
              <a:t>Ovule</a:t>
            </a:r>
          </a:p>
          <a:p>
            <a:r>
              <a:rPr lang="en-GB" sz="1600" dirty="0"/>
              <a:t>This is the part of the flower that gets fertilised and becomes a new seed. Its name comes from the Latin word ‘ovulum’, meaning ‘little egg’.</a:t>
            </a:r>
          </a:p>
        </p:txBody>
      </p:sp>
      <p:sp>
        <p:nvSpPr>
          <p:cNvPr id="17" name="Oval 16">
            <a:extLst>
              <a:ext uri="{FF2B5EF4-FFF2-40B4-BE49-F238E27FC236}">
                <a16:creationId xmlns:a16="http://schemas.microsoft.com/office/drawing/2014/main" id="{2129192F-A64F-42CA-B1C9-5CC62311E3DB}"/>
              </a:ext>
            </a:extLst>
          </p:cNvPr>
          <p:cNvSpPr/>
          <p:nvPr/>
        </p:nvSpPr>
        <p:spPr>
          <a:xfrm>
            <a:off x="4460686" y="3782507"/>
            <a:ext cx="291829" cy="291829"/>
          </a:xfrm>
          <a:prstGeom prst="ellipse">
            <a:avLst/>
          </a:prstGeom>
          <a:solidFill>
            <a:srgbClr val="E94E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9</a:t>
            </a:r>
          </a:p>
        </p:txBody>
      </p:sp>
      <p:sp>
        <p:nvSpPr>
          <p:cNvPr id="18" name="Rectangle 17">
            <a:extLst>
              <a:ext uri="{FF2B5EF4-FFF2-40B4-BE49-F238E27FC236}">
                <a16:creationId xmlns:a16="http://schemas.microsoft.com/office/drawing/2014/main" id="{999F27EF-97E9-4AE7-ADCD-3DD4384AF6DF}"/>
              </a:ext>
            </a:extLst>
          </p:cNvPr>
          <p:cNvSpPr/>
          <p:nvPr/>
        </p:nvSpPr>
        <p:spPr>
          <a:xfrm>
            <a:off x="669422" y="4925080"/>
            <a:ext cx="5001804" cy="1231106"/>
          </a:xfrm>
          <a:prstGeom prst="rect">
            <a:avLst/>
          </a:prstGeom>
          <a:solidFill>
            <a:schemeClr val="bg1"/>
          </a:solidFill>
        </p:spPr>
        <p:txBody>
          <a:bodyPr wrap="square" lIns="0" tIns="0" rIns="0" bIns="0">
            <a:spAutoFit/>
          </a:bodyPr>
          <a:lstStyle/>
          <a:p>
            <a:r>
              <a:rPr lang="en-GB" sz="1600" b="1" dirty="0"/>
              <a:t>Stem</a:t>
            </a:r>
          </a:p>
          <a:p>
            <a:r>
              <a:rPr lang="en-GB" sz="1600" dirty="0"/>
              <a:t>The stem of the flower has two important jobs. Firstly, like the roots, the stem helps the flower stand upright and tall. Secondly, it carries water and nutrients that are absorbed in the roots up to the leaves and flower. </a:t>
            </a:r>
          </a:p>
        </p:txBody>
      </p:sp>
    </p:spTree>
    <p:extLst>
      <p:ext uri="{BB962C8B-B14F-4D97-AF65-F5344CB8AC3E}">
        <p14:creationId xmlns:p14="http://schemas.microsoft.com/office/powerpoint/2010/main" val="184153093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nextCondLst>
                <p:cond evt="onClick" delay="0">
                  <p:tgtEl>
                    <p:spTgt spid="2"/>
                  </p:tgtEl>
                </p:cond>
              </p:nextCondLst>
            </p:seq>
            <p:seq concurrent="1" nextAc="seek">
              <p:cTn id="8" restart="whenNotActive" fill="hold" evtFilter="cancelBubble" nodeType="interactiveSeq">
                <p:stCondLst>
                  <p:cond evt="onClick" delay="0">
                    <p:tgtEl>
                      <p:spTgt spid="15"/>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childTnLst>
              </p:cTn>
              <p:nextCondLst>
                <p:cond evt="onClick" delay="0">
                  <p:tgtEl>
                    <p:spTgt spid="15"/>
                  </p:tgtEl>
                </p:cond>
              </p:nextCondLst>
            </p:seq>
            <p:seq concurrent="1" nextAc="seek">
              <p:cTn id="14" restart="whenNotActive" fill="hold" evtFilter="cancelBubble" nodeType="interactiveSeq">
                <p:stCondLst>
                  <p:cond evt="onClick" delay="0">
                    <p:tgtEl>
                      <p:spTgt spid="14"/>
                    </p:tgtEl>
                  </p:cond>
                </p:stCondLst>
                <p:endSync evt="end" delay="0">
                  <p:rtn val="all"/>
                </p:endSync>
                <p:childTnLst>
                  <p:par>
                    <p:cTn id="15" fill="hold">
                      <p:stCondLst>
                        <p:cond delay="0"/>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nextCondLst>
                <p:cond evt="onClick" delay="0">
                  <p:tgtEl>
                    <p:spTgt spid="14"/>
                  </p:tgtEl>
                </p:cond>
              </p:nextCondLst>
            </p:seq>
            <p:seq concurrent="1" nextAc="seek">
              <p:cTn id="20" restart="whenNotActive" fill="hold" evtFilter="cancelBubble" nodeType="interactiveSeq">
                <p:stCondLst>
                  <p:cond evt="onClick" delay="0">
                    <p:tgtEl>
                      <p:spTgt spid="17"/>
                    </p:tgtEl>
                  </p:cond>
                </p:stCondLst>
                <p:endSync evt="end" delay="0">
                  <p:rtn val="all"/>
                </p:endSync>
                <p:childTnLst>
                  <p:par>
                    <p:cTn id="21" fill="hold">
                      <p:stCondLst>
                        <p:cond delay="0"/>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childTnLst>
                          </p:cTn>
                        </p:par>
                      </p:childTnLst>
                    </p:cTn>
                  </p:par>
                </p:childTnLst>
              </p:cTn>
              <p:nextCondLst>
                <p:cond evt="onClick" delay="0">
                  <p:tgtEl>
                    <p:spTgt spid="17"/>
                  </p:tgtEl>
                </p:cond>
              </p:nextCondLst>
            </p:seq>
            <p:seq concurrent="1" nextAc="seek">
              <p:cTn id="26" restart="whenNotActive" fill="hold" evtFilter="cancelBubble" nodeType="interactiveSeq">
                <p:stCondLst>
                  <p:cond evt="onClick" delay="0">
                    <p:tgtEl>
                      <p:spTgt spid="12"/>
                    </p:tgtEl>
                  </p:cond>
                </p:stCondLst>
                <p:endSync evt="end" delay="0">
                  <p:rtn val="all"/>
                </p:endSync>
                <p:childTnLst>
                  <p:par>
                    <p:cTn id="27" fill="hold">
                      <p:stCondLst>
                        <p:cond delay="0"/>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childTnLst>
                          </p:cTn>
                        </p:par>
                      </p:childTnLst>
                    </p:cTn>
                  </p:par>
                </p:childTnLst>
              </p:cTn>
              <p:nextCondLst>
                <p:cond evt="onClick" delay="0">
                  <p:tgtEl>
                    <p:spTgt spid="12"/>
                  </p:tgtEl>
                </p:cond>
              </p:nextCondLst>
            </p:seq>
          </p:childTnLst>
        </p:cTn>
      </p:par>
    </p:tnLst>
    <p:bldLst>
      <p:bldP spid="5" grpId="0"/>
      <p:bldP spid="11" grpId="0"/>
      <p:bldP spid="13" grpId="0"/>
      <p:bldP spid="16" grpId="0"/>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GB" sz="3600" dirty="0">
                <a:latin typeface="+mn-lt"/>
              </a:rPr>
              <a:t>What Do Plants Need?</a:t>
            </a:r>
          </a:p>
        </p:txBody>
      </p:sp>
      <p:sp>
        <p:nvSpPr>
          <p:cNvPr id="5" name="Rectangle 4"/>
          <p:cNvSpPr/>
          <p:nvPr/>
        </p:nvSpPr>
        <p:spPr>
          <a:xfrm>
            <a:off x="755650" y="1513946"/>
            <a:ext cx="3801155" cy="2769989"/>
          </a:xfrm>
          <a:prstGeom prst="rect">
            <a:avLst/>
          </a:prstGeom>
        </p:spPr>
        <p:txBody>
          <a:bodyPr wrap="square" lIns="0" tIns="0" rIns="0" bIns="0">
            <a:spAutoFit/>
          </a:bodyPr>
          <a:lstStyle/>
          <a:p>
            <a:r>
              <a:rPr lang="en-GB" dirty="0"/>
              <a:t>Air is needed for plants and flowers to grow. Green plants take in carbon dioxide (C0</a:t>
            </a:r>
            <a:r>
              <a:rPr lang="en-GB" baseline="-25000" dirty="0"/>
              <a:t>2</a:t>
            </a:r>
            <a:r>
              <a:rPr lang="en-GB" dirty="0"/>
              <a:t>) from the air and give out oxygen (0</a:t>
            </a:r>
            <a:r>
              <a:rPr lang="en-GB" baseline="-25000" dirty="0"/>
              <a:t>2</a:t>
            </a:r>
            <a:r>
              <a:rPr lang="en-GB" dirty="0"/>
              <a:t>). </a:t>
            </a:r>
          </a:p>
          <a:p>
            <a:endParaRPr lang="en-GB" dirty="0"/>
          </a:p>
          <a:p>
            <a:r>
              <a:rPr lang="en-GB" dirty="0"/>
              <a:t>This is the opposite to what humans breathe in and out. Humans breathe in oxygen and give out carbon dioxide. Plants need air to respire, just like animals do.</a:t>
            </a:r>
            <a:r>
              <a:rPr lang="en-GB" baseline="-25000" dirty="0"/>
              <a:t>         </a:t>
            </a:r>
            <a:endParaRPr lang="en-GB" dirty="0"/>
          </a:p>
        </p:txBody>
      </p:sp>
      <p:pic>
        <p:nvPicPr>
          <p:cNvPr id="3" name="Picture 2">
            <a:extLst>
              <a:ext uri="{FF2B5EF4-FFF2-40B4-BE49-F238E27FC236}">
                <a16:creationId xmlns:a16="http://schemas.microsoft.com/office/drawing/2014/main" id="{5D1C542F-EE73-4BC4-B980-CEC69DC8E25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51899" y="1513946"/>
            <a:ext cx="3801155" cy="4551080"/>
          </a:xfrm>
          <a:prstGeom prst="rect">
            <a:avLst/>
          </a:prstGeom>
        </p:spPr>
      </p:pic>
    </p:spTree>
    <p:extLst>
      <p:ext uri="{BB962C8B-B14F-4D97-AF65-F5344CB8AC3E}">
        <p14:creationId xmlns:p14="http://schemas.microsoft.com/office/powerpoint/2010/main" val="2596257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nodeType="afterEffect">
                                  <p:stCondLst>
                                    <p:cond delay="50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GB" sz="3600" dirty="0">
                <a:latin typeface="+mn-lt"/>
              </a:rPr>
              <a:t>What Do Plants Need?</a:t>
            </a:r>
          </a:p>
        </p:txBody>
      </p:sp>
      <p:sp>
        <p:nvSpPr>
          <p:cNvPr id="5" name="Rectangle 4"/>
          <p:cNvSpPr/>
          <p:nvPr/>
        </p:nvSpPr>
        <p:spPr>
          <a:xfrm>
            <a:off x="755650" y="1513946"/>
            <a:ext cx="5219022" cy="2492990"/>
          </a:xfrm>
          <a:prstGeom prst="rect">
            <a:avLst/>
          </a:prstGeom>
        </p:spPr>
        <p:txBody>
          <a:bodyPr wrap="square" lIns="0" tIns="0" rIns="0" bIns="0">
            <a:spAutoFit/>
          </a:bodyPr>
          <a:lstStyle/>
          <a:p>
            <a:r>
              <a:rPr lang="en-GB" dirty="0"/>
              <a:t>As well as air, plants need a source of water in order to survive. Plants take up the nutrients from the water which help the plant to grow and thrive. They also help the plant perform photosynthesis – turning sunlight into energy.</a:t>
            </a:r>
          </a:p>
          <a:p>
            <a:endParaRPr lang="en-GB" dirty="0"/>
          </a:p>
          <a:p>
            <a:r>
              <a:rPr lang="en-GB" dirty="0"/>
              <a:t>However, too much water can cause a plant’s roots to rot which can harm the plant, potentially causing it to die.</a:t>
            </a:r>
          </a:p>
        </p:txBody>
      </p:sp>
      <p:pic>
        <p:nvPicPr>
          <p:cNvPr id="3" name="Picture 2">
            <a:extLst>
              <a:ext uri="{FF2B5EF4-FFF2-40B4-BE49-F238E27FC236}">
                <a16:creationId xmlns:a16="http://schemas.microsoft.com/office/drawing/2014/main" id="{B2302A7A-503A-4E3D-8ADD-A0E47BDA157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06173" y="1402179"/>
            <a:ext cx="3182177" cy="4750046"/>
          </a:xfrm>
          <a:prstGeom prst="rect">
            <a:avLst/>
          </a:prstGeom>
        </p:spPr>
      </p:pic>
    </p:spTree>
    <p:extLst>
      <p:ext uri="{BB962C8B-B14F-4D97-AF65-F5344CB8AC3E}">
        <p14:creationId xmlns:p14="http://schemas.microsoft.com/office/powerpoint/2010/main" val="2685649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nodeType="afterEffect">
                                  <p:stCondLst>
                                    <p:cond delay="50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GB" sz="3600" dirty="0">
                <a:latin typeface="+mn-lt"/>
              </a:rPr>
              <a:t>What Do Plants Need?</a:t>
            </a:r>
          </a:p>
        </p:txBody>
      </p:sp>
      <p:sp>
        <p:nvSpPr>
          <p:cNvPr id="5" name="Rectangle 4"/>
          <p:cNvSpPr/>
          <p:nvPr/>
        </p:nvSpPr>
        <p:spPr>
          <a:xfrm>
            <a:off x="755650" y="1513946"/>
            <a:ext cx="7632700" cy="1661993"/>
          </a:xfrm>
          <a:prstGeom prst="rect">
            <a:avLst/>
          </a:prstGeom>
        </p:spPr>
        <p:txBody>
          <a:bodyPr wrap="square" lIns="0" tIns="0" rIns="0" bIns="0">
            <a:spAutoFit/>
          </a:bodyPr>
          <a:lstStyle/>
          <a:p>
            <a:r>
              <a:rPr lang="en-GB" dirty="0"/>
              <a:t>Lastly, plants require sunlight to survive. They use the sunlight for photosynthesis, which turns the sunlight into nutrients for the plant to feed on in order to grow and thrive.</a:t>
            </a:r>
          </a:p>
          <a:p>
            <a:endParaRPr lang="en-GB" dirty="0"/>
          </a:p>
          <a:p>
            <a:r>
              <a:rPr lang="en-GB" dirty="0"/>
              <a:t>Some plants require more sunlight than others but too much sunlight can harm some plants.</a:t>
            </a:r>
          </a:p>
        </p:txBody>
      </p:sp>
      <p:pic>
        <p:nvPicPr>
          <p:cNvPr id="3" name="Picture 2">
            <a:extLst>
              <a:ext uri="{FF2B5EF4-FFF2-40B4-BE49-F238E27FC236}">
                <a16:creationId xmlns:a16="http://schemas.microsoft.com/office/drawing/2014/main" id="{ED34EF5A-52F1-4B73-8496-E15AFD81CFF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95186" y="3062538"/>
            <a:ext cx="3493164" cy="3156269"/>
          </a:xfrm>
          <a:prstGeom prst="rect">
            <a:avLst/>
          </a:prstGeom>
        </p:spPr>
      </p:pic>
    </p:spTree>
    <p:extLst>
      <p:ext uri="{BB962C8B-B14F-4D97-AF65-F5344CB8AC3E}">
        <p14:creationId xmlns:p14="http://schemas.microsoft.com/office/powerpoint/2010/main" val="174072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nodeType="afterEffect">
                                  <p:stCondLst>
                                    <p:cond delay="50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GB" sz="3600" dirty="0">
                <a:latin typeface="+mn-lt"/>
              </a:rPr>
              <a:t>Germination</a:t>
            </a:r>
          </a:p>
        </p:txBody>
      </p:sp>
      <p:sp>
        <p:nvSpPr>
          <p:cNvPr id="5" name="Rectangle 4"/>
          <p:cNvSpPr/>
          <p:nvPr/>
        </p:nvSpPr>
        <p:spPr>
          <a:xfrm>
            <a:off x="755650" y="1513946"/>
            <a:ext cx="7632700" cy="1938992"/>
          </a:xfrm>
          <a:prstGeom prst="rect">
            <a:avLst/>
          </a:prstGeom>
        </p:spPr>
        <p:txBody>
          <a:bodyPr wrap="square" lIns="0" tIns="0" rIns="0" bIns="0">
            <a:spAutoFit/>
          </a:bodyPr>
          <a:lstStyle/>
          <a:p>
            <a:r>
              <a:rPr lang="en-GB" dirty="0"/>
              <a:t>Germination is when a seed starts to grow into a plant. Seeds on their own cannot germinate - they need to be planted and have air, water and some warmth to start to grow.</a:t>
            </a:r>
          </a:p>
          <a:p>
            <a:endParaRPr lang="en-GB" dirty="0"/>
          </a:p>
          <a:p>
            <a:r>
              <a:rPr lang="en-GB" dirty="0"/>
              <a:t>First, the seed will crack open as it starts to grow and the first thing to be seen is a tiny green shoot, which tells us the seed is germinating. After the shoot, the plant will continue to grow, producing roots, a stem and leaves.</a:t>
            </a:r>
          </a:p>
        </p:txBody>
      </p:sp>
      <p:pic>
        <p:nvPicPr>
          <p:cNvPr id="3" name="Picture 2">
            <a:extLst>
              <a:ext uri="{FF2B5EF4-FFF2-40B4-BE49-F238E27FC236}">
                <a16:creationId xmlns:a16="http://schemas.microsoft.com/office/drawing/2014/main" id="{ED34EF5A-52F1-4B73-8496-E15AFD81CFF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25970" y="3666477"/>
            <a:ext cx="7282530" cy="2405849"/>
          </a:xfrm>
          <a:prstGeom prst="rect">
            <a:avLst/>
          </a:prstGeom>
        </p:spPr>
      </p:pic>
    </p:spTree>
    <p:extLst>
      <p:ext uri="{BB962C8B-B14F-4D97-AF65-F5344CB8AC3E}">
        <p14:creationId xmlns:p14="http://schemas.microsoft.com/office/powerpoint/2010/main" val="348986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nodeType="afterEffect">
                                  <p:stCondLst>
                                    <p:cond delay="50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3F2C6DA7-7CC1-4AAF-B824-CB33F85131A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7472699" y="4078537"/>
            <a:ext cx="717472" cy="668284"/>
          </a:xfrm>
          <a:prstGeom prst="rect">
            <a:avLst/>
          </a:prstGeom>
        </p:spPr>
      </p:pic>
      <p:sp>
        <p:nvSpPr>
          <p:cNvPr id="21" name="Title 20"/>
          <p:cNvSpPr>
            <a:spLocks noGrp="1"/>
          </p:cNvSpPr>
          <p:nvPr>
            <p:ph type="title"/>
          </p:nvPr>
        </p:nvSpPr>
        <p:spPr/>
        <p:txBody>
          <a:bodyPr/>
          <a:lstStyle/>
          <a:p>
            <a:r>
              <a:rPr lang="en-GB" sz="3600" dirty="0">
                <a:latin typeface="+mn-lt"/>
              </a:rPr>
              <a:t>Seed Dispersal</a:t>
            </a:r>
          </a:p>
        </p:txBody>
      </p:sp>
      <p:sp>
        <p:nvSpPr>
          <p:cNvPr id="5" name="Rectangle 4"/>
          <p:cNvSpPr/>
          <p:nvPr/>
        </p:nvSpPr>
        <p:spPr>
          <a:xfrm>
            <a:off x="755650" y="1513946"/>
            <a:ext cx="7632700" cy="553998"/>
          </a:xfrm>
          <a:prstGeom prst="rect">
            <a:avLst/>
          </a:prstGeom>
        </p:spPr>
        <p:txBody>
          <a:bodyPr wrap="square" lIns="0" tIns="0" rIns="0" bIns="0">
            <a:spAutoFit/>
          </a:bodyPr>
          <a:lstStyle/>
          <a:p>
            <a:r>
              <a:rPr lang="en-GB" dirty="0"/>
              <a:t>Plants and flowers need to get their seeds moved around to new places in order to grow new plants and spread. This is known as seed dispersal.</a:t>
            </a:r>
          </a:p>
        </p:txBody>
      </p:sp>
      <p:sp>
        <p:nvSpPr>
          <p:cNvPr id="6" name="Rectangle 5">
            <a:extLst>
              <a:ext uri="{FF2B5EF4-FFF2-40B4-BE49-F238E27FC236}">
                <a16:creationId xmlns:a16="http://schemas.microsoft.com/office/drawing/2014/main" id="{F5DD1248-02BF-4D80-920F-D7B3CAEC6E15}"/>
              </a:ext>
            </a:extLst>
          </p:cNvPr>
          <p:cNvSpPr/>
          <p:nvPr/>
        </p:nvSpPr>
        <p:spPr>
          <a:xfrm>
            <a:off x="750885" y="2347638"/>
            <a:ext cx="7632700" cy="276999"/>
          </a:xfrm>
          <a:prstGeom prst="rect">
            <a:avLst/>
          </a:prstGeom>
        </p:spPr>
        <p:txBody>
          <a:bodyPr wrap="square" lIns="0" tIns="0" rIns="0" bIns="0">
            <a:spAutoFit/>
          </a:bodyPr>
          <a:lstStyle/>
          <a:p>
            <a:r>
              <a:rPr lang="en-GB" dirty="0"/>
              <a:t>Plants do this is a number of different clever ways:</a:t>
            </a:r>
          </a:p>
        </p:txBody>
      </p:sp>
      <p:sp>
        <p:nvSpPr>
          <p:cNvPr id="7" name="Rectangle 6">
            <a:extLst>
              <a:ext uri="{FF2B5EF4-FFF2-40B4-BE49-F238E27FC236}">
                <a16:creationId xmlns:a16="http://schemas.microsoft.com/office/drawing/2014/main" id="{3BB6FB36-B303-439D-A1F7-7CCF8F6C9E86}"/>
              </a:ext>
            </a:extLst>
          </p:cNvPr>
          <p:cNvSpPr/>
          <p:nvPr/>
        </p:nvSpPr>
        <p:spPr>
          <a:xfrm>
            <a:off x="751537" y="2615759"/>
            <a:ext cx="7632700" cy="553998"/>
          </a:xfrm>
          <a:prstGeom prst="rect">
            <a:avLst/>
          </a:prstGeom>
        </p:spPr>
        <p:txBody>
          <a:bodyPr wrap="square" lIns="0" tIns="0" rIns="0" bIns="0">
            <a:spAutoFit/>
          </a:bodyPr>
          <a:lstStyle/>
          <a:p>
            <a:pPr marL="285750" indent="-285750">
              <a:buFont typeface="Arial" panose="020B0604020202020204" pitchFamily="34" charset="0"/>
              <a:buChar char="•"/>
            </a:pPr>
            <a:r>
              <a:rPr lang="en-GB" dirty="0"/>
              <a:t>blown by the wind – some seeds are specially designed to be </a:t>
            </a:r>
          </a:p>
          <a:p>
            <a:pPr marL="285750" indent="-285750">
              <a:buFont typeface="Arial" panose="020B0604020202020204" pitchFamily="34" charset="0"/>
              <a:buChar char="•"/>
            </a:pPr>
            <a:r>
              <a:rPr lang="en-GB" dirty="0"/>
              <a:t>carried by the wind like parachutes.</a:t>
            </a:r>
          </a:p>
        </p:txBody>
      </p:sp>
      <p:sp>
        <p:nvSpPr>
          <p:cNvPr id="8" name="Rectangle 7">
            <a:extLst>
              <a:ext uri="{FF2B5EF4-FFF2-40B4-BE49-F238E27FC236}">
                <a16:creationId xmlns:a16="http://schemas.microsoft.com/office/drawing/2014/main" id="{46686EBF-3211-40CA-BA26-39C5600B2728}"/>
              </a:ext>
            </a:extLst>
          </p:cNvPr>
          <p:cNvSpPr/>
          <p:nvPr/>
        </p:nvSpPr>
        <p:spPr>
          <a:xfrm>
            <a:off x="760415" y="3440573"/>
            <a:ext cx="7632700" cy="276999"/>
          </a:xfrm>
          <a:prstGeom prst="rect">
            <a:avLst/>
          </a:prstGeom>
        </p:spPr>
        <p:txBody>
          <a:bodyPr wrap="square" lIns="0" tIns="0" rIns="0" bIns="0">
            <a:spAutoFit/>
          </a:bodyPr>
          <a:lstStyle/>
          <a:p>
            <a:pPr marL="285750" indent="-285750">
              <a:buFont typeface="Arial" panose="020B0604020202020204" pitchFamily="34" charset="0"/>
              <a:buChar char="•"/>
            </a:pPr>
            <a:r>
              <a:rPr lang="en-GB" dirty="0"/>
              <a:t>explode – some plants pop open, spreading their seeds far and wide.</a:t>
            </a:r>
          </a:p>
        </p:txBody>
      </p:sp>
      <p:sp>
        <p:nvSpPr>
          <p:cNvPr id="9" name="Rectangle 8">
            <a:extLst>
              <a:ext uri="{FF2B5EF4-FFF2-40B4-BE49-F238E27FC236}">
                <a16:creationId xmlns:a16="http://schemas.microsoft.com/office/drawing/2014/main" id="{AFDE3E29-9AEB-4B62-BB46-DB2CA1EB3069}"/>
              </a:ext>
            </a:extLst>
          </p:cNvPr>
          <p:cNvSpPr/>
          <p:nvPr/>
        </p:nvSpPr>
        <p:spPr>
          <a:xfrm>
            <a:off x="750885" y="3979510"/>
            <a:ext cx="7632700" cy="553998"/>
          </a:xfrm>
          <a:prstGeom prst="rect">
            <a:avLst/>
          </a:prstGeom>
        </p:spPr>
        <p:txBody>
          <a:bodyPr wrap="square" lIns="0" tIns="0" rIns="0" bIns="0">
            <a:spAutoFit/>
          </a:bodyPr>
          <a:lstStyle/>
          <a:p>
            <a:pPr marL="285750" indent="-285750">
              <a:buFont typeface="Arial" panose="020B0604020202020204" pitchFamily="34" charset="0"/>
              <a:buChar char="•"/>
            </a:pPr>
            <a:r>
              <a:rPr lang="en-GB" dirty="0"/>
              <a:t>water – some seeds, such as coconuts, are designed to float in </a:t>
            </a:r>
            <a:br>
              <a:rPr lang="en-GB" dirty="0"/>
            </a:br>
            <a:r>
              <a:rPr lang="en-GB" dirty="0"/>
              <a:t>water and can float across the sea to find new places to grow.</a:t>
            </a:r>
          </a:p>
        </p:txBody>
      </p:sp>
      <p:sp>
        <p:nvSpPr>
          <p:cNvPr id="10" name="Rectangle 9">
            <a:extLst>
              <a:ext uri="{FF2B5EF4-FFF2-40B4-BE49-F238E27FC236}">
                <a16:creationId xmlns:a16="http://schemas.microsoft.com/office/drawing/2014/main" id="{F5336AD8-7BFA-4472-9E7C-27B3AB50F3B7}"/>
              </a:ext>
            </a:extLst>
          </p:cNvPr>
          <p:cNvSpPr/>
          <p:nvPr/>
        </p:nvSpPr>
        <p:spPr>
          <a:xfrm>
            <a:off x="760415" y="4813202"/>
            <a:ext cx="7632700" cy="553998"/>
          </a:xfrm>
          <a:prstGeom prst="rect">
            <a:avLst/>
          </a:prstGeom>
        </p:spPr>
        <p:txBody>
          <a:bodyPr wrap="square" lIns="0" tIns="0" rIns="0" bIns="0">
            <a:spAutoFit/>
          </a:bodyPr>
          <a:lstStyle/>
          <a:p>
            <a:pPr marL="285750" indent="-285750">
              <a:buFont typeface="Arial" panose="020B0604020202020204" pitchFamily="34" charset="0"/>
              <a:buChar char="•"/>
            </a:pPr>
            <a:r>
              <a:rPr lang="en-GB" dirty="0"/>
              <a:t>carried by animals – some seeds stick to animals (including </a:t>
            </a:r>
            <a:br>
              <a:rPr lang="en-GB" dirty="0"/>
            </a:br>
            <a:r>
              <a:rPr lang="en-GB" dirty="0"/>
              <a:t>humans) and will eventually drop off in a new place.</a:t>
            </a:r>
          </a:p>
        </p:txBody>
      </p:sp>
      <p:sp>
        <p:nvSpPr>
          <p:cNvPr id="11" name="Rectangle 10">
            <a:extLst>
              <a:ext uri="{FF2B5EF4-FFF2-40B4-BE49-F238E27FC236}">
                <a16:creationId xmlns:a16="http://schemas.microsoft.com/office/drawing/2014/main" id="{35B4C670-C35F-4891-8739-C8AEE30785AB}"/>
              </a:ext>
            </a:extLst>
          </p:cNvPr>
          <p:cNvSpPr/>
          <p:nvPr/>
        </p:nvSpPr>
        <p:spPr>
          <a:xfrm>
            <a:off x="760415" y="5611382"/>
            <a:ext cx="7632700" cy="553998"/>
          </a:xfrm>
          <a:prstGeom prst="rect">
            <a:avLst/>
          </a:prstGeom>
        </p:spPr>
        <p:txBody>
          <a:bodyPr wrap="square" lIns="0" tIns="0" rIns="0" bIns="0">
            <a:spAutoFit/>
          </a:bodyPr>
          <a:lstStyle/>
          <a:p>
            <a:pPr marL="285750" indent="-285750">
              <a:buFont typeface="Arial" panose="020B0604020202020204" pitchFamily="34" charset="0"/>
              <a:buChar char="•"/>
            </a:pPr>
            <a:r>
              <a:rPr lang="en-GB" dirty="0"/>
              <a:t>eaten by animals – after the seeds have eaten, they will pass through an animal’s body and will be left somewhere else in the animal’s poo.</a:t>
            </a:r>
          </a:p>
        </p:txBody>
      </p:sp>
      <p:pic>
        <p:nvPicPr>
          <p:cNvPr id="4" name="Picture 3">
            <a:extLst>
              <a:ext uri="{FF2B5EF4-FFF2-40B4-BE49-F238E27FC236}">
                <a16:creationId xmlns:a16="http://schemas.microsoft.com/office/drawing/2014/main" id="{32DD87C5-3582-4F07-AE84-3C73E281DA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74991" y="2158266"/>
            <a:ext cx="717472" cy="1191985"/>
          </a:xfrm>
          <a:prstGeom prst="rect">
            <a:avLst/>
          </a:prstGeom>
        </p:spPr>
      </p:pic>
      <p:pic>
        <p:nvPicPr>
          <p:cNvPr id="13" name="Picture 12">
            <a:extLst>
              <a:ext uri="{FF2B5EF4-FFF2-40B4-BE49-F238E27FC236}">
                <a16:creationId xmlns:a16="http://schemas.microsoft.com/office/drawing/2014/main" id="{A22F81C7-A6CD-43E5-8F79-83EE9873804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7942960" y="3291572"/>
            <a:ext cx="717472" cy="793344"/>
          </a:xfrm>
          <a:prstGeom prst="rect">
            <a:avLst/>
          </a:prstGeom>
        </p:spPr>
      </p:pic>
      <p:pic>
        <p:nvPicPr>
          <p:cNvPr id="15" name="Picture 14">
            <a:extLst>
              <a:ext uri="{FF2B5EF4-FFF2-40B4-BE49-F238E27FC236}">
                <a16:creationId xmlns:a16="http://schemas.microsoft.com/office/drawing/2014/main" id="{0AD06829-87D9-42E4-B14D-23E5DB3EBB96}"/>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7179736" y="4755199"/>
            <a:ext cx="828997" cy="826846"/>
          </a:xfrm>
          <a:prstGeom prst="rect">
            <a:avLst/>
          </a:prstGeom>
        </p:spPr>
      </p:pic>
      <p:pic>
        <p:nvPicPr>
          <p:cNvPr id="16" name="Picture 15">
            <a:extLst>
              <a:ext uri="{FF2B5EF4-FFF2-40B4-BE49-F238E27FC236}">
                <a16:creationId xmlns:a16="http://schemas.microsoft.com/office/drawing/2014/main" id="{61C6A221-B1B3-4D39-BA73-7C1C52118670}"/>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8137914" y="5646894"/>
            <a:ext cx="491341" cy="561262"/>
          </a:xfrm>
          <a:prstGeom prst="rect">
            <a:avLst/>
          </a:prstGeom>
        </p:spPr>
      </p:pic>
    </p:spTree>
    <p:extLst>
      <p:ext uri="{BB962C8B-B14F-4D97-AF65-F5344CB8AC3E}">
        <p14:creationId xmlns:p14="http://schemas.microsoft.com/office/powerpoint/2010/main" val="3669831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00"/>
                                        <p:tgtEl>
                                          <p:spTgt spid="10"/>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500"/>
                                        <p:tgtEl>
                                          <p:spTgt spid="11"/>
                                        </p:tgtEl>
                                      </p:cBhvr>
                                    </p:animEffect>
                                  </p:childTnLst>
                                </p:cTn>
                              </p:par>
                              <p:par>
                                <p:cTn id="50" presetID="10" presetClass="entr" presetSubtype="0" fill="hold"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GB" sz="3600" dirty="0">
                <a:latin typeface="+mn-lt"/>
              </a:rPr>
              <a:t>Fertilisation</a:t>
            </a:r>
          </a:p>
        </p:txBody>
      </p:sp>
      <p:sp>
        <p:nvSpPr>
          <p:cNvPr id="5" name="Rectangle 4"/>
          <p:cNvSpPr/>
          <p:nvPr/>
        </p:nvSpPr>
        <p:spPr>
          <a:xfrm>
            <a:off x="755650" y="1513946"/>
            <a:ext cx="7632700" cy="2215991"/>
          </a:xfrm>
          <a:prstGeom prst="rect">
            <a:avLst/>
          </a:prstGeom>
        </p:spPr>
        <p:txBody>
          <a:bodyPr wrap="square" lIns="0" tIns="0" rIns="0" bIns="0">
            <a:spAutoFit/>
          </a:bodyPr>
          <a:lstStyle/>
          <a:p>
            <a:r>
              <a:rPr lang="en-GB" dirty="0"/>
              <a:t>Fertilisation happens when the male and female parts of the flower have mixed.</a:t>
            </a:r>
          </a:p>
          <a:p>
            <a:endParaRPr lang="en-GB" dirty="0"/>
          </a:p>
          <a:p>
            <a:r>
              <a:rPr lang="en-GB" dirty="0"/>
              <a:t>Pollen from the male part of one flower sticks to an insect visiting the flower. The pollen is then carried off to another flower, where it sticks to the stigma at the top of the pistil.</a:t>
            </a:r>
          </a:p>
          <a:p>
            <a:endParaRPr lang="en-GB" dirty="0"/>
          </a:p>
          <a:p>
            <a:r>
              <a:rPr lang="en-GB" dirty="0"/>
              <a:t>The flower is now able to make seeds for new plants.</a:t>
            </a:r>
          </a:p>
        </p:txBody>
      </p:sp>
      <p:pic>
        <p:nvPicPr>
          <p:cNvPr id="3" name="Picture 2">
            <a:extLst>
              <a:ext uri="{FF2B5EF4-FFF2-40B4-BE49-F238E27FC236}">
                <a16:creationId xmlns:a16="http://schemas.microsoft.com/office/drawing/2014/main" id="{ED34EF5A-52F1-4B73-8496-E15AFD81CFF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852523" y="3986562"/>
            <a:ext cx="3479781" cy="2082338"/>
          </a:xfrm>
          <a:prstGeom prst="rect">
            <a:avLst/>
          </a:prstGeom>
        </p:spPr>
      </p:pic>
      <p:sp>
        <p:nvSpPr>
          <p:cNvPr id="6" name="Rectangle 5">
            <a:extLst>
              <a:ext uri="{FF2B5EF4-FFF2-40B4-BE49-F238E27FC236}">
                <a16:creationId xmlns:a16="http://schemas.microsoft.com/office/drawing/2014/main" id="{560AE43E-58B2-4A42-A021-AF6235A58C0F}"/>
              </a:ext>
            </a:extLst>
          </p:cNvPr>
          <p:cNvSpPr/>
          <p:nvPr/>
        </p:nvSpPr>
        <p:spPr>
          <a:xfrm>
            <a:off x="4926839" y="4335233"/>
            <a:ext cx="3364638" cy="1384995"/>
          </a:xfrm>
          <a:prstGeom prst="rect">
            <a:avLst/>
          </a:prstGeom>
        </p:spPr>
        <p:txBody>
          <a:bodyPr wrap="square" lIns="0" tIns="0" rIns="0" bIns="0">
            <a:spAutoFit/>
          </a:bodyPr>
          <a:lstStyle/>
          <a:p>
            <a:r>
              <a:rPr lang="en-GB" b="1" dirty="0"/>
              <a:t>Did You Know…?</a:t>
            </a:r>
          </a:p>
          <a:p>
            <a:r>
              <a:rPr lang="en-GB" dirty="0"/>
              <a:t>It is estimated that about 1/3 of the food we eat every day depends on bees (and other insects) pollinating flowers!</a:t>
            </a:r>
          </a:p>
        </p:txBody>
      </p:sp>
    </p:spTree>
    <p:extLst>
      <p:ext uri="{BB962C8B-B14F-4D97-AF65-F5344CB8AC3E}">
        <p14:creationId xmlns:p14="http://schemas.microsoft.com/office/powerpoint/2010/main" val="1064225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GB" sz="3600" dirty="0">
                <a:latin typeface="+mn-lt"/>
              </a:rPr>
              <a:t>Roots</a:t>
            </a:r>
          </a:p>
        </p:txBody>
      </p:sp>
      <p:sp>
        <p:nvSpPr>
          <p:cNvPr id="5" name="Rectangle 4"/>
          <p:cNvSpPr/>
          <p:nvPr/>
        </p:nvSpPr>
        <p:spPr>
          <a:xfrm>
            <a:off x="755650" y="1513946"/>
            <a:ext cx="4455542" cy="3046988"/>
          </a:xfrm>
          <a:prstGeom prst="rect">
            <a:avLst/>
          </a:prstGeom>
        </p:spPr>
        <p:txBody>
          <a:bodyPr wrap="square" lIns="0" tIns="0" rIns="0" bIns="0">
            <a:spAutoFit/>
          </a:bodyPr>
          <a:lstStyle/>
          <a:p>
            <a:r>
              <a:rPr lang="en-GB" dirty="0"/>
              <a:t>The roots of a plant are essential for it to survive. They have a number of important jobs:</a:t>
            </a:r>
          </a:p>
          <a:p>
            <a:pPr marL="285750" indent="-285750">
              <a:buFont typeface="Arial" panose="020B0604020202020204" pitchFamily="34" charset="0"/>
              <a:buChar char="•"/>
            </a:pPr>
            <a:r>
              <a:rPr lang="en-GB" dirty="0"/>
              <a:t>They collect water and nutrients from the soil.</a:t>
            </a:r>
          </a:p>
          <a:p>
            <a:pPr marL="285750" indent="-285750">
              <a:buFont typeface="Arial" panose="020B0604020202020204" pitchFamily="34" charset="0"/>
              <a:buChar char="•"/>
            </a:pPr>
            <a:r>
              <a:rPr lang="en-GB" dirty="0"/>
              <a:t>They keep the plant upright and stable.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r>
              <a:rPr lang="en-GB" dirty="0"/>
              <a:t>Roots vary from plant to plant – they can be long, thin and spread far or they can be thick and sturdy (like the roots of a tree).</a:t>
            </a:r>
          </a:p>
        </p:txBody>
      </p:sp>
      <p:pic>
        <p:nvPicPr>
          <p:cNvPr id="3" name="Picture 2">
            <a:extLst>
              <a:ext uri="{FF2B5EF4-FFF2-40B4-BE49-F238E27FC236}">
                <a16:creationId xmlns:a16="http://schemas.microsoft.com/office/drawing/2014/main" id="{ED34EF5A-52F1-4B73-8496-E15AFD81CFF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5326603" y="1604645"/>
            <a:ext cx="2778220" cy="4401988"/>
          </a:xfrm>
          <a:prstGeom prst="rect">
            <a:avLst/>
          </a:prstGeom>
        </p:spPr>
      </p:pic>
    </p:spTree>
    <p:extLst>
      <p:ext uri="{BB962C8B-B14F-4D97-AF65-F5344CB8AC3E}">
        <p14:creationId xmlns:p14="http://schemas.microsoft.com/office/powerpoint/2010/main" val="2738950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GB" sz="3600" dirty="0">
                <a:latin typeface="+mn-lt"/>
              </a:rPr>
              <a:t>Soil</a:t>
            </a:r>
          </a:p>
        </p:txBody>
      </p:sp>
      <p:sp>
        <p:nvSpPr>
          <p:cNvPr id="5" name="Rectangle 4"/>
          <p:cNvSpPr/>
          <p:nvPr/>
        </p:nvSpPr>
        <p:spPr>
          <a:xfrm>
            <a:off x="755650" y="1513946"/>
            <a:ext cx="4455542" cy="3600986"/>
          </a:xfrm>
          <a:prstGeom prst="rect">
            <a:avLst/>
          </a:prstGeom>
        </p:spPr>
        <p:txBody>
          <a:bodyPr wrap="square" lIns="0" tIns="0" rIns="0" bIns="0">
            <a:spAutoFit/>
          </a:bodyPr>
          <a:lstStyle/>
          <a:p>
            <a:r>
              <a:rPr lang="en-GB" dirty="0"/>
              <a:t>Many plants grow in soil but some plants can be grown in or on other things, such as water or cotton wool.</a:t>
            </a:r>
          </a:p>
          <a:p>
            <a:endParaRPr lang="en-GB" dirty="0"/>
          </a:p>
          <a:p>
            <a:r>
              <a:rPr lang="en-GB" dirty="0"/>
              <a:t>Soil makes it easier to grow plants as it keeps everything a plant needs close at hand. It contains the nutrients and water that they need to grow.</a:t>
            </a:r>
          </a:p>
          <a:p>
            <a:endParaRPr lang="en-GB" dirty="0"/>
          </a:p>
          <a:p>
            <a:r>
              <a:rPr lang="en-GB" dirty="0"/>
              <a:t>Different types of soils contain different minerals which can help plants to grow. Some plants are better suited to one type of soil than others.</a:t>
            </a:r>
          </a:p>
        </p:txBody>
      </p:sp>
      <p:pic>
        <p:nvPicPr>
          <p:cNvPr id="3" name="Picture 2">
            <a:extLst>
              <a:ext uri="{FF2B5EF4-FFF2-40B4-BE49-F238E27FC236}">
                <a16:creationId xmlns:a16="http://schemas.microsoft.com/office/drawing/2014/main" id="{ED34EF5A-52F1-4B73-8496-E15AFD81CFF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5557422" y="663834"/>
            <a:ext cx="2201662" cy="3134912"/>
          </a:xfrm>
          <a:prstGeom prst="rect">
            <a:avLst/>
          </a:prstGeom>
        </p:spPr>
      </p:pic>
      <p:pic>
        <p:nvPicPr>
          <p:cNvPr id="6" name="Picture 5">
            <a:extLst>
              <a:ext uri="{FF2B5EF4-FFF2-40B4-BE49-F238E27FC236}">
                <a16:creationId xmlns:a16="http://schemas.microsoft.com/office/drawing/2014/main" id="{6F276D9E-12FF-40DE-85DA-AC7D708F2E9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534955" y="3875295"/>
            <a:ext cx="1683224" cy="2199494"/>
          </a:xfrm>
          <a:prstGeom prst="rect">
            <a:avLst/>
          </a:prstGeom>
        </p:spPr>
      </p:pic>
    </p:spTree>
    <p:extLst>
      <p:ext uri="{BB962C8B-B14F-4D97-AF65-F5344CB8AC3E}">
        <p14:creationId xmlns:p14="http://schemas.microsoft.com/office/powerpoint/2010/main" val="1916267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par>
                          <p:cTn id="11" fill="hold">
                            <p:stCondLst>
                              <p:cond delay="500"/>
                            </p:stCondLst>
                            <p:childTnLst>
                              <p:par>
                                <p:cTn id="12" presetID="10" presetClass="entr" presetSubtype="0" fill="hold" nodeType="afterEffect">
                                  <p:stCondLst>
                                    <p:cond delay="50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GB" sz="3600" dirty="0">
                <a:latin typeface="+mn-lt"/>
              </a:rPr>
              <a:t>Dead Plants</a:t>
            </a:r>
          </a:p>
        </p:txBody>
      </p:sp>
      <p:sp>
        <p:nvSpPr>
          <p:cNvPr id="5" name="Rectangle 4"/>
          <p:cNvSpPr/>
          <p:nvPr/>
        </p:nvSpPr>
        <p:spPr>
          <a:xfrm>
            <a:off x="755649" y="1513946"/>
            <a:ext cx="7633749" cy="2215991"/>
          </a:xfrm>
          <a:prstGeom prst="rect">
            <a:avLst/>
          </a:prstGeom>
        </p:spPr>
        <p:txBody>
          <a:bodyPr wrap="square" lIns="0" tIns="0" rIns="0" bIns="0">
            <a:spAutoFit/>
          </a:bodyPr>
          <a:lstStyle/>
          <a:p>
            <a:r>
              <a:rPr lang="en-GB" dirty="0"/>
              <a:t>The is the end of a plant’s life cycle. After it has made new seeds, the plant has finished with everything it needed to make them so the plant dies.</a:t>
            </a:r>
          </a:p>
          <a:p>
            <a:endParaRPr lang="en-GB" dirty="0"/>
          </a:p>
          <a:p>
            <a:r>
              <a:rPr lang="en-GB" dirty="0"/>
              <a:t>Even though it is dead, the plant is still useful as the goodness it contains goes back into the soil to be used by other plants.</a:t>
            </a:r>
          </a:p>
          <a:p>
            <a:endParaRPr lang="en-GB" dirty="0"/>
          </a:p>
          <a:p>
            <a:r>
              <a:rPr lang="en-GB" dirty="0"/>
              <a:t>A plant can also die if it is missing one of the essential things it needs to grow, such as air, sunlight, water or warmth.</a:t>
            </a:r>
          </a:p>
        </p:txBody>
      </p:sp>
      <p:pic>
        <p:nvPicPr>
          <p:cNvPr id="6" name="Picture 5">
            <a:extLst>
              <a:ext uri="{FF2B5EF4-FFF2-40B4-BE49-F238E27FC236}">
                <a16:creationId xmlns:a16="http://schemas.microsoft.com/office/drawing/2014/main" id="{6F276D9E-12FF-40DE-85DA-AC7D708F2E9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5860251" y="3854049"/>
            <a:ext cx="1918277" cy="2215990"/>
          </a:xfrm>
          <a:prstGeom prst="rect">
            <a:avLst/>
          </a:prstGeom>
        </p:spPr>
      </p:pic>
      <p:sp>
        <p:nvSpPr>
          <p:cNvPr id="7" name="Rectangle 6">
            <a:extLst>
              <a:ext uri="{FF2B5EF4-FFF2-40B4-BE49-F238E27FC236}">
                <a16:creationId xmlns:a16="http://schemas.microsoft.com/office/drawing/2014/main" id="{0A463B54-7AA7-433D-9D1A-CB45C9B74BC9}"/>
              </a:ext>
            </a:extLst>
          </p:cNvPr>
          <p:cNvSpPr/>
          <p:nvPr/>
        </p:nvSpPr>
        <p:spPr>
          <a:xfrm>
            <a:off x="1455668" y="4131047"/>
            <a:ext cx="4066241" cy="1938992"/>
          </a:xfrm>
          <a:prstGeom prst="rect">
            <a:avLst/>
          </a:prstGeom>
        </p:spPr>
        <p:txBody>
          <a:bodyPr wrap="square" lIns="0" tIns="0" rIns="0" bIns="0">
            <a:spAutoFit/>
          </a:bodyPr>
          <a:lstStyle/>
          <a:p>
            <a:r>
              <a:rPr lang="en-GB" b="1" dirty="0"/>
              <a:t>Did You Know…?</a:t>
            </a:r>
          </a:p>
          <a:p>
            <a:r>
              <a:rPr lang="en-GB" dirty="0"/>
              <a:t>Not all plants that look dead are; for some plants, known as ‘perennials’, the above ground part of the plant dies, but the roots survive through the winter and the plant regrows the following year. A peony is a perennial.</a:t>
            </a:r>
          </a:p>
        </p:txBody>
      </p:sp>
    </p:spTree>
    <p:extLst>
      <p:ext uri="{BB962C8B-B14F-4D97-AF65-F5344CB8AC3E}">
        <p14:creationId xmlns:p14="http://schemas.microsoft.com/office/powerpoint/2010/main" val="4267556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8075854"/>
      </p:ext>
    </p:extLst>
  </p:cSld>
  <p:clrMapOvr>
    <a:masterClrMapping/>
  </p:clrMapOvr>
</p:sld>
</file>

<file path=ppt/theme/theme1.xml><?xml version="1.0" encoding="utf-8"?>
<a:theme xmlns:a="http://schemas.openxmlformats.org/drawingml/2006/main" name="Office Theme">
  <a:themeElements>
    <a:clrScheme name="Twinkl Template">
      <a:dk1>
        <a:srgbClr val="1C1C1C"/>
      </a:dk1>
      <a:lt1>
        <a:sysClr val="window" lastClr="FFFFFF"/>
      </a:lt1>
      <a:dk2>
        <a:srgbClr val="4A4A4A"/>
      </a:dk2>
      <a:lt2>
        <a:srgbClr val="F4F2F2"/>
      </a:lt2>
      <a:accent1>
        <a:srgbClr val="E34192"/>
      </a:accent1>
      <a:accent2>
        <a:srgbClr val="EB8634"/>
      </a:accent2>
      <a:accent3>
        <a:srgbClr val="E6C734"/>
      </a:accent3>
      <a:accent4>
        <a:srgbClr val="79AD42"/>
      </a:accent4>
      <a:accent5>
        <a:srgbClr val="23A7F9"/>
      </a:accent5>
      <a:accent6>
        <a:srgbClr val="954EBE"/>
      </a:accent6>
      <a:hlink>
        <a:srgbClr val="23A7F9"/>
      </a:hlink>
      <a:folHlink>
        <a:srgbClr val="757070"/>
      </a:folHlink>
    </a:clrScheme>
    <a:fontScheme name="Custom 1">
      <a:majorFont>
        <a:latin typeface="Twinkl Sb"/>
        <a:ea typeface=""/>
        <a:cs typeface=""/>
      </a:majorFont>
      <a:minorFont>
        <a:latin typeface="Twink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8A0DB"/>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owerPoint Template.potx" id="{8C058020-CE1A-4275-96FF-3E9B179AFEF1}" vid="{BE2BE99D-79A1-4F73-BB89-E052F53DA92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 Template</Template>
  <TotalTime>93</TotalTime>
  <Words>1433</Words>
  <Application>Microsoft Office PowerPoint</Application>
  <PresentationFormat>On-screen Show (4:3)</PresentationFormat>
  <Paragraphs>93</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Roboto</vt:lpstr>
      <vt:lpstr>Twinkl</vt:lpstr>
      <vt:lpstr>Office Theme</vt:lpstr>
      <vt:lpstr>Disclaimer/s</vt:lpstr>
      <vt:lpstr>PowerPoint Presentation</vt:lpstr>
      <vt:lpstr>Flowers</vt:lpstr>
      <vt:lpstr>Parts of a Flower</vt:lpstr>
      <vt:lpstr>Parts of a Flower</vt:lpstr>
      <vt:lpstr>What Do Plants Need?</vt:lpstr>
      <vt:lpstr>What Do Plants Need?</vt:lpstr>
      <vt:lpstr>What Do Plants Need?</vt:lpstr>
      <vt:lpstr>Germination</vt:lpstr>
      <vt:lpstr>Seed Dispersal</vt:lpstr>
      <vt:lpstr>Fertilisation</vt:lpstr>
      <vt:lpstr>Roots</vt:lpstr>
      <vt:lpstr>Soil</vt:lpstr>
      <vt:lpstr>Dead Plants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Guidance</dc:title>
  <dc:creator>Faye Leather</dc:creator>
  <cp:lastModifiedBy>Rachael Pickering</cp:lastModifiedBy>
  <cp:revision>11</cp:revision>
  <dcterms:created xsi:type="dcterms:W3CDTF">2021-06-17T14:10:23Z</dcterms:created>
  <dcterms:modified xsi:type="dcterms:W3CDTF">2021-06-23T15:16:24Z</dcterms:modified>
</cp:coreProperties>
</file>